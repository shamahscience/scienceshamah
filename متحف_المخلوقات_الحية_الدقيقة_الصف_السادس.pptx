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مدخل المتحف" id="{81f0e08a-f31f-f54f-f139-169654a91614}">
          <p14:sldIdLst>
            <p14:sldId id="256"/>
            <p14:sldId id="257"/>
          </p14:sldIdLst>
        </p14:section>
        <p14:section name="المراجعة والمفردات" id="{0131e79e-d296-ba85-c473-a1be680cdeb8}">
          <p14:sldIdLst>
            <p14:sldId id="258"/>
            <p14:sldId id="259"/>
            <p14:sldId id="260"/>
            <p14:sldId id="261"/>
            <p14:sldId id="262"/>
            <p14:sldId id="263"/>
            <p14:sldId id="264"/>
          </p14:sldIdLst>
        </p14:section>
        <p14:section name="قاعات المعرفة" id="{7749ced8-5aff-de95-8674-ff5ed2aeb320}">
          <p14:sldIdLst>
            <p14:sldId id="265"/>
            <p14:sldId id="266"/>
            <p14:sldId id="267"/>
            <p14:sldId id="268"/>
            <p14:sldId id="269"/>
            <p14:sldId id="270"/>
          </p14:sldIdLst>
        </p14:section>
        <p14:section name="مختبرات التكاثر" id="{dbcbd308-c330-3fa8-9743-4ba61eb3b716}">
          <p14:sldIdLst>
            <p14:sldId id="271"/>
            <p14:sldId id="272"/>
            <p14:sldId id="273"/>
            <p14:sldId id="274"/>
            <p14:sldId id="275"/>
            <p14:sldId id="276"/>
          </p14:sldIdLst>
        </p14:section>
        <p14:section name="قاعات التقويم والتفكير" id="{2e293955-0bfe-345d-dbcb-96af3631bb2b}">
          <p14:sldIdLst>
            <p14:sldId id="277"/>
            <p14:sldId id="278"/>
            <p14:sldId id="279"/>
            <p14:sldId id="280"/>
          </p14:sldIdLst>
        </p14:section>
        <p14:section name="الربط والختام" id="{68be649d-a979-4bc5-e86b-8ae575fa3178}">
          <p14:sldIdLst>
            <p14:sldId id="281"/>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المتحف: تظهر العناصر تلقائيًا. اضغطي زر «ابدئي الرحلة العلمية» للانتقال إلى خريطة المتحف. التنقل بين القاعات يتم بالأزرار في أسفل كل قاعة.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خريطة المتحف: كل مربع زر يفتح القاعة مباشرة، ويمكن السير بالترتيب باستخدام زر «القاعة التالية». تعمل الأزرار أثناء العرض (F5) فقط.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شريط الذكريات (معلومات سابقة لازمة لفهم الدرس): اطرحي السؤال على الشاشة، واستقبلي الإجابات، ثم انقري لإظهار الإجابة والتغذية الراجعة «أحسنتِ». الأسئلة تمهيدية عامة من إعداد المعلمة وليست من صفحات الدرس.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قاعة المفردات: المفردات كما وردت في «أقرأ وأتعلم» ص٩٤: المخلوق الحي الدقيق، وحيد الخلية، الانشطار الثنائي، الاقتران، التبرعم. اضغطي على زر المفردة لفتح منصتها (مجسم، مصطلح، تعريف، مثال من الكتاب، سؤال)، ثم «العودة إلى قاعة المفردات».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منصة «المخلوق الحي الدقيق»: التعريف والمثال من نص الكتاب (ص٩٤–٩٧). اطرحي السؤال ثم انقري لإظهار الإجابة.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منصة «وحيد الخلية»: التعريف والمثال من نص الكتاب (ص٩٤–٩٧). اطرحي السؤال ثم انقري لإظهار الإجابة.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منصة «الانشطار الثنائي»: التعريف والمثال من نص الكتاب (ص٩٤–٩٧). اطرحي السؤال ثم انقري لإظهار الإجابة.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منصة «الاقتران»: التعريف والمثال من نص الكتاب (ص٩٤–٩٧). اطرحي السؤال ثم انقري لإظهار الإجابة.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منصة «التبرعم»: التعريف والمثال من نص الكتاب (ص٩٤–٩٧). اطرحي السؤال ثم انقري لإظهار الإجابة.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قاعة الاستكشاف (لاحظي – فكّري – استنتجي): الصور الثلاث من الكتاب (ص٩٤، ٩٦، ٩٧). اسألي: هل نرى هذه المخلوقات بالعين المجردة؟ ثم أظهري الإجابة. السؤال الأساسي من «أقرأ وأتعلم»: فيمَ تتشابه المخلوقات الحية الدقيقة، وفيمَ تختلف؟ تعود إليه الطالبات في حصاد المعرفة.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قاعة الفطريات المجهرية (ص٩٤): المعلومات من نص الكتاب. مهارة الاستنتاج: ماذا أعرف؟ كل مخلوق حي يحتاج إلى غذاء – ماذا أستنتج؟ الفطريات تمتص موادها المغذية من الوسط الذي تعيش فيه.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نشاط «عالمة الفطريات الصغيرة» (الاستقصاء): تتأمل الطالبات صورة العفن وتقترح الظروف المناسبة لنموه، ثم تظهر الإجابة من الكتاب: الحرارة والرطوبة. التقويم التكويني من مهارة الاستنتاج في الكتاب: إرشاد: تتكاثر بسرعة عند الحرارة والرطوبة – أعرف: ما بين الأصابع مكان دافئ رطب – أستنتج: لذلك تسبب مرض القدم الرياضي.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قاعة الطلائعيات (ص٩٥): الطلائعيات الشبيهة بالنباتات (اليوجلينا والدياتومات) تصنع غذاءها بنفسها. أما التي لا تقدر على صنع غذائها فلها تراكيب للحركة: الأسواط (تشبه السوط)، والأهداب (تشبه الشعر)، والأقدام الكاذبة في الأميبا. قارني: ما الذي يميز كل نوع في الحصول على الغذاء والحركة؟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قاعة البكتيريا والبدائيات (ص٩٥) – قارني بين البكتيريا والبدائيات. حقيقة من الكتاب: يُستخدم مصطلح الميكروبات لوصف المخلوقات الحية الدقيقة المفيدة والضارة وليس الضارة فقط.
أقرأ الصورة (إرشاد: أحدد أماكن هذه الصخور): كانت تعيش في الماء؛ في مياه البحر الضحلة المالحة قرب الشاطئ.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أختبر نفسي ص٩٥ — الأسئلة بنصها من الكتاب، والإجابات وفق دليل المعلم. اتركي للطالبات وقتًا للتفكير، ثم انقري لإظهار الإجابة.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مختبر الانشطار الثنائي (ص٩٦): الخطوات الثلاث كما في شكل الكتاب: ١ يتم تضاعف المادة الوراثية، ٢ تبدأ الخلية في الانقسام، ٣ ينتج مخلوقان متماثلان. تظهر بالتتابع بالنقر. ثم سؤال «أقرأ الصورة» من الكتاب وإجابته.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نشاط رتّبي المراحل: لا يمكن سحب البطاقات أثناء العرض في PowerPoint، لذا ترتّب الطالبات المراحل شفهيًا أو في الدفتر، ثم تضغط المعلمة زر «إظهار الترتيب الصحيح» فتظهر الأرقام: ١ تضاعف المادة الوراثية، ٢ تبدأ الخلية في الانقسام، ٣ ينتج مخلوقان متماثلان. ثم انقري لإظهار إجابة التقويم التكويني.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قاعة الاقتران (ص٩٦): نؤكد أن الاقتران يتضمن تبادل المادة الوراثية، ولا يزيد عدد الأفراد بحد ذاته؛ بل ينقسم كل مخلوق بعد ذلك بالانشطار الثنائي. اطرحي العبارة الخاطئة، واطلبي التفسير، ثم أظهري التصحيح.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مختبر التبرعم (ص٩٧): المراحل الأربع مأخوذة من نص الكتاب: يتكون البرعم بنمو بروز صغير على الخلية الأم ← عندما ينمو البرعم تنقسم نواة الخلية الأم انقسامًا متساويًا فتنتج نواتان متماثلتان ← تصبح إحداهما جزءًا من البرعم النامي ← ينفصل البرعم ويصبح مخلوقًا حيًا جديدًا. وتتكاثر فطريات أخرى بالأبواغ.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قاعة تكاثر البكتيريا (ص٩٧): تتكاثر معظم البكتيريا بالانشطار الثنائي، وبعض أنواعها بالاقتران عبر جسر يربط الخليتين. جدول المقارنة: البكتيريا (وحيدة الخلية – الانشطار الثنائي – وبعضها بالاقتران) والخميرة (فطر مجهري – التبرعم). صورة الاقتران من الكتاب.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أختبر نفسي ص٩٧ — الأسئلة بنصها من الكتاب، والإجابات وفق دليل المعلم.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مختبر اكتشفي الخطأ: لكل شاشة: تقرأ الطالبة العبارة، وتحدد الخطأ، ثم انقري لإظهار سؤال التفكير، ثم التصحيح مع الدليل من الكتاب. هذه تصورات شائعة محتملة وليست أخطاء صدرت من الطالبات.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قاعة البطاقات: اضغطي على البطاقة نفسها (الشاشة) بعد محاولة الطالبة لتظهر الإجابة. يمكن فتح البطاقات بأي ترتيب.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تحدي عالمات العلوم: ستة أسئلة متدرجة (أكتشف – أفكر – أتحدى نفسي). تختار المجموعة سؤالًا وتجيب، ثم اضغطي على الشاشة لإظهار الإجابة و«+١ نقطة ذهبية». احسبي النقاط على السبورة (العدّ يدوي، لا يحسبه العرض تلقائيًا).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قاعة «ماذا لو؟»: مواقف مبنية على معلومات الكتاب. اطلبي من الطالبة الإجابة مع دليل علمي من الدرس قبل إظهار الإجابة المقترحة (الإجابات من إعداد المعلمة ومبنية على نص الكتاب).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العلوم من حولنا: نمو العفن على الطعام، واستخدام الخميرة، والبكتيريا المفيدة في اللبن الرائب (من الكتاب)، والوقاية من فطريات القدم (مرتبطة بشرط الحرارة والرطوبة في الكتاب).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قاعة الوطن والعلوم (ربط إثرائي ليس من نص الكتاب): هيئة الصحة العامة «وقاية» وتعنى بالوقاية من الأمراض المعدية ومكافحتها، والهيئة العامة للغذاء والدواء تراقب سلامة الغذاء والدواء، والجامعات والمختبرات البحثية في المملكة.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حصاد المعرفة: انقري لبناء خريطة المفاهيم تدريجيًا، ثم التقويم الختامي (السؤال الأساسي للدرس) وإجابته وفق دليل المعلم، ثم توزيع تذكرة الخروج.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بوابة الخروج: تظهر العبارات تلقائيًا. أحسنتن يا عالمات المستقبل!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OARD">
    <p:bg>
      <p:bgPr>
        <a:solidFill>
          <a:srgbClr val="FFFFFF"/>
        </a:solidFill>
      </p:bgPr>
    </p:bg>
    <p:spTree>
      <p:nvGrpSpPr>
        <p:cNvPr id="1" name=""/>
        <p:cNvGrpSpPr/>
        <p:nvPr/>
      </p:nvGrpSpPr>
      <p:grpSpPr>
        <a:xfrm>
          <a:off x="0" y="0"/>
          <a:ext cx="0" cy="0"/>
          <a:chOff x="0" y="0"/>
          <a:chExt cx="0" cy="0"/>
        </a:xfrm>
      </p:grpSpPr>
      <p:pic>
        <p:nvPicPr>
          <p:cNvPr id="2" name="Image 0" descr="أ/ شامه البقمي">    </p:cNvPr>
          <p:cNvPicPr>
            <a:picLocks noChangeAspect="1"/>
          </p:cNvPicPr>
          <p:nvPr/>
        </p:nvPicPr>
        <p:blipFill>
          <a:blip r:embed="rId1"/>
          <a:stretch>
            <a:fillRect/>
          </a:stretch>
        </p:blipFill>
        <p:spPr>
          <a:xfrm>
            <a:off x="182880" y="6355080"/>
            <a:ext cx="2324844" cy="42062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slide" Target="slide2.xml"/><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10" Type="http://schemas.openxmlformats.org/officeDocument/2006/relationships/slideLayout" Target="../slideLayouts/slideLayout2.xml"/><Relationship Id="rId11"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10.xml"/><Relationship Id="rId6" Type="http://schemas.openxmlformats.org/officeDocument/2006/relationships/slide" Target="slide11.xml"/><Relationship Id="rId7" Type="http://schemas.openxmlformats.org/officeDocument/2006/relationships/slide" Target="slide12.xml"/><Relationship Id="rId8" Type="http://schemas.openxmlformats.org/officeDocument/2006/relationships/slide" Target="slide13.xml"/><Relationship Id="rId9" Type="http://schemas.openxmlformats.org/officeDocument/2006/relationships/slide" Target="slide14.xml"/><Relationship Id="rId10" Type="http://schemas.openxmlformats.org/officeDocument/2006/relationships/slide" Target="slide15.xml"/><Relationship Id="rId11" Type="http://schemas.openxmlformats.org/officeDocument/2006/relationships/slide" Target="slide16.xml"/><Relationship Id="rId12" Type="http://schemas.openxmlformats.org/officeDocument/2006/relationships/slide" Target="slide17.xml"/><Relationship Id="rId13" Type="http://schemas.openxmlformats.org/officeDocument/2006/relationships/slide" Target="slide18.xml"/><Relationship Id="rId14" Type="http://schemas.openxmlformats.org/officeDocument/2006/relationships/slide" Target="slide19.xml"/><Relationship Id="rId15" Type="http://schemas.openxmlformats.org/officeDocument/2006/relationships/slide" Target="slide20.xml"/><Relationship Id="rId16" Type="http://schemas.openxmlformats.org/officeDocument/2006/relationships/slide" Target="slide21.xml"/><Relationship Id="rId17" Type="http://schemas.openxmlformats.org/officeDocument/2006/relationships/slide" Target="slide22.xml"/><Relationship Id="rId18" Type="http://schemas.openxmlformats.org/officeDocument/2006/relationships/slide" Target="slide23.xml"/><Relationship Id="rId19" Type="http://schemas.openxmlformats.org/officeDocument/2006/relationships/slide" Target="slide24.xml"/><Relationship Id="rId20" Type="http://schemas.openxmlformats.org/officeDocument/2006/relationships/slide" Target="slide25.xml"/><Relationship Id="rId21" Type="http://schemas.openxmlformats.org/officeDocument/2006/relationships/slide" Target="slide26.xml"/><Relationship Id="rId22" Type="http://schemas.openxmlformats.org/officeDocument/2006/relationships/slide" Target="slide27.xml"/><Relationship Id="rId23" Type="http://schemas.openxmlformats.org/officeDocument/2006/relationships/slide" Target="slide28.xml"/><Relationship Id="rId24" Type="http://schemas.openxmlformats.org/officeDocument/2006/relationships/slide" Target="slide29.xml"/><Relationship Id="rId25" Type="http://schemas.openxmlformats.org/officeDocument/2006/relationships/slide" Target="slide1.xml"/><Relationship Id="rId1" Type="http://schemas.openxmlformats.org/officeDocument/2006/relationships/image" Target="../media/Slide-2-image-1.jpeg"/><Relationship Id="rId2" Type="http://schemas.openxmlformats.org/officeDocument/2006/relationships/image" Target="../media/image-2-2.png"/><Relationship Id="rId26" Type="http://schemas.openxmlformats.org/officeDocument/2006/relationships/slideLayout" Target="../slideLayouts/slideLayout2.xml"/><Relationship Id="rId2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 Target="slide4.xml"/><Relationship Id="rId4" Type="http://schemas.openxmlformats.org/officeDocument/2006/relationships/slide" Target="slide2.xml"/><Relationship Id="rId5" Type="http://schemas.openxmlformats.org/officeDocument/2006/relationships/slide" Target="slide2.xml"/><Relationship Id="rId1" Type="http://schemas.openxmlformats.org/officeDocument/2006/relationships/image" Target="../media/Slide-3-image-1.jpeg"/><Relationship Id="rId2"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4.png"/><Relationship Id="rId8" Type="http://schemas.openxmlformats.org/officeDocument/2006/relationships/image" Target="../media/image-3-5.png"/><Relationship Id="rId9" Type="http://schemas.openxmlformats.org/officeDocument/2006/relationships/image" Target="../media/image-3-6.png"/><Relationship Id="rId10" Type="http://schemas.openxmlformats.org/officeDocument/2006/relationships/image" Target="../media/image-3-7.png"/><Relationship Id="rId11" Type="http://schemas.openxmlformats.org/officeDocument/2006/relationships/image" Target="../media/image-3-8.png"/><Relationship Id="rId12" Type="http://schemas.openxmlformats.org/officeDocument/2006/relationships/slideLayout" Target="../slideLayouts/slideLayout2.xml"/><Relationship Id="rId1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 Target="slide10.xml"/><Relationship Id="rId4" Type="http://schemas.openxmlformats.org/officeDocument/2006/relationships/slide" Target="slide2.xml"/><Relationship Id="rId5" Type="http://schemas.openxmlformats.org/officeDocument/2006/relationships/slide" Target="slide3.xml"/><Relationship Id="rId8" Type="http://schemas.openxmlformats.org/officeDocument/2006/relationships/slide" Target="slide5.xml"/><Relationship Id="rId11" Type="http://schemas.openxmlformats.org/officeDocument/2006/relationships/slide" Target="slide6.xml"/><Relationship Id="rId14" Type="http://schemas.openxmlformats.org/officeDocument/2006/relationships/slide" Target="slide7.xml"/><Relationship Id="rId17" Type="http://schemas.openxmlformats.org/officeDocument/2006/relationships/slide" Target="slide8.xml"/><Relationship Id="rId20" Type="http://schemas.openxmlformats.org/officeDocument/2006/relationships/slide" Target="slide9.xml"/><Relationship Id="rId1" Type="http://schemas.openxmlformats.org/officeDocument/2006/relationships/image" Target="../media/Slide-4-image-1.jpeg"/><Relationship Id="rId2" Type="http://schemas.openxmlformats.org/officeDocument/2006/relationships/image" Target="../media/image-4-2.png"/><Relationship Id="rId6" Type="http://schemas.openxmlformats.org/officeDocument/2006/relationships/image" Target="../media/image-4-3.png"/><Relationship Id="rId7" Type="http://schemas.openxmlformats.org/officeDocument/2006/relationships/image" Target="../media/image-4-4.png"/><Relationship Id="rId9" Type="http://schemas.openxmlformats.org/officeDocument/2006/relationships/image" Target="../media/image-4-5.png"/><Relationship Id="rId10" Type="http://schemas.openxmlformats.org/officeDocument/2006/relationships/image" Target="../media/image-4-6.png"/><Relationship Id="rId12" Type="http://schemas.openxmlformats.org/officeDocument/2006/relationships/image" Target="../media/image-4-7.png"/><Relationship Id="rId13" Type="http://schemas.openxmlformats.org/officeDocument/2006/relationships/image" Target="../media/image-4-8.png"/><Relationship Id="rId15" Type="http://schemas.openxmlformats.org/officeDocument/2006/relationships/image" Target="../media/image-4-9.png"/><Relationship Id="rId16" Type="http://schemas.openxmlformats.org/officeDocument/2006/relationships/image" Target="../media/image-4-10.png"/><Relationship Id="rId18" Type="http://schemas.openxmlformats.org/officeDocument/2006/relationships/image" Target="../media/image-4-11.png"/><Relationship Id="rId19" Type="http://schemas.openxmlformats.org/officeDocument/2006/relationships/image" Target="../media/image-4-12.png"/><Relationship Id="rId21" Type="http://schemas.openxmlformats.org/officeDocument/2006/relationships/slideLayout" Target="../slideLayouts/slideLayout2.xml"/><Relationship Id="rId2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 Target="slide4.xml"/><Relationship Id="rId4" Type="http://schemas.openxmlformats.org/officeDocument/2006/relationships/slide" Target="slide2.xml"/><Relationship Id="rId5" Type="http://schemas.openxmlformats.org/officeDocument/2006/relationships/slide" Target="slide6.xml"/><Relationship Id="rId1" Type="http://schemas.openxmlformats.org/officeDocument/2006/relationships/image" Target="../media/Slide-5-image-1.jpeg"/><Relationship Id="rId2" Type="http://schemas.openxmlformats.org/officeDocument/2006/relationships/image" Target="../media/image-5-2.png"/><Relationship Id="rId6" Type="http://schemas.openxmlformats.org/officeDocument/2006/relationships/image" Target="../media/image-5-3.png"/><Relationship Id="rId7" Type="http://schemas.openxmlformats.org/officeDocument/2006/relationships/image" Target="../media/image-5-4.png"/><Relationship Id="rId8" Type="http://schemas.openxmlformats.org/officeDocument/2006/relationships/image" Target="../media/image-5-5.png"/><Relationship Id="rId9" Type="http://schemas.openxmlformats.org/officeDocument/2006/relationships/image" Target="../media/image-5-6.png"/><Relationship Id="rId10" Type="http://schemas.openxmlformats.org/officeDocument/2006/relationships/slideLayout" Target="../slideLayouts/slideLayout2.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 Target="slide4.xml"/><Relationship Id="rId4" Type="http://schemas.openxmlformats.org/officeDocument/2006/relationships/slide" Target="slide2.xml"/><Relationship Id="rId5" Type="http://schemas.openxmlformats.org/officeDocument/2006/relationships/slide" Target="slide7.xml"/><Relationship Id="rId1" Type="http://schemas.openxmlformats.org/officeDocument/2006/relationships/image" Target="../media/Slide-6-image-1.jpeg"/><Relationship Id="rId2" Type="http://schemas.openxmlformats.org/officeDocument/2006/relationships/image" Target="../media/image-6-2.png"/><Relationship Id="rId6" Type="http://schemas.openxmlformats.org/officeDocument/2006/relationships/image" Target="../media/image-6-3.png"/><Relationship Id="rId7" Type="http://schemas.openxmlformats.org/officeDocument/2006/relationships/image" Target="../media/image-6-4.png"/><Relationship Id="rId8" Type="http://schemas.openxmlformats.org/officeDocument/2006/relationships/image" Target="../media/image-6-5.png"/><Relationship Id="rId9" Type="http://schemas.openxmlformats.org/officeDocument/2006/relationships/image" Target="../media/image-6-6.png"/><Relationship Id="rId10" Type="http://schemas.openxmlformats.org/officeDocument/2006/relationships/slideLayout" Target="../slideLayouts/slideLayout2.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 Target="slide4.xml"/><Relationship Id="rId4" Type="http://schemas.openxmlformats.org/officeDocument/2006/relationships/slide" Target="slide2.xml"/><Relationship Id="rId5" Type="http://schemas.openxmlformats.org/officeDocument/2006/relationships/slide" Target="slide8.xml"/><Relationship Id="rId1" Type="http://schemas.openxmlformats.org/officeDocument/2006/relationships/image" Target="../media/Slide-7-image-1.jpeg"/><Relationship Id="rId2" Type="http://schemas.openxmlformats.org/officeDocument/2006/relationships/image" Target="../media/image-7-2.png"/><Relationship Id="rId6" Type="http://schemas.openxmlformats.org/officeDocument/2006/relationships/image" Target="../media/image-7-3.png"/><Relationship Id="rId7" Type="http://schemas.openxmlformats.org/officeDocument/2006/relationships/image" Target="../media/image-7-4.png"/><Relationship Id="rId8" Type="http://schemas.openxmlformats.org/officeDocument/2006/relationships/image" Target="../media/image-7-5.png"/><Relationship Id="rId9" Type="http://schemas.openxmlformats.org/officeDocument/2006/relationships/image" Target="../media/image-7-6.png"/><Relationship Id="rId10" Type="http://schemas.openxmlformats.org/officeDocument/2006/relationships/slideLayout" Target="../slideLayouts/slideLayout2.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 Target="slide4.xml"/><Relationship Id="rId4" Type="http://schemas.openxmlformats.org/officeDocument/2006/relationships/slide" Target="slide2.xml"/><Relationship Id="rId5" Type="http://schemas.openxmlformats.org/officeDocument/2006/relationships/slide" Target="slide9.xml"/><Relationship Id="rId1" Type="http://schemas.openxmlformats.org/officeDocument/2006/relationships/image" Target="../media/Slide-8-image-1.jpeg"/><Relationship Id="rId2" Type="http://schemas.openxmlformats.org/officeDocument/2006/relationships/image" Target="../media/image-8-2.png"/><Relationship Id="rId6" Type="http://schemas.openxmlformats.org/officeDocument/2006/relationships/image" Target="../media/image-8-3.png"/><Relationship Id="rId7" Type="http://schemas.openxmlformats.org/officeDocument/2006/relationships/image" Target="../media/image-8-4.png"/><Relationship Id="rId8" Type="http://schemas.openxmlformats.org/officeDocument/2006/relationships/image" Target="../media/image-8-5.png"/><Relationship Id="rId9" Type="http://schemas.openxmlformats.org/officeDocument/2006/relationships/image" Target="../media/image-8-6.png"/><Relationship Id="rId10" Type="http://schemas.openxmlformats.org/officeDocument/2006/relationships/slideLayout" Target="../slideLayouts/slideLayout2.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 Target="slide4.xml"/><Relationship Id="rId4" Type="http://schemas.openxmlformats.org/officeDocument/2006/relationships/slide" Target="slide2.xml"/><Relationship Id="rId5" Type="http://schemas.openxmlformats.org/officeDocument/2006/relationships/slide" Target="slide10.xml"/><Relationship Id="rId1" Type="http://schemas.openxmlformats.org/officeDocument/2006/relationships/image" Target="../media/Slide-9-image-1.jpeg"/><Relationship Id="rId2" Type="http://schemas.openxmlformats.org/officeDocument/2006/relationships/image" Target="../media/image-9-2.png"/><Relationship Id="rId6" Type="http://schemas.openxmlformats.org/officeDocument/2006/relationships/image" Target="../media/image-9-3.png"/><Relationship Id="rId7" Type="http://schemas.openxmlformats.org/officeDocument/2006/relationships/image" Target="../media/image-9-4.png"/><Relationship Id="rId8" Type="http://schemas.openxmlformats.org/officeDocument/2006/relationships/image" Target="../media/image-9-5.png"/><Relationship Id="rId9" Type="http://schemas.openxmlformats.org/officeDocument/2006/relationships/image" Target="../media/image-9-6.png"/><Relationship Id="rId10" Type="http://schemas.openxmlformats.org/officeDocument/2006/relationships/slideLayout" Target="../slideLayouts/slideLayout2.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 Target="slide11.xml"/><Relationship Id="rId4" Type="http://schemas.openxmlformats.org/officeDocument/2006/relationships/slide" Target="slide2.xml"/><Relationship Id="rId5" Type="http://schemas.openxmlformats.org/officeDocument/2006/relationships/slide" Target="slide4.xml"/><Relationship Id="rId1" Type="http://schemas.openxmlformats.org/officeDocument/2006/relationships/image" Target="../media/Slide-10-image-1.jpeg"/><Relationship Id="rId2" Type="http://schemas.openxmlformats.org/officeDocument/2006/relationships/image" Target="../media/image-10-2.png"/><Relationship Id="rId6" Type="http://schemas.openxmlformats.org/officeDocument/2006/relationships/image" Target="../media/image-10-3.png"/><Relationship Id="rId7" Type="http://schemas.openxmlformats.org/officeDocument/2006/relationships/image" Target="../media/image-10-4.png"/><Relationship Id="rId8" Type="http://schemas.openxmlformats.org/officeDocument/2006/relationships/image" Target="../media/image-10-5.png"/><Relationship Id="rId9" Type="http://schemas.openxmlformats.org/officeDocument/2006/relationships/image" Target="../media/image-10-6.jpg"/><Relationship Id="rId10" Type="http://schemas.openxmlformats.org/officeDocument/2006/relationships/image" Target="../media/image-10-5.png"/><Relationship Id="rId11" Type="http://schemas.openxmlformats.org/officeDocument/2006/relationships/image" Target="../media/image-10-8.jpg"/><Relationship Id="rId12" Type="http://schemas.openxmlformats.org/officeDocument/2006/relationships/image" Target="../media/image-10-5.png"/><Relationship Id="rId13" Type="http://schemas.openxmlformats.org/officeDocument/2006/relationships/image" Target="../media/image-10-10.jpg"/><Relationship Id="rId14" Type="http://schemas.openxmlformats.org/officeDocument/2006/relationships/image" Target="../media/image-10-11.png"/><Relationship Id="rId15" Type="http://schemas.openxmlformats.org/officeDocument/2006/relationships/slideLayout" Target="../slideLayouts/slideLayout2.xml"/><Relationship Id="rId1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 Target="slide12.xml"/><Relationship Id="rId4" Type="http://schemas.openxmlformats.org/officeDocument/2006/relationships/slide" Target="slide2.xml"/><Relationship Id="rId5" Type="http://schemas.openxmlformats.org/officeDocument/2006/relationships/slide" Target="slide10.xml"/><Relationship Id="rId1" Type="http://schemas.openxmlformats.org/officeDocument/2006/relationships/image" Target="../media/Slide-11-image-1.jpeg"/><Relationship Id="rId2" Type="http://schemas.openxmlformats.org/officeDocument/2006/relationships/image" Target="../media/image-11-2.png"/><Relationship Id="rId6" Type="http://schemas.openxmlformats.org/officeDocument/2006/relationships/image" Target="../media/image-11-3.png"/><Relationship Id="rId7" Type="http://schemas.openxmlformats.org/officeDocument/2006/relationships/image" Target="../media/image-11-4.png"/><Relationship Id="rId8" Type="http://schemas.openxmlformats.org/officeDocument/2006/relationships/image" Target="../media/image-11-5.png"/><Relationship Id="rId9" Type="http://schemas.openxmlformats.org/officeDocument/2006/relationships/image" Target="../media/image-11-6.jpg"/><Relationship Id="rId10" Type="http://schemas.openxmlformats.org/officeDocument/2006/relationships/image" Target="../media/image-11-7.png"/><Relationship Id="rId11" Type="http://schemas.openxmlformats.org/officeDocument/2006/relationships/image" Target="../media/image-11-8.png"/><Relationship Id="rId12" Type="http://schemas.openxmlformats.org/officeDocument/2006/relationships/image" Target="../media/image-11-9.png"/><Relationship Id="rId13" Type="http://schemas.openxmlformats.org/officeDocument/2006/relationships/slideLayout" Target="../slideLayouts/slideLayout2.xml"/><Relationship Id="rId1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 Target="slide13.xml"/><Relationship Id="rId4" Type="http://schemas.openxmlformats.org/officeDocument/2006/relationships/slide" Target="slide2.xml"/><Relationship Id="rId5" Type="http://schemas.openxmlformats.org/officeDocument/2006/relationships/slide" Target="slide11.xml"/><Relationship Id="rId1" Type="http://schemas.openxmlformats.org/officeDocument/2006/relationships/image" Target="../media/Slide-12-image-1.jpeg"/><Relationship Id="rId2" Type="http://schemas.openxmlformats.org/officeDocument/2006/relationships/image" Target="../media/image-12-2.png"/><Relationship Id="rId6" Type="http://schemas.openxmlformats.org/officeDocument/2006/relationships/image" Target="../media/image-12-3.png"/><Relationship Id="rId7" Type="http://schemas.openxmlformats.org/officeDocument/2006/relationships/image" Target="../media/image-12-4.jpg"/><Relationship Id="rId8" Type="http://schemas.openxmlformats.org/officeDocument/2006/relationships/image" Target="../media/image-12-5.png"/><Relationship Id="rId9" Type="http://schemas.openxmlformats.org/officeDocument/2006/relationships/image" Target="../media/image-12-6.png"/><Relationship Id="rId10" Type="http://schemas.openxmlformats.org/officeDocument/2006/relationships/image" Target="../media/image-12-7.png"/><Relationship Id="rId11" Type="http://schemas.openxmlformats.org/officeDocument/2006/relationships/slideLayout" Target="../slideLayouts/slideLayout2.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 Target="slide14.xml"/><Relationship Id="rId4" Type="http://schemas.openxmlformats.org/officeDocument/2006/relationships/slide" Target="slide2.xml"/><Relationship Id="rId5" Type="http://schemas.openxmlformats.org/officeDocument/2006/relationships/slide" Target="slide12.xml"/><Relationship Id="rId1" Type="http://schemas.openxmlformats.org/officeDocument/2006/relationships/image" Target="../media/Slide-13-image-1.jpeg"/><Relationship Id="rId2" Type="http://schemas.openxmlformats.org/officeDocument/2006/relationships/image" Target="../media/image-13-2.png"/><Relationship Id="rId6" Type="http://schemas.openxmlformats.org/officeDocument/2006/relationships/image" Target="../media/image-13-3.png"/><Relationship Id="rId7" Type="http://schemas.openxmlformats.org/officeDocument/2006/relationships/image" Target="../media/image-13-4.png"/><Relationship Id="rId8" Type="http://schemas.openxmlformats.org/officeDocument/2006/relationships/image" Target="../media/image-13-5.png"/><Relationship Id="rId9" Type="http://schemas.openxmlformats.org/officeDocument/2006/relationships/image" Target="../media/image-13-6.png"/><Relationship Id="rId10" Type="http://schemas.openxmlformats.org/officeDocument/2006/relationships/image" Target="../media/image-13-7.png"/><Relationship Id="rId11" Type="http://schemas.openxmlformats.org/officeDocument/2006/relationships/image" Target="../media/image-13-8.png"/><Relationship Id="rId12" Type="http://schemas.openxmlformats.org/officeDocument/2006/relationships/image" Target="../media/image-13-9.png"/><Relationship Id="rId13" Type="http://schemas.openxmlformats.org/officeDocument/2006/relationships/image" Target="../media/image-13-10.png"/><Relationship Id="rId14" Type="http://schemas.openxmlformats.org/officeDocument/2006/relationships/image" Target="../media/image-13-11.png"/><Relationship Id="rId15" Type="http://schemas.openxmlformats.org/officeDocument/2006/relationships/slideLayout" Target="../slideLayouts/slideLayout2.xml"/><Relationship Id="rId1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 Target="slide15.xml"/><Relationship Id="rId4" Type="http://schemas.openxmlformats.org/officeDocument/2006/relationships/slide" Target="slide2.xml"/><Relationship Id="rId5" Type="http://schemas.openxmlformats.org/officeDocument/2006/relationships/slide" Target="slide13.xml"/><Relationship Id="rId1" Type="http://schemas.openxmlformats.org/officeDocument/2006/relationships/image" Target="../media/Slide-14-image-1.jpeg"/><Relationship Id="rId2" Type="http://schemas.openxmlformats.org/officeDocument/2006/relationships/image" Target="../media/image-14-2.png"/><Relationship Id="rId6" Type="http://schemas.openxmlformats.org/officeDocument/2006/relationships/image" Target="../media/image-14-3.png"/><Relationship Id="rId7" Type="http://schemas.openxmlformats.org/officeDocument/2006/relationships/image" Target="../media/image-14-4.png"/><Relationship Id="rId8" Type="http://schemas.openxmlformats.org/officeDocument/2006/relationships/image" Target="../media/image-14-5.png"/><Relationship Id="rId9" Type="http://schemas.openxmlformats.org/officeDocument/2006/relationships/image" Target="../media/image-14-6.png"/><Relationship Id="rId10" Type="http://schemas.openxmlformats.org/officeDocument/2006/relationships/image" Target="../media/image-14-7.png"/><Relationship Id="rId11" Type="http://schemas.openxmlformats.org/officeDocument/2006/relationships/image" Target="../media/image-14-8.png"/><Relationship Id="rId12" Type="http://schemas.openxmlformats.org/officeDocument/2006/relationships/image" Target="../media/image-14-9.jpg"/><Relationship Id="rId13" Type="http://schemas.openxmlformats.org/officeDocument/2006/relationships/slideLayout" Target="../slideLayouts/slideLayout2.xml"/><Relationship Id="rId1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 Target="slide16.xml"/><Relationship Id="rId4" Type="http://schemas.openxmlformats.org/officeDocument/2006/relationships/slide" Target="slide2.xml"/><Relationship Id="rId5" Type="http://schemas.openxmlformats.org/officeDocument/2006/relationships/slide" Target="slide14.xml"/><Relationship Id="rId1" Type="http://schemas.openxmlformats.org/officeDocument/2006/relationships/image" Target="../media/Slide-15-image-1.jpeg"/><Relationship Id="rId2" Type="http://schemas.openxmlformats.org/officeDocument/2006/relationships/image" Target="../media/image-15-2.png"/><Relationship Id="rId6" Type="http://schemas.openxmlformats.org/officeDocument/2006/relationships/image" Target="../media/image-15-3.png"/><Relationship Id="rId7" Type="http://schemas.openxmlformats.org/officeDocument/2006/relationships/image" Target="../media/image-15-4.png"/><Relationship Id="rId8" Type="http://schemas.openxmlformats.org/officeDocument/2006/relationships/slideLayout" Target="../slideLayouts/slideLayout2.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 Target="slide17.xml"/><Relationship Id="rId4" Type="http://schemas.openxmlformats.org/officeDocument/2006/relationships/slide" Target="slide2.xml"/><Relationship Id="rId5" Type="http://schemas.openxmlformats.org/officeDocument/2006/relationships/slide" Target="slide15.xml"/><Relationship Id="rId1" Type="http://schemas.openxmlformats.org/officeDocument/2006/relationships/image" Target="../media/Slide-16-image-1.jpeg"/><Relationship Id="rId2" Type="http://schemas.openxmlformats.org/officeDocument/2006/relationships/image" Target="../media/image-16-2.png"/><Relationship Id="rId6" Type="http://schemas.openxmlformats.org/officeDocument/2006/relationships/image" Target="../media/image-16-3.png"/><Relationship Id="rId7" Type="http://schemas.openxmlformats.org/officeDocument/2006/relationships/image" Target="../media/image-16-4.png"/><Relationship Id="rId8" Type="http://schemas.openxmlformats.org/officeDocument/2006/relationships/image" Target="../media/image-16-5.png"/><Relationship Id="rId9" Type="http://schemas.openxmlformats.org/officeDocument/2006/relationships/image" Target="../media/image-16-4.png"/><Relationship Id="rId10" Type="http://schemas.openxmlformats.org/officeDocument/2006/relationships/image" Target="../media/image-16-7.png"/><Relationship Id="rId11" Type="http://schemas.openxmlformats.org/officeDocument/2006/relationships/image" Target="../media/image-16-4.png"/><Relationship Id="rId12" Type="http://schemas.openxmlformats.org/officeDocument/2006/relationships/image" Target="../media/image-16-9.png"/><Relationship Id="rId13" Type="http://schemas.openxmlformats.org/officeDocument/2006/relationships/image" Target="../media/image-16-9.png"/><Relationship Id="rId14" Type="http://schemas.openxmlformats.org/officeDocument/2006/relationships/image" Target="../media/image-16-11.png"/><Relationship Id="rId15" Type="http://schemas.openxmlformats.org/officeDocument/2006/relationships/image" Target="../media/image-16-12.jpg"/><Relationship Id="rId16" Type="http://schemas.openxmlformats.org/officeDocument/2006/relationships/image" Target="../media/image-16-13.png"/><Relationship Id="rId17" Type="http://schemas.openxmlformats.org/officeDocument/2006/relationships/slideLayout" Target="../slideLayouts/slideLayout2.xml"/><Relationship Id="rId1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slide" Target="slide18.xml"/><Relationship Id="rId4" Type="http://schemas.openxmlformats.org/officeDocument/2006/relationships/slide" Target="slide2.xml"/><Relationship Id="rId5" Type="http://schemas.openxmlformats.org/officeDocument/2006/relationships/slide" Target="slide16.xml"/><Relationship Id="rId1" Type="http://schemas.openxmlformats.org/officeDocument/2006/relationships/image" Target="../media/Slide-17-image-1.jpeg"/><Relationship Id="rId2" Type="http://schemas.openxmlformats.org/officeDocument/2006/relationships/image" Target="../media/image-17-2.png"/><Relationship Id="rId6" Type="http://schemas.openxmlformats.org/officeDocument/2006/relationships/image" Target="../media/image-17-3.png"/><Relationship Id="rId7" Type="http://schemas.openxmlformats.org/officeDocument/2006/relationships/image" Target="../media/image-17-4.png"/><Relationship Id="rId8" Type="http://schemas.openxmlformats.org/officeDocument/2006/relationships/image" Target="../media/image-17-5.png"/><Relationship Id="rId9" Type="http://schemas.openxmlformats.org/officeDocument/2006/relationships/image" Target="../media/image-17-6.png"/><Relationship Id="rId10" Type="http://schemas.openxmlformats.org/officeDocument/2006/relationships/slideLayout" Target="../slideLayouts/slideLayout2.xml"/><Relationship Id="rId11"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slide" Target="slide19.xml"/><Relationship Id="rId4" Type="http://schemas.openxmlformats.org/officeDocument/2006/relationships/slide" Target="slide2.xml"/><Relationship Id="rId5" Type="http://schemas.openxmlformats.org/officeDocument/2006/relationships/slide" Target="slide17.xml"/><Relationship Id="rId1" Type="http://schemas.openxmlformats.org/officeDocument/2006/relationships/image" Target="../media/Slide-18-image-1.jpeg"/><Relationship Id="rId2" Type="http://schemas.openxmlformats.org/officeDocument/2006/relationships/image" Target="../media/image-18-2.png"/><Relationship Id="rId6" Type="http://schemas.openxmlformats.org/officeDocument/2006/relationships/image" Target="../media/image-18-3.png"/><Relationship Id="rId7" Type="http://schemas.openxmlformats.org/officeDocument/2006/relationships/image" Target="../media/image-18-4.png"/><Relationship Id="rId8" Type="http://schemas.openxmlformats.org/officeDocument/2006/relationships/image" Target="../media/image-18-5.png"/><Relationship Id="rId9" Type="http://schemas.openxmlformats.org/officeDocument/2006/relationships/image" Target="../media/image-18-6.png"/><Relationship Id="rId10" Type="http://schemas.openxmlformats.org/officeDocument/2006/relationships/image" Target="../media/image-18-7.png"/><Relationship Id="rId11" Type="http://schemas.openxmlformats.org/officeDocument/2006/relationships/image" Target="../media/image-18-8.png"/><Relationship Id="rId12" Type="http://schemas.openxmlformats.org/officeDocument/2006/relationships/slideLayout" Target="../slideLayouts/slideLayout2.xml"/><Relationship Id="rId1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slide" Target="slide20.xml"/><Relationship Id="rId4" Type="http://schemas.openxmlformats.org/officeDocument/2006/relationships/slide" Target="slide2.xml"/><Relationship Id="rId5" Type="http://schemas.openxmlformats.org/officeDocument/2006/relationships/slide" Target="slide18.xml"/><Relationship Id="rId1" Type="http://schemas.openxmlformats.org/officeDocument/2006/relationships/image" Target="../media/Slide-19-image-1.jpeg"/><Relationship Id="rId2" Type="http://schemas.openxmlformats.org/officeDocument/2006/relationships/image" Target="../media/image-19-2.png"/><Relationship Id="rId6" Type="http://schemas.openxmlformats.org/officeDocument/2006/relationships/image" Target="../media/image-19-3.png"/><Relationship Id="rId7" Type="http://schemas.openxmlformats.org/officeDocument/2006/relationships/image" Target="../media/image-19-4.png"/><Relationship Id="rId8" Type="http://schemas.openxmlformats.org/officeDocument/2006/relationships/image" Target="../media/image-19-5.png"/><Relationship Id="rId9" Type="http://schemas.openxmlformats.org/officeDocument/2006/relationships/image" Target="../media/image-19-4.png"/><Relationship Id="rId10" Type="http://schemas.openxmlformats.org/officeDocument/2006/relationships/image" Target="../media/image-19-7.png"/><Relationship Id="rId11" Type="http://schemas.openxmlformats.org/officeDocument/2006/relationships/image" Target="../media/image-19-4.png"/><Relationship Id="rId12" Type="http://schemas.openxmlformats.org/officeDocument/2006/relationships/image" Target="../media/image-19-9.png"/><Relationship Id="rId13" Type="http://schemas.openxmlformats.org/officeDocument/2006/relationships/image" Target="../media/image-19-4.png"/><Relationship Id="rId14" Type="http://schemas.openxmlformats.org/officeDocument/2006/relationships/image" Target="../media/image-19-11.png"/><Relationship Id="rId15" Type="http://schemas.openxmlformats.org/officeDocument/2006/relationships/image" Target="../media/image-19-12.png"/><Relationship Id="rId16" Type="http://schemas.openxmlformats.org/officeDocument/2006/relationships/image" Target="../media/image-19-13.jpg"/><Relationship Id="rId17" Type="http://schemas.openxmlformats.org/officeDocument/2006/relationships/image" Target="../media/image-19-14.png"/><Relationship Id="rId18" Type="http://schemas.openxmlformats.org/officeDocument/2006/relationships/slideLayout" Target="../slideLayouts/slideLayout2.xml"/><Relationship Id="rId1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slide" Target="slide21.xml"/><Relationship Id="rId4" Type="http://schemas.openxmlformats.org/officeDocument/2006/relationships/slide" Target="slide2.xml"/><Relationship Id="rId5" Type="http://schemas.openxmlformats.org/officeDocument/2006/relationships/slide" Target="slide19.xml"/><Relationship Id="rId1" Type="http://schemas.openxmlformats.org/officeDocument/2006/relationships/image" Target="../media/Slide-20-image-1.jpeg"/><Relationship Id="rId2" Type="http://schemas.openxmlformats.org/officeDocument/2006/relationships/image" Target="../media/image-20-2.png"/><Relationship Id="rId6" Type="http://schemas.openxmlformats.org/officeDocument/2006/relationships/image" Target="../media/image-20-3.png"/><Relationship Id="rId7" Type="http://schemas.openxmlformats.org/officeDocument/2006/relationships/image" Target="../media/image-20-4.png"/><Relationship Id="rId8" Type="http://schemas.openxmlformats.org/officeDocument/2006/relationships/image" Target="../media/image-20-5.png"/><Relationship Id="rId9" Type="http://schemas.openxmlformats.org/officeDocument/2006/relationships/image" Target="../media/image-20-6.png"/><Relationship Id="rId10" Type="http://schemas.openxmlformats.org/officeDocument/2006/relationships/image" Target="../media/image-20-7.jpg"/><Relationship Id="rId11" Type="http://schemas.openxmlformats.org/officeDocument/2006/relationships/slideLayout" Target="../slideLayouts/slideLayout2.xml"/><Relationship Id="rId1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slide" Target="slide22.xml"/><Relationship Id="rId4" Type="http://schemas.openxmlformats.org/officeDocument/2006/relationships/slide" Target="slide2.xml"/><Relationship Id="rId5" Type="http://schemas.openxmlformats.org/officeDocument/2006/relationships/slide" Target="slide20.xml"/><Relationship Id="rId1" Type="http://schemas.openxmlformats.org/officeDocument/2006/relationships/image" Target="../media/Slide-21-image-1.jpeg"/><Relationship Id="rId2" Type="http://schemas.openxmlformats.org/officeDocument/2006/relationships/image" Target="../media/image-21-2.png"/><Relationship Id="rId6" Type="http://schemas.openxmlformats.org/officeDocument/2006/relationships/image" Target="../media/image-21-3.png"/><Relationship Id="rId7" Type="http://schemas.openxmlformats.org/officeDocument/2006/relationships/image" Target="../media/image-21-4.png"/><Relationship Id="rId8" Type="http://schemas.openxmlformats.org/officeDocument/2006/relationships/slideLayout" Target="../slideLayouts/slideLayout2.xml"/><Relationship Id="rId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slide" Target="slide23.xml"/><Relationship Id="rId4" Type="http://schemas.openxmlformats.org/officeDocument/2006/relationships/slide" Target="slide2.xml"/><Relationship Id="rId5" Type="http://schemas.openxmlformats.org/officeDocument/2006/relationships/slide" Target="slide21.xml"/><Relationship Id="rId1" Type="http://schemas.openxmlformats.org/officeDocument/2006/relationships/image" Target="../media/Slide-22-image-1.jpeg"/><Relationship Id="rId2" Type="http://schemas.openxmlformats.org/officeDocument/2006/relationships/image" Target="../media/image-22-2.png"/><Relationship Id="rId6" Type="http://schemas.openxmlformats.org/officeDocument/2006/relationships/image" Target="../media/image-22-3.png"/><Relationship Id="rId7" Type="http://schemas.openxmlformats.org/officeDocument/2006/relationships/image" Target="../media/image-22-4.png"/><Relationship Id="rId8" Type="http://schemas.openxmlformats.org/officeDocument/2006/relationships/image" Target="../media/image-22-5.png"/><Relationship Id="rId9" Type="http://schemas.openxmlformats.org/officeDocument/2006/relationships/slideLayout" Target="../slideLayouts/slideLayout2.xml"/><Relationship Id="rId10"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slide" Target="slide24.xml"/><Relationship Id="rId4" Type="http://schemas.openxmlformats.org/officeDocument/2006/relationships/slide" Target="slide2.xml"/><Relationship Id="rId5" Type="http://schemas.openxmlformats.org/officeDocument/2006/relationships/slide" Target="slide22.xml"/><Relationship Id="rId1" Type="http://schemas.openxmlformats.org/officeDocument/2006/relationships/image" Target="../media/Slide-23-image-1.jpeg"/><Relationship Id="rId2" Type="http://schemas.openxmlformats.org/officeDocument/2006/relationships/image" Target="../media/image-23-2.png"/><Relationship Id="rId6" Type="http://schemas.openxmlformats.org/officeDocument/2006/relationships/image" Target="../media/image-23-3.png"/><Relationship Id="rId7" Type="http://schemas.openxmlformats.org/officeDocument/2006/relationships/image" Target="../media/image-23-4.png"/><Relationship Id="rId8" Type="http://schemas.openxmlformats.org/officeDocument/2006/relationships/image" Target="../media/image-23-5.png"/><Relationship Id="rId9" Type="http://schemas.openxmlformats.org/officeDocument/2006/relationships/image" Target="../media/image-23-6.png"/><Relationship Id="rId10" Type="http://schemas.openxmlformats.org/officeDocument/2006/relationships/image" Target="../media/image-23-7.png"/><Relationship Id="rId11" Type="http://schemas.openxmlformats.org/officeDocument/2006/relationships/image" Target="../media/image-23-8.png"/><Relationship Id="rId12" Type="http://schemas.openxmlformats.org/officeDocument/2006/relationships/slideLayout" Target="../slideLayouts/slideLayout2.xml"/><Relationship Id="rId1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slide" Target="slide25.xml"/><Relationship Id="rId4" Type="http://schemas.openxmlformats.org/officeDocument/2006/relationships/slide" Target="slide2.xml"/><Relationship Id="rId5" Type="http://schemas.openxmlformats.org/officeDocument/2006/relationships/slide" Target="slide23.xml"/><Relationship Id="rId1" Type="http://schemas.openxmlformats.org/officeDocument/2006/relationships/image" Target="../media/Slide-24-image-1.jpeg"/><Relationship Id="rId2" Type="http://schemas.openxmlformats.org/officeDocument/2006/relationships/image" Target="../media/image-24-2.png"/><Relationship Id="rId6" Type="http://schemas.openxmlformats.org/officeDocument/2006/relationships/image" Target="../media/image-24-3.png"/><Relationship Id="rId7" Type="http://schemas.openxmlformats.org/officeDocument/2006/relationships/image" Target="../media/image-24-3.png"/><Relationship Id="rId8" Type="http://schemas.openxmlformats.org/officeDocument/2006/relationships/image" Target="../media/image-24-5.png"/><Relationship Id="rId9" Type="http://schemas.openxmlformats.org/officeDocument/2006/relationships/image" Target="../media/image-24-5.png"/><Relationship Id="rId10" Type="http://schemas.openxmlformats.org/officeDocument/2006/relationships/image" Target="../media/image-24-7.png"/><Relationship Id="rId11" Type="http://schemas.openxmlformats.org/officeDocument/2006/relationships/image" Target="../media/image-24-7.png"/><Relationship Id="rId12" Type="http://schemas.openxmlformats.org/officeDocument/2006/relationships/slideLayout" Target="../slideLayouts/slideLayout2.xml"/><Relationship Id="rId1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slide" Target="slide26.xml"/><Relationship Id="rId4" Type="http://schemas.openxmlformats.org/officeDocument/2006/relationships/slide" Target="slide2.xml"/><Relationship Id="rId5" Type="http://schemas.openxmlformats.org/officeDocument/2006/relationships/slide" Target="slide24.xml"/><Relationship Id="rId1" Type="http://schemas.openxmlformats.org/officeDocument/2006/relationships/image" Target="../media/Slide-25-image-1.jpeg"/><Relationship Id="rId2" Type="http://schemas.openxmlformats.org/officeDocument/2006/relationships/image" Target="../media/image-25-2.png"/><Relationship Id="rId6" Type="http://schemas.openxmlformats.org/officeDocument/2006/relationships/image" Target="../media/image-25-3.png"/><Relationship Id="rId7" Type="http://schemas.openxmlformats.org/officeDocument/2006/relationships/image" Target="../media/image-25-4.png"/><Relationship Id="rId8" Type="http://schemas.openxmlformats.org/officeDocument/2006/relationships/image" Target="../media/image-25-5.png"/><Relationship Id="rId9" Type="http://schemas.openxmlformats.org/officeDocument/2006/relationships/slideLayout" Target="../slideLayouts/slideLayout2.xml"/><Relationship Id="rId10"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slide" Target="slide27.xml"/><Relationship Id="rId4" Type="http://schemas.openxmlformats.org/officeDocument/2006/relationships/slide" Target="slide2.xml"/><Relationship Id="rId5" Type="http://schemas.openxmlformats.org/officeDocument/2006/relationships/slide" Target="slide25.xml"/><Relationship Id="rId1" Type="http://schemas.openxmlformats.org/officeDocument/2006/relationships/image" Target="../media/Slide-26-image-1.jpeg"/><Relationship Id="rId2" Type="http://schemas.openxmlformats.org/officeDocument/2006/relationships/image" Target="../media/image-26-2.png"/><Relationship Id="rId6" Type="http://schemas.openxmlformats.org/officeDocument/2006/relationships/image" Target="../media/image-26-3.png"/><Relationship Id="rId7" Type="http://schemas.openxmlformats.org/officeDocument/2006/relationships/image" Target="../media/image-26-4.png"/><Relationship Id="rId8" Type="http://schemas.openxmlformats.org/officeDocument/2006/relationships/image" Target="../media/image-26-5.png"/><Relationship Id="rId9" Type="http://schemas.openxmlformats.org/officeDocument/2006/relationships/image" Target="../media/image-26-6.png"/><Relationship Id="rId10" Type="http://schemas.openxmlformats.org/officeDocument/2006/relationships/image" Target="../media/image-26-7.png"/><Relationship Id="rId11" Type="http://schemas.openxmlformats.org/officeDocument/2006/relationships/image" Target="../media/image-26-8.png"/><Relationship Id="rId12" Type="http://schemas.openxmlformats.org/officeDocument/2006/relationships/image" Target="../media/image-26-9.png"/><Relationship Id="rId13" Type="http://schemas.openxmlformats.org/officeDocument/2006/relationships/image" Target="../media/image-26-10.png"/><Relationship Id="rId14" Type="http://schemas.openxmlformats.org/officeDocument/2006/relationships/slideLayout" Target="../slideLayouts/slideLayout2.xml"/><Relationship Id="rId1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slide" Target="slide28.xml"/><Relationship Id="rId4" Type="http://schemas.openxmlformats.org/officeDocument/2006/relationships/slide" Target="slide2.xml"/><Relationship Id="rId5" Type="http://schemas.openxmlformats.org/officeDocument/2006/relationships/slide" Target="slide26.xml"/><Relationship Id="rId1" Type="http://schemas.openxmlformats.org/officeDocument/2006/relationships/image" Target="../media/Slide-27-image-1.jpeg"/><Relationship Id="rId2" Type="http://schemas.openxmlformats.org/officeDocument/2006/relationships/image" Target="../media/image-27-2.png"/><Relationship Id="rId6" Type="http://schemas.openxmlformats.org/officeDocument/2006/relationships/image" Target="../media/image-27-3.png"/><Relationship Id="rId7" Type="http://schemas.openxmlformats.org/officeDocument/2006/relationships/image" Target="../media/image-27-4.png"/><Relationship Id="rId8" Type="http://schemas.openxmlformats.org/officeDocument/2006/relationships/image" Target="../media/image-27-5.png"/><Relationship Id="rId9" Type="http://schemas.openxmlformats.org/officeDocument/2006/relationships/image" Target="../media/image-27-4.png"/><Relationship Id="rId10" Type="http://schemas.openxmlformats.org/officeDocument/2006/relationships/image" Target="../media/image-27-7.png"/><Relationship Id="rId11" Type="http://schemas.openxmlformats.org/officeDocument/2006/relationships/image" Target="../media/image-27-4.png"/><Relationship Id="rId12" Type="http://schemas.openxmlformats.org/officeDocument/2006/relationships/image" Target="../media/image-27-9.png"/><Relationship Id="rId13" Type="http://schemas.openxmlformats.org/officeDocument/2006/relationships/image" Target="../media/image-27-10.png"/><Relationship Id="rId14" Type="http://schemas.openxmlformats.org/officeDocument/2006/relationships/slideLayout" Target="../slideLayouts/slideLayout2.xml"/><Relationship Id="rId1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slide" Target="slide29.xml"/><Relationship Id="rId4" Type="http://schemas.openxmlformats.org/officeDocument/2006/relationships/slide" Target="slide2.xml"/><Relationship Id="rId5" Type="http://schemas.openxmlformats.org/officeDocument/2006/relationships/slide" Target="slide27.xml"/><Relationship Id="rId1" Type="http://schemas.openxmlformats.org/officeDocument/2006/relationships/image" Target="../media/Slide-28-image-1.jpeg"/><Relationship Id="rId2" Type="http://schemas.openxmlformats.org/officeDocument/2006/relationships/image" Target="../media/image-28-2.png"/><Relationship Id="rId6" Type="http://schemas.openxmlformats.org/officeDocument/2006/relationships/image" Target="../media/image-28-3.png"/><Relationship Id="rId7" Type="http://schemas.openxmlformats.org/officeDocument/2006/relationships/image" Target="../media/image-28-4.png"/><Relationship Id="rId8" Type="http://schemas.openxmlformats.org/officeDocument/2006/relationships/slideLayout" Target="../slideLayouts/slideLayout2.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Slide-29-image-1.jpeg"/><Relationship Id="rId2" Type="http://schemas.openxmlformats.org/officeDocument/2006/relationships/image" Target="../media/image-29-2.png"/><Relationship Id="rId3" Type="http://schemas.openxmlformats.org/officeDocument/2006/relationships/image" Target="../media/image-29-3.png"/><Relationship Id="rId5" Type="http://schemas.openxmlformats.org/officeDocument/2006/relationships/slideLayout" Target="../slideLayouts/slideLayout2.xml"/><Relationship Id="rId6"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g_title" descr="متحف المخلوقات الحية الدقيقة">    </p:cNvPr>
          <p:cNvPicPr>
            <a:picLocks noChangeAspect="1"/>
          </p:cNvPicPr>
          <p:nvPr/>
        </p:nvPicPr>
        <p:blipFill>
          <a:blip r:embed="rId2"/>
          <a:stretch>
            <a:fillRect/>
          </a:stretch>
        </p:blipFill>
        <p:spPr>
          <a:xfrm>
            <a:off x="3809848" y="698299"/>
            <a:ext cx="4572000" cy="450491"/>
          </a:xfrm>
          <a:prstGeom prst="rect">
            <a:avLst/>
          </a:prstGeom>
        </p:spPr>
      </p:pic>
      <p:sp>
        <p:nvSpPr>
          <p:cNvPr id="3" name="g_sub"/>
          <p:cNvSpPr txBox="1"/>
          <p:nvPr/>
        </p:nvSpPr>
        <p:spPr>
          <a:xfrm>
            <a:off x="1984248" y="1691640"/>
            <a:ext cx="8229600" cy="548640"/>
          </a:xfrm>
          <a:prstGeom prst="roundRect">
            <a:avLst>
              <a:gd name="adj" fmla="val 50000"/>
            </a:avLst>
          </a:prstGeom>
          <a:solidFill>
            <a:srgbClr val="FFFFFF">
              <a:alpha val="90000"/>
            </a:srgbClr>
          </a:solidFill>
          <a:ln/>
        </p:spPr>
        <p:txBody>
          <a:bodyPr wrap="square" lIns="762" tIns="762" rIns="762" bIns="762" rtlCol="0" anchor="ctr"/>
          <a:lstStyle/>
          <a:p>
            <a:pPr rtl="1" algn="ctr" indent="0" marL="0">
              <a:lnSpc>
                <a:spcPct val="108000"/>
              </a:lnSpc>
              <a:buNone/>
            </a:pPr>
            <a:r>
              <a:rPr lang="ar-SA" altLang="en-US" sz="2100" b="1" dirty="0">
                <a:solidFill>
                  <a:srgbClr val="3F4FE0"/>
                </a:solidFill>
                <a:latin typeface="Tahoma" pitchFamily="34" charset="0"/>
                <a:ea typeface="Tahoma" pitchFamily="34" charset="-122"/>
                <a:cs typeface="Tahoma" pitchFamily="34" charset="-120"/>
              </a:rPr>
              <a:t>رحلة علمية لاكتشاف عالم لا نراه بالعين المجردة 🔬</a:t>
            </a:r>
            <a:endParaRPr lang="ar-SA" sz="2100" dirty="0"/>
          </a:p>
        </p:txBody>
      </p:sp>
      <p:sp>
        <p:nvSpPr>
          <p:cNvPr id="4" name="g_lt"/>
          <p:cNvSpPr txBox="1"/>
          <p:nvPr/>
        </p:nvSpPr>
        <p:spPr>
          <a:xfrm>
            <a:off x="3291840" y="2331720"/>
            <a:ext cx="5605272" cy="457200"/>
          </a:xfrm>
          <a:prstGeom prst="roundRect">
            <a:avLst>
              <a:gd name="adj" fmla="val 50000"/>
            </a:avLst>
          </a:prstGeom>
          <a:solidFill>
            <a:srgbClr val="FFFFFF">
              <a:alpha val="80000"/>
            </a:srgbClr>
          </a:solidFill>
          <a:ln/>
        </p:spPr>
        <p:txBody>
          <a:bodyPr wrap="square" lIns="762" tIns="762" rIns="762" bIns="762" rtlCol="0" anchor="ctr"/>
          <a:lstStyle/>
          <a:p>
            <a:pPr rtl="1" algn="ctr" indent="0" marL="0">
              <a:lnSpc>
                <a:spcPct val="108000"/>
              </a:lnSpc>
              <a:buNone/>
            </a:pPr>
            <a:r>
              <a:rPr lang="ar-SA" altLang="en-US" sz="1800" b="1" dirty="0">
                <a:solidFill>
                  <a:srgbClr val="1B2A4A"/>
                </a:solidFill>
                <a:latin typeface="Tahoma" pitchFamily="34" charset="0"/>
                <a:ea typeface="Tahoma" pitchFamily="34" charset="-122"/>
                <a:cs typeface="Tahoma" pitchFamily="34" charset="-120"/>
              </a:rPr>
              <a:t>رحلة إلى عالم المخلوقات الحية الدقيقة</a:t>
            </a:r>
            <a:endParaRPr lang="ar-SA" sz="1800" dirty="0"/>
          </a:p>
        </p:txBody>
      </p:sp>
      <p:pic>
        <p:nvPicPr>
          <p:cNvPr id="5" name="s1_pic_1" descr="منصة عرض زجاجية">    </p:cNvPr>
          <p:cNvPicPr>
            <a:picLocks noChangeAspect="1"/>
          </p:cNvPicPr>
          <p:nvPr/>
        </p:nvPicPr>
        <p:blipFill>
          <a:blip r:embed="rId3"/>
          <a:stretch>
            <a:fillRect/>
          </a:stretch>
        </p:blipFill>
        <p:spPr>
          <a:xfrm>
            <a:off x="320040" y="4754880"/>
            <a:ext cx="2468880" cy="1851660"/>
          </a:xfrm>
          <a:prstGeom prst="rect">
            <a:avLst/>
          </a:prstGeom>
        </p:spPr>
      </p:pic>
      <p:pic>
        <p:nvPicPr>
          <p:cNvPr id="6" name="s1_pic_2" descr="مجسم براميسيوم">    </p:cNvPr>
          <p:cNvPicPr>
            <a:picLocks noChangeAspect="1"/>
          </p:cNvPicPr>
          <p:nvPr/>
        </p:nvPicPr>
        <p:blipFill>
          <a:blip r:embed="rId4"/>
          <a:stretch>
            <a:fillRect/>
          </a:stretch>
        </p:blipFill>
        <p:spPr>
          <a:xfrm>
            <a:off x="137160" y="3520440"/>
            <a:ext cx="2834640" cy="1700784"/>
          </a:xfrm>
          <a:prstGeom prst="rect">
            <a:avLst/>
          </a:prstGeom>
        </p:spPr>
      </p:pic>
      <p:pic>
        <p:nvPicPr>
          <p:cNvPr id="7" name="s1_pic_3" descr="منصة عرض زجاجية">    </p:cNvPr>
          <p:cNvPicPr>
            <a:picLocks noChangeAspect="1"/>
          </p:cNvPicPr>
          <p:nvPr/>
        </p:nvPicPr>
        <p:blipFill>
          <a:blip r:embed="rId5"/>
          <a:stretch>
            <a:fillRect/>
          </a:stretch>
        </p:blipFill>
        <p:spPr>
          <a:xfrm>
            <a:off x="9418320" y="4754880"/>
            <a:ext cx="2468880" cy="1851660"/>
          </a:xfrm>
          <a:prstGeom prst="rect">
            <a:avLst/>
          </a:prstGeom>
        </p:spPr>
      </p:pic>
      <p:pic>
        <p:nvPicPr>
          <p:cNvPr id="8" name="s1_pic_4" descr="مجسم بكتيريا عصوية">    </p:cNvPr>
          <p:cNvPicPr>
            <a:picLocks noChangeAspect="1"/>
          </p:cNvPicPr>
          <p:nvPr/>
        </p:nvPicPr>
        <p:blipFill>
          <a:blip r:embed="rId6"/>
          <a:stretch>
            <a:fillRect/>
          </a:stretch>
        </p:blipFill>
        <p:spPr>
          <a:xfrm>
            <a:off x="9326880" y="3611880"/>
            <a:ext cx="2651760" cy="1591056"/>
          </a:xfrm>
          <a:prstGeom prst="rect">
            <a:avLst/>
          </a:prstGeom>
        </p:spPr>
      </p:pic>
      <p:pic>
        <p:nvPicPr>
          <p:cNvPr id="9" name="s1_pic_5" descr="مجسم فطر العفن">    </p:cNvPr>
          <p:cNvPicPr>
            <a:picLocks noChangeAspect="1"/>
          </p:cNvPicPr>
          <p:nvPr/>
        </p:nvPicPr>
        <p:blipFill>
          <a:blip r:embed="rId7"/>
          <a:stretch>
            <a:fillRect/>
          </a:stretch>
        </p:blipFill>
        <p:spPr>
          <a:xfrm>
            <a:off x="2514600" y="4343400"/>
            <a:ext cx="1737360" cy="1403252"/>
          </a:xfrm>
          <a:prstGeom prst="rect">
            <a:avLst/>
          </a:prstGeom>
        </p:spPr>
      </p:pic>
      <p:pic>
        <p:nvPicPr>
          <p:cNvPr id="10" name="s1_pic_6" descr="مجسم بكتيريا كروية">    </p:cNvPr>
          <p:cNvPicPr>
            <a:picLocks noChangeAspect="1"/>
          </p:cNvPicPr>
          <p:nvPr/>
        </p:nvPicPr>
        <p:blipFill>
          <a:blip r:embed="rId8"/>
          <a:stretch>
            <a:fillRect/>
          </a:stretch>
        </p:blipFill>
        <p:spPr>
          <a:xfrm>
            <a:off x="8001000" y="4434840"/>
            <a:ext cx="1463040" cy="1170432"/>
          </a:xfrm>
          <a:prstGeom prst="rect">
            <a:avLst/>
          </a:prstGeom>
        </p:spPr>
      </p:pic>
      <p:sp>
        <p:nvSpPr>
          <p:cNvPr id="11" name="g_go">
            <a:hlinkClick r:id="rId9" tooltip="الدخول إلى خريطة المتحف" action="ppaction://hlinksldjump"/>
          </p:cNvPr>
          <p:cNvSpPr txBox="1"/>
          <p:nvPr/>
        </p:nvSpPr>
        <p:spPr>
          <a:xfrm>
            <a:off x="4498848" y="5257800"/>
            <a:ext cx="3200400" cy="640080"/>
          </a:xfrm>
          <a:prstGeom prst="roundRect">
            <a:avLst>
              <a:gd name="adj" fmla="val 50000"/>
            </a:avLst>
          </a:prstGeom>
          <a:solidFill>
            <a:srgbClr val="5B6CFF"/>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2200" b="1" dirty="0">
                <a:solidFill>
                  <a:srgbClr val="FFFFFF"/>
                </a:solidFill>
                <a:latin typeface="Tahoma" pitchFamily="34" charset="0"/>
                <a:ea typeface="Tahoma" pitchFamily="34" charset="-122"/>
                <a:cs typeface="Tahoma" pitchFamily="34" charset="-120"/>
              </a:rPr>
              <a:t>ابدئي الرحلة العلمية ◀</a:t>
            </a:r>
            <a:endParaRPr lang="ar-SA" sz="2200" dirty="0"/>
          </a:p>
        </p:txBody>
      </p:sp>
      <p:sp>
        <p:nvSpPr>
          <p:cNvPr id="12" name="s1_t_7"/>
          <p:cNvSpPr txBox="1"/>
          <p:nvPr/>
        </p:nvSpPr>
        <p:spPr>
          <a:xfrm>
            <a:off x="3108960" y="5989320"/>
            <a:ext cx="5971032" cy="365760"/>
          </a:xfrm>
          <a:prstGeom prst="rect">
            <a:avLst/>
          </a:prstGeom>
          <a:noFill/>
          <a:ln/>
        </p:spPr>
        <p:txBody>
          <a:bodyPr wrap="square" lIns="762" tIns="762" rIns="762" bIns="762" rtlCol="0" anchor="ctr"/>
          <a:lstStyle/>
          <a:p>
            <a:pPr rtl="1" algn="ctr" indent="0" marL="0">
              <a:lnSpc>
                <a:spcPct val="108000"/>
              </a:lnSpc>
              <a:buNone/>
            </a:pPr>
            <a:r>
              <a:rPr lang="ar-SA" altLang="en-US" sz="1500" b="1" dirty="0">
                <a:solidFill>
                  <a:srgbClr val="1B2A4A"/>
                </a:solidFill>
                <a:latin typeface="Tahoma" pitchFamily="34" charset="0"/>
                <a:ea typeface="Tahoma" pitchFamily="34" charset="-122"/>
                <a:cs typeface="Tahoma" pitchFamily="34" charset="-120"/>
              </a:rPr>
              <a:t>العلوم – الصف السادس الابتدائي  •  المعلمة: أ/ شامه البقمي</a:t>
            </a:r>
            <a:endParaRPr lang="ar-SA" sz="15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9" presetID="53" presetClass="entr" presetSubtype="16"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 calcmode="lin" valueType="num">
                                      <p:cBhvr>
                                        <p:cTn id="6" dur="500" fill="hold"/>
                                        <p:tgtEl>
                                          <p:spTgt spid="2"/>
                                        </p:tgtEl>
                                        <p:attrNameLst>
                                          <p:attrName>ppt_w</p:attrName>
                                        </p:attrNameLst>
                                      </p:cBhvr>
                                      <p:tavLst>
                                        <p:tav tm="0">
                                          <p:val>
                                            <p:fltVal val="0"/>
                                          </p:val>
                                        </p:tav>
                                        <p:tav tm="100000">
                                          <p:val>
                                            <p:strVal val="#ppt_w"/>
                                          </p:val>
                                        </p:tav>
                                      </p:tavLst>
                                    </p:anim>
                                    <p:anim calcmode="lin" valueType="num">
                                      <p:cBhvr>
                                        <p:cTn id="7" dur="500" fill="hold"/>
                                        <p:tgtEl>
                                          <p:spTgt spid="2"/>
                                        </p:tgtEl>
                                        <p:attrNameLst>
                                          <p:attrName>ppt_h</p:attrName>
                                        </p:attrNameLst>
                                      </p:cBhvr>
                                      <p:tavLst>
                                        <p:tav tm="0">
                                          <p:val>
                                            <p:fltVal val="0"/>
                                          </p:val>
                                        </p:tav>
                                        <p:tav tm="100000">
                                          <p:val>
                                            <p:strVal val="#ppt_h"/>
                                          </p:val>
                                        </p:tav>
                                      </p:tavLst>
                                    </p:anim>
                                    <p:animEffect transition="in" filter="fade">
                                      <p:cBhvr>
                                        <p:cTn id="8" dur="500"/>
                                        <p:tgtEl>
                                          <p:spTgt spid="2"/>
                                        </p:tgtEl>
                                      </p:cBhvr>
                                    </p:animEffect>
                                  </p:childTnLst>
                                </p:cTn>
                              </p:par>
                              <p:par>
                                <p:cTn id="12" presetID="10" presetClass="entr" presetSubtype="0" fill="hold" grpId="0" nodeType="withEffect">
                                  <p:stCondLst>
                                    <p:cond delay="30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par>
                                <p:cTn id="15" presetID="10" presetClass="entr" presetSubtype="0" fill="hold" grpId="0" nodeType="withEffect">
                                  <p:stCondLst>
                                    <p:cond delay="5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par>
                          <p:cTn id="16" fill="hold">
                            <p:stCondLst>
                              <p:cond delay="1000"/>
                            </p:stCondLst>
                            <p:childTnLst>
                              <p:par>
                                <p:cTn id="21" presetID="53" presetClass="entr" presetSubtype="16"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p:cTn id="18" dur="500" fill="hold"/>
                                        <p:tgtEl>
                                          <p:spTgt spid="5"/>
                                        </p:tgtEl>
                                        <p:attrNameLst>
                                          <p:attrName>ppt_w</p:attrName>
                                        </p:attrNameLst>
                                      </p:cBhvr>
                                      <p:tavLst>
                                        <p:tav tm="0">
                                          <p:val>
                                            <p:fltVal val="0"/>
                                          </p:val>
                                        </p:tav>
                                        <p:tav tm="100000">
                                          <p:val>
                                            <p:strVal val="#ppt_w"/>
                                          </p:val>
                                        </p:tav>
                                      </p:tavLst>
                                    </p:anim>
                                    <p:anim calcmode="lin" valueType="num">
                                      <p:cBhvr>
                                        <p:cTn id="19" dur="500" fill="hold"/>
                                        <p:tgtEl>
                                          <p:spTgt spid="5"/>
                                        </p:tgtEl>
                                        <p:attrNameLst>
                                          <p:attrName>ppt_h</p:attrName>
                                        </p:attrNameLst>
                                      </p:cBhvr>
                                      <p:tavLst>
                                        <p:tav tm="0">
                                          <p:val>
                                            <p:fltVal val="0"/>
                                          </p:val>
                                        </p:tav>
                                        <p:tav tm="100000">
                                          <p:val>
                                            <p:strVal val="#ppt_h"/>
                                          </p:val>
                                        </p:tav>
                                      </p:tavLst>
                                    </p:anim>
                                    <p:animEffect transition="in" filter="fade">
                                      <p:cBhvr>
                                        <p:cTn id="20" dur="500"/>
                                        <p:tgtEl>
                                          <p:spTgt spid="5"/>
                                        </p:tgtEl>
                                      </p:cBhvr>
                                    </p:animEffect>
                                  </p:childTnLst>
                                </p:cTn>
                              </p:par>
                              <p:par>
                                <p:cTn id="26" presetID="53" presetClass="entr" presetSubtype="16" fill="hold" grpId="0" nodeType="withEffect">
                                  <p:stCondLst>
                                    <p:cond delay="150"/>
                                  </p:stCondLst>
                                  <p:childTnLst>
                                    <p:set>
                                      <p:cBhvr>
                                        <p:cTn id="22" dur="1" fill="hold">
                                          <p:stCondLst>
                                            <p:cond delay="0"/>
                                          </p:stCondLst>
                                        </p:cTn>
                                        <p:tgtEl>
                                          <p:spTgt spid="6"/>
                                        </p:tgtEl>
                                        <p:attrNameLst>
                                          <p:attrName>style.visibility</p:attrName>
                                        </p:attrNameLst>
                                      </p:cBhvr>
                                      <p:to>
                                        <p:strVal val="visible"/>
                                      </p:to>
                                    </p:set>
                                    <p:anim calcmode="lin" valueType="num">
                                      <p:cBhvr>
                                        <p:cTn id="23" dur="500" fill="hold"/>
                                        <p:tgtEl>
                                          <p:spTgt spid="6"/>
                                        </p:tgtEl>
                                        <p:attrNameLst>
                                          <p:attrName>ppt_w</p:attrName>
                                        </p:attrNameLst>
                                      </p:cBhvr>
                                      <p:tavLst>
                                        <p:tav tm="0">
                                          <p:val>
                                            <p:fltVal val="0"/>
                                          </p:val>
                                        </p:tav>
                                        <p:tav tm="100000">
                                          <p:val>
                                            <p:strVal val="#ppt_w"/>
                                          </p:val>
                                        </p:tav>
                                      </p:tavLst>
                                    </p:anim>
                                    <p:anim calcmode="lin" valueType="num">
                                      <p:cBhvr>
                                        <p:cTn id="24" dur="500" fill="hold"/>
                                        <p:tgtEl>
                                          <p:spTgt spid="6"/>
                                        </p:tgtEl>
                                        <p:attrNameLst>
                                          <p:attrName>ppt_h</p:attrName>
                                        </p:attrNameLst>
                                      </p:cBhvr>
                                      <p:tavLst>
                                        <p:tav tm="0">
                                          <p:val>
                                            <p:fltVal val="0"/>
                                          </p:val>
                                        </p:tav>
                                        <p:tav tm="100000">
                                          <p:val>
                                            <p:strVal val="#ppt_h"/>
                                          </p:val>
                                        </p:tav>
                                      </p:tavLst>
                                    </p:anim>
                                    <p:animEffect transition="in" filter="fade">
                                      <p:cBhvr>
                                        <p:cTn id="25" dur="500"/>
                                        <p:tgtEl>
                                          <p:spTgt spid="6"/>
                                        </p:tgtEl>
                                      </p:cBhvr>
                                    </p:animEffect>
                                  </p:childTnLst>
                                </p:cTn>
                              </p:par>
                              <p:par>
                                <p:cTn id="31" presetID="53" presetClass="entr" presetSubtype="16" fill="hold" grpId="0" nodeType="withEffect">
                                  <p:stCondLst>
                                    <p:cond delay="300"/>
                                  </p:stCondLst>
                                  <p:childTnLst>
                                    <p:set>
                                      <p:cBhvr>
                                        <p:cTn id="27" dur="1" fill="hold">
                                          <p:stCondLst>
                                            <p:cond delay="0"/>
                                          </p:stCondLst>
                                        </p:cTn>
                                        <p:tgtEl>
                                          <p:spTgt spid="7"/>
                                        </p:tgtEl>
                                        <p:attrNameLst>
                                          <p:attrName>style.visibility</p:attrName>
                                        </p:attrNameLst>
                                      </p:cBhvr>
                                      <p:to>
                                        <p:strVal val="visible"/>
                                      </p:to>
                                    </p:set>
                                    <p:anim calcmode="lin" valueType="num">
                                      <p:cBhvr>
                                        <p:cTn id="28" dur="500" fill="hold"/>
                                        <p:tgtEl>
                                          <p:spTgt spid="7"/>
                                        </p:tgtEl>
                                        <p:attrNameLst>
                                          <p:attrName>ppt_w</p:attrName>
                                        </p:attrNameLst>
                                      </p:cBhvr>
                                      <p:tavLst>
                                        <p:tav tm="0">
                                          <p:val>
                                            <p:fltVal val="0"/>
                                          </p:val>
                                        </p:tav>
                                        <p:tav tm="100000">
                                          <p:val>
                                            <p:strVal val="#ppt_w"/>
                                          </p:val>
                                        </p:tav>
                                      </p:tavLst>
                                    </p:anim>
                                    <p:anim calcmode="lin" valueType="num">
                                      <p:cBhvr>
                                        <p:cTn id="29" dur="500" fill="hold"/>
                                        <p:tgtEl>
                                          <p:spTgt spid="7"/>
                                        </p:tgtEl>
                                        <p:attrNameLst>
                                          <p:attrName>ppt_h</p:attrName>
                                        </p:attrNameLst>
                                      </p:cBhvr>
                                      <p:tavLst>
                                        <p:tav tm="0">
                                          <p:val>
                                            <p:fltVal val="0"/>
                                          </p:val>
                                        </p:tav>
                                        <p:tav tm="100000">
                                          <p:val>
                                            <p:strVal val="#ppt_h"/>
                                          </p:val>
                                        </p:tav>
                                      </p:tavLst>
                                    </p:anim>
                                    <p:animEffect transition="in" filter="fade">
                                      <p:cBhvr>
                                        <p:cTn id="30" dur="500"/>
                                        <p:tgtEl>
                                          <p:spTgt spid="7"/>
                                        </p:tgtEl>
                                      </p:cBhvr>
                                    </p:animEffect>
                                  </p:childTnLst>
                                </p:cTn>
                              </p:par>
                              <p:par>
                                <p:cTn id="36" presetID="53" presetClass="entr" presetSubtype="16" fill="hold" grpId="0" nodeType="withEffect">
                                  <p:stCondLst>
                                    <p:cond delay="450"/>
                                  </p:stCondLst>
                                  <p:childTnLst>
                                    <p:set>
                                      <p:cBhvr>
                                        <p:cTn id="32" dur="1" fill="hold">
                                          <p:stCondLst>
                                            <p:cond delay="0"/>
                                          </p:stCondLst>
                                        </p:cTn>
                                        <p:tgtEl>
                                          <p:spTgt spid="8"/>
                                        </p:tgtEl>
                                        <p:attrNameLst>
                                          <p:attrName>style.visibility</p:attrName>
                                        </p:attrNameLst>
                                      </p:cBhvr>
                                      <p:to>
                                        <p:strVal val="visible"/>
                                      </p:to>
                                    </p:set>
                                    <p:anim calcmode="lin" valueType="num">
                                      <p:cBhvr>
                                        <p:cTn id="33" dur="500" fill="hold"/>
                                        <p:tgtEl>
                                          <p:spTgt spid="8"/>
                                        </p:tgtEl>
                                        <p:attrNameLst>
                                          <p:attrName>ppt_w</p:attrName>
                                        </p:attrNameLst>
                                      </p:cBhvr>
                                      <p:tavLst>
                                        <p:tav tm="0">
                                          <p:val>
                                            <p:fltVal val="0"/>
                                          </p:val>
                                        </p:tav>
                                        <p:tav tm="100000">
                                          <p:val>
                                            <p:strVal val="#ppt_w"/>
                                          </p:val>
                                        </p:tav>
                                      </p:tavLst>
                                    </p:anim>
                                    <p:anim calcmode="lin" valueType="num">
                                      <p:cBhvr>
                                        <p:cTn id="34" dur="500" fill="hold"/>
                                        <p:tgtEl>
                                          <p:spTgt spid="8"/>
                                        </p:tgtEl>
                                        <p:attrNameLst>
                                          <p:attrName>ppt_h</p:attrName>
                                        </p:attrNameLst>
                                      </p:cBhvr>
                                      <p:tavLst>
                                        <p:tav tm="0">
                                          <p:val>
                                            <p:fltVal val="0"/>
                                          </p:val>
                                        </p:tav>
                                        <p:tav tm="100000">
                                          <p:val>
                                            <p:strVal val="#ppt_h"/>
                                          </p:val>
                                        </p:tav>
                                      </p:tavLst>
                                    </p:anim>
                                    <p:animEffect transition="in" filter="fade">
                                      <p:cBhvr>
                                        <p:cTn id="35" dur="500"/>
                                        <p:tgtEl>
                                          <p:spTgt spid="8"/>
                                        </p:tgtEl>
                                      </p:cBhvr>
                                    </p:animEffect>
                                  </p:childTnLst>
                                </p:cTn>
                              </p:par>
                              <p:par>
                                <p:cTn id="41" presetID="53" presetClass="entr" presetSubtype="16" fill="hold" grpId="0" nodeType="withEffect">
                                  <p:stCondLst>
                                    <p:cond delay="600"/>
                                  </p:stCondLst>
                                  <p:childTnLst>
                                    <p:set>
                                      <p:cBhvr>
                                        <p:cTn id="37" dur="1" fill="hold">
                                          <p:stCondLst>
                                            <p:cond delay="0"/>
                                          </p:stCondLst>
                                        </p:cTn>
                                        <p:tgtEl>
                                          <p:spTgt spid="9"/>
                                        </p:tgtEl>
                                        <p:attrNameLst>
                                          <p:attrName>style.visibility</p:attrName>
                                        </p:attrNameLst>
                                      </p:cBhvr>
                                      <p:to>
                                        <p:strVal val="visible"/>
                                      </p:to>
                                    </p:set>
                                    <p:anim calcmode="lin" valueType="num">
                                      <p:cBhvr>
                                        <p:cTn id="38" dur="500" fill="hold"/>
                                        <p:tgtEl>
                                          <p:spTgt spid="9"/>
                                        </p:tgtEl>
                                        <p:attrNameLst>
                                          <p:attrName>ppt_w</p:attrName>
                                        </p:attrNameLst>
                                      </p:cBhvr>
                                      <p:tavLst>
                                        <p:tav tm="0">
                                          <p:val>
                                            <p:fltVal val="0"/>
                                          </p:val>
                                        </p:tav>
                                        <p:tav tm="100000">
                                          <p:val>
                                            <p:strVal val="#ppt_w"/>
                                          </p:val>
                                        </p:tav>
                                      </p:tavLst>
                                    </p:anim>
                                    <p:anim calcmode="lin" valueType="num">
                                      <p:cBhvr>
                                        <p:cTn id="39" dur="500" fill="hold"/>
                                        <p:tgtEl>
                                          <p:spTgt spid="9"/>
                                        </p:tgtEl>
                                        <p:attrNameLst>
                                          <p:attrName>ppt_h</p:attrName>
                                        </p:attrNameLst>
                                      </p:cBhvr>
                                      <p:tavLst>
                                        <p:tav tm="0">
                                          <p:val>
                                            <p:fltVal val="0"/>
                                          </p:val>
                                        </p:tav>
                                        <p:tav tm="100000">
                                          <p:val>
                                            <p:strVal val="#ppt_h"/>
                                          </p:val>
                                        </p:tav>
                                      </p:tavLst>
                                    </p:anim>
                                    <p:animEffect transition="in" filter="fade">
                                      <p:cBhvr>
                                        <p:cTn id="40" dur="500"/>
                                        <p:tgtEl>
                                          <p:spTgt spid="9"/>
                                        </p:tgtEl>
                                      </p:cBhvr>
                                    </p:animEffect>
                                  </p:childTnLst>
                                </p:cTn>
                              </p:par>
                              <p:par>
                                <p:cTn id="46" presetID="53" presetClass="entr" presetSubtype="16" fill="hold" grpId="0" nodeType="withEffect">
                                  <p:stCondLst>
                                    <p:cond delay="750"/>
                                  </p:stCondLst>
                                  <p:childTnLst>
                                    <p:set>
                                      <p:cBhvr>
                                        <p:cTn id="42" dur="1" fill="hold">
                                          <p:stCondLst>
                                            <p:cond delay="0"/>
                                          </p:stCondLst>
                                        </p:cTn>
                                        <p:tgtEl>
                                          <p:spTgt spid="10"/>
                                        </p:tgtEl>
                                        <p:attrNameLst>
                                          <p:attrName>style.visibility</p:attrName>
                                        </p:attrNameLst>
                                      </p:cBhvr>
                                      <p:to>
                                        <p:strVal val="visible"/>
                                      </p:to>
                                    </p:set>
                                    <p:anim calcmode="lin" valueType="num">
                                      <p:cBhvr>
                                        <p:cTn id="43" dur="500" fill="hold"/>
                                        <p:tgtEl>
                                          <p:spTgt spid="10"/>
                                        </p:tgtEl>
                                        <p:attrNameLst>
                                          <p:attrName>ppt_w</p:attrName>
                                        </p:attrNameLst>
                                      </p:cBhvr>
                                      <p:tavLst>
                                        <p:tav tm="0">
                                          <p:val>
                                            <p:fltVal val="0"/>
                                          </p:val>
                                        </p:tav>
                                        <p:tav tm="100000">
                                          <p:val>
                                            <p:strVal val="#ppt_w"/>
                                          </p:val>
                                        </p:tav>
                                      </p:tavLst>
                                    </p:anim>
                                    <p:anim calcmode="lin" valueType="num">
                                      <p:cBhvr>
                                        <p:cTn id="44" dur="500" fill="hold"/>
                                        <p:tgtEl>
                                          <p:spTgt spid="10"/>
                                        </p:tgtEl>
                                        <p:attrNameLst>
                                          <p:attrName>ppt_h</p:attrName>
                                        </p:attrNameLst>
                                      </p:cBhvr>
                                      <p:tavLst>
                                        <p:tav tm="0">
                                          <p:val>
                                            <p:fltVal val="0"/>
                                          </p:val>
                                        </p:tav>
                                        <p:tav tm="100000">
                                          <p:val>
                                            <p:strVal val="#ppt_h"/>
                                          </p:val>
                                        </p:tav>
                                      </p:tavLst>
                                    </p:anim>
                                    <p:animEffect transition="in" filter="fade">
                                      <p:cBhvr>
                                        <p:cTn id="45" dur="500"/>
                                        <p:tgtEl>
                                          <p:spTgt spid="10"/>
                                        </p:tgtEl>
                                      </p:cBhvr>
                                    </p:animEffect>
                                  </p:childTnLst>
                                </p:cTn>
                              </p:par>
                            </p:childTnLst>
                          </p:cTn>
                        </p:par>
                        <p:par>
                          <p:cTn id="47" fill="hold">
                            <p:stCondLst>
                              <p:cond delay="2250"/>
                            </p:stCondLst>
                            <p:childTnLst>
                              <p:par>
                                <p:cTn id="52" presetID="53" presetClass="entr" presetSubtype="16" fill="hold" grpId="0" nodeType="afterEffect">
                                  <p:stCondLst>
                                    <p:cond delay="0"/>
                                  </p:stCondLst>
                                  <p:childTnLst>
                                    <p:set>
                                      <p:cBhvr>
                                        <p:cTn id="48" dur="1" fill="hold">
                                          <p:stCondLst>
                                            <p:cond delay="0"/>
                                          </p:stCondLst>
                                        </p:cTn>
                                        <p:tgtEl>
                                          <p:spTgt spid="11"/>
                                        </p:tgtEl>
                                        <p:attrNameLst>
                                          <p:attrName>style.visibility</p:attrName>
                                        </p:attrNameLst>
                                      </p:cBhvr>
                                      <p:to>
                                        <p:strVal val="visible"/>
                                      </p:to>
                                    </p:set>
                                    <p:anim calcmode="lin" valueType="num">
                                      <p:cBhvr>
                                        <p:cTn id="49" dur="500" fill="hold"/>
                                        <p:tgtEl>
                                          <p:spTgt spid="11"/>
                                        </p:tgtEl>
                                        <p:attrNameLst>
                                          <p:attrName>ppt_w</p:attrName>
                                        </p:attrNameLst>
                                      </p:cBhvr>
                                      <p:tavLst>
                                        <p:tav tm="0">
                                          <p:val>
                                            <p:fltVal val="0"/>
                                          </p:val>
                                        </p:tav>
                                        <p:tav tm="100000">
                                          <p:val>
                                            <p:strVal val="#ppt_w"/>
                                          </p:val>
                                        </p:tav>
                                      </p:tavLst>
                                    </p:anim>
                                    <p:anim calcmode="lin" valueType="num">
                                      <p:cBhvr>
                                        <p:cTn id="50" dur="500" fill="hold"/>
                                        <p:tgtEl>
                                          <p:spTgt spid="11"/>
                                        </p:tgtEl>
                                        <p:attrNameLst>
                                          <p:attrName>ppt_h</p:attrName>
                                        </p:attrNameLst>
                                      </p:cBhvr>
                                      <p:tavLst>
                                        <p:tav tm="0">
                                          <p:val>
                                            <p:fltVal val="0"/>
                                          </p:val>
                                        </p:tav>
                                        <p:tav tm="100000">
                                          <p:val>
                                            <p:strVal val="#ppt_h"/>
                                          </p:val>
                                        </p:tav>
                                      </p:tavLst>
                                    </p:anim>
                                    <p:animEffect transition="in" filter="fade">
                                      <p:cBhvr>
                                        <p:cTn id="5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2_sign" descr="🗺 خريطة المتحف">    </p:cNvPr>
          <p:cNvPicPr>
            <a:picLocks noChangeAspect="1"/>
          </p:cNvPicPr>
          <p:nvPr/>
        </p:nvPicPr>
        <p:blipFill>
          <a:blip r:embed="rId2"/>
          <a:stretch>
            <a:fillRect/>
          </a:stretch>
        </p:blipFill>
        <p:spPr>
          <a:xfrm>
            <a:off x="4395439" y="182880"/>
            <a:ext cx="3400816" cy="822960"/>
          </a:xfrm>
          <a:prstGeom prst="rect">
            <a:avLst/>
          </a:prstGeom>
        </p:spPr>
      </p:pic>
      <p:sp>
        <p:nvSpPr>
          <p:cNvPr id="3" name="s2_t_1"/>
          <p:cNvSpPr txBox="1"/>
          <p:nvPr/>
        </p:nvSpPr>
        <p:spPr>
          <a:xfrm>
            <a:off x="3813048" y="960120"/>
            <a:ext cx="4572000" cy="384048"/>
          </a:xfrm>
          <a:prstGeom prst="rect">
            <a:avLst/>
          </a:prstGeom>
          <a:noFill/>
          <a:ln/>
        </p:spPr>
        <p:txBody>
          <a:bodyPr wrap="square" lIns="762" tIns="762" rIns="762" bIns="762" rtlCol="0" anchor="ctr"/>
          <a:lstStyle/>
          <a:p>
            <a:pPr rtl="1" algn="ctr" indent="0" marL="0">
              <a:lnSpc>
                <a:spcPct val="108000"/>
              </a:lnSpc>
              <a:buNone/>
            </a:pPr>
            <a:r>
              <a:rPr lang="ar-SA" altLang="en-US" sz="1600" b="1" dirty="0">
                <a:solidFill>
                  <a:srgbClr val="3D8BFF"/>
                </a:solidFill>
                <a:latin typeface="Tahoma" pitchFamily="34" charset="0"/>
                <a:ea typeface="Tahoma" pitchFamily="34" charset="-122"/>
                <a:cs typeface="Tahoma" pitchFamily="34" charset="-120"/>
              </a:rPr>
              <a:t>اضغطي على أي قاعة للانتقال إليها</a:t>
            </a:r>
            <a:endParaRPr lang="ar-SA" sz="1600" dirty="0"/>
          </a:p>
        </p:txBody>
      </p:sp>
      <p:sp>
        <p:nvSpPr>
          <p:cNvPr id="4" name="s2_t_2">
            <a:hlinkClick r:id="rId3" tooltip="شريط الذكريات" action="ppaction://hlinksldjump"/>
          </p:cNvPr>
          <p:cNvSpPr txBox="1"/>
          <p:nvPr/>
        </p:nvSpPr>
        <p:spPr>
          <a:xfrm>
            <a:off x="9991192" y="1508760"/>
            <a:ext cx="1810512" cy="914400"/>
          </a:xfrm>
          <a:prstGeom prst="roundRect">
            <a:avLst>
              <a:gd name="adj" fmla="val 50000"/>
            </a:avLst>
          </a:prstGeom>
          <a:solidFill>
            <a:srgbClr val="3D8BFF"/>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١</a:t>
            </a:r>
            <a:endParaRPr lang="ar-SA" sz="1400" dirty="0"/>
          </a:p>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شريط الذكريات</a:t>
            </a:r>
            <a:endParaRPr lang="ar-SA" sz="1400" dirty="0"/>
          </a:p>
        </p:txBody>
      </p:sp>
      <p:sp>
        <p:nvSpPr>
          <p:cNvPr id="5" name="s2_t_3">
            <a:hlinkClick r:id="rId4" tooltip="المفردات العلمية" action="ppaction://hlinksldjump"/>
          </p:cNvPr>
          <p:cNvSpPr txBox="1"/>
          <p:nvPr/>
        </p:nvSpPr>
        <p:spPr>
          <a:xfrm>
            <a:off x="8070952" y="1508760"/>
            <a:ext cx="1810512" cy="914400"/>
          </a:xfrm>
          <a:prstGeom prst="roundRect">
            <a:avLst>
              <a:gd name="adj" fmla="val 50000"/>
            </a:avLst>
          </a:prstGeom>
          <a:solidFill>
            <a:srgbClr val="8C5CFF"/>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٢</a:t>
            </a:r>
            <a:endParaRPr lang="ar-SA" sz="1400" dirty="0"/>
          </a:p>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المفردات العلمية</a:t>
            </a:r>
            <a:endParaRPr lang="ar-SA" sz="1400" dirty="0"/>
          </a:p>
        </p:txBody>
      </p:sp>
      <p:sp>
        <p:nvSpPr>
          <p:cNvPr id="6" name="s2_t_4">
            <a:hlinkClick r:id="rId5" tooltip="الاستكشاف" action="ppaction://hlinksldjump"/>
          </p:cNvPr>
          <p:cNvSpPr txBox="1"/>
          <p:nvPr/>
        </p:nvSpPr>
        <p:spPr>
          <a:xfrm>
            <a:off x="6150712" y="1508760"/>
            <a:ext cx="1810512" cy="914400"/>
          </a:xfrm>
          <a:prstGeom prst="roundRect">
            <a:avLst>
              <a:gd name="adj" fmla="val 50000"/>
            </a:avLst>
          </a:prstGeom>
          <a:solidFill>
            <a:srgbClr val="14B88A"/>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٣</a:t>
            </a:r>
            <a:endParaRPr lang="ar-SA" sz="1400" dirty="0"/>
          </a:p>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الاستكشاف</a:t>
            </a:r>
            <a:endParaRPr lang="ar-SA" sz="1400" dirty="0"/>
          </a:p>
        </p:txBody>
      </p:sp>
      <p:sp>
        <p:nvSpPr>
          <p:cNvPr id="7" name="s2_t_5">
            <a:hlinkClick r:id="rId6" tooltip="الفطريات المجهرية" action="ppaction://hlinksldjump"/>
          </p:cNvPr>
          <p:cNvSpPr txBox="1"/>
          <p:nvPr/>
        </p:nvSpPr>
        <p:spPr>
          <a:xfrm>
            <a:off x="4230472" y="1508760"/>
            <a:ext cx="1810512" cy="914400"/>
          </a:xfrm>
          <a:prstGeom prst="roundRect">
            <a:avLst>
              <a:gd name="adj" fmla="val 50000"/>
            </a:avLst>
          </a:prstGeom>
          <a:solidFill>
            <a:srgbClr val="0FA3B8"/>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٤</a:t>
            </a:r>
            <a:endParaRPr lang="ar-SA" sz="1400" dirty="0"/>
          </a:p>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الفطريات المجهرية</a:t>
            </a:r>
            <a:endParaRPr lang="ar-SA" sz="1400" dirty="0"/>
          </a:p>
        </p:txBody>
      </p:sp>
      <p:sp>
        <p:nvSpPr>
          <p:cNvPr id="8" name="s2_t_6">
            <a:hlinkClick r:id="rId7" tooltip="عالمة الفطريات" action="ppaction://hlinksldjump"/>
          </p:cNvPr>
          <p:cNvSpPr txBox="1"/>
          <p:nvPr/>
        </p:nvSpPr>
        <p:spPr>
          <a:xfrm>
            <a:off x="2310232" y="1508760"/>
            <a:ext cx="1810512" cy="914400"/>
          </a:xfrm>
          <a:prstGeom prst="roundRect">
            <a:avLst>
              <a:gd name="adj" fmla="val 50000"/>
            </a:avLst>
          </a:prstGeom>
          <a:solidFill>
            <a:srgbClr val="E2558F"/>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٥</a:t>
            </a:r>
            <a:endParaRPr lang="ar-SA" sz="1400" dirty="0"/>
          </a:p>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عالمة الفطريات</a:t>
            </a:r>
            <a:endParaRPr lang="ar-SA" sz="1400" dirty="0"/>
          </a:p>
        </p:txBody>
      </p:sp>
      <p:sp>
        <p:nvSpPr>
          <p:cNvPr id="9" name="s2_t_7">
            <a:hlinkClick r:id="rId8" tooltip="الطلائعيات" action="ppaction://hlinksldjump"/>
          </p:cNvPr>
          <p:cNvSpPr txBox="1"/>
          <p:nvPr/>
        </p:nvSpPr>
        <p:spPr>
          <a:xfrm>
            <a:off x="389992" y="1508760"/>
            <a:ext cx="1810512" cy="914400"/>
          </a:xfrm>
          <a:prstGeom prst="roundRect">
            <a:avLst>
              <a:gd name="adj" fmla="val 50000"/>
            </a:avLst>
          </a:prstGeom>
          <a:solidFill>
            <a:srgbClr val="E3A21A"/>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٦</a:t>
            </a:r>
            <a:endParaRPr lang="ar-SA" sz="1400" dirty="0"/>
          </a:p>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الطلائعيات</a:t>
            </a:r>
            <a:endParaRPr lang="ar-SA" sz="1400" dirty="0"/>
          </a:p>
        </p:txBody>
      </p:sp>
      <p:sp>
        <p:nvSpPr>
          <p:cNvPr id="10" name="s2_t_8">
            <a:hlinkClick r:id="rId9" tooltip="البكتيريا والبدائيات" action="ppaction://hlinksldjump"/>
          </p:cNvPr>
          <p:cNvSpPr txBox="1"/>
          <p:nvPr/>
        </p:nvSpPr>
        <p:spPr>
          <a:xfrm>
            <a:off x="9991192" y="2651760"/>
            <a:ext cx="1810512" cy="914400"/>
          </a:xfrm>
          <a:prstGeom prst="roundRect">
            <a:avLst>
              <a:gd name="adj" fmla="val 50000"/>
            </a:avLst>
          </a:prstGeom>
          <a:solidFill>
            <a:srgbClr val="3D8BFF"/>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٧</a:t>
            </a:r>
            <a:endParaRPr lang="ar-SA" sz="1400" dirty="0"/>
          </a:p>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البكتيريا والبدائيات</a:t>
            </a:r>
            <a:endParaRPr lang="ar-SA" sz="1400" dirty="0"/>
          </a:p>
        </p:txBody>
      </p:sp>
      <p:sp>
        <p:nvSpPr>
          <p:cNvPr id="11" name="s2_t_9">
            <a:hlinkClick r:id="rId10" tooltip="أختبر نفسي (١)" action="ppaction://hlinksldjump"/>
          </p:cNvPr>
          <p:cNvSpPr txBox="1"/>
          <p:nvPr/>
        </p:nvSpPr>
        <p:spPr>
          <a:xfrm>
            <a:off x="8070952" y="2651760"/>
            <a:ext cx="1810512" cy="914400"/>
          </a:xfrm>
          <a:prstGeom prst="roundRect">
            <a:avLst>
              <a:gd name="adj" fmla="val 50000"/>
            </a:avLst>
          </a:prstGeom>
          <a:solidFill>
            <a:srgbClr val="8C5CFF"/>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٨</a:t>
            </a:r>
            <a:endParaRPr lang="ar-SA" sz="1400" dirty="0"/>
          </a:p>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أختبر نفسي (١)</a:t>
            </a:r>
            <a:endParaRPr lang="ar-SA" sz="1400" dirty="0"/>
          </a:p>
        </p:txBody>
      </p:sp>
      <p:sp>
        <p:nvSpPr>
          <p:cNvPr id="12" name="s2_t_10">
            <a:hlinkClick r:id="rId11" tooltip="الانشطار الثنائي" action="ppaction://hlinksldjump"/>
          </p:cNvPr>
          <p:cNvSpPr txBox="1"/>
          <p:nvPr/>
        </p:nvSpPr>
        <p:spPr>
          <a:xfrm>
            <a:off x="6150712" y="2651760"/>
            <a:ext cx="1810512" cy="914400"/>
          </a:xfrm>
          <a:prstGeom prst="roundRect">
            <a:avLst>
              <a:gd name="adj" fmla="val 50000"/>
            </a:avLst>
          </a:prstGeom>
          <a:solidFill>
            <a:srgbClr val="14B88A"/>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٩</a:t>
            </a:r>
            <a:endParaRPr lang="ar-SA" sz="1400" dirty="0"/>
          </a:p>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الانشطار الثنائي</a:t>
            </a:r>
            <a:endParaRPr lang="ar-SA" sz="1400" dirty="0"/>
          </a:p>
        </p:txBody>
      </p:sp>
      <p:sp>
        <p:nvSpPr>
          <p:cNvPr id="13" name="s2_t_11">
            <a:hlinkClick r:id="rId12" tooltip="رتّبي المراحل" action="ppaction://hlinksldjump"/>
          </p:cNvPr>
          <p:cNvSpPr txBox="1"/>
          <p:nvPr/>
        </p:nvSpPr>
        <p:spPr>
          <a:xfrm>
            <a:off x="4230472" y="2651760"/>
            <a:ext cx="1810512" cy="914400"/>
          </a:xfrm>
          <a:prstGeom prst="roundRect">
            <a:avLst>
              <a:gd name="adj" fmla="val 50000"/>
            </a:avLst>
          </a:prstGeom>
          <a:solidFill>
            <a:srgbClr val="0FA3B8"/>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١٠</a:t>
            </a:r>
            <a:endParaRPr lang="ar-SA" sz="1400" dirty="0"/>
          </a:p>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رتّبي المراحل</a:t>
            </a:r>
            <a:endParaRPr lang="ar-SA" sz="1400" dirty="0"/>
          </a:p>
        </p:txBody>
      </p:sp>
      <p:sp>
        <p:nvSpPr>
          <p:cNvPr id="14" name="s2_t_12">
            <a:hlinkClick r:id="rId13" tooltip="الاقتران والأبواغ" action="ppaction://hlinksldjump"/>
          </p:cNvPr>
          <p:cNvSpPr txBox="1"/>
          <p:nvPr/>
        </p:nvSpPr>
        <p:spPr>
          <a:xfrm>
            <a:off x="2310232" y="2651760"/>
            <a:ext cx="1810512" cy="914400"/>
          </a:xfrm>
          <a:prstGeom prst="roundRect">
            <a:avLst>
              <a:gd name="adj" fmla="val 50000"/>
            </a:avLst>
          </a:prstGeom>
          <a:solidFill>
            <a:srgbClr val="E2558F"/>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١١</a:t>
            </a:r>
            <a:endParaRPr lang="ar-SA" sz="1400" dirty="0"/>
          </a:p>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الاقتران والأبواغ</a:t>
            </a:r>
            <a:endParaRPr lang="ar-SA" sz="1400" dirty="0"/>
          </a:p>
        </p:txBody>
      </p:sp>
      <p:sp>
        <p:nvSpPr>
          <p:cNvPr id="15" name="s2_t_13">
            <a:hlinkClick r:id="rId14" tooltip="مختبر التبرعم" action="ppaction://hlinksldjump"/>
          </p:cNvPr>
          <p:cNvSpPr txBox="1"/>
          <p:nvPr/>
        </p:nvSpPr>
        <p:spPr>
          <a:xfrm>
            <a:off x="389992" y="2651760"/>
            <a:ext cx="1810512" cy="914400"/>
          </a:xfrm>
          <a:prstGeom prst="roundRect">
            <a:avLst>
              <a:gd name="adj" fmla="val 50000"/>
            </a:avLst>
          </a:prstGeom>
          <a:solidFill>
            <a:srgbClr val="E3A21A"/>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١٢</a:t>
            </a:r>
            <a:endParaRPr lang="ar-SA" sz="1400" dirty="0"/>
          </a:p>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مختبر التبرعم</a:t>
            </a:r>
            <a:endParaRPr lang="ar-SA" sz="1400" dirty="0"/>
          </a:p>
        </p:txBody>
      </p:sp>
      <p:sp>
        <p:nvSpPr>
          <p:cNvPr id="16" name="s2_t_14">
            <a:hlinkClick r:id="rId15" tooltip="تكاثر البكتيريا" action="ppaction://hlinksldjump"/>
          </p:cNvPr>
          <p:cNvSpPr txBox="1"/>
          <p:nvPr/>
        </p:nvSpPr>
        <p:spPr>
          <a:xfrm>
            <a:off x="9991192" y="3794760"/>
            <a:ext cx="1810512" cy="914400"/>
          </a:xfrm>
          <a:prstGeom prst="roundRect">
            <a:avLst>
              <a:gd name="adj" fmla="val 50000"/>
            </a:avLst>
          </a:prstGeom>
          <a:solidFill>
            <a:srgbClr val="3D8BFF"/>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١٣</a:t>
            </a:r>
            <a:endParaRPr lang="ar-SA" sz="1400" dirty="0"/>
          </a:p>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تكاثر البكتيريا</a:t>
            </a:r>
            <a:endParaRPr lang="ar-SA" sz="1400" dirty="0"/>
          </a:p>
        </p:txBody>
      </p:sp>
      <p:sp>
        <p:nvSpPr>
          <p:cNvPr id="17" name="s2_t_15">
            <a:hlinkClick r:id="rId16" tooltip="أختبر نفسي (٢)" action="ppaction://hlinksldjump"/>
          </p:cNvPr>
          <p:cNvSpPr txBox="1"/>
          <p:nvPr/>
        </p:nvSpPr>
        <p:spPr>
          <a:xfrm>
            <a:off x="8070952" y="3794760"/>
            <a:ext cx="1810512" cy="914400"/>
          </a:xfrm>
          <a:prstGeom prst="roundRect">
            <a:avLst>
              <a:gd name="adj" fmla="val 50000"/>
            </a:avLst>
          </a:prstGeom>
          <a:solidFill>
            <a:srgbClr val="8C5CFF"/>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١٤</a:t>
            </a:r>
            <a:endParaRPr lang="ar-SA" sz="1400" dirty="0"/>
          </a:p>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أختبر نفسي (٢)</a:t>
            </a:r>
            <a:endParaRPr lang="ar-SA" sz="1400" dirty="0"/>
          </a:p>
        </p:txBody>
      </p:sp>
      <p:sp>
        <p:nvSpPr>
          <p:cNvPr id="18" name="s2_t_16">
            <a:hlinkClick r:id="rId17" tooltip="اكتشفي الخطأ" action="ppaction://hlinksldjump"/>
          </p:cNvPr>
          <p:cNvSpPr txBox="1"/>
          <p:nvPr/>
        </p:nvSpPr>
        <p:spPr>
          <a:xfrm>
            <a:off x="6150712" y="3794760"/>
            <a:ext cx="1810512" cy="914400"/>
          </a:xfrm>
          <a:prstGeom prst="roundRect">
            <a:avLst>
              <a:gd name="adj" fmla="val 50000"/>
            </a:avLst>
          </a:prstGeom>
          <a:solidFill>
            <a:srgbClr val="14B88A"/>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١٥</a:t>
            </a:r>
            <a:endParaRPr lang="ar-SA" sz="1400" dirty="0"/>
          </a:p>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اكتشفي الخطأ</a:t>
            </a:r>
            <a:endParaRPr lang="ar-SA" sz="1400" dirty="0"/>
          </a:p>
        </p:txBody>
      </p:sp>
      <p:sp>
        <p:nvSpPr>
          <p:cNvPr id="19" name="s2_t_17">
            <a:hlinkClick r:id="rId18" tooltip="البطاقات التعليمية" action="ppaction://hlinksldjump"/>
          </p:cNvPr>
          <p:cNvSpPr txBox="1"/>
          <p:nvPr/>
        </p:nvSpPr>
        <p:spPr>
          <a:xfrm>
            <a:off x="4230472" y="3794760"/>
            <a:ext cx="1810512" cy="914400"/>
          </a:xfrm>
          <a:prstGeom prst="roundRect">
            <a:avLst>
              <a:gd name="adj" fmla="val 50000"/>
            </a:avLst>
          </a:prstGeom>
          <a:solidFill>
            <a:srgbClr val="0FA3B8"/>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١٦</a:t>
            </a:r>
            <a:endParaRPr lang="ar-SA" sz="1400" dirty="0"/>
          </a:p>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البطاقات التعليمية</a:t>
            </a:r>
            <a:endParaRPr lang="ar-SA" sz="1400" dirty="0"/>
          </a:p>
        </p:txBody>
      </p:sp>
      <p:sp>
        <p:nvSpPr>
          <p:cNvPr id="20" name="s2_t_18">
            <a:hlinkClick r:id="rId19" tooltip="تحدي العالمات" action="ppaction://hlinksldjump"/>
          </p:cNvPr>
          <p:cNvSpPr txBox="1"/>
          <p:nvPr/>
        </p:nvSpPr>
        <p:spPr>
          <a:xfrm>
            <a:off x="2310232" y="3794760"/>
            <a:ext cx="1810512" cy="914400"/>
          </a:xfrm>
          <a:prstGeom prst="roundRect">
            <a:avLst>
              <a:gd name="adj" fmla="val 50000"/>
            </a:avLst>
          </a:prstGeom>
          <a:solidFill>
            <a:srgbClr val="E2558F"/>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١٧</a:t>
            </a:r>
            <a:endParaRPr lang="ar-SA" sz="1400" dirty="0"/>
          </a:p>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تحدي العالمات</a:t>
            </a:r>
            <a:endParaRPr lang="ar-SA" sz="1400" dirty="0"/>
          </a:p>
        </p:txBody>
      </p:sp>
      <p:sp>
        <p:nvSpPr>
          <p:cNvPr id="21" name="s2_t_19">
            <a:hlinkClick r:id="rId20" tooltip="ماذا لو؟" action="ppaction://hlinksldjump"/>
          </p:cNvPr>
          <p:cNvSpPr txBox="1"/>
          <p:nvPr/>
        </p:nvSpPr>
        <p:spPr>
          <a:xfrm>
            <a:off x="389992" y="3794760"/>
            <a:ext cx="1810512" cy="914400"/>
          </a:xfrm>
          <a:prstGeom prst="roundRect">
            <a:avLst>
              <a:gd name="adj" fmla="val 50000"/>
            </a:avLst>
          </a:prstGeom>
          <a:solidFill>
            <a:srgbClr val="E3A21A"/>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١٨</a:t>
            </a:r>
            <a:endParaRPr lang="ar-SA" sz="1400" dirty="0"/>
          </a:p>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ماذا لو؟</a:t>
            </a:r>
            <a:endParaRPr lang="ar-SA" sz="1400" dirty="0"/>
          </a:p>
        </p:txBody>
      </p:sp>
      <p:sp>
        <p:nvSpPr>
          <p:cNvPr id="22" name="s2_t_20">
            <a:hlinkClick r:id="rId21" tooltip="العلوم من حولنا" action="ppaction://hlinksldjump"/>
          </p:cNvPr>
          <p:cNvSpPr txBox="1"/>
          <p:nvPr/>
        </p:nvSpPr>
        <p:spPr>
          <a:xfrm>
            <a:off x="9991192" y="4937760"/>
            <a:ext cx="1810512" cy="914400"/>
          </a:xfrm>
          <a:prstGeom prst="roundRect">
            <a:avLst>
              <a:gd name="adj" fmla="val 50000"/>
            </a:avLst>
          </a:prstGeom>
          <a:solidFill>
            <a:srgbClr val="3D8BFF"/>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١٩</a:t>
            </a:r>
            <a:endParaRPr lang="ar-SA" sz="1400" dirty="0"/>
          </a:p>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العلوم من حولنا</a:t>
            </a:r>
            <a:endParaRPr lang="ar-SA" sz="1400" dirty="0"/>
          </a:p>
        </p:txBody>
      </p:sp>
      <p:sp>
        <p:nvSpPr>
          <p:cNvPr id="23" name="s2_t_21">
            <a:hlinkClick r:id="rId22" tooltip="الوطن والعلوم" action="ppaction://hlinksldjump"/>
          </p:cNvPr>
          <p:cNvSpPr txBox="1"/>
          <p:nvPr/>
        </p:nvSpPr>
        <p:spPr>
          <a:xfrm>
            <a:off x="8070952" y="4937760"/>
            <a:ext cx="1810512" cy="914400"/>
          </a:xfrm>
          <a:prstGeom prst="roundRect">
            <a:avLst>
              <a:gd name="adj" fmla="val 50000"/>
            </a:avLst>
          </a:prstGeom>
          <a:solidFill>
            <a:srgbClr val="8C5CFF"/>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٢٠</a:t>
            </a:r>
            <a:endParaRPr lang="ar-SA" sz="1400" dirty="0"/>
          </a:p>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الوطن والعلوم</a:t>
            </a:r>
            <a:endParaRPr lang="ar-SA" sz="1400" dirty="0"/>
          </a:p>
        </p:txBody>
      </p:sp>
      <p:sp>
        <p:nvSpPr>
          <p:cNvPr id="24" name="s2_t_22">
            <a:hlinkClick r:id="rId23" tooltip="حصاد المعرفة" action="ppaction://hlinksldjump"/>
          </p:cNvPr>
          <p:cNvSpPr txBox="1"/>
          <p:nvPr/>
        </p:nvSpPr>
        <p:spPr>
          <a:xfrm>
            <a:off x="6150712" y="4937760"/>
            <a:ext cx="1810512" cy="914400"/>
          </a:xfrm>
          <a:prstGeom prst="roundRect">
            <a:avLst>
              <a:gd name="adj" fmla="val 50000"/>
            </a:avLst>
          </a:prstGeom>
          <a:solidFill>
            <a:srgbClr val="14B88A"/>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٢١</a:t>
            </a:r>
            <a:endParaRPr lang="ar-SA" sz="1400" dirty="0"/>
          </a:p>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حصاد المعرفة</a:t>
            </a:r>
            <a:endParaRPr lang="ar-SA" sz="1400" dirty="0"/>
          </a:p>
        </p:txBody>
      </p:sp>
      <p:sp>
        <p:nvSpPr>
          <p:cNvPr id="25" name="s2_t_23">
            <a:hlinkClick r:id="rId24" tooltip="بوابة الخروج" action="ppaction://hlinksldjump"/>
          </p:cNvPr>
          <p:cNvSpPr txBox="1"/>
          <p:nvPr/>
        </p:nvSpPr>
        <p:spPr>
          <a:xfrm>
            <a:off x="4230472" y="4937760"/>
            <a:ext cx="1810512" cy="914400"/>
          </a:xfrm>
          <a:prstGeom prst="roundRect">
            <a:avLst>
              <a:gd name="adj" fmla="val 50000"/>
            </a:avLst>
          </a:prstGeom>
          <a:solidFill>
            <a:srgbClr val="0FA3B8"/>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٢٢</a:t>
            </a:r>
            <a:endParaRPr lang="ar-SA" sz="1400" dirty="0"/>
          </a:p>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بوابة الخروج</a:t>
            </a:r>
            <a:endParaRPr lang="ar-SA" sz="1400" dirty="0"/>
          </a:p>
        </p:txBody>
      </p:sp>
      <p:sp>
        <p:nvSpPr>
          <p:cNvPr id="26" name="s2_t_24">
            <a:hlinkClick r:id="rId25" tooltip="🚪 بوابة المتحف" action="ppaction://hlinksldjump"/>
          </p:cNvPr>
          <p:cNvSpPr txBox="1"/>
          <p:nvPr/>
        </p:nvSpPr>
        <p:spPr>
          <a:xfrm>
            <a:off x="365760" y="320040"/>
            <a:ext cx="1920240" cy="411480"/>
          </a:xfrm>
          <a:prstGeom prst="roundRect">
            <a:avLst>
              <a:gd name="adj" fmla="val 50000"/>
            </a:avLst>
          </a:prstGeom>
          <a:solidFill>
            <a:srgbClr val="8C9BB5"/>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بوابة المتحف</a:t>
            </a:r>
            <a:endParaRPr lang="ar-SA" sz="1600" dirty="0"/>
          </a:p>
        </p:txBody>
      </p:sp>
    </p:spTree>
  </p:cSld>
  <p:clrMapOvr>
    <a:masterClrMapping/>
  </p:clrMapOvr>
  <p:transition spd="slow">
    <p:zoom/>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3_sign" descr="قاعة شريط الذكريات">    </p:cNvPr>
          <p:cNvPicPr>
            <a:picLocks noChangeAspect="1"/>
          </p:cNvPicPr>
          <p:nvPr/>
        </p:nvPicPr>
        <p:blipFill>
          <a:blip r:embed="rId2"/>
          <a:stretch>
            <a:fillRect/>
          </a:stretch>
        </p:blipFill>
        <p:spPr>
          <a:xfrm>
            <a:off x="4062978" y="91440"/>
            <a:ext cx="4065740" cy="868680"/>
          </a:xfrm>
          <a:prstGeom prst="rect">
            <a:avLst/>
          </a:prstGeom>
        </p:spPr>
      </p:pic>
      <p:sp>
        <p:nvSpPr>
          <p:cNvPr id="3" name="s3_t_1"/>
          <p:cNvSpPr txBox="1"/>
          <p:nvPr/>
        </p:nvSpPr>
        <p:spPr>
          <a:xfrm>
            <a:off x="10561320" y="274320"/>
            <a:ext cx="1325880" cy="502920"/>
          </a:xfrm>
          <a:prstGeom prst="roundRect">
            <a:avLst>
              <a:gd name="adj" fmla="val 49091"/>
            </a:avLst>
          </a:prstGeom>
          <a:solidFill>
            <a:srgbClr val="1B2A4A"/>
          </a:solidFill>
          <a:ln/>
        </p:spPr>
        <p:txBody>
          <a:bodyPr wrap="square" lIns="762" tIns="762" rIns="762" bIns="762" rtlCol="0" anchor="ctr"/>
          <a:lstStyle/>
          <a:p>
            <a:pPr rtl="1" algn="ctr" indent="0" marL="0">
              <a:lnSpc>
                <a:spcPct val="108000"/>
              </a:lnSpc>
              <a:buNone/>
            </a:pPr>
            <a:r>
              <a:rPr lang="ar-SA" altLang="en-US" sz="1700" b="1" dirty="0">
                <a:solidFill>
                  <a:srgbClr val="FFFFFF"/>
                </a:solidFill>
                <a:latin typeface="Tahoma" pitchFamily="34" charset="0"/>
                <a:ea typeface="Tahoma" pitchFamily="34" charset="-122"/>
                <a:cs typeface="Tahoma" pitchFamily="34" charset="-120"/>
              </a:rPr>
              <a:t>القاعة </a:t>
            </a:r>
            <a:r>
              <a:rPr lang="ar-SA" altLang="en-US" sz="1700" b="1" dirty="0">
                <a:solidFill>
                  <a:srgbClr val="FFFFFF"/>
                </a:solidFill>
                <a:latin typeface="Tahoma" pitchFamily="34" charset="0"/>
                <a:ea typeface="Tahoma" pitchFamily="34" charset="-122"/>
                <a:cs typeface="Tahoma" pitchFamily="34" charset="-120"/>
              </a:rPr>
              <a:t>١</a:t>
            </a:r>
            <a:endParaRPr lang="ar-SA" sz="1700" dirty="0"/>
          </a:p>
        </p:txBody>
      </p:sp>
      <p:sp>
        <p:nvSpPr>
          <p:cNvPr id="4" name="s3_t_2"/>
          <p:cNvSpPr txBox="1"/>
          <p:nvPr/>
        </p:nvSpPr>
        <p:spPr>
          <a:xfrm>
            <a:off x="365760" y="228600"/>
            <a:ext cx="2788920" cy="603504"/>
          </a:xfrm>
          <a:prstGeom prst="roundRect">
            <a:avLst>
              <a:gd name="adj" fmla="val 39394"/>
            </a:avLst>
          </a:prstGeom>
          <a:solidFill>
            <a:srgbClr val="FFFFFF"/>
          </a:solidFill>
          <a:ln w="25400">
            <a:solidFill>
              <a:srgbClr val="8C5CFF"/>
            </a:solidFill>
            <a:prstDash val="dash"/>
          </a:ln>
        </p:spPr>
        <p:txBody>
          <a:bodyPr wrap="square" lIns="762" tIns="762" rIns="762" bIns="762" rtlCol="0" anchor="ctr"/>
          <a:lstStyle/>
          <a:p>
            <a:pPr rtl="1" algn="ctr" indent="0" marL="0">
              <a:lnSpc>
                <a:spcPct val="108000"/>
              </a:lnSpc>
              <a:buNone/>
            </a:pPr>
            <a:r>
              <a:rPr lang="ar-SA" altLang="en-US" sz="1350" b="1" dirty="0">
                <a:solidFill>
                  <a:srgbClr val="C2366F"/>
                </a:solidFill>
                <a:latin typeface="Tahoma" pitchFamily="34" charset="0"/>
                <a:ea typeface="Tahoma" pitchFamily="34" charset="-122"/>
                <a:cs typeface="Tahoma" pitchFamily="34" charset="-120"/>
              </a:rPr>
              <a:t>الاستراتيجية: </a:t>
            </a:r>
            <a:r>
              <a:rPr lang="ar-SA" altLang="en-US" sz="1350" b="1" dirty="0">
                <a:solidFill>
                  <a:srgbClr val="34405E"/>
                </a:solidFill>
                <a:latin typeface="Tahoma" pitchFamily="34" charset="0"/>
                <a:ea typeface="Tahoma" pitchFamily="34" charset="-122"/>
                <a:cs typeface="Tahoma" pitchFamily="34" charset="-120"/>
              </a:rPr>
              <a:t>شريط الذكريات</a:t>
            </a:r>
            <a:endParaRPr lang="ar-SA" sz="1350" dirty="0"/>
          </a:p>
        </p:txBody>
      </p:sp>
      <p:sp>
        <p:nvSpPr>
          <p:cNvPr id="5" name="s3_t_3">
            <a:hlinkClick r:id="rId3" tooltip="الانتقال إلى القاعة التالية" action="ppaction://hlinksldjump"/>
          </p:cNvPr>
          <p:cNvSpPr txBox="1"/>
          <p:nvPr/>
        </p:nvSpPr>
        <p:spPr>
          <a:xfrm>
            <a:off x="2926080" y="6382512"/>
            <a:ext cx="2011680" cy="384048"/>
          </a:xfrm>
          <a:prstGeom prst="roundRect">
            <a:avLst>
              <a:gd name="adj" fmla="val 50000"/>
            </a:avLst>
          </a:prstGeom>
          <a:solidFill>
            <a:srgbClr val="5B6CFF"/>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القاعة التالية ◀</a:t>
            </a:r>
            <a:endParaRPr lang="ar-SA" sz="1600" dirty="0"/>
          </a:p>
        </p:txBody>
      </p:sp>
      <p:sp>
        <p:nvSpPr>
          <p:cNvPr id="6" name="s3_t_4">
            <a:hlinkClick r:id="rId4" tooltip="العودة إلى خريطة المتحف" action="ppaction://hlinksldjump"/>
          </p:cNvPr>
          <p:cNvSpPr txBox="1"/>
          <p:nvPr/>
        </p:nvSpPr>
        <p:spPr>
          <a:xfrm>
            <a:off x="5074920" y="6382512"/>
            <a:ext cx="2011680" cy="384048"/>
          </a:xfrm>
          <a:prstGeom prst="roundRect">
            <a:avLst>
              <a:gd name="adj" fmla="val 50000"/>
            </a:avLst>
          </a:prstGeom>
          <a:solidFill>
            <a:srgbClr val="0FA3B8"/>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خريطة المتحف</a:t>
            </a:r>
            <a:endParaRPr lang="ar-SA" sz="1600" dirty="0"/>
          </a:p>
        </p:txBody>
      </p:sp>
      <p:sp>
        <p:nvSpPr>
          <p:cNvPr id="7" name="s3_t_5">
            <a:hlinkClick r:id="rId5" tooltip="القاعة السابقة" action="ppaction://hlinksldjump"/>
          </p:cNvPr>
          <p:cNvSpPr txBox="1"/>
          <p:nvPr/>
        </p:nvSpPr>
        <p:spPr>
          <a:xfrm>
            <a:off x="7223760" y="6382512"/>
            <a:ext cx="1463040" cy="384048"/>
          </a:xfrm>
          <a:prstGeom prst="roundRect">
            <a:avLst>
              <a:gd name="adj" fmla="val 50000"/>
            </a:avLst>
          </a:prstGeom>
          <a:solidFill>
            <a:srgbClr val="8C9BB5"/>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السابقة</a:t>
            </a:r>
            <a:endParaRPr lang="ar-SA" sz="1600" dirty="0"/>
          </a:p>
        </p:txBody>
      </p:sp>
      <p:pic>
        <p:nvPicPr>
          <p:cNvPr id="8" name="s3_pic_6" descr="/tmp/claude-0/-home-user-Scienceshamah/8386cda7-7741-5ea4-8952-60ee8e67fc31/scratchpad/w4/img/scr_429x539_3D8BFF_FFFFFF.png">    </p:cNvPr>
          <p:cNvPicPr>
            <a:picLocks noChangeAspect="1"/>
          </p:cNvPicPr>
          <p:nvPr/>
        </p:nvPicPr>
        <p:blipFill>
          <a:blip r:embed="rId6"/>
          <a:stretch>
            <a:fillRect/>
          </a:stretch>
        </p:blipFill>
        <p:spPr>
          <a:xfrm>
            <a:off x="7982712" y="1216152"/>
            <a:ext cx="3785616" cy="4700016"/>
          </a:xfrm>
          <a:prstGeom prst="rect">
            <a:avLst/>
          </a:prstGeom>
        </p:spPr>
      </p:pic>
      <p:pic>
        <p:nvPicPr>
          <p:cNvPr id="9" name="s3_pic_7" descr="خلايا">    </p:cNvPr>
          <p:cNvPicPr>
            <a:picLocks noChangeAspect="1"/>
          </p:cNvPicPr>
          <p:nvPr/>
        </p:nvPicPr>
        <p:blipFill>
          <a:blip r:embed="rId7"/>
          <a:stretch>
            <a:fillRect/>
          </a:stretch>
        </p:blipFill>
        <p:spPr>
          <a:xfrm>
            <a:off x="8961120" y="1463040"/>
            <a:ext cx="1828800" cy="1393371"/>
          </a:xfrm>
          <a:prstGeom prst="rect">
            <a:avLst/>
          </a:prstGeom>
        </p:spPr>
      </p:pic>
      <p:sp>
        <p:nvSpPr>
          <p:cNvPr id="10" name="s3_t_8"/>
          <p:cNvSpPr txBox="1"/>
          <p:nvPr/>
        </p:nvSpPr>
        <p:spPr>
          <a:xfrm>
            <a:off x="8229600" y="2880360"/>
            <a:ext cx="3291840" cy="960120"/>
          </a:xfrm>
          <a:prstGeom prst="rect">
            <a:avLst/>
          </a:prstGeom>
          <a:noFill/>
          <a:ln/>
        </p:spPr>
        <p:txBody>
          <a:bodyPr wrap="square" lIns="762" tIns="762" rIns="762" bIns="762" rtlCol="0" anchor="ctr"/>
          <a:lstStyle/>
          <a:p>
            <a:pPr rtl="1" algn="ctr" indent="0" marL="0">
              <a:lnSpc>
                <a:spcPct val="108000"/>
              </a:lnSpc>
              <a:buNone/>
            </a:pPr>
            <a:r>
              <a:rPr lang="ar-SA" altLang="en-US" sz="2000" b="1" dirty="0">
                <a:solidFill>
                  <a:srgbClr val="1B2A4A"/>
                </a:solidFill>
                <a:latin typeface="Tahoma" pitchFamily="34" charset="0"/>
                <a:ea typeface="Tahoma" pitchFamily="34" charset="-122"/>
                <a:cs typeface="Tahoma" pitchFamily="34" charset="-120"/>
              </a:rPr>
              <a:t>ما الخلية؟</a:t>
            </a:r>
            <a:endParaRPr lang="ar-SA" sz="2000" dirty="0"/>
          </a:p>
        </p:txBody>
      </p:sp>
      <p:sp>
        <p:nvSpPr>
          <p:cNvPr id="11" name="s3_t_9"/>
          <p:cNvSpPr txBox="1"/>
          <p:nvPr/>
        </p:nvSpPr>
        <p:spPr>
          <a:xfrm>
            <a:off x="8275320" y="3886200"/>
            <a:ext cx="3200400" cy="1234440"/>
          </a:xfrm>
          <a:prstGeom prst="rect">
            <a:avLst/>
          </a:prstGeom>
          <a:noFill/>
          <a:ln/>
        </p:spPr>
        <p:txBody>
          <a:bodyPr wrap="square" lIns="762" tIns="762" rIns="762" bIns="762" rtlCol="0" anchor="t"/>
          <a:lstStyle/>
          <a:p>
            <a:pPr rtl="1" algn="ctr" indent="0" marL="0">
              <a:lnSpc>
                <a:spcPct val="108000"/>
              </a:lnSpc>
              <a:buNone/>
            </a:pPr>
            <a:r>
              <a:rPr lang="ar-SA" altLang="en-US" sz="1700" b="1" dirty="0">
                <a:solidFill>
                  <a:srgbClr val="0E7C55"/>
                </a:solidFill>
                <a:latin typeface="Tahoma" pitchFamily="34" charset="0"/>
                <a:ea typeface="Tahoma" pitchFamily="34" charset="-122"/>
                <a:cs typeface="Tahoma" pitchFamily="34" charset="-120"/>
              </a:rPr>
              <a:t>الخلية هي الوحدة الأساسية في تركيب أجسام المخلوقات الحية.</a:t>
            </a:r>
            <a:endParaRPr lang="ar-SA" sz="1700" dirty="0"/>
          </a:p>
        </p:txBody>
      </p:sp>
      <p:sp>
        <p:nvSpPr>
          <p:cNvPr id="12" name="s3_t_10"/>
          <p:cNvSpPr txBox="1"/>
          <p:nvPr/>
        </p:nvSpPr>
        <p:spPr>
          <a:xfrm>
            <a:off x="9052560" y="5166360"/>
            <a:ext cx="1645920" cy="411480"/>
          </a:xfrm>
          <a:prstGeom prst="roundRect">
            <a:avLst>
              <a:gd name="adj" fmla="val 48889"/>
            </a:avLst>
          </a:prstGeom>
          <a:solidFill>
            <a:srgbClr val="FFE066"/>
          </a:solidFill>
          <a:ln/>
        </p:spPr>
        <p:txBody>
          <a:bodyPr wrap="square" lIns="762" tIns="762" rIns="762" bIns="762" rtlCol="0" anchor="ctr"/>
          <a:lstStyle/>
          <a:p>
            <a:pPr rtl="1" algn="ctr" indent="0" marL="0">
              <a:lnSpc>
                <a:spcPct val="108000"/>
              </a:lnSpc>
              <a:buNone/>
            </a:pPr>
            <a:r>
              <a:rPr lang="ar-SA" altLang="en-US" sz="1600" b="1" dirty="0">
                <a:solidFill>
                  <a:srgbClr val="7A5300"/>
                </a:solidFill>
                <a:latin typeface="Tahoma" pitchFamily="34" charset="0"/>
                <a:ea typeface="Tahoma" pitchFamily="34" charset="-122"/>
                <a:cs typeface="Tahoma" pitchFamily="34" charset="-120"/>
              </a:rPr>
              <a:t>⭐ أحسنتِ!</a:t>
            </a:r>
            <a:endParaRPr lang="ar-SA" sz="1600" dirty="0"/>
          </a:p>
        </p:txBody>
      </p:sp>
      <p:pic>
        <p:nvPicPr>
          <p:cNvPr id="13" name="s3_pic_11" descr="/tmp/claude-0/-home-user-Scienceshamah/8386cda7-7741-5ea4-8952-60ee8e67fc31/scratchpad/w4/img/scr_429x539_8C5CFF_FFFFFF.png">    </p:cNvPr>
          <p:cNvPicPr>
            <a:picLocks noChangeAspect="1"/>
          </p:cNvPicPr>
          <p:nvPr/>
        </p:nvPicPr>
        <p:blipFill>
          <a:blip r:embed="rId8"/>
          <a:stretch>
            <a:fillRect/>
          </a:stretch>
        </p:blipFill>
        <p:spPr>
          <a:xfrm>
            <a:off x="4142232" y="1216152"/>
            <a:ext cx="3785616" cy="4700016"/>
          </a:xfrm>
          <a:prstGeom prst="rect">
            <a:avLst/>
          </a:prstGeom>
        </p:spPr>
      </p:pic>
      <p:pic>
        <p:nvPicPr>
          <p:cNvPr id="14" name="s3_pic_12" descr="ما الأداة التي نرى بها الأشياء الصغيرة جدًا؟">    </p:cNvPr>
          <p:cNvPicPr>
            <a:picLocks noChangeAspect="1"/>
          </p:cNvPicPr>
          <p:nvPr/>
        </p:nvPicPr>
        <p:blipFill>
          <a:blip r:embed="rId9"/>
          <a:stretch>
            <a:fillRect/>
          </a:stretch>
        </p:blipFill>
        <p:spPr>
          <a:xfrm>
            <a:off x="5486400" y="1554480"/>
            <a:ext cx="1097280" cy="1097280"/>
          </a:xfrm>
          <a:prstGeom prst="rect">
            <a:avLst/>
          </a:prstGeom>
        </p:spPr>
      </p:pic>
      <p:sp>
        <p:nvSpPr>
          <p:cNvPr id="15" name="s3_t_13"/>
          <p:cNvSpPr txBox="1"/>
          <p:nvPr/>
        </p:nvSpPr>
        <p:spPr>
          <a:xfrm>
            <a:off x="4389120" y="2880360"/>
            <a:ext cx="3291840" cy="960120"/>
          </a:xfrm>
          <a:prstGeom prst="rect">
            <a:avLst/>
          </a:prstGeom>
          <a:noFill/>
          <a:ln/>
        </p:spPr>
        <p:txBody>
          <a:bodyPr wrap="square" lIns="762" tIns="762" rIns="762" bIns="762" rtlCol="0" anchor="ctr"/>
          <a:lstStyle/>
          <a:p>
            <a:pPr rtl="1" algn="ctr" indent="0" marL="0">
              <a:lnSpc>
                <a:spcPct val="108000"/>
              </a:lnSpc>
              <a:buNone/>
            </a:pPr>
            <a:r>
              <a:rPr lang="ar-SA" altLang="en-US" sz="2000" b="1" dirty="0">
                <a:solidFill>
                  <a:srgbClr val="1B2A4A"/>
                </a:solidFill>
                <a:latin typeface="Tahoma" pitchFamily="34" charset="0"/>
                <a:ea typeface="Tahoma" pitchFamily="34" charset="-122"/>
                <a:cs typeface="Tahoma" pitchFamily="34" charset="-120"/>
              </a:rPr>
              <a:t>ما الأداة التي نرى بها الأشياء الصغيرة جدًا؟</a:t>
            </a:r>
            <a:endParaRPr lang="ar-SA" sz="2000" dirty="0"/>
          </a:p>
        </p:txBody>
      </p:sp>
      <p:sp>
        <p:nvSpPr>
          <p:cNvPr id="16" name="s3_t_14"/>
          <p:cNvSpPr txBox="1"/>
          <p:nvPr/>
        </p:nvSpPr>
        <p:spPr>
          <a:xfrm>
            <a:off x="4434840" y="3886200"/>
            <a:ext cx="3200400" cy="1234440"/>
          </a:xfrm>
          <a:prstGeom prst="rect">
            <a:avLst/>
          </a:prstGeom>
          <a:noFill/>
          <a:ln/>
        </p:spPr>
        <p:txBody>
          <a:bodyPr wrap="square" lIns="762" tIns="762" rIns="762" bIns="762" rtlCol="0" anchor="t"/>
          <a:lstStyle/>
          <a:p>
            <a:pPr rtl="1" algn="ctr" indent="0" marL="0">
              <a:lnSpc>
                <a:spcPct val="108000"/>
              </a:lnSpc>
              <a:buNone/>
            </a:pPr>
            <a:r>
              <a:rPr lang="ar-SA" altLang="en-US" sz="1700" b="1" dirty="0">
                <a:solidFill>
                  <a:srgbClr val="0E7C55"/>
                </a:solidFill>
                <a:latin typeface="Tahoma" pitchFamily="34" charset="0"/>
                <a:ea typeface="Tahoma" pitchFamily="34" charset="-122"/>
                <a:cs typeface="Tahoma" pitchFamily="34" charset="-120"/>
              </a:rPr>
              <a:t>المجهر؛ فهو يكبّر الأشياء الدقيقة فنراها.</a:t>
            </a:r>
            <a:endParaRPr lang="ar-SA" sz="1700" dirty="0"/>
          </a:p>
        </p:txBody>
      </p:sp>
      <p:sp>
        <p:nvSpPr>
          <p:cNvPr id="17" name="s3_t_15"/>
          <p:cNvSpPr txBox="1"/>
          <p:nvPr/>
        </p:nvSpPr>
        <p:spPr>
          <a:xfrm>
            <a:off x="5212080" y="5166360"/>
            <a:ext cx="1645920" cy="411480"/>
          </a:xfrm>
          <a:prstGeom prst="roundRect">
            <a:avLst>
              <a:gd name="adj" fmla="val 48889"/>
            </a:avLst>
          </a:prstGeom>
          <a:solidFill>
            <a:srgbClr val="FFE066"/>
          </a:solidFill>
          <a:ln/>
        </p:spPr>
        <p:txBody>
          <a:bodyPr wrap="square" lIns="762" tIns="762" rIns="762" bIns="762" rtlCol="0" anchor="ctr"/>
          <a:lstStyle/>
          <a:p>
            <a:pPr rtl="1" algn="ctr" indent="0" marL="0">
              <a:lnSpc>
                <a:spcPct val="108000"/>
              </a:lnSpc>
              <a:buNone/>
            </a:pPr>
            <a:r>
              <a:rPr lang="ar-SA" altLang="en-US" sz="1600" b="1" dirty="0">
                <a:solidFill>
                  <a:srgbClr val="7A5300"/>
                </a:solidFill>
                <a:latin typeface="Tahoma" pitchFamily="34" charset="0"/>
                <a:ea typeface="Tahoma" pitchFamily="34" charset="-122"/>
                <a:cs typeface="Tahoma" pitchFamily="34" charset="-120"/>
              </a:rPr>
              <a:t>⭐ أحسنتِ!</a:t>
            </a:r>
            <a:endParaRPr lang="ar-SA" sz="1600" dirty="0"/>
          </a:p>
        </p:txBody>
      </p:sp>
      <p:pic>
        <p:nvPicPr>
          <p:cNvPr id="18" name="s3_pic_16" descr="/tmp/claude-0/-home-user-Scienceshamah/8386cda7-7741-5ea4-8952-60ee8e67fc31/scratchpad/w4/img/scr_429x539_14B88A_FFFFFF.png">    </p:cNvPr>
          <p:cNvPicPr>
            <a:picLocks noChangeAspect="1"/>
          </p:cNvPicPr>
          <p:nvPr/>
        </p:nvPicPr>
        <p:blipFill>
          <a:blip r:embed="rId10"/>
          <a:stretch>
            <a:fillRect/>
          </a:stretch>
        </p:blipFill>
        <p:spPr>
          <a:xfrm>
            <a:off x="301752" y="1216152"/>
            <a:ext cx="3785616" cy="4700016"/>
          </a:xfrm>
          <a:prstGeom prst="rect">
            <a:avLst/>
          </a:prstGeom>
        </p:spPr>
      </p:pic>
      <p:pic>
        <p:nvPicPr>
          <p:cNvPr id="19" name="s3_pic_17" descr="كيف تتكاثر المخلوقات الحية؟ (تنتج أفرادًا جديدة)">    </p:cNvPr>
          <p:cNvPicPr>
            <a:picLocks noChangeAspect="1"/>
          </p:cNvPicPr>
          <p:nvPr/>
        </p:nvPicPr>
        <p:blipFill>
          <a:blip r:embed="rId11"/>
          <a:stretch>
            <a:fillRect/>
          </a:stretch>
        </p:blipFill>
        <p:spPr>
          <a:xfrm>
            <a:off x="1645920" y="1554480"/>
            <a:ext cx="1097280" cy="1097280"/>
          </a:xfrm>
          <a:prstGeom prst="rect">
            <a:avLst/>
          </a:prstGeom>
        </p:spPr>
      </p:pic>
      <p:sp>
        <p:nvSpPr>
          <p:cNvPr id="20" name="s3_t_18"/>
          <p:cNvSpPr txBox="1"/>
          <p:nvPr/>
        </p:nvSpPr>
        <p:spPr>
          <a:xfrm>
            <a:off x="548640" y="2880360"/>
            <a:ext cx="3291840" cy="960120"/>
          </a:xfrm>
          <a:prstGeom prst="rect">
            <a:avLst/>
          </a:prstGeom>
          <a:noFill/>
          <a:ln/>
        </p:spPr>
        <p:txBody>
          <a:bodyPr wrap="square" lIns="762" tIns="762" rIns="762" bIns="762" rtlCol="0" anchor="ctr"/>
          <a:lstStyle/>
          <a:p>
            <a:pPr rtl="1" algn="ctr" indent="0" marL="0">
              <a:lnSpc>
                <a:spcPct val="108000"/>
              </a:lnSpc>
              <a:buNone/>
            </a:pPr>
            <a:r>
              <a:rPr lang="ar-SA" altLang="en-US" sz="2000" b="1" dirty="0">
                <a:solidFill>
                  <a:srgbClr val="1B2A4A"/>
                </a:solidFill>
                <a:latin typeface="Tahoma" pitchFamily="34" charset="0"/>
                <a:ea typeface="Tahoma" pitchFamily="34" charset="-122"/>
                <a:cs typeface="Tahoma" pitchFamily="34" charset="-120"/>
              </a:rPr>
              <a:t>كيف تتكاثر المخلوقات الحية؟ (تنتج أفرادًا جديدة)</a:t>
            </a:r>
            <a:endParaRPr lang="ar-SA" sz="2000" dirty="0"/>
          </a:p>
        </p:txBody>
      </p:sp>
      <p:sp>
        <p:nvSpPr>
          <p:cNvPr id="21" name="s3_t_19"/>
          <p:cNvSpPr txBox="1"/>
          <p:nvPr/>
        </p:nvSpPr>
        <p:spPr>
          <a:xfrm>
            <a:off x="594360" y="3886200"/>
            <a:ext cx="3200400" cy="1234440"/>
          </a:xfrm>
          <a:prstGeom prst="rect">
            <a:avLst/>
          </a:prstGeom>
          <a:noFill/>
          <a:ln/>
        </p:spPr>
        <p:txBody>
          <a:bodyPr wrap="square" lIns="762" tIns="762" rIns="762" bIns="762" rtlCol="0" anchor="t"/>
          <a:lstStyle/>
          <a:p>
            <a:pPr rtl="1" algn="ctr" indent="0" marL="0">
              <a:lnSpc>
                <a:spcPct val="108000"/>
              </a:lnSpc>
              <a:buNone/>
            </a:pPr>
            <a:r>
              <a:rPr lang="ar-SA" altLang="en-US" sz="1700" b="1" dirty="0">
                <a:solidFill>
                  <a:srgbClr val="0E7C55"/>
                </a:solidFill>
                <a:latin typeface="Tahoma" pitchFamily="34" charset="0"/>
                <a:ea typeface="Tahoma" pitchFamily="34" charset="-122"/>
                <a:cs typeface="Tahoma" pitchFamily="34" charset="-120"/>
              </a:rPr>
              <a:t>تتكاثر المخلوقات الحية لتنتج أفرادًا جديدة من نوعها، فتستمر الحياة.</a:t>
            </a:r>
            <a:endParaRPr lang="ar-SA" sz="1700" dirty="0"/>
          </a:p>
        </p:txBody>
      </p:sp>
      <p:sp>
        <p:nvSpPr>
          <p:cNvPr id="22" name="s3_t_20"/>
          <p:cNvSpPr txBox="1"/>
          <p:nvPr/>
        </p:nvSpPr>
        <p:spPr>
          <a:xfrm>
            <a:off x="1371600" y="5166360"/>
            <a:ext cx="1645920" cy="411480"/>
          </a:xfrm>
          <a:prstGeom prst="roundRect">
            <a:avLst>
              <a:gd name="adj" fmla="val 48889"/>
            </a:avLst>
          </a:prstGeom>
          <a:solidFill>
            <a:srgbClr val="FFE066"/>
          </a:solidFill>
          <a:ln/>
        </p:spPr>
        <p:txBody>
          <a:bodyPr wrap="square" lIns="762" tIns="762" rIns="762" bIns="762" rtlCol="0" anchor="ctr"/>
          <a:lstStyle/>
          <a:p>
            <a:pPr rtl="1" algn="ctr" indent="0" marL="0">
              <a:lnSpc>
                <a:spcPct val="108000"/>
              </a:lnSpc>
              <a:buNone/>
            </a:pPr>
            <a:r>
              <a:rPr lang="ar-SA" altLang="en-US" sz="1600" b="1" dirty="0">
                <a:solidFill>
                  <a:srgbClr val="7A5300"/>
                </a:solidFill>
                <a:latin typeface="Tahoma" pitchFamily="34" charset="0"/>
                <a:ea typeface="Tahoma" pitchFamily="34" charset="-122"/>
                <a:cs typeface="Tahoma" pitchFamily="34" charset="-120"/>
              </a:rPr>
              <a:t>⭐ أحسنتِ!</a:t>
            </a:r>
            <a:endParaRPr lang="ar-SA" sz="1600" dirty="0"/>
          </a:p>
        </p:txBody>
      </p:sp>
    </p:spTree>
  </p:cSld>
  <p:clrMapOvr>
    <a:masterClrMapping/>
  </p:clrMapOvr>
  <mc:AlternateContent xmlns:mc="http://schemas.openxmlformats.org/markup-compatibility/2006">
    <mc:Choice xmlns:p14="http://schemas.microsoft.com/office/powerpoint/2010/main" Requires="p14">
      <p:transition spd="slow" p14:dur="14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2" presetID="53" presetClass="entr" presetSubtype="16" fill="hold" grpId="0" nodeType="withEffect">
                                  <p:stCondLst>
                                    <p:cond delay="400"/>
                                  </p:stCondLst>
                                  <p:childTnLst>
                                    <p:set>
                                      <p:cBhvr>
                                        <p:cTn id="8" dur="1" fill="hold">
                                          <p:stCondLst>
                                            <p:cond delay="0"/>
                                          </p:stCondLst>
                                        </p:cTn>
                                        <p:tgtEl>
                                          <p:spTgt spid="12"/>
                                        </p:tgtEl>
                                        <p:attrNameLst>
                                          <p:attrName>style.visibility</p:attrName>
                                        </p:attrNameLst>
                                      </p:cBhvr>
                                      <p:to>
                                        <p:strVal val="visible"/>
                                      </p:to>
                                    </p:set>
                                    <p:anim calcmode="lin" valueType="num">
                                      <p:cBhvr>
                                        <p:cTn id="9" dur="500" fill="hold"/>
                                        <p:tgtEl>
                                          <p:spTgt spid="12"/>
                                        </p:tgtEl>
                                        <p:attrNameLst>
                                          <p:attrName>ppt_w</p:attrName>
                                        </p:attrNameLst>
                                      </p:cBhvr>
                                      <p:tavLst>
                                        <p:tav tm="0">
                                          <p:val>
                                            <p:fltVal val="0"/>
                                          </p:val>
                                        </p:tav>
                                        <p:tav tm="100000">
                                          <p:val>
                                            <p:strVal val="#ppt_w"/>
                                          </p:val>
                                        </p:tav>
                                      </p:tavLst>
                                    </p:anim>
                                    <p:anim calcmode="lin" valueType="num">
                                      <p:cBhvr>
                                        <p:cTn id="10" dur="500" fill="hold"/>
                                        <p:tgtEl>
                                          <p:spTgt spid="12"/>
                                        </p:tgtEl>
                                        <p:attrNameLst>
                                          <p:attrName>ppt_h</p:attrName>
                                        </p:attrNameLst>
                                      </p:cBhvr>
                                      <p:tavLst>
                                        <p:tav tm="0">
                                          <p:val>
                                            <p:fltVal val="0"/>
                                          </p:val>
                                        </p:tav>
                                        <p:tav tm="100000">
                                          <p:val>
                                            <p:strVal val="#ppt_h"/>
                                          </p:val>
                                        </p:tav>
                                      </p:tavLst>
                                    </p:anim>
                                    <p:animEffect transition="in" filter="fade">
                                      <p:cBhvr>
                                        <p:cTn id="11"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7" presetID="10" presetClass="entr" presetSubtype="0" fill="hold" grpId="0" nodeType="click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par>
                                <p:cTn id="22" presetID="53" presetClass="entr" presetSubtype="16" fill="hold" grpId="0" nodeType="withEffect">
                                  <p:stCondLst>
                                    <p:cond delay="400"/>
                                  </p:stCondLst>
                                  <p:childTnLst>
                                    <p:set>
                                      <p:cBhvr>
                                        <p:cTn id="18" dur="1" fill="hold">
                                          <p:stCondLst>
                                            <p:cond delay="0"/>
                                          </p:stCondLst>
                                        </p:cTn>
                                        <p:tgtEl>
                                          <p:spTgt spid="17"/>
                                        </p:tgtEl>
                                        <p:attrNameLst>
                                          <p:attrName>style.visibility</p:attrName>
                                        </p:attrNameLst>
                                      </p:cBhvr>
                                      <p:to>
                                        <p:strVal val="visible"/>
                                      </p:to>
                                    </p:set>
                                    <p:anim calcmode="lin" valueType="num">
                                      <p:cBhvr>
                                        <p:cTn id="19" dur="500" fill="hold"/>
                                        <p:tgtEl>
                                          <p:spTgt spid="17"/>
                                        </p:tgtEl>
                                        <p:attrNameLst>
                                          <p:attrName>ppt_w</p:attrName>
                                        </p:attrNameLst>
                                      </p:cBhvr>
                                      <p:tavLst>
                                        <p:tav tm="0">
                                          <p:val>
                                            <p:fltVal val="0"/>
                                          </p:val>
                                        </p:tav>
                                        <p:tav tm="100000">
                                          <p:val>
                                            <p:strVal val="#ppt_w"/>
                                          </p:val>
                                        </p:tav>
                                      </p:tavLst>
                                    </p:anim>
                                    <p:anim calcmode="lin" valueType="num">
                                      <p:cBhvr>
                                        <p:cTn id="20" dur="500" fill="hold"/>
                                        <p:tgtEl>
                                          <p:spTgt spid="17"/>
                                        </p:tgtEl>
                                        <p:attrNameLst>
                                          <p:attrName>ppt_h</p:attrName>
                                        </p:attrNameLst>
                                      </p:cBhvr>
                                      <p:tavLst>
                                        <p:tav tm="0">
                                          <p:val>
                                            <p:fltVal val="0"/>
                                          </p:val>
                                        </p:tav>
                                        <p:tav tm="100000">
                                          <p:val>
                                            <p:strVal val="#ppt_h"/>
                                          </p:val>
                                        </p:tav>
                                      </p:tavLst>
                                    </p:anim>
                                    <p:animEffect transition="in" filter="fade">
                                      <p:cBhvr>
                                        <p:cTn id="21"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7" presetID="10" presetClass="entr" presetSubtype="0" fill="hold" grpId="0" nodeType="click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500"/>
                                        <p:tgtEl>
                                          <p:spTgt spid="21"/>
                                        </p:tgtEl>
                                      </p:cBhvr>
                                    </p:animEffect>
                                  </p:childTnLst>
                                </p:cTn>
                              </p:par>
                              <p:par>
                                <p:cTn id="32" presetID="53" presetClass="entr" presetSubtype="16" fill="hold" grpId="0" nodeType="withEffect">
                                  <p:stCondLst>
                                    <p:cond delay="400"/>
                                  </p:stCondLst>
                                  <p:childTnLst>
                                    <p:set>
                                      <p:cBhvr>
                                        <p:cTn id="28" dur="1" fill="hold">
                                          <p:stCondLst>
                                            <p:cond delay="0"/>
                                          </p:stCondLst>
                                        </p:cTn>
                                        <p:tgtEl>
                                          <p:spTgt spid="22"/>
                                        </p:tgtEl>
                                        <p:attrNameLst>
                                          <p:attrName>style.visibility</p:attrName>
                                        </p:attrNameLst>
                                      </p:cBhvr>
                                      <p:to>
                                        <p:strVal val="visible"/>
                                      </p:to>
                                    </p:set>
                                    <p:anim calcmode="lin" valueType="num">
                                      <p:cBhvr>
                                        <p:cTn id="29" dur="500" fill="hold"/>
                                        <p:tgtEl>
                                          <p:spTgt spid="22"/>
                                        </p:tgtEl>
                                        <p:attrNameLst>
                                          <p:attrName>ppt_w</p:attrName>
                                        </p:attrNameLst>
                                      </p:cBhvr>
                                      <p:tavLst>
                                        <p:tav tm="0">
                                          <p:val>
                                            <p:fltVal val="0"/>
                                          </p:val>
                                        </p:tav>
                                        <p:tav tm="100000">
                                          <p:val>
                                            <p:strVal val="#ppt_w"/>
                                          </p:val>
                                        </p:tav>
                                      </p:tavLst>
                                    </p:anim>
                                    <p:anim calcmode="lin" valueType="num">
                                      <p:cBhvr>
                                        <p:cTn id="30" dur="500" fill="hold"/>
                                        <p:tgtEl>
                                          <p:spTgt spid="22"/>
                                        </p:tgtEl>
                                        <p:attrNameLst>
                                          <p:attrName>ppt_h</p:attrName>
                                        </p:attrNameLst>
                                      </p:cBhvr>
                                      <p:tavLst>
                                        <p:tav tm="0">
                                          <p:val>
                                            <p:fltVal val="0"/>
                                          </p:val>
                                        </p:tav>
                                        <p:tav tm="100000">
                                          <p:val>
                                            <p:strVal val="#ppt_h"/>
                                          </p:val>
                                        </p:tav>
                                      </p:tavLst>
                                    </p:anim>
                                    <p:animEffect transition="in" filter="fade">
                                      <p:cBhvr>
                                        <p:cTn id="3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4_sign" descr="قاعة المفردات العلمية">    </p:cNvPr>
          <p:cNvPicPr>
            <a:picLocks noChangeAspect="1"/>
          </p:cNvPicPr>
          <p:nvPr/>
        </p:nvPicPr>
        <p:blipFill>
          <a:blip r:embed="rId2"/>
          <a:stretch>
            <a:fillRect/>
          </a:stretch>
        </p:blipFill>
        <p:spPr>
          <a:xfrm>
            <a:off x="3983646" y="91440"/>
            <a:ext cx="4224403" cy="868680"/>
          </a:xfrm>
          <a:prstGeom prst="rect">
            <a:avLst/>
          </a:prstGeom>
        </p:spPr>
      </p:pic>
      <p:sp>
        <p:nvSpPr>
          <p:cNvPr id="3" name="s4_t_1"/>
          <p:cNvSpPr txBox="1"/>
          <p:nvPr/>
        </p:nvSpPr>
        <p:spPr>
          <a:xfrm>
            <a:off x="10561320" y="274320"/>
            <a:ext cx="1325880" cy="502920"/>
          </a:xfrm>
          <a:prstGeom prst="roundRect">
            <a:avLst>
              <a:gd name="adj" fmla="val 49091"/>
            </a:avLst>
          </a:prstGeom>
          <a:solidFill>
            <a:srgbClr val="1B2A4A"/>
          </a:solidFill>
          <a:ln/>
        </p:spPr>
        <p:txBody>
          <a:bodyPr wrap="square" lIns="762" tIns="762" rIns="762" bIns="762" rtlCol="0" anchor="ctr"/>
          <a:lstStyle/>
          <a:p>
            <a:pPr rtl="1" algn="ctr" indent="0" marL="0">
              <a:lnSpc>
                <a:spcPct val="108000"/>
              </a:lnSpc>
              <a:buNone/>
            </a:pPr>
            <a:r>
              <a:rPr lang="ar-SA" altLang="en-US" sz="1700" b="1" dirty="0">
                <a:solidFill>
                  <a:srgbClr val="FFFFFF"/>
                </a:solidFill>
                <a:latin typeface="Tahoma" pitchFamily="34" charset="0"/>
                <a:ea typeface="Tahoma" pitchFamily="34" charset="-122"/>
                <a:cs typeface="Tahoma" pitchFamily="34" charset="-120"/>
              </a:rPr>
              <a:t>القاعة </a:t>
            </a:r>
            <a:r>
              <a:rPr lang="ar-SA" altLang="en-US" sz="1700" b="1" dirty="0">
                <a:solidFill>
                  <a:srgbClr val="FFFFFF"/>
                </a:solidFill>
                <a:latin typeface="Tahoma" pitchFamily="34" charset="0"/>
                <a:ea typeface="Tahoma" pitchFamily="34" charset="-122"/>
                <a:cs typeface="Tahoma" pitchFamily="34" charset="-120"/>
              </a:rPr>
              <a:t>٢</a:t>
            </a:r>
            <a:endParaRPr lang="ar-SA" sz="1700" dirty="0"/>
          </a:p>
        </p:txBody>
      </p:sp>
      <p:sp>
        <p:nvSpPr>
          <p:cNvPr id="4" name="s4_t_2"/>
          <p:cNvSpPr txBox="1"/>
          <p:nvPr/>
        </p:nvSpPr>
        <p:spPr>
          <a:xfrm>
            <a:off x="365760" y="228600"/>
            <a:ext cx="2788920" cy="603504"/>
          </a:xfrm>
          <a:prstGeom prst="roundRect">
            <a:avLst>
              <a:gd name="adj" fmla="val 39394"/>
            </a:avLst>
          </a:prstGeom>
          <a:solidFill>
            <a:srgbClr val="FFFFFF"/>
          </a:solidFill>
          <a:ln w="25400">
            <a:solidFill>
              <a:srgbClr val="8C5CFF"/>
            </a:solidFill>
            <a:prstDash val="dash"/>
          </a:ln>
        </p:spPr>
        <p:txBody>
          <a:bodyPr wrap="square" lIns="762" tIns="762" rIns="762" bIns="762" rtlCol="0" anchor="ctr"/>
          <a:lstStyle/>
          <a:p>
            <a:pPr rtl="1" algn="ctr" indent="0" marL="0">
              <a:lnSpc>
                <a:spcPct val="108000"/>
              </a:lnSpc>
              <a:buNone/>
            </a:pPr>
            <a:r>
              <a:rPr lang="ar-SA" altLang="en-US" sz="1350" b="1" dirty="0">
                <a:solidFill>
                  <a:srgbClr val="C2366F"/>
                </a:solidFill>
                <a:latin typeface="Tahoma" pitchFamily="34" charset="0"/>
                <a:ea typeface="Tahoma" pitchFamily="34" charset="-122"/>
                <a:cs typeface="Tahoma" pitchFamily="34" charset="-120"/>
              </a:rPr>
              <a:t>الاستراتيجية: </a:t>
            </a:r>
            <a:r>
              <a:rPr lang="ar-SA" altLang="en-US" sz="1350" b="1" dirty="0">
                <a:solidFill>
                  <a:srgbClr val="34405E"/>
                </a:solidFill>
                <a:latin typeface="Tahoma" pitchFamily="34" charset="0"/>
                <a:ea typeface="Tahoma" pitchFamily="34" charset="-122"/>
                <a:cs typeface="Tahoma" pitchFamily="34" charset="-120"/>
              </a:rPr>
              <a:t>المنصات التفاعلية</a:t>
            </a:r>
            <a:endParaRPr lang="ar-SA" sz="1350" dirty="0"/>
          </a:p>
        </p:txBody>
      </p:sp>
      <p:sp>
        <p:nvSpPr>
          <p:cNvPr id="5" name="s4_t_3">
            <a:hlinkClick r:id="rId3" tooltip="الانتقال إلى القاعة التالية" action="ppaction://hlinksldjump"/>
          </p:cNvPr>
          <p:cNvSpPr txBox="1"/>
          <p:nvPr/>
        </p:nvSpPr>
        <p:spPr>
          <a:xfrm>
            <a:off x="2926080" y="6382512"/>
            <a:ext cx="2011680" cy="384048"/>
          </a:xfrm>
          <a:prstGeom prst="roundRect">
            <a:avLst>
              <a:gd name="adj" fmla="val 50000"/>
            </a:avLst>
          </a:prstGeom>
          <a:solidFill>
            <a:srgbClr val="5B6CFF"/>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القاعة التالية ◀</a:t>
            </a:r>
            <a:endParaRPr lang="ar-SA" sz="1600" dirty="0"/>
          </a:p>
        </p:txBody>
      </p:sp>
      <p:sp>
        <p:nvSpPr>
          <p:cNvPr id="6" name="s4_t_4">
            <a:hlinkClick r:id="rId4" tooltip="العودة إلى خريطة المتحف" action="ppaction://hlinksldjump"/>
          </p:cNvPr>
          <p:cNvSpPr txBox="1"/>
          <p:nvPr/>
        </p:nvSpPr>
        <p:spPr>
          <a:xfrm>
            <a:off x="5074920" y="6382512"/>
            <a:ext cx="2011680" cy="384048"/>
          </a:xfrm>
          <a:prstGeom prst="roundRect">
            <a:avLst>
              <a:gd name="adj" fmla="val 50000"/>
            </a:avLst>
          </a:prstGeom>
          <a:solidFill>
            <a:srgbClr val="0FA3B8"/>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خريطة المتحف</a:t>
            </a:r>
            <a:endParaRPr lang="ar-SA" sz="1600" dirty="0"/>
          </a:p>
        </p:txBody>
      </p:sp>
      <p:sp>
        <p:nvSpPr>
          <p:cNvPr id="7" name="s4_t_5">
            <a:hlinkClick r:id="rId5" tooltip="القاعة السابقة" action="ppaction://hlinksldjump"/>
          </p:cNvPr>
          <p:cNvSpPr txBox="1"/>
          <p:nvPr/>
        </p:nvSpPr>
        <p:spPr>
          <a:xfrm>
            <a:off x="7223760" y="6382512"/>
            <a:ext cx="1463040" cy="384048"/>
          </a:xfrm>
          <a:prstGeom prst="roundRect">
            <a:avLst>
              <a:gd name="adj" fmla="val 50000"/>
            </a:avLst>
          </a:prstGeom>
          <a:solidFill>
            <a:srgbClr val="8C9BB5"/>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السابقة</a:t>
            </a:r>
            <a:endParaRPr lang="ar-SA" sz="1600" dirty="0"/>
          </a:p>
        </p:txBody>
      </p:sp>
      <p:pic>
        <p:nvPicPr>
          <p:cNvPr id="8" name="s4_pic_6" descr="منصة عرض زجاجية">    </p:cNvPr>
          <p:cNvPicPr>
            <a:picLocks noChangeAspect="1"/>
          </p:cNvPicPr>
          <p:nvPr/>
        </p:nvPicPr>
        <p:blipFill>
          <a:blip r:embed="rId6"/>
          <a:stretch>
            <a:fillRect/>
          </a:stretch>
        </p:blipFill>
        <p:spPr>
          <a:xfrm>
            <a:off x="9646920" y="3337560"/>
            <a:ext cx="2103120" cy="1577340"/>
          </a:xfrm>
          <a:prstGeom prst="rect">
            <a:avLst/>
          </a:prstGeom>
        </p:spPr>
      </p:pic>
      <p:pic>
        <p:nvPicPr>
          <p:cNvPr id="9" name="!!vm_0" descr="المخلوق الحي الدقيق">    </p:cNvPr>
          <p:cNvPicPr>
            <a:picLocks noChangeAspect="1"/>
          </p:cNvPicPr>
          <p:nvPr/>
        </p:nvPicPr>
        <p:blipFill>
          <a:blip r:embed="rId7"/>
          <a:stretch>
            <a:fillRect/>
          </a:stretch>
        </p:blipFill>
        <p:spPr>
          <a:xfrm>
            <a:off x="9738360" y="2240280"/>
            <a:ext cx="1920240" cy="1463040"/>
          </a:xfrm>
          <a:prstGeom prst="rect">
            <a:avLst/>
          </a:prstGeom>
        </p:spPr>
      </p:pic>
      <p:sp>
        <p:nvSpPr>
          <p:cNvPr id="10" name="s4_t_7">
            <a:hlinkClick r:id="rId8" tooltip="افتحي شرح: المخلوق الحي الدقيق" action="ppaction://hlinksldjump"/>
          </p:cNvPr>
          <p:cNvSpPr txBox="1"/>
          <p:nvPr/>
        </p:nvSpPr>
        <p:spPr>
          <a:xfrm>
            <a:off x="9601200" y="4983480"/>
            <a:ext cx="2194560" cy="566928"/>
          </a:xfrm>
          <a:prstGeom prst="roundRect">
            <a:avLst>
              <a:gd name="adj" fmla="val 50000"/>
            </a:avLst>
          </a:prstGeom>
          <a:solidFill>
            <a:srgbClr val="8C5CFF"/>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المخلوق الحي الدقيق</a:t>
            </a:r>
            <a:endParaRPr lang="ar-SA" sz="1400" dirty="0"/>
          </a:p>
        </p:txBody>
      </p:sp>
      <p:pic>
        <p:nvPicPr>
          <p:cNvPr id="11" name="s4_pic_8" descr="منصة عرض زجاجية">    </p:cNvPr>
          <p:cNvPicPr>
            <a:picLocks noChangeAspect="1"/>
          </p:cNvPicPr>
          <p:nvPr/>
        </p:nvPicPr>
        <p:blipFill>
          <a:blip r:embed="rId9"/>
          <a:stretch>
            <a:fillRect/>
          </a:stretch>
        </p:blipFill>
        <p:spPr>
          <a:xfrm>
            <a:off x="7315200" y="3337560"/>
            <a:ext cx="2103120" cy="1577340"/>
          </a:xfrm>
          <a:prstGeom prst="rect">
            <a:avLst/>
          </a:prstGeom>
        </p:spPr>
      </p:pic>
      <p:pic>
        <p:nvPicPr>
          <p:cNvPr id="12" name="!!vm_1" descr="وحيد الخلية">    </p:cNvPr>
          <p:cNvPicPr>
            <a:picLocks noChangeAspect="1"/>
          </p:cNvPicPr>
          <p:nvPr/>
        </p:nvPicPr>
        <p:blipFill>
          <a:blip r:embed="rId10"/>
          <a:stretch>
            <a:fillRect/>
          </a:stretch>
        </p:blipFill>
        <p:spPr>
          <a:xfrm>
            <a:off x="7406640" y="2240280"/>
            <a:ext cx="1920240" cy="1419308"/>
          </a:xfrm>
          <a:prstGeom prst="rect">
            <a:avLst/>
          </a:prstGeom>
        </p:spPr>
      </p:pic>
      <p:sp>
        <p:nvSpPr>
          <p:cNvPr id="13" name="s4_t_9">
            <a:hlinkClick r:id="rId11" tooltip="افتحي شرح: وحيد الخلية" action="ppaction://hlinksldjump"/>
          </p:cNvPr>
          <p:cNvSpPr txBox="1"/>
          <p:nvPr/>
        </p:nvSpPr>
        <p:spPr>
          <a:xfrm>
            <a:off x="7269480" y="4983480"/>
            <a:ext cx="2194560" cy="566928"/>
          </a:xfrm>
          <a:prstGeom prst="roundRect">
            <a:avLst>
              <a:gd name="adj" fmla="val 50000"/>
            </a:avLst>
          </a:prstGeom>
          <a:solidFill>
            <a:srgbClr val="3D8BFF"/>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وحيد الخلية</a:t>
            </a:r>
            <a:endParaRPr lang="ar-SA" sz="1400" dirty="0"/>
          </a:p>
        </p:txBody>
      </p:sp>
      <p:pic>
        <p:nvPicPr>
          <p:cNvPr id="14" name="s4_pic_10" descr="منصة عرض زجاجية">    </p:cNvPr>
          <p:cNvPicPr>
            <a:picLocks noChangeAspect="1"/>
          </p:cNvPicPr>
          <p:nvPr/>
        </p:nvPicPr>
        <p:blipFill>
          <a:blip r:embed="rId12"/>
          <a:stretch>
            <a:fillRect/>
          </a:stretch>
        </p:blipFill>
        <p:spPr>
          <a:xfrm>
            <a:off x="4983480" y="3337560"/>
            <a:ext cx="2103120" cy="1577340"/>
          </a:xfrm>
          <a:prstGeom prst="rect">
            <a:avLst/>
          </a:prstGeom>
        </p:spPr>
      </p:pic>
      <p:pic>
        <p:nvPicPr>
          <p:cNvPr id="15" name="!!vm_2" descr="الانشطار الثنائي">    </p:cNvPr>
          <p:cNvPicPr>
            <a:picLocks noChangeAspect="1"/>
          </p:cNvPicPr>
          <p:nvPr/>
        </p:nvPicPr>
        <p:blipFill>
          <a:blip r:embed="rId13"/>
          <a:stretch>
            <a:fillRect/>
          </a:stretch>
        </p:blipFill>
        <p:spPr>
          <a:xfrm>
            <a:off x="5074920" y="2240280"/>
            <a:ext cx="1920240" cy="1152144"/>
          </a:xfrm>
          <a:prstGeom prst="rect">
            <a:avLst/>
          </a:prstGeom>
        </p:spPr>
      </p:pic>
      <p:sp>
        <p:nvSpPr>
          <p:cNvPr id="16" name="s4_t_11">
            <a:hlinkClick r:id="rId14" tooltip="افتحي شرح: الانشطار الثنائي" action="ppaction://hlinksldjump"/>
          </p:cNvPr>
          <p:cNvSpPr txBox="1"/>
          <p:nvPr/>
        </p:nvSpPr>
        <p:spPr>
          <a:xfrm>
            <a:off x="4937760" y="4983480"/>
            <a:ext cx="2194560" cy="566928"/>
          </a:xfrm>
          <a:prstGeom prst="roundRect">
            <a:avLst>
              <a:gd name="adj" fmla="val 50000"/>
            </a:avLst>
          </a:prstGeom>
          <a:solidFill>
            <a:srgbClr val="14B88A"/>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الانشطار الثنائي</a:t>
            </a:r>
            <a:endParaRPr lang="ar-SA" sz="1400" dirty="0"/>
          </a:p>
        </p:txBody>
      </p:sp>
      <p:pic>
        <p:nvPicPr>
          <p:cNvPr id="17" name="s4_pic_12" descr="منصة عرض زجاجية">    </p:cNvPr>
          <p:cNvPicPr>
            <a:picLocks noChangeAspect="1"/>
          </p:cNvPicPr>
          <p:nvPr/>
        </p:nvPicPr>
        <p:blipFill>
          <a:blip r:embed="rId15"/>
          <a:stretch>
            <a:fillRect/>
          </a:stretch>
        </p:blipFill>
        <p:spPr>
          <a:xfrm>
            <a:off x="2651760" y="3337560"/>
            <a:ext cx="2103120" cy="1577340"/>
          </a:xfrm>
          <a:prstGeom prst="rect">
            <a:avLst/>
          </a:prstGeom>
        </p:spPr>
      </p:pic>
      <p:pic>
        <p:nvPicPr>
          <p:cNvPr id="18" name="!!vm_3" descr="الاقتران">    </p:cNvPr>
          <p:cNvPicPr>
            <a:picLocks noChangeAspect="1"/>
          </p:cNvPicPr>
          <p:nvPr/>
        </p:nvPicPr>
        <p:blipFill>
          <a:blip r:embed="rId16"/>
          <a:stretch>
            <a:fillRect/>
          </a:stretch>
        </p:blipFill>
        <p:spPr>
          <a:xfrm>
            <a:off x="2743200" y="2240280"/>
            <a:ext cx="1920240" cy="987552"/>
          </a:xfrm>
          <a:prstGeom prst="rect">
            <a:avLst/>
          </a:prstGeom>
        </p:spPr>
      </p:pic>
      <p:sp>
        <p:nvSpPr>
          <p:cNvPr id="19" name="s4_t_13">
            <a:hlinkClick r:id="rId17" tooltip="افتحي شرح: الاقتران" action="ppaction://hlinksldjump"/>
          </p:cNvPr>
          <p:cNvSpPr txBox="1"/>
          <p:nvPr/>
        </p:nvSpPr>
        <p:spPr>
          <a:xfrm>
            <a:off x="2606040" y="4983480"/>
            <a:ext cx="2194560" cy="566928"/>
          </a:xfrm>
          <a:prstGeom prst="roundRect">
            <a:avLst>
              <a:gd name="adj" fmla="val 50000"/>
            </a:avLst>
          </a:prstGeom>
          <a:solidFill>
            <a:srgbClr val="E2558F"/>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الاقتران</a:t>
            </a:r>
            <a:endParaRPr lang="ar-SA" sz="1400" dirty="0"/>
          </a:p>
        </p:txBody>
      </p:sp>
      <p:pic>
        <p:nvPicPr>
          <p:cNvPr id="20" name="s4_pic_14" descr="منصة عرض زجاجية">    </p:cNvPr>
          <p:cNvPicPr>
            <a:picLocks noChangeAspect="1"/>
          </p:cNvPicPr>
          <p:nvPr/>
        </p:nvPicPr>
        <p:blipFill>
          <a:blip r:embed="rId18"/>
          <a:stretch>
            <a:fillRect/>
          </a:stretch>
        </p:blipFill>
        <p:spPr>
          <a:xfrm>
            <a:off x="320040" y="3337560"/>
            <a:ext cx="2103120" cy="1577340"/>
          </a:xfrm>
          <a:prstGeom prst="rect">
            <a:avLst/>
          </a:prstGeom>
        </p:spPr>
      </p:pic>
      <p:pic>
        <p:nvPicPr>
          <p:cNvPr id="21" name="!!vm_4" descr="التبرعم">    </p:cNvPr>
          <p:cNvPicPr>
            <a:picLocks noChangeAspect="1"/>
          </p:cNvPicPr>
          <p:nvPr/>
        </p:nvPicPr>
        <p:blipFill>
          <a:blip r:embed="rId19"/>
          <a:stretch>
            <a:fillRect/>
          </a:stretch>
        </p:blipFill>
        <p:spPr>
          <a:xfrm>
            <a:off x="411480" y="2240280"/>
            <a:ext cx="1920240" cy="1645920"/>
          </a:xfrm>
          <a:prstGeom prst="rect">
            <a:avLst/>
          </a:prstGeom>
        </p:spPr>
      </p:pic>
      <p:sp>
        <p:nvSpPr>
          <p:cNvPr id="22" name="s4_t_15">
            <a:hlinkClick r:id="rId20" tooltip="افتحي شرح: التبرعم" action="ppaction://hlinksldjump"/>
          </p:cNvPr>
          <p:cNvSpPr txBox="1"/>
          <p:nvPr/>
        </p:nvSpPr>
        <p:spPr>
          <a:xfrm>
            <a:off x="274320" y="4983480"/>
            <a:ext cx="2194560" cy="566928"/>
          </a:xfrm>
          <a:prstGeom prst="roundRect">
            <a:avLst>
              <a:gd name="adj" fmla="val 50000"/>
            </a:avLst>
          </a:prstGeom>
          <a:solidFill>
            <a:srgbClr val="E3A21A"/>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400" b="1" dirty="0">
                <a:solidFill>
                  <a:srgbClr val="FFFFFF"/>
                </a:solidFill>
                <a:latin typeface="Tahoma" pitchFamily="34" charset="0"/>
                <a:ea typeface="Tahoma" pitchFamily="34" charset="-122"/>
                <a:cs typeface="Tahoma" pitchFamily="34" charset="-120"/>
              </a:rPr>
              <a:t>التبرعم</a:t>
            </a:r>
            <a:endParaRPr lang="ar-SA" sz="1400" dirty="0"/>
          </a:p>
        </p:txBody>
      </p:sp>
      <p:sp>
        <p:nvSpPr>
          <p:cNvPr id="23" name="s4_t_16"/>
          <p:cNvSpPr txBox="1"/>
          <p:nvPr/>
        </p:nvSpPr>
        <p:spPr>
          <a:xfrm>
            <a:off x="2651760" y="1188720"/>
            <a:ext cx="6885432" cy="457200"/>
          </a:xfrm>
          <a:prstGeom prst="rect">
            <a:avLst/>
          </a:prstGeom>
          <a:noFill/>
          <a:ln/>
        </p:spPr>
        <p:txBody>
          <a:bodyPr wrap="square" lIns="762" tIns="762" rIns="762" bIns="762" rtlCol="0" anchor="ctr"/>
          <a:lstStyle/>
          <a:p>
            <a:pPr rtl="1" algn="ctr" indent="0" marL="0">
              <a:lnSpc>
                <a:spcPct val="108000"/>
              </a:lnSpc>
              <a:buNone/>
            </a:pPr>
            <a:r>
              <a:rPr lang="ar-SA" altLang="en-US" sz="1800" b="1" dirty="0">
                <a:solidFill>
                  <a:srgbClr val="6B4FC0"/>
                </a:solidFill>
                <a:latin typeface="Tahoma" pitchFamily="34" charset="0"/>
                <a:ea typeface="Tahoma" pitchFamily="34" charset="-122"/>
                <a:cs typeface="Tahoma" pitchFamily="34" charset="-120"/>
              </a:rPr>
              <a:t>👆 اضغطي على اسم المفردة تحت كل منصة لتفتحي شرحها</a:t>
            </a:r>
            <a:endParaRPr lang="ar-SA" sz="1800" dirty="0"/>
          </a:p>
        </p:txBody>
      </p:sp>
    </p:spTree>
  </p:cSld>
  <p:clrMapOvr>
    <a:masterClrMapping/>
  </p:clrMapOvr>
  <mc:AlternateContent xmlns:mc="http://schemas.openxmlformats.org/markup-compatibility/2006">
    <mc:Choice xmlns:p14="http://schemas.microsoft.com/office/powerpoint/2010/main" Requires="p14">
      <p:transition spd="slow" p14:dur="1400">
        <p14:flythrough/>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5_sign" descr="منصة: المخلوق الحي الدقيق">    </p:cNvPr>
          <p:cNvPicPr>
            <a:picLocks noChangeAspect="1"/>
          </p:cNvPicPr>
          <p:nvPr/>
        </p:nvPicPr>
        <p:blipFill>
          <a:blip r:embed="rId2"/>
          <a:stretch>
            <a:fillRect/>
          </a:stretch>
        </p:blipFill>
        <p:spPr>
          <a:xfrm>
            <a:off x="3531457" y="91440"/>
            <a:ext cx="5128782" cy="868680"/>
          </a:xfrm>
          <a:prstGeom prst="rect">
            <a:avLst/>
          </a:prstGeom>
        </p:spPr>
      </p:pic>
      <p:sp>
        <p:nvSpPr>
          <p:cNvPr id="3" name="s5_t_1">
            <a:hlinkClick r:id="rId3" tooltip="العودة إلى قاعة المفردات" action="ppaction://hlinksldjump"/>
          </p:cNvPr>
          <p:cNvSpPr txBox="1"/>
          <p:nvPr/>
        </p:nvSpPr>
        <p:spPr>
          <a:xfrm>
            <a:off x="2926080" y="6382512"/>
            <a:ext cx="2743200" cy="384048"/>
          </a:xfrm>
          <a:prstGeom prst="roundRect">
            <a:avLst>
              <a:gd name="adj" fmla="val 50000"/>
            </a:avLst>
          </a:prstGeom>
          <a:solidFill>
            <a:srgbClr val="8C5CFF"/>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قاعة المفردات</a:t>
            </a:r>
            <a:endParaRPr lang="ar-SA" sz="1600" dirty="0"/>
          </a:p>
        </p:txBody>
      </p:sp>
      <p:sp>
        <p:nvSpPr>
          <p:cNvPr id="4" name="s5_t_2">
            <a:hlinkClick r:id="rId4" tooltip="🗺 خريطة المتحف" action="ppaction://hlinksldjump"/>
          </p:cNvPr>
          <p:cNvSpPr txBox="1"/>
          <p:nvPr/>
        </p:nvSpPr>
        <p:spPr>
          <a:xfrm>
            <a:off x="5806440" y="6382512"/>
            <a:ext cx="2011680" cy="384048"/>
          </a:xfrm>
          <a:prstGeom prst="roundRect">
            <a:avLst>
              <a:gd name="adj" fmla="val 50000"/>
            </a:avLst>
          </a:prstGeom>
          <a:solidFill>
            <a:srgbClr val="0FA3B8"/>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خريطة المتحف</a:t>
            </a:r>
            <a:endParaRPr lang="ar-SA" sz="1600" dirty="0"/>
          </a:p>
        </p:txBody>
      </p:sp>
      <p:sp>
        <p:nvSpPr>
          <p:cNvPr id="5" name="s5_t_3">
            <a:hlinkClick r:id="rId5" tooltip="المفردة التالية ◀" action="ppaction://hlinksldjump"/>
          </p:cNvPr>
          <p:cNvSpPr txBox="1"/>
          <p:nvPr/>
        </p:nvSpPr>
        <p:spPr>
          <a:xfrm>
            <a:off x="7955280" y="6382512"/>
            <a:ext cx="2011680" cy="384048"/>
          </a:xfrm>
          <a:prstGeom prst="roundRect">
            <a:avLst>
              <a:gd name="adj" fmla="val 50000"/>
            </a:avLst>
          </a:prstGeom>
          <a:solidFill>
            <a:srgbClr val="8C9BB5"/>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المفردة التالية ◀</a:t>
            </a:r>
            <a:endParaRPr lang="ar-SA" sz="1600" dirty="0"/>
          </a:p>
        </p:txBody>
      </p:sp>
      <p:pic>
        <p:nvPicPr>
          <p:cNvPr id="6" name="s5_pic_4" descr="منصة عرض زجاجية">    </p:cNvPr>
          <p:cNvPicPr>
            <a:picLocks noChangeAspect="1"/>
          </p:cNvPicPr>
          <p:nvPr/>
        </p:nvPicPr>
        <p:blipFill>
          <a:blip r:embed="rId6"/>
          <a:stretch>
            <a:fillRect/>
          </a:stretch>
        </p:blipFill>
        <p:spPr>
          <a:xfrm>
            <a:off x="548640" y="3749040"/>
            <a:ext cx="3566160" cy="2674620"/>
          </a:xfrm>
          <a:prstGeom prst="rect">
            <a:avLst/>
          </a:prstGeom>
        </p:spPr>
      </p:pic>
      <p:pic>
        <p:nvPicPr>
          <p:cNvPr id="7" name="!!vm_0" descr="المخلوق الحي الدقيق">    </p:cNvPr>
          <p:cNvPicPr>
            <a:picLocks noChangeAspect="1"/>
          </p:cNvPicPr>
          <p:nvPr/>
        </p:nvPicPr>
        <p:blipFill>
          <a:blip r:embed="rId7"/>
          <a:stretch>
            <a:fillRect/>
          </a:stretch>
        </p:blipFill>
        <p:spPr>
          <a:xfrm>
            <a:off x="685800" y="1417320"/>
            <a:ext cx="3291840" cy="2508069"/>
          </a:xfrm>
          <a:prstGeom prst="rect">
            <a:avLst/>
          </a:prstGeom>
        </p:spPr>
      </p:pic>
      <p:pic>
        <p:nvPicPr>
          <p:cNvPr id="8" name="s5_pic_5" descr="/tmp/claude-0/-home-user-Scienceshamah/8386cda7-7741-5ea4-8952-60ee8e67fc31/scratchpad/w4/img/scr_864x440_8C5CFF_FFFFFF.png">    </p:cNvPr>
          <p:cNvPicPr>
            <a:picLocks noChangeAspect="1"/>
          </p:cNvPicPr>
          <p:nvPr/>
        </p:nvPicPr>
        <p:blipFill>
          <a:blip r:embed="rId8"/>
          <a:stretch>
            <a:fillRect/>
          </a:stretch>
        </p:blipFill>
        <p:spPr>
          <a:xfrm>
            <a:off x="4462272" y="1124712"/>
            <a:ext cx="7397496" cy="3877056"/>
          </a:xfrm>
          <a:prstGeom prst="rect">
            <a:avLst/>
          </a:prstGeom>
        </p:spPr>
      </p:pic>
      <p:sp>
        <p:nvSpPr>
          <p:cNvPr id="9" name="s5_t_6"/>
          <p:cNvSpPr txBox="1"/>
          <p:nvPr/>
        </p:nvSpPr>
        <p:spPr>
          <a:xfrm>
            <a:off x="4754880" y="1325880"/>
            <a:ext cx="6812280" cy="594360"/>
          </a:xfrm>
          <a:prstGeom prst="rect">
            <a:avLst/>
          </a:prstGeom>
          <a:noFill/>
          <a:ln/>
        </p:spPr>
        <p:txBody>
          <a:bodyPr wrap="square" lIns="762" tIns="762" rIns="762" bIns="762" rtlCol="0" anchor="ctr"/>
          <a:lstStyle/>
          <a:p>
            <a:pPr rtl="1" algn="ctr" indent="0" marL="0">
              <a:lnSpc>
                <a:spcPct val="108000"/>
              </a:lnSpc>
              <a:buNone/>
            </a:pPr>
            <a:r>
              <a:rPr lang="ar-SA" altLang="en-US" sz="2800" b="1" dirty="0">
                <a:solidFill>
                  <a:srgbClr val="8C5CFF"/>
                </a:solidFill>
                <a:latin typeface="Tahoma" pitchFamily="34" charset="0"/>
                <a:ea typeface="Tahoma" pitchFamily="34" charset="-122"/>
                <a:cs typeface="Tahoma" pitchFamily="34" charset="-120"/>
              </a:rPr>
              <a:t>المخلوق الحي الدقيق</a:t>
            </a:r>
            <a:endParaRPr lang="ar-SA" sz="2800" dirty="0"/>
          </a:p>
        </p:txBody>
      </p:sp>
      <p:sp>
        <p:nvSpPr>
          <p:cNvPr id="10" name="s5_t_7"/>
          <p:cNvSpPr txBox="1"/>
          <p:nvPr/>
        </p:nvSpPr>
        <p:spPr>
          <a:xfrm>
            <a:off x="4754880" y="1965960"/>
            <a:ext cx="6812280" cy="1600200"/>
          </a:xfrm>
          <a:prstGeom prst="rect">
            <a:avLst/>
          </a:prstGeom>
          <a:noFill/>
          <a:ln/>
        </p:spPr>
        <p:txBody>
          <a:bodyPr wrap="square" lIns="762" tIns="762" rIns="762" bIns="762" rtlCol="0" anchor="t"/>
          <a:lstStyle/>
          <a:p>
            <a:pPr rtl="1" algn="r" indent="0" marL="0">
              <a:lnSpc>
                <a:spcPct val="115000"/>
              </a:lnSpc>
              <a:buNone/>
            </a:pPr>
            <a:r>
              <a:rPr lang="ar-SA" altLang="en-US" sz="1900" b="1" dirty="0">
                <a:solidFill>
                  <a:srgbClr val="C2366F"/>
                </a:solidFill>
                <a:latin typeface="Tahoma" pitchFamily="34" charset="0"/>
                <a:ea typeface="Tahoma" pitchFamily="34" charset="-122"/>
                <a:cs typeface="Tahoma" pitchFamily="34" charset="-120"/>
              </a:rPr>
              <a:t>التعريف: </a:t>
            </a:r>
            <a:r>
              <a:rPr lang="ar-SA" altLang="en-US" sz="1900" b="1" dirty="0">
                <a:solidFill>
                  <a:srgbClr val="1B2A4A"/>
                </a:solidFill>
                <a:latin typeface="Tahoma" pitchFamily="34" charset="0"/>
                <a:ea typeface="Tahoma" pitchFamily="34" charset="-122"/>
                <a:cs typeface="Tahoma" pitchFamily="34" charset="-120"/>
              </a:rPr>
              <a:t>مخلوق حيّ مجهري لا يُرى بالعين المجردة، ويُستخدم مصطلح «الميكروبات» لوصفه.</a:t>
            </a:r>
            <a:endParaRPr lang="ar-SA" sz="1900" dirty="0"/>
          </a:p>
        </p:txBody>
      </p:sp>
      <p:sp>
        <p:nvSpPr>
          <p:cNvPr id="11" name="s5_t_8"/>
          <p:cNvSpPr txBox="1"/>
          <p:nvPr/>
        </p:nvSpPr>
        <p:spPr>
          <a:xfrm>
            <a:off x="4754880" y="3611880"/>
            <a:ext cx="6812280" cy="1143000"/>
          </a:xfrm>
          <a:prstGeom prst="rect">
            <a:avLst/>
          </a:prstGeom>
          <a:noFill/>
          <a:ln/>
        </p:spPr>
        <p:txBody>
          <a:bodyPr wrap="square" lIns="762" tIns="762" rIns="762" bIns="762" rtlCol="0" anchor="t"/>
          <a:lstStyle/>
          <a:p>
            <a:pPr rtl="1" algn="r" indent="0" marL="0">
              <a:lnSpc>
                <a:spcPct val="108000"/>
              </a:lnSpc>
              <a:buNone/>
            </a:pPr>
            <a:r>
              <a:rPr lang="ar-SA" altLang="en-US" sz="1800" b="1" dirty="0">
                <a:solidFill>
                  <a:srgbClr val="3D8BFF"/>
                </a:solidFill>
                <a:latin typeface="Tahoma" pitchFamily="34" charset="0"/>
                <a:ea typeface="Tahoma" pitchFamily="34" charset="-122"/>
                <a:cs typeface="Tahoma" pitchFamily="34" charset="-120"/>
              </a:rPr>
              <a:t>📖 مثال من الكتاب: </a:t>
            </a:r>
            <a:r>
              <a:rPr lang="ar-SA" altLang="en-US" sz="1800" b="1" dirty="0">
                <a:solidFill>
                  <a:srgbClr val="1B2A4A"/>
                </a:solidFill>
                <a:latin typeface="Tahoma" pitchFamily="34" charset="0"/>
                <a:ea typeface="Tahoma" pitchFamily="34" charset="-122"/>
                <a:cs typeface="Tahoma" pitchFamily="34" charset="-120"/>
              </a:rPr>
              <a:t>الفطريات المجهرية (العفن والخميرة)، والطلائعيات، والبكتيريا.</a:t>
            </a:r>
            <a:endParaRPr lang="ar-SA" sz="1800" dirty="0"/>
          </a:p>
        </p:txBody>
      </p:sp>
      <p:pic>
        <p:nvPicPr>
          <p:cNvPr id="12" name="s5_pic_9" descr="/tmp/claude-0/-home-user-Scienceshamah/8386cda7-7741-5ea4-8952-60ee8e67fc31/scratchpad/w4/img/scr_864x132_FFB800_FFF9E6.png">    </p:cNvPr>
          <p:cNvPicPr>
            <a:picLocks noChangeAspect="1"/>
          </p:cNvPicPr>
          <p:nvPr/>
        </p:nvPicPr>
        <p:blipFill>
          <a:blip r:embed="rId9"/>
          <a:stretch>
            <a:fillRect/>
          </a:stretch>
        </p:blipFill>
        <p:spPr>
          <a:xfrm>
            <a:off x="4462272" y="4965192"/>
            <a:ext cx="7397496" cy="1316736"/>
          </a:xfrm>
          <a:prstGeom prst="rect">
            <a:avLst/>
          </a:prstGeom>
        </p:spPr>
      </p:pic>
      <p:sp>
        <p:nvSpPr>
          <p:cNvPr id="13" name="s5_t_10"/>
          <p:cNvSpPr txBox="1"/>
          <p:nvPr/>
        </p:nvSpPr>
        <p:spPr>
          <a:xfrm>
            <a:off x="6949440" y="5120640"/>
            <a:ext cx="4663440" cy="1005840"/>
          </a:xfrm>
          <a:prstGeom prst="rect">
            <a:avLst/>
          </a:prstGeom>
          <a:noFill/>
          <a:ln/>
        </p:spPr>
        <p:txBody>
          <a:bodyPr wrap="square" lIns="762" tIns="762" rIns="762" bIns="762" rtlCol="0" anchor="ctr"/>
          <a:lstStyle/>
          <a:p>
            <a:pPr rtl="1" algn="r" indent="0" marL="0">
              <a:lnSpc>
                <a:spcPct val="108000"/>
              </a:lnSpc>
              <a:buNone/>
            </a:pPr>
            <a:r>
              <a:rPr lang="ar-SA" altLang="en-US" sz="1700" b="1" dirty="0">
                <a:solidFill>
                  <a:srgbClr val="B07800"/>
                </a:solidFill>
                <a:latin typeface="Tahoma" pitchFamily="34" charset="0"/>
                <a:ea typeface="Tahoma" pitchFamily="34" charset="-122"/>
                <a:cs typeface="Tahoma" pitchFamily="34" charset="-120"/>
              </a:rPr>
              <a:t>❓ سؤال: </a:t>
            </a:r>
            <a:r>
              <a:rPr lang="ar-SA" altLang="en-US" sz="1700" b="1" dirty="0">
                <a:solidFill>
                  <a:srgbClr val="1B2A4A"/>
                </a:solidFill>
                <a:latin typeface="Tahoma" pitchFamily="34" charset="0"/>
                <a:ea typeface="Tahoma" pitchFamily="34" charset="-122"/>
                <a:cs typeface="Tahoma" pitchFamily="34" charset="-120"/>
              </a:rPr>
              <a:t>هل يمكن رؤية المخلوق الحي الدقيق بالعين المجردة؟</a:t>
            </a:r>
            <a:endParaRPr lang="ar-SA" sz="1700" dirty="0"/>
          </a:p>
        </p:txBody>
      </p:sp>
      <p:sp>
        <p:nvSpPr>
          <p:cNvPr id="14" name="s5_t_11"/>
          <p:cNvSpPr txBox="1"/>
          <p:nvPr/>
        </p:nvSpPr>
        <p:spPr>
          <a:xfrm>
            <a:off x="4709160" y="5120640"/>
            <a:ext cx="2194560" cy="1005840"/>
          </a:xfrm>
          <a:prstGeom prst="rect">
            <a:avLst/>
          </a:prstGeom>
          <a:noFill/>
          <a:ln/>
        </p:spPr>
        <p:txBody>
          <a:bodyPr wrap="square" lIns="762" tIns="762" rIns="762" bIns="762" rtlCol="0" anchor="ctr"/>
          <a:lstStyle/>
          <a:p>
            <a:pPr rtl="1" algn="ctr" indent="0" marL="0">
              <a:lnSpc>
                <a:spcPct val="108000"/>
              </a:lnSpc>
              <a:buNone/>
            </a:pPr>
            <a:r>
              <a:rPr lang="ar-SA" altLang="en-US" sz="1600" b="1" dirty="0">
                <a:solidFill>
                  <a:srgbClr val="0E7C55"/>
                </a:solidFill>
                <a:latin typeface="Tahoma" pitchFamily="34" charset="0"/>
                <a:ea typeface="Tahoma" pitchFamily="34" charset="-122"/>
                <a:cs typeface="Tahoma" pitchFamily="34" charset="-120"/>
              </a:rPr>
              <a:t>✔ لا، نحتاج إلى المجهر لرؤيته.</a:t>
            </a:r>
            <a:endParaRPr lang="ar-SA" sz="16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14"/>
                                        </p:tgtEl>
                                        <p:attrNameLst>
                                          <p:attrName>style.visibility</p:attrName>
                                        </p:attrNameLst>
                                      </p:cBhvr>
                                      <p:to>
                                        <p:strVal val="visible"/>
                                      </p:to>
                                    </p:set>
                                    <p:anim calcmode="lin" valueType="num">
                                      <p:cBhvr>
                                        <p:cTn id="6" dur="500" fill="hold"/>
                                        <p:tgtEl>
                                          <p:spTgt spid="14"/>
                                        </p:tgtEl>
                                        <p:attrNameLst>
                                          <p:attrName>ppt_w</p:attrName>
                                        </p:attrNameLst>
                                      </p:cBhvr>
                                      <p:tavLst>
                                        <p:tav tm="0">
                                          <p:val>
                                            <p:fltVal val="0"/>
                                          </p:val>
                                        </p:tav>
                                        <p:tav tm="100000">
                                          <p:val>
                                            <p:strVal val="#ppt_w"/>
                                          </p:val>
                                        </p:tav>
                                      </p:tavLst>
                                    </p:anim>
                                    <p:anim calcmode="lin" valueType="num">
                                      <p:cBhvr>
                                        <p:cTn id="7" dur="500" fill="hold"/>
                                        <p:tgtEl>
                                          <p:spTgt spid="14"/>
                                        </p:tgtEl>
                                        <p:attrNameLst>
                                          <p:attrName>ppt_h</p:attrName>
                                        </p:attrNameLst>
                                      </p:cBhvr>
                                      <p:tavLst>
                                        <p:tav tm="0">
                                          <p:val>
                                            <p:fltVal val="0"/>
                                          </p:val>
                                        </p:tav>
                                        <p:tav tm="100000">
                                          <p:val>
                                            <p:strVal val="#ppt_h"/>
                                          </p:val>
                                        </p:tav>
                                      </p:tavLst>
                                    </p:anim>
                                    <p:animEffect transition="in" filter="fade">
                                      <p:cBhvr>
                                        <p:cTn id="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6_sign" descr="منصة: وحيد الخلية">    </p:cNvPr>
          <p:cNvPicPr>
            <a:picLocks noChangeAspect="1"/>
          </p:cNvPicPr>
          <p:nvPr/>
        </p:nvPicPr>
        <p:blipFill>
          <a:blip r:embed="rId2"/>
          <a:stretch>
            <a:fillRect/>
          </a:stretch>
        </p:blipFill>
        <p:spPr>
          <a:xfrm>
            <a:off x="4320805" y="91440"/>
            <a:ext cx="3550085" cy="868680"/>
          </a:xfrm>
          <a:prstGeom prst="rect">
            <a:avLst/>
          </a:prstGeom>
        </p:spPr>
      </p:pic>
      <p:sp>
        <p:nvSpPr>
          <p:cNvPr id="3" name="s6_t_1">
            <a:hlinkClick r:id="rId3" tooltip="العودة إلى قاعة المفردات" action="ppaction://hlinksldjump"/>
          </p:cNvPr>
          <p:cNvSpPr txBox="1"/>
          <p:nvPr/>
        </p:nvSpPr>
        <p:spPr>
          <a:xfrm>
            <a:off x="2926080" y="6382512"/>
            <a:ext cx="2743200" cy="384048"/>
          </a:xfrm>
          <a:prstGeom prst="roundRect">
            <a:avLst>
              <a:gd name="adj" fmla="val 50000"/>
            </a:avLst>
          </a:prstGeom>
          <a:solidFill>
            <a:srgbClr val="3D8BFF"/>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قاعة المفردات</a:t>
            </a:r>
            <a:endParaRPr lang="ar-SA" sz="1600" dirty="0"/>
          </a:p>
        </p:txBody>
      </p:sp>
      <p:sp>
        <p:nvSpPr>
          <p:cNvPr id="4" name="s6_t_2">
            <a:hlinkClick r:id="rId4" tooltip="🗺 خريطة المتحف" action="ppaction://hlinksldjump"/>
          </p:cNvPr>
          <p:cNvSpPr txBox="1"/>
          <p:nvPr/>
        </p:nvSpPr>
        <p:spPr>
          <a:xfrm>
            <a:off x="5806440" y="6382512"/>
            <a:ext cx="2011680" cy="384048"/>
          </a:xfrm>
          <a:prstGeom prst="roundRect">
            <a:avLst>
              <a:gd name="adj" fmla="val 50000"/>
            </a:avLst>
          </a:prstGeom>
          <a:solidFill>
            <a:srgbClr val="0FA3B8"/>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خريطة المتحف</a:t>
            </a:r>
            <a:endParaRPr lang="ar-SA" sz="1600" dirty="0"/>
          </a:p>
        </p:txBody>
      </p:sp>
      <p:sp>
        <p:nvSpPr>
          <p:cNvPr id="5" name="s6_t_3">
            <a:hlinkClick r:id="rId5" tooltip="المفردة التالية ◀" action="ppaction://hlinksldjump"/>
          </p:cNvPr>
          <p:cNvSpPr txBox="1"/>
          <p:nvPr/>
        </p:nvSpPr>
        <p:spPr>
          <a:xfrm>
            <a:off x="7955280" y="6382512"/>
            <a:ext cx="2011680" cy="384048"/>
          </a:xfrm>
          <a:prstGeom prst="roundRect">
            <a:avLst>
              <a:gd name="adj" fmla="val 50000"/>
            </a:avLst>
          </a:prstGeom>
          <a:solidFill>
            <a:srgbClr val="8C9BB5"/>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المفردة التالية ◀</a:t>
            </a:r>
            <a:endParaRPr lang="ar-SA" sz="1600" dirty="0"/>
          </a:p>
        </p:txBody>
      </p:sp>
      <p:pic>
        <p:nvPicPr>
          <p:cNvPr id="6" name="s6_pic_4" descr="منصة عرض زجاجية">    </p:cNvPr>
          <p:cNvPicPr>
            <a:picLocks noChangeAspect="1"/>
          </p:cNvPicPr>
          <p:nvPr/>
        </p:nvPicPr>
        <p:blipFill>
          <a:blip r:embed="rId6"/>
          <a:stretch>
            <a:fillRect/>
          </a:stretch>
        </p:blipFill>
        <p:spPr>
          <a:xfrm>
            <a:off x="548640" y="3749040"/>
            <a:ext cx="3566160" cy="2674620"/>
          </a:xfrm>
          <a:prstGeom prst="rect">
            <a:avLst/>
          </a:prstGeom>
        </p:spPr>
      </p:pic>
      <p:pic>
        <p:nvPicPr>
          <p:cNvPr id="7" name="!!vm_1" descr="وحيد الخلية">    </p:cNvPr>
          <p:cNvPicPr>
            <a:picLocks noChangeAspect="1"/>
          </p:cNvPicPr>
          <p:nvPr/>
        </p:nvPicPr>
        <p:blipFill>
          <a:blip r:embed="rId7"/>
          <a:stretch>
            <a:fillRect/>
          </a:stretch>
        </p:blipFill>
        <p:spPr>
          <a:xfrm>
            <a:off x="685800" y="1417320"/>
            <a:ext cx="3291840" cy="2433099"/>
          </a:xfrm>
          <a:prstGeom prst="rect">
            <a:avLst/>
          </a:prstGeom>
        </p:spPr>
      </p:pic>
      <p:pic>
        <p:nvPicPr>
          <p:cNvPr id="8" name="s6_pic_5" descr="/tmp/claude-0/-home-user-Scienceshamah/8386cda7-7741-5ea4-8952-60ee8e67fc31/scratchpad/w4/img/scr_864x440_3D8BFF_FFFFFF.png">    </p:cNvPr>
          <p:cNvPicPr>
            <a:picLocks noChangeAspect="1"/>
          </p:cNvPicPr>
          <p:nvPr/>
        </p:nvPicPr>
        <p:blipFill>
          <a:blip r:embed="rId8"/>
          <a:stretch>
            <a:fillRect/>
          </a:stretch>
        </p:blipFill>
        <p:spPr>
          <a:xfrm>
            <a:off x="4462272" y="1124712"/>
            <a:ext cx="7397496" cy="3877056"/>
          </a:xfrm>
          <a:prstGeom prst="rect">
            <a:avLst/>
          </a:prstGeom>
        </p:spPr>
      </p:pic>
      <p:sp>
        <p:nvSpPr>
          <p:cNvPr id="9" name="s6_t_6"/>
          <p:cNvSpPr txBox="1"/>
          <p:nvPr/>
        </p:nvSpPr>
        <p:spPr>
          <a:xfrm>
            <a:off x="4754880" y="1325880"/>
            <a:ext cx="6812280" cy="594360"/>
          </a:xfrm>
          <a:prstGeom prst="rect">
            <a:avLst/>
          </a:prstGeom>
          <a:noFill/>
          <a:ln/>
        </p:spPr>
        <p:txBody>
          <a:bodyPr wrap="square" lIns="762" tIns="762" rIns="762" bIns="762" rtlCol="0" anchor="ctr"/>
          <a:lstStyle/>
          <a:p>
            <a:pPr rtl="1" algn="ctr" indent="0" marL="0">
              <a:lnSpc>
                <a:spcPct val="108000"/>
              </a:lnSpc>
              <a:buNone/>
            </a:pPr>
            <a:r>
              <a:rPr lang="ar-SA" altLang="en-US" sz="2800" b="1" dirty="0">
                <a:solidFill>
                  <a:srgbClr val="3D8BFF"/>
                </a:solidFill>
                <a:latin typeface="Tahoma" pitchFamily="34" charset="0"/>
                <a:ea typeface="Tahoma" pitchFamily="34" charset="-122"/>
                <a:cs typeface="Tahoma" pitchFamily="34" charset="-120"/>
              </a:rPr>
              <a:t>وحيد الخلية</a:t>
            </a:r>
            <a:endParaRPr lang="ar-SA" sz="2800" dirty="0"/>
          </a:p>
        </p:txBody>
      </p:sp>
      <p:sp>
        <p:nvSpPr>
          <p:cNvPr id="10" name="s6_t_7"/>
          <p:cNvSpPr txBox="1"/>
          <p:nvPr/>
        </p:nvSpPr>
        <p:spPr>
          <a:xfrm>
            <a:off x="4754880" y="1965960"/>
            <a:ext cx="6812280" cy="1600200"/>
          </a:xfrm>
          <a:prstGeom prst="rect">
            <a:avLst/>
          </a:prstGeom>
          <a:noFill/>
          <a:ln/>
        </p:spPr>
        <p:txBody>
          <a:bodyPr wrap="square" lIns="762" tIns="762" rIns="762" bIns="762" rtlCol="0" anchor="t"/>
          <a:lstStyle/>
          <a:p>
            <a:pPr rtl="1" algn="r" indent="0" marL="0">
              <a:lnSpc>
                <a:spcPct val="115000"/>
              </a:lnSpc>
              <a:buNone/>
            </a:pPr>
            <a:r>
              <a:rPr lang="ar-SA" altLang="en-US" sz="1900" b="1" dirty="0">
                <a:solidFill>
                  <a:srgbClr val="C2366F"/>
                </a:solidFill>
                <a:latin typeface="Tahoma" pitchFamily="34" charset="0"/>
                <a:ea typeface="Tahoma" pitchFamily="34" charset="-122"/>
                <a:cs typeface="Tahoma" pitchFamily="34" charset="-120"/>
              </a:rPr>
              <a:t>التعريف: </a:t>
            </a:r>
            <a:r>
              <a:rPr lang="ar-SA" altLang="en-US" sz="1900" b="1" dirty="0">
                <a:solidFill>
                  <a:srgbClr val="1B2A4A"/>
                </a:solidFill>
                <a:latin typeface="Tahoma" pitchFamily="34" charset="0"/>
                <a:ea typeface="Tahoma" pitchFamily="34" charset="-122"/>
                <a:cs typeface="Tahoma" pitchFamily="34" charset="-120"/>
              </a:rPr>
              <a:t>مخلوق يتكوّن جسمه من خلية واحدة، وهناك مخلوقات دقيقة متعددة الخلايا تتكوّن أجسامها من أكثر من خلية.</a:t>
            </a:r>
            <a:endParaRPr lang="ar-SA" sz="1900" dirty="0"/>
          </a:p>
        </p:txBody>
      </p:sp>
      <p:sp>
        <p:nvSpPr>
          <p:cNvPr id="11" name="s6_t_8"/>
          <p:cNvSpPr txBox="1"/>
          <p:nvPr/>
        </p:nvSpPr>
        <p:spPr>
          <a:xfrm>
            <a:off x="4754880" y="3611880"/>
            <a:ext cx="6812280" cy="1143000"/>
          </a:xfrm>
          <a:prstGeom prst="rect">
            <a:avLst/>
          </a:prstGeom>
          <a:noFill/>
          <a:ln/>
        </p:spPr>
        <p:txBody>
          <a:bodyPr wrap="square" lIns="762" tIns="762" rIns="762" bIns="762" rtlCol="0" anchor="t"/>
          <a:lstStyle/>
          <a:p>
            <a:pPr rtl="1" algn="r" indent="0" marL="0">
              <a:lnSpc>
                <a:spcPct val="108000"/>
              </a:lnSpc>
              <a:buNone/>
            </a:pPr>
            <a:r>
              <a:rPr lang="ar-SA" altLang="en-US" sz="1800" b="1" dirty="0">
                <a:solidFill>
                  <a:srgbClr val="3D8BFF"/>
                </a:solidFill>
                <a:latin typeface="Tahoma" pitchFamily="34" charset="0"/>
                <a:ea typeface="Tahoma" pitchFamily="34" charset="-122"/>
                <a:cs typeface="Tahoma" pitchFamily="34" charset="-120"/>
              </a:rPr>
              <a:t>📖 مثال من الكتاب: </a:t>
            </a:r>
            <a:r>
              <a:rPr lang="ar-SA" altLang="en-US" sz="1800" b="1" dirty="0">
                <a:solidFill>
                  <a:srgbClr val="1B2A4A"/>
                </a:solidFill>
                <a:latin typeface="Tahoma" pitchFamily="34" charset="0"/>
                <a:ea typeface="Tahoma" pitchFamily="34" charset="-122"/>
                <a:cs typeface="Tahoma" pitchFamily="34" charset="-120"/>
              </a:rPr>
              <a:t>البكتيريا، ومعظم الطلائعيات مثل الأميبا.</a:t>
            </a:r>
            <a:endParaRPr lang="ar-SA" sz="1800" dirty="0"/>
          </a:p>
        </p:txBody>
      </p:sp>
      <p:pic>
        <p:nvPicPr>
          <p:cNvPr id="12" name="s6_pic_9" descr="/tmp/claude-0/-home-user-Scienceshamah/8386cda7-7741-5ea4-8952-60ee8e67fc31/scratchpad/w4/img/scr_864x132_FFB800_FFF9E6.png">    </p:cNvPr>
          <p:cNvPicPr>
            <a:picLocks noChangeAspect="1"/>
          </p:cNvPicPr>
          <p:nvPr/>
        </p:nvPicPr>
        <p:blipFill>
          <a:blip r:embed="rId9"/>
          <a:stretch>
            <a:fillRect/>
          </a:stretch>
        </p:blipFill>
        <p:spPr>
          <a:xfrm>
            <a:off x="4462272" y="4965192"/>
            <a:ext cx="7397496" cy="1316736"/>
          </a:xfrm>
          <a:prstGeom prst="rect">
            <a:avLst/>
          </a:prstGeom>
        </p:spPr>
      </p:pic>
      <p:sp>
        <p:nvSpPr>
          <p:cNvPr id="13" name="s6_t_10"/>
          <p:cNvSpPr txBox="1"/>
          <p:nvPr/>
        </p:nvSpPr>
        <p:spPr>
          <a:xfrm>
            <a:off x="6949440" y="5120640"/>
            <a:ext cx="4663440" cy="1005840"/>
          </a:xfrm>
          <a:prstGeom prst="rect">
            <a:avLst/>
          </a:prstGeom>
          <a:noFill/>
          <a:ln/>
        </p:spPr>
        <p:txBody>
          <a:bodyPr wrap="square" lIns="762" tIns="762" rIns="762" bIns="762" rtlCol="0" anchor="ctr"/>
          <a:lstStyle/>
          <a:p>
            <a:pPr rtl="1" algn="r" indent="0" marL="0">
              <a:lnSpc>
                <a:spcPct val="108000"/>
              </a:lnSpc>
              <a:buNone/>
            </a:pPr>
            <a:r>
              <a:rPr lang="ar-SA" altLang="en-US" sz="1700" b="1" dirty="0">
                <a:solidFill>
                  <a:srgbClr val="B07800"/>
                </a:solidFill>
                <a:latin typeface="Tahoma" pitchFamily="34" charset="0"/>
                <a:ea typeface="Tahoma" pitchFamily="34" charset="-122"/>
                <a:cs typeface="Tahoma" pitchFamily="34" charset="-120"/>
              </a:rPr>
              <a:t>❓ سؤال: </a:t>
            </a:r>
            <a:r>
              <a:rPr lang="ar-SA" altLang="en-US" sz="1700" b="1" dirty="0">
                <a:solidFill>
                  <a:srgbClr val="1B2A4A"/>
                </a:solidFill>
                <a:latin typeface="Tahoma" pitchFamily="34" charset="0"/>
                <a:ea typeface="Tahoma" pitchFamily="34" charset="-122"/>
                <a:cs typeface="Tahoma" pitchFamily="34" charset="-120"/>
              </a:rPr>
              <a:t>صنّفي: البكتيريا وحيدة الخلية أم متعددة الخلايا؟</a:t>
            </a:r>
            <a:endParaRPr lang="ar-SA" sz="1700" dirty="0"/>
          </a:p>
        </p:txBody>
      </p:sp>
      <p:sp>
        <p:nvSpPr>
          <p:cNvPr id="14" name="s6_t_11"/>
          <p:cNvSpPr txBox="1"/>
          <p:nvPr/>
        </p:nvSpPr>
        <p:spPr>
          <a:xfrm>
            <a:off x="4709160" y="5120640"/>
            <a:ext cx="2194560" cy="1005840"/>
          </a:xfrm>
          <a:prstGeom prst="rect">
            <a:avLst/>
          </a:prstGeom>
          <a:noFill/>
          <a:ln/>
        </p:spPr>
        <p:txBody>
          <a:bodyPr wrap="square" lIns="762" tIns="762" rIns="762" bIns="762" rtlCol="0" anchor="ctr"/>
          <a:lstStyle/>
          <a:p>
            <a:pPr rtl="1" algn="ctr" indent="0" marL="0">
              <a:lnSpc>
                <a:spcPct val="108000"/>
              </a:lnSpc>
              <a:buNone/>
            </a:pPr>
            <a:r>
              <a:rPr lang="ar-SA" altLang="en-US" sz="1600" b="1" dirty="0">
                <a:solidFill>
                  <a:srgbClr val="0E7C55"/>
                </a:solidFill>
                <a:latin typeface="Tahoma" pitchFamily="34" charset="0"/>
                <a:ea typeface="Tahoma" pitchFamily="34" charset="-122"/>
                <a:cs typeface="Tahoma" pitchFamily="34" charset="-120"/>
              </a:rPr>
              <a:t>✔ وحيدة الخلية.</a:t>
            </a:r>
            <a:endParaRPr lang="ar-SA" sz="16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14"/>
                                        </p:tgtEl>
                                        <p:attrNameLst>
                                          <p:attrName>style.visibility</p:attrName>
                                        </p:attrNameLst>
                                      </p:cBhvr>
                                      <p:to>
                                        <p:strVal val="visible"/>
                                      </p:to>
                                    </p:set>
                                    <p:anim calcmode="lin" valueType="num">
                                      <p:cBhvr>
                                        <p:cTn id="6" dur="500" fill="hold"/>
                                        <p:tgtEl>
                                          <p:spTgt spid="14"/>
                                        </p:tgtEl>
                                        <p:attrNameLst>
                                          <p:attrName>ppt_w</p:attrName>
                                        </p:attrNameLst>
                                      </p:cBhvr>
                                      <p:tavLst>
                                        <p:tav tm="0">
                                          <p:val>
                                            <p:fltVal val="0"/>
                                          </p:val>
                                        </p:tav>
                                        <p:tav tm="100000">
                                          <p:val>
                                            <p:strVal val="#ppt_w"/>
                                          </p:val>
                                        </p:tav>
                                      </p:tavLst>
                                    </p:anim>
                                    <p:anim calcmode="lin" valueType="num">
                                      <p:cBhvr>
                                        <p:cTn id="7" dur="500" fill="hold"/>
                                        <p:tgtEl>
                                          <p:spTgt spid="14"/>
                                        </p:tgtEl>
                                        <p:attrNameLst>
                                          <p:attrName>ppt_h</p:attrName>
                                        </p:attrNameLst>
                                      </p:cBhvr>
                                      <p:tavLst>
                                        <p:tav tm="0">
                                          <p:val>
                                            <p:fltVal val="0"/>
                                          </p:val>
                                        </p:tav>
                                        <p:tav tm="100000">
                                          <p:val>
                                            <p:strVal val="#ppt_h"/>
                                          </p:val>
                                        </p:tav>
                                      </p:tavLst>
                                    </p:anim>
                                    <p:animEffect transition="in" filter="fade">
                                      <p:cBhvr>
                                        <p:cTn id="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7_sign" descr="منصة: الانشطار الثنائي">    </p:cNvPr>
          <p:cNvPicPr>
            <a:picLocks noChangeAspect="1"/>
          </p:cNvPicPr>
          <p:nvPr/>
        </p:nvPicPr>
        <p:blipFill>
          <a:blip r:embed="rId2"/>
          <a:stretch>
            <a:fillRect/>
          </a:stretch>
        </p:blipFill>
        <p:spPr>
          <a:xfrm>
            <a:off x="3957863" y="91440"/>
            <a:ext cx="4275968" cy="868680"/>
          </a:xfrm>
          <a:prstGeom prst="rect">
            <a:avLst/>
          </a:prstGeom>
        </p:spPr>
      </p:pic>
      <p:sp>
        <p:nvSpPr>
          <p:cNvPr id="3" name="s7_t_1">
            <a:hlinkClick r:id="rId3" tooltip="العودة إلى قاعة المفردات" action="ppaction://hlinksldjump"/>
          </p:cNvPr>
          <p:cNvSpPr txBox="1"/>
          <p:nvPr/>
        </p:nvSpPr>
        <p:spPr>
          <a:xfrm>
            <a:off x="2926080" y="6382512"/>
            <a:ext cx="2743200" cy="384048"/>
          </a:xfrm>
          <a:prstGeom prst="roundRect">
            <a:avLst>
              <a:gd name="adj" fmla="val 50000"/>
            </a:avLst>
          </a:prstGeom>
          <a:solidFill>
            <a:srgbClr val="14B88A"/>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قاعة المفردات</a:t>
            </a:r>
            <a:endParaRPr lang="ar-SA" sz="1600" dirty="0"/>
          </a:p>
        </p:txBody>
      </p:sp>
      <p:sp>
        <p:nvSpPr>
          <p:cNvPr id="4" name="s7_t_2">
            <a:hlinkClick r:id="rId4" tooltip="🗺 خريطة المتحف" action="ppaction://hlinksldjump"/>
          </p:cNvPr>
          <p:cNvSpPr txBox="1"/>
          <p:nvPr/>
        </p:nvSpPr>
        <p:spPr>
          <a:xfrm>
            <a:off x="5806440" y="6382512"/>
            <a:ext cx="2011680" cy="384048"/>
          </a:xfrm>
          <a:prstGeom prst="roundRect">
            <a:avLst>
              <a:gd name="adj" fmla="val 50000"/>
            </a:avLst>
          </a:prstGeom>
          <a:solidFill>
            <a:srgbClr val="0FA3B8"/>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خريطة المتحف</a:t>
            </a:r>
            <a:endParaRPr lang="ar-SA" sz="1600" dirty="0"/>
          </a:p>
        </p:txBody>
      </p:sp>
      <p:sp>
        <p:nvSpPr>
          <p:cNvPr id="5" name="s7_t_3">
            <a:hlinkClick r:id="rId5" tooltip="المفردة التالية ◀" action="ppaction://hlinksldjump"/>
          </p:cNvPr>
          <p:cNvSpPr txBox="1"/>
          <p:nvPr/>
        </p:nvSpPr>
        <p:spPr>
          <a:xfrm>
            <a:off x="7955280" y="6382512"/>
            <a:ext cx="2011680" cy="384048"/>
          </a:xfrm>
          <a:prstGeom prst="roundRect">
            <a:avLst>
              <a:gd name="adj" fmla="val 50000"/>
            </a:avLst>
          </a:prstGeom>
          <a:solidFill>
            <a:srgbClr val="8C9BB5"/>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المفردة التالية ◀</a:t>
            </a:r>
            <a:endParaRPr lang="ar-SA" sz="1600" dirty="0"/>
          </a:p>
        </p:txBody>
      </p:sp>
      <p:pic>
        <p:nvPicPr>
          <p:cNvPr id="6" name="s7_pic_4" descr="منصة عرض زجاجية">    </p:cNvPr>
          <p:cNvPicPr>
            <a:picLocks noChangeAspect="1"/>
          </p:cNvPicPr>
          <p:nvPr/>
        </p:nvPicPr>
        <p:blipFill>
          <a:blip r:embed="rId6"/>
          <a:stretch>
            <a:fillRect/>
          </a:stretch>
        </p:blipFill>
        <p:spPr>
          <a:xfrm>
            <a:off x="548640" y="3749040"/>
            <a:ext cx="3566160" cy="2674620"/>
          </a:xfrm>
          <a:prstGeom prst="rect">
            <a:avLst/>
          </a:prstGeom>
        </p:spPr>
      </p:pic>
      <p:pic>
        <p:nvPicPr>
          <p:cNvPr id="7" name="!!vm_2" descr="الانشطار الثنائي">    </p:cNvPr>
          <p:cNvPicPr>
            <a:picLocks noChangeAspect="1"/>
          </p:cNvPicPr>
          <p:nvPr/>
        </p:nvPicPr>
        <p:blipFill>
          <a:blip r:embed="rId7"/>
          <a:stretch>
            <a:fillRect/>
          </a:stretch>
        </p:blipFill>
        <p:spPr>
          <a:xfrm>
            <a:off x="685800" y="1417320"/>
            <a:ext cx="3291840" cy="1975104"/>
          </a:xfrm>
          <a:prstGeom prst="rect">
            <a:avLst/>
          </a:prstGeom>
        </p:spPr>
      </p:pic>
      <p:pic>
        <p:nvPicPr>
          <p:cNvPr id="8" name="s7_pic_5" descr="/tmp/claude-0/-home-user-Scienceshamah/8386cda7-7741-5ea4-8952-60ee8e67fc31/scratchpad/w4/img/scr_864x440_14B88A_FFFFFF.png">    </p:cNvPr>
          <p:cNvPicPr>
            <a:picLocks noChangeAspect="1"/>
          </p:cNvPicPr>
          <p:nvPr/>
        </p:nvPicPr>
        <p:blipFill>
          <a:blip r:embed="rId8"/>
          <a:stretch>
            <a:fillRect/>
          </a:stretch>
        </p:blipFill>
        <p:spPr>
          <a:xfrm>
            <a:off x="4462272" y="1124712"/>
            <a:ext cx="7397496" cy="3877056"/>
          </a:xfrm>
          <a:prstGeom prst="rect">
            <a:avLst/>
          </a:prstGeom>
        </p:spPr>
      </p:pic>
      <p:sp>
        <p:nvSpPr>
          <p:cNvPr id="9" name="s7_t_6"/>
          <p:cNvSpPr txBox="1"/>
          <p:nvPr/>
        </p:nvSpPr>
        <p:spPr>
          <a:xfrm>
            <a:off x="4754880" y="1325880"/>
            <a:ext cx="6812280" cy="594360"/>
          </a:xfrm>
          <a:prstGeom prst="rect">
            <a:avLst/>
          </a:prstGeom>
          <a:noFill/>
          <a:ln/>
        </p:spPr>
        <p:txBody>
          <a:bodyPr wrap="square" lIns="762" tIns="762" rIns="762" bIns="762" rtlCol="0" anchor="ctr"/>
          <a:lstStyle/>
          <a:p>
            <a:pPr rtl="1" algn="ctr" indent="0" marL="0">
              <a:lnSpc>
                <a:spcPct val="108000"/>
              </a:lnSpc>
              <a:buNone/>
            </a:pPr>
            <a:r>
              <a:rPr lang="ar-SA" altLang="en-US" sz="2800" b="1" dirty="0">
                <a:solidFill>
                  <a:srgbClr val="14B88A"/>
                </a:solidFill>
                <a:latin typeface="Tahoma" pitchFamily="34" charset="0"/>
                <a:ea typeface="Tahoma" pitchFamily="34" charset="-122"/>
                <a:cs typeface="Tahoma" pitchFamily="34" charset="-120"/>
              </a:rPr>
              <a:t>الانشطار الثنائي</a:t>
            </a:r>
            <a:endParaRPr lang="ar-SA" sz="2800" dirty="0"/>
          </a:p>
        </p:txBody>
      </p:sp>
      <p:sp>
        <p:nvSpPr>
          <p:cNvPr id="10" name="s7_t_7"/>
          <p:cNvSpPr txBox="1"/>
          <p:nvPr/>
        </p:nvSpPr>
        <p:spPr>
          <a:xfrm>
            <a:off x="4754880" y="1965960"/>
            <a:ext cx="6812280" cy="1600200"/>
          </a:xfrm>
          <a:prstGeom prst="rect">
            <a:avLst/>
          </a:prstGeom>
          <a:noFill/>
          <a:ln/>
        </p:spPr>
        <p:txBody>
          <a:bodyPr wrap="square" lIns="762" tIns="762" rIns="762" bIns="762" rtlCol="0" anchor="t"/>
          <a:lstStyle/>
          <a:p>
            <a:pPr rtl="1" algn="r" indent="0" marL="0">
              <a:lnSpc>
                <a:spcPct val="115000"/>
              </a:lnSpc>
              <a:buNone/>
            </a:pPr>
            <a:r>
              <a:rPr lang="ar-SA" altLang="en-US" sz="1900" b="1" dirty="0">
                <a:solidFill>
                  <a:srgbClr val="C2366F"/>
                </a:solidFill>
                <a:latin typeface="Tahoma" pitchFamily="34" charset="0"/>
                <a:ea typeface="Tahoma" pitchFamily="34" charset="-122"/>
                <a:cs typeface="Tahoma" pitchFamily="34" charset="-120"/>
              </a:rPr>
              <a:t>التعريف: </a:t>
            </a:r>
            <a:r>
              <a:rPr lang="ar-SA" altLang="en-US" sz="1900" b="1" dirty="0">
                <a:solidFill>
                  <a:srgbClr val="1B2A4A"/>
                </a:solidFill>
                <a:latin typeface="Tahoma" pitchFamily="34" charset="0"/>
                <a:ea typeface="Tahoma" pitchFamily="34" charset="-122"/>
                <a:cs typeface="Tahoma" pitchFamily="34" charset="-120"/>
              </a:rPr>
              <a:t>نوع من التكاثر اللاجنسي ينقسم فيه المخلوق الحي إلى مخلوقين حيّين جديدين متماثلين.</a:t>
            </a:r>
            <a:endParaRPr lang="ar-SA" sz="1900" dirty="0"/>
          </a:p>
        </p:txBody>
      </p:sp>
      <p:sp>
        <p:nvSpPr>
          <p:cNvPr id="11" name="s7_t_8"/>
          <p:cNvSpPr txBox="1"/>
          <p:nvPr/>
        </p:nvSpPr>
        <p:spPr>
          <a:xfrm>
            <a:off x="4754880" y="3611880"/>
            <a:ext cx="6812280" cy="1143000"/>
          </a:xfrm>
          <a:prstGeom prst="rect">
            <a:avLst/>
          </a:prstGeom>
          <a:noFill/>
          <a:ln/>
        </p:spPr>
        <p:txBody>
          <a:bodyPr wrap="square" lIns="762" tIns="762" rIns="762" bIns="762" rtlCol="0" anchor="t"/>
          <a:lstStyle/>
          <a:p>
            <a:pPr rtl="1" algn="r" indent="0" marL="0">
              <a:lnSpc>
                <a:spcPct val="108000"/>
              </a:lnSpc>
              <a:buNone/>
            </a:pPr>
            <a:r>
              <a:rPr lang="ar-SA" altLang="en-US" sz="1800" b="1" dirty="0">
                <a:solidFill>
                  <a:srgbClr val="3D8BFF"/>
                </a:solidFill>
                <a:latin typeface="Tahoma" pitchFamily="34" charset="0"/>
                <a:ea typeface="Tahoma" pitchFamily="34" charset="-122"/>
                <a:cs typeface="Tahoma" pitchFamily="34" charset="-120"/>
              </a:rPr>
              <a:t>📖 مثال من الكتاب: </a:t>
            </a:r>
            <a:r>
              <a:rPr lang="ar-SA" altLang="en-US" sz="1800" b="1" dirty="0">
                <a:solidFill>
                  <a:srgbClr val="1B2A4A"/>
                </a:solidFill>
                <a:latin typeface="Tahoma" pitchFamily="34" charset="0"/>
                <a:ea typeface="Tahoma" pitchFamily="34" charset="-122"/>
                <a:cs typeface="Tahoma" pitchFamily="34" charset="-120"/>
              </a:rPr>
              <a:t>البراميسيوم، ومعظم البكتيريا مثل (إي. كولاي).</a:t>
            </a:r>
            <a:endParaRPr lang="ar-SA" sz="1800" dirty="0"/>
          </a:p>
        </p:txBody>
      </p:sp>
      <p:pic>
        <p:nvPicPr>
          <p:cNvPr id="12" name="s7_pic_9" descr="/tmp/claude-0/-home-user-Scienceshamah/8386cda7-7741-5ea4-8952-60ee8e67fc31/scratchpad/w4/img/scr_864x132_FFB800_FFF9E6.png">    </p:cNvPr>
          <p:cNvPicPr>
            <a:picLocks noChangeAspect="1"/>
          </p:cNvPicPr>
          <p:nvPr/>
        </p:nvPicPr>
        <p:blipFill>
          <a:blip r:embed="rId9"/>
          <a:stretch>
            <a:fillRect/>
          </a:stretch>
        </p:blipFill>
        <p:spPr>
          <a:xfrm>
            <a:off x="4462272" y="4965192"/>
            <a:ext cx="7397496" cy="1316736"/>
          </a:xfrm>
          <a:prstGeom prst="rect">
            <a:avLst/>
          </a:prstGeom>
        </p:spPr>
      </p:pic>
      <p:sp>
        <p:nvSpPr>
          <p:cNvPr id="13" name="s7_t_10"/>
          <p:cNvSpPr txBox="1"/>
          <p:nvPr/>
        </p:nvSpPr>
        <p:spPr>
          <a:xfrm>
            <a:off x="6949440" y="5120640"/>
            <a:ext cx="4663440" cy="1005840"/>
          </a:xfrm>
          <a:prstGeom prst="rect">
            <a:avLst/>
          </a:prstGeom>
          <a:noFill/>
          <a:ln/>
        </p:spPr>
        <p:txBody>
          <a:bodyPr wrap="square" lIns="762" tIns="762" rIns="762" bIns="762" rtlCol="0" anchor="ctr"/>
          <a:lstStyle/>
          <a:p>
            <a:pPr rtl="1" algn="r" indent="0" marL="0">
              <a:lnSpc>
                <a:spcPct val="108000"/>
              </a:lnSpc>
              <a:buNone/>
            </a:pPr>
            <a:r>
              <a:rPr lang="ar-SA" altLang="en-US" sz="1700" b="1" dirty="0">
                <a:solidFill>
                  <a:srgbClr val="B07800"/>
                </a:solidFill>
                <a:latin typeface="Tahoma" pitchFamily="34" charset="0"/>
                <a:ea typeface="Tahoma" pitchFamily="34" charset="-122"/>
                <a:cs typeface="Tahoma" pitchFamily="34" charset="-120"/>
              </a:rPr>
              <a:t>❓ سؤال: </a:t>
            </a:r>
            <a:r>
              <a:rPr lang="ar-SA" altLang="en-US" sz="1700" b="1" dirty="0">
                <a:solidFill>
                  <a:srgbClr val="1B2A4A"/>
                </a:solidFill>
                <a:latin typeface="Tahoma" pitchFamily="34" charset="0"/>
                <a:ea typeface="Tahoma" pitchFamily="34" charset="-122"/>
                <a:cs typeface="Tahoma" pitchFamily="34" charset="-120"/>
              </a:rPr>
              <a:t>كم مخلوقًا جديدًا ينتج من الانشطار الثنائي؟ وهل يتماثلان؟</a:t>
            </a:r>
            <a:endParaRPr lang="ar-SA" sz="1700" dirty="0"/>
          </a:p>
        </p:txBody>
      </p:sp>
      <p:sp>
        <p:nvSpPr>
          <p:cNvPr id="14" name="s7_t_11"/>
          <p:cNvSpPr txBox="1"/>
          <p:nvPr/>
        </p:nvSpPr>
        <p:spPr>
          <a:xfrm>
            <a:off x="4709160" y="5120640"/>
            <a:ext cx="2194560" cy="1005840"/>
          </a:xfrm>
          <a:prstGeom prst="rect">
            <a:avLst/>
          </a:prstGeom>
          <a:noFill/>
          <a:ln/>
        </p:spPr>
        <p:txBody>
          <a:bodyPr wrap="square" lIns="762" tIns="762" rIns="762" bIns="762" rtlCol="0" anchor="ctr"/>
          <a:lstStyle/>
          <a:p>
            <a:pPr rtl="1" algn="ctr" indent="0" marL="0">
              <a:lnSpc>
                <a:spcPct val="108000"/>
              </a:lnSpc>
              <a:buNone/>
            </a:pPr>
            <a:r>
              <a:rPr lang="ar-SA" altLang="en-US" sz="1600" b="1" dirty="0">
                <a:solidFill>
                  <a:srgbClr val="0E7C55"/>
                </a:solidFill>
                <a:latin typeface="Tahoma" pitchFamily="34" charset="0"/>
                <a:ea typeface="Tahoma" pitchFamily="34" charset="-122"/>
                <a:cs typeface="Tahoma" pitchFamily="34" charset="-120"/>
              </a:rPr>
              <a:t>✔ مخلوقان جديدان متماثلان.</a:t>
            </a:r>
            <a:endParaRPr lang="ar-SA" sz="16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14"/>
                                        </p:tgtEl>
                                        <p:attrNameLst>
                                          <p:attrName>style.visibility</p:attrName>
                                        </p:attrNameLst>
                                      </p:cBhvr>
                                      <p:to>
                                        <p:strVal val="visible"/>
                                      </p:to>
                                    </p:set>
                                    <p:anim calcmode="lin" valueType="num">
                                      <p:cBhvr>
                                        <p:cTn id="6" dur="500" fill="hold"/>
                                        <p:tgtEl>
                                          <p:spTgt spid="14"/>
                                        </p:tgtEl>
                                        <p:attrNameLst>
                                          <p:attrName>ppt_w</p:attrName>
                                        </p:attrNameLst>
                                      </p:cBhvr>
                                      <p:tavLst>
                                        <p:tav tm="0">
                                          <p:val>
                                            <p:fltVal val="0"/>
                                          </p:val>
                                        </p:tav>
                                        <p:tav tm="100000">
                                          <p:val>
                                            <p:strVal val="#ppt_w"/>
                                          </p:val>
                                        </p:tav>
                                      </p:tavLst>
                                    </p:anim>
                                    <p:anim calcmode="lin" valueType="num">
                                      <p:cBhvr>
                                        <p:cTn id="7" dur="500" fill="hold"/>
                                        <p:tgtEl>
                                          <p:spTgt spid="14"/>
                                        </p:tgtEl>
                                        <p:attrNameLst>
                                          <p:attrName>ppt_h</p:attrName>
                                        </p:attrNameLst>
                                      </p:cBhvr>
                                      <p:tavLst>
                                        <p:tav tm="0">
                                          <p:val>
                                            <p:fltVal val="0"/>
                                          </p:val>
                                        </p:tav>
                                        <p:tav tm="100000">
                                          <p:val>
                                            <p:strVal val="#ppt_h"/>
                                          </p:val>
                                        </p:tav>
                                      </p:tavLst>
                                    </p:anim>
                                    <p:animEffect transition="in" filter="fade">
                                      <p:cBhvr>
                                        <p:cTn id="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8_sign" descr="منصة: الاقتران">    </p:cNvPr>
          <p:cNvPicPr>
            <a:picLocks noChangeAspect="1"/>
          </p:cNvPicPr>
          <p:nvPr/>
        </p:nvPicPr>
        <p:blipFill>
          <a:blip r:embed="rId2"/>
          <a:stretch>
            <a:fillRect/>
          </a:stretch>
        </p:blipFill>
        <p:spPr>
          <a:xfrm>
            <a:off x="4582599" y="91440"/>
            <a:ext cx="3026497" cy="868680"/>
          </a:xfrm>
          <a:prstGeom prst="rect">
            <a:avLst/>
          </a:prstGeom>
        </p:spPr>
      </p:pic>
      <p:sp>
        <p:nvSpPr>
          <p:cNvPr id="3" name="s8_t_1">
            <a:hlinkClick r:id="rId3" tooltip="العودة إلى قاعة المفردات" action="ppaction://hlinksldjump"/>
          </p:cNvPr>
          <p:cNvSpPr txBox="1"/>
          <p:nvPr/>
        </p:nvSpPr>
        <p:spPr>
          <a:xfrm>
            <a:off x="2926080" y="6382512"/>
            <a:ext cx="2743200" cy="384048"/>
          </a:xfrm>
          <a:prstGeom prst="roundRect">
            <a:avLst>
              <a:gd name="adj" fmla="val 50000"/>
            </a:avLst>
          </a:prstGeom>
          <a:solidFill>
            <a:srgbClr val="E2558F"/>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قاعة المفردات</a:t>
            </a:r>
            <a:endParaRPr lang="ar-SA" sz="1600" dirty="0"/>
          </a:p>
        </p:txBody>
      </p:sp>
      <p:sp>
        <p:nvSpPr>
          <p:cNvPr id="4" name="s8_t_2">
            <a:hlinkClick r:id="rId4" tooltip="🗺 خريطة المتحف" action="ppaction://hlinksldjump"/>
          </p:cNvPr>
          <p:cNvSpPr txBox="1"/>
          <p:nvPr/>
        </p:nvSpPr>
        <p:spPr>
          <a:xfrm>
            <a:off x="5806440" y="6382512"/>
            <a:ext cx="2011680" cy="384048"/>
          </a:xfrm>
          <a:prstGeom prst="roundRect">
            <a:avLst>
              <a:gd name="adj" fmla="val 50000"/>
            </a:avLst>
          </a:prstGeom>
          <a:solidFill>
            <a:srgbClr val="0FA3B8"/>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خريطة المتحف</a:t>
            </a:r>
            <a:endParaRPr lang="ar-SA" sz="1600" dirty="0"/>
          </a:p>
        </p:txBody>
      </p:sp>
      <p:sp>
        <p:nvSpPr>
          <p:cNvPr id="5" name="s8_t_3">
            <a:hlinkClick r:id="rId5" tooltip="المفردة التالية ◀" action="ppaction://hlinksldjump"/>
          </p:cNvPr>
          <p:cNvSpPr txBox="1"/>
          <p:nvPr/>
        </p:nvSpPr>
        <p:spPr>
          <a:xfrm>
            <a:off x="7955280" y="6382512"/>
            <a:ext cx="2011680" cy="384048"/>
          </a:xfrm>
          <a:prstGeom prst="roundRect">
            <a:avLst>
              <a:gd name="adj" fmla="val 50000"/>
            </a:avLst>
          </a:prstGeom>
          <a:solidFill>
            <a:srgbClr val="8C9BB5"/>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المفردة التالية ◀</a:t>
            </a:r>
            <a:endParaRPr lang="ar-SA" sz="1600" dirty="0"/>
          </a:p>
        </p:txBody>
      </p:sp>
      <p:pic>
        <p:nvPicPr>
          <p:cNvPr id="6" name="s8_pic_4" descr="منصة عرض زجاجية">    </p:cNvPr>
          <p:cNvPicPr>
            <a:picLocks noChangeAspect="1"/>
          </p:cNvPicPr>
          <p:nvPr/>
        </p:nvPicPr>
        <p:blipFill>
          <a:blip r:embed="rId6"/>
          <a:stretch>
            <a:fillRect/>
          </a:stretch>
        </p:blipFill>
        <p:spPr>
          <a:xfrm>
            <a:off x="548640" y="3749040"/>
            <a:ext cx="3566160" cy="2674620"/>
          </a:xfrm>
          <a:prstGeom prst="rect">
            <a:avLst/>
          </a:prstGeom>
        </p:spPr>
      </p:pic>
      <p:pic>
        <p:nvPicPr>
          <p:cNvPr id="7" name="!!vm_3" descr="الاقتران">    </p:cNvPr>
          <p:cNvPicPr>
            <a:picLocks noChangeAspect="1"/>
          </p:cNvPicPr>
          <p:nvPr/>
        </p:nvPicPr>
        <p:blipFill>
          <a:blip r:embed="rId7"/>
          <a:stretch>
            <a:fillRect/>
          </a:stretch>
        </p:blipFill>
        <p:spPr>
          <a:xfrm>
            <a:off x="685800" y="1417320"/>
            <a:ext cx="3291840" cy="1692946"/>
          </a:xfrm>
          <a:prstGeom prst="rect">
            <a:avLst/>
          </a:prstGeom>
        </p:spPr>
      </p:pic>
      <p:pic>
        <p:nvPicPr>
          <p:cNvPr id="8" name="s8_pic_5" descr="/tmp/claude-0/-home-user-Scienceshamah/8386cda7-7741-5ea4-8952-60ee8e67fc31/scratchpad/w4/img/scr_864x440_E2558F_FFFFFF.png">    </p:cNvPr>
          <p:cNvPicPr>
            <a:picLocks noChangeAspect="1"/>
          </p:cNvPicPr>
          <p:nvPr/>
        </p:nvPicPr>
        <p:blipFill>
          <a:blip r:embed="rId8"/>
          <a:stretch>
            <a:fillRect/>
          </a:stretch>
        </p:blipFill>
        <p:spPr>
          <a:xfrm>
            <a:off x="4462272" y="1124712"/>
            <a:ext cx="7397496" cy="3877056"/>
          </a:xfrm>
          <a:prstGeom prst="rect">
            <a:avLst/>
          </a:prstGeom>
        </p:spPr>
      </p:pic>
      <p:sp>
        <p:nvSpPr>
          <p:cNvPr id="9" name="s8_t_6"/>
          <p:cNvSpPr txBox="1"/>
          <p:nvPr/>
        </p:nvSpPr>
        <p:spPr>
          <a:xfrm>
            <a:off x="4754880" y="1325880"/>
            <a:ext cx="6812280" cy="594360"/>
          </a:xfrm>
          <a:prstGeom prst="rect">
            <a:avLst/>
          </a:prstGeom>
          <a:noFill/>
          <a:ln/>
        </p:spPr>
        <p:txBody>
          <a:bodyPr wrap="square" lIns="762" tIns="762" rIns="762" bIns="762" rtlCol="0" anchor="ctr"/>
          <a:lstStyle/>
          <a:p>
            <a:pPr rtl="1" algn="ctr" indent="0" marL="0">
              <a:lnSpc>
                <a:spcPct val="108000"/>
              </a:lnSpc>
              <a:buNone/>
            </a:pPr>
            <a:r>
              <a:rPr lang="ar-SA" altLang="en-US" sz="2800" b="1" dirty="0">
                <a:solidFill>
                  <a:srgbClr val="E2558F"/>
                </a:solidFill>
                <a:latin typeface="Tahoma" pitchFamily="34" charset="0"/>
                <a:ea typeface="Tahoma" pitchFamily="34" charset="-122"/>
                <a:cs typeface="Tahoma" pitchFamily="34" charset="-120"/>
              </a:rPr>
              <a:t>الاقتران</a:t>
            </a:r>
            <a:endParaRPr lang="ar-SA" sz="2800" dirty="0"/>
          </a:p>
        </p:txBody>
      </p:sp>
      <p:sp>
        <p:nvSpPr>
          <p:cNvPr id="10" name="s8_t_7"/>
          <p:cNvSpPr txBox="1"/>
          <p:nvPr/>
        </p:nvSpPr>
        <p:spPr>
          <a:xfrm>
            <a:off x="4754880" y="1965960"/>
            <a:ext cx="6812280" cy="1600200"/>
          </a:xfrm>
          <a:prstGeom prst="rect">
            <a:avLst/>
          </a:prstGeom>
          <a:noFill/>
          <a:ln/>
        </p:spPr>
        <p:txBody>
          <a:bodyPr wrap="square" lIns="762" tIns="762" rIns="762" bIns="762" rtlCol="0" anchor="t"/>
          <a:lstStyle/>
          <a:p>
            <a:pPr rtl="1" algn="r" indent="0" marL="0">
              <a:lnSpc>
                <a:spcPct val="115000"/>
              </a:lnSpc>
              <a:buNone/>
            </a:pPr>
            <a:r>
              <a:rPr lang="ar-SA" altLang="en-US" sz="1900" b="1" dirty="0">
                <a:solidFill>
                  <a:srgbClr val="C2366F"/>
                </a:solidFill>
                <a:latin typeface="Tahoma" pitchFamily="34" charset="0"/>
                <a:ea typeface="Tahoma" pitchFamily="34" charset="-122"/>
                <a:cs typeface="Tahoma" pitchFamily="34" charset="-120"/>
              </a:rPr>
              <a:t>التعريف: </a:t>
            </a:r>
            <a:r>
              <a:rPr lang="ar-SA" altLang="en-US" sz="1900" b="1" dirty="0">
                <a:solidFill>
                  <a:srgbClr val="1B2A4A"/>
                </a:solidFill>
                <a:latin typeface="Tahoma" pitchFamily="34" charset="0"/>
                <a:ea typeface="Tahoma" pitchFamily="34" charset="-122"/>
                <a:cs typeface="Tahoma" pitchFamily="34" charset="-120"/>
              </a:rPr>
              <a:t>عملية جنسية تلتحم فيها المخلوقات الحية بعضها ببعض، وتتبادل المادة الوراثية، ثم ينفصل بعضها عن بعض، وينقسم كلٌّ منها بالانشطار الثنائي.</a:t>
            </a:r>
            <a:endParaRPr lang="ar-SA" sz="1900" dirty="0"/>
          </a:p>
        </p:txBody>
      </p:sp>
      <p:sp>
        <p:nvSpPr>
          <p:cNvPr id="11" name="s8_t_8"/>
          <p:cNvSpPr txBox="1"/>
          <p:nvPr/>
        </p:nvSpPr>
        <p:spPr>
          <a:xfrm>
            <a:off x="4754880" y="3611880"/>
            <a:ext cx="6812280" cy="1143000"/>
          </a:xfrm>
          <a:prstGeom prst="rect">
            <a:avLst/>
          </a:prstGeom>
          <a:noFill/>
          <a:ln/>
        </p:spPr>
        <p:txBody>
          <a:bodyPr wrap="square" lIns="762" tIns="762" rIns="762" bIns="762" rtlCol="0" anchor="t"/>
          <a:lstStyle/>
          <a:p>
            <a:pPr rtl="1" algn="r" indent="0" marL="0">
              <a:lnSpc>
                <a:spcPct val="108000"/>
              </a:lnSpc>
              <a:buNone/>
            </a:pPr>
            <a:r>
              <a:rPr lang="ar-SA" altLang="en-US" sz="1800" b="1" dirty="0">
                <a:solidFill>
                  <a:srgbClr val="3D8BFF"/>
                </a:solidFill>
                <a:latin typeface="Tahoma" pitchFamily="34" charset="0"/>
                <a:ea typeface="Tahoma" pitchFamily="34" charset="-122"/>
                <a:cs typeface="Tahoma" pitchFamily="34" charset="-120"/>
              </a:rPr>
              <a:t>📖 مثال من الكتاب: </a:t>
            </a:r>
            <a:r>
              <a:rPr lang="ar-SA" altLang="en-US" sz="1800" b="1" dirty="0">
                <a:solidFill>
                  <a:srgbClr val="1B2A4A"/>
                </a:solidFill>
                <a:latin typeface="Tahoma" pitchFamily="34" charset="0"/>
                <a:ea typeface="Tahoma" pitchFamily="34" charset="-122"/>
                <a:cs typeface="Tahoma" pitchFamily="34" charset="-120"/>
              </a:rPr>
              <a:t>بعض الطلائعيات (البراميسيوم)، وبعض أنواع البكتيريا.</a:t>
            </a:r>
            <a:endParaRPr lang="ar-SA" sz="1800" dirty="0"/>
          </a:p>
        </p:txBody>
      </p:sp>
      <p:pic>
        <p:nvPicPr>
          <p:cNvPr id="12" name="s8_pic_9" descr="/tmp/claude-0/-home-user-Scienceshamah/8386cda7-7741-5ea4-8952-60ee8e67fc31/scratchpad/w4/img/scr_864x132_FFB800_FFF9E6.png">    </p:cNvPr>
          <p:cNvPicPr>
            <a:picLocks noChangeAspect="1"/>
          </p:cNvPicPr>
          <p:nvPr/>
        </p:nvPicPr>
        <p:blipFill>
          <a:blip r:embed="rId9"/>
          <a:stretch>
            <a:fillRect/>
          </a:stretch>
        </p:blipFill>
        <p:spPr>
          <a:xfrm>
            <a:off x="4462272" y="4965192"/>
            <a:ext cx="7397496" cy="1316736"/>
          </a:xfrm>
          <a:prstGeom prst="rect">
            <a:avLst/>
          </a:prstGeom>
        </p:spPr>
      </p:pic>
      <p:sp>
        <p:nvSpPr>
          <p:cNvPr id="13" name="s8_t_10"/>
          <p:cNvSpPr txBox="1"/>
          <p:nvPr/>
        </p:nvSpPr>
        <p:spPr>
          <a:xfrm>
            <a:off x="6949440" y="5120640"/>
            <a:ext cx="4663440" cy="1005840"/>
          </a:xfrm>
          <a:prstGeom prst="rect">
            <a:avLst/>
          </a:prstGeom>
          <a:noFill/>
          <a:ln/>
        </p:spPr>
        <p:txBody>
          <a:bodyPr wrap="square" lIns="762" tIns="762" rIns="762" bIns="762" rtlCol="0" anchor="ctr"/>
          <a:lstStyle/>
          <a:p>
            <a:pPr rtl="1" algn="r" indent="0" marL="0">
              <a:lnSpc>
                <a:spcPct val="108000"/>
              </a:lnSpc>
              <a:buNone/>
            </a:pPr>
            <a:r>
              <a:rPr lang="ar-SA" altLang="en-US" sz="1700" b="1" dirty="0">
                <a:solidFill>
                  <a:srgbClr val="B07800"/>
                </a:solidFill>
                <a:latin typeface="Tahoma" pitchFamily="34" charset="0"/>
                <a:ea typeface="Tahoma" pitchFamily="34" charset="-122"/>
                <a:cs typeface="Tahoma" pitchFamily="34" charset="-120"/>
              </a:rPr>
              <a:t>❓ سؤال: </a:t>
            </a:r>
            <a:r>
              <a:rPr lang="ar-SA" altLang="en-US" sz="1700" b="1" dirty="0">
                <a:solidFill>
                  <a:srgbClr val="1B2A4A"/>
                </a:solidFill>
                <a:latin typeface="Tahoma" pitchFamily="34" charset="0"/>
                <a:ea typeface="Tahoma" pitchFamily="34" charset="-122"/>
                <a:cs typeface="Tahoma" pitchFamily="34" charset="-120"/>
              </a:rPr>
              <a:t>ماذا تتبادل المخلوقات الحية أثناء الاقتران؟</a:t>
            </a:r>
            <a:endParaRPr lang="ar-SA" sz="1700" dirty="0"/>
          </a:p>
        </p:txBody>
      </p:sp>
      <p:sp>
        <p:nvSpPr>
          <p:cNvPr id="14" name="s8_t_11"/>
          <p:cNvSpPr txBox="1"/>
          <p:nvPr/>
        </p:nvSpPr>
        <p:spPr>
          <a:xfrm>
            <a:off x="4709160" y="5120640"/>
            <a:ext cx="2194560" cy="1005840"/>
          </a:xfrm>
          <a:prstGeom prst="rect">
            <a:avLst/>
          </a:prstGeom>
          <a:noFill/>
          <a:ln/>
        </p:spPr>
        <p:txBody>
          <a:bodyPr wrap="square" lIns="762" tIns="762" rIns="762" bIns="762" rtlCol="0" anchor="ctr"/>
          <a:lstStyle/>
          <a:p>
            <a:pPr rtl="1" algn="ctr" indent="0" marL="0">
              <a:lnSpc>
                <a:spcPct val="108000"/>
              </a:lnSpc>
              <a:buNone/>
            </a:pPr>
            <a:r>
              <a:rPr lang="ar-SA" altLang="en-US" sz="1600" b="1" dirty="0">
                <a:solidFill>
                  <a:srgbClr val="0E7C55"/>
                </a:solidFill>
                <a:latin typeface="Tahoma" pitchFamily="34" charset="0"/>
                <a:ea typeface="Tahoma" pitchFamily="34" charset="-122"/>
                <a:cs typeface="Tahoma" pitchFamily="34" charset="-120"/>
              </a:rPr>
              <a:t>✔ المادة الوراثية.</a:t>
            </a:r>
            <a:endParaRPr lang="ar-SA" sz="16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14"/>
                                        </p:tgtEl>
                                        <p:attrNameLst>
                                          <p:attrName>style.visibility</p:attrName>
                                        </p:attrNameLst>
                                      </p:cBhvr>
                                      <p:to>
                                        <p:strVal val="visible"/>
                                      </p:to>
                                    </p:set>
                                    <p:anim calcmode="lin" valueType="num">
                                      <p:cBhvr>
                                        <p:cTn id="6" dur="500" fill="hold"/>
                                        <p:tgtEl>
                                          <p:spTgt spid="14"/>
                                        </p:tgtEl>
                                        <p:attrNameLst>
                                          <p:attrName>ppt_w</p:attrName>
                                        </p:attrNameLst>
                                      </p:cBhvr>
                                      <p:tavLst>
                                        <p:tav tm="0">
                                          <p:val>
                                            <p:fltVal val="0"/>
                                          </p:val>
                                        </p:tav>
                                        <p:tav tm="100000">
                                          <p:val>
                                            <p:strVal val="#ppt_w"/>
                                          </p:val>
                                        </p:tav>
                                      </p:tavLst>
                                    </p:anim>
                                    <p:anim calcmode="lin" valueType="num">
                                      <p:cBhvr>
                                        <p:cTn id="7" dur="500" fill="hold"/>
                                        <p:tgtEl>
                                          <p:spTgt spid="14"/>
                                        </p:tgtEl>
                                        <p:attrNameLst>
                                          <p:attrName>ppt_h</p:attrName>
                                        </p:attrNameLst>
                                      </p:cBhvr>
                                      <p:tavLst>
                                        <p:tav tm="0">
                                          <p:val>
                                            <p:fltVal val="0"/>
                                          </p:val>
                                        </p:tav>
                                        <p:tav tm="100000">
                                          <p:val>
                                            <p:strVal val="#ppt_h"/>
                                          </p:val>
                                        </p:tav>
                                      </p:tavLst>
                                    </p:anim>
                                    <p:animEffect transition="in" filter="fade">
                                      <p:cBhvr>
                                        <p:cTn id="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9_sign" descr="منصة: التبرعم">    </p:cNvPr>
          <p:cNvPicPr>
            <a:picLocks noChangeAspect="1"/>
          </p:cNvPicPr>
          <p:nvPr/>
        </p:nvPicPr>
        <p:blipFill>
          <a:blip r:embed="rId2"/>
          <a:stretch>
            <a:fillRect/>
          </a:stretch>
        </p:blipFill>
        <p:spPr>
          <a:xfrm>
            <a:off x="4620282" y="91440"/>
            <a:ext cx="2951132" cy="868680"/>
          </a:xfrm>
          <a:prstGeom prst="rect">
            <a:avLst/>
          </a:prstGeom>
        </p:spPr>
      </p:pic>
      <p:sp>
        <p:nvSpPr>
          <p:cNvPr id="3" name="s9_t_1">
            <a:hlinkClick r:id="rId3" tooltip="العودة إلى قاعة المفردات" action="ppaction://hlinksldjump"/>
          </p:cNvPr>
          <p:cNvSpPr txBox="1"/>
          <p:nvPr/>
        </p:nvSpPr>
        <p:spPr>
          <a:xfrm>
            <a:off x="2926080" y="6382512"/>
            <a:ext cx="2743200" cy="384048"/>
          </a:xfrm>
          <a:prstGeom prst="roundRect">
            <a:avLst>
              <a:gd name="adj" fmla="val 50000"/>
            </a:avLst>
          </a:prstGeom>
          <a:solidFill>
            <a:srgbClr val="E3A21A"/>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قاعة المفردات</a:t>
            </a:r>
            <a:endParaRPr lang="ar-SA" sz="1600" dirty="0"/>
          </a:p>
        </p:txBody>
      </p:sp>
      <p:sp>
        <p:nvSpPr>
          <p:cNvPr id="4" name="s9_t_2">
            <a:hlinkClick r:id="rId4" tooltip="🗺 خريطة المتحف" action="ppaction://hlinksldjump"/>
          </p:cNvPr>
          <p:cNvSpPr txBox="1"/>
          <p:nvPr/>
        </p:nvSpPr>
        <p:spPr>
          <a:xfrm>
            <a:off x="5806440" y="6382512"/>
            <a:ext cx="2011680" cy="384048"/>
          </a:xfrm>
          <a:prstGeom prst="roundRect">
            <a:avLst>
              <a:gd name="adj" fmla="val 50000"/>
            </a:avLst>
          </a:prstGeom>
          <a:solidFill>
            <a:srgbClr val="0FA3B8"/>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خريطة المتحف</a:t>
            </a:r>
            <a:endParaRPr lang="ar-SA" sz="1600" dirty="0"/>
          </a:p>
        </p:txBody>
      </p:sp>
      <p:sp>
        <p:nvSpPr>
          <p:cNvPr id="5" name="s9_t_3">
            <a:hlinkClick r:id="rId5" tooltip="قاعة الاستكشاف ◀" action="ppaction://hlinksldjump"/>
          </p:cNvPr>
          <p:cNvSpPr txBox="1"/>
          <p:nvPr/>
        </p:nvSpPr>
        <p:spPr>
          <a:xfrm>
            <a:off x="7955280" y="6382512"/>
            <a:ext cx="2011680" cy="384048"/>
          </a:xfrm>
          <a:prstGeom prst="roundRect">
            <a:avLst>
              <a:gd name="adj" fmla="val 50000"/>
            </a:avLst>
          </a:prstGeom>
          <a:solidFill>
            <a:srgbClr val="8C9BB5"/>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قاعة الاستكشاف ◀</a:t>
            </a:r>
            <a:endParaRPr lang="ar-SA" sz="1600" dirty="0"/>
          </a:p>
        </p:txBody>
      </p:sp>
      <p:pic>
        <p:nvPicPr>
          <p:cNvPr id="6" name="s9_pic_4" descr="منصة عرض زجاجية">    </p:cNvPr>
          <p:cNvPicPr>
            <a:picLocks noChangeAspect="1"/>
          </p:cNvPicPr>
          <p:nvPr/>
        </p:nvPicPr>
        <p:blipFill>
          <a:blip r:embed="rId6"/>
          <a:stretch>
            <a:fillRect/>
          </a:stretch>
        </p:blipFill>
        <p:spPr>
          <a:xfrm>
            <a:off x="548640" y="3749040"/>
            <a:ext cx="3566160" cy="2674620"/>
          </a:xfrm>
          <a:prstGeom prst="rect">
            <a:avLst/>
          </a:prstGeom>
        </p:spPr>
      </p:pic>
      <p:pic>
        <p:nvPicPr>
          <p:cNvPr id="7" name="!!vm_4" descr="التبرعم">    </p:cNvPr>
          <p:cNvPicPr>
            <a:picLocks noChangeAspect="1"/>
          </p:cNvPicPr>
          <p:nvPr/>
        </p:nvPicPr>
        <p:blipFill>
          <a:blip r:embed="rId7"/>
          <a:stretch>
            <a:fillRect/>
          </a:stretch>
        </p:blipFill>
        <p:spPr>
          <a:xfrm>
            <a:off x="685800" y="1417320"/>
            <a:ext cx="3291840" cy="2821577"/>
          </a:xfrm>
          <a:prstGeom prst="rect">
            <a:avLst/>
          </a:prstGeom>
        </p:spPr>
      </p:pic>
      <p:pic>
        <p:nvPicPr>
          <p:cNvPr id="8" name="s9_pic_5" descr="/tmp/claude-0/-home-user-Scienceshamah/8386cda7-7741-5ea4-8952-60ee8e67fc31/scratchpad/w4/img/scr_864x440_E3A21A_FFFFFF.png">    </p:cNvPr>
          <p:cNvPicPr>
            <a:picLocks noChangeAspect="1"/>
          </p:cNvPicPr>
          <p:nvPr/>
        </p:nvPicPr>
        <p:blipFill>
          <a:blip r:embed="rId8"/>
          <a:stretch>
            <a:fillRect/>
          </a:stretch>
        </p:blipFill>
        <p:spPr>
          <a:xfrm>
            <a:off x="4462272" y="1124712"/>
            <a:ext cx="7397496" cy="3877056"/>
          </a:xfrm>
          <a:prstGeom prst="rect">
            <a:avLst/>
          </a:prstGeom>
        </p:spPr>
      </p:pic>
      <p:sp>
        <p:nvSpPr>
          <p:cNvPr id="9" name="s9_t_6"/>
          <p:cNvSpPr txBox="1"/>
          <p:nvPr/>
        </p:nvSpPr>
        <p:spPr>
          <a:xfrm>
            <a:off x="4754880" y="1325880"/>
            <a:ext cx="6812280" cy="594360"/>
          </a:xfrm>
          <a:prstGeom prst="rect">
            <a:avLst/>
          </a:prstGeom>
          <a:noFill/>
          <a:ln/>
        </p:spPr>
        <p:txBody>
          <a:bodyPr wrap="square" lIns="762" tIns="762" rIns="762" bIns="762" rtlCol="0" anchor="ctr"/>
          <a:lstStyle/>
          <a:p>
            <a:pPr rtl="1" algn="ctr" indent="0" marL="0">
              <a:lnSpc>
                <a:spcPct val="108000"/>
              </a:lnSpc>
              <a:buNone/>
            </a:pPr>
            <a:r>
              <a:rPr lang="ar-SA" altLang="en-US" sz="2800" b="1" dirty="0">
                <a:solidFill>
                  <a:srgbClr val="E3A21A"/>
                </a:solidFill>
                <a:latin typeface="Tahoma" pitchFamily="34" charset="0"/>
                <a:ea typeface="Tahoma" pitchFamily="34" charset="-122"/>
                <a:cs typeface="Tahoma" pitchFamily="34" charset="-120"/>
              </a:rPr>
              <a:t>التبرعم</a:t>
            </a:r>
            <a:endParaRPr lang="ar-SA" sz="2800" dirty="0"/>
          </a:p>
        </p:txBody>
      </p:sp>
      <p:sp>
        <p:nvSpPr>
          <p:cNvPr id="10" name="s9_t_7"/>
          <p:cNvSpPr txBox="1"/>
          <p:nvPr/>
        </p:nvSpPr>
        <p:spPr>
          <a:xfrm>
            <a:off x="4754880" y="1965960"/>
            <a:ext cx="6812280" cy="1600200"/>
          </a:xfrm>
          <a:prstGeom prst="rect">
            <a:avLst/>
          </a:prstGeom>
          <a:noFill/>
          <a:ln/>
        </p:spPr>
        <p:txBody>
          <a:bodyPr wrap="square" lIns="762" tIns="762" rIns="762" bIns="762" rtlCol="0" anchor="t"/>
          <a:lstStyle/>
          <a:p>
            <a:pPr rtl="1" algn="r" indent="0" marL="0">
              <a:lnSpc>
                <a:spcPct val="115000"/>
              </a:lnSpc>
              <a:buNone/>
            </a:pPr>
            <a:r>
              <a:rPr lang="ar-SA" altLang="en-US" sz="1900" b="1" dirty="0">
                <a:solidFill>
                  <a:srgbClr val="C2366F"/>
                </a:solidFill>
                <a:latin typeface="Tahoma" pitchFamily="34" charset="0"/>
                <a:ea typeface="Tahoma" pitchFamily="34" charset="-122"/>
                <a:cs typeface="Tahoma" pitchFamily="34" charset="-120"/>
              </a:rPr>
              <a:t>التعريف: </a:t>
            </a:r>
            <a:r>
              <a:rPr lang="ar-SA" altLang="en-US" sz="1900" b="1" dirty="0">
                <a:solidFill>
                  <a:srgbClr val="1B2A4A"/>
                </a:solidFill>
                <a:latin typeface="Tahoma" pitchFamily="34" charset="0"/>
                <a:ea typeface="Tahoma" pitchFamily="34" charset="-122"/>
                <a:cs typeface="Tahoma" pitchFamily="34" charset="-120"/>
              </a:rPr>
              <a:t>تكاثر لاجنسي يتكوّن فيه برعم بنموّ بروز صغير على الخلية الأم، ثم ينفصل ويصبح مخلوقًا حيًّا جديدًا.</a:t>
            </a:r>
            <a:endParaRPr lang="ar-SA" sz="1900" dirty="0"/>
          </a:p>
        </p:txBody>
      </p:sp>
      <p:sp>
        <p:nvSpPr>
          <p:cNvPr id="11" name="s9_t_8"/>
          <p:cNvSpPr txBox="1"/>
          <p:nvPr/>
        </p:nvSpPr>
        <p:spPr>
          <a:xfrm>
            <a:off x="4754880" y="3611880"/>
            <a:ext cx="6812280" cy="1143000"/>
          </a:xfrm>
          <a:prstGeom prst="rect">
            <a:avLst/>
          </a:prstGeom>
          <a:noFill/>
          <a:ln/>
        </p:spPr>
        <p:txBody>
          <a:bodyPr wrap="square" lIns="762" tIns="762" rIns="762" bIns="762" rtlCol="0" anchor="t"/>
          <a:lstStyle/>
          <a:p>
            <a:pPr rtl="1" algn="r" indent="0" marL="0">
              <a:lnSpc>
                <a:spcPct val="108000"/>
              </a:lnSpc>
              <a:buNone/>
            </a:pPr>
            <a:r>
              <a:rPr lang="ar-SA" altLang="en-US" sz="1800" b="1" dirty="0">
                <a:solidFill>
                  <a:srgbClr val="3D8BFF"/>
                </a:solidFill>
                <a:latin typeface="Tahoma" pitchFamily="34" charset="0"/>
                <a:ea typeface="Tahoma" pitchFamily="34" charset="-122"/>
                <a:cs typeface="Tahoma" pitchFamily="34" charset="-120"/>
              </a:rPr>
              <a:t>📖 مثال من الكتاب: </a:t>
            </a:r>
            <a:r>
              <a:rPr lang="ar-SA" altLang="en-US" sz="1800" b="1" dirty="0">
                <a:solidFill>
                  <a:srgbClr val="1B2A4A"/>
                </a:solidFill>
                <a:latin typeface="Tahoma" pitchFamily="34" charset="0"/>
                <a:ea typeface="Tahoma" pitchFamily="34" charset="-122"/>
                <a:cs typeface="Tahoma" pitchFamily="34" charset="-120"/>
              </a:rPr>
              <a:t>الخميرة.</a:t>
            </a:r>
            <a:endParaRPr lang="ar-SA" sz="1800" dirty="0"/>
          </a:p>
        </p:txBody>
      </p:sp>
      <p:pic>
        <p:nvPicPr>
          <p:cNvPr id="12" name="s9_pic_9" descr="/tmp/claude-0/-home-user-Scienceshamah/8386cda7-7741-5ea4-8952-60ee8e67fc31/scratchpad/w4/img/scr_864x132_FFB800_FFF9E6.png">    </p:cNvPr>
          <p:cNvPicPr>
            <a:picLocks noChangeAspect="1"/>
          </p:cNvPicPr>
          <p:nvPr/>
        </p:nvPicPr>
        <p:blipFill>
          <a:blip r:embed="rId9"/>
          <a:stretch>
            <a:fillRect/>
          </a:stretch>
        </p:blipFill>
        <p:spPr>
          <a:xfrm>
            <a:off x="4462272" y="4965192"/>
            <a:ext cx="7397496" cy="1316736"/>
          </a:xfrm>
          <a:prstGeom prst="rect">
            <a:avLst/>
          </a:prstGeom>
        </p:spPr>
      </p:pic>
      <p:sp>
        <p:nvSpPr>
          <p:cNvPr id="13" name="s9_t_10"/>
          <p:cNvSpPr txBox="1"/>
          <p:nvPr/>
        </p:nvSpPr>
        <p:spPr>
          <a:xfrm>
            <a:off x="6949440" y="5120640"/>
            <a:ext cx="4663440" cy="1005840"/>
          </a:xfrm>
          <a:prstGeom prst="rect">
            <a:avLst/>
          </a:prstGeom>
          <a:noFill/>
          <a:ln/>
        </p:spPr>
        <p:txBody>
          <a:bodyPr wrap="square" lIns="762" tIns="762" rIns="762" bIns="762" rtlCol="0" anchor="ctr"/>
          <a:lstStyle/>
          <a:p>
            <a:pPr rtl="1" algn="r" indent="0" marL="0">
              <a:lnSpc>
                <a:spcPct val="108000"/>
              </a:lnSpc>
              <a:buNone/>
            </a:pPr>
            <a:r>
              <a:rPr lang="ar-SA" altLang="en-US" sz="1700" b="1" dirty="0">
                <a:solidFill>
                  <a:srgbClr val="B07800"/>
                </a:solidFill>
                <a:latin typeface="Tahoma" pitchFamily="34" charset="0"/>
                <a:ea typeface="Tahoma" pitchFamily="34" charset="-122"/>
                <a:cs typeface="Tahoma" pitchFamily="34" charset="-120"/>
              </a:rPr>
              <a:t>❓ سؤال: </a:t>
            </a:r>
            <a:r>
              <a:rPr lang="ar-SA" altLang="en-US" sz="1700" b="1" dirty="0">
                <a:solidFill>
                  <a:srgbClr val="1B2A4A"/>
                </a:solidFill>
                <a:latin typeface="Tahoma" pitchFamily="34" charset="0"/>
                <a:ea typeface="Tahoma" pitchFamily="34" charset="-122"/>
                <a:cs typeface="Tahoma" pitchFamily="34" charset="-120"/>
              </a:rPr>
              <a:t>على أي جزء من الخلية الأم يتكوّن البرعم؟</a:t>
            </a:r>
            <a:endParaRPr lang="ar-SA" sz="1700" dirty="0"/>
          </a:p>
        </p:txBody>
      </p:sp>
      <p:sp>
        <p:nvSpPr>
          <p:cNvPr id="14" name="s9_t_11"/>
          <p:cNvSpPr txBox="1"/>
          <p:nvPr/>
        </p:nvSpPr>
        <p:spPr>
          <a:xfrm>
            <a:off x="4709160" y="5120640"/>
            <a:ext cx="2194560" cy="1005840"/>
          </a:xfrm>
          <a:prstGeom prst="rect">
            <a:avLst/>
          </a:prstGeom>
          <a:noFill/>
          <a:ln/>
        </p:spPr>
        <p:txBody>
          <a:bodyPr wrap="square" lIns="762" tIns="762" rIns="762" bIns="762" rtlCol="0" anchor="ctr"/>
          <a:lstStyle/>
          <a:p>
            <a:pPr rtl="1" algn="ctr" indent="0" marL="0">
              <a:lnSpc>
                <a:spcPct val="108000"/>
              </a:lnSpc>
              <a:buNone/>
            </a:pPr>
            <a:r>
              <a:rPr lang="ar-SA" altLang="en-US" sz="1600" b="1" dirty="0">
                <a:solidFill>
                  <a:srgbClr val="0E7C55"/>
                </a:solidFill>
                <a:latin typeface="Tahoma" pitchFamily="34" charset="0"/>
                <a:ea typeface="Tahoma" pitchFamily="34" charset="-122"/>
                <a:cs typeface="Tahoma" pitchFamily="34" charset="-120"/>
              </a:rPr>
              <a:t>✔ يتكوّن البرعم بنموّ بروز صغير على الخلية الأم.</a:t>
            </a:r>
            <a:endParaRPr lang="ar-SA" sz="16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14"/>
                                        </p:tgtEl>
                                        <p:attrNameLst>
                                          <p:attrName>style.visibility</p:attrName>
                                        </p:attrNameLst>
                                      </p:cBhvr>
                                      <p:to>
                                        <p:strVal val="visible"/>
                                      </p:to>
                                    </p:set>
                                    <p:anim calcmode="lin" valueType="num">
                                      <p:cBhvr>
                                        <p:cTn id="6" dur="500" fill="hold"/>
                                        <p:tgtEl>
                                          <p:spTgt spid="14"/>
                                        </p:tgtEl>
                                        <p:attrNameLst>
                                          <p:attrName>ppt_w</p:attrName>
                                        </p:attrNameLst>
                                      </p:cBhvr>
                                      <p:tavLst>
                                        <p:tav tm="0">
                                          <p:val>
                                            <p:fltVal val="0"/>
                                          </p:val>
                                        </p:tav>
                                        <p:tav tm="100000">
                                          <p:val>
                                            <p:strVal val="#ppt_w"/>
                                          </p:val>
                                        </p:tav>
                                      </p:tavLst>
                                    </p:anim>
                                    <p:anim calcmode="lin" valueType="num">
                                      <p:cBhvr>
                                        <p:cTn id="7" dur="500" fill="hold"/>
                                        <p:tgtEl>
                                          <p:spTgt spid="14"/>
                                        </p:tgtEl>
                                        <p:attrNameLst>
                                          <p:attrName>ppt_h</p:attrName>
                                        </p:attrNameLst>
                                      </p:cBhvr>
                                      <p:tavLst>
                                        <p:tav tm="0">
                                          <p:val>
                                            <p:fltVal val="0"/>
                                          </p:val>
                                        </p:tav>
                                        <p:tav tm="100000">
                                          <p:val>
                                            <p:strVal val="#ppt_h"/>
                                          </p:val>
                                        </p:tav>
                                      </p:tavLst>
                                    </p:anim>
                                    <p:animEffect transition="in" filter="fade">
                                      <p:cBhvr>
                                        <p:cTn id="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10_sign" descr="قاعة الاستكشاف">    </p:cNvPr>
          <p:cNvPicPr>
            <a:picLocks noChangeAspect="1"/>
          </p:cNvPicPr>
          <p:nvPr/>
        </p:nvPicPr>
        <p:blipFill>
          <a:blip r:embed="rId2"/>
          <a:stretch>
            <a:fillRect/>
          </a:stretch>
        </p:blipFill>
        <p:spPr>
          <a:xfrm>
            <a:off x="4396170" y="91440"/>
            <a:ext cx="3399355" cy="868680"/>
          </a:xfrm>
          <a:prstGeom prst="rect">
            <a:avLst/>
          </a:prstGeom>
        </p:spPr>
      </p:pic>
      <p:sp>
        <p:nvSpPr>
          <p:cNvPr id="3" name="s10_t_1"/>
          <p:cNvSpPr txBox="1"/>
          <p:nvPr/>
        </p:nvSpPr>
        <p:spPr>
          <a:xfrm>
            <a:off x="10561320" y="274320"/>
            <a:ext cx="1325880" cy="502920"/>
          </a:xfrm>
          <a:prstGeom prst="roundRect">
            <a:avLst>
              <a:gd name="adj" fmla="val 49091"/>
            </a:avLst>
          </a:prstGeom>
          <a:solidFill>
            <a:srgbClr val="1B2A4A"/>
          </a:solidFill>
          <a:ln/>
        </p:spPr>
        <p:txBody>
          <a:bodyPr wrap="square" lIns="762" tIns="762" rIns="762" bIns="762" rtlCol="0" anchor="ctr"/>
          <a:lstStyle/>
          <a:p>
            <a:pPr rtl="1" algn="ctr" indent="0" marL="0">
              <a:lnSpc>
                <a:spcPct val="108000"/>
              </a:lnSpc>
              <a:buNone/>
            </a:pPr>
            <a:r>
              <a:rPr lang="ar-SA" altLang="en-US" sz="1700" b="1" dirty="0">
                <a:solidFill>
                  <a:srgbClr val="FFFFFF"/>
                </a:solidFill>
                <a:latin typeface="Tahoma" pitchFamily="34" charset="0"/>
                <a:ea typeface="Tahoma" pitchFamily="34" charset="-122"/>
                <a:cs typeface="Tahoma" pitchFamily="34" charset="-120"/>
              </a:rPr>
              <a:t>القاعة </a:t>
            </a:r>
            <a:r>
              <a:rPr lang="ar-SA" altLang="en-US" sz="1700" b="1" dirty="0">
                <a:solidFill>
                  <a:srgbClr val="FFFFFF"/>
                </a:solidFill>
                <a:latin typeface="Tahoma" pitchFamily="34" charset="0"/>
                <a:ea typeface="Tahoma" pitchFamily="34" charset="-122"/>
                <a:cs typeface="Tahoma" pitchFamily="34" charset="-120"/>
              </a:rPr>
              <a:t>٣</a:t>
            </a:r>
            <a:endParaRPr lang="ar-SA" sz="1700" dirty="0"/>
          </a:p>
        </p:txBody>
      </p:sp>
      <p:sp>
        <p:nvSpPr>
          <p:cNvPr id="4" name="s10_t_2"/>
          <p:cNvSpPr txBox="1"/>
          <p:nvPr/>
        </p:nvSpPr>
        <p:spPr>
          <a:xfrm>
            <a:off x="365760" y="228600"/>
            <a:ext cx="2788920" cy="603504"/>
          </a:xfrm>
          <a:prstGeom prst="roundRect">
            <a:avLst>
              <a:gd name="adj" fmla="val 39394"/>
            </a:avLst>
          </a:prstGeom>
          <a:solidFill>
            <a:srgbClr val="FFFFFF"/>
          </a:solidFill>
          <a:ln w="25400">
            <a:solidFill>
              <a:srgbClr val="8C5CFF"/>
            </a:solidFill>
            <a:prstDash val="dash"/>
          </a:ln>
        </p:spPr>
        <p:txBody>
          <a:bodyPr wrap="square" lIns="762" tIns="762" rIns="762" bIns="762" rtlCol="0" anchor="ctr"/>
          <a:lstStyle/>
          <a:p>
            <a:pPr rtl="1" algn="ctr" indent="0" marL="0">
              <a:lnSpc>
                <a:spcPct val="108000"/>
              </a:lnSpc>
              <a:buNone/>
            </a:pPr>
            <a:r>
              <a:rPr lang="ar-SA" altLang="en-US" sz="1350" b="1" dirty="0">
                <a:solidFill>
                  <a:srgbClr val="C2366F"/>
                </a:solidFill>
                <a:latin typeface="Tahoma" pitchFamily="34" charset="0"/>
                <a:ea typeface="Tahoma" pitchFamily="34" charset="-122"/>
                <a:cs typeface="Tahoma" pitchFamily="34" charset="-120"/>
              </a:rPr>
              <a:t>الاستراتيجية: </a:t>
            </a:r>
            <a:r>
              <a:rPr lang="ar-SA" altLang="en-US" sz="1350" b="1" dirty="0">
                <a:solidFill>
                  <a:srgbClr val="34405E"/>
                </a:solidFill>
                <a:latin typeface="Tahoma" pitchFamily="34" charset="0"/>
                <a:ea typeface="Tahoma" pitchFamily="34" charset="-122"/>
                <a:cs typeface="Tahoma" pitchFamily="34" charset="-120"/>
              </a:rPr>
              <a:t>لاحظي – فكّري – استنتجي</a:t>
            </a:r>
            <a:endParaRPr lang="ar-SA" sz="1350" dirty="0"/>
          </a:p>
        </p:txBody>
      </p:sp>
      <p:sp>
        <p:nvSpPr>
          <p:cNvPr id="5" name="s10_t_3">
            <a:hlinkClick r:id="rId3" tooltip="الانتقال إلى القاعة التالية" action="ppaction://hlinksldjump"/>
          </p:cNvPr>
          <p:cNvSpPr txBox="1"/>
          <p:nvPr/>
        </p:nvSpPr>
        <p:spPr>
          <a:xfrm>
            <a:off x="2926080" y="6382512"/>
            <a:ext cx="2011680" cy="384048"/>
          </a:xfrm>
          <a:prstGeom prst="roundRect">
            <a:avLst>
              <a:gd name="adj" fmla="val 50000"/>
            </a:avLst>
          </a:prstGeom>
          <a:solidFill>
            <a:srgbClr val="5B6CFF"/>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القاعة التالية ◀</a:t>
            </a:r>
            <a:endParaRPr lang="ar-SA" sz="1600" dirty="0"/>
          </a:p>
        </p:txBody>
      </p:sp>
      <p:sp>
        <p:nvSpPr>
          <p:cNvPr id="6" name="s10_t_4">
            <a:hlinkClick r:id="rId4" tooltip="العودة إلى خريطة المتحف" action="ppaction://hlinksldjump"/>
          </p:cNvPr>
          <p:cNvSpPr txBox="1"/>
          <p:nvPr/>
        </p:nvSpPr>
        <p:spPr>
          <a:xfrm>
            <a:off x="5074920" y="6382512"/>
            <a:ext cx="2011680" cy="384048"/>
          </a:xfrm>
          <a:prstGeom prst="roundRect">
            <a:avLst>
              <a:gd name="adj" fmla="val 50000"/>
            </a:avLst>
          </a:prstGeom>
          <a:solidFill>
            <a:srgbClr val="0FA3B8"/>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خريطة المتحف</a:t>
            </a:r>
            <a:endParaRPr lang="ar-SA" sz="1600" dirty="0"/>
          </a:p>
        </p:txBody>
      </p:sp>
      <p:sp>
        <p:nvSpPr>
          <p:cNvPr id="7" name="s10_t_5">
            <a:hlinkClick r:id="rId5" tooltip="القاعة السابقة" action="ppaction://hlinksldjump"/>
          </p:cNvPr>
          <p:cNvSpPr txBox="1"/>
          <p:nvPr/>
        </p:nvSpPr>
        <p:spPr>
          <a:xfrm>
            <a:off x="7223760" y="6382512"/>
            <a:ext cx="1463040" cy="384048"/>
          </a:xfrm>
          <a:prstGeom prst="roundRect">
            <a:avLst>
              <a:gd name="adj" fmla="val 50000"/>
            </a:avLst>
          </a:prstGeom>
          <a:solidFill>
            <a:srgbClr val="8C9BB5"/>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السابقة</a:t>
            </a:r>
            <a:endParaRPr lang="ar-SA" sz="1600" dirty="0"/>
          </a:p>
        </p:txBody>
      </p:sp>
      <p:pic>
        <p:nvPicPr>
          <p:cNvPr id="8" name="s10_pic_6" descr="منصة عرض زجاجية">    </p:cNvPr>
          <p:cNvPicPr>
            <a:picLocks noChangeAspect="1"/>
          </p:cNvPicPr>
          <p:nvPr/>
        </p:nvPicPr>
        <p:blipFill>
          <a:blip r:embed="rId6"/>
          <a:stretch>
            <a:fillRect/>
          </a:stretch>
        </p:blipFill>
        <p:spPr>
          <a:xfrm>
            <a:off x="4617720" y="4297680"/>
            <a:ext cx="2926080" cy="2194560"/>
          </a:xfrm>
          <a:prstGeom prst="rect">
            <a:avLst/>
          </a:prstGeom>
        </p:spPr>
      </p:pic>
      <p:pic>
        <p:nvPicPr>
          <p:cNvPr id="9" name="s10_pic_7" descr="مجهر علمي">    </p:cNvPr>
          <p:cNvPicPr>
            <a:picLocks noChangeAspect="1"/>
          </p:cNvPicPr>
          <p:nvPr/>
        </p:nvPicPr>
        <p:blipFill>
          <a:blip r:embed="rId7"/>
          <a:stretch>
            <a:fillRect/>
          </a:stretch>
        </p:blipFill>
        <p:spPr>
          <a:xfrm>
            <a:off x="5074920" y="2148840"/>
            <a:ext cx="2057400" cy="2057400"/>
          </a:xfrm>
          <a:prstGeom prst="rect">
            <a:avLst/>
          </a:prstGeom>
        </p:spPr>
      </p:pic>
      <p:pic>
        <p:nvPicPr>
          <p:cNvPr id="10" name="s10_pic_8" descr="/tmp/claude-0/-home-user-Scienceshamah/8386cda7-7741-5ea4-8952-60ee8e67fc31/scratchpad/w4/img/scr_374x264_0FA3B8_FFFFFF.png">    </p:cNvPr>
          <p:cNvPicPr>
            <a:picLocks noChangeAspect="1"/>
          </p:cNvPicPr>
          <p:nvPr/>
        </p:nvPicPr>
        <p:blipFill>
          <a:blip r:embed="rId8"/>
          <a:stretch>
            <a:fillRect/>
          </a:stretch>
        </p:blipFill>
        <p:spPr>
          <a:xfrm>
            <a:off x="8439912" y="1170432"/>
            <a:ext cx="3328416" cy="2414016"/>
          </a:xfrm>
          <a:prstGeom prst="rect">
            <a:avLst/>
          </a:prstGeom>
        </p:spPr>
      </p:pic>
      <p:pic>
        <p:nvPicPr>
          <p:cNvPr id="11" name="s10_pic_9" descr="عفن البنسيليوم (صورة من الكتاب)">    </p:cNvPr>
          <p:cNvPicPr>
            <a:picLocks noChangeAspect="1"/>
          </p:cNvPicPr>
          <p:nvPr/>
        </p:nvPicPr>
        <p:blipFill>
          <a:blip r:embed="rId9"/>
          <a:stretch>
            <a:fillRect/>
          </a:stretch>
        </p:blipFill>
        <p:spPr>
          <a:xfrm>
            <a:off x="8641080" y="1371600"/>
            <a:ext cx="2926080" cy="1600200"/>
          </a:xfrm>
          <a:prstGeom prst="rect">
            <a:avLst/>
          </a:prstGeom>
        </p:spPr>
      </p:pic>
      <p:sp>
        <p:nvSpPr>
          <p:cNvPr id="12" name="s10_t_10"/>
          <p:cNvSpPr txBox="1"/>
          <p:nvPr/>
        </p:nvSpPr>
        <p:spPr>
          <a:xfrm>
            <a:off x="8641080" y="2999232"/>
            <a:ext cx="2926080" cy="384048"/>
          </a:xfrm>
          <a:prstGeom prst="rect">
            <a:avLst/>
          </a:prstGeom>
          <a:noFill/>
          <a:ln/>
        </p:spPr>
        <p:txBody>
          <a:bodyPr wrap="square" lIns="762" tIns="762" rIns="762" bIns="762" rtlCol="0" anchor="ctr"/>
          <a:lstStyle/>
          <a:p>
            <a:pPr rtl="1" algn="ctr" indent="0" marL="0">
              <a:lnSpc>
                <a:spcPct val="108000"/>
              </a:lnSpc>
              <a:buNone/>
            </a:pPr>
            <a:r>
              <a:rPr lang="ar-SA" altLang="en-US" sz="1600" b="1" dirty="0">
                <a:solidFill>
                  <a:srgbClr val="1B2A4A"/>
                </a:solidFill>
                <a:latin typeface="Tahoma" pitchFamily="34" charset="0"/>
                <a:ea typeface="Tahoma" pitchFamily="34" charset="-122"/>
                <a:cs typeface="Tahoma" pitchFamily="34" charset="-120"/>
              </a:rPr>
              <a:t>عفن البنسيليوم</a:t>
            </a:r>
            <a:endParaRPr lang="ar-SA" sz="1600" dirty="0"/>
          </a:p>
        </p:txBody>
      </p:sp>
      <p:pic>
        <p:nvPicPr>
          <p:cNvPr id="13" name="s10_pic_11" descr="/tmp/claude-0/-home-user-Scienceshamah/8386cda7-7741-5ea4-8952-60ee8e67fc31/scratchpad/w4/img/scr_374x264_0FA3B8_FFFFFF.png">    </p:cNvPr>
          <p:cNvPicPr>
            <a:picLocks noChangeAspect="1"/>
          </p:cNvPicPr>
          <p:nvPr/>
        </p:nvPicPr>
        <p:blipFill>
          <a:blip r:embed="rId10"/>
          <a:stretch>
            <a:fillRect/>
          </a:stretch>
        </p:blipFill>
        <p:spPr>
          <a:xfrm>
            <a:off x="438912" y="1170432"/>
            <a:ext cx="3328416" cy="2414016"/>
          </a:xfrm>
          <a:prstGeom prst="rect">
            <a:avLst/>
          </a:prstGeom>
        </p:spPr>
      </p:pic>
      <p:pic>
        <p:nvPicPr>
          <p:cNvPr id="14" name="s10_pic_12" descr="البراميسيوم (صورة من الكتاب)">    </p:cNvPr>
          <p:cNvPicPr>
            <a:picLocks noChangeAspect="1"/>
          </p:cNvPicPr>
          <p:nvPr/>
        </p:nvPicPr>
        <p:blipFill>
          <a:blip r:embed="rId11"/>
          <a:stretch>
            <a:fillRect/>
          </a:stretch>
        </p:blipFill>
        <p:spPr>
          <a:xfrm>
            <a:off x="640080" y="1371600"/>
            <a:ext cx="2926080" cy="1600200"/>
          </a:xfrm>
          <a:prstGeom prst="rect">
            <a:avLst/>
          </a:prstGeom>
        </p:spPr>
      </p:pic>
      <p:sp>
        <p:nvSpPr>
          <p:cNvPr id="15" name="s10_t_13"/>
          <p:cNvSpPr txBox="1"/>
          <p:nvPr/>
        </p:nvSpPr>
        <p:spPr>
          <a:xfrm>
            <a:off x="640080" y="2999232"/>
            <a:ext cx="2926080" cy="384048"/>
          </a:xfrm>
          <a:prstGeom prst="rect">
            <a:avLst/>
          </a:prstGeom>
          <a:noFill/>
          <a:ln/>
        </p:spPr>
        <p:txBody>
          <a:bodyPr wrap="square" lIns="762" tIns="762" rIns="762" bIns="762" rtlCol="0" anchor="ctr"/>
          <a:lstStyle/>
          <a:p>
            <a:pPr rtl="1" algn="ctr" indent="0" marL="0">
              <a:lnSpc>
                <a:spcPct val="108000"/>
              </a:lnSpc>
              <a:buNone/>
            </a:pPr>
            <a:r>
              <a:rPr lang="ar-SA" altLang="en-US" sz="1600" b="1" dirty="0">
                <a:solidFill>
                  <a:srgbClr val="1B2A4A"/>
                </a:solidFill>
                <a:latin typeface="Tahoma" pitchFamily="34" charset="0"/>
                <a:ea typeface="Tahoma" pitchFamily="34" charset="-122"/>
                <a:cs typeface="Tahoma" pitchFamily="34" charset="-120"/>
              </a:rPr>
              <a:t>البراميسيوم</a:t>
            </a:r>
            <a:endParaRPr lang="ar-SA" sz="1600" dirty="0"/>
          </a:p>
        </p:txBody>
      </p:sp>
      <p:pic>
        <p:nvPicPr>
          <p:cNvPr id="16" name="s10_pic_14" descr="/tmp/claude-0/-home-user-Scienceshamah/8386cda7-7741-5ea4-8952-60ee8e67fc31/scratchpad/w4/img/scr_374x264_0FA3B8_FFFFFF.png">    </p:cNvPr>
          <p:cNvPicPr>
            <a:picLocks noChangeAspect="1"/>
          </p:cNvPicPr>
          <p:nvPr/>
        </p:nvPicPr>
        <p:blipFill>
          <a:blip r:embed="rId12"/>
          <a:stretch>
            <a:fillRect/>
          </a:stretch>
        </p:blipFill>
        <p:spPr>
          <a:xfrm>
            <a:off x="8439912" y="3593592"/>
            <a:ext cx="3328416" cy="2414016"/>
          </a:xfrm>
          <a:prstGeom prst="rect">
            <a:avLst/>
          </a:prstGeom>
        </p:spPr>
      </p:pic>
      <p:pic>
        <p:nvPicPr>
          <p:cNvPr id="17" name="s10_pic_15" descr="الخميرة (صورة من الكتاب)">    </p:cNvPr>
          <p:cNvPicPr>
            <a:picLocks noChangeAspect="1"/>
          </p:cNvPicPr>
          <p:nvPr/>
        </p:nvPicPr>
        <p:blipFill>
          <a:blip r:embed="rId13"/>
          <a:stretch>
            <a:fillRect/>
          </a:stretch>
        </p:blipFill>
        <p:spPr>
          <a:xfrm>
            <a:off x="8641080" y="3794760"/>
            <a:ext cx="2926080" cy="1600200"/>
          </a:xfrm>
          <a:prstGeom prst="rect">
            <a:avLst/>
          </a:prstGeom>
        </p:spPr>
      </p:pic>
      <p:sp>
        <p:nvSpPr>
          <p:cNvPr id="18" name="s10_t_16"/>
          <p:cNvSpPr txBox="1"/>
          <p:nvPr/>
        </p:nvSpPr>
        <p:spPr>
          <a:xfrm>
            <a:off x="8641080" y="5422392"/>
            <a:ext cx="2926080" cy="384048"/>
          </a:xfrm>
          <a:prstGeom prst="rect">
            <a:avLst/>
          </a:prstGeom>
          <a:noFill/>
          <a:ln/>
        </p:spPr>
        <p:txBody>
          <a:bodyPr wrap="square" lIns="762" tIns="762" rIns="762" bIns="762" rtlCol="0" anchor="ctr"/>
          <a:lstStyle/>
          <a:p>
            <a:pPr rtl="1" algn="ctr" indent="0" marL="0">
              <a:lnSpc>
                <a:spcPct val="108000"/>
              </a:lnSpc>
              <a:buNone/>
            </a:pPr>
            <a:r>
              <a:rPr lang="ar-SA" altLang="en-US" sz="1600" b="1" dirty="0">
                <a:solidFill>
                  <a:srgbClr val="1B2A4A"/>
                </a:solidFill>
                <a:latin typeface="Tahoma" pitchFamily="34" charset="0"/>
                <a:ea typeface="Tahoma" pitchFamily="34" charset="-122"/>
                <a:cs typeface="Tahoma" pitchFamily="34" charset="-120"/>
              </a:rPr>
              <a:t>الخميرة</a:t>
            </a:r>
            <a:endParaRPr lang="ar-SA" sz="1600" dirty="0"/>
          </a:p>
        </p:txBody>
      </p:sp>
      <p:pic>
        <p:nvPicPr>
          <p:cNvPr id="19" name="s10_pic_17" descr="/tmp/claude-0/-home-user-Scienceshamah/8386cda7-7741-5ea4-8952-60ee8e67fc31/scratchpad/w4/img/scr_374x270_8C5CFF_FFFFFF.png">    </p:cNvPr>
          <p:cNvPicPr>
            <a:picLocks noChangeAspect="1"/>
          </p:cNvPicPr>
          <p:nvPr/>
        </p:nvPicPr>
        <p:blipFill>
          <a:blip r:embed="rId14"/>
          <a:stretch>
            <a:fillRect/>
          </a:stretch>
        </p:blipFill>
        <p:spPr>
          <a:xfrm>
            <a:off x="438912" y="3593592"/>
            <a:ext cx="3328416" cy="2459736"/>
          </a:xfrm>
          <a:prstGeom prst="rect">
            <a:avLst/>
          </a:prstGeom>
        </p:spPr>
      </p:pic>
      <p:sp>
        <p:nvSpPr>
          <p:cNvPr id="20" name="s10_t_18"/>
          <p:cNvSpPr txBox="1"/>
          <p:nvPr/>
        </p:nvSpPr>
        <p:spPr>
          <a:xfrm>
            <a:off x="658368" y="3749040"/>
            <a:ext cx="2889504" cy="2148840"/>
          </a:xfrm>
          <a:prstGeom prst="rect">
            <a:avLst/>
          </a:prstGeom>
          <a:noFill/>
          <a:ln/>
        </p:spPr>
        <p:txBody>
          <a:bodyPr wrap="square" lIns="762" tIns="762" rIns="762" bIns="762" rtlCol="0" anchor="ctr"/>
          <a:lstStyle/>
          <a:p>
            <a:pPr rtl="1" algn="ctr" indent="0" marL="0">
              <a:lnSpc>
                <a:spcPct val="108000"/>
              </a:lnSpc>
              <a:buNone/>
            </a:pPr>
            <a:r>
              <a:rPr lang="ar-SA" altLang="en-US" sz="1800" b="1" dirty="0">
                <a:solidFill>
                  <a:srgbClr val="6B4FC0"/>
                </a:solidFill>
                <a:latin typeface="Tahoma" pitchFamily="34" charset="0"/>
                <a:ea typeface="Tahoma" pitchFamily="34" charset="-122"/>
                <a:cs typeface="Tahoma" pitchFamily="34" charset="-120"/>
              </a:rPr>
              <a:t>السؤال الأساسي:</a:t>
            </a:r>
            <a:endParaRPr lang="ar-SA" sz="1800" dirty="0"/>
          </a:p>
          <a:p>
            <a:pPr rtl="1" algn="ctr" indent="0" marL="0">
              <a:lnSpc>
                <a:spcPct val="108000"/>
              </a:lnSpc>
              <a:buNone/>
            </a:pPr>
            <a:r>
              <a:rPr lang="ar-SA" altLang="en-US" sz="1800" b="1" dirty="0">
                <a:solidFill>
                  <a:srgbClr val="1B2A4A"/>
                </a:solidFill>
                <a:latin typeface="Tahoma" pitchFamily="34" charset="0"/>
                <a:ea typeface="Tahoma" pitchFamily="34" charset="-122"/>
                <a:cs typeface="Tahoma" pitchFamily="34" charset="-120"/>
              </a:rPr>
              <a:t>فيمَ تتشابه المخلوقات الحية الدقيقة، وفيمَ تختلف؟</a:t>
            </a:r>
            <a:endParaRPr lang="ar-SA" sz="1800" dirty="0"/>
          </a:p>
        </p:txBody>
      </p:sp>
      <p:sp>
        <p:nvSpPr>
          <p:cNvPr id="21" name="s10_t_19"/>
          <p:cNvSpPr txBox="1"/>
          <p:nvPr/>
        </p:nvSpPr>
        <p:spPr>
          <a:xfrm>
            <a:off x="3977640" y="1188720"/>
            <a:ext cx="4251960" cy="777240"/>
          </a:xfrm>
          <a:prstGeom prst="roundRect">
            <a:avLst>
              <a:gd name="adj" fmla="val 23529"/>
            </a:avLst>
          </a:prstGeom>
          <a:solidFill>
            <a:srgbClr val="FFFFFF">
              <a:alpha val="92000"/>
            </a:srgbClr>
          </a:solidFill>
          <a:ln/>
        </p:spPr>
        <p:txBody>
          <a:bodyPr wrap="square" lIns="762" tIns="762" rIns="762" bIns="762" rtlCol="0" anchor="ctr"/>
          <a:lstStyle/>
          <a:p>
            <a:pPr rtl="1" algn="ctr" indent="0" marL="0">
              <a:lnSpc>
                <a:spcPct val="108000"/>
              </a:lnSpc>
              <a:buNone/>
            </a:pPr>
            <a:r>
              <a:rPr lang="ar-SA" altLang="en-US" sz="1700" b="1" dirty="0">
                <a:solidFill>
                  <a:srgbClr val="1B2A4A"/>
                </a:solidFill>
                <a:latin typeface="Tahoma" pitchFamily="34" charset="0"/>
                <a:ea typeface="Tahoma" pitchFamily="34" charset="-122"/>
                <a:cs typeface="Tahoma" pitchFamily="34" charset="-120"/>
              </a:rPr>
              <a:t>👀 لاحظي: هل نرى هذه المخلوقات بالعين المجردة؟</a:t>
            </a:r>
            <a:endParaRPr lang="ar-SA" sz="1700" dirty="0"/>
          </a:p>
        </p:txBody>
      </p:sp>
      <p:sp>
        <p:nvSpPr>
          <p:cNvPr id="22" name="s10_t_20"/>
          <p:cNvSpPr txBox="1"/>
          <p:nvPr/>
        </p:nvSpPr>
        <p:spPr>
          <a:xfrm>
            <a:off x="3977640" y="2011680"/>
            <a:ext cx="4251960" cy="868680"/>
          </a:xfrm>
          <a:prstGeom prst="roundRect">
            <a:avLst>
              <a:gd name="adj" fmla="val 21053"/>
            </a:avLst>
          </a:prstGeom>
          <a:solidFill>
            <a:srgbClr val="E8FFF4"/>
          </a:solidFill>
          <a:ln/>
        </p:spPr>
        <p:txBody>
          <a:bodyPr wrap="square" lIns="762" tIns="762" rIns="762" bIns="762" rtlCol="0" anchor="ctr"/>
          <a:lstStyle/>
          <a:p>
            <a:pPr rtl="1" algn="ctr" indent="0" marL="0">
              <a:lnSpc>
                <a:spcPct val="108000"/>
              </a:lnSpc>
              <a:buNone/>
            </a:pPr>
            <a:r>
              <a:rPr lang="ar-SA" altLang="en-US" sz="1600" b="1" dirty="0">
                <a:solidFill>
                  <a:srgbClr val="0E7C55"/>
                </a:solidFill>
                <a:latin typeface="Tahoma" pitchFamily="34" charset="0"/>
                <a:ea typeface="Tahoma" pitchFamily="34" charset="-122"/>
                <a:cs typeface="Tahoma" pitchFamily="34" charset="-120"/>
              </a:rPr>
              <a:t>لا؛ فهي مخلوقات حية مجهرية لا تُرى بالعين المجردة، ونستخدم المجهر لرؤيتها.</a:t>
            </a:r>
            <a:endParaRPr lang="ar-SA" sz="1600" dirty="0"/>
          </a:p>
        </p:txBody>
      </p:sp>
    </p:spTree>
  </p:cSld>
  <p:clrMapOvr>
    <a:masterClrMapping/>
  </p:clrMapOvr>
  <mc:AlternateContent xmlns:mc="http://schemas.openxmlformats.org/markup-compatibility/2006">
    <mc:Choice xmlns:p14="http://schemas.microsoft.com/office/powerpoint/2010/main" Requires="p14">
      <p:transition spd="slow" p14:dur="14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10"/>
                                        </p:tgtEl>
                                        <p:attrNameLst>
                                          <p:attrName>style.visibility</p:attrName>
                                        </p:attrNameLst>
                                      </p:cBhvr>
                                      <p:to>
                                        <p:strVal val="visible"/>
                                      </p:to>
                                    </p:set>
                                    <p:anim calcmode="lin" valueType="num">
                                      <p:cBhvr>
                                        <p:cTn id="6" dur="500" fill="hold"/>
                                        <p:tgtEl>
                                          <p:spTgt spid="10"/>
                                        </p:tgtEl>
                                        <p:attrNameLst>
                                          <p:attrName>ppt_w</p:attrName>
                                        </p:attrNameLst>
                                      </p:cBhvr>
                                      <p:tavLst>
                                        <p:tav tm="0">
                                          <p:val>
                                            <p:fltVal val="0"/>
                                          </p:val>
                                        </p:tav>
                                        <p:tav tm="100000">
                                          <p:val>
                                            <p:strVal val="#ppt_w"/>
                                          </p:val>
                                        </p:tav>
                                      </p:tavLst>
                                    </p:anim>
                                    <p:anim calcmode="lin" valueType="num">
                                      <p:cBhvr>
                                        <p:cTn id="7" dur="500" fill="hold"/>
                                        <p:tgtEl>
                                          <p:spTgt spid="10"/>
                                        </p:tgtEl>
                                        <p:attrNameLst>
                                          <p:attrName>ppt_h</p:attrName>
                                        </p:attrNameLst>
                                      </p:cBhvr>
                                      <p:tavLst>
                                        <p:tav tm="0">
                                          <p:val>
                                            <p:fltVal val="0"/>
                                          </p:val>
                                        </p:tav>
                                        <p:tav tm="100000">
                                          <p:val>
                                            <p:strVal val="#ppt_h"/>
                                          </p:val>
                                        </p:tav>
                                      </p:tavLst>
                                    </p:anim>
                                    <p:animEffect transition="in" filter="fade">
                                      <p:cBhvr>
                                        <p:cTn id="8" dur="500"/>
                                        <p:tgtEl>
                                          <p:spTgt spid="10"/>
                                        </p:tgtEl>
                                      </p:cBhvr>
                                    </p:animEffect>
                                  </p:childTnLst>
                                </p:cTn>
                              </p:par>
                              <p:par>
                                <p:cTn id="14" presetID="53" presetClass="entr" presetSubtype="16"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p:cTn id="11" dur="500" fill="hold"/>
                                        <p:tgtEl>
                                          <p:spTgt spid="11"/>
                                        </p:tgtEl>
                                        <p:attrNameLst>
                                          <p:attrName>ppt_w</p:attrName>
                                        </p:attrNameLst>
                                      </p:cBhvr>
                                      <p:tavLst>
                                        <p:tav tm="0">
                                          <p:val>
                                            <p:fltVal val="0"/>
                                          </p:val>
                                        </p:tav>
                                        <p:tav tm="100000">
                                          <p:val>
                                            <p:strVal val="#ppt_w"/>
                                          </p:val>
                                        </p:tav>
                                      </p:tavLst>
                                    </p:anim>
                                    <p:anim calcmode="lin" valueType="num">
                                      <p:cBhvr>
                                        <p:cTn id="12" dur="500" fill="hold"/>
                                        <p:tgtEl>
                                          <p:spTgt spid="11"/>
                                        </p:tgtEl>
                                        <p:attrNameLst>
                                          <p:attrName>ppt_h</p:attrName>
                                        </p:attrNameLst>
                                      </p:cBhvr>
                                      <p:tavLst>
                                        <p:tav tm="0">
                                          <p:val>
                                            <p:fltVal val="0"/>
                                          </p:val>
                                        </p:tav>
                                        <p:tav tm="100000">
                                          <p:val>
                                            <p:strVal val="#ppt_h"/>
                                          </p:val>
                                        </p:tav>
                                      </p:tavLst>
                                    </p:anim>
                                    <p:animEffect transition="in" filter="fade">
                                      <p:cBhvr>
                                        <p:cTn id="13" dur="500"/>
                                        <p:tgtEl>
                                          <p:spTgt spid="11"/>
                                        </p:tgtEl>
                                      </p:cBhvr>
                                    </p:animEffect>
                                  </p:childTnLst>
                                </p:cTn>
                              </p:par>
                              <p:par>
                                <p:cTn id="19" presetID="53" presetClass="entr" presetSubtype="16"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p:cTn id="16" dur="500" fill="hold"/>
                                        <p:tgtEl>
                                          <p:spTgt spid="12"/>
                                        </p:tgtEl>
                                        <p:attrNameLst>
                                          <p:attrName>ppt_w</p:attrName>
                                        </p:attrNameLst>
                                      </p:cBhvr>
                                      <p:tavLst>
                                        <p:tav tm="0">
                                          <p:val>
                                            <p:fltVal val="0"/>
                                          </p:val>
                                        </p:tav>
                                        <p:tav tm="100000">
                                          <p:val>
                                            <p:strVal val="#ppt_w"/>
                                          </p:val>
                                        </p:tav>
                                      </p:tavLst>
                                    </p:anim>
                                    <p:anim calcmode="lin" valueType="num">
                                      <p:cBhvr>
                                        <p:cTn id="17" dur="500" fill="hold"/>
                                        <p:tgtEl>
                                          <p:spTgt spid="12"/>
                                        </p:tgtEl>
                                        <p:attrNameLst>
                                          <p:attrName>ppt_h</p:attrName>
                                        </p:attrNameLst>
                                      </p:cBhvr>
                                      <p:tavLst>
                                        <p:tav tm="0">
                                          <p:val>
                                            <p:fltVal val="0"/>
                                          </p:val>
                                        </p:tav>
                                        <p:tav tm="100000">
                                          <p:val>
                                            <p:strVal val="#ppt_h"/>
                                          </p:val>
                                        </p:tav>
                                      </p:tavLst>
                                    </p:anim>
                                    <p:animEffect transition="in" filter="fade">
                                      <p:cBhvr>
                                        <p:cTn id="18" dur="5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6" presetID="53" presetClass="entr" presetSubtype="16"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p:cTn id="23" dur="500" fill="hold"/>
                                        <p:tgtEl>
                                          <p:spTgt spid="13"/>
                                        </p:tgtEl>
                                        <p:attrNameLst>
                                          <p:attrName>ppt_w</p:attrName>
                                        </p:attrNameLst>
                                      </p:cBhvr>
                                      <p:tavLst>
                                        <p:tav tm="0">
                                          <p:val>
                                            <p:fltVal val="0"/>
                                          </p:val>
                                        </p:tav>
                                        <p:tav tm="100000">
                                          <p:val>
                                            <p:strVal val="#ppt_w"/>
                                          </p:val>
                                        </p:tav>
                                      </p:tavLst>
                                    </p:anim>
                                    <p:anim calcmode="lin" valueType="num">
                                      <p:cBhvr>
                                        <p:cTn id="24" dur="500" fill="hold"/>
                                        <p:tgtEl>
                                          <p:spTgt spid="13"/>
                                        </p:tgtEl>
                                        <p:attrNameLst>
                                          <p:attrName>ppt_h</p:attrName>
                                        </p:attrNameLst>
                                      </p:cBhvr>
                                      <p:tavLst>
                                        <p:tav tm="0">
                                          <p:val>
                                            <p:fltVal val="0"/>
                                          </p:val>
                                        </p:tav>
                                        <p:tav tm="100000">
                                          <p:val>
                                            <p:strVal val="#ppt_h"/>
                                          </p:val>
                                        </p:tav>
                                      </p:tavLst>
                                    </p:anim>
                                    <p:animEffect transition="in" filter="fade">
                                      <p:cBhvr>
                                        <p:cTn id="25" dur="500"/>
                                        <p:tgtEl>
                                          <p:spTgt spid="13"/>
                                        </p:tgtEl>
                                      </p:cBhvr>
                                    </p:animEffect>
                                  </p:childTnLst>
                                </p:cTn>
                              </p:par>
                              <p:par>
                                <p:cTn id="31" presetID="53" presetClass="entr" presetSubtype="16"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 calcmode="lin" valueType="num">
                                      <p:cBhvr>
                                        <p:cTn id="28" dur="500" fill="hold"/>
                                        <p:tgtEl>
                                          <p:spTgt spid="14"/>
                                        </p:tgtEl>
                                        <p:attrNameLst>
                                          <p:attrName>ppt_w</p:attrName>
                                        </p:attrNameLst>
                                      </p:cBhvr>
                                      <p:tavLst>
                                        <p:tav tm="0">
                                          <p:val>
                                            <p:fltVal val="0"/>
                                          </p:val>
                                        </p:tav>
                                        <p:tav tm="100000">
                                          <p:val>
                                            <p:strVal val="#ppt_w"/>
                                          </p:val>
                                        </p:tav>
                                      </p:tavLst>
                                    </p:anim>
                                    <p:anim calcmode="lin" valueType="num">
                                      <p:cBhvr>
                                        <p:cTn id="29" dur="500" fill="hold"/>
                                        <p:tgtEl>
                                          <p:spTgt spid="14"/>
                                        </p:tgtEl>
                                        <p:attrNameLst>
                                          <p:attrName>ppt_h</p:attrName>
                                        </p:attrNameLst>
                                      </p:cBhvr>
                                      <p:tavLst>
                                        <p:tav tm="0">
                                          <p:val>
                                            <p:fltVal val="0"/>
                                          </p:val>
                                        </p:tav>
                                        <p:tav tm="100000">
                                          <p:val>
                                            <p:strVal val="#ppt_h"/>
                                          </p:val>
                                        </p:tav>
                                      </p:tavLst>
                                    </p:anim>
                                    <p:animEffect transition="in" filter="fade">
                                      <p:cBhvr>
                                        <p:cTn id="30" dur="500"/>
                                        <p:tgtEl>
                                          <p:spTgt spid="14"/>
                                        </p:tgtEl>
                                      </p:cBhvr>
                                    </p:animEffect>
                                  </p:childTnLst>
                                </p:cTn>
                              </p:par>
                              <p:par>
                                <p:cTn id="36" presetID="53" presetClass="entr" presetSubtype="16"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 calcmode="lin" valueType="num">
                                      <p:cBhvr>
                                        <p:cTn id="33" dur="500" fill="hold"/>
                                        <p:tgtEl>
                                          <p:spTgt spid="15"/>
                                        </p:tgtEl>
                                        <p:attrNameLst>
                                          <p:attrName>ppt_w</p:attrName>
                                        </p:attrNameLst>
                                      </p:cBhvr>
                                      <p:tavLst>
                                        <p:tav tm="0">
                                          <p:val>
                                            <p:fltVal val="0"/>
                                          </p:val>
                                        </p:tav>
                                        <p:tav tm="100000">
                                          <p:val>
                                            <p:strVal val="#ppt_w"/>
                                          </p:val>
                                        </p:tav>
                                      </p:tavLst>
                                    </p:anim>
                                    <p:anim calcmode="lin" valueType="num">
                                      <p:cBhvr>
                                        <p:cTn id="34" dur="500" fill="hold"/>
                                        <p:tgtEl>
                                          <p:spTgt spid="15"/>
                                        </p:tgtEl>
                                        <p:attrNameLst>
                                          <p:attrName>ppt_h</p:attrName>
                                        </p:attrNameLst>
                                      </p:cBhvr>
                                      <p:tavLst>
                                        <p:tav tm="0">
                                          <p:val>
                                            <p:fltVal val="0"/>
                                          </p:val>
                                        </p:tav>
                                        <p:tav tm="100000">
                                          <p:val>
                                            <p:strVal val="#ppt_h"/>
                                          </p:val>
                                        </p:tav>
                                      </p:tavLst>
                                    </p:anim>
                                    <p:animEffect transition="in" filter="fade">
                                      <p:cBhvr>
                                        <p:cTn id="35" dur="500"/>
                                        <p:tgtEl>
                                          <p:spTgt spid="15"/>
                                        </p:tgtEl>
                                      </p:cBhvr>
                                    </p:animEffect>
                                  </p:childTnLst>
                                </p:cTn>
                              </p:par>
                            </p:childTnLst>
                          </p:cTn>
                        </p:par>
                      </p:childTnLst>
                    </p:cTn>
                  </p:par>
                  <p:par>
                    <p:cTn id="37" fill="hold">
                      <p:stCondLst>
                        <p:cond delay="indefinite"/>
                      </p:stCondLst>
                      <p:childTnLst>
                        <p:par>
                          <p:cTn id="38" fill="hold">
                            <p:stCondLst>
                              <p:cond delay="0"/>
                            </p:stCondLst>
                            <p:childTnLst>
                              <p:par>
                                <p:cTn id="43" presetID="53" presetClass="entr" presetSubtype="16" fill="hold" grpId="0" nodeType="clickEffect">
                                  <p:stCondLst>
                                    <p:cond delay="0"/>
                                  </p:stCondLst>
                                  <p:childTnLst>
                                    <p:set>
                                      <p:cBhvr>
                                        <p:cTn id="39" dur="1" fill="hold">
                                          <p:stCondLst>
                                            <p:cond delay="0"/>
                                          </p:stCondLst>
                                        </p:cTn>
                                        <p:tgtEl>
                                          <p:spTgt spid="16"/>
                                        </p:tgtEl>
                                        <p:attrNameLst>
                                          <p:attrName>style.visibility</p:attrName>
                                        </p:attrNameLst>
                                      </p:cBhvr>
                                      <p:to>
                                        <p:strVal val="visible"/>
                                      </p:to>
                                    </p:set>
                                    <p:anim calcmode="lin" valueType="num">
                                      <p:cBhvr>
                                        <p:cTn id="40" dur="500" fill="hold"/>
                                        <p:tgtEl>
                                          <p:spTgt spid="16"/>
                                        </p:tgtEl>
                                        <p:attrNameLst>
                                          <p:attrName>ppt_w</p:attrName>
                                        </p:attrNameLst>
                                      </p:cBhvr>
                                      <p:tavLst>
                                        <p:tav tm="0">
                                          <p:val>
                                            <p:fltVal val="0"/>
                                          </p:val>
                                        </p:tav>
                                        <p:tav tm="100000">
                                          <p:val>
                                            <p:strVal val="#ppt_w"/>
                                          </p:val>
                                        </p:tav>
                                      </p:tavLst>
                                    </p:anim>
                                    <p:anim calcmode="lin" valueType="num">
                                      <p:cBhvr>
                                        <p:cTn id="41" dur="500" fill="hold"/>
                                        <p:tgtEl>
                                          <p:spTgt spid="16"/>
                                        </p:tgtEl>
                                        <p:attrNameLst>
                                          <p:attrName>ppt_h</p:attrName>
                                        </p:attrNameLst>
                                      </p:cBhvr>
                                      <p:tavLst>
                                        <p:tav tm="0">
                                          <p:val>
                                            <p:fltVal val="0"/>
                                          </p:val>
                                        </p:tav>
                                        <p:tav tm="100000">
                                          <p:val>
                                            <p:strVal val="#ppt_h"/>
                                          </p:val>
                                        </p:tav>
                                      </p:tavLst>
                                    </p:anim>
                                    <p:animEffect transition="in" filter="fade">
                                      <p:cBhvr>
                                        <p:cTn id="42" dur="500"/>
                                        <p:tgtEl>
                                          <p:spTgt spid="16"/>
                                        </p:tgtEl>
                                      </p:cBhvr>
                                    </p:animEffect>
                                  </p:childTnLst>
                                </p:cTn>
                              </p:par>
                              <p:par>
                                <p:cTn id="48" presetID="53" presetClass="entr" presetSubtype="16"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 calcmode="lin" valueType="num">
                                      <p:cBhvr>
                                        <p:cTn id="45" dur="500" fill="hold"/>
                                        <p:tgtEl>
                                          <p:spTgt spid="17"/>
                                        </p:tgtEl>
                                        <p:attrNameLst>
                                          <p:attrName>ppt_w</p:attrName>
                                        </p:attrNameLst>
                                      </p:cBhvr>
                                      <p:tavLst>
                                        <p:tav tm="0">
                                          <p:val>
                                            <p:fltVal val="0"/>
                                          </p:val>
                                        </p:tav>
                                        <p:tav tm="100000">
                                          <p:val>
                                            <p:strVal val="#ppt_w"/>
                                          </p:val>
                                        </p:tav>
                                      </p:tavLst>
                                    </p:anim>
                                    <p:anim calcmode="lin" valueType="num">
                                      <p:cBhvr>
                                        <p:cTn id="46" dur="500" fill="hold"/>
                                        <p:tgtEl>
                                          <p:spTgt spid="17"/>
                                        </p:tgtEl>
                                        <p:attrNameLst>
                                          <p:attrName>ppt_h</p:attrName>
                                        </p:attrNameLst>
                                      </p:cBhvr>
                                      <p:tavLst>
                                        <p:tav tm="0">
                                          <p:val>
                                            <p:fltVal val="0"/>
                                          </p:val>
                                        </p:tav>
                                        <p:tav tm="100000">
                                          <p:val>
                                            <p:strVal val="#ppt_h"/>
                                          </p:val>
                                        </p:tav>
                                      </p:tavLst>
                                    </p:anim>
                                    <p:animEffect transition="in" filter="fade">
                                      <p:cBhvr>
                                        <p:cTn id="47" dur="500"/>
                                        <p:tgtEl>
                                          <p:spTgt spid="17"/>
                                        </p:tgtEl>
                                      </p:cBhvr>
                                    </p:animEffect>
                                  </p:childTnLst>
                                </p:cTn>
                              </p:par>
                              <p:par>
                                <p:cTn id="53" presetID="53" presetClass="entr" presetSubtype="16"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 calcmode="lin" valueType="num">
                                      <p:cBhvr>
                                        <p:cTn id="50" dur="500" fill="hold"/>
                                        <p:tgtEl>
                                          <p:spTgt spid="18"/>
                                        </p:tgtEl>
                                        <p:attrNameLst>
                                          <p:attrName>ppt_w</p:attrName>
                                        </p:attrNameLst>
                                      </p:cBhvr>
                                      <p:tavLst>
                                        <p:tav tm="0">
                                          <p:val>
                                            <p:fltVal val="0"/>
                                          </p:val>
                                        </p:tav>
                                        <p:tav tm="100000">
                                          <p:val>
                                            <p:strVal val="#ppt_w"/>
                                          </p:val>
                                        </p:tav>
                                      </p:tavLst>
                                    </p:anim>
                                    <p:anim calcmode="lin" valueType="num">
                                      <p:cBhvr>
                                        <p:cTn id="51" dur="500" fill="hold"/>
                                        <p:tgtEl>
                                          <p:spTgt spid="18"/>
                                        </p:tgtEl>
                                        <p:attrNameLst>
                                          <p:attrName>ppt_h</p:attrName>
                                        </p:attrNameLst>
                                      </p:cBhvr>
                                      <p:tavLst>
                                        <p:tav tm="0">
                                          <p:val>
                                            <p:fltVal val="0"/>
                                          </p:val>
                                        </p:tav>
                                        <p:tav tm="100000">
                                          <p:val>
                                            <p:strVal val="#ppt_h"/>
                                          </p:val>
                                        </p:tav>
                                      </p:tavLst>
                                    </p:anim>
                                    <p:animEffect transition="in" filter="fade">
                                      <p:cBhvr>
                                        <p:cTn id="52" dur="500"/>
                                        <p:tgtEl>
                                          <p:spTgt spid="18"/>
                                        </p:tgtEl>
                                      </p:cBhvr>
                                    </p:animEffect>
                                  </p:childTnLst>
                                </p:cTn>
                              </p:par>
                            </p:childTnLst>
                          </p:cTn>
                        </p:par>
                      </p:childTnLst>
                    </p:cTn>
                  </p:par>
                  <p:par>
                    <p:cTn id="54" fill="hold">
                      <p:stCondLst>
                        <p:cond delay="indefinite"/>
                      </p:stCondLst>
                      <p:childTnLst>
                        <p:par>
                          <p:cTn id="55" fill="hold">
                            <p:stCondLst>
                              <p:cond delay="0"/>
                            </p:stCondLst>
                            <p:childTnLst>
                              <p:par>
                                <p:cTn id="58" presetID="10" presetClass="entr" presetSubtype="0" fill="hold" grpId="0" nodeType="click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5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5" presetID="53" presetClass="entr" presetSubtype="16" fill="hold" grpId="0" nodeType="clickEffect">
                                  <p:stCondLst>
                                    <p:cond delay="0"/>
                                  </p:stCondLst>
                                  <p:childTnLst>
                                    <p:set>
                                      <p:cBhvr>
                                        <p:cTn id="61" dur="1" fill="hold">
                                          <p:stCondLst>
                                            <p:cond delay="0"/>
                                          </p:stCondLst>
                                        </p:cTn>
                                        <p:tgtEl>
                                          <p:spTgt spid="22"/>
                                        </p:tgtEl>
                                        <p:attrNameLst>
                                          <p:attrName>style.visibility</p:attrName>
                                        </p:attrNameLst>
                                      </p:cBhvr>
                                      <p:to>
                                        <p:strVal val="visible"/>
                                      </p:to>
                                    </p:set>
                                    <p:anim calcmode="lin" valueType="num">
                                      <p:cBhvr>
                                        <p:cTn id="62" dur="500" fill="hold"/>
                                        <p:tgtEl>
                                          <p:spTgt spid="22"/>
                                        </p:tgtEl>
                                        <p:attrNameLst>
                                          <p:attrName>ppt_w</p:attrName>
                                        </p:attrNameLst>
                                      </p:cBhvr>
                                      <p:tavLst>
                                        <p:tav tm="0">
                                          <p:val>
                                            <p:fltVal val="0"/>
                                          </p:val>
                                        </p:tav>
                                        <p:tav tm="100000">
                                          <p:val>
                                            <p:strVal val="#ppt_w"/>
                                          </p:val>
                                        </p:tav>
                                      </p:tavLst>
                                    </p:anim>
                                    <p:anim calcmode="lin" valueType="num">
                                      <p:cBhvr>
                                        <p:cTn id="63" dur="500" fill="hold"/>
                                        <p:tgtEl>
                                          <p:spTgt spid="22"/>
                                        </p:tgtEl>
                                        <p:attrNameLst>
                                          <p:attrName>ppt_h</p:attrName>
                                        </p:attrNameLst>
                                      </p:cBhvr>
                                      <p:tavLst>
                                        <p:tav tm="0">
                                          <p:val>
                                            <p:fltVal val="0"/>
                                          </p:val>
                                        </p:tav>
                                        <p:tav tm="100000">
                                          <p:val>
                                            <p:strVal val="#ppt_h"/>
                                          </p:val>
                                        </p:tav>
                                      </p:tavLst>
                                    </p:anim>
                                    <p:animEffect transition="in" filter="fade">
                                      <p:cBhvr>
                                        <p:cTn id="6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11_sign" descr="قاعة الفطريات المجهرية">    </p:cNvPr>
          <p:cNvPicPr>
            <a:picLocks noChangeAspect="1"/>
          </p:cNvPicPr>
          <p:nvPr/>
        </p:nvPicPr>
        <p:blipFill>
          <a:blip r:embed="rId2"/>
          <a:stretch>
            <a:fillRect/>
          </a:stretch>
        </p:blipFill>
        <p:spPr>
          <a:xfrm>
            <a:off x="3807134" y="91440"/>
            <a:ext cx="4577428" cy="868680"/>
          </a:xfrm>
          <a:prstGeom prst="rect">
            <a:avLst/>
          </a:prstGeom>
        </p:spPr>
      </p:pic>
      <p:sp>
        <p:nvSpPr>
          <p:cNvPr id="3" name="s11_t_1"/>
          <p:cNvSpPr txBox="1"/>
          <p:nvPr/>
        </p:nvSpPr>
        <p:spPr>
          <a:xfrm>
            <a:off x="10561320" y="274320"/>
            <a:ext cx="1325880" cy="502920"/>
          </a:xfrm>
          <a:prstGeom prst="roundRect">
            <a:avLst>
              <a:gd name="adj" fmla="val 49091"/>
            </a:avLst>
          </a:prstGeom>
          <a:solidFill>
            <a:srgbClr val="1B2A4A"/>
          </a:solidFill>
          <a:ln/>
        </p:spPr>
        <p:txBody>
          <a:bodyPr wrap="square" lIns="762" tIns="762" rIns="762" bIns="762" rtlCol="0" anchor="ctr"/>
          <a:lstStyle/>
          <a:p>
            <a:pPr rtl="1" algn="ctr" indent="0" marL="0">
              <a:lnSpc>
                <a:spcPct val="108000"/>
              </a:lnSpc>
              <a:buNone/>
            </a:pPr>
            <a:r>
              <a:rPr lang="ar-SA" altLang="en-US" sz="1700" b="1" dirty="0">
                <a:solidFill>
                  <a:srgbClr val="FFFFFF"/>
                </a:solidFill>
                <a:latin typeface="Tahoma" pitchFamily="34" charset="0"/>
                <a:ea typeface="Tahoma" pitchFamily="34" charset="-122"/>
                <a:cs typeface="Tahoma" pitchFamily="34" charset="-120"/>
              </a:rPr>
              <a:t>القاعة </a:t>
            </a:r>
            <a:r>
              <a:rPr lang="ar-SA" altLang="en-US" sz="1700" b="1" dirty="0">
                <a:solidFill>
                  <a:srgbClr val="FFFFFF"/>
                </a:solidFill>
                <a:latin typeface="Tahoma" pitchFamily="34" charset="0"/>
                <a:ea typeface="Tahoma" pitchFamily="34" charset="-122"/>
                <a:cs typeface="Tahoma" pitchFamily="34" charset="-120"/>
              </a:rPr>
              <a:t>٤</a:t>
            </a:r>
            <a:endParaRPr lang="ar-SA" sz="1700" dirty="0"/>
          </a:p>
        </p:txBody>
      </p:sp>
      <p:sp>
        <p:nvSpPr>
          <p:cNvPr id="4" name="s11_t_2"/>
          <p:cNvSpPr txBox="1"/>
          <p:nvPr/>
        </p:nvSpPr>
        <p:spPr>
          <a:xfrm>
            <a:off x="365760" y="228600"/>
            <a:ext cx="2788920" cy="603504"/>
          </a:xfrm>
          <a:prstGeom prst="roundRect">
            <a:avLst>
              <a:gd name="adj" fmla="val 39394"/>
            </a:avLst>
          </a:prstGeom>
          <a:solidFill>
            <a:srgbClr val="FFFFFF"/>
          </a:solidFill>
          <a:ln w="25400">
            <a:solidFill>
              <a:srgbClr val="8C5CFF"/>
            </a:solidFill>
            <a:prstDash val="dash"/>
          </a:ln>
        </p:spPr>
        <p:txBody>
          <a:bodyPr wrap="square" lIns="762" tIns="762" rIns="762" bIns="762" rtlCol="0" anchor="ctr"/>
          <a:lstStyle/>
          <a:p>
            <a:pPr rtl="1" algn="ctr" indent="0" marL="0">
              <a:lnSpc>
                <a:spcPct val="108000"/>
              </a:lnSpc>
              <a:buNone/>
            </a:pPr>
            <a:r>
              <a:rPr lang="ar-SA" altLang="en-US" sz="1350" b="1" dirty="0">
                <a:solidFill>
                  <a:srgbClr val="C2366F"/>
                </a:solidFill>
                <a:latin typeface="Tahoma" pitchFamily="34" charset="0"/>
                <a:ea typeface="Tahoma" pitchFamily="34" charset="-122"/>
                <a:cs typeface="Tahoma" pitchFamily="34" charset="-120"/>
              </a:rPr>
              <a:t>الاستراتيجية: </a:t>
            </a:r>
            <a:r>
              <a:rPr lang="ar-SA" altLang="en-US" sz="1350" b="1" dirty="0">
                <a:solidFill>
                  <a:srgbClr val="34405E"/>
                </a:solidFill>
                <a:latin typeface="Tahoma" pitchFamily="34" charset="0"/>
                <a:ea typeface="Tahoma" pitchFamily="34" charset="-122"/>
                <a:cs typeface="Tahoma" pitchFamily="34" charset="-120"/>
              </a:rPr>
              <a:t>الاستنتاج</a:t>
            </a:r>
            <a:endParaRPr lang="ar-SA" sz="1350" dirty="0"/>
          </a:p>
        </p:txBody>
      </p:sp>
      <p:sp>
        <p:nvSpPr>
          <p:cNvPr id="5" name="s11_t_3">
            <a:hlinkClick r:id="rId3" tooltip="الانتقال إلى القاعة التالية" action="ppaction://hlinksldjump"/>
          </p:cNvPr>
          <p:cNvSpPr txBox="1"/>
          <p:nvPr/>
        </p:nvSpPr>
        <p:spPr>
          <a:xfrm>
            <a:off x="2926080" y="6382512"/>
            <a:ext cx="2011680" cy="384048"/>
          </a:xfrm>
          <a:prstGeom prst="roundRect">
            <a:avLst>
              <a:gd name="adj" fmla="val 50000"/>
            </a:avLst>
          </a:prstGeom>
          <a:solidFill>
            <a:srgbClr val="5B6CFF"/>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القاعة التالية ◀</a:t>
            </a:r>
            <a:endParaRPr lang="ar-SA" sz="1600" dirty="0"/>
          </a:p>
        </p:txBody>
      </p:sp>
      <p:sp>
        <p:nvSpPr>
          <p:cNvPr id="6" name="s11_t_4">
            <a:hlinkClick r:id="rId4" tooltip="العودة إلى خريطة المتحف" action="ppaction://hlinksldjump"/>
          </p:cNvPr>
          <p:cNvSpPr txBox="1"/>
          <p:nvPr/>
        </p:nvSpPr>
        <p:spPr>
          <a:xfrm>
            <a:off x="5074920" y="6382512"/>
            <a:ext cx="2011680" cy="384048"/>
          </a:xfrm>
          <a:prstGeom prst="roundRect">
            <a:avLst>
              <a:gd name="adj" fmla="val 50000"/>
            </a:avLst>
          </a:prstGeom>
          <a:solidFill>
            <a:srgbClr val="0FA3B8"/>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خريطة المتحف</a:t>
            </a:r>
            <a:endParaRPr lang="ar-SA" sz="1600" dirty="0"/>
          </a:p>
        </p:txBody>
      </p:sp>
      <p:sp>
        <p:nvSpPr>
          <p:cNvPr id="7" name="s11_t_5">
            <a:hlinkClick r:id="rId5" tooltip="القاعة السابقة" action="ppaction://hlinksldjump"/>
          </p:cNvPr>
          <p:cNvSpPr txBox="1"/>
          <p:nvPr/>
        </p:nvSpPr>
        <p:spPr>
          <a:xfrm>
            <a:off x="7223760" y="6382512"/>
            <a:ext cx="1463040" cy="384048"/>
          </a:xfrm>
          <a:prstGeom prst="roundRect">
            <a:avLst>
              <a:gd name="adj" fmla="val 50000"/>
            </a:avLst>
          </a:prstGeom>
          <a:solidFill>
            <a:srgbClr val="8C9BB5"/>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السابقة</a:t>
            </a:r>
            <a:endParaRPr lang="ar-SA" sz="1600" dirty="0"/>
          </a:p>
        </p:txBody>
      </p:sp>
      <p:pic>
        <p:nvPicPr>
          <p:cNvPr id="8" name="s11_pic_6" descr="منصة عرض زجاجية">    </p:cNvPr>
          <p:cNvPicPr>
            <a:picLocks noChangeAspect="1"/>
          </p:cNvPicPr>
          <p:nvPr/>
        </p:nvPicPr>
        <p:blipFill>
          <a:blip r:embed="rId6"/>
          <a:stretch>
            <a:fillRect/>
          </a:stretch>
        </p:blipFill>
        <p:spPr>
          <a:xfrm>
            <a:off x="457200" y="4343400"/>
            <a:ext cx="3108960" cy="2331720"/>
          </a:xfrm>
          <a:prstGeom prst="rect">
            <a:avLst/>
          </a:prstGeom>
        </p:spPr>
      </p:pic>
      <p:pic>
        <p:nvPicPr>
          <p:cNvPr id="9" name="s11_pic_7" descr="مجسم فطر العفن">    </p:cNvPr>
          <p:cNvPicPr>
            <a:picLocks noChangeAspect="1"/>
          </p:cNvPicPr>
          <p:nvPr/>
        </p:nvPicPr>
        <p:blipFill>
          <a:blip r:embed="rId7"/>
          <a:stretch>
            <a:fillRect/>
          </a:stretch>
        </p:blipFill>
        <p:spPr>
          <a:xfrm>
            <a:off x="685800" y="2011680"/>
            <a:ext cx="2651760" cy="2141806"/>
          </a:xfrm>
          <a:prstGeom prst="rect">
            <a:avLst/>
          </a:prstGeom>
        </p:spPr>
      </p:pic>
      <p:pic>
        <p:nvPicPr>
          <p:cNvPr id="10" name="s11_pic_8" descr="/tmp/claude-0/-home-user-Scienceshamah/8386cda7-7741-5ea4-8952-60ee8e67fc31/scratchpad/w4/img/scr_374x94_14B88A_FFFFFF.png">    </p:cNvPr>
          <p:cNvPicPr>
            <a:picLocks noChangeAspect="1"/>
          </p:cNvPicPr>
          <p:nvPr/>
        </p:nvPicPr>
        <p:blipFill>
          <a:blip r:embed="rId8"/>
          <a:stretch>
            <a:fillRect/>
          </a:stretch>
        </p:blipFill>
        <p:spPr>
          <a:xfrm>
            <a:off x="347472" y="1078992"/>
            <a:ext cx="3328416" cy="996696"/>
          </a:xfrm>
          <a:prstGeom prst="rect">
            <a:avLst/>
          </a:prstGeom>
        </p:spPr>
      </p:pic>
      <p:pic>
        <p:nvPicPr>
          <p:cNvPr id="11" name="s11_pic_9" descr="فطر البنسيليوم (من الكتاب)">    </p:cNvPr>
          <p:cNvPicPr>
            <a:picLocks noChangeAspect="1"/>
          </p:cNvPicPr>
          <p:nvPr/>
        </p:nvPicPr>
        <p:blipFill>
          <a:blip r:embed="rId9"/>
          <a:stretch>
            <a:fillRect/>
          </a:stretch>
        </p:blipFill>
        <p:spPr>
          <a:xfrm>
            <a:off x="566928" y="1261872"/>
            <a:ext cx="600075" cy="640080"/>
          </a:xfrm>
          <a:prstGeom prst="rect">
            <a:avLst/>
          </a:prstGeom>
        </p:spPr>
      </p:pic>
      <p:sp>
        <p:nvSpPr>
          <p:cNvPr id="12" name="s11_t_10"/>
          <p:cNvSpPr txBox="1"/>
          <p:nvPr/>
        </p:nvSpPr>
        <p:spPr>
          <a:xfrm>
            <a:off x="1463040" y="1261872"/>
            <a:ext cx="2011680" cy="640080"/>
          </a:xfrm>
          <a:prstGeom prst="rect">
            <a:avLst/>
          </a:prstGeom>
          <a:noFill/>
          <a:ln/>
        </p:spPr>
        <p:txBody>
          <a:bodyPr wrap="square" lIns="762" tIns="762" rIns="762" bIns="762" rtlCol="0" anchor="ctr"/>
          <a:lstStyle/>
          <a:p>
            <a:pPr rtl="1" algn="r" indent="0" marL="0">
              <a:lnSpc>
                <a:spcPct val="108000"/>
              </a:lnSpc>
              <a:buNone/>
            </a:pPr>
            <a:r>
              <a:rPr lang="ar-SA" altLang="en-US" sz="1300" b="1" dirty="0">
                <a:solidFill>
                  <a:srgbClr val="1B2A4A"/>
                </a:solidFill>
                <a:latin typeface="Tahoma" pitchFamily="34" charset="0"/>
                <a:ea typeface="Tahoma" pitchFamily="34" charset="-122"/>
                <a:cs typeface="Tahoma" pitchFamily="34" charset="-120"/>
              </a:rPr>
              <a:t>يُستخدم فطر البنسيليوم لصناعة الأدوية</a:t>
            </a:r>
            <a:endParaRPr lang="ar-SA" sz="1300" dirty="0"/>
          </a:p>
        </p:txBody>
      </p:sp>
      <p:pic>
        <p:nvPicPr>
          <p:cNvPr id="13" name="s11_pic_11" descr="/tmp/claude-0/-home-user-Scienceshamah/8386cda7-7741-5ea4-8952-60ee8e67fc31/scratchpad/w4/img/scr_952x182_14B88A_FFFFFF.png">    </p:cNvPr>
          <p:cNvPicPr>
            <a:picLocks noChangeAspect="1"/>
          </p:cNvPicPr>
          <p:nvPr/>
        </p:nvPicPr>
        <p:blipFill>
          <a:blip r:embed="rId10"/>
          <a:stretch>
            <a:fillRect/>
          </a:stretch>
        </p:blipFill>
        <p:spPr>
          <a:xfrm>
            <a:off x="3730752" y="1078992"/>
            <a:ext cx="8129016" cy="1728216"/>
          </a:xfrm>
          <a:prstGeom prst="rect">
            <a:avLst/>
          </a:prstGeom>
        </p:spPr>
      </p:pic>
      <p:sp>
        <p:nvSpPr>
          <p:cNvPr id="14" name="s11_t_12"/>
          <p:cNvSpPr txBox="1"/>
          <p:nvPr/>
        </p:nvSpPr>
        <p:spPr>
          <a:xfrm>
            <a:off x="9966960" y="1280160"/>
            <a:ext cx="1691640" cy="457200"/>
          </a:xfrm>
          <a:prstGeom prst="rect">
            <a:avLst/>
          </a:prstGeom>
          <a:noFill/>
          <a:ln/>
        </p:spPr>
        <p:txBody>
          <a:bodyPr wrap="square" lIns="762" tIns="762" rIns="762" bIns="762" rtlCol="0" anchor="ctr"/>
          <a:lstStyle/>
          <a:p>
            <a:pPr rtl="1" algn="r" indent="0" marL="0">
              <a:lnSpc>
                <a:spcPct val="108000"/>
              </a:lnSpc>
              <a:buNone/>
            </a:pPr>
            <a:r>
              <a:rPr lang="ar-SA" altLang="en-US" sz="1800" b="1" dirty="0">
                <a:solidFill>
                  <a:srgbClr val="0E7C55"/>
                </a:solidFill>
                <a:latin typeface="Tahoma" pitchFamily="34" charset="0"/>
                <a:ea typeface="Tahoma" pitchFamily="34" charset="-122"/>
                <a:cs typeface="Tahoma" pitchFamily="34" charset="-120"/>
              </a:rPr>
              <a:t>🍄 طبيعتها</a:t>
            </a:r>
            <a:endParaRPr lang="ar-SA" sz="1800" dirty="0"/>
          </a:p>
        </p:txBody>
      </p:sp>
      <p:sp>
        <p:nvSpPr>
          <p:cNvPr id="15" name="s11_t_13"/>
          <p:cNvSpPr txBox="1"/>
          <p:nvPr/>
        </p:nvSpPr>
        <p:spPr>
          <a:xfrm>
            <a:off x="3977640" y="1261872"/>
            <a:ext cx="5989320" cy="1371600"/>
          </a:xfrm>
          <a:prstGeom prst="rect">
            <a:avLst/>
          </a:prstGeom>
          <a:noFill/>
          <a:ln/>
        </p:spPr>
        <p:txBody>
          <a:bodyPr wrap="square" lIns="762" tIns="762" rIns="762" bIns="762" rtlCol="0" anchor="ctr"/>
          <a:lstStyle/>
          <a:p>
            <a:pPr rtl="1" algn="r" indent="0" marL="0">
              <a:lnSpc>
                <a:spcPct val="110000"/>
              </a:lnSpc>
              <a:buNone/>
            </a:pPr>
            <a:r>
              <a:rPr lang="ar-SA" altLang="en-US" sz="1500" b="1" dirty="0">
                <a:solidFill>
                  <a:srgbClr val="1B2A4A"/>
                </a:solidFill>
                <a:latin typeface="Tahoma" pitchFamily="34" charset="0"/>
                <a:ea typeface="Tahoma" pitchFamily="34" charset="-122"/>
                <a:cs typeface="Tahoma" pitchFamily="34" charset="-120"/>
              </a:rPr>
              <a:t>تشمل الفطريات المجهرية العفن والخميرة، وهي لا تستطيع صنع غذائها بنفسها، بل تمتص المواد المغذية من الوسط الذي تعيش فيه.</a:t>
            </a:r>
            <a:endParaRPr lang="ar-SA" sz="1500" dirty="0"/>
          </a:p>
        </p:txBody>
      </p:sp>
      <p:pic>
        <p:nvPicPr>
          <p:cNvPr id="16" name="s11_pic_14" descr="/tmp/claude-0/-home-user-Scienceshamah/8386cda7-7741-5ea4-8952-60ee8e67fc31/scratchpad/w4/img/scr_952x182_E3A21A_FFFFFF.png">    </p:cNvPr>
          <p:cNvPicPr>
            <a:picLocks noChangeAspect="1"/>
          </p:cNvPicPr>
          <p:nvPr/>
        </p:nvPicPr>
        <p:blipFill>
          <a:blip r:embed="rId11"/>
          <a:stretch>
            <a:fillRect/>
          </a:stretch>
        </p:blipFill>
        <p:spPr>
          <a:xfrm>
            <a:off x="3730752" y="2743200"/>
            <a:ext cx="8129016" cy="1728216"/>
          </a:xfrm>
          <a:prstGeom prst="rect">
            <a:avLst/>
          </a:prstGeom>
        </p:spPr>
      </p:pic>
      <p:sp>
        <p:nvSpPr>
          <p:cNvPr id="17" name="s11_t_15"/>
          <p:cNvSpPr txBox="1"/>
          <p:nvPr/>
        </p:nvSpPr>
        <p:spPr>
          <a:xfrm>
            <a:off x="9966960" y="2944368"/>
            <a:ext cx="1691640" cy="457200"/>
          </a:xfrm>
          <a:prstGeom prst="rect">
            <a:avLst/>
          </a:prstGeom>
          <a:noFill/>
          <a:ln/>
        </p:spPr>
        <p:txBody>
          <a:bodyPr wrap="square" lIns="762" tIns="762" rIns="762" bIns="762" rtlCol="0" anchor="ctr"/>
          <a:lstStyle/>
          <a:p>
            <a:pPr rtl="1" algn="r" indent="0" marL="0">
              <a:lnSpc>
                <a:spcPct val="108000"/>
              </a:lnSpc>
              <a:buNone/>
            </a:pPr>
            <a:r>
              <a:rPr lang="ar-SA" altLang="en-US" sz="1800" b="1" dirty="0">
                <a:solidFill>
                  <a:srgbClr val="8A5A00"/>
                </a:solidFill>
                <a:latin typeface="Tahoma" pitchFamily="34" charset="0"/>
                <a:ea typeface="Tahoma" pitchFamily="34" charset="-122"/>
                <a:cs typeface="Tahoma" pitchFamily="34" charset="-120"/>
              </a:rPr>
              <a:t>🍞 استخداماتها</a:t>
            </a:r>
            <a:endParaRPr lang="ar-SA" sz="1800" dirty="0"/>
          </a:p>
        </p:txBody>
      </p:sp>
      <p:sp>
        <p:nvSpPr>
          <p:cNvPr id="18" name="s11_t_16"/>
          <p:cNvSpPr txBox="1"/>
          <p:nvPr/>
        </p:nvSpPr>
        <p:spPr>
          <a:xfrm>
            <a:off x="3977640" y="2926080"/>
            <a:ext cx="5989320" cy="1371600"/>
          </a:xfrm>
          <a:prstGeom prst="rect">
            <a:avLst/>
          </a:prstGeom>
          <a:noFill/>
          <a:ln/>
        </p:spPr>
        <p:txBody>
          <a:bodyPr wrap="square" lIns="762" tIns="762" rIns="762" bIns="762" rtlCol="0" anchor="ctr"/>
          <a:lstStyle/>
          <a:p>
            <a:pPr rtl="1" algn="r" indent="0" marL="0">
              <a:lnSpc>
                <a:spcPct val="110000"/>
              </a:lnSpc>
              <a:buNone/>
            </a:pPr>
            <a:r>
              <a:rPr lang="ar-SA" altLang="en-US" sz="1500" b="1" dirty="0">
                <a:solidFill>
                  <a:srgbClr val="1B2A4A"/>
                </a:solidFill>
                <a:latin typeface="Tahoma" pitchFamily="34" charset="0"/>
                <a:ea typeface="Tahoma" pitchFamily="34" charset="-122"/>
                <a:cs typeface="Tahoma" pitchFamily="34" charset="-120"/>
              </a:rPr>
              <a:t>الخميرة تُستخدم في صنع الخبز؛ تتغذى على نشا دقيق القمح مكوّنة فقاقيع من غاز ثاني أكسيد الكربون تسبب انتفاخ العجينة (اكتشف ذلك لويس باستور عام ١٨٥٩م). وبعضها يُستخدم في صنع الجبن وصناعة الأدوية.</a:t>
            </a:r>
            <a:endParaRPr lang="ar-SA" sz="1500" dirty="0"/>
          </a:p>
        </p:txBody>
      </p:sp>
      <p:pic>
        <p:nvPicPr>
          <p:cNvPr id="19" name="s11_pic_17" descr="/tmp/claude-0/-home-user-Scienceshamah/8386cda7-7741-5ea4-8952-60ee8e67fc31/scratchpad/w4/img/scr_952x182_E2558F_FFFFFF.png">    </p:cNvPr>
          <p:cNvPicPr>
            <a:picLocks noChangeAspect="1"/>
          </p:cNvPicPr>
          <p:nvPr/>
        </p:nvPicPr>
        <p:blipFill>
          <a:blip r:embed="rId12"/>
          <a:stretch>
            <a:fillRect/>
          </a:stretch>
        </p:blipFill>
        <p:spPr>
          <a:xfrm>
            <a:off x="3730752" y="4407408"/>
            <a:ext cx="8129016" cy="1728216"/>
          </a:xfrm>
          <a:prstGeom prst="rect">
            <a:avLst/>
          </a:prstGeom>
        </p:spPr>
      </p:pic>
      <p:sp>
        <p:nvSpPr>
          <p:cNvPr id="20" name="s11_t_18"/>
          <p:cNvSpPr txBox="1"/>
          <p:nvPr/>
        </p:nvSpPr>
        <p:spPr>
          <a:xfrm>
            <a:off x="9966960" y="4608576"/>
            <a:ext cx="1691640" cy="457200"/>
          </a:xfrm>
          <a:prstGeom prst="rect">
            <a:avLst/>
          </a:prstGeom>
          <a:noFill/>
          <a:ln/>
        </p:spPr>
        <p:txBody>
          <a:bodyPr wrap="square" lIns="762" tIns="762" rIns="762" bIns="762" rtlCol="0" anchor="ctr"/>
          <a:lstStyle/>
          <a:p>
            <a:pPr rtl="1" algn="r" indent="0" marL="0">
              <a:lnSpc>
                <a:spcPct val="108000"/>
              </a:lnSpc>
              <a:buNone/>
            </a:pPr>
            <a:r>
              <a:rPr lang="ar-SA" altLang="en-US" sz="1800" b="1" dirty="0">
                <a:solidFill>
                  <a:srgbClr val="B0306A"/>
                </a:solidFill>
                <a:latin typeface="Tahoma" pitchFamily="34" charset="0"/>
                <a:ea typeface="Tahoma" pitchFamily="34" charset="-122"/>
                <a:cs typeface="Tahoma" pitchFamily="34" charset="-120"/>
              </a:rPr>
              <a:t>🌡 أضرارها</a:t>
            </a:r>
            <a:endParaRPr lang="ar-SA" sz="1800" dirty="0"/>
          </a:p>
        </p:txBody>
      </p:sp>
      <p:sp>
        <p:nvSpPr>
          <p:cNvPr id="21" name="s11_t_19"/>
          <p:cNvSpPr txBox="1"/>
          <p:nvPr/>
        </p:nvSpPr>
        <p:spPr>
          <a:xfrm>
            <a:off x="3977640" y="4590288"/>
            <a:ext cx="5989320" cy="1371600"/>
          </a:xfrm>
          <a:prstGeom prst="rect">
            <a:avLst/>
          </a:prstGeom>
          <a:noFill/>
          <a:ln/>
        </p:spPr>
        <p:txBody>
          <a:bodyPr wrap="square" lIns="762" tIns="762" rIns="762" bIns="762" rtlCol="0" anchor="ctr"/>
          <a:lstStyle/>
          <a:p>
            <a:pPr rtl="1" algn="r" indent="0" marL="0">
              <a:lnSpc>
                <a:spcPct val="110000"/>
              </a:lnSpc>
              <a:buNone/>
            </a:pPr>
            <a:r>
              <a:rPr lang="ar-SA" altLang="en-US" sz="1500" b="1" dirty="0">
                <a:solidFill>
                  <a:srgbClr val="1B2A4A"/>
                </a:solidFill>
                <a:latin typeface="Tahoma" pitchFamily="34" charset="0"/>
                <a:ea typeface="Tahoma" pitchFamily="34" charset="-122"/>
                <a:cs typeface="Tahoma" pitchFamily="34" charset="-120"/>
              </a:rPr>
              <a:t>أنواع تعيش على جسم الإنسان دون أذى، لكن إذا توافرت الحرارة والرطوبة تتكاثر بسرعة وتسبب أمراضًا مُعدية مثل مرض القدم الرياضي.</a:t>
            </a:r>
            <a:endParaRPr lang="ar-SA" sz="1500" dirty="0"/>
          </a:p>
        </p:txBody>
      </p:sp>
    </p:spTree>
  </p:cSld>
  <p:clrMapOvr>
    <a:masterClrMapping/>
  </p:clrMapOvr>
  <mc:AlternateContent xmlns:mc="http://schemas.openxmlformats.org/markup-compatibility/2006">
    <mc:Choice xmlns:p14="http://schemas.microsoft.com/office/powerpoint/2010/main" Requires="p14">
      <p:transition spd="slow" p14:dur="14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13"/>
                                        </p:tgtEl>
                                        <p:attrNameLst>
                                          <p:attrName>style.visibility</p:attrName>
                                        </p:attrNameLst>
                                      </p:cBhvr>
                                      <p:to>
                                        <p:strVal val="visible"/>
                                      </p:to>
                                    </p:set>
                                    <p:anim calcmode="lin" valueType="num">
                                      <p:cBhvr>
                                        <p:cTn id="6" dur="500" fill="hold"/>
                                        <p:tgtEl>
                                          <p:spTgt spid="13"/>
                                        </p:tgtEl>
                                        <p:attrNameLst>
                                          <p:attrName>ppt_w</p:attrName>
                                        </p:attrNameLst>
                                      </p:cBhvr>
                                      <p:tavLst>
                                        <p:tav tm="0">
                                          <p:val>
                                            <p:fltVal val="0"/>
                                          </p:val>
                                        </p:tav>
                                        <p:tav tm="100000">
                                          <p:val>
                                            <p:strVal val="#ppt_w"/>
                                          </p:val>
                                        </p:tav>
                                      </p:tavLst>
                                    </p:anim>
                                    <p:anim calcmode="lin" valueType="num">
                                      <p:cBhvr>
                                        <p:cTn id="7" dur="500" fill="hold"/>
                                        <p:tgtEl>
                                          <p:spTgt spid="13"/>
                                        </p:tgtEl>
                                        <p:attrNameLst>
                                          <p:attrName>ppt_h</p:attrName>
                                        </p:attrNameLst>
                                      </p:cBhvr>
                                      <p:tavLst>
                                        <p:tav tm="0">
                                          <p:val>
                                            <p:fltVal val="0"/>
                                          </p:val>
                                        </p:tav>
                                        <p:tav tm="100000">
                                          <p:val>
                                            <p:strVal val="#ppt_h"/>
                                          </p:val>
                                        </p:tav>
                                      </p:tavLst>
                                    </p:anim>
                                    <p:animEffect transition="in" filter="fade">
                                      <p:cBhvr>
                                        <p:cTn id="8" dur="500"/>
                                        <p:tgtEl>
                                          <p:spTgt spid="13"/>
                                        </p:tgtEl>
                                      </p:cBhvr>
                                    </p:animEffect>
                                  </p:childTnLst>
                                </p:cTn>
                              </p:par>
                              <p:par>
                                <p:cTn id="14" presetID="53" presetClass="entr" presetSubtype="16"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p:cTn id="11" dur="500" fill="hold"/>
                                        <p:tgtEl>
                                          <p:spTgt spid="14"/>
                                        </p:tgtEl>
                                        <p:attrNameLst>
                                          <p:attrName>ppt_w</p:attrName>
                                        </p:attrNameLst>
                                      </p:cBhvr>
                                      <p:tavLst>
                                        <p:tav tm="0">
                                          <p:val>
                                            <p:fltVal val="0"/>
                                          </p:val>
                                        </p:tav>
                                        <p:tav tm="100000">
                                          <p:val>
                                            <p:strVal val="#ppt_w"/>
                                          </p:val>
                                        </p:tav>
                                      </p:tavLst>
                                    </p:anim>
                                    <p:anim calcmode="lin" valueType="num">
                                      <p:cBhvr>
                                        <p:cTn id="12" dur="500" fill="hold"/>
                                        <p:tgtEl>
                                          <p:spTgt spid="14"/>
                                        </p:tgtEl>
                                        <p:attrNameLst>
                                          <p:attrName>ppt_h</p:attrName>
                                        </p:attrNameLst>
                                      </p:cBhvr>
                                      <p:tavLst>
                                        <p:tav tm="0">
                                          <p:val>
                                            <p:fltVal val="0"/>
                                          </p:val>
                                        </p:tav>
                                        <p:tav tm="100000">
                                          <p:val>
                                            <p:strVal val="#ppt_h"/>
                                          </p:val>
                                        </p:tav>
                                      </p:tavLst>
                                    </p:anim>
                                    <p:animEffect transition="in" filter="fade">
                                      <p:cBhvr>
                                        <p:cTn id="13" dur="500"/>
                                        <p:tgtEl>
                                          <p:spTgt spid="14"/>
                                        </p:tgtEl>
                                      </p:cBhvr>
                                    </p:animEffect>
                                  </p:childTnLst>
                                </p:cTn>
                              </p:par>
                              <p:par>
                                <p:cTn id="19" presetID="53" presetClass="entr" presetSubtype="16"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 calcmode="lin" valueType="num">
                                      <p:cBhvr>
                                        <p:cTn id="16" dur="500" fill="hold"/>
                                        <p:tgtEl>
                                          <p:spTgt spid="15"/>
                                        </p:tgtEl>
                                        <p:attrNameLst>
                                          <p:attrName>ppt_w</p:attrName>
                                        </p:attrNameLst>
                                      </p:cBhvr>
                                      <p:tavLst>
                                        <p:tav tm="0">
                                          <p:val>
                                            <p:fltVal val="0"/>
                                          </p:val>
                                        </p:tav>
                                        <p:tav tm="100000">
                                          <p:val>
                                            <p:strVal val="#ppt_w"/>
                                          </p:val>
                                        </p:tav>
                                      </p:tavLst>
                                    </p:anim>
                                    <p:anim calcmode="lin" valueType="num">
                                      <p:cBhvr>
                                        <p:cTn id="17" dur="500" fill="hold"/>
                                        <p:tgtEl>
                                          <p:spTgt spid="15"/>
                                        </p:tgtEl>
                                        <p:attrNameLst>
                                          <p:attrName>ppt_h</p:attrName>
                                        </p:attrNameLst>
                                      </p:cBhvr>
                                      <p:tavLst>
                                        <p:tav tm="0">
                                          <p:val>
                                            <p:fltVal val="0"/>
                                          </p:val>
                                        </p:tav>
                                        <p:tav tm="100000">
                                          <p:val>
                                            <p:strVal val="#ppt_h"/>
                                          </p:val>
                                        </p:tav>
                                      </p:tavLst>
                                    </p:anim>
                                    <p:animEffect transition="in" filter="fade">
                                      <p:cBhvr>
                                        <p:cTn id="18" dur="500"/>
                                        <p:tgtEl>
                                          <p:spTgt spid="15"/>
                                        </p:tgtEl>
                                      </p:cBhvr>
                                    </p:animEffect>
                                  </p:childTnLst>
                                </p:cTn>
                              </p:par>
                            </p:childTnLst>
                          </p:cTn>
                        </p:par>
                      </p:childTnLst>
                    </p:cTn>
                  </p:par>
                  <p:par>
                    <p:cTn id="20" fill="hold">
                      <p:stCondLst>
                        <p:cond delay="indefinite"/>
                      </p:stCondLst>
                      <p:childTnLst>
                        <p:par>
                          <p:cTn id="21" fill="hold">
                            <p:stCondLst>
                              <p:cond delay="0"/>
                            </p:stCondLst>
                            <p:childTnLst>
                              <p:par>
                                <p:cTn id="26" presetID="53" presetClass="entr" presetSubtype="16"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anim calcmode="lin" valueType="num">
                                      <p:cBhvr>
                                        <p:cTn id="23" dur="500" fill="hold"/>
                                        <p:tgtEl>
                                          <p:spTgt spid="16"/>
                                        </p:tgtEl>
                                        <p:attrNameLst>
                                          <p:attrName>ppt_w</p:attrName>
                                        </p:attrNameLst>
                                      </p:cBhvr>
                                      <p:tavLst>
                                        <p:tav tm="0">
                                          <p:val>
                                            <p:fltVal val="0"/>
                                          </p:val>
                                        </p:tav>
                                        <p:tav tm="100000">
                                          <p:val>
                                            <p:strVal val="#ppt_w"/>
                                          </p:val>
                                        </p:tav>
                                      </p:tavLst>
                                    </p:anim>
                                    <p:anim calcmode="lin" valueType="num">
                                      <p:cBhvr>
                                        <p:cTn id="24" dur="500" fill="hold"/>
                                        <p:tgtEl>
                                          <p:spTgt spid="16"/>
                                        </p:tgtEl>
                                        <p:attrNameLst>
                                          <p:attrName>ppt_h</p:attrName>
                                        </p:attrNameLst>
                                      </p:cBhvr>
                                      <p:tavLst>
                                        <p:tav tm="0">
                                          <p:val>
                                            <p:fltVal val="0"/>
                                          </p:val>
                                        </p:tav>
                                        <p:tav tm="100000">
                                          <p:val>
                                            <p:strVal val="#ppt_h"/>
                                          </p:val>
                                        </p:tav>
                                      </p:tavLst>
                                    </p:anim>
                                    <p:animEffect transition="in" filter="fade">
                                      <p:cBhvr>
                                        <p:cTn id="25" dur="500"/>
                                        <p:tgtEl>
                                          <p:spTgt spid="16"/>
                                        </p:tgtEl>
                                      </p:cBhvr>
                                    </p:animEffect>
                                  </p:childTnLst>
                                </p:cTn>
                              </p:par>
                              <p:par>
                                <p:cTn id="31" presetID="53" presetClass="entr" presetSubtype="16" fill="hold" grpId="0" nodeType="withEffect">
                                  <p:stCondLst>
                                    <p:cond delay="0"/>
                                  </p:stCondLst>
                                  <p:childTnLst>
                                    <p:set>
                                      <p:cBhvr>
                                        <p:cTn id="27" dur="1" fill="hold">
                                          <p:stCondLst>
                                            <p:cond delay="0"/>
                                          </p:stCondLst>
                                        </p:cTn>
                                        <p:tgtEl>
                                          <p:spTgt spid="17"/>
                                        </p:tgtEl>
                                        <p:attrNameLst>
                                          <p:attrName>style.visibility</p:attrName>
                                        </p:attrNameLst>
                                      </p:cBhvr>
                                      <p:to>
                                        <p:strVal val="visible"/>
                                      </p:to>
                                    </p:set>
                                    <p:anim calcmode="lin" valueType="num">
                                      <p:cBhvr>
                                        <p:cTn id="28" dur="500" fill="hold"/>
                                        <p:tgtEl>
                                          <p:spTgt spid="17"/>
                                        </p:tgtEl>
                                        <p:attrNameLst>
                                          <p:attrName>ppt_w</p:attrName>
                                        </p:attrNameLst>
                                      </p:cBhvr>
                                      <p:tavLst>
                                        <p:tav tm="0">
                                          <p:val>
                                            <p:fltVal val="0"/>
                                          </p:val>
                                        </p:tav>
                                        <p:tav tm="100000">
                                          <p:val>
                                            <p:strVal val="#ppt_w"/>
                                          </p:val>
                                        </p:tav>
                                      </p:tavLst>
                                    </p:anim>
                                    <p:anim calcmode="lin" valueType="num">
                                      <p:cBhvr>
                                        <p:cTn id="29" dur="500" fill="hold"/>
                                        <p:tgtEl>
                                          <p:spTgt spid="17"/>
                                        </p:tgtEl>
                                        <p:attrNameLst>
                                          <p:attrName>ppt_h</p:attrName>
                                        </p:attrNameLst>
                                      </p:cBhvr>
                                      <p:tavLst>
                                        <p:tav tm="0">
                                          <p:val>
                                            <p:fltVal val="0"/>
                                          </p:val>
                                        </p:tav>
                                        <p:tav tm="100000">
                                          <p:val>
                                            <p:strVal val="#ppt_h"/>
                                          </p:val>
                                        </p:tav>
                                      </p:tavLst>
                                    </p:anim>
                                    <p:animEffect transition="in" filter="fade">
                                      <p:cBhvr>
                                        <p:cTn id="30" dur="500"/>
                                        <p:tgtEl>
                                          <p:spTgt spid="17"/>
                                        </p:tgtEl>
                                      </p:cBhvr>
                                    </p:animEffect>
                                  </p:childTnLst>
                                </p:cTn>
                              </p:par>
                              <p:par>
                                <p:cTn id="36" presetID="53" presetClass="entr" presetSubtype="16"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 calcmode="lin" valueType="num">
                                      <p:cBhvr>
                                        <p:cTn id="33" dur="500" fill="hold"/>
                                        <p:tgtEl>
                                          <p:spTgt spid="18"/>
                                        </p:tgtEl>
                                        <p:attrNameLst>
                                          <p:attrName>ppt_w</p:attrName>
                                        </p:attrNameLst>
                                      </p:cBhvr>
                                      <p:tavLst>
                                        <p:tav tm="0">
                                          <p:val>
                                            <p:fltVal val="0"/>
                                          </p:val>
                                        </p:tav>
                                        <p:tav tm="100000">
                                          <p:val>
                                            <p:strVal val="#ppt_w"/>
                                          </p:val>
                                        </p:tav>
                                      </p:tavLst>
                                    </p:anim>
                                    <p:anim calcmode="lin" valueType="num">
                                      <p:cBhvr>
                                        <p:cTn id="34" dur="500" fill="hold"/>
                                        <p:tgtEl>
                                          <p:spTgt spid="18"/>
                                        </p:tgtEl>
                                        <p:attrNameLst>
                                          <p:attrName>ppt_h</p:attrName>
                                        </p:attrNameLst>
                                      </p:cBhvr>
                                      <p:tavLst>
                                        <p:tav tm="0">
                                          <p:val>
                                            <p:fltVal val="0"/>
                                          </p:val>
                                        </p:tav>
                                        <p:tav tm="100000">
                                          <p:val>
                                            <p:strVal val="#ppt_h"/>
                                          </p:val>
                                        </p:tav>
                                      </p:tavLst>
                                    </p:anim>
                                    <p:animEffect transition="in" filter="fade">
                                      <p:cBhvr>
                                        <p:cTn id="35" dur="500"/>
                                        <p:tgtEl>
                                          <p:spTgt spid="18"/>
                                        </p:tgtEl>
                                      </p:cBhvr>
                                    </p:animEffect>
                                  </p:childTnLst>
                                </p:cTn>
                              </p:par>
                            </p:childTnLst>
                          </p:cTn>
                        </p:par>
                      </p:childTnLst>
                    </p:cTn>
                  </p:par>
                  <p:par>
                    <p:cTn id="37" fill="hold">
                      <p:stCondLst>
                        <p:cond delay="indefinite"/>
                      </p:stCondLst>
                      <p:childTnLst>
                        <p:par>
                          <p:cTn id="38" fill="hold">
                            <p:stCondLst>
                              <p:cond delay="0"/>
                            </p:stCondLst>
                            <p:childTnLst>
                              <p:par>
                                <p:cTn id="43" presetID="53" presetClass="entr" presetSubtype="16" fill="hold" grpId="0" nodeType="clickEffect">
                                  <p:stCondLst>
                                    <p:cond delay="0"/>
                                  </p:stCondLst>
                                  <p:childTnLst>
                                    <p:set>
                                      <p:cBhvr>
                                        <p:cTn id="39" dur="1" fill="hold">
                                          <p:stCondLst>
                                            <p:cond delay="0"/>
                                          </p:stCondLst>
                                        </p:cTn>
                                        <p:tgtEl>
                                          <p:spTgt spid="19"/>
                                        </p:tgtEl>
                                        <p:attrNameLst>
                                          <p:attrName>style.visibility</p:attrName>
                                        </p:attrNameLst>
                                      </p:cBhvr>
                                      <p:to>
                                        <p:strVal val="visible"/>
                                      </p:to>
                                    </p:set>
                                    <p:anim calcmode="lin" valueType="num">
                                      <p:cBhvr>
                                        <p:cTn id="40" dur="500" fill="hold"/>
                                        <p:tgtEl>
                                          <p:spTgt spid="19"/>
                                        </p:tgtEl>
                                        <p:attrNameLst>
                                          <p:attrName>ppt_w</p:attrName>
                                        </p:attrNameLst>
                                      </p:cBhvr>
                                      <p:tavLst>
                                        <p:tav tm="0">
                                          <p:val>
                                            <p:fltVal val="0"/>
                                          </p:val>
                                        </p:tav>
                                        <p:tav tm="100000">
                                          <p:val>
                                            <p:strVal val="#ppt_w"/>
                                          </p:val>
                                        </p:tav>
                                      </p:tavLst>
                                    </p:anim>
                                    <p:anim calcmode="lin" valueType="num">
                                      <p:cBhvr>
                                        <p:cTn id="41" dur="500" fill="hold"/>
                                        <p:tgtEl>
                                          <p:spTgt spid="19"/>
                                        </p:tgtEl>
                                        <p:attrNameLst>
                                          <p:attrName>ppt_h</p:attrName>
                                        </p:attrNameLst>
                                      </p:cBhvr>
                                      <p:tavLst>
                                        <p:tav tm="0">
                                          <p:val>
                                            <p:fltVal val="0"/>
                                          </p:val>
                                        </p:tav>
                                        <p:tav tm="100000">
                                          <p:val>
                                            <p:strVal val="#ppt_h"/>
                                          </p:val>
                                        </p:tav>
                                      </p:tavLst>
                                    </p:anim>
                                    <p:animEffect transition="in" filter="fade">
                                      <p:cBhvr>
                                        <p:cTn id="42" dur="500"/>
                                        <p:tgtEl>
                                          <p:spTgt spid="19"/>
                                        </p:tgtEl>
                                      </p:cBhvr>
                                    </p:animEffect>
                                  </p:childTnLst>
                                </p:cTn>
                              </p:par>
                              <p:par>
                                <p:cTn id="48" presetID="53" presetClass="entr" presetSubtype="16"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anim calcmode="lin" valueType="num">
                                      <p:cBhvr>
                                        <p:cTn id="45" dur="500" fill="hold"/>
                                        <p:tgtEl>
                                          <p:spTgt spid="20"/>
                                        </p:tgtEl>
                                        <p:attrNameLst>
                                          <p:attrName>ppt_w</p:attrName>
                                        </p:attrNameLst>
                                      </p:cBhvr>
                                      <p:tavLst>
                                        <p:tav tm="0">
                                          <p:val>
                                            <p:fltVal val="0"/>
                                          </p:val>
                                        </p:tav>
                                        <p:tav tm="100000">
                                          <p:val>
                                            <p:strVal val="#ppt_w"/>
                                          </p:val>
                                        </p:tav>
                                      </p:tavLst>
                                    </p:anim>
                                    <p:anim calcmode="lin" valueType="num">
                                      <p:cBhvr>
                                        <p:cTn id="46" dur="500" fill="hold"/>
                                        <p:tgtEl>
                                          <p:spTgt spid="20"/>
                                        </p:tgtEl>
                                        <p:attrNameLst>
                                          <p:attrName>ppt_h</p:attrName>
                                        </p:attrNameLst>
                                      </p:cBhvr>
                                      <p:tavLst>
                                        <p:tav tm="0">
                                          <p:val>
                                            <p:fltVal val="0"/>
                                          </p:val>
                                        </p:tav>
                                        <p:tav tm="100000">
                                          <p:val>
                                            <p:strVal val="#ppt_h"/>
                                          </p:val>
                                        </p:tav>
                                      </p:tavLst>
                                    </p:anim>
                                    <p:animEffect transition="in" filter="fade">
                                      <p:cBhvr>
                                        <p:cTn id="47" dur="500"/>
                                        <p:tgtEl>
                                          <p:spTgt spid="20"/>
                                        </p:tgtEl>
                                      </p:cBhvr>
                                    </p:animEffect>
                                  </p:childTnLst>
                                </p:cTn>
                              </p:par>
                              <p:par>
                                <p:cTn id="53" presetID="53" presetClass="entr" presetSubtype="16" fill="hold" grpId="0" nodeType="withEffect">
                                  <p:stCondLst>
                                    <p:cond delay="0"/>
                                  </p:stCondLst>
                                  <p:childTnLst>
                                    <p:set>
                                      <p:cBhvr>
                                        <p:cTn id="49" dur="1" fill="hold">
                                          <p:stCondLst>
                                            <p:cond delay="0"/>
                                          </p:stCondLst>
                                        </p:cTn>
                                        <p:tgtEl>
                                          <p:spTgt spid="21"/>
                                        </p:tgtEl>
                                        <p:attrNameLst>
                                          <p:attrName>style.visibility</p:attrName>
                                        </p:attrNameLst>
                                      </p:cBhvr>
                                      <p:to>
                                        <p:strVal val="visible"/>
                                      </p:to>
                                    </p:set>
                                    <p:anim calcmode="lin" valueType="num">
                                      <p:cBhvr>
                                        <p:cTn id="50" dur="500" fill="hold"/>
                                        <p:tgtEl>
                                          <p:spTgt spid="21"/>
                                        </p:tgtEl>
                                        <p:attrNameLst>
                                          <p:attrName>ppt_w</p:attrName>
                                        </p:attrNameLst>
                                      </p:cBhvr>
                                      <p:tavLst>
                                        <p:tav tm="0">
                                          <p:val>
                                            <p:fltVal val="0"/>
                                          </p:val>
                                        </p:tav>
                                        <p:tav tm="100000">
                                          <p:val>
                                            <p:strVal val="#ppt_w"/>
                                          </p:val>
                                        </p:tav>
                                      </p:tavLst>
                                    </p:anim>
                                    <p:anim calcmode="lin" valueType="num">
                                      <p:cBhvr>
                                        <p:cTn id="51" dur="500" fill="hold"/>
                                        <p:tgtEl>
                                          <p:spTgt spid="21"/>
                                        </p:tgtEl>
                                        <p:attrNameLst>
                                          <p:attrName>ppt_h</p:attrName>
                                        </p:attrNameLst>
                                      </p:cBhvr>
                                      <p:tavLst>
                                        <p:tav tm="0">
                                          <p:val>
                                            <p:fltVal val="0"/>
                                          </p:val>
                                        </p:tav>
                                        <p:tav tm="100000">
                                          <p:val>
                                            <p:strVal val="#ppt_h"/>
                                          </p:val>
                                        </p:tav>
                                      </p:tavLst>
                                    </p:anim>
                                    <p:animEffect transition="in" filter="fade">
                                      <p:cBhvr>
                                        <p:cTn id="5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12_sign" descr="نشاط: عالمة الفطريات الصغيرة">    </p:cNvPr>
          <p:cNvPicPr>
            <a:picLocks noChangeAspect="1"/>
          </p:cNvPicPr>
          <p:nvPr/>
        </p:nvPicPr>
        <p:blipFill>
          <a:blip r:embed="rId2"/>
          <a:stretch>
            <a:fillRect/>
          </a:stretch>
        </p:blipFill>
        <p:spPr>
          <a:xfrm>
            <a:off x="3306928" y="91440"/>
            <a:ext cx="5577840" cy="846533"/>
          </a:xfrm>
          <a:prstGeom prst="rect">
            <a:avLst/>
          </a:prstGeom>
        </p:spPr>
      </p:pic>
      <p:sp>
        <p:nvSpPr>
          <p:cNvPr id="3" name="s12_t_1"/>
          <p:cNvSpPr txBox="1"/>
          <p:nvPr/>
        </p:nvSpPr>
        <p:spPr>
          <a:xfrm>
            <a:off x="10561320" y="274320"/>
            <a:ext cx="1325880" cy="502920"/>
          </a:xfrm>
          <a:prstGeom prst="roundRect">
            <a:avLst>
              <a:gd name="adj" fmla="val 49091"/>
            </a:avLst>
          </a:prstGeom>
          <a:solidFill>
            <a:srgbClr val="1B2A4A"/>
          </a:solidFill>
          <a:ln/>
        </p:spPr>
        <p:txBody>
          <a:bodyPr wrap="square" lIns="762" tIns="762" rIns="762" bIns="762" rtlCol="0" anchor="ctr"/>
          <a:lstStyle/>
          <a:p>
            <a:pPr rtl="1" algn="ctr" indent="0" marL="0">
              <a:lnSpc>
                <a:spcPct val="108000"/>
              </a:lnSpc>
              <a:buNone/>
            </a:pPr>
            <a:r>
              <a:rPr lang="ar-SA" altLang="en-US" sz="1700" b="1" dirty="0">
                <a:solidFill>
                  <a:srgbClr val="FFFFFF"/>
                </a:solidFill>
                <a:latin typeface="Tahoma" pitchFamily="34" charset="0"/>
                <a:ea typeface="Tahoma" pitchFamily="34" charset="-122"/>
                <a:cs typeface="Tahoma" pitchFamily="34" charset="-120"/>
              </a:rPr>
              <a:t>القاعة </a:t>
            </a:r>
            <a:r>
              <a:rPr lang="ar-SA" altLang="en-US" sz="1700" b="1" dirty="0">
                <a:solidFill>
                  <a:srgbClr val="FFFFFF"/>
                </a:solidFill>
                <a:latin typeface="Tahoma" pitchFamily="34" charset="0"/>
                <a:ea typeface="Tahoma" pitchFamily="34" charset="-122"/>
                <a:cs typeface="Tahoma" pitchFamily="34" charset="-120"/>
              </a:rPr>
              <a:t>٥</a:t>
            </a:r>
            <a:endParaRPr lang="ar-SA" sz="1700" dirty="0"/>
          </a:p>
        </p:txBody>
      </p:sp>
      <p:sp>
        <p:nvSpPr>
          <p:cNvPr id="4" name="s12_t_2"/>
          <p:cNvSpPr txBox="1"/>
          <p:nvPr/>
        </p:nvSpPr>
        <p:spPr>
          <a:xfrm>
            <a:off x="365760" y="228600"/>
            <a:ext cx="2788920" cy="603504"/>
          </a:xfrm>
          <a:prstGeom prst="roundRect">
            <a:avLst>
              <a:gd name="adj" fmla="val 39394"/>
            </a:avLst>
          </a:prstGeom>
          <a:solidFill>
            <a:srgbClr val="FFFFFF"/>
          </a:solidFill>
          <a:ln w="25400">
            <a:solidFill>
              <a:srgbClr val="8C5CFF"/>
            </a:solidFill>
            <a:prstDash val="dash"/>
          </a:ln>
        </p:spPr>
        <p:txBody>
          <a:bodyPr wrap="square" lIns="762" tIns="762" rIns="762" bIns="762" rtlCol="0" anchor="ctr"/>
          <a:lstStyle/>
          <a:p>
            <a:pPr rtl="1" algn="ctr" indent="0" marL="0">
              <a:lnSpc>
                <a:spcPct val="108000"/>
              </a:lnSpc>
              <a:buNone/>
            </a:pPr>
            <a:r>
              <a:rPr lang="ar-SA" altLang="en-US" sz="1350" b="1" dirty="0">
                <a:solidFill>
                  <a:srgbClr val="C2366F"/>
                </a:solidFill>
                <a:latin typeface="Tahoma" pitchFamily="34" charset="0"/>
                <a:ea typeface="Tahoma" pitchFamily="34" charset="-122"/>
                <a:cs typeface="Tahoma" pitchFamily="34" charset="-120"/>
              </a:rPr>
              <a:t>الاستراتيجية: </a:t>
            </a:r>
            <a:r>
              <a:rPr lang="ar-SA" altLang="en-US" sz="1350" b="1" dirty="0">
                <a:solidFill>
                  <a:srgbClr val="34405E"/>
                </a:solidFill>
                <a:latin typeface="Tahoma" pitchFamily="34" charset="0"/>
                <a:ea typeface="Tahoma" pitchFamily="34" charset="-122"/>
                <a:cs typeface="Tahoma" pitchFamily="34" charset="-120"/>
              </a:rPr>
              <a:t>الاستقصاء</a:t>
            </a:r>
            <a:endParaRPr lang="ar-SA" sz="1350" dirty="0"/>
          </a:p>
        </p:txBody>
      </p:sp>
      <p:sp>
        <p:nvSpPr>
          <p:cNvPr id="5" name="s12_t_3">
            <a:hlinkClick r:id="rId3" tooltip="الانتقال إلى القاعة التالية" action="ppaction://hlinksldjump"/>
          </p:cNvPr>
          <p:cNvSpPr txBox="1"/>
          <p:nvPr/>
        </p:nvSpPr>
        <p:spPr>
          <a:xfrm>
            <a:off x="2926080" y="6382512"/>
            <a:ext cx="2011680" cy="384048"/>
          </a:xfrm>
          <a:prstGeom prst="roundRect">
            <a:avLst>
              <a:gd name="adj" fmla="val 50000"/>
            </a:avLst>
          </a:prstGeom>
          <a:solidFill>
            <a:srgbClr val="5B6CFF"/>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القاعة التالية ◀</a:t>
            </a:r>
            <a:endParaRPr lang="ar-SA" sz="1600" dirty="0"/>
          </a:p>
        </p:txBody>
      </p:sp>
      <p:sp>
        <p:nvSpPr>
          <p:cNvPr id="6" name="s12_t_4">
            <a:hlinkClick r:id="rId4" tooltip="العودة إلى خريطة المتحف" action="ppaction://hlinksldjump"/>
          </p:cNvPr>
          <p:cNvSpPr txBox="1"/>
          <p:nvPr/>
        </p:nvSpPr>
        <p:spPr>
          <a:xfrm>
            <a:off x="5074920" y="6382512"/>
            <a:ext cx="2011680" cy="384048"/>
          </a:xfrm>
          <a:prstGeom prst="roundRect">
            <a:avLst>
              <a:gd name="adj" fmla="val 50000"/>
            </a:avLst>
          </a:prstGeom>
          <a:solidFill>
            <a:srgbClr val="0FA3B8"/>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خريطة المتحف</a:t>
            </a:r>
            <a:endParaRPr lang="ar-SA" sz="1600" dirty="0"/>
          </a:p>
        </p:txBody>
      </p:sp>
      <p:sp>
        <p:nvSpPr>
          <p:cNvPr id="7" name="s12_t_5">
            <a:hlinkClick r:id="rId5" tooltip="القاعة السابقة" action="ppaction://hlinksldjump"/>
          </p:cNvPr>
          <p:cNvSpPr txBox="1"/>
          <p:nvPr/>
        </p:nvSpPr>
        <p:spPr>
          <a:xfrm>
            <a:off x="7223760" y="6382512"/>
            <a:ext cx="1463040" cy="384048"/>
          </a:xfrm>
          <a:prstGeom prst="roundRect">
            <a:avLst>
              <a:gd name="adj" fmla="val 50000"/>
            </a:avLst>
          </a:prstGeom>
          <a:solidFill>
            <a:srgbClr val="8C9BB5"/>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السابقة</a:t>
            </a:r>
            <a:endParaRPr lang="ar-SA" sz="1600" dirty="0"/>
          </a:p>
        </p:txBody>
      </p:sp>
      <p:pic>
        <p:nvPicPr>
          <p:cNvPr id="8" name="s12_pic_6" descr="/tmp/claude-0/-home-user-Scienceshamah/8386cda7-7741-5ea4-8952-60ee8e67fc31/scratchpad/w4/img/scr_462x352_14B88A_FFFFFF.png">    </p:cNvPr>
          <p:cNvPicPr>
            <a:picLocks noChangeAspect="1"/>
          </p:cNvPicPr>
          <p:nvPr/>
        </p:nvPicPr>
        <p:blipFill>
          <a:blip r:embed="rId6"/>
          <a:stretch>
            <a:fillRect/>
          </a:stretch>
        </p:blipFill>
        <p:spPr>
          <a:xfrm>
            <a:off x="347472" y="1078992"/>
            <a:ext cx="4059936" cy="3145536"/>
          </a:xfrm>
          <a:prstGeom prst="rect">
            <a:avLst/>
          </a:prstGeom>
        </p:spPr>
      </p:pic>
      <p:pic>
        <p:nvPicPr>
          <p:cNvPr id="9" name="s12_pic_7" descr="عفن البنسيليوم (من الكتاب)">    </p:cNvPr>
          <p:cNvPicPr>
            <a:picLocks noChangeAspect="1"/>
          </p:cNvPicPr>
          <p:nvPr/>
        </p:nvPicPr>
        <p:blipFill>
          <a:blip r:embed="rId7"/>
          <a:stretch>
            <a:fillRect/>
          </a:stretch>
        </p:blipFill>
        <p:spPr>
          <a:xfrm>
            <a:off x="594360" y="1298448"/>
            <a:ext cx="3566160" cy="3803904"/>
          </a:xfrm>
          <a:prstGeom prst="rect">
            <a:avLst/>
          </a:prstGeom>
        </p:spPr>
      </p:pic>
      <p:pic>
        <p:nvPicPr>
          <p:cNvPr id="10" name="s12_pic_8" descr="/tmp/claude-0/-home-user-Scienceshamah/8386cda7-7741-5ea4-8952-60ee8e67fc31/scratchpad/w4/img/scr_864x149_14B88A_FFFFFF.png">    </p:cNvPr>
          <p:cNvPicPr>
            <a:picLocks noChangeAspect="1"/>
          </p:cNvPicPr>
          <p:nvPr/>
        </p:nvPicPr>
        <p:blipFill>
          <a:blip r:embed="rId8"/>
          <a:stretch>
            <a:fillRect/>
          </a:stretch>
        </p:blipFill>
        <p:spPr>
          <a:xfrm>
            <a:off x="4462272" y="1078992"/>
            <a:ext cx="7397496" cy="1453896"/>
          </a:xfrm>
          <a:prstGeom prst="rect">
            <a:avLst/>
          </a:prstGeom>
        </p:spPr>
      </p:pic>
      <p:sp>
        <p:nvSpPr>
          <p:cNvPr id="11" name="s12_t_9"/>
          <p:cNvSpPr txBox="1"/>
          <p:nvPr/>
        </p:nvSpPr>
        <p:spPr>
          <a:xfrm>
            <a:off x="4709160" y="1234440"/>
            <a:ext cx="6903720" cy="1143000"/>
          </a:xfrm>
          <a:prstGeom prst="rect">
            <a:avLst/>
          </a:prstGeom>
          <a:noFill/>
          <a:ln/>
        </p:spPr>
        <p:txBody>
          <a:bodyPr wrap="square" lIns="762" tIns="762" rIns="762" bIns="762" rtlCol="0" anchor="ctr"/>
          <a:lstStyle/>
          <a:p>
            <a:pPr rtl="1" algn="r" indent="0" marL="0">
              <a:lnSpc>
                <a:spcPct val="108000"/>
              </a:lnSpc>
              <a:buNone/>
            </a:pPr>
            <a:r>
              <a:rPr lang="ar-SA" altLang="en-US" sz="2100" b="1" dirty="0">
                <a:solidFill>
                  <a:srgbClr val="1B2A4A"/>
                </a:solidFill>
                <a:latin typeface="Tahoma" pitchFamily="34" charset="0"/>
                <a:ea typeface="Tahoma" pitchFamily="34" charset="-122"/>
                <a:cs typeface="Tahoma" pitchFamily="34" charset="-120"/>
              </a:rPr>
              <a:t>🔬 سؤال الاستقصاء: ما الظروف التي تساعد على نمو العفن؟</a:t>
            </a:r>
            <a:endParaRPr lang="ar-SA" sz="2100" dirty="0"/>
          </a:p>
        </p:txBody>
      </p:sp>
      <p:pic>
        <p:nvPicPr>
          <p:cNvPr id="12" name="s12_pic_10" descr="/tmp/claude-0/-home-user-Scienceshamah/8386cda7-7741-5ea4-8952-60ee8e67fc31/scratchpad/w4/img/scr_864x182_3D8BFF_FFFFFF.png">    </p:cNvPr>
          <p:cNvPicPr>
            <a:picLocks noChangeAspect="1"/>
          </p:cNvPicPr>
          <p:nvPr/>
        </p:nvPicPr>
        <p:blipFill>
          <a:blip r:embed="rId9"/>
          <a:stretch>
            <a:fillRect/>
          </a:stretch>
        </p:blipFill>
        <p:spPr>
          <a:xfrm>
            <a:off x="4462272" y="2496312"/>
            <a:ext cx="7397496" cy="1728216"/>
          </a:xfrm>
          <a:prstGeom prst="rect">
            <a:avLst/>
          </a:prstGeom>
        </p:spPr>
      </p:pic>
      <p:sp>
        <p:nvSpPr>
          <p:cNvPr id="13" name="s12_t_11"/>
          <p:cNvSpPr txBox="1"/>
          <p:nvPr/>
        </p:nvSpPr>
        <p:spPr>
          <a:xfrm>
            <a:off x="4709160" y="2651760"/>
            <a:ext cx="6903720" cy="1417320"/>
          </a:xfrm>
          <a:prstGeom prst="rect">
            <a:avLst/>
          </a:prstGeom>
          <a:noFill/>
          <a:ln/>
        </p:spPr>
        <p:txBody>
          <a:bodyPr wrap="square" lIns="762" tIns="762" rIns="762" bIns="762" rtlCol="0" anchor="ctr"/>
          <a:lstStyle/>
          <a:p>
            <a:pPr rtl="1" algn="r" indent="0" marL="0">
              <a:lnSpc>
                <a:spcPct val="108000"/>
              </a:lnSpc>
              <a:buNone/>
            </a:pPr>
            <a:r>
              <a:rPr lang="ar-SA" altLang="en-US" sz="1900" b="1" dirty="0">
                <a:solidFill>
                  <a:srgbClr val="1E6FD9"/>
                </a:solidFill>
                <a:latin typeface="Tahoma" pitchFamily="34" charset="0"/>
                <a:ea typeface="Tahoma" pitchFamily="34" charset="-122"/>
                <a:cs typeface="Tahoma" pitchFamily="34" charset="-120"/>
              </a:rPr>
              <a:t>الإجابة (من الكتاب): </a:t>
            </a:r>
            <a:r>
              <a:rPr lang="ar-SA" altLang="en-US" sz="1900" b="1" dirty="0">
                <a:solidFill>
                  <a:srgbClr val="1B2A4A"/>
                </a:solidFill>
                <a:latin typeface="Tahoma" pitchFamily="34" charset="0"/>
                <a:ea typeface="Tahoma" pitchFamily="34" charset="-122"/>
                <a:cs typeface="Tahoma" pitchFamily="34" charset="-120"/>
              </a:rPr>
              <a:t>الحرارة والرطوبة؛ فعند توافرهما تتكاثر الفطريات المجهرية بسرعة.</a:t>
            </a:r>
            <a:endParaRPr lang="ar-SA" sz="1900" dirty="0"/>
          </a:p>
        </p:txBody>
      </p:sp>
      <p:pic>
        <p:nvPicPr>
          <p:cNvPr id="14" name="s12_pic_12" descr="/tmp/claude-0/-home-user-Scienceshamah/8386cda7-7741-5ea4-8952-60ee8e67fc31/scratchpad/w4/img/scr_1359x215_E2558F_FFF4F8.png">    </p:cNvPr>
          <p:cNvPicPr>
            <a:picLocks noChangeAspect="1"/>
          </p:cNvPicPr>
          <p:nvPr/>
        </p:nvPicPr>
        <p:blipFill>
          <a:blip r:embed="rId10"/>
          <a:stretch>
            <a:fillRect/>
          </a:stretch>
        </p:blipFill>
        <p:spPr>
          <a:xfrm>
            <a:off x="347472" y="4233672"/>
            <a:ext cx="11512296" cy="2002536"/>
          </a:xfrm>
          <a:prstGeom prst="rect">
            <a:avLst/>
          </a:prstGeom>
        </p:spPr>
      </p:pic>
      <p:sp>
        <p:nvSpPr>
          <p:cNvPr id="15" name="s12_t_13"/>
          <p:cNvSpPr txBox="1"/>
          <p:nvPr/>
        </p:nvSpPr>
        <p:spPr>
          <a:xfrm>
            <a:off x="640080" y="4389120"/>
            <a:ext cx="10927080" cy="731520"/>
          </a:xfrm>
          <a:prstGeom prst="rect">
            <a:avLst/>
          </a:prstGeom>
          <a:noFill/>
          <a:ln/>
        </p:spPr>
        <p:txBody>
          <a:bodyPr wrap="square" lIns="762" tIns="762" rIns="762" bIns="762" rtlCol="0" anchor="ctr"/>
          <a:lstStyle/>
          <a:p>
            <a:pPr rtl="1" algn="r" indent="0" marL="0">
              <a:lnSpc>
                <a:spcPct val="108000"/>
              </a:lnSpc>
              <a:buNone/>
            </a:pPr>
            <a:r>
              <a:rPr lang="ar-SA" altLang="en-US" sz="1900" b="1" dirty="0">
                <a:solidFill>
                  <a:srgbClr val="B0306A"/>
                </a:solidFill>
                <a:latin typeface="Tahoma" pitchFamily="34" charset="0"/>
                <a:ea typeface="Tahoma" pitchFamily="34" charset="-122"/>
                <a:cs typeface="Tahoma" pitchFamily="34" charset="-120"/>
              </a:rPr>
              <a:t>✅ تقويم تكويني – أستنتج: </a:t>
            </a:r>
            <a:r>
              <a:rPr lang="ar-SA" altLang="en-US" sz="1900" b="1" dirty="0">
                <a:solidFill>
                  <a:srgbClr val="1B2A4A"/>
                </a:solidFill>
                <a:latin typeface="Tahoma" pitchFamily="34" charset="0"/>
                <a:ea typeface="Tahoma" pitchFamily="34" charset="-122"/>
                <a:cs typeface="Tahoma" pitchFamily="34" charset="-120"/>
              </a:rPr>
              <a:t>لماذا يصيب مرض القدم الرياضي المناطق بين أصابع القدم؟</a:t>
            </a:r>
            <a:endParaRPr lang="ar-SA" sz="1900" dirty="0"/>
          </a:p>
        </p:txBody>
      </p:sp>
      <p:sp>
        <p:nvSpPr>
          <p:cNvPr id="16" name="s12_t_14"/>
          <p:cNvSpPr txBox="1"/>
          <p:nvPr/>
        </p:nvSpPr>
        <p:spPr>
          <a:xfrm>
            <a:off x="640080" y="5120640"/>
            <a:ext cx="10927080" cy="914400"/>
          </a:xfrm>
          <a:prstGeom prst="rect">
            <a:avLst/>
          </a:prstGeom>
          <a:noFill/>
          <a:ln/>
        </p:spPr>
        <p:txBody>
          <a:bodyPr wrap="square" lIns="762" tIns="762" rIns="762" bIns="762" rtlCol="0" anchor="ctr"/>
          <a:lstStyle/>
          <a:p>
            <a:pPr rtl="1" algn="r" indent="0" marL="0">
              <a:lnSpc>
                <a:spcPct val="108000"/>
              </a:lnSpc>
              <a:buNone/>
            </a:pPr>
            <a:r>
              <a:rPr lang="ar-SA" altLang="en-US" sz="1800" b="1" dirty="0">
                <a:solidFill>
                  <a:srgbClr val="0E7C55"/>
                </a:solidFill>
                <a:latin typeface="Tahoma" pitchFamily="34" charset="0"/>
                <a:ea typeface="Tahoma" pitchFamily="34" charset="-122"/>
                <a:cs typeface="Tahoma" pitchFamily="34" charset="-120"/>
              </a:rPr>
              <a:t>لأن المنطقة بين الأصابع دافئة ورطبة، وهي ظروف مناسبة لتكاثر الفطريات بسرعة. 🌟 أحسنتِ!</a:t>
            </a:r>
            <a:endParaRPr lang="ar-SA" sz="1800" dirty="0"/>
          </a:p>
        </p:txBody>
      </p:sp>
    </p:spTree>
  </p:cSld>
  <p:clrMapOvr>
    <a:masterClrMapping/>
  </p:clrMapOvr>
  <mc:AlternateContent xmlns:mc="http://schemas.openxmlformats.org/markup-compatibility/2006">
    <mc:Choice xmlns:p14="http://schemas.microsoft.com/office/powerpoint/2010/main" Requires="p14">
      <p:transition spd="slow" p14:dur="14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12"/>
                                        </p:tgtEl>
                                        <p:attrNameLst>
                                          <p:attrName>style.visibility</p:attrName>
                                        </p:attrNameLst>
                                      </p:cBhvr>
                                      <p:to>
                                        <p:strVal val="visible"/>
                                      </p:to>
                                    </p:set>
                                    <p:anim calcmode="lin" valueType="num">
                                      <p:cBhvr>
                                        <p:cTn id="6" dur="500" fill="hold"/>
                                        <p:tgtEl>
                                          <p:spTgt spid="12"/>
                                        </p:tgtEl>
                                        <p:attrNameLst>
                                          <p:attrName>ppt_w</p:attrName>
                                        </p:attrNameLst>
                                      </p:cBhvr>
                                      <p:tavLst>
                                        <p:tav tm="0">
                                          <p:val>
                                            <p:fltVal val="0"/>
                                          </p:val>
                                        </p:tav>
                                        <p:tav tm="100000">
                                          <p:val>
                                            <p:strVal val="#ppt_w"/>
                                          </p:val>
                                        </p:tav>
                                      </p:tavLst>
                                    </p:anim>
                                    <p:anim calcmode="lin" valueType="num">
                                      <p:cBhvr>
                                        <p:cTn id="7" dur="500" fill="hold"/>
                                        <p:tgtEl>
                                          <p:spTgt spid="12"/>
                                        </p:tgtEl>
                                        <p:attrNameLst>
                                          <p:attrName>ppt_h</p:attrName>
                                        </p:attrNameLst>
                                      </p:cBhvr>
                                      <p:tavLst>
                                        <p:tav tm="0">
                                          <p:val>
                                            <p:fltVal val="0"/>
                                          </p:val>
                                        </p:tav>
                                        <p:tav tm="100000">
                                          <p:val>
                                            <p:strVal val="#ppt_h"/>
                                          </p:val>
                                        </p:tav>
                                      </p:tavLst>
                                    </p:anim>
                                    <p:animEffect transition="in" filter="fade">
                                      <p:cBhvr>
                                        <p:cTn id="8" dur="500"/>
                                        <p:tgtEl>
                                          <p:spTgt spid="12"/>
                                        </p:tgtEl>
                                      </p:cBhvr>
                                    </p:animEffect>
                                  </p:childTnLst>
                                </p:cTn>
                              </p:par>
                              <p:par>
                                <p:cTn id="14" presetID="53" presetClass="entr" presetSubtype="16"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p:cTn id="11" dur="500" fill="hold"/>
                                        <p:tgtEl>
                                          <p:spTgt spid="13"/>
                                        </p:tgtEl>
                                        <p:attrNameLst>
                                          <p:attrName>ppt_w</p:attrName>
                                        </p:attrNameLst>
                                      </p:cBhvr>
                                      <p:tavLst>
                                        <p:tav tm="0">
                                          <p:val>
                                            <p:fltVal val="0"/>
                                          </p:val>
                                        </p:tav>
                                        <p:tav tm="100000">
                                          <p:val>
                                            <p:strVal val="#ppt_w"/>
                                          </p:val>
                                        </p:tav>
                                      </p:tavLst>
                                    </p:anim>
                                    <p:anim calcmode="lin" valueType="num">
                                      <p:cBhvr>
                                        <p:cTn id="12" dur="500" fill="hold"/>
                                        <p:tgtEl>
                                          <p:spTgt spid="13"/>
                                        </p:tgtEl>
                                        <p:attrNameLst>
                                          <p:attrName>ppt_h</p:attrName>
                                        </p:attrNameLst>
                                      </p:cBhvr>
                                      <p:tavLst>
                                        <p:tav tm="0">
                                          <p:val>
                                            <p:fltVal val="0"/>
                                          </p:val>
                                        </p:tav>
                                        <p:tav tm="100000">
                                          <p:val>
                                            <p:strVal val="#ppt_h"/>
                                          </p:val>
                                        </p:tav>
                                      </p:tavLst>
                                    </p:anim>
                                    <p:animEffect transition="in" filter="fade">
                                      <p:cBhvr>
                                        <p:cTn id="13" dur="500"/>
                                        <p:tgtEl>
                                          <p:spTgt spid="13"/>
                                        </p:tgtEl>
                                      </p:cBhvr>
                                    </p:animEffect>
                                  </p:childTnLst>
                                </p:cTn>
                              </p:par>
                            </p:childTnLst>
                          </p:cTn>
                        </p:par>
                      </p:childTnLst>
                    </p:cTn>
                  </p:par>
                  <p:par>
                    <p:cTn id="15" fill="hold">
                      <p:stCondLst>
                        <p:cond delay="indefinite"/>
                      </p:stCondLst>
                      <p:childTnLst>
                        <p:par>
                          <p:cTn id="16" fill="hold">
                            <p:stCondLst>
                              <p:cond delay="0"/>
                            </p:stCondLst>
                            <p:childTnLst>
                              <p:par>
                                <p:cTn id="21" presetID="53" presetClass="entr" presetSubtype="16"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anim calcmode="lin" valueType="num">
                                      <p:cBhvr>
                                        <p:cTn id="18" dur="500" fill="hold"/>
                                        <p:tgtEl>
                                          <p:spTgt spid="16"/>
                                        </p:tgtEl>
                                        <p:attrNameLst>
                                          <p:attrName>ppt_w</p:attrName>
                                        </p:attrNameLst>
                                      </p:cBhvr>
                                      <p:tavLst>
                                        <p:tav tm="0">
                                          <p:val>
                                            <p:fltVal val="0"/>
                                          </p:val>
                                        </p:tav>
                                        <p:tav tm="100000">
                                          <p:val>
                                            <p:strVal val="#ppt_w"/>
                                          </p:val>
                                        </p:tav>
                                      </p:tavLst>
                                    </p:anim>
                                    <p:anim calcmode="lin" valueType="num">
                                      <p:cBhvr>
                                        <p:cTn id="19" dur="500" fill="hold"/>
                                        <p:tgtEl>
                                          <p:spTgt spid="16"/>
                                        </p:tgtEl>
                                        <p:attrNameLst>
                                          <p:attrName>ppt_h</p:attrName>
                                        </p:attrNameLst>
                                      </p:cBhvr>
                                      <p:tavLst>
                                        <p:tav tm="0">
                                          <p:val>
                                            <p:fltVal val="0"/>
                                          </p:val>
                                        </p:tav>
                                        <p:tav tm="100000">
                                          <p:val>
                                            <p:strVal val="#ppt_h"/>
                                          </p:val>
                                        </p:tav>
                                      </p:tavLst>
                                    </p:anim>
                                    <p:animEffect transition="in" filter="fade">
                                      <p:cBhvr>
                                        <p:cTn id="2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13_sign" descr="قاعة الطلائعيات المجهرية">    </p:cNvPr>
          <p:cNvPicPr>
            <a:picLocks noChangeAspect="1"/>
          </p:cNvPicPr>
          <p:nvPr/>
        </p:nvPicPr>
        <p:blipFill>
          <a:blip r:embed="rId2"/>
          <a:stretch>
            <a:fillRect/>
          </a:stretch>
        </p:blipFill>
        <p:spPr>
          <a:xfrm>
            <a:off x="3745652" y="91440"/>
            <a:ext cx="4700392" cy="868680"/>
          </a:xfrm>
          <a:prstGeom prst="rect">
            <a:avLst/>
          </a:prstGeom>
        </p:spPr>
      </p:pic>
      <p:sp>
        <p:nvSpPr>
          <p:cNvPr id="3" name="s13_t_1"/>
          <p:cNvSpPr txBox="1"/>
          <p:nvPr/>
        </p:nvSpPr>
        <p:spPr>
          <a:xfrm>
            <a:off x="10561320" y="274320"/>
            <a:ext cx="1325880" cy="502920"/>
          </a:xfrm>
          <a:prstGeom prst="roundRect">
            <a:avLst>
              <a:gd name="adj" fmla="val 49091"/>
            </a:avLst>
          </a:prstGeom>
          <a:solidFill>
            <a:srgbClr val="1B2A4A"/>
          </a:solidFill>
          <a:ln/>
        </p:spPr>
        <p:txBody>
          <a:bodyPr wrap="square" lIns="762" tIns="762" rIns="762" bIns="762" rtlCol="0" anchor="ctr"/>
          <a:lstStyle/>
          <a:p>
            <a:pPr rtl="1" algn="ctr" indent="0" marL="0">
              <a:lnSpc>
                <a:spcPct val="108000"/>
              </a:lnSpc>
              <a:buNone/>
            </a:pPr>
            <a:r>
              <a:rPr lang="ar-SA" altLang="en-US" sz="1700" b="1" dirty="0">
                <a:solidFill>
                  <a:srgbClr val="FFFFFF"/>
                </a:solidFill>
                <a:latin typeface="Tahoma" pitchFamily="34" charset="0"/>
                <a:ea typeface="Tahoma" pitchFamily="34" charset="-122"/>
                <a:cs typeface="Tahoma" pitchFamily="34" charset="-120"/>
              </a:rPr>
              <a:t>القاعة </a:t>
            </a:r>
            <a:r>
              <a:rPr lang="ar-SA" altLang="en-US" sz="1700" b="1" dirty="0">
                <a:solidFill>
                  <a:srgbClr val="FFFFFF"/>
                </a:solidFill>
                <a:latin typeface="Tahoma" pitchFamily="34" charset="0"/>
                <a:ea typeface="Tahoma" pitchFamily="34" charset="-122"/>
                <a:cs typeface="Tahoma" pitchFamily="34" charset="-120"/>
              </a:rPr>
              <a:t>٦</a:t>
            </a:r>
            <a:endParaRPr lang="ar-SA" sz="1700" dirty="0"/>
          </a:p>
        </p:txBody>
      </p:sp>
      <p:sp>
        <p:nvSpPr>
          <p:cNvPr id="4" name="s13_t_2"/>
          <p:cNvSpPr txBox="1"/>
          <p:nvPr/>
        </p:nvSpPr>
        <p:spPr>
          <a:xfrm>
            <a:off x="365760" y="228600"/>
            <a:ext cx="2788920" cy="603504"/>
          </a:xfrm>
          <a:prstGeom prst="roundRect">
            <a:avLst>
              <a:gd name="adj" fmla="val 39394"/>
            </a:avLst>
          </a:prstGeom>
          <a:solidFill>
            <a:srgbClr val="FFFFFF"/>
          </a:solidFill>
          <a:ln w="25400">
            <a:solidFill>
              <a:srgbClr val="8C5CFF"/>
            </a:solidFill>
            <a:prstDash val="dash"/>
          </a:ln>
        </p:spPr>
        <p:txBody>
          <a:bodyPr wrap="square" lIns="762" tIns="762" rIns="762" bIns="762" rtlCol="0" anchor="ctr"/>
          <a:lstStyle/>
          <a:p>
            <a:pPr rtl="1" algn="ctr" indent="0" marL="0">
              <a:lnSpc>
                <a:spcPct val="108000"/>
              </a:lnSpc>
              <a:buNone/>
            </a:pPr>
            <a:r>
              <a:rPr lang="ar-SA" altLang="en-US" sz="1350" b="1" dirty="0">
                <a:solidFill>
                  <a:srgbClr val="C2366F"/>
                </a:solidFill>
                <a:latin typeface="Tahoma" pitchFamily="34" charset="0"/>
                <a:ea typeface="Tahoma" pitchFamily="34" charset="-122"/>
                <a:cs typeface="Tahoma" pitchFamily="34" charset="-120"/>
              </a:rPr>
              <a:t>الاستراتيجية: </a:t>
            </a:r>
            <a:r>
              <a:rPr lang="ar-SA" altLang="en-US" sz="1350" b="1" dirty="0">
                <a:solidFill>
                  <a:srgbClr val="34405E"/>
                </a:solidFill>
                <a:latin typeface="Tahoma" pitchFamily="34" charset="0"/>
                <a:ea typeface="Tahoma" pitchFamily="34" charset="-122"/>
                <a:cs typeface="Tahoma" pitchFamily="34" charset="-120"/>
              </a:rPr>
              <a:t>قارني واستنتجي</a:t>
            </a:r>
            <a:endParaRPr lang="ar-SA" sz="1350" dirty="0"/>
          </a:p>
        </p:txBody>
      </p:sp>
      <p:sp>
        <p:nvSpPr>
          <p:cNvPr id="5" name="s13_t_3">
            <a:hlinkClick r:id="rId3" tooltip="الانتقال إلى القاعة التالية" action="ppaction://hlinksldjump"/>
          </p:cNvPr>
          <p:cNvSpPr txBox="1"/>
          <p:nvPr/>
        </p:nvSpPr>
        <p:spPr>
          <a:xfrm>
            <a:off x="2926080" y="6382512"/>
            <a:ext cx="2011680" cy="384048"/>
          </a:xfrm>
          <a:prstGeom prst="roundRect">
            <a:avLst>
              <a:gd name="adj" fmla="val 50000"/>
            </a:avLst>
          </a:prstGeom>
          <a:solidFill>
            <a:srgbClr val="5B6CFF"/>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القاعة التالية ◀</a:t>
            </a:r>
            <a:endParaRPr lang="ar-SA" sz="1600" dirty="0"/>
          </a:p>
        </p:txBody>
      </p:sp>
      <p:sp>
        <p:nvSpPr>
          <p:cNvPr id="6" name="s13_t_4">
            <a:hlinkClick r:id="rId4" tooltip="العودة إلى خريطة المتحف" action="ppaction://hlinksldjump"/>
          </p:cNvPr>
          <p:cNvSpPr txBox="1"/>
          <p:nvPr/>
        </p:nvSpPr>
        <p:spPr>
          <a:xfrm>
            <a:off x="5074920" y="6382512"/>
            <a:ext cx="2011680" cy="384048"/>
          </a:xfrm>
          <a:prstGeom prst="roundRect">
            <a:avLst>
              <a:gd name="adj" fmla="val 50000"/>
            </a:avLst>
          </a:prstGeom>
          <a:solidFill>
            <a:srgbClr val="0FA3B8"/>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خريطة المتحف</a:t>
            </a:r>
            <a:endParaRPr lang="ar-SA" sz="1600" dirty="0"/>
          </a:p>
        </p:txBody>
      </p:sp>
      <p:sp>
        <p:nvSpPr>
          <p:cNvPr id="7" name="s13_t_5">
            <a:hlinkClick r:id="rId5" tooltip="القاعة السابقة" action="ppaction://hlinksldjump"/>
          </p:cNvPr>
          <p:cNvSpPr txBox="1"/>
          <p:nvPr/>
        </p:nvSpPr>
        <p:spPr>
          <a:xfrm>
            <a:off x="7223760" y="6382512"/>
            <a:ext cx="1463040" cy="384048"/>
          </a:xfrm>
          <a:prstGeom prst="roundRect">
            <a:avLst>
              <a:gd name="adj" fmla="val 50000"/>
            </a:avLst>
          </a:prstGeom>
          <a:solidFill>
            <a:srgbClr val="8C9BB5"/>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السابقة</a:t>
            </a:r>
            <a:endParaRPr lang="ar-SA" sz="1600" dirty="0"/>
          </a:p>
        </p:txBody>
      </p:sp>
      <p:pic>
        <p:nvPicPr>
          <p:cNvPr id="8" name="s13_pic_6" descr="/tmp/claude-0/-home-user-Scienceshamah/8386cda7-7741-5ea4-8952-60ee8e67fc31/scratchpad/w4/img/scr_1359x116_8C5CFF_FFFFFF.png">    </p:cNvPr>
          <p:cNvPicPr>
            <a:picLocks noChangeAspect="1"/>
          </p:cNvPicPr>
          <p:nvPr/>
        </p:nvPicPr>
        <p:blipFill>
          <a:blip r:embed="rId6"/>
          <a:stretch>
            <a:fillRect/>
          </a:stretch>
        </p:blipFill>
        <p:spPr>
          <a:xfrm>
            <a:off x="347472" y="1078992"/>
            <a:ext cx="11512296" cy="1179576"/>
          </a:xfrm>
          <a:prstGeom prst="rect">
            <a:avLst/>
          </a:prstGeom>
        </p:spPr>
      </p:pic>
      <p:sp>
        <p:nvSpPr>
          <p:cNvPr id="9" name="s13_t_7"/>
          <p:cNvSpPr txBox="1"/>
          <p:nvPr/>
        </p:nvSpPr>
        <p:spPr>
          <a:xfrm>
            <a:off x="640080" y="1216152"/>
            <a:ext cx="10927080" cy="896112"/>
          </a:xfrm>
          <a:prstGeom prst="rect">
            <a:avLst/>
          </a:prstGeom>
          <a:noFill/>
          <a:ln/>
        </p:spPr>
        <p:txBody>
          <a:bodyPr wrap="square" lIns="762" tIns="762" rIns="762" bIns="762" rtlCol="0" anchor="ctr"/>
          <a:lstStyle/>
          <a:p>
            <a:pPr rtl="1" algn="ctr" indent="0" marL="0">
              <a:lnSpc>
                <a:spcPct val="108000"/>
              </a:lnSpc>
              <a:buNone/>
            </a:pPr>
            <a:r>
              <a:rPr lang="ar-SA" altLang="en-US" sz="1900" b="1" dirty="0">
                <a:solidFill>
                  <a:srgbClr val="1B2A4A"/>
                </a:solidFill>
                <a:latin typeface="Tahoma" pitchFamily="34" charset="0"/>
                <a:ea typeface="Tahoma" pitchFamily="34" charset="-122"/>
                <a:cs typeface="Tahoma" pitchFamily="34" charset="-120"/>
              </a:rPr>
              <a:t>معظم الطلائعيات مخلوقات حية دقيقة وحيدة الخلية، يصعب تصنيفها إلى حيوانات أو نباتات.</a:t>
            </a:r>
            <a:endParaRPr lang="ar-SA" sz="1900" dirty="0"/>
          </a:p>
        </p:txBody>
      </p:sp>
      <p:pic>
        <p:nvPicPr>
          <p:cNvPr id="10" name="s13_pic_8" descr="/tmp/claude-0/-home-user-Scienceshamah/8386cda7-7741-5ea4-8952-60ee8e67fc31/scratchpad/w4/img/scr_325x451_14B88A_FFFFFF.png">    </p:cNvPr>
          <p:cNvPicPr>
            <a:picLocks noChangeAspect="1"/>
          </p:cNvPicPr>
          <p:nvPr/>
        </p:nvPicPr>
        <p:blipFill>
          <a:blip r:embed="rId7"/>
          <a:stretch>
            <a:fillRect/>
          </a:stretch>
        </p:blipFill>
        <p:spPr>
          <a:xfrm>
            <a:off x="8805672" y="2267712"/>
            <a:ext cx="2916936" cy="3968496"/>
          </a:xfrm>
          <a:prstGeom prst="rect">
            <a:avLst/>
          </a:prstGeom>
        </p:spPr>
      </p:pic>
      <p:pic>
        <p:nvPicPr>
          <p:cNvPr id="11" name="s13_pic_9" descr="اليوجلينا">    </p:cNvPr>
          <p:cNvPicPr>
            <a:picLocks noChangeAspect="1"/>
          </p:cNvPicPr>
          <p:nvPr/>
        </p:nvPicPr>
        <p:blipFill>
          <a:blip r:embed="rId8"/>
          <a:stretch>
            <a:fillRect/>
          </a:stretch>
        </p:blipFill>
        <p:spPr>
          <a:xfrm>
            <a:off x="9098280" y="2423160"/>
            <a:ext cx="2331720" cy="1492301"/>
          </a:xfrm>
          <a:prstGeom prst="rect">
            <a:avLst/>
          </a:prstGeom>
        </p:spPr>
      </p:pic>
      <p:sp>
        <p:nvSpPr>
          <p:cNvPr id="12" name="s13_t_10"/>
          <p:cNvSpPr txBox="1"/>
          <p:nvPr/>
        </p:nvSpPr>
        <p:spPr>
          <a:xfrm>
            <a:off x="9006840" y="3886200"/>
            <a:ext cx="2514600" cy="457200"/>
          </a:xfrm>
          <a:prstGeom prst="rect">
            <a:avLst/>
          </a:prstGeom>
          <a:noFill/>
          <a:ln/>
        </p:spPr>
        <p:txBody>
          <a:bodyPr wrap="square" lIns="762" tIns="762" rIns="762" bIns="762" rtlCol="0" anchor="ctr"/>
          <a:lstStyle/>
          <a:p>
            <a:pPr rtl="1" algn="ctr" indent="0" marL="0">
              <a:lnSpc>
                <a:spcPct val="108000"/>
              </a:lnSpc>
              <a:buNone/>
            </a:pPr>
            <a:r>
              <a:rPr lang="ar-SA" altLang="en-US" sz="1900" b="1" dirty="0">
                <a:solidFill>
                  <a:srgbClr val="14B88A"/>
                </a:solidFill>
                <a:latin typeface="Tahoma" pitchFamily="34" charset="0"/>
                <a:ea typeface="Tahoma" pitchFamily="34" charset="-122"/>
                <a:cs typeface="Tahoma" pitchFamily="34" charset="-120"/>
              </a:rPr>
              <a:t>اليوجلينا</a:t>
            </a:r>
            <a:endParaRPr lang="ar-SA" sz="1900" dirty="0"/>
          </a:p>
        </p:txBody>
      </p:sp>
      <p:sp>
        <p:nvSpPr>
          <p:cNvPr id="13" name="s13_t_11"/>
          <p:cNvSpPr txBox="1"/>
          <p:nvPr/>
        </p:nvSpPr>
        <p:spPr>
          <a:xfrm>
            <a:off x="9025128" y="4343400"/>
            <a:ext cx="2478024" cy="1691640"/>
          </a:xfrm>
          <a:prstGeom prst="rect">
            <a:avLst/>
          </a:prstGeom>
          <a:noFill/>
          <a:ln/>
        </p:spPr>
        <p:txBody>
          <a:bodyPr wrap="square" lIns="762" tIns="762" rIns="762" bIns="762" rtlCol="0" anchor="t"/>
          <a:lstStyle/>
          <a:p>
            <a:pPr rtl="1" algn="ctr" indent="0" marL="0">
              <a:lnSpc>
                <a:spcPct val="108000"/>
              </a:lnSpc>
              <a:buNone/>
            </a:pPr>
            <a:r>
              <a:rPr lang="ar-SA" altLang="en-US" sz="1450" b="1" dirty="0">
                <a:solidFill>
                  <a:srgbClr val="1B2A4A"/>
                </a:solidFill>
                <a:latin typeface="Tahoma" pitchFamily="34" charset="0"/>
                <a:ea typeface="Tahoma" pitchFamily="34" charset="-122"/>
                <a:cs typeface="Tahoma" pitchFamily="34" charset="-120"/>
              </a:rPr>
              <a:t>شبيهة بالنباتات: تصنع غذاءها بنفسها.</a:t>
            </a:r>
            <a:endParaRPr lang="ar-SA" sz="1450" dirty="0"/>
          </a:p>
        </p:txBody>
      </p:sp>
      <p:pic>
        <p:nvPicPr>
          <p:cNvPr id="14" name="s13_pic_12" descr="/tmp/claude-0/-home-user-Scienceshamah/8386cda7-7741-5ea4-8952-60ee8e67fc31/scratchpad/w4/img/scr_325x451_E3A21A_FFFFFF.png">    </p:cNvPr>
          <p:cNvPicPr>
            <a:picLocks noChangeAspect="1"/>
          </p:cNvPicPr>
          <p:nvPr/>
        </p:nvPicPr>
        <p:blipFill>
          <a:blip r:embed="rId9"/>
          <a:stretch>
            <a:fillRect/>
          </a:stretch>
        </p:blipFill>
        <p:spPr>
          <a:xfrm>
            <a:off x="5971032" y="2267712"/>
            <a:ext cx="2916936" cy="3968496"/>
          </a:xfrm>
          <a:prstGeom prst="rect">
            <a:avLst/>
          </a:prstGeom>
        </p:spPr>
      </p:pic>
      <p:pic>
        <p:nvPicPr>
          <p:cNvPr id="15" name="s13_pic_13" descr="الدياتومات">    </p:cNvPr>
          <p:cNvPicPr>
            <a:picLocks noChangeAspect="1"/>
          </p:cNvPicPr>
          <p:nvPr/>
        </p:nvPicPr>
        <p:blipFill>
          <a:blip r:embed="rId10"/>
          <a:stretch>
            <a:fillRect/>
          </a:stretch>
        </p:blipFill>
        <p:spPr>
          <a:xfrm>
            <a:off x="6263640" y="2423160"/>
            <a:ext cx="2331720" cy="1520687"/>
          </a:xfrm>
          <a:prstGeom prst="rect">
            <a:avLst/>
          </a:prstGeom>
        </p:spPr>
      </p:pic>
      <p:sp>
        <p:nvSpPr>
          <p:cNvPr id="16" name="s13_t_14"/>
          <p:cNvSpPr txBox="1"/>
          <p:nvPr/>
        </p:nvSpPr>
        <p:spPr>
          <a:xfrm>
            <a:off x="6172200" y="3886200"/>
            <a:ext cx="2514600" cy="457200"/>
          </a:xfrm>
          <a:prstGeom prst="rect">
            <a:avLst/>
          </a:prstGeom>
          <a:noFill/>
          <a:ln/>
        </p:spPr>
        <p:txBody>
          <a:bodyPr wrap="square" lIns="762" tIns="762" rIns="762" bIns="762" rtlCol="0" anchor="ctr"/>
          <a:lstStyle/>
          <a:p>
            <a:pPr rtl="1" algn="ctr" indent="0" marL="0">
              <a:lnSpc>
                <a:spcPct val="108000"/>
              </a:lnSpc>
              <a:buNone/>
            </a:pPr>
            <a:r>
              <a:rPr lang="ar-SA" altLang="en-US" sz="1900" b="1" dirty="0">
                <a:solidFill>
                  <a:srgbClr val="E3A21A"/>
                </a:solidFill>
                <a:latin typeface="Tahoma" pitchFamily="34" charset="0"/>
                <a:ea typeface="Tahoma" pitchFamily="34" charset="-122"/>
                <a:cs typeface="Tahoma" pitchFamily="34" charset="-120"/>
              </a:rPr>
              <a:t>الدياتومات</a:t>
            </a:r>
            <a:endParaRPr lang="ar-SA" sz="1900" dirty="0"/>
          </a:p>
        </p:txBody>
      </p:sp>
      <p:sp>
        <p:nvSpPr>
          <p:cNvPr id="17" name="s13_t_15"/>
          <p:cNvSpPr txBox="1"/>
          <p:nvPr/>
        </p:nvSpPr>
        <p:spPr>
          <a:xfrm>
            <a:off x="6190488" y="4343400"/>
            <a:ext cx="2478024" cy="1691640"/>
          </a:xfrm>
          <a:prstGeom prst="rect">
            <a:avLst/>
          </a:prstGeom>
          <a:noFill/>
          <a:ln/>
        </p:spPr>
        <p:txBody>
          <a:bodyPr wrap="square" lIns="762" tIns="762" rIns="762" bIns="762" rtlCol="0" anchor="t"/>
          <a:lstStyle/>
          <a:p>
            <a:pPr rtl="1" algn="ctr" indent="0" marL="0">
              <a:lnSpc>
                <a:spcPct val="108000"/>
              </a:lnSpc>
              <a:buNone/>
            </a:pPr>
            <a:r>
              <a:rPr lang="ar-SA" altLang="en-US" sz="1450" b="1" dirty="0">
                <a:solidFill>
                  <a:srgbClr val="1B2A4A"/>
                </a:solidFill>
                <a:latin typeface="Tahoma" pitchFamily="34" charset="0"/>
                <a:ea typeface="Tahoma" pitchFamily="34" charset="-122"/>
                <a:cs typeface="Tahoma" pitchFamily="34" charset="-120"/>
              </a:rPr>
              <a:t>شبيهة بالنباتات، تعيش في البحيرات والمحيطات، ومصدر الغذاء الرئيس في الأنظمة البيئية البحرية.</a:t>
            </a:r>
            <a:endParaRPr lang="ar-SA" sz="1450" dirty="0"/>
          </a:p>
        </p:txBody>
      </p:sp>
      <p:pic>
        <p:nvPicPr>
          <p:cNvPr id="18" name="s13_pic_16" descr="/tmp/claude-0/-home-user-Scienceshamah/8386cda7-7741-5ea4-8952-60ee8e67fc31/scratchpad/w4/img/scr_325x451_3D8BFF_FFFFFF.png">    </p:cNvPr>
          <p:cNvPicPr>
            <a:picLocks noChangeAspect="1"/>
          </p:cNvPicPr>
          <p:nvPr/>
        </p:nvPicPr>
        <p:blipFill>
          <a:blip r:embed="rId11"/>
          <a:stretch>
            <a:fillRect/>
          </a:stretch>
        </p:blipFill>
        <p:spPr>
          <a:xfrm>
            <a:off x="3136392" y="2267712"/>
            <a:ext cx="2916936" cy="3968496"/>
          </a:xfrm>
          <a:prstGeom prst="rect">
            <a:avLst/>
          </a:prstGeom>
        </p:spPr>
      </p:pic>
      <p:pic>
        <p:nvPicPr>
          <p:cNvPr id="19" name="s13_pic_17" descr="الأهداب">    </p:cNvPr>
          <p:cNvPicPr>
            <a:picLocks noChangeAspect="1"/>
          </p:cNvPicPr>
          <p:nvPr/>
        </p:nvPicPr>
        <p:blipFill>
          <a:blip r:embed="rId12"/>
          <a:stretch>
            <a:fillRect/>
          </a:stretch>
        </p:blipFill>
        <p:spPr>
          <a:xfrm>
            <a:off x="3429000" y="2423160"/>
            <a:ext cx="2331720" cy="1399032"/>
          </a:xfrm>
          <a:prstGeom prst="rect">
            <a:avLst/>
          </a:prstGeom>
        </p:spPr>
      </p:pic>
      <p:sp>
        <p:nvSpPr>
          <p:cNvPr id="20" name="s13_t_18"/>
          <p:cNvSpPr txBox="1"/>
          <p:nvPr/>
        </p:nvSpPr>
        <p:spPr>
          <a:xfrm>
            <a:off x="3337560" y="3886200"/>
            <a:ext cx="2514600" cy="457200"/>
          </a:xfrm>
          <a:prstGeom prst="rect">
            <a:avLst/>
          </a:prstGeom>
          <a:noFill/>
          <a:ln/>
        </p:spPr>
        <p:txBody>
          <a:bodyPr wrap="square" lIns="762" tIns="762" rIns="762" bIns="762" rtlCol="0" anchor="ctr"/>
          <a:lstStyle/>
          <a:p>
            <a:pPr rtl="1" algn="ctr" indent="0" marL="0">
              <a:lnSpc>
                <a:spcPct val="108000"/>
              </a:lnSpc>
              <a:buNone/>
            </a:pPr>
            <a:r>
              <a:rPr lang="ar-SA" altLang="en-US" sz="1900" b="1" dirty="0">
                <a:solidFill>
                  <a:srgbClr val="3D8BFF"/>
                </a:solidFill>
                <a:latin typeface="Tahoma" pitchFamily="34" charset="0"/>
                <a:ea typeface="Tahoma" pitchFamily="34" charset="-122"/>
                <a:cs typeface="Tahoma" pitchFamily="34" charset="-120"/>
              </a:rPr>
              <a:t>الأهداب</a:t>
            </a:r>
            <a:endParaRPr lang="ar-SA" sz="1900" dirty="0"/>
          </a:p>
        </p:txBody>
      </p:sp>
      <p:sp>
        <p:nvSpPr>
          <p:cNvPr id="21" name="s13_t_19"/>
          <p:cNvSpPr txBox="1"/>
          <p:nvPr/>
        </p:nvSpPr>
        <p:spPr>
          <a:xfrm>
            <a:off x="3355848" y="4343400"/>
            <a:ext cx="2478024" cy="1691640"/>
          </a:xfrm>
          <a:prstGeom prst="rect">
            <a:avLst/>
          </a:prstGeom>
          <a:noFill/>
          <a:ln/>
        </p:spPr>
        <p:txBody>
          <a:bodyPr wrap="square" lIns="762" tIns="762" rIns="762" bIns="762" rtlCol="0" anchor="t"/>
          <a:lstStyle/>
          <a:p>
            <a:pPr rtl="1" algn="ctr" indent="0" marL="0">
              <a:lnSpc>
                <a:spcPct val="108000"/>
              </a:lnSpc>
              <a:buNone/>
            </a:pPr>
            <a:r>
              <a:rPr lang="ar-SA" altLang="en-US" sz="1450" b="1" dirty="0">
                <a:solidFill>
                  <a:srgbClr val="1B2A4A"/>
                </a:solidFill>
                <a:latin typeface="Tahoma" pitchFamily="34" charset="0"/>
                <a:ea typeface="Tahoma" pitchFamily="34" charset="-122"/>
                <a:cs typeface="Tahoma" pitchFamily="34" charset="-120"/>
              </a:rPr>
              <a:t>تراكيب تشبه الشعر تتحرك جيئة وذهابًا مثل المجداف (كما في البراميسيوم).</a:t>
            </a:r>
            <a:endParaRPr lang="ar-SA" sz="1450" dirty="0"/>
          </a:p>
        </p:txBody>
      </p:sp>
      <p:pic>
        <p:nvPicPr>
          <p:cNvPr id="22" name="s13_pic_20" descr="/tmp/claude-0/-home-user-Scienceshamah/8386cda7-7741-5ea4-8952-60ee8e67fc31/scratchpad/w4/img/scr_325x451_E2558F_FFFFFF.png">    </p:cNvPr>
          <p:cNvPicPr>
            <a:picLocks noChangeAspect="1"/>
          </p:cNvPicPr>
          <p:nvPr/>
        </p:nvPicPr>
        <p:blipFill>
          <a:blip r:embed="rId13"/>
          <a:stretch>
            <a:fillRect/>
          </a:stretch>
        </p:blipFill>
        <p:spPr>
          <a:xfrm>
            <a:off x="301752" y="2267712"/>
            <a:ext cx="2916936" cy="3968496"/>
          </a:xfrm>
          <a:prstGeom prst="rect">
            <a:avLst/>
          </a:prstGeom>
        </p:spPr>
      </p:pic>
      <p:pic>
        <p:nvPicPr>
          <p:cNvPr id="23" name="s13_pic_21" descr="الأميبا">    </p:cNvPr>
          <p:cNvPicPr>
            <a:picLocks noChangeAspect="1"/>
          </p:cNvPicPr>
          <p:nvPr/>
        </p:nvPicPr>
        <p:blipFill>
          <a:blip r:embed="rId14"/>
          <a:stretch>
            <a:fillRect/>
          </a:stretch>
        </p:blipFill>
        <p:spPr>
          <a:xfrm>
            <a:off x="594360" y="2423160"/>
            <a:ext cx="2331720" cy="1723445"/>
          </a:xfrm>
          <a:prstGeom prst="rect">
            <a:avLst/>
          </a:prstGeom>
        </p:spPr>
      </p:pic>
      <p:sp>
        <p:nvSpPr>
          <p:cNvPr id="24" name="s13_t_22"/>
          <p:cNvSpPr txBox="1"/>
          <p:nvPr/>
        </p:nvSpPr>
        <p:spPr>
          <a:xfrm>
            <a:off x="502920" y="3886200"/>
            <a:ext cx="2514600" cy="457200"/>
          </a:xfrm>
          <a:prstGeom prst="rect">
            <a:avLst/>
          </a:prstGeom>
          <a:noFill/>
          <a:ln/>
        </p:spPr>
        <p:txBody>
          <a:bodyPr wrap="square" lIns="762" tIns="762" rIns="762" bIns="762" rtlCol="0" anchor="ctr"/>
          <a:lstStyle/>
          <a:p>
            <a:pPr rtl="1" algn="ctr" indent="0" marL="0">
              <a:lnSpc>
                <a:spcPct val="108000"/>
              </a:lnSpc>
              <a:buNone/>
            </a:pPr>
            <a:r>
              <a:rPr lang="ar-SA" altLang="en-US" sz="1900" b="1" dirty="0">
                <a:solidFill>
                  <a:srgbClr val="E2558F"/>
                </a:solidFill>
                <a:latin typeface="Tahoma" pitchFamily="34" charset="0"/>
                <a:ea typeface="Tahoma" pitchFamily="34" charset="-122"/>
                <a:cs typeface="Tahoma" pitchFamily="34" charset="-120"/>
              </a:rPr>
              <a:t>الأميبا</a:t>
            </a:r>
            <a:endParaRPr lang="ar-SA" sz="1900" dirty="0"/>
          </a:p>
        </p:txBody>
      </p:sp>
      <p:sp>
        <p:nvSpPr>
          <p:cNvPr id="25" name="s13_t_23"/>
          <p:cNvSpPr txBox="1"/>
          <p:nvPr/>
        </p:nvSpPr>
        <p:spPr>
          <a:xfrm>
            <a:off x="521208" y="4343400"/>
            <a:ext cx="2478024" cy="1691640"/>
          </a:xfrm>
          <a:prstGeom prst="rect">
            <a:avLst/>
          </a:prstGeom>
          <a:noFill/>
          <a:ln/>
        </p:spPr>
        <p:txBody>
          <a:bodyPr wrap="square" lIns="762" tIns="762" rIns="762" bIns="762" rtlCol="0" anchor="t"/>
          <a:lstStyle/>
          <a:p>
            <a:pPr rtl="1" algn="ctr" indent="0" marL="0">
              <a:lnSpc>
                <a:spcPct val="108000"/>
              </a:lnSpc>
              <a:buNone/>
            </a:pPr>
            <a:r>
              <a:rPr lang="ar-SA" altLang="en-US" sz="1450" b="1" dirty="0">
                <a:solidFill>
                  <a:srgbClr val="1B2A4A"/>
                </a:solidFill>
                <a:latin typeface="Tahoma" pitchFamily="34" charset="0"/>
                <a:ea typeface="Tahoma" pitchFamily="34" charset="-122"/>
                <a:cs typeface="Tahoma" pitchFamily="34" charset="-120"/>
              </a:rPr>
              <a:t>تتحرك بالأقدام الكاذبة عن طريق انقباضها وامتدادها.</a:t>
            </a:r>
            <a:endParaRPr lang="ar-SA" sz="1450" dirty="0"/>
          </a:p>
        </p:txBody>
      </p:sp>
    </p:spTree>
  </p:cSld>
  <p:clrMapOvr>
    <a:masterClrMapping/>
  </p:clrMapOvr>
  <mc:AlternateContent xmlns:mc="http://schemas.openxmlformats.org/markup-compatibility/2006">
    <mc:Choice xmlns:p14="http://schemas.microsoft.com/office/powerpoint/2010/main" Requires="p14">
      <p:transition spd="slow" p14:dur="14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10"/>
                                        </p:tgtEl>
                                        <p:attrNameLst>
                                          <p:attrName>style.visibility</p:attrName>
                                        </p:attrNameLst>
                                      </p:cBhvr>
                                      <p:to>
                                        <p:strVal val="visible"/>
                                      </p:to>
                                    </p:set>
                                    <p:anim calcmode="lin" valueType="num">
                                      <p:cBhvr>
                                        <p:cTn id="6" dur="500" fill="hold"/>
                                        <p:tgtEl>
                                          <p:spTgt spid="10"/>
                                        </p:tgtEl>
                                        <p:attrNameLst>
                                          <p:attrName>ppt_w</p:attrName>
                                        </p:attrNameLst>
                                      </p:cBhvr>
                                      <p:tavLst>
                                        <p:tav tm="0">
                                          <p:val>
                                            <p:fltVal val="0"/>
                                          </p:val>
                                        </p:tav>
                                        <p:tav tm="100000">
                                          <p:val>
                                            <p:strVal val="#ppt_w"/>
                                          </p:val>
                                        </p:tav>
                                      </p:tavLst>
                                    </p:anim>
                                    <p:anim calcmode="lin" valueType="num">
                                      <p:cBhvr>
                                        <p:cTn id="7" dur="500" fill="hold"/>
                                        <p:tgtEl>
                                          <p:spTgt spid="10"/>
                                        </p:tgtEl>
                                        <p:attrNameLst>
                                          <p:attrName>ppt_h</p:attrName>
                                        </p:attrNameLst>
                                      </p:cBhvr>
                                      <p:tavLst>
                                        <p:tav tm="0">
                                          <p:val>
                                            <p:fltVal val="0"/>
                                          </p:val>
                                        </p:tav>
                                        <p:tav tm="100000">
                                          <p:val>
                                            <p:strVal val="#ppt_h"/>
                                          </p:val>
                                        </p:tav>
                                      </p:tavLst>
                                    </p:anim>
                                    <p:animEffect transition="in" filter="fade">
                                      <p:cBhvr>
                                        <p:cTn id="8" dur="500"/>
                                        <p:tgtEl>
                                          <p:spTgt spid="10"/>
                                        </p:tgtEl>
                                      </p:cBhvr>
                                    </p:animEffect>
                                  </p:childTnLst>
                                </p:cTn>
                              </p:par>
                              <p:par>
                                <p:cTn id="14" presetID="53" presetClass="entr" presetSubtype="16"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p:cTn id="11" dur="500" fill="hold"/>
                                        <p:tgtEl>
                                          <p:spTgt spid="11"/>
                                        </p:tgtEl>
                                        <p:attrNameLst>
                                          <p:attrName>ppt_w</p:attrName>
                                        </p:attrNameLst>
                                      </p:cBhvr>
                                      <p:tavLst>
                                        <p:tav tm="0">
                                          <p:val>
                                            <p:fltVal val="0"/>
                                          </p:val>
                                        </p:tav>
                                        <p:tav tm="100000">
                                          <p:val>
                                            <p:strVal val="#ppt_w"/>
                                          </p:val>
                                        </p:tav>
                                      </p:tavLst>
                                    </p:anim>
                                    <p:anim calcmode="lin" valueType="num">
                                      <p:cBhvr>
                                        <p:cTn id="12" dur="500" fill="hold"/>
                                        <p:tgtEl>
                                          <p:spTgt spid="11"/>
                                        </p:tgtEl>
                                        <p:attrNameLst>
                                          <p:attrName>ppt_h</p:attrName>
                                        </p:attrNameLst>
                                      </p:cBhvr>
                                      <p:tavLst>
                                        <p:tav tm="0">
                                          <p:val>
                                            <p:fltVal val="0"/>
                                          </p:val>
                                        </p:tav>
                                        <p:tav tm="100000">
                                          <p:val>
                                            <p:strVal val="#ppt_h"/>
                                          </p:val>
                                        </p:tav>
                                      </p:tavLst>
                                    </p:anim>
                                    <p:animEffect transition="in" filter="fade">
                                      <p:cBhvr>
                                        <p:cTn id="13" dur="500"/>
                                        <p:tgtEl>
                                          <p:spTgt spid="11"/>
                                        </p:tgtEl>
                                      </p:cBhvr>
                                    </p:animEffect>
                                  </p:childTnLst>
                                </p:cTn>
                              </p:par>
                              <p:par>
                                <p:cTn id="19" presetID="53" presetClass="entr" presetSubtype="16"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p:cTn id="16" dur="500" fill="hold"/>
                                        <p:tgtEl>
                                          <p:spTgt spid="12"/>
                                        </p:tgtEl>
                                        <p:attrNameLst>
                                          <p:attrName>ppt_w</p:attrName>
                                        </p:attrNameLst>
                                      </p:cBhvr>
                                      <p:tavLst>
                                        <p:tav tm="0">
                                          <p:val>
                                            <p:fltVal val="0"/>
                                          </p:val>
                                        </p:tav>
                                        <p:tav tm="100000">
                                          <p:val>
                                            <p:strVal val="#ppt_w"/>
                                          </p:val>
                                        </p:tav>
                                      </p:tavLst>
                                    </p:anim>
                                    <p:anim calcmode="lin" valueType="num">
                                      <p:cBhvr>
                                        <p:cTn id="17" dur="500" fill="hold"/>
                                        <p:tgtEl>
                                          <p:spTgt spid="12"/>
                                        </p:tgtEl>
                                        <p:attrNameLst>
                                          <p:attrName>ppt_h</p:attrName>
                                        </p:attrNameLst>
                                      </p:cBhvr>
                                      <p:tavLst>
                                        <p:tav tm="0">
                                          <p:val>
                                            <p:fltVal val="0"/>
                                          </p:val>
                                        </p:tav>
                                        <p:tav tm="100000">
                                          <p:val>
                                            <p:strVal val="#ppt_h"/>
                                          </p:val>
                                        </p:tav>
                                      </p:tavLst>
                                    </p:anim>
                                    <p:animEffect transition="in" filter="fade">
                                      <p:cBhvr>
                                        <p:cTn id="18" dur="500"/>
                                        <p:tgtEl>
                                          <p:spTgt spid="12"/>
                                        </p:tgtEl>
                                      </p:cBhvr>
                                    </p:animEffect>
                                  </p:childTnLst>
                                </p:cTn>
                              </p:par>
                              <p:par>
                                <p:cTn id="24" presetID="53" presetClass="entr" presetSubtype="16"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 calcmode="lin" valueType="num">
                                      <p:cBhvr>
                                        <p:cTn id="21" dur="500" fill="hold"/>
                                        <p:tgtEl>
                                          <p:spTgt spid="13"/>
                                        </p:tgtEl>
                                        <p:attrNameLst>
                                          <p:attrName>ppt_w</p:attrName>
                                        </p:attrNameLst>
                                      </p:cBhvr>
                                      <p:tavLst>
                                        <p:tav tm="0">
                                          <p:val>
                                            <p:fltVal val="0"/>
                                          </p:val>
                                        </p:tav>
                                        <p:tav tm="100000">
                                          <p:val>
                                            <p:strVal val="#ppt_w"/>
                                          </p:val>
                                        </p:tav>
                                      </p:tavLst>
                                    </p:anim>
                                    <p:anim calcmode="lin" valueType="num">
                                      <p:cBhvr>
                                        <p:cTn id="22" dur="500" fill="hold"/>
                                        <p:tgtEl>
                                          <p:spTgt spid="13"/>
                                        </p:tgtEl>
                                        <p:attrNameLst>
                                          <p:attrName>ppt_h</p:attrName>
                                        </p:attrNameLst>
                                      </p:cBhvr>
                                      <p:tavLst>
                                        <p:tav tm="0">
                                          <p:val>
                                            <p:fltVal val="0"/>
                                          </p:val>
                                        </p:tav>
                                        <p:tav tm="100000">
                                          <p:val>
                                            <p:strVal val="#ppt_h"/>
                                          </p:val>
                                        </p:tav>
                                      </p:tavLst>
                                    </p:anim>
                                    <p:animEffect transition="in" filter="fade">
                                      <p:cBhvr>
                                        <p:cTn id="23" dur="500"/>
                                        <p:tgtEl>
                                          <p:spTgt spid="13"/>
                                        </p:tgtEl>
                                      </p:cBhvr>
                                    </p:animEffect>
                                  </p:childTnLst>
                                </p:cTn>
                              </p:par>
                            </p:childTnLst>
                          </p:cTn>
                        </p:par>
                      </p:childTnLst>
                    </p:cTn>
                  </p:par>
                  <p:par>
                    <p:cTn id="25" fill="hold">
                      <p:stCondLst>
                        <p:cond delay="indefinite"/>
                      </p:stCondLst>
                      <p:childTnLst>
                        <p:par>
                          <p:cTn id="26" fill="hold">
                            <p:stCondLst>
                              <p:cond delay="0"/>
                            </p:stCondLst>
                            <p:childTnLst>
                              <p:par>
                                <p:cTn id="31" presetID="53" presetClass="entr" presetSubtype="16"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 calcmode="lin" valueType="num">
                                      <p:cBhvr>
                                        <p:cTn id="28" dur="500" fill="hold"/>
                                        <p:tgtEl>
                                          <p:spTgt spid="14"/>
                                        </p:tgtEl>
                                        <p:attrNameLst>
                                          <p:attrName>ppt_w</p:attrName>
                                        </p:attrNameLst>
                                      </p:cBhvr>
                                      <p:tavLst>
                                        <p:tav tm="0">
                                          <p:val>
                                            <p:fltVal val="0"/>
                                          </p:val>
                                        </p:tav>
                                        <p:tav tm="100000">
                                          <p:val>
                                            <p:strVal val="#ppt_w"/>
                                          </p:val>
                                        </p:tav>
                                      </p:tavLst>
                                    </p:anim>
                                    <p:anim calcmode="lin" valueType="num">
                                      <p:cBhvr>
                                        <p:cTn id="29" dur="500" fill="hold"/>
                                        <p:tgtEl>
                                          <p:spTgt spid="14"/>
                                        </p:tgtEl>
                                        <p:attrNameLst>
                                          <p:attrName>ppt_h</p:attrName>
                                        </p:attrNameLst>
                                      </p:cBhvr>
                                      <p:tavLst>
                                        <p:tav tm="0">
                                          <p:val>
                                            <p:fltVal val="0"/>
                                          </p:val>
                                        </p:tav>
                                        <p:tav tm="100000">
                                          <p:val>
                                            <p:strVal val="#ppt_h"/>
                                          </p:val>
                                        </p:tav>
                                      </p:tavLst>
                                    </p:anim>
                                    <p:animEffect transition="in" filter="fade">
                                      <p:cBhvr>
                                        <p:cTn id="30" dur="500"/>
                                        <p:tgtEl>
                                          <p:spTgt spid="14"/>
                                        </p:tgtEl>
                                      </p:cBhvr>
                                    </p:animEffect>
                                  </p:childTnLst>
                                </p:cTn>
                              </p:par>
                              <p:par>
                                <p:cTn id="36" presetID="53" presetClass="entr" presetSubtype="16"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 calcmode="lin" valueType="num">
                                      <p:cBhvr>
                                        <p:cTn id="33" dur="500" fill="hold"/>
                                        <p:tgtEl>
                                          <p:spTgt spid="15"/>
                                        </p:tgtEl>
                                        <p:attrNameLst>
                                          <p:attrName>ppt_w</p:attrName>
                                        </p:attrNameLst>
                                      </p:cBhvr>
                                      <p:tavLst>
                                        <p:tav tm="0">
                                          <p:val>
                                            <p:fltVal val="0"/>
                                          </p:val>
                                        </p:tav>
                                        <p:tav tm="100000">
                                          <p:val>
                                            <p:strVal val="#ppt_w"/>
                                          </p:val>
                                        </p:tav>
                                      </p:tavLst>
                                    </p:anim>
                                    <p:anim calcmode="lin" valueType="num">
                                      <p:cBhvr>
                                        <p:cTn id="34" dur="500" fill="hold"/>
                                        <p:tgtEl>
                                          <p:spTgt spid="15"/>
                                        </p:tgtEl>
                                        <p:attrNameLst>
                                          <p:attrName>ppt_h</p:attrName>
                                        </p:attrNameLst>
                                      </p:cBhvr>
                                      <p:tavLst>
                                        <p:tav tm="0">
                                          <p:val>
                                            <p:fltVal val="0"/>
                                          </p:val>
                                        </p:tav>
                                        <p:tav tm="100000">
                                          <p:val>
                                            <p:strVal val="#ppt_h"/>
                                          </p:val>
                                        </p:tav>
                                      </p:tavLst>
                                    </p:anim>
                                    <p:animEffect transition="in" filter="fade">
                                      <p:cBhvr>
                                        <p:cTn id="35" dur="500"/>
                                        <p:tgtEl>
                                          <p:spTgt spid="15"/>
                                        </p:tgtEl>
                                      </p:cBhvr>
                                    </p:animEffect>
                                  </p:childTnLst>
                                </p:cTn>
                              </p:par>
                              <p:par>
                                <p:cTn id="41" presetID="53" presetClass="entr" presetSubtype="16"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 calcmode="lin" valueType="num">
                                      <p:cBhvr>
                                        <p:cTn id="38" dur="500" fill="hold"/>
                                        <p:tgtEl>
                                          <p:spTgt spid="16"/>
                                        </p:tgtEl>
                                        <p:attrNameLst>
                                          <p:attrName>ppt_w</p:attrName>
                                        </p:attrNameLst>
                                      </p:cBhvr>
                                      <p:tavLst>
                                        <p:tav tm="0">
                                          <p:val>
                                            <p:fltVal val="0"/>
                                          </p:val>
                                        </p:tav>
                                        <p:tav tm="100000">
                                          <p:val>
                                            <p:strVal val="#ppt_w"/>
                                          </p:val>
                                        </p:tav>
                                      </p:tavLst>
                                    </p:anim>
                                    <p:anim calcmode="lin" valueType="num">
                                      <p:cBhvr>
                                        <p:cTn id="39" dur="500" fill="hold"/>
                                        <p:tgtEl>
                                          <p:spTgt spid="16"/>
                                        </p:tgtEl>
                                        <p:attrNameLst>
                                          <p:attrName>ppt_h</p:attrName>
                                        </p:attrNameLst>
                                      </p:cBhvr>
                                      <p:tavLst>
                                        <p:tav tm="0">
                                          <p:val>
                                            <p:fltVal val="0"/>
                                          </p:val>
                                        </p:tav>
                                        <p:tav tm="100000">
                                          <p:val>
                                            <p:strVal val="#ppt_h"/>
                                          </p:val>
                                        </p:tav>
                                      </p:tavLst>
                                    </p:anim>
                                    <p:animEffect transition="in" filter="fade">
                                      <p:cBhvr>
                                        <p:cTn id="40" dur="500"/>
                                        <p:tgtEl>
                                          <p:spTgt spid="16"/>
                                        </p:tgtEl>
                                      </p:cBhvr>
                                    </p:animEffect>
                                  </p:childTnLst>
                                </p:cTn>
                              </p:par>
                              <p:par>
                                <p:cTn id="46" presetID="53" presetClass="entr" presetSubtype="16"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 calcmode="lin" valueType="num">
                                      <p:cBhvr>
                                        <p:cTn id="43" dur="500" fill="hold"/>
                                        <p:tgtEl>
                                          <p:spTgt spid="17"/>
                                        </p:tgtEl>
                                        <p:attrNameLst>
                                          <p:attrName>ppt_w</p:attrName>
                                        </p:attrNameLst>
                                      </p:cBhvr>
                                      <p:tavLst>
                                        <p:tav tm="0">
                                          <p:val>
                                            <p:fltVal val="0"/>
                                          </p:val>
                                        </p:tav>
                                        <p:tav tm="100000">
                                          <p:val>
                                            <p:strVal val="#ppt_w"/>
                                          </p:val>
                                        </p:tav>
                                      </p:tavLst>
                                    </p:anim>
                                    <p:anim calcmode="lin" valueType="num">
                                      <p:cBhvr>
                                        <p:cTn id="44" dur="500" fill="hold"/>
                                        <p:tgtEl>
                                          <p:spTgt spid="17"/>
                                        </p:tgtEl>
                                        <p:attrNameLst>
                                          <p:attrName>ppt_h</p:attrName>
                                        </p:attrNameLst>
                                      </p:cBhvr>
                                      <p:tavLst>
                                        <p:tav tm="0">
                                          <p:val>
                                            <p:fltVal val="0"/>
                                          </p:val>
                                        </p:tav>
                                        <p:tav tm="100000">
                                          <p:val>
                                            <p:strVal val="#ppt_h"/>
                                          </p:val>
                                        </p:tav>
                                      </p:tavLst>
                                    </p:anim>
                                    <p:animEffect transition="in" filter="fade">
                                      <p:cBhvr>
                                        <p:cTn id="45" dur="500"/>
                                        <p:tgtEl>
                                          <p:spTgt spid="17"/>
                                        </p:tgtEl>
                                      </p:cBhvr>
                                    </p:animEffect>
                                  </p:childTnLst>
                                </p:cTn>
                              </p:par>
                            </p:childTnLst>
                          </p:cTn>
                        </p:par>
                      </p:childTnLst>
                    </p:cTn>
                  </p:par>
                  <p:par>
                    <p:cTn id="47" fill="hold">
                      <p:stCondLst>
                        <p:cond delay="indefinite"/>
                      </p:stCondLst>
                      <p:childTnLst>
                        <p:par>
                          <p:cTn id="48" fill="hold">
                            <p:stCondLst>
                              <p:cond delay="0"/>
                            </p:stCondLst>
                            <p:childTnLst>
                              <p:par>
                                <p:cTn id="53" presetID="53" presetClass="entr" presetSubtype="16" fill="hold" grpId="0" nodeType="clickEffect">
                                  <p:stCondLst>
                                    <p:cond delay="0"/>
                                  </p:stCondLst>
                                  <p:childTnLst>
                                    <p:set>
                                      <p:cBhvr>
                                        <p:cTn id="49" dur="1" fill="hold">
                                          <p:stCondLst>
                                            <p:cond delay="0"/>
                                          </p:stCondLst>
                                        </p:cTn>
                                        <p:tgtEl>
                                          <p:spTgt spid="18"/>
                                        </p:tgtEl>
                                        <p:attrNameLst>
                                          <p:attrName>style.visibility</p:attrName>
                                        </p:attrNameLst>
                                      </p:cBhvr>
                                      <p:to>
                                        <p:strVal val="visible"/>
                                      </p:to>
                                    </p:set>
                                    <p:anim calcmode="lin" valueType="num">
                                      <p:cBhvr>
                                        <p:cTn id="50" dur="500" fill="hold"/>
                                        <p:tgtEl>
                                          <p:spTgt spid="18"/>
                                        </p:tgtEl>
                                        <p:attrNameLst>
                                          <p:attrName>ppt_w</p:attrName>
                                        </p:attrNameLst>
                                      </p:cBhvr>
                                      <p:tavLst>
                                        <p:tav tm="0">
                                          <p:val>
                                            <p:fltVal val="0"/>
                                          </p:val>
                                        </p:tav>
                                        <p:tav tm="100000">
                                          <p:val>
                                            <p:strVal val="#ppt_w"/>
                                          </p:val>
                                        </p:tav>
                                      </p:tavLst>
                                    </p:anim>
                                    <p:anim calcmode="lin" valueType="num">
                                      <p:cBhvr>
                                        <p:cTn id="51" dur="500" fill="hold"/>
                                        <p:tgtEl>
                                          <p:spTgt spid="18"/>
                                        </p:tgtEl>
                                        <p:attrNameLst>
                                          <p:attrName>ppt_h</p:attrName>
                                        </p:attrNameLst>
                                      </p:cBhvr>
                                      <p:tavLst>
                                        <p:tav tm="0">
                                          <p:val>
                                            <p:fltVal val="0"/>
                                          </p:val>
                                        </p:tav>
                                        <p:tav tm="100000">
                                          <p:val>
                                            <p:strVal val="#ppt_h"/>
                                          </p:val>
                                        </p:tav>
                                      </p:tavLst>
                                    </p:anim>
                                    <p:animEffect transition="in" filter="fade">
                                      <p:cBhvr>
                                        <p:cTn id="52" dur="500"/>
                                        <p:tgtEl>
                                          <p:spTgt spid="18"/>
                                        </p:tgtEl>
                                      </p:cBhvr>
                                    </p:animEffect>
                                  </p:childTnLst>
                                </p:cTn>
                              </p:par>
                              <p:par>
                                <p:cTn id="58" presetID="53" presetClass="entr" presetSubtype="16"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p:cTn id="55" dur="500" fill="hold"/>
                                        <p:tgtEl>
                                          <p:spTgt spid="19"/>
                                        </p:tgtEl>
                                        <p:attrNameLst>
                                          <p:attrName>ppt_w</p:attrName>
                                        </p:attrNameLst>
                                      </p:cBhvr>
                                      <p:tavLst>
                                        <p:tav tm="0">
                                          <p:val>
                                            <p:fltVal val="0"/>
                                          </p:val>
                                        </p:tav>
                                        <p:tav tm="100000">
                                          <p:val>
                                            <p:strVal val="#ppt_w"/>
                                          </p:val>
                                        </p:tav>
                                      </p:tavLst>
                                    </p:anim>
                                    <p:anim calcmode="lin" valueType="num">
                                      <p:cBhvr>
                                        <p:cTn id="56" dur="500" fill="hold"/>
                                        <p:tgtEl>
                                          <p:spTgt spid="19"/>
                                        </p:tgtEl>
                                        <p:attrNameLst>
                                          <p:attrName>ppt_h</p:attrName>
                                        </p:attrNameLst>
                                      </p:cBhvr>
                                      <p:tavLst>
                                        <p:tav tm="0">
                                          <p:val>
                                            <p:fltVal val="0"/>
                                          </p:val>
                                        </p:tav>
                                        <p:tav tm="100000">
                                          <p:val>
                                            <p:strVal val="#ppt_h"/>
                                          </p:val>
                                        </p:tav>
                                      </p:tavLst>
                                    </p:anim>
                                    <p:animEffect transition="in" filter="fade">
                                      <p:cBhvr>
                                        <p:cTn id="57" dur="500"/>
                                        <p:tgtEl>
                                          <p:spTgt spid="19"/>
                                        </p:tgtEl>
                                      </p:cBhvr>
                                    </p:animEffect>
                                  </p:childTnLst>
                                </p:cTn>
                              </p:par>
                              <p:par>
                                <p:cTn id="63" presetID="53" presetClass="entr" presetSubtype="16"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 calcmode="lin" valueType="num">
                                      <p:cBhvr>
                                        <p:cTn id="60" dur="500" fill="hold"/>
                                        <p:tgtEl>
                                          <p:spTgt spid="20"/>
                                        </p:tgtEl>
                                        <p:attrNameLst>
                                          <p:attrName>ppt_w</p:attrName>
                                        </p:attrNameLst>
                                      </p:cBhvr>
                                      <p:tavLst>
                                        <p:tav tm="0">
                                          <p:val>
                                            <p:fltVal val="0"/>
                                          </p:val>
                                        </p:tav>
                                        <p:tav tm="100000">
                                          <p:val>
                                            <p:strVal val="#ppt_w"/>
                                          </p:val>
                                        </p:tav>
                                      </p:tavLst>
                                    </p:anim>
                                    <p:anim calcmode="lin" valueType="num">
                                      <p:cBhvr>
                                        <p:cTn id="61" dur="500" fill="hold"/>
                                        <p:tgtEl>
                                          <p:spTgt spid="20"/>
                                        </p:tgtEl>
                                        <p:attrNameLst>
                                          <p:attrName>ppt_h</p:attrName>
                                        </p:attrNameLst>
                                      </p:cBhvr>
                                      <p:tavLst>
                                        <p:tav tm="0">
                                          <p:val>
                                            <p:fltVal val="0"/>
                                          </p:val>
                                        </p:tav>
                                        <p:tav tm="100000">
                                          <p:val>
                                            <p:strVal val="#ppt_h"/>
                                          </p:val>
                                        </p:tav>
                                      </p:tavLst>
                                    </p:anim>
                                    <p:animEffect transition="in" filter="fade">
                                      <p:cBhvr>
                                        <p:cTn id="62" dur="500"/>
                                        <p:tgtEl>
                                          <p:spTgt spid="20"/>
                                        </p:tgtEl>
                                      </p:cBhvr>
                                    </p:animEffect>
                                  </p:childTnLst>
                                </p:cTn>
                              </p:par>
                              <p:par>
                                <p:cTn id="68" presetID="53" presetClass="entr" presetSubtype="16" fill="hold" grpId="0" nodeType="withEffect">
                                  <p:stCondLst>
                                    <p:cond delay="0"/>
                                  </p:stCondLst>
                                  <p:childTnLst>
                                    <p:set>
                                      <p:cBhvr>
                                        <p:cTn id="64" dur="1" fill="hold">
                                          <p:stCondLst>
                                            <p:cond delay="0"/>
                                          </p:stCondLst>
                                        </p:cTn>
                                        <p:tgtEl>
                                          <p:spTgt spid="21"/>
                                        </p:tgtEl>
                                        <p:attrNameLst>
                                          <p:attrName>style.visibility</p:attrName>
                                        </p:attrNameLst>
                                      </p:cBhvr>
                                      <p:to>
                                        <p:strVal val="visible"/>
                                      </p:to>
                                    </p:set>
                                    <p:anim calcmode="lin" valueType="num">
                                      <p:cBhvr>
                                        <p:cTn id="65" dur="500" fill="hold"/>
                                        <p:tgtEl>
                                          <p:spTgt spid="21"/>
                                        </p:tgtEl>
                                        <p:attrNameLst>
                                          <p:attrName>ppt_w</p:attrName>
                                        </p:attrNameLst>
                                      </p:cBhvr>
                                      <p:tavLst>
                                        <p:tav tm="0">
                                          <p:val>
                                            <p:fltVal val="0"/>
                                          </p:val>
                                        </p:tav>
                                        <p:tav tm="100000">
                                          <p:val>
                                            <p:strVal val="#ppt_w"/>
                                          </p:val>
                                        </p:tav>
                                      </p:tavLst>
                                    </p:anim>
                                    <p:anim calcmode="lin" valueType="num">
                                      <p:cBhvr>
                                        <p:cTn id="66" dur="500" fill="hold"/>
                                        <p:tgtEl>
                                          <p:spTgt spid="21"/>
                                        </p:tgtEl>
                                        <p:attrNameLst>
                                          <p:attrName>ppt_h</p:attrName>
                                        </p:attrNameLst>
                                      </p:cBhvr>
                                      <p:tavLst>
                                        <p:tav tm="0">
                                          <p:val>
                                            <p:fltVal val="0"/>
                                          </p:val>
                                        </p:tav>
                                        <p:tav tm="100000">
                                          <p:val>
                                            <p:strVal val="#ppt_h"/>
                                          </p:val>
                                        </p:tav>
                                      </p:tavLst>
                                    </p:anim>
                                    <p:animEffect transition="in" filter="fade">
                                      <p:cBhvr>
                                        <p:cTn id="67" dur="500"/>
                                        <p:tgtEl>
                                          <p:spTgt spid="21"/>
                                        </p:tgtEl>
                                      </p:cBhvr>
                                    </p:animEffect>
                                  </p:childTnLst>
                                </p:cTn>
                              </p:par>
                            </p:childTnLst>
                          </p:cTn>
                        </p:par>
                      </p:childTnLst>
                    </p:cTn>
                  </p:par>
                  <p:par>
                    <p:cTn id="69" fill="hold">
                      <p:stCondLst>
                        <p:cond delay="indefinite"/>
                      </p:stCondLst>
                      <p:childTnLst>
                        <p:par>
                          <p:cTn id="70" fill="hold">
                            <p:stCondLst>
                              <p:cond delay="0"/>
                            </p:stCondLst>
                            <p:childTnLst>
                              <p:par>
                                <p:cTn id="75" presetID="53" presetClass="entr" presetSubtype="16" fill="hold" grpId="0" nodeType="clickEffect">
                                  <p:stCondLst>
                                    <p:cond delay="0"/>
                                  </p:stCondLst>
                                  <p:childTnLst>
                                    <p:set>
                                      <p:cBhvr>
                                        <p:cTn id="71" dur="1" fill="hold">
                                          <p:stCondLst>
                                            <p:cond delay="0"/>
                                          </p:stCondLst>
                                        </p:cTn>
                                        <p:tgtEl>
                                          <p:spTgt spid="22"/>
                                        </p:tgtEl>
                                        <p:attrNameLst>
                                          <p:attrName>style.visibility</p:attrName>
                                        </p:attrNameLst>
                                      </p:cBhvr>
                                      <p:to>
                                        <p:strVal val="visible"/>
                                      </p:to>
                                    </p:set>
                                    <p:anim calcmode="lin" valueType="num">
                                      <p:cBhvr>
                                        <p:cTn id="72" dur="500" fill="hold"/>
                                        <p:tgtEl>
                                          <p:spTgt spid="22"/>
                                        </p:tgtEl>
                                        <p:attrNameLst>
                                          <p:attrName>ppt_w</p:attrName>
                                        </p:attrNameLst>
                                      </p:cBhvr>
                                      <p:tavLst>
                                        <p:tav tm="0">
                                          <p:val>
                                            <p:fltVal val="0"/>
                                          </p:val>
                                        </p:tav>
                                        <p:tav tm="100000">
                                          <p:val>
                                            <p:strVal val="#ppt_w"/>
                                          </p:val>
                                        </p:tav>
                                      </p:tavLst>
                                    </p:anim>
                                    <p:anim calcmode="lin" valueType="num">
                                      <p:cBhvr>
                                        <p:cTn id="73" dur="500" fill="hold"/>
                                        <p:tgtEl>
                                          <p:spTgt spid="22"/>
                                        </p:tgtEl>
                                        <p:attrNameLst>
                                          <p:attrName>ppt_h</p:attrName>
                                        </p:attrNameLst>
                                      </p:cBhvr>
                                      <p:tavLst>
                                        <p:tav tm="0">
                                          <p:val>
                                            <p:fltVal val="0"/>
                                          </p:val>
                                        </p:tav>
                                        <p:tav tm="100000">
                                          <p:val>
                                            <p:strVal val="#ppt_h"/>
                                          </p:val>
                                        </p:tav>
                                      </p:tavLst>
                                    </p:anim>
                                    <p:animEffect transition="in" filter="fade">
                                      <p:cBhvr>
                                        <p:cTn id="74" dur="500"/>
                                        <p:tgtEl>
                                          <p:spTgt spid="22"/>
                                        </p:tgtEl>
                                      </p:cBhvr>
                                    </p:animEffect>
                                  </p:childTnLst>
                                </p:cTn>
                              </p:par>
                              <p:par>
                                <p:cTn id="80" presetID="53" presetClass="entr" presetSubtype="16" fill="hold" grpId="0" nodeType="withEffect">
                                  <p:stCondLst>
                                    <p:cond delay="0"/>
                                  </p:stCondLst>
                                  <p:childTnLst>
                                    <p:set>
                                      <p:cBhvr>
                                        <p:cTn id="76" dur="1" fill="hold">
                                          <p:stCondLst>
                                            <p:cond delay="0"/>
                                          </p:stCondLst>
                                        </p:cTn>
                                        <p:tgtEl>
                                          <p:spTgt spid="23"/>
                                        </p:tgtEl>
                                        <p:attrNameLst>
                                          <p:attrName>style.visibility</p:attrName>
                                        </p:attrNameLst>
                                      </p:cBhvr>
                                      <p:to>
                                        <p:strVal val="visible"/>
                                      </p:to>
                                    </p:set>
                                    <p:anim calcmode="lin" valueType="num">
                                      <p:cBhvr>
                                        <p:cTn id="77" dur="500" fill="hold"/>
                                        <p:tgtEl>
                                          <p:spTgt spid="23"/>
                                        </p:tgtEl>
                                        <p:attrNameLst>
                                          <p:attrName>ppt_w</p:attrName>
                                        </p:attrNameLst>
                                      </p:cBhvr>
                                      <p:tavLst>
                                        <p:tav tm="0">
                                          <p:val>
                                            <p:fltVal val="0"/>
                                          </p:val>
                                        </p:tav>
                                        <p:tav tm="100000">
                                          <p:val>
                                            <p:strVal val="#ppt_w"/>
                                          </p:val>
                                        </p:tav>
                                      </p:tavLst>
                                    </p:anim>
                                    <p:anim calcmode="lin" valueType="num">
                                      <p:cBhvr>
                                        <p:cTn id="78" dur="500" fill="hold"/>
                                        <p:tgtEl>
                                          <p:spTgt spid="23"/>
                                        </p:tgtEl>
                                        <p:attrNameLst>
                                          <p:attrName>ppt_h</p:attrName>
                                        </p:attrNameLst>
                                      </p:cBhvr>
                                      <p:tavLst>
                                        <p:tav tm="0">
                                          <p:val>
                                            <p:fltVal val="0"/>
                                          </p:val>
                                        </p:tav>
                                        <p:tav tm="100000">
                                          <p:val>
                                            <p:strVal val="#ppt_h"/>
                                          </p:val>
                                        </p:tav>
                                      </p:tavLst>
                                    </p:anim>
                                    <p:animEffect transition="in" filter="fade">
                                      <p:cBhvr>
                                        <p:cTn id="79" dur="500"/>
                                        <p:tgtEl>
                                          <p:spTgt spid="23"/>
                                        </p:tgtEl>
                                      </p:cBhvr>
                                    </p:animEffect>
                                  </p:childTnLst>
                                </p:cTn>
                              </p:par>
                              <p:par>
                                <p:cTn id="85" presetID="53" presetClass="entr" presetSubtype="16" fill="hold" grpId="0" nodeType="withEffect">
                                  <p:stCondLst>
                                    <p:cond delay="0"/>
                                  </p:stCondLst>
                                  <p:childTnLst>
                                    <p:set>
                                      <p:cBhvr>
                                        <p:cTn id="81" dur="1" fill="hold">
                                          <p:stCondLst>
                                            <p:cond delay="0"/>
                                          </p:stCondLst>
                                        </p:cTn>
                                        <p:tgtEl>
                                          <p:spTgt spid="24"/>
                                        </p:tgtEl>
                                        <p:attrNameLst>
                                          <p:attrName>style.visibility</p:attrName>
                                        </p:attrNameLst>
                                      </p:cBhvr>
                                      <p:to>
                                        <p:strVal val="visible"/>
                                      </p:to>
                                    </p:set>
                                    <p:anim calcmode="lin" valueType="num">
                                      <p:cBhvr>
                                        <p:cTn id="82" dur="500" fill="hold"/>
                                        <p:tgtEl>
                                          <p:spTgt spid="24"/>
                                        </p:tgtEl>
                                        <p:attrNameLst>
                                          <p:attrName>ppt_w</p:attrName>
                                        </p:attrNameLst>
                                      </p:cBhvr>
                                      <p:tavLst>
                                        <p:tav tm="0">
                                          <p:val>
                                            <p:fltVal val="0"/>
                                          </p:val>
                                        </p:tav>
                                        <p:tav tm="100000">
                                          <p:val>
                                            <p:strVal val="#ppt_w"/>
                                          </p:val>
                                        </p:tav>
                                      </p:tavLst>
                                    </p:anim>
                                    <p:anim calcmode="lin" valueType="num">
                                      <p:cBhvr>
                                        <p:cTn id="83" dur="500" fill="hold"/>
                                        <p:tgtEl>
                                          <p:spTgt spid="24"/>
                                        </p:tgtEl>
                                        <p:attrNameLst>
                                          <p:attrName>ppt_h</p:attrName>
                                        </p:attrNameLst>
                                      </p:cBhvr>
                                      <p:tavLst>
                                        <p:tav tm="0">
                                          <p:val>
                                            <p:fltVal val="0"/>
                                          </p:val>
                                        </p:tav>
                                        <p:tav tm="100000">
                                          <p:val>
                                            <p:strVal val="#ppt_h"/>
                                          </p:val>
                                        </p:tav>
                                      </p:tavLst>
                                    </p:anim>
                                    <p:animEffect transition="in" filter="fade">
                                      <p:cBhvr>
                                        <p:cTn id="84" dur="500"/>
                                        <p:tgtEl>
                                          <p:spTgt spid="24"/>
                                        </p:tgtEl>
                                      </p:cBhvr>
                                    </p:animEffect>
                                  </p:childTnLst>
                                </p:cTn>
                              </p:par>
                              <p:par>
                                <p:cTn id="90" presetID="53" presetClass="entr" presetSubtype="16" fill="hold" grpId="0" nodeType="withEffect">
                                  <p:stCondLst>
                                    <p:cond delay="0"/>
                                  </p:stCondLst>
                                  <p:childTnLst>
                                    <p:set>
                                      <p:cBhvr>
                                        <p:cTn id="86" dur="1" fill="hold">
                                          <p:stCondLst>
                                            <p:cond delay="0"/>
                                          </p:stCondLst>
                                        </p:cTn>
                                        <p:tgtEl>
                                          <p:spTgt spid="25"/>
                                        </p:tgtEl>
                                        <p:attrNameLst>
                                          <p:attrName>style.visibility</p:attrName>
                                        </p:attrNameLst>
                                      </p:cBhvr>
                                      <p:to>
                                        <p:strVal val="visible"/>
                                      </p:to>
                                    </p:set>
                                    <p:anim calcmode="lin" valueType="num">
                                      <p:cBhvr>
                                        <p:cTn id="87" dur="500" fill="hold"/>
                                        <p:tgtEl>
                                          <p:spTgt spid="25"/>
                                        </p:tgtEl>
                                        <p:attrNameLst>
                                          <p:attrName>ppt_w</p:attrName>
                                        </p:attrNameLst>
                                      </p:cBhvr>
                                      <p:tavLst>
                                        <p:tav tm="0">
                                          <p:val>
                                            <p:fltVal val="0"/>
                                          </p:val>
                                        </p:tav>
                                        <p:tav tm="100000">
                                          <p:val>
                                            <p:strVal val="#ppt_w"/>
                                          </p:val>
                                        </p:tav>
                                      </p:tavLst>
                                    </p:anim>
                                    <p:anim calcmode="lin" valueType="num">
                                      <p:cBhvr>
                                        <p:cTn id="88" dur="500" fill="hold"/>
                                        <p:tgtEl>
                                          <p:spTgt spid="25"/>
                                        </p:tgtEl>
                                        <p:attrNameLst>
                                          <p:attrName>ppt_h</p:attrName>
                                        </p:attrNameLst>
                                      </p:cBhvr>
                                      <p:tavLst>
                                        <p:tav tm="0">
                                          <p:val>
                                            <p:fltVal val="0"/>
                                          </p:val>
                                        </p:tav>
                                        <p:tav tm="100000">
                                          <p:val>
                                            <p:strVal val="#ppt_h"/>
                                          </p:val>
                                        </p:tav>
                                      </p:tavLst>
                                    </p:anim>
                                    <p:animEffect transition="in" filter="fade">
                                      <p:cBhvr>
                                        <p:cTn id="89"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14_sign" descr="قاعة البكتيريا والبدائيات">    </p:cNvPr>
          <p:cNvPicPr>
            <a:picLocks noChangeAspect="1"/>
          </p:cNvPicPr>
          <p:nvPr/>
        </p:nvPicPr>
        <p:blipFill>
          <a:blip r:embed="rId2"/>
          <a:stretch>
            <a:fillRect/>
          </a:stretch>
        </p:blipFill>
        <p:spPr>
          <a:xfrm>
            <a:off x="3892415" y="91440"/>
            <a:ext cx="4406865" cy="868680"/>
          </a:xfrm>
          <a:prstGeom prst="rect">
            <a:avLst/>
          </a:prstGeom>
        </p:spPr>
      </p:pic>
      <p:sp>
        <p:nvSpPr>
          <p:cNvPr id="3" name="s14_t_1"/>
          <p:cNvSpPr txBox="1"/>
          <p:nvPr/>
        </p:nvSpPr>
        <p:spPr>
          <a:xfrm>
            <a:off x="10561320" y="274320"/>
            <a:ext cx="1325880" cy="502920"/>
          </a:xfrm>
          <a:prstGeom prst="roundRect">
            <a:avLst>
              <a:gd name="adj" fmla="val 49091"/>
            </a:avLst>
          </a:prstGeom>
          <a:solidFill>
            <a:srgbClr val="1B2A4A"/>
          </a:solidFill>
          <a:ln/>
        </p:spPr>
        <p:txBody>
          <a:bodyPr wrap="square" lIns="762" tIns="762" rIns="762" bIns="762" rtlCol="0" anchor="ctr"/>
          <a:lstStyle/>
          <a:p>
            <a:pPr rtl="1" algn="ctr" indent="0" marL="0">
              <a:lnSpc>
                <a:spcPct val="108000"/>
              </a:lnSpc>
              <a:buNone/>
            </a:pPr>
            <a:r>
              <a:rPr lang="ar-SA" altLang="en-US" sz="1700" b="1" dirty="0">
                <a:solidFill>
                  <a:srgbClr val="FFFFFF"/>
                </a:solidFill>
                <a:latin typeface="Tahoma" pitchFamily="34" charset="0"/>
                <a:ea typeface="Tahoma" pitchFamily="34" charset="-122"/>
                <a:cs typeface="Tahoma" pitchFamily="34" charset="-120"/>
              </a:rPr>
              <a:t>القاعة </a:t>
            </a:r>
            <a:r>
              <a:rPr lang="ar-SA" altLang="en-US" sz="1700" b="1" dirty="0">
                <a:solidFill>
                  <a:srgbClr val="FFFFFF"/>
                </a:solidFill>
                <a:latin typeface="Tahoma" pitchFamily="34" charset="0"/>
                <a:ea typeface="Tahoma" pitchFamily="34" charset="-122"/>
                <a:cs typeface="Tahoma" pitchFamily="34" charset="-120"/>
              </a:rPr>
              <a:t>٧</a:t>
            </a:r>
            <a:endParaRPr lang="ar-SA" sz="1700" dirty="0"/>
          </a:p>
        </p:txBody>
      </p:sp>
      <p:sp>
        <p:nvSpPr>
          <p:cNvPr id="4" name="s14_t_2"/>
          <p:cNvSpPr txBox="1"/>
          <p:nvPr/>
        </p:nvSpPr>
        <p:spPr>
          <a:xfrm>
            <a:off x="365760" y="228600"/>
            <a:ext cx="2788920" cy="603504"/>
          </a:xfrm>
          <a:prstGeom prst="roundRect">
            <a:avLst>
              <a:gd name="adj" fmla="val 39394"/>
            </a:avLst>
          </a:prstGeom>
          <a:solidFill>
            <a:srgbClr val="FFFFFF"/>
          </a:solidFill>
          <a:ln w="25400">
            <a:solidFill>
              <a:srgbClr val="8C5CFF"/>
            </a:solidFill>
            <a:prstDash val="dash"/>
          </a:ln>
        </p:spPr>
        <p:txBody>
          <a:bodyPr wrap="square" lIns="762" tIns="762" rIns="762" bIns="762" rtlCol="0" anchor="ctr"/>
          <a:lstStyle/>
          <a:p>
            <a:pPr rtl="1" algn="ctr" indent="0" marL="0">
              <a:lnSpc>
                <a:spcPct val="108000"/>
              </a:lnSpc>
              <a:buNone/>
            </a:pPr>
            <a:r>
              <a:rPr lang="ar-SA" altLang="en-US" sz="1350" b="1" dirty="0">
                <a:solidFill>
                  <a:srgbClr val="C2366F"/>
                </a:solidFill>
                <a:latin typeface="Tahoma" pitchFamily="34" charset="0"/>
                <a:ea typeface="Tahoma" pitchFamily="34" charset="-122"/>
                <a:cs typeface="Tahoma" pitchFamily="34" charset="-120"/>
              </a:rPr>
              <a:t>الاستراتيجية: </a:t>
            </a:r>
            <a:r>
              <a:rPr lang="ar-SA" altLang="en-US" sz="1350" b="1" dirty="0">
                <a:solidFill>
                  <a:srgbClr val="34405E"/>
                </a:solidFill>
                <a:latin typeface="Tahoma" pitchFamily="34" charset="0"/>
                <a:ea typeface="Tahoma" pitchFamily="34" charset="-122"/>
                <a:cs typeface="Tahoma" pitchFamily="34" charset="-120"/>
              </a:rPr>
              <a:t>قارني – أقرأ الصورة</a:t>
            </a:r>
            <a:endParaRPr lang="ar-SA" sz="1350" dirty="0"/>
          </a:p>
        </p:txBody>
      </p:sp>
      <p:sp>
        <p:nvSpPr>
          <p:cNvPr id="5" name="s14_t_3">
            <a:hlinkClick r:id="rId3" tooltip="الانتقال إلى القاعة التالية" action="ppaction://hlinksldjump"/>
          </p:cNvPr>
          <p:cNvSpPr txBox="1"/>
          <p:nvPr/>
        </p:nvSpPr>
        <p:spPr>
          <a:xfrm>
            <a:off x="2926080" y="6382512"/>
            <a:ext cx="2011680" cy="384048"/>
          </a:xfrm>
          <a:prstGeom prst="roundRect">
            <a:avLst>
              <a:gd name="adj" fmla="val 50000"/>
            </a:avLst>
          </a:prstGeom>
          <a:solidFill>
            <a:srgbClr val="5B6CFF"/>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القاعة التالية ◀</a:t>
            </a:r>
            <a:endParaRPr lang="ar-SA" sz="1600" dirty="0"/>
          </a:p>
        </p:txBody>
      </p:sp>
      <p:sp>
        <p:nvSpPr>
          <p:cNvPr id="6" name="s14_t_4">
            <a:hlinkClick r:id="rId4" tooltip="العودة إلى خريطة المتحف" action="ppaction://hlinksldjump"/>
          </p:cNvPr>
          <p:cNvSpPr txBox="1"/>
          <p:nvPr/>
        </p:nvSpPr>
        <p:spPr>
          <a:xfrm>
            <a:off x="5074920" y="6382512"/>
            <a:ext cx="2011680" cy="384048"/>
          </a:xfrm>
          <a:prstGeom prst="roundRect">
            <a:avLst>
              <a:gd name="adj" fmla="val 50000"/>
            </a:avLst>
          </a:prstGeom>
          <a:solidFill>
            <a:srgbClr val="0FA3B8"/>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خريطة المتحف</a:t>
            </a:r>
            <a:endParaRPr lang="ar-SA" sz="1600" dirty="0"/>
          </a:p>
        </p:txBody>
      </p:sp>
      <p:sp>
        <p:nvSpPr>
          <p:cNvPr id="7" name="s14_t_5">
            <a:hlinkClick r:id="rId5" tooltip="القاعة السابقة" action="ppaction://hlinksldjump"/>
          </p:cNvPr>
          <p:cNvSpPr txBox="1"/>
          <p:nvPr/>
        </p:nvSpPr>
        <p:spPr>
          <a:xfrm>
            <a:off x="7223760" y="6382512"/>
            <a:ext cx="1463040" cy="384048"/>
          </a:xfrm>
          <a:prstGeom prst="roundRect">
            <a:avLst>
              <a:gd name="adj" fmla="val 50000"/>
            </a:avLst>
          </a:prstGeom>
          <a:solidFill>
            <a:srgbClr val="8C9BB5"/>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السابقة</a:t>
            </a:r>
            <a:endParaRPr lang="ar-SA" sz="1600" dirty="0"/>
          </a:p>
        </p:txBody>
      </p:sp>
      <p:pic>
        <p:nvPicPr>
          <p:cNvPr id="8" name="s14_pic_6" descr="/tmp/claude-0/-home-user-Scienceshamah/8386cda7-7741-5ea4-8952-60ee8e67fc31/scratchpad/w4/img/scr_677x336_0FA3B8_FFFFFF.png">    </p:cNvPr>
          <p:cNvPicPr>
            <a:picLocks noChangeAspect="1"/>
          </p:cNvPicPr>
          <p:nvPr/>
        </p:nvPicPr>
        <p:blipFill>
          <a:blip r:embed="rId6"/>
          <a:stretch>
            <a:fillRect/>
          </a:stretch>
        </p:blipFill>
        <p:spPr>
          <a:xfrm>
            <a:off x="6016752" y="1078992"/>
            <a:ext cx="5843016" cy="3008376"/>
          </a:xfrm>
          <a:prstGeom prst="rect">
            <a:avLst/>
          </a:prstGeom>
        </p:spPr>
      </p:pic>
      <p:sp>
        <p:nvSpPr>
          <p:cNvPr id="9" name="s14_t_7"/>
          <p:cNvSpPr txBox="1"/>
          <p:nvPr/>
        </p:nvSpPr>
        <p:spPr>
          <a:xfrm>
            <a:off x="6263640" y="1216152"/>
            <a:ext cx="5349240" cy="457200"/>
          </a:xfrm>
          <a:prstGeom prst="rect">
            <a:avLst/>
          </a:prstGeom>
          <a:noFill/>
          <a:ln/>
        </p:spPr>
        <p:txBody>
          <a:bodyPr wrap="square" lIns="762" tIns="762" rIns="762" bIns="762" rtlCol="0" anchor="ctr"/>
          <a:lstStyle/>
          <a:p>
            <a:pPr rtl="1" algn="r" indent="0" marL="0">
              <a:lnSpc>
                <a:spcPct val="108000"/>
              </a:lnSpc>
              <a:buNone/>
            </a:pPr>
            <a:r>
              <a:rPr lang="ar-SA" altLang="en-US" sz="2000" b="1" dirty="0">
                <a:solidFill>
                  <a:srgbClr val="0C7F90"/>
                </a:solidFill>
                <a:latin typeface="Tahoma" pitchFamily="34" charset="0"/>
                <a:ea typeface="Tahoma" pitchFamily="34" charset="-122"/>
                <a:cs typeface="Tahoma" pitchFamily="34" charset="-120"/>
              </a:rPr>
              <a:t>🦠 البكتيريا</a:t>
            </a:r>
            <a:endParaRPr lang="ar-SA" sz="2000" dirty="0"/>
          </a:p>
        </p:txBody>
      </p:sp>
      <p:sp>
        <p:nvSpPr>
          <p:cNvPr id="10" name="s14_t_8"/>
          <p:cNvSpPr txBox="1"/>
          <p:nvPr/>
        </p:nvSpPr>
        <p:spPr>
          <a:xfrm>
            <a:off x="7772400" y="1691640"/>
            <a:ext cx="3840480" cy="2194560"/>
          </a:xfrm>
          <a:prstGeom prst="rect">
            <a:avLst/>
          </a:prstGeom>
          <a:noFill/>
          <a:ln/>
        </p:spPr>
        <p:txBody>
          <a:bodyPr wrap="square" lIns="762" tIns="762" rIns="762" bIns="762" rtlCol="0" anchor="t"/>
          <a:lstStyle/>
          <a:p>
            <a:pPr rtl="1" algn="r" indent="0" marL="0">
              <a:lnSpc>
                <a:spcPct val="108000"/>
              </a:lnSpc>
              <a:buNone/>
            </a:pPr>
            <a:r>
              <a:rPr lang="ar-SA" altLang="en-US" sz="1500" b="1" dirty="0">
                <a:solidFill>
                  <a:srgbClr val="1B2A4A"/>
                </a:solidFill>
                <a:latin typeface="Tahoma" pitchFamily="34" charset="0"/>
                <a:ea typeface="Tahoma" pitchFamily="34" charset="-122"/>
                <a:cs typeface="Tahoma" pitchFamily="34" charset="-120"/>
              </a:rPr>
              <a:t>مخلوقات حية وحيدة الخلية. بعضها ضارّ (بكتيريا كروية تسبب التهاب الحلق)، ومعظمها غير ضار (بكتيريا عصوية تُستعمل لإنتاج اللبن الرائب).</a:t>
            </a:r>
            <a:endParaRPr lang="ar-SA" sz="1500" dirty="0"/>
          </a:p>
        </p:txBody>
      </p:sp>
      <p:pic>
        <p:nvPicPr>
          <p:cNvPr id="11" name="s14_pic_9" descr="بكتيريا كروية">    </p:cNvPr>
          <p:cNvPicPr>
            <a:picLocks noChangeAspect="1"/>
          </p:cNvPicPr>
          <p:nvPr/>
        </p:nvPicPr>
        <p:blipFill>
          <a:blip r:embed="rId7"/>
          <a:stretch>
            <a:fillRect/>
          </a:stretch>
        </p:blipFill>
        <p:spPr>
          <a:xfrm>
            <a:off x="6217920" y="1691640"/>
            <a:ext cx="777240" cy="621792"/>
          </a:xfrm>
          <a:prstGeom prst="rect">
            <a:avLst/>
          </a:prstGeom>
        </p:spPr>
      </p:pic>
      <p:pic>
        <p:nvPicPr>
          <p:cNvPr id="12" name="s14_pic_10" descr="بكتيريا عصوية">    </p:cNvPr>
          <p:cNvPicPr>
            <a:picLocks noChangeAspect="1"/>
          </p:cNvPicPr>
          <p:nvPr/>
        </p:nvPicPr>
        <p:blipFill>
          <a:blip r:embed="rId8"/>
          <a:stretch>
            <a:fillRect/>
          </a:stretch>
        </p:blipFill>
        <p:spPr>
          <a:xfrm>
            <a:off x="6903720" y="2606040"/>
            <a:ext cx="868680" cy="521208"/>
          </a:xfrm>
          <a:prstGeom prst="rect">
            <a:avLst/>
          </a:prstGeom>
        </p:spPr>
      </p:pic>
      <p:pic>
        <p:nvPicPr>
          <p:cNvPr id="13" name="s14_pic_11" descr="/tmp/claude-0/-home-user-Scienceshamah/8386cda7-7741-5ea4-8952-60ee8e67fc31/scratchpad/w4/img/scr_660x336_8C5CFF_FFFFFF.png">    </p:cNvPr>
          <p:cNvPicPr>
            <a:picLocks noChangeAspect="1"/>
          </p:cNvPicPr>
          <p:nvPr/>
        </p:nvPicPr>
        <p:blipFill>
          <a:blip r:embed="rId9"/>
          <a:stretch>
            <a:fillRect/>
          </a:stretch>
        </p:blipFill>
        <p:spPr>
          <a:xfrm>
            <a:off x="347472" y="1078992"/>
            <a:ext cx="5705856" cy="3008376"/>
          </a:xfrm>
          <a:prstGeom prst="rect">
            <a:avLst/>
          </a:prstGeom>
        </p:spPr>
      </p:pic>
      <p:sp>
        <p:nvSpPr>
          <p:cNvPr id="14" name="s14_t_12"/>
          <p:cNvSpPr txBox="1"/>
          <p:nvPr/>
        </p:nvSpPr>
        <p:spPr>
          <a:xfrm>
            <a:off x="594360" y="1216152"/>
            <a:ext cx="5212080" cy="457200"/>
          </a:xfrm>
          <a:prstGeom prst="rect">
            <a:avLst/>
          </a:prstGeom>
          <a:noFill/>
          <a:ln/>
        </p:spPr>
        <p:txBody>
          <a:bodyPr wrap="square" lIns="762" tIns="762" rIns="762" bIns="762" rtlCol="0" anchor="ctr"/>
          <a:lstStyle/>
          <a:p>
            <a:pPr rtl="1" algn="r" indent="0" marL="0">
              <a:lnSpc>
                <a:spcPct val="108000"/>
              </a:lnSpc>
              <a:buNone/>
            </a:pPr>
            <a:r>
              <a:rPr lang="ar-SA" altLang="en-US" sz="2000" b="1" dirty="0">
                <a:solidFill>
                  <a:srgbClr val="6B4FC0"/>
                </a:solidFill>
                <a:latin typeface="Tahoma" pitchFamily="34" charset="0"/>
                <a:ea typeface="Tahoma" pitchFamily="34" charset="-122"/>
                <a:cs typeface="Tahoma" pitchFamily="34" charset="-120"/>
              </a:rPr>
              <a:t>🔥 البدائيات</a:t>
            </a:r>
            <a:endParaRPr lang="ar-SA" sz="2000" dirty="0"/>
          </a:p>
        </p:txBody>
      </p:sp>
      <p:sp>
        <p:nvSpPr>
          <p:cNvPr id="15" name="s14_t_13"/>
          <p:cNvSpPr txBox="1"/>
          <p:nvPr/>
        </p:nvSpPr>
        <p:spPr>
          <a:xfrm>
            <a:off x="594360" y="1691640"/>
            <a:ext cx="5212080" cy="2194560"/>
          </a:xfrm>
          <a:prstGeom prst="rect">
            <a:avLst/>
          </a:prstGeom>
          <a:noFill/>
          <a:ln/>
        </p:spPr>
        <p:txBody>
          <a:bodyPr wrap="square" lIns="762" tIns="762" rIns="762" bIns="762" rtlCol="0" anchor="t"/>
          <a:lstStyle/>
          <a:p>
            <a:pPr rtl="1" algn="r" indent="0" marL="0">
              <a:lnSpc>
                <a:spcPct val="108000"/>
              </a:lnSpc>
              <a:buNone/>
            </a:pPr>
            <a:r>
              <a:rPr lang="ar-SA" altLang="en-US" sz="1500" b="1" dirty="0">
                <a:solidFill>
                  <a:srgbClr val="1B2A4A"/>
                </a:solidFill>
                <a:latin typeface="Tahoma" pitchFamily="34" charset="0"/>
                <a:ea typeface="Tahoma" pitchFamily="34" charset="-122"/>
                <a:cs typeface="Tahoma" pitchFamily="34" charset="-120"/>
              </a:rPr>
              <a:t>مخلوقات وحيدة الخلية صُنّفت قديمًا من البكتيريا، ثم اكتشف العلماء اختلاف صفاتها الوراثية. يعيش بعضها في ظروف قاسية: ينابيع حارة، وقرب فوهات البراكين في قاع المحيطات، وأماكن شديدة الملوحة.</a:t>
            </a:r>
            <a:endParaRPr lang="ar-SA" sz="1500" dirty="0"/>
          </a:p>
        </p:txBody>
      </p:sp>
      <p:pic>
        <p:nvPicPr>
          <p:cNvPr id="16" name="s14_pic_14" descr="/tmp/claude-0/-home-user-Scienceshamah/8386cda7-7741-5ea4-8952-60ee8e67fc31/scratchpad/w4/img/scr_864x231_E3A21A_FFFBEF.png">    </p:cNvPr>
          <p:cNvPicPr>
            <a:picLocks noChangeAspect="1"/>
          </p:cNvPicPr>
          <p:nvPr/>
        </p:nvPicPr>
        <p:blipFill>
          <a:blip r:embed="rId10"/>
          <a:stretch>
            <a:fillRect/>
          </a:stretch>
        </p:blipFill>
        <p:spPr>
          <a:xfrm>
            <a:off x="4462272" y="4096512"/>
            <a:ext cx="7397496" cy="2139696"/>
          </a:xfrm>
          <a:prstGeom prst="rect">
            <a:avLst/>
          </a:prstGeom>
        </p:spPr>
      </p:pic>
      <p:sp>
        <p:nvSpPr>
          <p:cNvPr id="17" name="s14_t_15"/>
          <p:cNvSpPr txBox="1"/>
          <p:nvPr/>
        </p:nvSpPr>
        <p:spPr>
          <a:xfrm>
            <a:off x="4709160" y="4224528"/>
            <a:ext cx="6903720" cy="960120"/>
          </a:xfrm>
          <a:prstGeom prst="rect">
            <a:avLst/>
          </a:prstGeom>
          <a:noFill/>
          <a:ln/>
        </p:spPr>
        <p:txBody>
          <a:bodyPr wrap="square" lIns="762" tIns="762" rIns="762" bIns="762" rtlCol="0" anchor="ctr"/>
          <a:lstStyle/>
          <a:p>
            <a:pPr rtl="1" algn="r" indent="0" marL="0">
              <a:lnSpc>
                <a:spcPct val="108000"/>
              </a:lnSpc>
              <a:buNone/>
            </a:pPr>
            <a:r>
              <a:rPr lang="ar-SA" altLang="en-US" sz="1600" b="1" dirty="0">
                <a:solidFill>
                  <a:srgbClr val="8A5A00"/>
                </a:solidFill>
                <a:latin typeface="Tahoma" pitchFamily="34" charset="0"/>
                <a:ea typeface="Tahoma" pitchFamily="34" charset="-122"/>
                <a:cs typeface="Tahoma" pitchFamily="34" charset="-120"/>
              </a:rPr>
              <a:t>📷 أقرأ الصورة: </a:t>
            </a:r>
            <a:r>
              <a:rPr lang="ar-SA" altLang="en-US" sz="1600" b="1" dirty="0">
                <a:solidFill>
                  <a:srgbClr val="1B2A4A"/>
                </a:solidFill>
                <a:latin typeface="Tahoma" pitchFamily="34" charset="0"/>
                <a:ea typeface="Tahoma" pitchFamily="34" charset="-122"/>
                <a:cs typeface="Tahoma" pitchFamily="34" charset="-120"/>
              </a:rPr>
              <a:t>نتجت هذه الصخور عن مستعمرات بكتيريا وطحالب بدائية. تُرى أين كانت تعيش هذه المخلوقات في أثناء حياتها؟</a:t>
            </a:r>
            <a:endParaRPr lang="ar-SA" sz="1600" dirty="0"/>
          </a:p>
        </p:txBody>
      </p:sp>
      <p:sp>
        <p:nvSpPr>
          <p:cNvPr id="18" name="s14_t_16"/>
          <p:cNvSpPr txBox="1"/>
          <p:nvPr/>
        </p:nvSpPr>
        <p:spPr>
          <a:xfrm>
            <a:off x="4709160" y="5257800"/>
            <a:ext cx="6903720" cy="777240"/>
          </a:xfrm>
          <a:prstGeom prst="rect">
            <a:avLst/>
          </a:prstGeom>
          <a:noFill/>
          <a:ln/>
        </p:spPr>
        <p:txBody>
          <a:bodyPr wrap="square" lIns="762" tIns="762" rIns="762" bIns="762" rtlCol="0" anchor="ctr"/>
          <a:lstStyle/>
          <a:p>
            <a:pPr rtl="1" algn="r" indent="0" marL="0">
              <a:lnSpc>
                <a:spcPct val="108000"/>
              </a:lnSpc>
              <a:buNone/>
            </a:pPr>
            <a:r>
              <a:rPr lang="ar-SA" altLang="en-US" sz="1600" b="1" dirty="0">
                <a:solidFill>
                  <a:srgbClr val="0E7C55"/>
                </a:solidFill>
                <a:latin typeface="Tahoma" pitchFamily="34" charset="0"/>
                <a:ea typeface="Tahoma" pitchFamily="34" charset="-122"/>
                <a:cs typeface="Tahoma" pitchFamily="34" charset="-120"/>
              </a:rPr>
              <a:t>✔ كانت تعيش في الماء؛ في مياه البحر الضحلة المالحة قرب الشاطئ.</a:t>
            </a:r>
            <a:endParaRPr lang="ar-SA" sz="1600" dirty="0"/>
          </a:p>
        </p:txBody>
      </p:sp>
      <p:pic>
        <p:nvPicPr>
          <p:cNvPr id="19" name="s14_pic_17" descr="/tmp/claude-0/-home-user-Scienceshamah/8386cda7-7741-5ea4-8952-60ee8e67fc31/scratchpad/w4/img/scr_468x231_E3A21A_FFFFFF.png">    </p:cNvPr>
          <p:cNvPicPr>
            <a:picLocks noChangeAspect="1"/>
          </p:cNvPicPr>
          <p:nvPr/>
        </p:nvPicPr>
        <p:blipFill>
          <a:blip r:embed="rId11"/>
          <a:stretch>
            <a:fillRect/>
          </a:stretch>
        </p:blipFill>
        <p:spPr>
          <a:xfrm>
            <a:off x="347472" y="4096512"/>
            <a:ext cx="4105656" cy="2139696"/>
          </a:xfrm>
          <a:prstGeom prst="rect">
            <a:avLst/>
          </a:prstGeom>
        </p:spPr>
      </p:pic>
      <p:pic>
        <p:nvPicPr>
          <p:cNvPr id="20" name="s14_pic_18" descr="صخور تزخر بالحياة (من الكتاب)">    </p:cNvPr>
          <p:cNvPicPr>
            <a:picLocks noChangeAspect="1"/>
          </p:cNvPicPr>
          <p:nvPr/>
        </p:nvPicPr>
        <p:blipFill>
          <a:blip r:embed="rId12"/>
          <a:stretch>
            <a:fillRect/>
          </a:stretch>
        </p:blipFill>
        <p:spPr>
          <a:xfrm>
            <a:off x="548640" y="4279392"/>
            <a:ext cx="3703320" cy="177393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4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18"/>
                                        </p:tgtEl>
                                        <p:attrNameLst>
                                          <p:attrName>style.visibility</p:attrName>
                                        </p:attrNameLst>
                                      </p:cBhvr>
                                      <p:to>
                                        <p:strVal val="visible"/>
                                      </p:to>
                                    </p:set>
                                    <p:anim calcmode="lin" valueType="num">
                                      <p:cBhvr>
                                        <p:cTn id="6" dur="500" fill="hold"/>
                                        <p:tgtEl>
                                          <p:spTgt spid="18"/>
                                        </p:tgtEl>
                                        <p:attrNameLst>
                                          <p:attrName>ppt_w</p:attrName>
                                        </p:attrNameLst>
                                      </p:cBhvr>
                                      <p:tavLst>
                                        <p:tav tm="0">
                                          <p:val>
                                            <p:fltVal val="0"/>
                                          </p:val>
                                        </p:tav>
                                        <p:tav tm="100000">
                                          <p:val>
                                            <p:strVal val="#ppt_w"/>
                                          </p:val>
                                        </p:tav>
                                      </p:tavLst>
                                    </p:anim>
                                    <p:anim calcmode="lin" valueType="num">
                                      <p:cBhvr>
                                        <p:cTn id="7" dur="500" fill="hold"/>
                                        <p:tgtEl>
                                          <p:spTgt spid="18"/>
                                        </p:tgtEl>
                                        <p:attrNameLst>
                                          <p:attrName>ppt_h</p:attrName>
                                        </p:attrNameLst>
                                      </p:cBhvr>
                                      <p:tavLst>
                                        <p:tav tm="0">
                                          <p:val>
                                            <p:fltVal val="0"/>
                                          </p:val>
                                        </p:tav>
                                        <p:tav tm="100000">
                                          <p:val>
                                            <p:strVal val="#ppt_h"/>
                                          </p:val>
                                        </p:tav>
                                      </p:tavLst>
                                    </p:anim>
                                    <p:animEffect transition="in" filter="fade">
                                      <p:cBhvr>
                                        <p:cTn id="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15_sign" descr="أختبر نفسي (١)">    </p:cNvPr>
          <p:cNvPicPr>
            <a:picLocks noChangeAspect="1"/>
          </p:cNvPicPr>
          <p:nvPr/>
        </p:nvPicPr>
        <p:blipFill>
          <a:blip r:embed="rId2"/>
          <a:stretch>
            <a:fillRect/>
          </a:stretch>
        </p:blipFill>
        <p:spPr>
          <a:xfrm>
            <a:off x="4525084" y="91440"/>
            <a:ext cx="3141528" cy="868680"/>
          </a:xfrm>
          <a:prstGeom prst="rect">
            <a:avLst/>
          </a:prstGeom>
        </p:spPr>
      </p:pic>
      <p:sp>
        <p:nvSpPr>
          <p:cNvPr id="3" name="s15_t_1"/>
          <p:cNvSpPr txBox="1"/>
          <p:nvPr/>
        </p:nvSpPr>
        <p:spPr>
          <a:xfrm>
            <a:off x="10561320" y="274320"/>
            <a:ext cx="1325880" cy="502920"/>
          </a:xfrm>
          <a:prstGeom prst="roundRect">
            <a:avLst>
              <a:gd name="adj" fmla="val 49091"/>
            </a:avLst>
          </a:prstGeom>
          <a:solidFill>
            <a:srgbClr val="1B2A4A"/>
          </a:solidFill>
          <a:ln/>
        </p:spPr>
        <p:txBody>
          <a:bodyPr wrap="square" lIns="762" tIns="762" rIns="762" bIns="762" rtlCol="0" anchor="ctr"/>
          <a:lstStyle/>
          <a:p>
            <a:pPr rtl="1" algn="ctr" indent="0" marL="0">
              <a:lnSpc>
                <a:spcPct val="108000"/>
              </a:lnSpc>
              <a:buNone/>
            </a:pPr>
            <a:r>
              <a:rPr lang="ar-SA" altLang="en-US" sz="1700" b="1" dirty="0">
                <a:solidFill>
                  <a:srgbClr val="FFFFFF"/>
                </a:solidFill>
                <a:latin typeface="Tahoma" pitchFamily="34" charset="0"/>
                <a:ea typeface="Tahoma" pitchFamily="34" charset="-122"/>
                <a:cs typeface="Tahoma" pitchFamily="34" charset="-120"/>
              </a:rPr>
              <a:t>القاعة </a:t>
            </a:r>
            <a:r>
              <a:rPr lang="ar-SA" altLang="en-US" sz="1700" b="1" dirty="0">
                <a:solidFill>
                  <a:srgbClr val="FFFFFF"/>
                </a:solidFill>
                <a:latin typeface="Tahoma" pitchFamily="34" charset="0"/>
                <a:ea typeface="Tahoma" pitchFamily="34" charset="-122"/>
                <a:cs typeface="Tahoma" pitchFamily="34" charset="-120"/>
              </a:rPr>
              <a:t>٨</a:t>
            </a:r>
            <a:endParaRPr lang="ar-SA" sz="1700" dirty="0"/>
          </a:p>
        </p:txBody>
      </p:sp>
      <p:sp>
        <p:nvSpPr>
          <p:cNvPr id="4" name="s15_t_2"/>
          <p:cNvSpPr txBox="1"/>
          <p:nvPr/>
        </p:nvSpPr>
        <p:spPr>
          <a:xfrm>
            <a:off x="365760" y="228600"/>
            <a:ext cx="2788920" cy="603504"/>
          </a:xfrm>
          <a:prstGeom prst="roundRect">
            <a:avLst>
              <a:gd name="adj" fmla="val 39394"/>
            </a:avLst>
          </a:prstGeom>
          <a:solidFill>
            <a:srgbClr val="FFFFFF"/>
          </a:solidFill>
          <a:ln w="25400">
            <a:solidFill>
              <a:srgbClr val="8C5CFF"/>
            </a:solidFill>
            <a:prstDash val="dash"/>
          </a:ln>
        </p:spPr>
        <p:txBody>
          <a:bodyPr wrap="square" lIns="762" tIns="762" rIns="762" bIns="762" rtlCol="0" anchor="ctr"/>
          <a:lstStyle/>
          <a:p>
            <a:pPr rtl="1" algn="ctr" indent="0" marL="0">
              <a:lnSpc>
                <a:spcPct val="108000"/>
              </a:lnSpc>
              <a:buNone/>
            </a:pPr>
            <a:r>
              <a:rPr lang="ar-SA" altLang="en-US" sz="1350" b="1" dirty="0">
                <a:solidFill>
                  <a:srgbClr val="C2366F"/>
                </a:solidFill>
                <a:latin typeface="Tahoma" pitchFamily="34" charset="0"/>
                <a:ea typeface="Tahoma" pitchFamily="34" charset="-122"/>
                <a:cs typeface="Tahoma" pitchFamily="34" charset="-120"/>
              </a:rPr>
              <a:t>الاستراتيجية: </a:t>
            </a:r>
            <a:r>
              <a:rPr lang="ar-SA" altLang="en-US" sz="1350" b="1" dirty="0">
                <a:solidFill>
                  <a:srgbClr val="34405E"/>
                </a:solidFill>
                <a:latin typeface="Tahoma" pitchFamily="34" charset="0"/>
                <a:ea typeface="Tahoma" pitchFamily="34" charset="-122"/>
                <a:cs typeface="Tahoma" pitchFamily="34" charset="-120"/>
              </a:rPr>
              <a:t>الاستنتاج – التفكير الناقد</a:t>
            </a:r>
            <a:endParaRPr lang="ar-SA" sz="1350" dirty="0"/>
          </a:p>
        </p:txBody>
      </p:sp>
      <p:sp>
        <p:nvSpPr>
          <p:cNvPr id="5" name="s15_t_3">
            <a:hlinkClick r:id="rId3" tooltip="الانتقال إلى القاعة التالية" action="ppaction://hlinksldjump"/>
          </p:cNvPr>
          <p:cNvSpPr txBox="1"/>
          <p:nvPr/>
        </p:nvSpPr>
        <p:spPr>
          <a:xfrm>
            <a:off x="2926080" y="6382512"/>
            <a:ext cx="2011680" cy="384048"/>
          </a:xfrm>
          <a:prstGeom prst="roundRect">
            <a:avLst>
              <a:gd name="adj" fmla="val 50000"/>
            </a:avLst>
          </a:prstGeom>
          <a:solidFill>
            <a:srgbClr val="5B6CFF"/>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القاعة التالية ◀</a:t>
            </a:r>
            <a:endParaRPr lang="ar-SA" sz="1600" dirty="0"/>
          </a:p>
        </p:txBody>
      </p:sp>
      <p:sp>
        <p:nvSpPr>
          <p:cNvPr id="6" name="s15_t_4">
            <a:hlinkClick r:id="rId4" tooltip="العودة إلى خريطة المتحف" action="ppaction://hlinksldjump"/>
          </p:cNvPr>
          <p:cNvSpPr txBox="1"/>
          <p:nvPr/>
        </p:nvSpPr>
        <p:spPr>
          <a:xfrm>
            <a:off x="5074920" y="6382512"/>
            <a:ext cx="2011680" cy="384048"/>
          </a:xfrm>
          <a:prstGeom prst="roundRect">
            <a:avLst>
              <a:gd name="adj" fmla="val 50000"/>
            </a:avLst>
          </a:prstGeom>
          <a:solidFill>
            <a:srgbClr val="0FA3B8"/>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خريطة المتحف</a:t>
            </a:r>
            <a:endParaRPr lang="ar-SA" sz="1600" dirty="0"/>
          </a:p>
        </p:txBody>
      </p:sp>
      <p:sp>
        <p:nvSpPr>
          <p:cNvPr id="7" name="s15_t_5">
            <a:hlinkClick r:id="rId5" tooltip="القاعة السابقة" action="ppaction://hlinksldjump"/>
          </p:cNvPr>
          <p:cNvSpPr txBox="1"/>
          <p:nvPr/>
        </p:nvSpPr>
        <p:spPr>
          <a:xfrm>
            <a:off x="7223760" y="6382512"/>
            <a:ext cx="1463040" cy="384048"/>
          </a:xfrm>
          <a:prstGeom prst="roundRect">
            <a:avLst>
              <a:gd name="adj" fmla="val 50000"/>
            </a:avLst>
          </a:prstGeom>
          <a:solidFill>
            <a:srgbClr val="8C9BB5"/>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السابقة</a:t>
            </a:r>
            <a:endParaRPr lang="ar-SA" sz="1600" dirty="0"/>
          </a:p>
        </p:txBody>
      </p:sp>
      <p:pic>
        <p:nvPicPr>
          <p:cNvPr id="8" name="s15_pic_6" descr="/tmp/claude-0/-home-user-Scienceshamah/8386cda7-7741-5ea4-8952-60ee8e67fc31/scratchpad/w4/img/scr_1359x281_3D8BFF_FFFFFF.png">    </p:cNvPr>
          <p:cNvPicPr>
            <a:picLocks noChangeAspect="1"/>
          </p:cNvPicPr>
          <p:nvPr/>
        </p:nvPicPr>
        <p:blipFill>
          <a:blip r:embed="rId6"/>
          <a:stretch>
            <a:fillRect/>
          </a:stretch>
        </p:blipFill>
        <p:spPr>
          <a:xfrm>
            <a:off x="347472" y="1078992"/>
            <a:ext cx="11512296" cy="2551176"/>
          </a:xfrm>
          <a:prstGeom prst="rect">
            <a:avLst/>
          </a:prstGeom>
        </p:spPr>
      </p:pic>
      <p:sp>
        <p:nvSpPr>
          <p:cNvPr id="9" name="s15_t_7"/>
          <p:cNvSpPr txBox="1"/>
          <p:nvPr/>
        </p:nvSpPr>
        <p:spPr>
          <a:xfrm>
            <a:off x="594360" y="1261872"/>
            <a:ext cx="11018520" cy="822960"/>
          </a:xfrm>
          <a:prstGeom prst="rect">
            <a:avLst/>
          </a:prstGeom>
          <a:noFill/>
          <a:ln/>
        </p:spPr>
        <p:txBody>
          <a:bodyPr wrap="square" lIns="762" tIns="762" rIns="762" bIns="762" rtlCol="0" anchor="ctr"/>
          <a:lstStyle/>
          <a:p>
            <a:pPr rtl="1" algn="r" indent="0" marL="0">
              <a:lnSpc>
                <a:spcPct val="108000"/>
              </a:lnSpc>
              <a:buNone/>
            </a:pPr>
            <a:r>
              <a:rPr lang="ar-SA" altLang="en-US" sz="2100" b="1" dirty="0">
                <a:solidFill>
                  <a:srgbClr val="1B2A4A"/>
                </a:solidFill>
                <a:latin typeface="Tahoma" pitchFamily="34" charset="0"/>
                <a:ea typeface="Tahoma" pitchFamily="34" charset="-122"/>
                <a:cs typeface="Tahoma" pitchFamily="34" charset="-120"/>
              </a:rPr>
              <a:t>أستنتج. هل يُحتمل وجود بدائيات على جلدي؟ أوضّح إجابتي.</a:t>
            </a:r>
            <a:endParaRPr lang="ar-SA" sz="2100" dirty="0"/>
          </a:p>
        </p:txBody>
      </p:sp>
      <p:sp>
        <p:nvSpPr>
          <p:cNvPr id="10" name="s15_t_8"/>
          <p:cNvSpPr txBox="1"/>
          <p:nvPr/>
        </p:nvSpPr>
        <p:spPr>
          <a:xfrm>
            <a:off x="594360" y="2084832"/>
            <a:ext cx="11018520" cy="1362456"/>
          </a:xfrm>
          <a:prstGeom prst="rect">
            <a:avLst/>
          </a:prstGeom>
          <a:noFill/>
          <a:ln/>
        </p:spPr>
        <p:txBody>
          <a:bodyPr wrap="square" lIns="762" tIns="762" rIns="762" bIns="762" rtlCol="0" anchor="t"/>
          <a:lstStyle/>
          <a:p>
            <a:pPr rtl="1" algn="r" indent="0" marL="0">
              <a:lnSpc>
                <a:spcPct val="108000"/>
              </a:lnSpc>
              <a:buNone/>
            </a:pPr>
            <a:r>
              <a:rPr lang="ar-SA" altLang="en-US" sz="1800" b="1" dirty="0">
                <a:solidFill>
                  <a:srgbClr val="0E7C55"/>
                </a:solidFill>
                <a:latin typeface="Tahoma" pitchFamily="34" charset="0"/>
                <a:ea typeface="Tahoma" pitchFamily="34" charset="-122"/>
                <a:cs typeface="Tahoma" pitchFamily="34" charset="-120"/>
              </a:rPr>
              <a:t>نعم يُحتمل؛ فالبدائيات تعيش في بيئات قاسية متنوعة، منها الأماكن شديدة الملوحة، وجلدي مالح بالعرق فيصلح بيئة لها.</a:t>
            </a:r>
            <a:endParaRPr lang="ar-SA" sz="1800" dirty="0"/>
          </a:p>
        </p:txBody>
      </p:sp>
      <p:pic>
        <p:nvPicPr>
          <p:cNvPr id="11" name="s15_pic_9" descr="/tmp/claude-0/-home-user-Scienceshamah/8386cda7-7741-5ea4-8952-60ee8e67fc31/scratchpad/w4/img/scr_1359x286_8C5CFF_FFFFFF.png">    </p:cNvPr>
          <p:cNvPicPr>
            <a:picLocks noChangeAspect="1"/>
          </p:cNvPicPr>
          <p:nvPr/>
        </p:nvPicPr>
        <p:blipFill>
          <a:blip r:embed="rId7"/>
          <a:stretch>
            <a:fillRect/>
          </a:stretch>
        </p:blipFill>
        <p:spPr>
          <a:xfrm>
            <a:off x="347472" y="3639312"/>
            <a:ext cx="11512296" cy="2596896"/>
          </a:xfrm>
          <a:prstGeom prst="rect">
            <a:avLst/>
          </a:prstGeom>
        </p:spPr>
      </p:pic>
      <p:sp>
        <p:nvSpPr>
          <p:cNvPr id="12" name="s15_t_10"/>
          <p:cNvSpPr txBox="1"/>
          <p:nvPr/>
        </p:nvSpPr>
        <p:spPr>
          <a:xfrm>
            <a:off x="594360" y="3822192"/>
            <a:ext cx="11018520" cy="914400"/>
          </a:xfrm>
          <a:prstGeom prst="rect">
            <a:avLst/>
          </a:prstGeom>
          <a:noFill/>
          <a:ln/>
        </p:spPr>
        <p:txBody>
          <a:bodyPr wrap="square" lIns="762" tIns="762" rIns="762" bIns="762" rtlCol="0" anchor="ctr"/>
          <a:lstStyle/>
          <a:p>
            <a:pPr rtl="1" algn="r" indent="0" marL="0">
              <a:lnSpc>
                <a:spcPct val="108000"/>
              </a:lnSpc>
              <a:buNone/>
            </a:pPr>
            <a:r>
              <a:rPr lang="ar-SA" altLang="en-US" sz="2100" b="1" dirty="0">
                <a:solidFill>
                  <a:srgbClr val="1B2A4A"/>
                </a:solidFill>
                <a:latin typeface="Tahoma" pitchFamily="34" charset="0"/>
                <a:ea typeface="Tahoma" pitchFamily="34" charset="-122"/>
                <a:cs typeface="Tahoma" pitchFamily="34" charset="-120"/>
              </a:rPr>
              <a:t>التفكير الناقد. هل توجد الدياتومات بالقرب من سطح البحيرات أم في أعماق المياه؟ لماذا؟</a:t>
            </a:r>
            <a:endParaRPr lang="ar-SA" sz="2100" dirty="0"/>
          </a:p>
        </p:txBody>
      </p:sp>
      <p:sp>
        <p:nvSpPr>
          <p:cNvPr id="13" name="s15_t_11"/>
          <p:cNvSpPr txBox="1"/>
          <p:nvPr/>
        </p:nvSpPr>
        <p:spPr>
          <a:xfrm>
            <a:off x="594360" y="4736592"/>
            <a:ext cx="11018520" cy="1316736"/>
          </a:xfrm>
          <a:prstGeom prst="rect">
            <a:avLst/>
          </a:prstGeom>
          <a:noFill/>
          <a:ln/>
        </p:spPr>
        <p:txBody>
          <a:bodyPr wrap="square" lIns="762" tIns="762" rIns="762" bIns="762" rtlCol="0" anchor="t"/>
          <a:lstStyle/>
          <a:p>
            <a:pPr rtl="1" algn="r" indent="0" marL="0">
              <a:lnSpc>
                <a:spcPct val="108000"/>
              </a:lnSpc>
              <a:buNone/>
            </a:pPr>
            <a:r>
              <a:rPr lang="ar-SA" altLang="en-US" sz="1800" b="1" dirty="0">
                <a:solidFill>
                  <a:srgbClr val="0E7C55"/>
                </a:solidFill>
                <a:latin typeface="Tahoma" pitchFamily="34" charset="0"/>
                <a:ea typeface="Tahoma" pitchFamily="34" charset="-122"/>
                <a:cs typeface="Tahoma" pitchFamily="34" charset="-120"/>
              </a:rPr>
              <a:t>بالقرب من السطح؛ لأنها شبيهة بالنباتات تصنع غذاءها بنفسها، وهذا يحتاج إلى ضوء الشمس الذي لا يصل إلى الأعماق.</a:t>
            </a:r>
            <a:endParaRPr lang="ar-SA" sz="1800" dirty="0"/>
          </a:p>
        </p:txBody>
      </p:sp>
    </p:spTree>
  </p:cSld>
  <p:clrMapOvr>
    <a:masterClrMapping/>
  </p:clrMapOvr>
  <mc:AlternateContent xmlns:mc="http://schemas.openxmlformats.org/markup-compatibility/2006">
    <mc:Choice xmlns:p14="http://schemas.microsoft.com/office/powerpoint/2010/main" Requires="p14">
      <p:transition spd="slow" p14:dur="14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10"/>
                                        </p:tgtEl>
                                        <p:attrNameLst>
                                          <p:attrName>style.visibility</p:attrName>
                                        </p:attrNameLst>
                                      </p:cBhvr>
                                      <p:to>
                                        <p:strVal val="visible"/>
                                      </p:to>
                                    </p:set>
                                    <p:animEffect transition="in" filter="fade">
                                      <p:cBhvr>
                                        <p:cTn id="6"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2" presetID="10"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16_sign" descr="مختبر الانشطار الثنائي">    </p:cNvPr>
          <p:cNvPicPr>
            <a:picLocks noChangeAspect="1"/>
          </p:cNvPicPr>
          <p:nvPr/>
        </p:nvPicPr>
        <p:blipFill>
          <a:blip r:embed="rId2"/>
          <a:stretch>
            <a:fillRect/>
          </a:stretch>
        </p:blipFill>
        <p:spPr>
          <a:xfrm>
            <a:off x="3991579" y="91440"/>
            <a:ext cx="4208536" cy="868680"/>
          </a:xfrm>
          <a:prstGeom prst="rect">
            <a:avLst/>
          </a:prstGeom>
        </p:spPr>
      </p:pic>
      <p:sp>
        <p:nvSpPr>
          <p:cNvPr id="3" name="s16_t_1"/>
          <p:cNvSpPr txBox="1"/>
          <p:nvPr/>
        </p:nvSpPr>
        <p:spPr>
          <a:xfrm>
            <a:off x="10561320" y="274320"/>
            <a:ext cx="1325880" cy="502920"/>
          </a:xfrm>
          <a:prstGeom prst="roundRect">
            <a:avLst>
              <a:gd name="adj" fmla="val 49091"/>
            </a:avLst>
          </a:prstGeom>
          <a:solidFill>
            <a:srgbClr val="1B2A4A"/>
          </a:solidFill>
          <a:ln/>
        </p:spPr>
        <p:txBody>
          <a:bodyPr wrap="square" lIns="762" tIns="762" rIns="762" bIns="762" rtlCol="0" anchor="ctr"/>
          <a:lstStyle/>
          <a:p>
            <a:pPr rtl="1" algn="ctr" indent="0" marL="0">
              <a:lnSpc>
                <a:spcPct val="108000"/>
              </a:lnSpc>
              <a:buNone/>
            </a:pPr>
            <a:r>
              <a:rPr lang="ar-SA" altLang="en-US" sz="1700" b="1" dirty="0">
                <a:solidFill>
                  <a:srgbClr val="FFFFFF"/>
                </a:solidFill>
                <a:latin typeface="Tahoma" pitchFamily="34" charset="0"/>
                <a:ea typeface="Tahoma" pitchFamily="34" charset="-122"/>
                <a:cs typeface="Tahoma" pitchFamily="34" charset="-120"/>
              </a:rPr>
              <a:t>القاعة </a:t>
            </a:r>
            <a:r>
              <a:rPr lang="ar-SA" altLang="en-US" sz="1700" b="1" dirty="0">
                <a:solidFill>
                  <a:srgbClr val="FFFFFF"/>
                </a:solidFill>
                <a:latin typeface="Tahoma" pitchFamily="34" charset="0"/>
                <a:ea typeface="Tahoma" pitchFamily="34" charset="-122"/>
                <a:cs typeface="Tahoma" pitchFamily="34" charset="-120"/>
              </a:rPr>
              <a:t>٩</a:t>
            </a:r>
            <a:endParaRPr lang="ar-SA" sz="1700" dirty="0"/>
          </a:p>
        </p:txBody>
      </p:sp>
      <p:sp>
        <p:nvSpPr>
          <p:cNvPr id="4" name="s16_t_2"/>
          <p:cNvSpPr txBox="1"/>
          <p:nvPr/>
        </p:nvSpPr>
        <p:spPr>
          <a:xfrm>
            <a:off x="365760" y="228600"/>
            <a:ext cx="2788920" cy="603504"/>
          </a:xfrm>
          <a:prstGeom prst="roundRect">
            <a:avLst>
              <a:gd name="adj" fmla="val 39394"/>
            </a:avLst>
          </a:prstGeom>
          <a:solidFill>
            <a:srgbClr val="FFFFFF"/>
          </a:solidFill>
          <a:ln w="25400">
            <a:solidFill>
              <a:srgbClr val="8C5CFF"/>
            </a:solidFill>
            <a:prstDash val="dash"/>
          </a:ln>
        </p:spPr>
        <p:txBody>
          <a:bodyPr wrap="square" lIns="762" tIns="762" rIns="762" bIns="762" rtlCol="0" anchor="ctr"/>
          <a:lstStyle/>
          <a:p>
            <a:pPr rtl="1" algn="ctr" indent="0" marL="0">
              <a:lnSpc>
                <a:spcPct val="108000"/>
              </a:lnSpc>
              <a:buNone/>
            </a:pPr>
            <a:r>
              <a:rPr lang="ar-SA" altLang="en-US" sz="1350" b="1" dirty="0">
                <a:solidFill>
                  <a:srgbClr val="C2366F"/>
                </a:solidFill>
                <a:latin typeface="Tahoma" pitchFamily="34" charset="0"/>
                <a:ea typeface="Tahoma" pitchFamily="34" charset="-122"/>
                <a:cs typeface="Tahoma" pitchFamily="34" charset="-120"/>
              </a:rPr>
              <a:t>الاستراتيجية: </a:t>
            </a:r>
            <a:r>
              <a:rPr lang="ar-SA" altLang="en-US" sz="1350" b="1" dirty="0">
                <a:solidFill>
                  <a:srgbClr val="34405E"/>
                </a:solidFill>
                <a:latin typeface="Tahoma" pitchFamily="34" charset="0"/>
                <a:ea typeface="Tahoma" pitchFamily="34" charset="-122"/>
                <a:cs typeface="Tahoma" pitchFamily="34" charset="-120"/>
              </a:rPr>
              <a:t>شاهدي – لاحظي – فسّري</a:t>
            </a:r>
            <a:endParaRPr lang="ar-SA" sz="1350" dirty="0"/>
          </a:p>
        </p:txBody>
      </p:sp>
      <p:sp>
        <p:nvSpPr>
          <p:cNvPr id="5" name="s16_t_3">
            <a:hlinkClick r:id="rId3" tooltip="الانتقال إلى القاعة التالية" action="ppaction://hlinksldjump"/>
          </p:cNvPr>
          <p:cNvSpPr txBox="1"/>
          <p:nvPr/>
        </p:nvSpPr>
        <p:spPr>
          <a:xfrm>
            <a:off x="2926080" y="6382512"/>
            <a:ext cx="2011680" cy="384048"/>
          </a:xfrm>
          <a:prstGeom prst="roundRect">
            <a:avLst>
              <a:gd name="adj" fmla="val 50000"/>
            </a:avLst>
          </a:prstGeom>
          <a:solidFill>
            <a:srgbClr val="5B6CFF"/>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القاعة التالية ◀</a:t>
            </a:r>
            <a:endParaRPr lang="ar-SA" sz="1600" dirty="0"/>
          </a:p>
        </p:txBody>
      </p:sp>
      <p:sp>
        <p:nvSpPr>
          <p:cNvPr id="6" name="s16_t_4">
            <a:hlinkClick r:id="rId4" tooltip="العودة إلى خريطة المتحف" action="ppaction://hlinksldjump"/>
          </p:cNvPr>
          <p:cNvSpPr txBox="1"/>
          <p:nvPr/>
        </p:nvSpPr>
        <p:spPr>
          <a:xfrm>
            <a:off x="5074920" y="6382512"/>
            <a:ext cx="2011680" cy="384048"/>
          </a:xfrm>
          <a:prstGeom prst="roundRect">
            <a:avLst>
              <a:gd name="adj" fmla="val 50000"/>
            </a:avLst>
          </a:prstGeom>
          <a:solidFill>
            <a:srgbClr val="0FA3B8"/>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خريطة المتحف</a:t>
            </a:r>
            <a:endParaRPr lang="ar-SA" sz="1600" dirty="0"/>
          </a:p>
        </p:txBody>
      </p:sp>
      <p:sp>
        <p:nvSpPr>
          <p:cNvPr id="7" name="s16_t_5">
            <a:hlinkClick r:id="rId5" tooltip="القاعة السابقة" action="ppaction://hlinksldjump"/>
          </p:cNvPr>
          <p:cNvSpPr txBox="1"/>
          <p:nvPr/>
        </p:nvSpPr>
        <p:spPr>
          <a:xfrm>
            <a:off x="7223760" y="6382512"/>
            <a:ext cx="1463040" cy="384048"/>
          </a:xfrm>
          <a:prstGeom prst="roundRect">
            <a:avLst>
              <a:gd name="adj" fmla="val 50000"/>
            </a:avLst>
          </a:prstGeom>
          <a:solidFill>
            <a:srgbClr val="8C9BB5"/>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السابقة</a:t>
            </a:r>
            <a:endParaRPr lang="ar-SA" sz="1600" dirty="0"/>
          </a:p>
        </p:txBody>
      </p:sp>
      <p:pic>
        <p:nvPicPr>
          <p:cNvPr id="8" name="s16_pic_6" descr="/tmp/claude-0/-home-user-Scienceshamah/8386cda7-7741-5ea4-8952-60ee8e67fc31/scratchpad/w4/img/scr_1359x138_14B88A_FFFFFF.png">    </p:cNvPr>
          <p:cNvPicPr>
            <a:picLocks noChangeAspect="1"/>
          </p:cNvPicPr>
          <p:nvPr/>
        </p:nvPicPr>
        <p:blipFill>
          <a:blip r:embed="rId6"/>
          <a:stretch>
            <a:fillRect/>
          </a:stretch>
        </p:blipFill>
        <p:spPr>
          <a:xfrm>
            <a:off x="347472" y="1078992"/>
            <a:ext cx="11512296" cy="1362456"/>
          </a:xfrm>
          <a:prstGeom prst="rect">
            <a:avLst/>
          </a:prstGeom>
        </p:spPr>
      </p:pic>
      <p:sp>
        <p:nvSpPr>
          <p:cNvPr id="9" name="s16_t_7"/>
          <p:cNvSpPr txBox="1"/>
          <p:nvPr/>
        </p:nvSpPr>
        <p:spPr>
          <a:xfrm>
            <a:off x="640080" y="1216152"/>
            <a:ext cx="10927080" cy="1078992"/>
          </a:xfrm>
          <a:prstGeom prst="rect">
            <a:avLst/>
          </a:prstGeom>
          <a:noFill/>
          <a:ln/>
        </p:spPr>
        <p:txBody>
          <a:bodyPr wrap="square" lIns="762" tIns="762" rIns="762" bIns="762" rtlCol="0" anchor="ctr"/>
          <a:lstStyle/>
          <a:p>
            <a:pPr rtl="1" algn="ctr" indent="0" marL="0">
              <a:lnSpc>
                <a:spcPct val="108000"/>
              </a:lnSpc>
              <a:buNone/>
            </a:pPr>
            <a:r>
              <a:rPr lang="ar-SA" altLang="en-US" sz="1700" b="1" dirty="0">
                <a:solidFill>
                  <a:srgbClr val="1B2A4A"/>
                </a:solidFill>
                <a:latin typeface="Tahoma" pitchFamily="34" charset="0"/>
                <a:ea typeface="Tahoma" pitchFamily="34" charset="-122"/>
                <a:cs typeface="Tahoma" pitchFamily="34" charset="-120"/>
              </a:rPr>
              <a:t>تتكاثر معظم الطلائعيات بالانشطار الثنائي، وهو نوع من التكاثر اللاجنسي ينقسم فيه المخلوق الحي إلى مخلوقين حيّين جديدين متماثلين. ومثال ذلك البراميسيوم.</a:t>
            </a:r>
            <a:endParaRPr lang="ar-SA" sz="1700" dirty="0"/>
          </a:p>
        </p:txBody>
      </p:sp>
      <p:pic>
        <p:nvPicPr>
          <p:cNvPr id="10" name="s16_pic_8" descr="/tmp/claude-0/-home-user-Scienceshamah/8386cda7-7741-5ea4-8952-60ee8e67fc31/scratchpad/w4/img/scr_435x259_14B88A_FFFFFF.png">    </p:cNvPr>
          <p:cNvPicPr>
            <a:picLocks noChangeAspect="1"/>
          </p:cNvPicPr>
          <p:nvPr/>
        </p:nvPicPr>
        <p:blipFill>
          <a:blip r:embed="rId7"/>
          <a:stretch>
            <a:fillRect/>
          </a:stretch>
        </p:blipFill>
        <p:spPr>
          <a:xfrm>
            <a:off x="7982712" y="2450592"/>
            <a:ext cx="3831336" cy="2368296"/>
          </a:xfrm>
          <a:prstGeom prst="rect">
            <a:avLst/>
          </a:prstGeom>
        </p:spPr>
      </p:pic>
      <p:pic>
        <p:nvPicPr>
          <p:cNvPr id="11" name="s16_pic_9" descr="١ يتمّ تضاعف المادة الوراثية.">    </p:cNvPr>
          <p:cNvPicPr>
            <a:picLocks noChangeAspect="1"/>
          </p:cNvPicPr>
          <p:nvPr/>
        </p:nvPicPr>
        <p:blipFill>
          <a:blip r:embed="rId8"/>
          <a:stretch>
            <a:fillRect/>
          </a:stretch>
        </p:blipFill>
        <p:spPr>
          <a:xfrm>
            <a:off x="8458200" y="2606040"/>
            <a:ext cx="2834640" cy="1700784"/>
          </a:xfrm>
          <a:prstGeom prst="rect">
            <a:avLst/>
          </a:prstGeom>
        </p:spPr>
      </p:pic>
      <p:sp>
        <p:nvSpPr>
          <p:cNvPr id="12" name="s16_t_10"/>
          <p:cNvSpPr txBox="1"/>
          <p:nvPr/>
        </p:nvSpPr>
        <p:spPr>
          <a:xfrm>
            <a:off x="8183880" y="4206240"/>
            <a:ext cx="3429000" cy="457200"/>
          </a:xfrm>
          <a:prstGeom prst="rect">
            <a:avLst/>
          </a:prstGeom>
          <a:noFill/>
          <a:ln/>
        </p:spPr>
        <p:txBody>
          <a:bodyPr wrap="square" lIns="762" tIns="762" rIns="762" bIns="762" rtlCol="0" anchor="ctr"/>
          <a:lstStyle/>
          <a:p>
            <a:pPr rtl="1" algn="ctr" indent="0" marL="0">
              <a:lnSpc>
                <a:spcPct val="108000"/>
              </a:lnSpc>
              <a:buNone/>
            </a:pPr>
            <a:r>
              <a:rPr lang="ar-SA" altLang="en-US" sz="1700" b="1" dirty="0">
                <a:solidFill>
                  <a:srgbClr val="1B2A4A"/>
                </a:solidFill>
                <a:latin typeface="Tahoma" pitchFamily="34" charset="0"/>
                <a:ea typeface="Tahoma" pitchFamily="34" charset="-122"/>
                <a:cs typeface="Tahoma" pitchFamily="34" charset="-120"/>
              </a:rPr>
              <a:t>١ يتمّ تضاعف المادة الوراثية.</a:t>
            </a:r>
            <a:endParaRPr lang="ar-SA" sz="1700" dirty="0"/>
          </a:p>
        </p:txBody>
      </p:sp>
      <p:pic>
        <p:nvPicPr>
          <p:cNvPr id="13" name="s16_pic_11" descr="/tmp/claude-0/-home-user-Scienceshamah/8386cda7-7741-5ea4-8952-60ee8e67fc31/scratchpad/w4/img/scr_435x259_14B88A_FFFFFF.png">    </p:cNvPr>
          <p:cNvPicPr>
            <a:picLocks noChangeAspect="1"/>
          </p:cNvPicPr>
          <p:nvPr/>
        </p:nvPicPr>
        <p:blipFill>
          <a:blip r:embed="rId9"/>
          <a:stretch>
            <a:fillRect/>
          </a:stretch>
        </p:blipFill>
        <p:spPr>
          <a:xfrm>
            <a:off x="4142232" y="2450592"/>
            <a:ext cx="3831336" cy="2368296"/>
          </a:xfrm>
          <a:prstGeom prst="rect">
            <a:avLst/>
          </a:prstGeom>
        </p:spPr>
      </p:pic>
      <p:pic>
        <p:nvPicPr>
          <p:cNvPr id="14" name="s16_pic_12" descr="٢ تبدأ الخلية في الانقسام.">    </p:cNvPr>
          <p:cNvPicPr>
            <a:picLocks noChangeAspect="1"/>
          </p:cNvPicPr>
          <p:nvPr/>
        </p:nvPicPr>
        <p:blipFill>
          <a:blip r:embed="rId10"/>
          <a:stretch>
            <a:fillRect/>
          </a:stretch>
        </p:blipFill>
        <p:spPr>
          <a:xfrm>
            <a:off x="4617720" y="2606040"/>
            <a:ext cx="2834640" cy="1700784"/>
          </a:xfrm>
          <a:prstGeom prst="rect">
            <a:avLst/>
          </a:prstGeom>
        </p:spPr>
      </p:pic>
      <p:sp>
        <p:nvSpPr>
          <p:cNvPr id="15" name="s16_t_13"/>
          <p:cNvSpPr txBox="1"/>
          <p:nvPr/>
        </p:nvSpPr>
        <p:spPr>
          <a:xfrm>
            <a:off x="4343400" y="4206240"/>
            <a:ext cx="3429000" cy="457200"/>
          </a:xfrm>
          <a:prstGeom prst="rect">
            <a:avLst/>
          </a:prstGeom>
          <a:noFill/>
          <a:ln/>
        </p:spPr>
        <p:txBody>
          <a:bodyPr wrap="square" lIns="762" tIns="762" rIns="762" bIns="762" rtlCol="0" anchor="ctr"/>
          <a:lstStyle/>
          <a:p>
            <a:pPr rtl="1" algn="ctr" indent="0" marL="0">
              <a:lnSpc>
                <a:spcPct val="108000"/>
              </a:lnSpc>
              <a:buNone/>
            </a:pPr>
            <a:r>
              <a:rPr lang="ar-SA" altLang="en-US" sz="1700" b="1" dirty="0">
                <a:solidFill>
                  <a:srgbClr val="1B2A4A"/>
                </a:solidFill>
                <a:latin typeface="Tahoma" pitchFamily="34" charset="0"/>
                <a:ea typeface="Tahoma" pitchFamily="34" charset="-122"/>
                <a:cs typeface="Tahoma" pitchFamily="34" charset="-120"/>
              </a:rPr>
              <a:t>٢ تبدأ الخلية في الانقسام.</a:t>
            </a:r>
            <a:endParaRPr lang="ar-SA" sz="1700" dirty="0"/>
          </a:p>
        </p:txBody>
      </p:sp>
      <p:pic>
        <p:nvPicPr>
          <p:cNvPr id="16" name="s16_pic_14" descr="/tmp/claude-0/-home-user-Scienceshamah/8386cda7-7741-5ea4-8952-60ee8e67fc31/scratchpad/w4/img/scr_435x259_14B88A_FFFFFF.png">    </p:cNvPr>
          <p:cNvPicPr>
            <a:picLocks noChangeAspect="1"/>
          </p:cNvPicPr>
          <p:nvPr/>
        </p:nvPicPr>
        <p:blipFill>
          <a:blip r:embed="rId11"/>
          <a:stretch>
            <a:fillRect/>
          </a:stretch>
        </p:blipFill>
        <p:spPr>
          <a:xfrm>
            <a:off x="301752" y="2450592"/>
            <a:ext cx="3831336" cy="2368296"/>
          </a:xfrm>
          <a:prstGeom prst="rect">
            <a:avLst/>
          </a:prstGeom>
        </p:spPr>
      </p:pic>
      <p:pic>
        <p:nvPicPr>
          <p:cNvPr id="17" name="s16_pic_15" descr="براميسيوم ١">    </p:cNvPr>
          <p:cNvPicPr>
            <a:picLocks noChangeAspect="1"/>
          </p:cNvPicPr>
          <p:nvPr/>
        </p:nvPicPr>
        <p:blipFill>
          <a:blip r:embed="rId12"/>
          <a:stretch>
            <a:fillRect/>
          </a:stretch>
        </p:blipFill>
        <p:spPr>
          <a:xfrm>
            <a:off x="502920" y="2743200"/>
            <a:ext cx="1737360" cy="1042416"/>
          </a:xfrm>
          <a:prstGeom prst="rect">
            <a:avLst/>
          </a:prstGeom>
        </p:spPr>
      </p:pic>
      <p:pic>
        <p:nvPicPr>
          <p:cNvPr id="18" name="s16_pic_16" descr="براميسيوم ٢">    </p:cNvPr>
          <p:cNvPicPr>
            <a:picLocks noChangeAspect="1"/>
          </p:cNvPicPr>
          <p:nvPr/>
        </p:nvPicPr>
        <p:blipFill>
          <a:blip r:embed="rId13"/>
          <a:stretch>
            <a:fillRect/>
          </a:stretch>
        </p:blipFill>
        <p:spPr>
          <a:xfrm>
            <a:off x="2194560" y="2743200"/>
            <a:ext cx="1737360" cy="1042416"/>
          </a:xfrm>
          <a:prstGeom prst="rect">
            <a:avLst/>
          </a:prstGeom>
        </p:spPr>
      </p:pic>
      <p:sp>
        <p:nvSpPr>
          <p:cNvPr id="19" name="s16_t_17"/>
          <p:cNvSpPr txBox="1"/>
          <p:nvPr/>
        </p:nvSpPr>
        <p:spPr>
          <a:xfrm>
            <a:off x="502920" y="4206240"/>
            <a:ext cx="3429000" cy="457200"/>
          </a:xfrm>
          <a:prstGeom prst="rect">
            <a:avLst/>
          </a:prstGeom>
          <a:noFill/>
          <a:ln/>
        </p:spPr>
        <p:txBody>
          <a:bodyPr wrap="square" lIns="762" tIns="762" rIns="762" bIns="762" rtlCol="0" anchor="ctr"/>
          <a:lstStyle/>
          <a:p>
            <a:pPr rtl="1" algn="ctr" indent="0" marL="0">
              <a:lnSpc>
                <a:spcPct val="108000"/>
              </a:lnSpc>
              <a:buNone/>
            </a:pPr>
            <a:r>
              <a:rPr lang="ar-SA" altLang="en-US" sz="1700" b="1" dirty="0">
                <a:solidFill>
                  <a:srgbClr val="1B2A4A"/>
                </a:solidFill>
                <a:latin typeface="Tahoma" pitchFamily="34" charset="0"/>
                <a:ea typeface="Tahoma" pitchFamily="34" charset="-122"/>
                <a:cs typeface="Tahoma" pitchFamily="34" charset="-120"/>
              </a:rPr>
              <a:t>٣ ينتج مخلوقان متماثلان.</a:t>
            </a:r>
            <a:endParaRPr lang="ar-SA" sz="1700" dirty="0"/>
          </a:p>
        </p:txBody>
      </p:sp>
      <p:pic>
        <p:nvPicPr>
          <p:cNvPr id="20" name="s16_pic_18" descr="/tmp/claude-0/-home-user-Scienceshamah/8386cda7-7741-5ea4-8952-60ee8e67fc31/scratchpad/w4/img/scr_473x143_14B88A_FFFFFF.png">    </p:cNvPr>
          <p:cNvPicPr>
            <a:picLocks noChangeAspect="1"/>
          </p:cNvPicPr>
          <p:nvPr/>
        </p:nvPicPr>
        <p:blipFill>
          <a:blip r:embed="rId14"/>
          <a:stretch>
            <a:fillRect/>
          </a:stretch>
        </p:blipFill>
        <p:spPr>
          <a:xfrm>
            <a:off x="347472" y="4828032"/>
            <a:ext cx="4151376" cy="1408176"/>
          </a:xfrm>
          <a:prstGeom prst="rect">
            <a:avLst/>
          </a:prstGeom>
        </p:spPr>
      </p:pic>
      <p:pic>
        <p:nvPicPr>
          <p:cNvPr id="21" name="s16_pic_19" descr="صورة براميسيوم ينقسم (من الكتاب)">    </p:cNvPr>
          <p:cNvPicPr>
            <a:picLocks noChangeAspect="1"/>
          </p:cNvPicPr>
          <p:nvPr/>
        </p:nvPicPr>
        <p:blipFill>
          <a:blip r:embed="rId15"/>
          <a:stretch>
            <a:fillRect/>
          </a:stretch>
        </p:blipFill>
        <p:spPr>
          <a:xfrm>
            <a:off x="548640" y="5001768"/>
            <a:ext cx="3749040" cy="1060704"/>
          </a:xfrm>
          <a:prstGeom prst="rect">
            <a:avLst/>
          </a:prstGeom>
        </p:spPr>
      </p:pic>
      <p:pic>
        <p:nvPicPr>
          <p:cNvPr id="22" name="s16_pic_20" descr="/tmp/claude-0/-home-user-Scienceshamah/8386cda7-7741-5ea4-8952-60ee8e67fc31/scratchpad/w4/img/scr_858x143_E3A21A_FFFBEF.png">    </p:cNvPr>
          <p:cNvPicPr>
            <a:picLocks noChangeAspect="1"/>
          </p:cNvPicPr>
          <p:nvPr/>
        </p:nvPicPr>
        <p:blipFill>
          <a:blip r:embed="rId16"/>
          <a:stretch>
            <a:fillRect/>
          </a:stretch>
        </p:blipFill>
        <p:spPr>
          <a:xfrm>
            <a:off x="4507992" y="4828032"/>
            <a:ext cx="7351776" cy="1408176"/>
          </a:xfrm>
          <a:prstGeom prst="rect">
            <a:avLst/>
          </a:prstGeom>
        </p:spPr>
      </p:pic>
      <p:sp>
        <p:nvSpPr>
          <p:cNvPr id="23" name="s16_t_21"/>
          <p:cNvSpPr txBox="1"/>
          <p:nvPr/>
        </p:nvSpPr>
        <p:spPr>
          <a:xfrm>
            <a:off x="4754880" y="4956048"/>
            <a:ext cx="6858000" cy="548640"/>
          </a:xfrm>
          <a:prstGeom prst="rect">
            <a:avLst/>
          </a:prstGeom>
          <a:noFill/>
          <a:ln/>
        </p:spPr>
        <p:txBody>
          <a:bodyPr wrap="square" lIns="762" tIns="762" rIns="762" bIns="762" rtlCol="0" anchor="ctr"/>
          <a:lstStyle/>
          <a:p>
            <a:pPr rtl="1" algn="r" indent="0" marL="0">
              <a:lnSpc>
                <a:spcPct val="108000"/>
              </a:lnSpc>
              <a:buNone/>
            </a:pPr>
            <a:r>
              <a:rPr lang="ar-SA" altLang="en-US" sz="1500" b="1" dirty="0">
                <a:solidFill>
                  <a:srgbClr val="8A5A00"/>
                </a:solidFill>
                <a:latin typeface="Tahoma" pitchFamily="34" charset="0"/>
                <a:ea typeface="Tahoma" pitchFamily="34" charset="-122"/>
                <a:cs typeface="Tahoma" pitchFamily="34" charset="-120"/>
              </a:rPr>
              <a:t>📷 أقرأ الصورة: </a:t>
            </a:r>
            <a:r>
              <a:rPr lang="ar-SA" altLang="en-US" sz="1500" b="1" dirty="0">
                <a:solidFill>
                  <a:srgbClr val="1B2A4A"/>
                </a:solidFill>
                <a:latin typeface="Tahoma" pitchFamily="34" charset="0"/>
                <a:ea typeface="Tahoma" pitchFamily="34" charset="-122"/>
                <a:cs typeface="Tahoma" pitchFamily="34" charset="-120"/>
              </a:rPr>
              <a:t>ماذا يحدث لهذا البراميسيوم؟ (إرشاد: أنظر ماذا يحدث في المنطقة الوسطى؟)</a:t>
            </a:r>
            <a:endParaRPr lang="ar-SA" sz="1500" dirty="0"/>
          </a:p>
        </p:txBody>
      </p:sp>
      <p:sp>
        <p:nvSpPr>
          <p:cNvPr id="24" name="s16_t_22"/>
          <p:cNvSpPr txBox="1"/>
          <p:nvPr/>
        </p:nvSpPr>
        <p:spPr>
          <a:xfrm>
            <a:off x="4754880" y="5486400"/>
            <a:ext cx="6858000" cy="594360"/>
          </a:xfrm>
          <a:prstGeom prst="rect">
            <a:avLst/>
          </a:prstGeom>
          <a:noFill/>
          <a:ln/>
        </p:spPr>
        <p:txBody>
          <a:bodyPr wrap="square" lIns="762" tIns="762" rIns="762" bIns="762" rtlCol="0" anchor="ctr"/>
          <a:lstStyle/>
          <a:p>
            <a:pPr rtl="1" algn="r" indent="0" marL="0">
              <a:lnSpc>
                <a:spcPct val="108000"/>
              </a:lnSpc>
              <a:buNone/>
            </a:pPr>
            <a:r>
              <a:rPr lang="ar-SA" altLang="en-US" sz="1500" b="1" dirty="0">
                <a:solidFill>
                  <a:srgbClr val="0E7C55"/>
                </a:solidFill>
                <a:latin typeface="Tahoma" pitchFamily="34" charset="0"/>
                <a:ea typeface="Tahoma" pitchFamily="34" charset="-122"/>
                <a:cs typeface="Tahoma" pitchFamily="34" charset="-120"/>
              </a:rPr>
              <a:t>✔ يتكاثر بالانشطار الثنائي؛ فقد انقسم عند منطقته الوسطى إلى براميسيومين جديدين متماثلين.</a:t>
            </a:r>
            <a:endParaRPr lang="ar-SA" sz="1500" dirty="0"/>
          </a:p>
        </p:txBody>
      </p:sp>
    </p:spTree>
  </p:cSld>
  <p:clrMapOvr>
    <a:masterClrMapping/>
  </p:clrMapOvr>
  <mc:AlternateContent xmlns:mc="http://schemas.openxmlformats.org/markup-compatibility/2006">
    <mc:Choice xmlns:p14="http://schemas.microsoft.com/office/powerpoint/2010/main" Requires="p14">
      <p:transition spd="slow" p14:dur="14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10"/>
                                        </p:tgtEl>
                                        <p:attrNameLst>
                                          <p:attrName>style.visibility</p:attrName>
                                        </p:attrNameLst>
                                      </p:cBhvr>
                                      <p:to>
                                        <p:strVal val="visible"/>
                                      </p:to>
                                    </p:set>
                                    <p:anim calcmode="lin" valueType="num">
                                      <p:cBhvr>
                                        <p:cTn id="6" dur="500" fill="hold"/>
                                        <p:tgtEl>
                                          <p:spTgt spid="10"/>
                                        </p:tgtEl>
                                        <p:attrNameLst>
                                          <p:attrName>ppt_w</p:attrName>
                                        </p:attrNameLst>
                                      </p:cBhvr>
                                      <p:tavLst>
                                        <p:tav tm="0">
                                          <p:val>
                                            <p:fltVal val="0"/>
                                          </p:val>
                                        </p:tav>
                                        <p:tav tm="100000">
                                          <p:val>
                                            <p:strVal val="#ppt_w"/>
                                          </p:val>
                                        </p:tav>
                                      </p:tavLst>
                                    </p:anim>
                                    <p:anim calcmode="lin" valueType="num">
                                      <p:cBhvr>
                                        <p:cTn id="7" dur="500" fill="hold"/>
                                        <p:tgtEl>
                                          <p:spTgt spid="10"/>
                                        </p:tgtEl>
                                        <p:attrNameLst>
                                          <p:attrName>ppt_h</p:attrName>
                                        </p:attrNameLst>
                                      </p:cBhvr>
                                      <p:tavLst>
                                        <p:tav tm="0">
                                          <p:val>
                                            <p:fltVal val="0"/>
                                          </p:val>
                                        </p:tav>
                                        <p:tav tm="100000">
                                          <p:val>
                                            <p:strVal val="#ppt_h"/>
                                          </p:val>
                                        </p:tav>
                                      </p:tavLst>
                                    </p:anim>
                                    <p:animEffect transition="in" filter="fade">
                                      <p:cBhvr>
                                        <p:cTn id="8" dur="500"/>
                                        <p:tgtEl>
                                          <p:spTgt spid="10"/>
                                        </p:tgtEl>
                                      </p:cBhvr>
                                    </p:animEffect>
                                  </p:childTnLst>
                                </p:cTn>
                              </p:par>
                              <p:par>
                                <p:cTn id="14" presetID="53" presetClass="entr" presetSubtype="16"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p:cTn id="11" dur="500" fill="hold"/>
                                        <p:tgtEl>
                                          <p:spTgt spid="11"/>
                                        </p:tgtEl>
                                        <p:attrNameLst>
                                          <p:attrName>ppt_w</p:attrName>
                                        </p:attrNameLst>
                                      </p:cBhvr>
                                      <p:tavLst>
                                        <p:tav tm="0">
                                          <p:val>
                                            <p:fltVal val="0"/>
                                          </p:val>
                                        </p:tav>
                                        <p:tav tm="100000">
                                          <p:val>
                                            <p:strVal val="#ppt_w"/>
                                          </p:val>
                                        </p:tav>
                                      </p:tavLst>
                                    </p:anim>
                                    <p:anim calcmode="lin" valueType="num">
                                      <p:cBhvr>
                                        <p:cTn id="12" dur="500" fill="hold"/>
                                        <p:tgtEl>
                                          <p:spTgt spid="11"/>
                                        </p:tgtEl>
                                        <p:attrNameLst>
                                          <p:attrName>ppt_h</p:attrName>
                                        </p:attrNameLst>
                                      </p:cBhvr>
                                      <p:tavLst>
                                        <p:tav tm="0">
                                          <p:val>
                                            <p:fltVal val="0"/>
                                          </p:val>
                                        </p:tav>
                                        <p:tav tm="100000">
                                          <p:val>
                                            <p:strVal val="#ppt_h"/>
                                          </p:val>
                                        </p:tav>
                                      </p:tavLst>
                                    </p:anim>
                                    <p:animEffect transition="in" filter="fade">
                                      <p:cBhvr>
                                        <p:cTn id="13" dur="500"/>
                                        <p:tgtEl>
                                          <p:spTgt spid="11"/>
                                        </p:tgtEl>
                                      </p:cBhvr>
                                    </p:animEffect>
                                  </p:childTnLst>
                                </p:cTn>
                              </p:par>
                              <p:par>
                                <p:cTn id="19" presetID="53" presetClass="entr" presetSubtype="16"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p:cTn id="16" dur="500" fill="hold"/>
                                        <p:tgtEl>
                                          <p:spTgt spid="12"/>
                                        </p:tgtEl>
                                        <p:attrNameLst>
                                          <p:attrName>ppt_w</p:attrName>
                                        </p:attrNameLst>
                                      </p:cBhvr>
                                      <p:tavLst>
                                        <p:tav tm="0">
                                          <p:val>
                                            <p:fltVal val="0"/>
                                          </p:val>
                                        </p:tav>
                                        <p:tav tm="100000">
                                          <p:val>
                                            <p:strVal val="#ppt_w"/>
                                          </p:val>
                                        </p:tav>
                                      </p:tavLst>
                                    </p:anim>
                                    <p:anim calcmode="lin" valueType="num">
                                      <p:cBhvr>
                                        <p:cTn id="17" dur="500" fill="hold"/>
                                        <p:tgtEl>
                                          <p:spTgt spid="12"/>
                                        </p:tgtEl>
                                        <p:attrNameLst>
                                          <p:attrName>ppt_h</p:attrName>
                                        </p:attrNameLst>
                                      </p:cBhvr>
                                      <p:tavLst>
                                        <p:tav tm="0">
                                          <p:val>
                                            <p:fltVal val="0"/>
                                          </p:val>
                                        </p:tav>
                                        <p:tav tm="100000">
                                          <p:val>
                                            <p:strVal val="#ppt_h"/>
                                          </p:val>
                                        </p:tav>
                                      </p:tavLst>
                                    </p:anim>
                                    <p:animEffect transition="in" filter="fade">
                                      <p:cBhvr>
                                        <p:cTn id="18" dur="5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6" presetID="53" presetClass="entr" presetSubtype="16"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p:cTn id="23" dur="500" fill="hold"/>
                                        <p:tgtEl>
                                          <p:spTgt spid="13"/>
                                        </p:tgtEl>
                                        <p:attrNameLst>
                                          <p:attrName>ppt_w</p:attrName>
                                        </p:attrNameLst>
                                      </p:cBhvr>
                                      <p:tavLst>
                                        <p:tav tm="0">
                                          <p:val>
                                            <p:fltVal val="0"/>
                                          </p:val>
                                        </p:tav>
                                        <p:tav tm="100000">
                                          <p:val>
                                            <p:strVal val="#ppt_w"/>
                                          </p:val>
                                        </p:tav>
                                      </p:tavLst>
                                    </p:anim>
                                    <p:anim calcmode="lin" valueType="num">
                                      <p:cBhvr>
                                        <p:cTn id="24" dur="500" fill="hold"/>
                                        <p:tgtEl>
                                          <p:spTgt spid="13"/>
                                        </p:tgtEl>
                                        <p:attrNameLst>
                                          <p:attrName>ppt_h</p:attrName>
                                        </p:attrNameLst>
                                      </p:cBhvr>
                                      <p:tavLst>
                                        <p:tav tm="0">
                                          <p:val>
                                            <p:fltVal val="0"/>
                                          </p:val>
                                        </p:tav>
                                        <p:tav tm="100000">
                                          <p:val>
                                            <p:strVal val="#ppt_h"/>
                                          </p:val>
                                        </p:tav>
                                      </p:tavLst>
                                    </p:anim>
                                    <p:animEffect transition="in" filter="fade">
                                      <p:cBhvr>
                                        <p:cTn id="25" dur="500"/>
                                        <p:tgtEl>
                                          <p:spTgt spid="13"/>
                                        </p:tgtEl>
                                      </p:cBhvr>
                                    </p:animEffect>
                                  </p:childTnLst>
                                </p:cTn>
                              </p:par>
                              <p:par>
                                <p:cTn id="31" presetID="53" presetClass="entr" presetSubtype="16"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 calcmode="lin" valueType="num">
                                      <p:cBhvr>
                                        <p:cTn id="28" dur="500" fill="hold"/>
                                        <p:tgtEl>
                                          <p:spTgt spid="14"/>
                                        </p:tgtEl>
                                        <p:attrNameLst>
                                          <p:attrName>ppt_w</p:attrName>
                                        </p:attrNameLst>
                                      </p:cBhvr>
                                      <p:tavLst>
                                        <p:tav tm="0">
                                          <p:val>
                                            <p:fltVal val="0"/>
                                          </p:val>
                                        </p:tav>
                                        <p:tav tm="100000">
                                          <p:val>
                                            <p:strVal val="#ppt_w"/>
                                          </p:val>
                                        </p:tav>
                                      </p:tavLst>
                                    </p:anim>
                                    <p:anim calcmode="lin" valueType="num">
                                      <p:cBhvr>
                                        <p:cTn id="29" dur="500" fill="hold"/>
                                        <p:tgtEl>
                                          <p:spTgt spid="14"/>
                                        </p:tgtEl>
                                        <p:attrNameLst>
                                          <p:attrName>ppt_h</p:attrName>
                                        </p:attrNameLst>
                                      </p:cBhvr>
                                      <p:tavLst>
                                        <p:tav tm="0">
                                          <p:val>
                                            <p:fltVal val="0"/>
                                          </p:val>
                                        </p:tav>
                                        <p:tav tm="100000">
                                          <p:val>
                                            <p:strVal val="#ppt_h"/>
                                          </p:val>
                                        </p:tav>
                                      </p:tavLst>
                                    </p:anim>
                                    <p:animEffect transition="in" filter="fade">
                                      <p:cBhvr>
                                        <p:cTn id="30" dur="500"/>
                                        <p:tgtEl>
                                          <p:spTgt spid="14"/>
                                        </p:tgtEl>
                                      </p:cBhvr>
                                    </p:animEffect>
                                  </p:childTnLst>
                                </p:cTn>
                              </p:par>
                              <p:par>
                                <p:cTn id="36" presetID="53" presetClass="entr" presetSubtype="16"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 calcmode="lin" valueType="num">
                                      <p:cBhvr>
                                        <p:cTn id="33" dur="500" fill="hold"/>
                                        <p:tgtEl>
                                          <p:spTgt spid="15"/>
                                        </p:tgtEl>
                                        <p:attrNameLst>
                                          <p:attrName>ppt_w</p:attrName>
                                        </p:attrNameLst>
                                      </p:cBhvr>
                                      <p:tavLst>
                                        <p:tav tm="0">
                                          <p:val>
                                            <p:fltVal val="0"/>
                                          </p:val>
                                        </p:tav>
                                        <p:tav tm="100000">
                                          <p:val>
                                            <p:strVal val="#ppt_w"/>
                                          </p:val>
                                        </p:tav>
                                      </p:tavLst>
                                    </p:anim>
                                    <p:anim calcmode="lin" valueType="num">
                                      <p:cBhvr>
                                        <p:cTn id="34" dur="500" fill="hold"/>
                                        <p:tgtEl>
                                          <p:spTgt spid="15"/>
                                        </p:tgtEl>
                                        <p:attrNameLst>
                                          <p:attrName>ppt_h</p:attrName>
                                        </p:attrNameLst>
                                      </p:cBhvr>
                                      <p:tavLst>
                                        <p:tav tm="0">
                                          <p:val>
                                            <p:fltVal val="0"/>
                                          </p:val>
                                        </p:tav>
                                        <p:tav tm="100000">
                                          <p:val>
                                            <p:strVal val="#ppt_h"/>
                                          </p:val>
                                        </p:tav>
                                      </p:tavLst>
                                    </p:anim>
                                    <p:animEffect transition="in" filter="fade">
                                      <p:cBhvr>
                                        <p:cTn id="35" dur="500"/>
                                        <p:tgtEl>
                                          <p:spTgt spid="15"/>
                                        </p:tgtEl>
                                      </p:cBhvr>
                                    </p:animEffect>
                                  </p:childTnLst>
                                </p:cTn>
                              </p:par>
                            </p:childTnLst>
                          </p:cTn>
                        </p:par>
                      </p:childTnLst>
                    </p:cTn>
                  </p:par>
                  <p:par>
                    <p:cTn id="37" fill="hold">
                      <p:stCondLst>
                        <p:cond delay="indefinite"/>
                      </p:stCondLst>
                      <p:childTnLst>
                        <p:par>
                          <p:cTn id="38" fill="hold">
                            <p:stCondLst>
                              <p:cond delay="0"/>
                            </p:stCondLst>
                            <p:childTnLst>
                              <p:par>
                                <p:cTn id="43" presetID="53" presetClass="entr" presetSubtype="16" fill="hold" grpId="0" nodeType="clickEffect">
                                  <p:stCondLst>
                                    <p:cond delay="0"/>
                                  </p:stCondLst>
                                  <p:childTnLst>
                                    <p:set>
                                      <p:cBhvr>
                                        <p:cTn id="39" dur="1" fill="hold">
                                          <p:stCondLst>
                                            <p:cond delay="0"/>
                                          </p:stCondLst>
                                        </p:cTn>
                                        <p:tgtEl>
                                          <p:spTgt spid="16"/>
                                        </p:tgtEl>
                                        <p:attrNameLst>
                                          <p:attrName>style.visibility</p:attrName>
                                        </p:attrNameLst>
                                      </p:cBhvr>
                                      <p:to>
                                        <p:strVal val="visible"/>
                                      </p:to>
                                    </p:set>
                                    <p:anim calcmode="lin" valueType="num">
                                      <p:cBhvr>
                                        <p:cTn id="40" dur="500" fill="hold"/>
                                        <p:tgtEl>
                                          <p:spTgt spid="16"/>
                                        </p:tgtEl>
                                        <p:attrNameLst>
                                          <p:attrName>ppt_w</p:attrName>
                                        </p:attrNameLst>
                                      </p:cBhvr>
                                      <p:tavLst>
                                        <p:tav tm="0">
                                          <p:val>
                                            <p:fltVal val="0"/>
                                          </p:val>
                                        </p:tav>
                                        <p:tav tm="100000">
                                          <p:val>
                                            <p:strVal val="#ppt_w"/>
                                          </p:val>
                                        </p:tav>
                                      </p:tavLst>
                                    </p:anim>
                                    <p:anim calcmode="lin" valueType="num">
                                      <p:cBhvr>
                                        <p:cTn id="41" dur="500" fill="hold"/>
                                        <p:tgtEl>
                                          <p:spTgt spid="16"/>
                                        </p:tgtEl>
                                        <p:attrNameLst>
                                          <p:attrName>ppt_h</p:attrName>
                                        </p:attrNameLst>
                                      </p:cBhvr>
                                      <p:tavLst>
                                        <p:tav tm="0">
                                          <p:val>
                                            <p:fltVal val="0"/>
                                          </p:val>
                                        </p:tav>
                                        <p:tav tm="100000">
                                          <p:val>
                                            <p:strVal val="#ppt_h"/>
                                          </p:val>
                                        </p:tav>
                                      </p:tavLst>
                                    </p:anim>
                                    <p:animEffect transition="in" filter="fade">
                                      <p:cBhvr>
                                        <p:cTn id="42" dur="500"/>
                                        <p:tgtEl>
                                          <p:spTgt spid="16"/>
                                        </p:tgtEl>
                                      </p:cBhvr>
                                    </p:animEffect>
                                  </p:childTnLst>
                                </p:cTn>
                              </p:par>
                              <p:par>
                                <p:cTn id="48" presetID="53" presetClass="entr" presetSubtype="16"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 calcmode="lin" valueType="num">
                                      <p:cBhvr>
                                        <p:cTn id="45" dur="500" fill="hold"/>
                                        <p:tgtEl>
                                          <p:spTgt spid="17"/>
                                        </p:tgtEl>
                                        <p:attrNameLst>
                                          <p:attrName>ppt_w</p:attrName>
                                        </p:attrNameLst>
                                      </p:cBhvr>
                                      <p:tavLst>
                                        <p:tav tm="0">
                                          <p:val>
                                            <p:fltVal val="0"/>
                                          </p:val>
                                        </p:tav>
                                        <p:tav tm="100000">
                                          <p:val>
                                            <p:strVal val="#ppt_w"/>
                                          </p:val>
                                        </p:tav>
                                      </p:tavLst>
                                    </p:anim>
                                    <p:anim calcmode="lin" valueType="num">
                                      <p:cBhvr>
                                        <p:cTn id="46" dur="500" fill="hold"/>
                                        <p:tgtEl>
                                          <p:spTgt spid="17"/>
                                        </p:tgtEl>
                                        <p:attrNameLst>
                                          <p:attrName>ppt_h</p:attrName>
                                        </p:attrNameLst>
                                      </p:cBhvr>
                                      <p:tavLst>
                                        <p:tav tm="0">
                                          <p:val>
                                            <p:fltVal val="0"/>
                                          </p:val>
                                        </p:tav>
                                        <p:tav tm="100000">
                                          <p:val>
                                            <p:strVal val="#ppt_h"/>
                                          </p:val>
                                        </p:tav>
                                      </p:tavLst>
                                    </p:anim>
                                    <p:animEffect transition="in" filter="fade">
                                      <p:cBhvr>
                                        <p:cTn id="47" dur="500"/>
                                        <p:tgtEl>
                                          <p:spTgt spid="17"/>
                                        </p:tgtEl>
                                      </p:cBhvr>
                                    </p:animEffect>
                                  </p:childTnLst>
                                </p:cTn>
                              </p:par>
                              <p:par>
                                <p:cTn id="53" presetID="53" presetClass="entr" presetSubtype="16"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 calcmode="lin" valueType="num">
                                      <p:cBhvr>
                                        <p:cTn id="50" dur="500" fill="hold"/>
                                        <p:tgtEl>
                                          <p:spTgt spid="19"/>
                                        </p:tgtEl>
                                        <p:attrNameLst>
                                          <p:attrName>ppt_w</p:attrName>
                                        </p:attrNameLst>
                                      </p:cBhvr>
                                      <p:tavLst>
                                        <p:tav tm="0">
                                          <p:val>
                                            <p:fltVal val="0"/>
                                          </p:val>
                                        </p:tav>
                                        <p:tav tm="100000">
                                          <p:val>
                                            <p:strVal val="#ppt_w"/>
                                          </p:val>
                                        </p:tav>
                                      </p:tavLst>
                                    </p:anim>
                                    <p:anim calcmode="lin" valueType="num">
                                      <p:cBhvr>
                                        <p:cTn id="51" dur="500" fill="hold"/>
                                        <p:tgtEl>
                                          <p:spTgt spid="19"/>
                                        </p:tgtEl>
                                        <p:attrNameLst>
                                          <p:attrName>ppt_h</p:attrName>
                                        </p:attrNameLst>
                                      </p:cBhvr>
                                      <p:tavLst>
                                        <p:tav tm="0">
                                          <p:val>
                                            <p:fltVal val="0"/>
                                          </p:val>
                                        </p:tav>
                                        <p:tav tm="100000">
                                          <p:val>
                                            <p:strVal val="#ppt_h"/>
                                          </p:val>
                                        </p:tav>
                                      </p:tavLst>
                                    </p:anim>
                                    <p:animEffect transition="in" filter="fade">
                                      <p:cBhvr>
                                        <p:cTn id="52" dur="500"/>
                                        <p:tgtEl>
                                          <p:spTgt spid="19"/>
                                        </p:tgtEl>
                                      </p:cBhvr>
                                    </p:animEffect>
                                  </p:childTnLst>
                                </p:cTn>
                              </p:par>
                            </p:childTnLst>
                          </p:cTn>
                        </p:par>
                      </p:childTnLst>
                    </p:cTn>
                  </p:par>
                  <p:par>
                    <p:cTn id="54" fill="hold">
                      <p:stCondLst>
                        <p:cond delay="indefinite"/>
                      </p:stCondLst>
                      <p:childTnLst>
                        <p:par>
                          <p:cTn id="55" fill="hold">
                            <p:stCondLst>
                              <p:cond delay="0"/>
                            </p:stCondLst>
                            <p:childTnLst>
                              <p:par>
                                <p:cTn id="60" presetID="53" presetClass="entr" presetSubtype="16" fill="hold" grpId="0" nodeType="clickEffect">
                                  <p:stCondLst>
                                    <p:cond delay="0"/>
                                  </p:stCondLst>
                                  <p:childTnLst>
                                    <p:set>
                                      <p:cBhvr>
                                        <p:cTn id="56" dur="1" fill="hold">
                                          <p:stCondLst>
                                            <p:cond delay="0"/>
                                          </p:stCondLst>
                                        </p:cTn>
                                        <p:tgtEl>
                                          <p:spTgt spid="24"/>
                                        </p:tgtEl>
                                        <p:attrNameLst>
                                          <p:attrName>style.visibility</p:attrName>
                                        </p:attrNameLst>
                                      </p:cBhvr>
                                      <p:to>
                                        <p:strVal val="visible"/>
                                      </p:to>
                                    </p:set>
                                    <p:anim calcmode="lin" valueType="num">
                                      <p:cBhvr>
                                        <p:cTn id="57" dur="500" fill="hold"/>
                                        <p:tgtEl>
                                          <p:spTgt spid="24"/>
                                        </p:tgtEl>
                                        <p:attrNameLst>
                                          <p:attrName>ppt_w</p:attrName>
                                        </p:attrNameLst>
                                      </p:cBhvr>
                                      <p:tavLst>
                                        <p:tav tm="0">
                                          <p:val>
                                            <p:fltVal val="0"/>
                                          </p:val>
                                        </p:tav>
                                        <p:tav tm="100000">
                                          <p:val>
                                            <p:strVal val="#ppt_w"/>
                                          </p:val>
                                        </p:tav>
                                      </p:tavLst>
                                    </p:anim>
                                    <p:anim calcmode="lin" valueType="num">
                                      <p:cBhvr>
                                        <p:cTn id="58" dur="500" fill="hold"/>
                                        <p:tgtEl>
                                          <p:spTgt spid="24"/>
                                        </p:tgtEl>
                                        <p:attrNameLst>
                                          <p:attrName>ppt_h</p:attrName>
                                        </p:attrNameLst>
                                      </p:cBhvr>
                                      <p:tavLst>
                                        <p:tav tm="0">
                                          <p:val>
                                            <p:fltVal val="0"/>
                                          </p:val>
                                        </p:tav>
                                        <p:tav tm="100000">
                                          <p:val>
                                            <p:strVal val="#ppt_h"/>
                                          </p:val>
                                        </p:tav>
                                      </p:tavLst>
                                    </p:anim>
                                    <p:animEffect transition="in" filter="fade">
                                      <p:cBhvr>
                                        <p:cTn id="5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17_sign" descr="نشاط: رتّبي مراحل الانشطار الثنائي">    </p:cNvPr>
          <p:cNvPicPr>
            <a:picLocks noChangeAspect="1"/>
          </p:cNvPicPr>
          <p:nvPr/>
        </p:nvPicPr>
        <p:blipFill>
          <a:blip r:embed="rId2"/>
          <a:stretch>
            <a:fillRect/>
          </a:stretch>
        </p:blipFill>
        <p:spPr>
          <a:xfrm>
            <a:off x="3306928" y="91440"/>
            <a:ext cx="5577840" cy="769721"/>
          </a:xfrm>
          <a:prstGeom prst="rect">
            <a:avLst/>
          </a:prstGeom>
        </p:spPr>
      </p:pic>
      <p:sp>
        <p:nvSpPr>
          <p:cNvPr id="3" name="s17_t_1"/>
          <p:cNvSpPr txBox="1"/>
          <p:nvPr/>
        </p:nvSpPr>
        <p:spPr>
          <a:xfrm>
            <a:off x="10561320" y="274320"/>
            <a:ext cx="1325880" cy="502920"/>
          </a:xfrm>
          <a:prstGeom prst="roundRect">
            <a:avLst>
              <a:gd name="adj" fmla="val 49091"/>
            </a:avLst>
          </a:prstGeom>
          <a:solidFill>
            <a:srgbClr val="1B2A4A"/>
          </a:solidFill>
          <a:ln/>
        </p:spPr>
        <p:txBody>
          <a:bodyPr wrap="square" lIns="762" tIns="762" rIns="762" bIns="762" rtlCol="0" anchor="ctr"/>
          <a:lstStyle/>
          <a:p>
            <a:pPr rtl="1" algn="ctr" indent="0" marL="0">
              <a:lnSpc>
                <a:spcPct val="108000"/>
              </a:lnSpc>
              <a:buNone/>
            </a:pPr>
            <a:r>
              <a:rPr lang="ar-SA" altLang="en-US" sz="1700" b="1" dirty="0">
                <a:solidFill>
                  <a:srgbClr val="FFFFFF"/>
                </a:solidFill>
                <a:latin typeface="Tahoma" pitchFamily="34" charset="0"/>
                <a:ea typeface="Tahoma" pitchFamily="34" charset="-122"/>
                <a:cs typeface="Tahoma" pitchFamily="34" charset="-120"/>
              </a:rPr>
              <a:t>القاعة </a:t>
            </a:r>
            <a:r>
              <a:rPr lang="ar-SA" altLang="en-US" sz="1700" b="1" dirty="0">
                <a:solidFill>
                  <a:srgbClr val="FFFFFF"/>
                </a:solidFill>
                <a:latin typeface="Tahoma" pitchFamily="34" charset="0"/>
                <a:ea typeface="Tahoma" pitchFamily="34" charset="-122"/>
                <a:cs typeface="Tahoma" pitchFamily="34" charset="-120"/>
              </a:rPr>
              <a:t>١٠</a:t>
            </a:r>
            <a:endParaRPr lang="ar-SA" sz="1700" dirty="0"/>
          </a:p>
        </p:txBody>
      </p:sp>
      <p:sp>
        <p:nvSpPr>
          <p:cNvPr id="4" name="s17_t_2"/>
          <p:cNvSpPr txBox="1"/>
          <p:nvPr/>
        </p:nvSpPr>
        <p:spPr>
          <a:xfrm>
            <a:off x="365760" y="228600"/>
            <a:ext cx="2788920" cy="603504"/>
          </a:xfrm>
          <a:prstGeom prst="roundRect">
            <a:avLst>
              <a:gd name="adj" fmla="val 39394"/>
            </a:avLst>
          </a:prstGeom>
          <a:solidFill>
            <a:srgbClr val="FFFFFF"/>
          </a:solidFill>
          <a:ln w="25400">
            <a:solidFill>
              <a:srgbClr val="8C5CFF"/>
            </a:solidFill>
            <a:prstDash val="dash"/>
          </a:ln>
        </p:spPr>
        <p:txBody>
          <a:bodyPr wrap="square" lIns="762" tIns="762" rIns="762" bIns="762" rtlCol="0" anchor="ctr"/>
          <a:lstStyle/>
          <a:p>
            <a:pPr rtl="1" algn="ctr" indent="0" marL="0">
              <a:lnSpc>
                <a:spcPct val="108000"/>
              </a:lnSpc>
              <a:buNone/>
            </a:pPr>
            <a:r>
              <a:rPr lang="ar-SA" altLang="en-US" sz="1350" b="1" dirty="0">
                <a:solidFill>
                  <a:srgbClr val="C2366F"/>
                </a:solidFill>
                <a:latin typeface="Tahoma" pitchFamily="34" charset="0"/>
                <a:ea typeface="Tahoma" pitchFamily="34" charset="-122"/>
                <a:cs typeface="Tahoma" pitchFamily="34" charset="-120"/>
              </a:rPr>
              <a:t>الاستراتيجية: </a:t>
            </a:r>
            <a:r>
              <a:rPr lang="ar-SA" altLang="en-US" sz="1350" b="1" dirty="0">
                <a:solidFill>
                  <a:srgbClr val="34405E"/>
                </a:solidFill>
                <a:latin typeface="Tahoma" pitchFamily="34" charset="0"/>
                <a:ea typeface="Tahoma" pitchFamily="34" charset="-122"/>
                <a:cs typeface="Tahoma" pitchFamily="34" charset="-120"/>
              </a:rPr>
              <a:t>رتّبي المراحل</a:t>
            </a:r>
            <a:endParaRPr lang="ar-SA" sz="1350" dirty="0"/>
          </a:p>
        </p:txBody>
      </p:sp>
      <p:sp>
        <p:nvSpPr>
          <p:cNvPr id="5" name="s17_t_3">
            <a:hlinkClick r:id="rId3" tooltip="الانتقال إلى القاعة التالية" action="ppaction://hlinksldjump"/>
          </p:cNvPr>
          <p:cNvSpPr txBox="1"/>
          <p:nvPr/>
        </p:nvSpPr>
        <p:spPr>
          <a:xfrm>
            <a:off x="2926080" y="6382512"/>
            <a:ext cx="2011680" cy="384048"/>
          </a:xfrm>
          <a:prstGeom prst="roundRect">
            <a:avLst>
              <a:gd name="adj" fmla="val 50000"/>
            </a:avLst>
          </a:prstGeom>
          <a:solidFill>
            <a:srgbClr val="5B6CFF"/>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القاعة التالية ◀</a:t>
            </a:r>
            <a:endParaRPr lang="ar-SA" sz="1600" dirty="0"/>
          </a:p>
        </p:txBody>
      </p:sp>
      <p:sp>
        <p:nvSpPr>
          <p:cNvPr id="6" name="s17_t_4">
            <a:hlinkClick r:id="rId4" tooltip="العودة إلى خريطة المتحف" action="ppaction://hlinksldjump"/>
          </p:cNvPr>
          <p:cNvSpPr txBox="1"/>
          <p:nvPr/>
        </p:nvSpPr>
        <p:spPr>
          <a:xfrm>
            <a:off x="5074920" y="6382512"/>
            <a:ext cx="2011680" cy="384048"/>
          </a:xfrm>
          <a:prstGeom prst="roundRect">
            <a:avLst>
              <a:gd name="adj" fmla="val 50000"/>
            </a:avLst>
          </a:prstGeom>
          <a:solidFill>
            <a:srgbClr val="0FA3B8"/>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خريطة المتحف</a:t>
            </a:r>
            <a:endParaRPr lang="ar-SA" sz="1600" dirty="0"/>
          </a:p>
        </p:txBody>
      </p:sp>
      <p:sp>
        <p:nvSpPr>
          <p:cNvPr id="7" name="s17_t_5">
            <a:hlinkClick r:id="rId5" tooltip="القاعة السابقة" action="ppaction://hlinksldjump"/>
          </p:cNvPr>
          <p:cNvSpPr txBox="1"/>
          <p:nvPr/>
        </p:nvSpPr>
        <p:spPr>
          <a:xfrm>
            <a:off x="7223760" y="6382512"/>
            <a:ext cx="1463040" cy="384048"/>
          </a:xfrm>
          <a:prstGeom prst="roundRect">
            <a:avLst>
              <a:gd name="adj" fmla="val 50000"/>
            </a:avLst>
          </a:prstGeom>
          <a:solidFill>
            <a:srgbClr val="8C9BB5"/>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السابقة</a:t>
            </a:r>
            <a:endParaRPr lang="ar-SA" sz="1600" dirty="0"/>
          </a:p>
        </p:txBody>
      </p:sp>
      <p:sp>
        <p:nvSpPr>
          <p:cNvPr id="8" name="s17_t_6"/>
          <p:cNvSpPr txBox="1"/>
          <p:nvPr/>
        </p:nvSpPr>
        <p:spPr>
          <a:xfrm>
            <a:off x="914400" y="1188720"/>
            <a:ext cx="10360152" cy="502920"/>
          </a:xfrm>
          <a:prstGeom prst="rect">
            <a:avLst/>
          </a:prstGeom>
          <a:noFill/>
          <a:ln/>
        </p:spPr>
        <p:txBody>
          <a:bodyPr wrap="square" lIns="762" tIns="762" rIns="762" bIns="762" rtlCol="0" anchor="ctr"/>
          <a:lstStyle/>
          <a:p>
            <a:pPr rtl="1" algn="ctr" indent="0" marL="0">
              <a:lnSpc>
                <a:spcPct val="108000"/>
              </a:lnSpc>
              <a:buNone/>
            </a:pPr>
            <a:r>
              <a:rPr lang="ar-SA" altLang="en-US" sz="1800" b="1" dirty="0">
                <a:solidFill>
                  <a:srgbClr val="8A5A00"/>
                </a:solidFill>
                <a:latin typeface="Tahoma" pitchFamily="34" charset="0"/>
                <a:ea typeface="Tahoma" pitchFamily="34" charset="-122"/>
                <a:cs typeface="Tahoma" pitchFamily="34" charset="-120"/>
              </a:rPr>
              <a:t>المراحل مبعثرة! رتّبيها شفهيًا أو في دفترك، ثم اضغطي «إظهار الترتيب الصحيح».</a:t>
            </a:r>
            <a:endParaRPr lang="ar-SA" sz="1800" dirty="0"/>
          </a:p>
        </p:txBody>
      </p:sp>
      <p:pic>
        <p:nvPicPr>
          <p:cNvPr id="9" name="s17_pic_7" descr="/tmp/claude-0/-home-user-Scienceshamah/8386cda7-7741-5ea4-8952-60ee8e67fc31/scratchpad/w4/img/scr_435x220_E3A21A_FFFFFF.png">    </p:cNvPr>
          <p:cNvPicPr>
            <a:picLocks noChangeAspect="1"/>
          </p:cNvPicPr>
          <p:nvPr/>
        </p:nvPicPr>
        <p:blipFill>
          <a:blip r:embed="rId6"/>
          <a:stretch>
            <a:fillRect/>
          </a:stretch>
        </p:blipFill>
        <p:spPr>
          <a:xfrm>
            <a:off x="7982712" y="1764792"/>
            <a:ext cx="3831336" cy="2048256"/>
          </a:xfrm>
          <a:prstGeom prst="rect">
            <a:avLst/>
          </a:prstGeom>
        </p:spPr>
      </p:pic>
      <p:sp>
        <p:nvSpPr>
          <p:cNvPr id="10" name="s17_t_8"/>
          <p:cNvSpPr txBox="1"/>
          <p:nvPr/>
        </p:nvSpPr>
        <p:spPr>
          <a:xfrm>
            <a:off x="8229600" y="2194560"/>
            <a:ext cx="3337560" cy="1188720"/>
          </a:xfrm>
          <a:prstGeom prst="rect">
            <a:avLst/>
          </a:prstGeom>
          <a:noFill/>
          <a:ln/>
        </p:spPr>
        <p:txBody>
          <a:bodyPr wrap="square" lIns="762" tIns="762" rIns="762" bIns="762" rtlCol="0" anchor="ctr"/>
          <a:lstStyle/>
          <a:p>
            <a:pPr rtl="1" algn="ctr" indent="0" marL="0">
              <a:lnSpc>
                <a:spcPct val="108000"/>
              </a:lnSpc>
              <a:buNone/>
            </a:pPr>
            <a:r>
              <a:rPr lang="ar-SA" altLang="en-US" sz="2000" b="1" dirty="0">
                <a:solidFill>
                  <a:srgbClr val="1B2A4A"/>
                </a:solidFill>
                <a:latin typeface="Tahoma" pitchFamily="34" charset="0"/>
                <a:ea typeface="Tahoma" pitchFamily="34" charset="-122"/>
                <a:cs typeface="Tahoma" pitchFamily="34" charset="-120"/>
              </a:rPr>
              <a:t>تبدأ الخلية في الانقسام.</a:t>
            </a:r>
            <a:endParaRPr lang="ar-SA" sz="2000" dirty="0"/>
          </a:p>
        </p:txBody>
      </p:sp>
      <p:sp>
        <p:nvSpPr>
          <p:cNvPr id="11" name="s17_t_9"/>
          <p:cNvSpPr txBox="1"/>
          <p:nvPr/>
        </p:nvSpPr>
        <p:spPr>
          <a:xfrm>
            <a:off x="9509760" y="3794760"/>
            <a:ext cx="777240" cy="777240"/>
          </a:xfrm>
          <a:prstGeom prst="ellipse">
            <a:avLst/>
          </a:prstGeom>
          <a:solidFill>
            <a:srgbClr val="0E7C55"/>
          </a:solidFill>
          <a:ln w="38100">
            <a:solidFill>
              <a:srgbClr val="FFFFFF"/>
            </a:solidFill>
          </a:ln>
        </p:spPr>
        <p:txBody>
          <a:bodyPr wrap="square" lIns="762" tIns="762" rIns="762" bIns="762" rtlCol="0" anchor="ctr"/>
          <a:lstStyle/>
          <a:p>
            <a:pPr rtl="1" algn="ctr" indent="0" marL="0">
              <a:lnSpc>
                <a:spcPct val="108000"/>
              </a:lnSpc>
              <a:buNone/>
            </a:pPr>
            <a:r>
              <a:rPr lang="ar-SA" altLang="en-US" sz="3000" b="1" dirty="0">
                <a:solidFill>
                  <a:srgbClr val="FFFFFF"/>
                </a:solidFill>
                <a:latin typeface="Tahoma" pitchFamily="34" charset="0"/>
                <a:ea typeface="Tahoma" pitchFamily="34" charset="-122"/>
                <a:cs typeface="Tahoma" pitchFamily="34" charset="-120"/>
              </a:rPr>
              <a:t>٢</a:t>
            </a:r>
            <a:endParaRPr lang="ar-SA" sz="3000" dirty="0"/>
          </a:p>
        </p:txBody>
      </p:sp>
      <p:pic>
        <p:nvPicPr>
          <p:cNvPr id="12" name="s17_pic_10" descr="/tmp/claude-0/-home-user-Scienceshamah/8386cda7-7741-5ea4-8952-60ee8e67fc31/scratchpad/w4/img/scr_435x220_14B88A_FFFFFF.png">    </p:cNvPr>
          <p:cNvPicPr>
            <a:picLocks noChangeAspect="1"/>
          </p:cNvPicPr>
          <p:nvPr/>
        </p:nvPicPr>
        <p:blipFill>
          <a:blip r:embed="rId7"/>
          <a:stretch>
            <a:fillRect/>
          </a:stretch>
        </p:blipFill>
        <p:spPr>
          <a:xfrm>
            <a:off x="4142232" y="1764792"/>
            <a:ext cx="3831336" cy="2048256"/>
          </a:xfrm>
          <a:prstGeom prst="rect">
            <a:avLst/>
          </a:prstGeom>
        </p:spPr>
      </p:pic>
      <p:sp>
        <p:nvSpPr>
          <p:cNvPr id="13" name="s17_t_11"/>
          <p:cNvSpPr txBox="1"/>
          <p:nvPr/>
        </p:nvSpPr>
        <p:spPr>
          <a:xfrm>
            <a:off x="4389120" y="2194560"/>
            <a:ext cx="3337560" cy="1188720"/>
          </a:xfrm>
          <a:prstGeom prst="rect">
            <a:avLst/>
          </a:prstGeom>
          <a:noFill/>
          <a:ln/>
        </p:spPr>
        <p:txBody>
          <a:bodyPr wrap="square" lIns="762" tIns="762" rIns="762" bIns="762" rtlCol="0" anchor="ctr"/>
          <a:lstStyle/>
          <a:p>
            <a:pPr rtl="1" algn="ctr" indent="0" marL="0">
              <a:lnSpc>
                <a:spcPct val="108000"/>
              </a:lnSpc>
              <a:buNone/>
            </a:pPr>
            <a:r>
              <a:rPr lang="ar-SA" altLang="en-US" sz="2000" b="1" dirty="0">
                <a:solidFill>
                  <a:srgbClr val="1B2A4A"/>
                </a:solidFill>
                <a:latin typeface="Tahoma" pitchFamily="34" charset="0"/>
                <a:ea typeface="Tahoma" pitchFamily="34" charset="-122"/>
                <a:cs typeface="Tahoma" pitchFamily="34" charset="-120"/>
              </a:rPr>
              <a:t>ينتج مخلوقان متماثلان.</a:t>
            </a:r>
            <a:endParaRPr lang="ar-SA" sz="2000" dirty="0"/>
          </a:p>
        </p:txBody>
      </p:sp>
      <p:sp>
        <p:nvSpPr>
          <p:cNvPr id="14" name="s17_t_12"/>
          <p:cNvSpPr txBox="1"/>
          <p:nvPr/>
        </p:nvSpPr>
        <p:spPr>
          <a:xfrm>
            <a:off x="5669280" y="3794760"/>
            <a:ext cx="777240" cy="777240"/>
          </a:xfrm>
          <a:prstGeom prst="ellipse">
            <a:avLst/>
          </a:prstGeom>
          <a:solidFill>
            <a:srgbClr val="0E7C55"/>
          </a:solidFill>
          <a:ln w="38100">
            <a:solidFill>
              <a:srgbClr val="FFFFFF"/>
            </a:solidFill>
          </a:ln>
        </p:spPr>
        <p:txBody>
          <a:bodyPr wrap="square" lIns="762" tIns="762" rIns="762" bIns="762" rtlCol="0" anchor="ctr"/>
          <a:lstStyle/>
          <a:p>
            <a:pPr rtl="1" algn="ctr" indent="0" marL="0">
              <a:lnSpc>
                <a:spcPct val="108000"/>
              </a:lnSpc>
              <a:buNone/>
            </a:pPr>
            <a:r>
              <a:rPr lang="ar-SA" altLang="en-US" sz="3000" b="1" dirty="0">
                <a:solidFill>
                  <a:srgbClr val="FFFFFF"/>
                </a:solidFill>
                <a:latin typeface="Tahoma" pitchFamily="34" charset="0"/>
                <a:ea typeface="Tahoma" pitchFamily="34" charset="-122"/>
                <a:cs typeface="Tahoma" pitchFamily="34" charset="-120"/>
              </a:rPr>
              <a:t>٣</a:t>
            </a:r>
            <a:endParaRPr lang="ar-SA" sz="3000" dirty="0"/>
          </a:p>
        </p:txBody>
      </p:sp>
      <p:pic>
        <p:nvPicPr>
          <p:cNvPr id="15" name="s17_pic_13" descr="/tmp/claude-0/-home-user-Scienceshamah/8386cda7-7741-5ea4-8952-60ee8e67fc31/scratchpad/w4/img/scr_435x220_8C5CFF_FFFFFF.png">    </p:cNvPr>
          <p:cNvPicPr>
            <a:picLocks noChangeAspect="1"/>
          </p:cNvPicPr>
          <p:nvPr/>
        </p:nvPicPr>
        <p:blipFill>
          <a:blip r:embed="rId8"/>
          <a:stretch>
            <a:fillRect/>
          </a:stretch>
        </p:blipFill>
        <p:spPr>
          <a:xfrm>
            <a:off x="301752" y="1764792"/>
            <a:ext cx="3831336" cy="2048256"/>
          </a:xfrm>
          <a:prstGeom prst="rect">
            <a:avLst/>
          </a:prstGeom>
        </p:spPr>
      </p:pic>
      <p:sp>
        <p:nvSpPr>
          <p:cNvPr id="16" name="s17_t_14"/>
          <p:cNvSpPr txBox="1"/>
          <p:nvPr/>
        </p:nvSpPr>
        <p:spPr>
          <a:xfrm>
            <a:off x="548640" y="2194560"/>
            <a:ext cx="3337560" cy="1188720"/>
          </a:xfrm>
          <a:prstGeom prst="rect">
            <a:avLst/>
          </a:prstGeom>
          <a:noFill/>
          <a:ln/>
        </p:spPr>
        <p:txBody>
          <a:bodyPr wrap="square" lIns="762" tIns="762" rIns="762" bIns="762" rtlCol="0" anchor="ctr"/>
          <a:lstStyle/>
          <a:p>
            <a:pPr rtl="1" algn="ctr" indent="0" marL="0">
              <a:lnSpc>
                <a:spcPct val="108000"/>
              </a:lnSpc>
              <a:buNone/>
            </a:pPr>
            <a:r>
              <a:rPr lang="ar-SA" altLang="en-US" sz="2000" b="1" dirty="0">
                <a:solidFill>
                  <a:srgbClr val="1B2A4A"/>
                </a:solidFill>
                <a:latin typeface="Tahoma" pitchFamily="34" charset="0"/>
                <a:ea typeface="Tahoma" pitchFamily="34" charset="-122"/>
                <a:cs typeface="Tahoma" pitchFamily="34" charset="-120"/>
              </a:rPr>
              <a:t>يتمّ تضاعف المادة الوراثية.</a:t>
            </a:r>
            <a:endParaRPr lang="ar-SA" sz="2000" dirty="0"/>
          </a:p>
        </p:txBody>
      </p:sp>
      <p:sp>
        <p:nvSpPr>
          <p:cNvPr id="17" name="s17_t_15"/>
          <p:cNvSpPr txBox="1"/>
          <p:nvPr/>
        </p:nvSpPr>
        <p:spPr>
          <a:xfrm>
            <a:off x="1828800" y="3794760"/>
            <a:ext cx="777240" cy="777240"/>
          </a:xfrm>
          <a:prstGeom prst="ellipse">
            <a:avLst/>
          </a:prstGeom>
          <a:solidFill>
            <a:srgbClr val="0E7C55"/>
          </a:solidFill>
          <a:ln w="38100">
            <a:solidFill>
              <a:srgbClr val="FFFFFF"/>
            </a:solidFill>
          </a:ln>
        </p:spPr>
        <p:txBody>
          <a:bodyPr wrap="square" lIns="762" tIns="762" rIns="762" bIns="762" rtlCol="0" anchor="ctr"/>
          <a:lstStyle/>
          <a:p>
            <a:pPr rtl="1" algn="ctr" indent="0" marL="0">
              <a:lnSpc>
                <a:spcPct val="108000"/>
              </a:lnSpc>
              <a:buNone/>
            </a:pPr>
            <a:r>
              <a:rPr lang="ar-SA" altLang="en-US" sz="3000" b="1" dirty="0">
                <a:solidFill>
                  <a:srgbClr val="FFFFFF"/>
                </a:solidFill>
                <a:latin typeface="Tahoma" pitchFamily="34" charset="0"/>
                <a:ea typeface="Tahoma" pitchFamily="34" charset="-122"/>
                <a:cs typeface="Tahoma" pitchFamily="34" charset="-120"/>
              </a:rPr>
              <a:t>١</a:t>
            </a:r>
            <a:endParaRPr lang="ar-SA" sz="3000" dirty="0"/>
          </a:p>
        </p:txBody>
      </p:sp>
      <p:sp>
        <p:nvSpPr>
          <p:cNvPr id="18" name="s17_t_16"/>
          <p:cNvSpPr txBox="1"/>
          <p:nvPr/>
        </p:nvSpPr>
        <p:spPr>
          <a:xfrm>
            <a:off x="4498848" y="4709160"/>
            <a:ext cx="3200400" cy="502920"/>
          </a:xfrm>
          <a:prstGeom prst="roundRect">
            <a:avLst>
              <a:gd name="adj" fmla="val 49091"/>
            </a:avLst>
          </a:prstGeom>
          <a:solidFill>
            <a:srgbClr val="E3A21A"/>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700" b="1" dirty="0">
                <a:solidFill>
                  <a:srgbClr val="FFFFFF"/>
                </a:solidFill>
                <a:latin typeface="Tahoma" pitchFamily="34" charset="0"/>
                <a:ea typeface="Tahoma" pitchFamily="34" charset="-122"/>
                <a:cs typeface="Tahoma" pitchFamily="34" charset="-120"/>
              </a:rPr>
              <a:t>👆 إظهار الترتيب الصحيح</a:t>
            </a:r>
            <a:endParaRPr lang="ar-SA" sz="1700" dirty="0"/>
          </a:p>
        </p:txBody>
      </p:sp>
      <p:pic>
        <p:nvPicPr>
          <p:cNvPr id="19" name="s17_pic_17" descr="/tmp/claude-0/-home-user-Scienceshamah/8386cda7-7741-5ea4-8952-60ee8e67fc31/scratchpad/w4/img/scr_1359x94_3D8BFF_FFFFFF.png">    </p:cNvPr>
          <p:cNvPicPr>
            <a:picLocks noChangeAspect="1"/>
          </p:cNvPicPr>
          <p:nvPr/>
        </p:nvPicPr>
        <p:blipFill>
          <a:blip r:embed="rId9"/>
          <a:stretch>
            <a:fillRect/>
          </a:stretch>
        </p:blipFill>
        <p:spPr>
          <a:xfrm>
            <a:off x="347472" y="5285232"/>
            <a:ext cx="11512296" cy="996696"/>
          </a:xfrm>
          <a:prstGeom prst="rect">
            <a:avLst/>
          </a:prstGeom>
        </p:spPr>
      </p:pic>
      <p:sp>
        <p:nvSpPr>
          <p:cNvPr id="20" name="s17_t_18"/>
          <p:cNvSpPr txBox="1"/>
          <p:nvPr/>
        </p:nvSpPr>
        <p:spPr>
          <a:xfrm>
            <a:off x="5760720" y="5422392"/>
            <a:ext cx="5852160" cy="713232"/>
          </a:xfrm>
          <a:prstGeom prst="rect">
            <a:avLst/>
          </a:prstGeom>
          <a:noFill/>
          <a:ln/>
        </p:spPr>
        <p:txBody>
          <a:bodyPr wrap="square" lIns="762" tIns="762" rIns="762" bIns="762" rtlCol="0" anchor="ctr"/>
          <a:lstStyle/>
          <a:p>
            <a:pPr rtl="1" algn="r" indent="0" marL="0">
              <a:lnSpc>
                <a:spcPct val="108000"/>
              </a:lnSpc>
              <a:buNone/>
            </a:pPr>
            <a:r>
              <a:rPr lang="ar-SA" altLang="en-US" sz="1600" b="1" dirty="0">
                <a:solidFill>
                  <a:srgbClr val="1B2A4A"/>
                </a:solidFill>
                <a:latin typeface="Tahoma" pitchFamily="34" charset="0"/>
                <a:ea typeface="Tahoma" pitchFamily="34" charset="-122"/>
                <a:cs typeface="Tahoma" pitchFamily="34" charset="-120"/>
              </a:rPr>
              <a:t>تقويم تكويني: ماذا يحدث للبراميسيوم عند الانشطار الثنائي؟</a:t>
            </a:r>
            <a:endParaRPr lang="ar-SA" sz="1600" dirty="0"/>
          </a:p>
        </p:txBody>
      </p:sp>
      <p:sp>
        <p:nvSpPr>
          <p:cNvPr id="21" name="s17_t_19"/>
          <p:cNvSpPr txBox="1"/>
          <p:nvPr/>
        </p:nvSpPr>
        <p:spPr>
          <a:xfrm>
            <a:off x="594360" y="5422392"/>
            <a:ext cx="5120640" cy="713232"/>
          </a:xfrm>
          <a:prstGeom prst="rect">
            <a:avLst/>
          </a:prstGeom>
          <a:noFill/>
          <a:ln/>
        </p:spPr>
        <p:txBody>
          <a:bodyPr wrap="square" lIns="762" tIns="762" rIns="762" bIns="762" rtlCol="0" anchor="ctr"/>
          <a:lstStyle/>
          <a:p>
            <a:pPr rtl="1" algn="r" indent="0" marL="0">
              <a:lnSpc>
                <a:spcPct val="108000"/>
              </a:lnSpc>
              <a:buNone/>
            </a:pPr>
            <a:r>
              <a:rPr lang="ar-SA" altLang="en-US" sz="1500" b="1" dirty="0">
                <a:solidFill>
                  <a:srgbClr val="0E7C55"/>
                </a:solidFill>
                <a:latin typeface="Tahoma" pitchFamily="34" charset="0"/>
                <a:ea typeface="Tahoma" pitchFamily="34" charset="-122"/>
                <a:cs typeface="Tahoma" pitchFamily="34" charset="-120"/>
              </a:rPr>
              <a:t>✔ يتضاعف عدد الأفراد؛ فينقسم إلى براميسيومين جديدين متماثلين.</a:t>
            </a:r>
            <a:endParaRPr lang="ar-SA" sz="1500" dirty="0"/>
          </a:p>
        </p:txBody>
      </p:sp>
    </p:spTree>
  </p:cSld>
  <p:clrMapOvr>
    <a:masterClrMapping/>
  </p:clrMapOvr>
  <mc:AlternateContent xmlns:mc="http://schemas.openxmlformats.org/markup-compatibility/2006">
    <mc:Choice xmlns:p14="http://schemas.microsoft.com/office/powerpoint/2010/main" Requires="p14">
      <p:transition spd="slow" p14:dur="14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21"/>
                                        </p:tgtEl>
                                        <p:attrNameLst>
                                          <p:attrName>style.visibility</p:attrName>
                                        </p:attrNameLst>
                                      </p:cBhvr>
                                      <p:to>
                                        <p:strVal val="visible"/>
                                      </p:to>
                                    </p:set>
                                    <p:anim calcmode="lin" valueType="num">
                                      <p:cBhvr>
                                        <p:cTn id="6" dur="500" fill="hold"/>
                                        <p:tgtEl>
                                          <p:spTgt spid="21"/>
                                        </p:tgtEl>
                                        <p:attrNameLst>
                                          <p:attrName>ppt_w</p:attrName>
                                        </p:attrNameLst>
                                      </p:cBhvr>
                                      <p:tavLst>
                                        <p:tav tm="0">
                                          <p:val>
                                            <p:fltVal val="0"/>
                                          </p:val>
                                        </p:tav>
                                        <p:tav tm="100000">
                                          <p:val>
                                            <p:strVal val="#ppt_w"/>
                                          </p:val>
                                        </p:tav>
                                      </p:tavLst>
                                    </p:anim>
                                    <p:anim calcmode="lin" valueType="num">
                                      <p:cBhvr>
                                        <p:cTn id="7" dur="500" fill="hold"/>
                                        <p:tgtEl>
                                          <p:spTgt spid="21"/>
                                        </p:tgtEl>
                                        <p:attrNameLst>
                                          <p:attrName>ppt_h</p:attrName>
                                        </p:attrNameLst>
                                      </p:cBhvr>
                                      <p:tavLst>
                                        <p:tav tm="0">
                                          <p:val>
                                            <p:fltVal val="0"/>
                                          </p:val>
                                        </p:tav>
                                        <p:tav tm="100000">
                                          <p:val>
                                            <p:strVal val="#ppt_h"/>
                                          </p:val>
                                        </p:tav>
                                      </p:tavLst>
                                    </p:anim>
                                    <p:animEffect transition="in" filter="fade">
                                      <p:cBhvr>
                                        <p:cTn id="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0" restart="whenNotActive" fill="hold" evtFilter="cancelBubble" nodeType="interactiveSeq">
                <p:stCondLst>
                  <p:cond evt="onClick" delay="0">
                    <p:tgtEl>
                      <p:spTgt spid="18"/>
                    </p:tgtEl>
                  </p:cond>
                </p:stCondLst>
                <p:endSync evt="end" delay="0">
                  <p:rtn val="all"/>
                </p:endSync>
                <p:childTnLst>
                  <p:par>
                    <p:cTn id="11" fill="hold">
                      <p:stCondLst>
                        <p:cond delay="0"/>
                      </p:stCondLst>
                      <p:childTnLst>
                        <p:par>
                          <p:cTn id="12" fill="hold">
                            <p:stCondLst>
                              <p:cond delay="0"/>
                            </p:stCondLst>
                            <p:childTnLst>
                              <p:par>
                                <p:cTn id="17" presetID="53" presetClass="entr" presetSubtype="16" fill="hold" grpId="0" nodeType="clickEffect">
                                  <p:stCondLst>
                                    <p:cond delay="300"/>
                                  </p:stCondLst>
                                  <p:childTnLst>
                                    <p:set>
                                      <p:cBhvr>
                                        <p:cTn id="13" dur="1" fill="hold">
                                          <p:stCondLst>
                                            <p:cond delay="0"/>
                                          </p:stCondLst>
                                        </p:cTn>
                                        <p:tgtEl>
                                          <p:spTgt spid="11"/>
                                        </p:tgtEl>
                                        <p:attrNameLst>
                                          <p:attrName>style.visibility</p:attrName>
                                        </p:attrNameLst>
                                      </p:cBhvr>
                                      <p:to>
                                        <p:strVal val="visible"/>
                                      </p:to>
                                    </p:set>
                                    <p:anim calcmode="lin" valueType="num">
                                      <p:cBhvr>
                                        <p:cTn id="14" dur="500" fill="hold"/>
                                        <p:tgtEl>
                                          <p:spTgt spid="11"/>
                                        </p:tgtEl>
                                        <p:attrNameLst>
                                          <p:attrName>ppt_w</p:attrName>
                                        </p:attrNameLst>
                                      </p:cBhvr>
                                      <p:tavLst>
                                        <p:tav tm="0">
                                          <p:val>
                                            <p:fltVal val="0"/>
                                          </p:val>
                                        </p:tav>
                                        <p:tav tm="100000">
                                          <p:val>
                                            <p:strVal val="#ppt_w"/>
                                          </p:val>
                                        </p:tav>
                                      </p:tavLst>
                                    </p:anim>
                                    <p:anim calcmode="lin" valueType="num">
                                      <p:cBhvr>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grpId="0" nodeType="withEffect">
                                  <p:stCondLst>
                                    <p:cond delay="600"/>
                                  </p:stCondLst>
                                  <p:childTnLst>
                                    <p:set>
                                      <p:cBhvr>
                                        <p:cTn id="18" dur="1" fill="hold">
                                          <p:stCondLst>
                                            <p:cond delay="0"/>
                                          </p:stCondLst>
                                        </p:cTn>
                                        <p:tgtEl>
                                          <p:spTgt spid="14"/>
                                        </p:tgtEl>
                                        <p:attrNameLst>
                                          <p:attrName>style.visibility</p:attrName>
                                        </p:attrNameLst>
                                      </p:cBhvr>
                                      <p:to>
                                        <p:strVal val="visible"/>
                                      </p:to>
                                    </p:set>
                                    <p:anim calcmode="lin" valueType="num">
                                      <p:cBhvr>
                                        <p:cTn id="19" dur="500" fill="hold"/>
                                        <p:tgtEl>
                                          <p:spTgt spid="14"/>
                                        </p:tgtEl>
                                        <p:attrNameLst>
                                          <p:attrName>ppt_w</p:attrName>
                                        </p:attrNameLst>
                                      </p:cBhvr>
                                      <p:tavLst>
                                        <p:tav tm="0">
                                          <p:val>
                                            <p:fltVal val="0"/>
                                          </p:val>
                                        </p:tav>
                                        <p:tav tm="100000">
                                          <p:val>
                                            <p:strVal val="#ppt_w"/>
                                          </p:val>
                                        </p:tav>
                                      </p:tavLst>
                                    </p:anim>
                                    <p:anim calcmode="lin" valueType="num">
                                      <p:cBhvr>
                                        <p:cTn id="20" dur="500" fill="hold"/>
                                        <p:tgtEl>
                                          <p:spTgt spid="14"/>
                                        </p:tgtEl>
                                        <p:attrNameLst>
                                          <p:attrName>ppt_h</p:attrName>
                                        </p:attrNameLst>
                                      </p:cBhvr>
                                      <p:tavLst>
                                        <p:tav tm="0">
                                          <p:val>
                                            <p:fltVal val="0"/>
                                          </p:val>
                                        </p:tav>
                                        <p:tav tm="100000">
                                          <p:val>
                                            <p:strVal val="#ppt_h"/>
                                          </p:val>
                                        </p:tav>
                                      </p:tavLst>
                                    </p:anim>
                                    <p:animEffect transition="in" filter="fade">
                                      <p:cBhvr>
                                        <p:cTn id="21" dur="500"/>
                                        <p:tgtEl>
                                          <p:spTgt spid="14"/>
                                        </p:tgtEl>
                                      </p:cBhvr>
                                    </p:animEffect>
                                  </p:childTnLst>
                                </p:cTn>
                              </p:par>
                              <p:par>
                                <p:cTn id="27" presetID="53" presetClass="entr" presetSubtype="16"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 calcmode="lin" valueType="num">
                                      <p:cBhvr>
                                        <p:cTn id="24" dur="500" fill="hold"/>
                                        <p:tgtEl>
                                          <p:spTgt spid="17"/>
                                        </p:tgtEl>
                                        <p:attrNameLst>
                                          <p:attrName>ppt_w</p:attrName>
                                        </p:attrNameLst>
                                      </p:cBhvr>
                                      <p:tavLst>
                                        <p:tav tm="0">
                                          <p:val>
                                            <p:fltVal val="0"/>
                                          </p:val>
                                        </p:tav>
                                        <p:tav tm="100000">
                                          <p:val>
                                            <p:strVal val="#ppt_w"/>
                                          </p:val>
                                        </p:tav>
                                      </p:tavLst>
                                    </p:anim>
                                    <p:anim calcmode="lin" valueType="num">
                                      <p:cBhvr>
                                        <p:cTn id="25" dur="500" fill="hold"/>
                                        <p:tgtEl>
                                          <p:spTgt spid="17"/>
                                        </p:tgtEl>
                                        <p:attrNameLst>
                                          <p:attrName>ppt_h</p:attrName>
                                        </p:attrNameLst>
                                      </p:cBhvr>
                                      <p:tavLst>
                                        <p:tav tm="0">
                                          <p:val>
                                            <p:fltVal val="0"/>
                                          </p:val>
                                        </p:tav>
                                        <p:tav tm="100000">
                                          <p:val>
                                            <p:strVal val="#ppt_h"/>
                                          </p:val>
                                        </p:tav>
                                      </p:tavLst>
                                    </p:anim>
                                    <p:animEffect transition="in" filter="fade">
                                      <p:cBhvr>
                                        <p:cTn id="26" dur="500"/>
                                        <p:tgtEl>
                                          <p:spTgt spid="17"/>
                                        </p:tgtEl>
                                      </p:cBhvr>
                                    </p:animEffect>
                                  </p:childTnLst>
                                </p:cTn>
                              </p:par>
                            </p:childTnLst>
                          </p:cTn>
                        </p:par>
                      </p:childTnLst>
                    </p:cTn>
                  </p:par>
                </p:childTnLst>
              </p:cTn>
              <p:nextCondLst>
                <p:cond evt="onClick" delay="0">
                  <p:tgtEl>
                    <p:spTgt spid="18"/>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18_sign" descr="قاعة الاقتران والأبواغ">    </p:cNvPr>
          <p:cNvPicPr>
            <a:picLocks noChangeAspect="1"/>
          </p:cNvPicPr>
          <p:nvPr/>
        </p:nvPicPr>
        <p:blipFill>
          <a:blip r:embed="rId2"/>
          <a:stretch>
            <a:fillRect/>
          </a:stretch>
        </p:blipFill>
        <p:spPr>
          <a:xfrm>
            <a:off x="4078844" y="91440"/>
            <a:ext cx="4034007" cy="868680"/>
          </a:xfrm>
          <a:prstGeom prst="rect">
            <a:avLst/>
          </a:prstGeom>
        </p:spPr>
      </p:pic>
      <p:sp>
        <p:nvSpPr>
          <p:cNvPr id="3" name="s18_t_1"/>
          <p:cNvSpPr txBox="1"/>
          <p:nvPr/>
        </p:nvSpPr>
        <p:spPr>
          <a:xfrm>
            <a:off x="10561320" y="274320"/>
            <a:ext cx="1325880" cy="502920"/>
          </a:xfrm>
          <a:prstGeom prst="roundRect">
            <a:avLst>
              <a:gd name="adj" fmla="val 49091"/>
            </a:avLst>
          </a:prstGeom>
          <a:solidFill>
            <a:srgbClr val="1B2A4A"/>
          </a:solidFill>
          <a:ln/>
        </p:spPr>
        <p:txBody>
          <a:bodyPr wrap="square" lIns="762" tIns="762" rIns="762" bIns="762" rtlCol="0" anchor="ctr"/>
          <a:lstStyle/>
          <a:p>
            <a:pPr rtl="1" algn="ctr" indent="0" marL="0">
              <a:lnSpc>
                <a:spcPct val="108000"/>
              </a:lnSpc>
              <a:buNone/>
            </a:pPr>
            <a:r>
              <a:rPr lang="ar-SA" altLang="en-US" sz="1700" b="1" dirty="0">
                <a:solidFill>
                  <a:srgbClr val="FFFFFF"/>
                </a:solidFill>
                <a:latin typeface="Tahoma" pitchFamily="34" charset="0"/>
                <a:ea typeface="Tahoma" pitchFamily="34" charset="-122"/>
                <a:cs typeface="Tahoma" pitchFamily="34" charset="-120"/>
              </a:rPr>
              <a:t>القاعة </a:t>
            </a:r>
            <a:r>
              <a:rPr lang="ar-SA" altLang="en-US" sz="1700" b="1" dirty="0">
                <a:solidFill>
                  <a:srgbClr val="FFFFFF"/>
                </a:solidFill>
                <a:latin typeface="Tahoma" pitchFamily="34" charset="0"/>
                <a:ea typeface="Tahoma" pitchFamily="34" charset="-122"/>
                <a:cs typeface="Tahoma" pitchFamily="34" charset="-120"/>
              </a:rPr>
              <a:t>١١</a:t>
            </a:r>
            <a:endParaRPr lang="ar-SA" sz="1700" dirty="0"/>
          </a:p>
        </p:txBody>
      </p:sp>
      <p:sp>
        <p:nvSpPr>
          <p:cNvPr id="4" name="s18_t_2"/>
          <p:cNvSpPr txBox="1"/>
          <p:nvPr/>
        </p:nvSpPr>
        <p:spPr>
          <a:xfrm>
            <a:off x="365760" y="228600"/>
            <a:ext cx="2788920" cy="603504"/>
          </a:xfrm>
          <a:prstGeom prst="roundRect">
            <a:avLst>
              <a:gd name="adj" fmla="val 39394"/>
            </a:avLst>
          </a:prstGeom>
          <a:solidFill>
            <a:srgbClr val="FFFFFF"/>
          </a:solidFill>
          <a:ln w="25400">
            <a:solidFill>
              <a:srgbClr val="8C5CFF"/>
            </a:solidFill>
            <a:prstDash val="dash"/>
          </a:ln>
        </p:spPr>
        <p:txBody>
          <a:bodyPr wrap="square" lIns="762" tIns="762" rIns="762" bIns="762" rtlCol="0" anchor="ctr"/>
          <a:lstStyle/>
          <a:p>
            <a:pPr rtl="1" algn="ctr" indent="0" marL="0">
              <a:lnSpc>
                <a:spcPct val="108000"/>
              </a:lnSpc>
              <a:buNone/>
            </a:pPr>
            <a:r>
              <a:rPr lang="ar-SA" altLang="en-US" sz="1350" b="1" dirty="0">
                <a:solidFill>
                  <a:srgbClr val="C2366F"/>
                </a:solidFill>
                <a:latin typeface="Tahoma" pitchFamily="34" charset="0"/>
                <a:ea typeface="Tahoma" pitchFamily="34" charset="-122"/>
                <a:cs typeface="Tahoma" pitchFamily="34" charset="-120"/>
              </a:rPr>
              <a:t>الاستراتيجية: </a:t>
            </a:r>
            <a:r>
              <a:rPr lang="ar-SA" altLang="en-US" sz="1350" b="1" dirty="0">
                <a:solidFill>
                  <a:srgbClr val="34405E"/>
                </a:solidFill>
                <a:latin typeface="Tahoma" pitchFamily="34" charset="0"/>
                <a:ea typeface="Tahoma" pitchFamily="34" charset="-122"/>
                <a:cs typeface="Tahoma" pitchFamily="34" charset="-120"/>
              </a:rPr>
              <a:t>اكتشفي الخطأ وصحّحي المفهوم</a:t>
            </a:r>
            <a:endParaRPr lang="ar-SA" sz="1350" dirty="0"/>
          </a:p>
        </p:txBody>
      </p:sp>
      <p:sp>
        <p:nvSpPr>
          <p:cNvPr id="5" name="s18_t_3">
            <a:hlinkClick r:id="rId3" tooltip="الانتقال إلى القاعة التالية" action="ppaction://hlinksldjump"/>
          </p:cNvPr>
          <p:cNvSpPr txBox="1"/>
          <p:nvPr/>
        </p:nvSpPr>
        <p:spPr>
          <a:xfrm>
            <a:off x="2926080" y="6382512"/>
            <a:ext cx="2011680" cy="384048"/>
          </a:xfrm>
          <a:prstGeom prst="roundRect">
            <a:avLst>
              <a:gd name="adj" fmla="val 50000"/>
            </a:avLst>
          </a:prstGeom>
          <a:solidFill>
            <a:srgbClr val="5B6CFF"/>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القاعة التالية ◀</a:t>
            </a:r>
            <a:endParaRPr lang="ar-SA" sz="1600" dirty="0"/>
          </a:p>
        </p:txBody>
      </p:sp>
      <p:sp>
        <p:nvSpPr>
          <p:cNvPr id="6" name="s18_t_4">
            <a:hlinkClick r:id="rId4" tooltip="العودة إلى خريطة المتحف" action="ppaction://hlinksldjump"/>
          </p:cNvPr>
          <p:cNvSpPr txBox="1"/>
          <p:nvPr/>
        </p:nvSpPr>
        <p:spPr>
          <a:xfrm>
            <a:off x="5074920" y="6382512"/>
            <a:ext cx="2011680" cy="384048"/>
          </a:xfrm>
          <a:prstGeom prst="roundRect">
            <a:avLst>
              <a:gd name="adj" fmla="val 50000"/>
            </a:avLst>
          </a:prstGeom>
          <a:solidFill>
            <a:srgbClr val="0FA3B8"/>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خريطة المتحف</a:t>
            </a:r>
            <a:endParaRPr lang="ar-SA" sz="1600" dirty="0"/>
          </a:p>
        </p:txBody>
      </p:sp>
      <p:sp>
        <p:nvSpPr>
          <p:cNvPr id="7" name="s18_t_5">
            <a:hlinkClick r:id="rId5" tooltip="القاعة السابقة" action="ppaction://hlinksldjump"/>
          </p:cNvPr>
          <p:cNvSpPr txBox="1"/>
          <p:nvPr/>
        </p:nvSpPr>
        <p:spPr>
          <a:xfrm>
            <a:off x="7223760" y="6382512"/>
            <a:ext cx="1463040" cy="384048"/>
          </a:xfrm>
          <a:prstGeom prst="roundRect">
            <a:avLst>
              <a:gd name="adj" fmla="val 50000"/>
            </a:avLst>
          </a:prstGeom>
          <a:solidFill>
            <a:srgbClr val="8C9BB5"/>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السابقة</a:t>
            </a:r>
            <a:endParaRPr lang="ar-SA" sz="1600" dirty="0"/>
          </a:p>
        </p:txBody>
      </p:sp>
      <p:pic>
        <p:nvPicPr>
          <p:cNvPr id="8" name="s18_pic_6" descr="منصة عرض زجاجية">    </p:cNvPr>
          <p:cNvPicPr>
            <a:picLocks noChangeAspect="1"/>
          </p:cNvPicPr>
          <p:nvPr/>
        </p:nvPicPr>
        <p:blipFill>
          <a:blip r:embed="rId6"/>
          <a:stretch>
            <a:fillRect/>
          </a:stretch>
        </p:blipFill>
        <p:spPr>
          <a:xfrm>
            <a:off x="502920" y="3429000"/>
            <a:ext cx="3291840" cy="2468880"/>
          </a:xfrm>
          <a:prstGeom prst="rect">
            <a:avLst/>
          </a:prstGeom>
        </p:spPr>
      </p:pic>
      <p:pic>
        <p:nvPicPr>
          <p:cNvPr id="9" name="!!conj" descr="براميسيومان أثناء الاقتران">    </p:cNvPr>
          <p:cNvPicPr>
            <a:picLocks noChangeAspect="1"/>
          </p:cNvPicPr>
          <p:nvPr/>
        </p:nvPicPr>
        <p:blipFill>
          <a:blip r:embed="rId7"/>
          <a:stretch>
            <a:fillRect/>
          </a:stretch>
        </p:blipFill>
        <p:spPr>
          <a:xfrm>
            <a:off x="548640" y="1234440"/>
            <a:ext cx="3200400" cy="1645920"/>
          </a:xfrm>
          <a:prstGeom prst="rect">
            <a:avLst/>
          </a:prstGeom>
        </p:spPr>
      </p:pic>
      <p:pic>
        <p:nvPicPr>
          <p:cNvPr id="10" name="s18_pic_7" descr="/tmp/claude-0/-home-user-Scienceshamah/8386cda7-7741-5ea4-8952-60ee8e67fc31/scratchpad/w4/img/scr_919x215_E2558F_FFFFFF.png">    </p:cNvPr>
          <p:cNvPicPr>
            <a:picLocks noChangeAspect="1"/>
          </p:cNvPicPr>
          <p:nvPr/>
        </p:nvPicPr>
        <p:blipFill>
          <a:blip r:embed="rId8"/>
          <a:stretch>
            <a:fillRect/>
          </a:stretch>
        </p:blipFill>
        <p:spPr>
          <a:xfrm>
            <a:off x="4005072" y="1078992"/>
            <a:ext cx="7854696" cy="2002536"/>
          </a:xfrm>
          <a:prstGeom prst="rect">
            <a:avLst/>
          </a:prstGeom>
        </p:spPr>
      </p:pic>
      <p:sp>
        <p:nvSpPr>
          <p:cNvPr id="11" name="s18_t_8"/>
          <p:cNvSpPr txBox="1"/>
          <p:nvPr/>
        </p:nvSpPr>
        <p:spPr>
          <a:xfrm>
            <a:off x="4251960" y="1216152"/>
            <a:ext cx="7360920" cy="1719072"/>
          </a:xfrm>
          <a:prstGeom prst="rect">
            <a:avLst/>
          </a:prstGeom>
          <a:noFill/>
          <a:ln/>
        </p:spPr>
        <p:txBody>
          <a:bodyPr wrap="square" lIns="762" tIns="762" rIns="762" bIns="762" rtlCol="0" anchor="ctr"/>
          <a:lstStyle/>
          <a:p>
            <a:pPr rtl="1" algn="r" indent="0" marL="0">
              <a:lnSpc>
                <a:spcPct val="110000"/>
              </a:lnSpc>
              <a:buNone/>
            </a:pPr>
            <a:r>
              <a:rPr lang="ar-SA" altLang="en-US" sz="1650" b="1" dirty="0">
                <a:solidFill>
                  <a:srgbClr val="B0306A"/>
                </a:solidFill>
                <a:latin typeface="Tahoma" pitchFamily="34" charset="0"/>
                <a:ea typeface="Tahoma" pitchFamily="34" charset="-122"/>
                <a:cs typeface="Tahoma" pitchFamily="34" charset="-120"/>
              </a:rPr>
              <a:t>الاقتران: </a:t>
            </a:r>
            <a:r>
              <a:rPr lang="ar-SA" altLang="en-US" sz="1650" b="1" dirty="0">
                <a:solidFill>
                  <a:srgbClr val="1B2A4A"/>
                </a:solidFill>
                <a:latin typeface="Tahoma" pitchFamily="34" charset="0"/>
                <a:ea typeface="Tahoma" pitchFamily="34" charset="-122"/>
                <a:cs typeface="Tahoma" pitchFamily="34" charset="-120"/>
              </a:rPr>
              <a:t>عملية جنسية تلتحم فيها المخلوقات الحية بعضها ببعض، وتتبادل المادة الوراثية فيما بينها، ثم ينفصل بعضها عن بعض، وينقسم كلٌّ منها بعد ذلك بالانشطار الثنائي.</a:t>
            </a:r>
            <a:endParaRPr lang="ar-SA" sz="1650" dirty="0"/>
          </a:p>
        </p:txBody>
      </p:sp>
      <p:pic>
        <p:nvPicPr>
          <p:cNvPr id="12" name="s18_pic_9" descr="/tmp/claude-0/-home-user-Scienceshamah/8386cda7-7741-5ea4-8952-60ee8e67fc31/scratchpad/w4/img/scr_919x149_E3A21A_FFFFFF.png">    </p:cNvPr>
          <p:cNvPicPr>
            <a:picLocks noChangeAspect="1"/>
          </p:cNvPicPr>
          <p:nvPr/>
        </p:nvPicPr>
        <p:blipFill>
          <a:blip r:embed="rId9"/>
          <a:stretch>
            <a:fillRect/>
          </a:stretch>
        </p:blipFill>
        <p:spPr>
          <a:xfrm>
            <a:off x="4005072" y="3044952"/>
            <a:ext cx="7854696" cy="1453896"/>
          </a:xfrm>
          <a:prstGeom prst="rect">
            <a:avLst/>
          </a:prstGeom>
        </p:spPr>
      </p:pic>
      <p:sp>
        <p:nvSpPr>
          <p:cNvPr id="13" name="s18_t_10"/>
          <p:cNvSpPr txBox="1"/>
          <p:nvPr/>
        </p:nvSpPr>
        <p:spPr>
          <a:xfrm>
            <a:off x="4251960" y="3182112"/>
            <a:ext cx="6035040" cy="1170432"/>
          </a:xfrm>
          <a:prstGeom prst="rect">
            <a:avLst/>
          </a:prstGeom>
          <a:noFill/>
          <a:ln/>
        </p:spPr>
        <p:txBody>
          <a:bodyPr wrap="square" lIns="762" tIns="762" rIns="762" bIns="762" rtlCol="0" anchor="ctr"/>
          <a:lstStyle/>
          <a:p>
            <a:pPr rtl="1" algn="r" indent="0" marL="0">
              <a:lnSpc>
                <a:spcPct val="108000"/>
              </a:lnSpc>
              <a:buNone/>
            </a:pPr>
            <a:r>
              <a:rPr lang="ar-SA" altLang="en-US" sz="1500" b="1" dirty="0">
                <a:solidFill>
                  <a:srgbClr val="8A5A00"/>
                </a:solidFill>
                <a:latin typeface="Tahoma" pitchFamily="34" charset="0"/>
                <a:ea typeface="Tahoma" pitchFamily="34" charset="-122"/>
                <a:cs typeface="Tahoma" pitchFamily="34" charset="-120"/>
              </a:rPr>
              <a:t>البوغيات: </a:t>
            </a:r>
            <a:r>
              <a:rPr lang="ar-SA" altLang="en-US" sz="1500" b="1" dirty="0">
                <a:solidFill>
                  <a:srgbClr val="1B2A4A"/>
                </a:solidFill>
                <a:latin typeface="Tahoma" pitchFamily="34" charset="0"/>
                <a:ea typeface="Tahoma" pitchFamily="34" charset="-122"/>
                <a:cs typeface="Tahoma" pitchFamily="34" charset="-120"/>
              </a:rPr>
              <a:t>طلائعيات تتكاثر بالأبواغ، تحفظ المادة الوراثية داخل غشاء يحميها حتى تتهيأ ظروف مناسبة، ومنها البلازموديوم المسبب للملاريا.</a:t>
            </a:r>
            <a:endParaRPr lang="ar-SA" sz="1500" dirty="0"/>
          </a:p>
        </p:txBody>
      </p:sp>
      <p:pic>
        <p:nvPicPr>
          <p:cNvPr id="14" name="s18_pic_11" descr="بوغ">    </p:cNvPr>
          <p:cNvPicPr>
            <a:picLocks noChangeAspect="1"/>
          </p:cNvPicPr>
          <p:nvPr/>
        </p:nvPicPr>
        <p:blipFill>
          <a:blip r:embed="rId10"/>
          <a:stretch>
            <a:fillRect/>
          </a:stretch>
        </p:blipFill>
        <p:spPr>
          <a:xfrm>
            <a:off x="10424160" y="3200400"/>
            <a:ext cx="1143000" cy="1143000"/>
          </a:xfrm>
          <a:prstGeom prst="rect">
            <a:avLst/>
          </a:prstGeom>
        </p:spPr>
      </p:pic>
      <p:pic>
        <p:nvPicPr>
          <p:cNvPr id="15" name="s18_pic_12" descr="/tmp/claude-0/-home-user-Scienceshamah/8386cda7-7741-5ea4-8952-60ee8e67fc31/scratchpad/w4/img/scr_1359x187_C2366F_FFF4F8.png">    </p:cNvPr>
          <p:cNvPicPr>
            <a:picLocks noChangeAspect="1"/>
          </p:cNvPicPr>
          <p:nvPr/>
        </p:nvPicPr>
        <p:blipFill>
          <a:blip r:embed="rId11"/>
          <a:stretch>
            <a:fillRect/>
          </a:stretch>
        </p:blipFill>
        <p:spPr>
          <a:xfrm>
            <a:off x="347472" y="4462272"/>
            <a:ext cx="11512296" cy="1773936"/>
          </a:xfrm>
          <a:prstGeom prst="rect">
            <a:avLst/>
          </a:prstGeom>
        </p:spPr>
      </p:pic>
      <p:sp>
        <p:nvSpPr>
          <p:cNvPr id="16" name="s18_t_13"/>
          <p:cNvSpPr txBox="1"/>
          <p:nvPr/>
        </p:nvSpPr>
        <p:spPr>
          <a:xfrm>
            <a:off x="640080" y="4599432"/>
            <a:ext cx="10927080" cy="594360"/>
          </a:xfrm>
          <a:prstGeom prst="rect">
            <a:avLst/>
          </a:prstGeom>
          <a:noFill/>
          <a:ln/>
        </p:spPr>
        <p:txBody>
          <a:bodyPr wrap="square" lIns="762" tIns="762" rIns="762" bIns="762" rtlCol="0" anchor="ctr"/>
          <a:lstStyle/>
          <a:p>
            <a:pPr rtl="1" algn="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 اكتشفي الخطأ: </a:t>
            </a:r>
            <a:r>
              <a:rPr lang="ar-SA" altLang="en-US" sz="1700" b="1" dirty="0">
                <a:solidFill>
                  <a:srgbClr val="1B2A4A"/>
                </a:solidFill>
                <a:latin typeface="Tahoma" pitchFamily="34" charset="0"/>
                <a:ea typeface="Tahoma" pitchFamily="34" charset="-122"/>
                <a:cs typeface="Tahoma" pitchFamily="34" charset="-120"/>
              </a:rPr>
              <a:t>«الاقتران والانشطار الثنائي عمليتان متماثلتان تمامًا». هل العبارة صحيحة؟ ولماذا؟</a:t>
            </a:r>
            <a:endParaRPr lang="ar-SA" sz="1700" dirty="0"/>
          </a:p>
        </p:txBody>
      </p:sp>
      <p:sp>
        <p:nvSpPr>
          <p:cNvPr id="17" name="s18_t_14"/>
          <p:cNvSpPr txBox="1"/>
          <p:nvPr/>
        </p:nvSpPr>
        <p:spPr>
          <a:xfrm>
            <a:off x="640080" y="5193792"/>
            <a:ext cx="10927080" cy="896112"/>
          </a:xfrm>
          <a:prstGeom prst="rect">
            <a:avLst/>
          </a:prstGeom>
          <a:noFill/>
          <a:ln/>
        </p:spPr>
        <p:txBody>
          <a:bodyPr wrap="square" lIns="762" tIns="762" rIns="762" bIns="762" rtlCol="0" anchor="ctr"/>
          <a:lstStyle/>
          <a:p>
            <a:pPr rtl="1" algn="r" indent="0" marL="0">
              <a:lnSpc>
                <a:spcPct val="108000"/>
              </a:lnSpc>
              <a:buNone/>
            </a:pPr>
            <a:r>
              <a:rPr lang="ar-SA" altLang="en-US" sz="1500" b="1" dirty="0">
                <a:solidFill>
                  <a:srgbClr val="0E7C55"/>
                </a:solidFill>
                <a:latin typeface="Tahoma" pitchFamily="34" charset="0"/>
                <a:ea typeface="Tahoma" pitchFamily="34" charset="-122"/>
                <a:cs typeface="Tahoma" pitchFamily="34" charset="-120"/>
              </a:rPr>
              <a:t>✔ التصحيح: غير صحيحة؛ في الاقتران تتبادل المخلوقات المادة الوراثية (عملية جنسية)، أما الانشطار الثنائي فينقسم فيه المخلوق إلى مخلوقين متماثلين (لاجنسي)، وهو الذي يزيد عدد الأفراد.</a:t>
            </a:r>
            <a:endParaRPr lang="ar-SA" sz="1500" dirty="0"/>
          </a:p>
        </p:txBody>
      </p:sp>
    </p:spTree>
  </p:cSld>
  <p:clrMapOvr>
    <a:masterClrMapping/>
  </p:clrMapOvr>
  <mc:AlternateContent xmlns:mc="http://schemas.openxmlformats.org/markup-compatibility/2006">
    <mc:Choice xmlns:p14="http://schemas.microsoft.com/office/powerpoint/2010/main" Requires="p14">
      <p:transition spd="slow" p14:dur="14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17"/>
                                        </p:tgtEl>
                                        <p:attrNameLst>
                                          <p:attrName>style.visibility</p:attrName>
                                        </p:attrNameLst>
                                      </p:cBhvr>
                                      <p:to>
                                        <p:strVal val="visible"/>
                                      </p:to>
                                    </p:set>
                                    <p:anim calcmode="lin" valueType="num">
                                      <p:cBhvr>
                                        <p:cTn id="6" dur="500" fill="hold"/>
                                        <p:tgtEl>
                                          <p:spTgt spid="17"/>
                                        </p:tgtEl>
                                        <p:attrNameLst>
                                          <p:attrName>ppt_w</p:attrName>
                                        </p:attrNameLst>
                                      </p:cBhvr>
                                      <p:tavLst>
                                        <p:tav tm="0">
                                          <p:val>
                                            <p:fltVal val="0"/>
                                          </p:val>
                                        </p:tav>
                                        <p:tav tm="100000">
                                          <p:val>
                                            <p:strVal val="#ppt_w"/>
                                          </p:val>
                                        </p:tav>
                                      </p:tavLst>
                                    </p:anim>
                                    <p:anim calcmode="lin" valueType="num">
                                      <p:cBhvr>
                                        <p:cTn id="7" dur="500" fill="hold"/>
                                        <p:tgtEl>
                                          <p:spTgt spid="17"/>
                                        </p:tgtEl>
                                        <p:attrNameLst>
                                          <p:attrName>ppt_h</p:attrName>
                                        </p:attrNameLst>
                                      </p:cBhvr>
                                      <p:tavLst>
                                        <p:tav tm="0">
                                          <p:val>
                                            <p:fltVal val="0"/>
                                          </p:val>
                                        </p:tav>
                                        <p:tav tm="100000">
                                          <p:val>
                                            <p:strVal val="#ppt_h"/>
                                          </p:val>
                                        </p:tav>
                                      </p:tavLst>
                                    </p:anim>
                                    <p:animEffect transition="in" filter="fade">
                                      <p:cBhvr>
                                        <p:cTn id="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19_sign" descr="مختبر التبرعم">    </p:cNvPr>
          <p:cNvPicPr>
            <a:picLocks noChangeAspect="1"/>
          </p:cNvPicPr>
          <p:nvPr/>
        </p:nvPicPr>
        <p:blipFill>
          <a:blip r:embed="rId2"/>
          <a:stretch>
            <a:fillRect/>
          </a:stretch>
        </p:blipFill>
        <p:spPr>
          <a:xfrm>
            <a:off x="4653997" y="91440"/>
            <a:ext cx="2883700" cy="868680"/>
          </a:xfrm>
          <a:prstGeom prst="rect">
            <a:avLst/>
          </a:prstGeom>
        </p:spPr>
      </p:pic>
      <p:sp>
        <p:nvSpPr>
          <p:cNvPr id="3" name="s19_t_1"/>
          <p:cNvSpPr txBox="1"/>
          <p:nvPr/>
        </p:nvSpPr>
        <p:spPr>
          <a:xfrm>
            <a:off x="10561320" y="274320"/>
            <a:ext cx="1325880" cy="502920"/>
          </a:xfrm>
          <a:prstGeom prst="roundRect">
            <a:avLst>
              <a:gd name="adj" fmla="val 49091"/>
            </a:avLst>
          </a:prstGeom>
          <a:solidFill>
            <a:srgbClr val="1B2A4A"/>
          </a:solidFill>
          <a:ln/>
        </p:spPr>
        <p:txBody>
          <a:bodyPr wrap="square" lIns="762" tIns="762" rIns="762" bIns="762" rtlCol="0" anchor="ctr"/>
          <a:lstStyle/>
          <a:p>
            <a:pPr rtl="1" algn="ctr" indent="0" marL="0">
              <a:lnSpc>
                <a:spcPct val="108000"/>
              </a:lnSpc>
              <a:buNone/>
            </a:pPr>
            <a:r>
              <a:rPr lang="ar-SA" altLang="en-US" sz="1700" b="1" dirty="0">
                <a:solidFill>
                  <a:srgbClr val="FFFFFF"/>
                </a:solidFill>
                <a:latin typeface="Tahoma" pitchFamily="34" charset="0"/>
                <a:ea typeface="Tahoma" pitchFamily="34" charset="-122"/>
                <a:cs typeface="Tahoma" pitchFamily="34" charset="-120"/>
              </a:rPr>
              <a:t>القاعة </a:t>
            </a:r>
            <a:r>
              <a:rPr lang="ar-SA" altLang="en-US" sz="1700" b="1" dirty="0">
                <a:solidFill>
                  <a:srgbClr val="FFFFFF"/>
                </a:solidFill>
                <a:latin typeface="Tahoma" pitchFamily="34" charset="0"/>
                <a:ea typeface="Tahoma" pitchFamily="34" charset="-122"/>
                <a:cs typeface="Tahoma" pitchFamily="34" charset="-120"/>
              </a:rPr>
              <a:t>١٢</a:t>
            </a:r>
            <a:endParaRPr lang="ar-SA" sz="1700" dirty="0"/>
          </a:p>
        </p:txBody>
      </p:sp>
      <p:sp>
        <p:nvSpPr>
          <p:cNvPr id="4" name="s19_t_2"/>
          <p:cNvSpPr txBox="1"/>
          <p:nvPr/>
        </p:nvSpPr>
        <p:spPr>
          <a:xfrm>
            <a:off x="365760" y="228600"/>
            <a:ext cx="2788920" cy="603504"/>
          </a:xfrm>
          <a:prstGeom prst="roundRect">
            <a:avLst>
              <a:gd name="adj" fmla="val 39394"/>
            </a:avLst>
          </a:prstGeom>
          <a:solidFill>
            <a:srgbClr val="FFFFFF"/>
          </a:solidFill>
          <a:ln w="25400">
            <a:solidFill>
              <a:srgbClr val="8C5CFF"/>
            </a:solidFill>
            <a:prstDash val="dash"/>
          </a:ln>
        </p:spPr>
        <p:txBody>
          <a:bodyPr wrap="square" lIns="762" tIns="762" rIns="762" bIns="762" rtlCol="0" anchor="ctr"/>
          <a:lstStyle/>
          <a:p>
            <a:pPr rtl="1" algn="ctr" indent="0" marL="0">
              <a:lnSpc>
                <a:spcPct val="108000"/>
              </a:lnSpc>
              <a:buNone/>
            </a:pPr>
            <a:r>
              <a:rPr lang="ar-SA" altLang="en-US" sz="1350" b="1" dirty="0">
                <a:solidFill>
                  <a:srgbClr val="C2366F"/>
                </a:solidFill>
                <a:latin typeface="Tahoma" pitchFamily="34" charset="0"/>
                <a:ea typeface="Tahoma" pitchFamily="34" charset="-122"/>
                <a:cs typeface="Tahoma" pitchFamily="34" charset="-120"/>
              </a:rPr>
              <a:t>الاستراتيجية: </a:t>
            </a:r>
            <a:r>
              <a:rPr lang="ar-SA" altLang="en-US" sz="1350" b="1" dirty="0">
                <a:solidFill>
                  <a:srgbClr val="34405E"/>
                </a:solidFill>
                <a:latin typeface="Tahoma" pitchFamily="34" charset="0"/>
                <a:ea typeface="Tahoma" pitchFamily="34" charset="-122"/>
                <a:cs typeface="Tahoma" pitchFamily="34" charset="-120"/>
              </a:rPr>
              <a:t>شاهدي – لاحظي – فسّري</a:t>
            </a:r>
            <a:endParaRPr lang="ar-SA" sz="1350" dirty="0"/>
          </a:p>
        </p:txBody>
      </p:sp>
      <p:sp>
        <p:nvSpPr>
          <p:cNvPr id="5" name="s19_t_3">
            <a:hlinkClick r:id="rId3" tooltip="الانتقال إلى القاعة التالية" action="ppaction://hlinksldjump"/>
          </p:cNvPr>
          <p:cNvSpPr txBox="1"/>
          <p:nvPr/>
        </p:nvSpPr>
        <p:spPr>
          <a:xfrm>
            <a:off x="2926080" y="6382512"/>
            <a:ext cx="2011680" cy="384048"/>
          </a:xfrm>
          <a:prstGeom prst="roundRect">
            <a:avLst>
              <a:gd name="adj" fmla="val 50000"/>
            </a:avLst>
          </a:prstGeom>
          <a:solidFill>
            <a:srgbClr val="5B6CFF"/>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القاعة التالية ◀</a:t>
            </a:r>
            <a:endParaRPr lang="ar-SA" sz="1600" dirty="0"/>
          </a:p>
        </p:txBody>
      </p:sp>
      <p:sp>
        <p:nvSpPr>
          <p:cNvPr id="6" name="s19_t_4">
            <a:hlinkClick r:id="rId4" tooltip="العودة إلى خريطة المتحف" action="ppaction://hlinksldjump"/>
          </p:cNvPr>
          <p:cNvSpPr txBox="1"/>
          <p:nvPr/>
        </p:nvSpPr>
        <p:spPr>
          <a:xfrm>
            <a:off x="5074920" y="6382512"/>
            <a:ext cx="2011680" cy="384048"/>
          </a:xfrm>
          <a:prstGeom prst="roundRect">
            <a:avLst>
              <a:gd name="adj" fmla="val 50000"/>
            </a:avLst>
          </a:prstGeom>
          <a:solidFill>
            <a:srgbClr val="0FA3B8"/>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خريطة المتحف</a:t>
            </a:r>
            <a:endParaRPr lang="ar-SA" sz="1600" dirty="0"/>
          </a:p>
        </p:txBody>
      </p:sp>
      <p:sp>
        <p:nvSpPr>
          <p:cNvPr id="7" name="s19_t_5">
            <a:hlinkClick r:id="rId5" tooltip="القاعة السابقة" action="ppaction://hlinksldjump"/>
          </p:cNvPr>
          <p:cNvSpPr txBox="1"/>
          <p:nvPr/>
        </p:nvSpPr>
        <p:spPr>
          <a:xfrm>
            <a:off x="7223760" y="6382512"/>
            <a:ext cx="1463040" cy="384048"/>
          </a:xfrm>
          <a:prstGeom prst="roundRect">
            <a:avLst>
              <a:gd name="adj" fmla="val 50000"/>
            </a:avLst>
          </a:prstGeom>
          <a:solidFill>
            <a:srgbClr val="8C9BB5"/>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السابقة</a:t>
            </a:r>
            <a:endParaRPr lang="ar-SA" sz="1600" dirty="0"/>
          </a:p>
        </p:txBody>
      </p:sp>
      <p:pic>
        <p:nvPicPr>
          <p:cNvPr id="8" name="s19_pic_6" descr="/tmp/claude-0/-home-user-Scienceshamah/8386cda7-7741-5ea4-8952-60ee8e67fc31/scratchpad/w4/img/scr_1359x116_E3A21A_FFFFFF.png">    </p:cNvPr>
          <p:cNvPicPr>
            <a:picLocks noChangeAspect="1"/>
          </p:cNvPicPr>
          <p:nvPr/>
        </p:nvPicPr>
        <p:blipFill>
          <a:blip r:embed="rId6"/>
          <a:stretch>
            <a:fillRect/>
          </a:stretch>
        </p:blipFill>
        <p:spPr>
          <a:xfrm>
            <a:off x="347472" y="1078992"/>
            <a:ext cx="11512296" cy="1179576"/>
          </a:xfrm>
          <a:prstGeom prst="rect">
            <a:avLst/>
          </a:prstGeom>
        </p:spPr>
      </p:pic>
      <p:sp>
        <p:nvSpPr>
          <p:cNvPr id="9" name="s19_t_7"/>
          <p:cNvSpPr txBox="1"/>
          <p:nvPr/>
        </p:nvSpPr>
        <p:spPr>
          <a:xfrm>
            <a:off x="640080" y="1216152"/>
            <a:ext cx="10927080" cy="896112"/>
          </a:xfrm>
          <a:prstGeom prst="rect">
            <a:avLst/>
          </a:prstGeom>
          <a:noFill/>
          <a:ln/>
        </p:spPr>
        <p:txBody>
          <a:bodyPr wrap="square" lIns="762" tIns="762" rIns="762" bIns="762" rtlCol="0" anchor="ctr"/>
          <a:lstStyle/>
          <a:p>
            <a:pPr rtl="1" algn="ctr" indent="0" marL="0">
              <a:lnSpc>
                <a:spcPct val="108000"/>
              </a:lnSpc>
              <a:buNone/>
            </a:pPr>
            <a:r>
              <a:rPr lang="ar-SA" altLang="en-US" sz="2000" b="1" dirty="0">
                <a:solidFill>
                  <a:srgbClr val="1B2A4A"/>
                </a:solidFill>
                <a:latin typeface="Tahoma" pitchFamily="34" charset="0"/>
                <a:ea typeface="Tahoma" pitchFamily="34" charset="-122"/>
                <a:cs typeface="Tahoma" pitchFamily="34" charset="-120"/>
              </a:rPr>
              <a:t>تتكاثر بعض الفطريات – ومنها الخميرة – لاجنسيًّا بالتبرعم.</a:t>
            </a:r>
            <a:endParaRPr lang="ar-SA" sz="2000" dirty="0"/>
          </a:p>
        </p:txBody>
      </p:sp>
      <p:pic>
        <p:nvPicPr>
          <p:cNvPr id="10" name="s19_pic_8" descr="/tmp/claude-0/-home-user-Scienceshamah/8386cda7-7741-5ea4-8952-60ee8e67fc31/scratchpad/w4/img/scr_325x330_E3A21A_FFFFFF.png">    </p:cNvPr>
          <p:cNvPicPr>
            <a:picLocks noChangeAspect="1"/>
          </p:cNvPicPr>
          <p:nvPr/>
        </p:nvPicPr>
        <p:blipFill>
          <a:blip r:embed="rId7"/>
          <a:stretch>
            <a:fillRect/>
          </a:stretch>
        </p:blipFill>
        <p:spPr>
          <a:xfrm>
            <a:off x="8805672" y="2267712"/>
            <a:ext cx="2916936" cy="2962656"/>
          </a:xfrm>
          <a:prstGeom prst="rect">
            <a:avLst/>
          </a:prstGeom>
        </p:spPr>
      </p:pic>
      <p:pic>
        <p:nvPicPr>
          <p:cNvPr id="11" name="s19_pic_9" descr="مرحلة 1 من التبرعم">    </p:cNvPr>
          <p:cNvPicPr>
            <a:picLocks noChangeAspect="1"/>
          </p:cNvPicPr>
          <p:nvPr/>
        </p:nvPicPr>
        <p:blipFill>
          <a:blip r:embed="rId8"/>
          <a:stretch>
            <a:fillRect/>
          </a:stretch>
        </p:blipFill>
        <p:spPr>
          <a:xfrm>
            <a:off x="9235440" y="2423160"/>
            <a:ext cx="2057400" cy="1763486"/>
          </a:xfrm>
          <a:prstGeom prst="rect">
            <a:avLst/>
          </a:prstGeom>
        </p:spPr>
      </p:pic>
      <p:sp>
        <p:nvSpPr>
          <p:cNvPr id="12" name="s19_t_10"/>
          <p:cNvSpPr txBox="1"/>
          <p:nvPr/>
        </p:nvSpPr>
        <p:spPr>
          <a:xfrm>
            <a:off x="9006840" y="2450592"/>
            <a:ext cx="457200" cy="457200"/>
          </a:xfrm>
          <a:prstGeom prst="ellipse">
            <a:avLst/>
          </a:prstGeom>
          <a:solidFill>
            <a:srgbClr val="E3A21A"/>
          </a:solidFill>
          <a:ln/>
        </p:spPr>
        <p:txBody>
          <a:bodyPr wrap="square" lIns="762" tIns="762" rIns="762" bIns="762" rtlCol="0" anchor="ctr"/>
          <a:lstStyle/>
          <a:p>
            <a:pPr rtl="1" algn="ctr" indent="0" marL="0">
              <a:lnSpc>
                <a:spcPct val="108000"/>
              </a:lnSpc>
              <a:buNone/>
            </a:pPr>
            <a:r>
              <a:rPr lang="ar-SA" altLang="en-US" sz="1800" b="1" dirty="0">
                <a:solidFill>
                  <a:srgbClr val="FFFFFF"/>
                </a:solidFill>
                <a:latin typeface="Tahoma" pitchFamily="34" charset="0"/>
                <a:ea typeface="Tahoma" pitchFamily="34" charset="-122"/>
                <a:cs typeface="Tahoma" pitchFamily="34" charset="-120"/>
              </a:rPr>
              <a:t>١</a:t>
            </a:r>
            <a:endParaRPr lang="ar-SA" sz="1800" dirty="0"/>
          </a:p>
        </p:txBody>
      </p:sp>
      <p:sp>
        <p:nvSpPr>
          <p:cNvPr id="13" name="s19_t_11"/>
          <p:cNvSpPr txBox="1"/>
          <p:nvPr/>
        </p:nvSpPr>
        <p:spPr>
          <a:xfrm>
            <a:off x="9006840" y="4206240"/>
            <a:ext cx="2514600" cy="868680"/>
          </a:xfrm>
          <a:prstGeom prst="rect">
            <a:avLst/>
          </a:prstGeom>
          <a:noFill/>
          <a:ln/>
        </p:spPr>
        <p:txBody>
          <a:bodyPr wrap="square" lIns="762" tIns="762" rIns="762" bIns="762" rtlCol="0" anchor="ctr"/>
          <a:lstStyle/>
          <a:p>
            <a:pPr rtl="1" algn="ctr" indent="0" marL="0">
              <a:lnSpc>
                <a:spcPct val="108000"/>
              </a:lnSpc>
              <a:buNone/>
            </a:pPr>
            <a:r>
              <a:rPr lang="ar-SA" altLang="en-US" sz="1450" b="1" dirty="0">
                <a:solidFill>
                  <a:srgbClr val="1B2A4A"/>
                </a:solidFill>
                <a:latin typeface="Tahoma" pitchFamily="34" charset="0"/>
                <a:ea typeface="Tahoma" pitchFamily="34" charset="-122"/>
                <a:cs typeface="Tahoma" pitchFamily="34" charset="-120"/>
              </a:rPr>
              <a:t>يتكوّن البرعم بنموّ بروز صغير على الخلية الأم.</a:t>
            </a:r>
            <a:endParaRPr lang="ar-SA" sz="1450" dirty="0"/>
          </a:p>
        </p:txBody>
      </p:sp>
      <p:pic>
        <p:nvPicPr>
          <p:cNvPr id="14" name="s19_pic_12" descr="/tmp/claude-0/-home-user-Scienceshamah/8386cda7-7741-5ea4-8952-60ee8e67fc31/scratchpad/w4/img/scr_325x330_E3A21A_FFFFFF.png">    </p:cNvPr>
          <p:cNvPicPr>
            <a:picLocks noChangeAspect="1"/>
          </p:cNvPicPr>
          <p:nvPr/>
        </p:nvPicPr>
        <p:blipFill>
          <a:blip r:embed="rId9"/>
          <a:stretch>
            <a:fillRect/>
          </a:stretch>
        </p:blipFill>
        <p:spPr>
          <a:xfrm>
            <a:off x="5971032" y="2267712"/>
            <a:ext cx="2916936" cy="2962656"/>
          </a:xfrm>
          <a:prstGeom prst="rect">
            <a:avLst/>
          </a:prstGeom>
        </p:spPr>
      </p:pic>
      <p:pic>
        <p:nvPicPr>
          <p:cNvPr id="15" name="s19_pic_13" descr="مرحلة 2 من التبرعم">    </p:cNvPr>
          <p:cNvPicPr>
            <a:picLocks noChangeAspect="1"/>
          </p:cNvPicPr>
          <p:nvPr/>
        </p:nvPicPr>
        <p:blipFill>
          <a:blip r:embed="rId10"/>
          <a:stretch>
            <a:fillRect/>
          </a:stretch>
        </p:blipFill>
        <p:spPr>
          <a:xfrm>
            <a:off x="6400800" y="2423160"/>
            <a:ext cx="2057400" cy="1763486"/>
          </a:xfrm>
          <a:prstGeom prst="rect">
            <a:avLst/>
          </a:prstGeom>
        </p:spPr>
      </p:pic>
      <p:sp>
        <p:nvSpPr>
          <p:cNvPr id="16" name="s19_t_14"/>
          <p:cNvSpPr txBox="1"/>
          <p:nvPr/>
        </p:nvSpPr>
        <p:spPr>
          <a:xfrm>
            <a:off x="6172200" y="2450592"/>
            <a:ext cx="457200" cy="457200"/>
          </a:xfrm>
          <a:prstGeom prst="ellipse">
            <a:avLst/>
          </a:prstGeom>
          <a:solidFill>
            <a:srgbClr val="E3A21A"/>
          </a:solidFill>
          <a:ln/>
        </p:spPr>
        <p:txBody>
          <a:bodyPr wrap="square" lIns="762" tIns="762" rIns="762" bIns="762" rtlCol="0" anchor="ctr"/>
          <a:lstStyle/>
          <a:p>
            <a:pPr rtl="1" algn="ctr" indent="0" marL="0">
              <a:lnSpc>
                <a:spcPct val="108000"/>
              </a:lnSpc>
              <a:buNone/>
            </a:pPr>
            <a:r>
              <a:rPr lang="ar-SA" altLang="en-US" sz="1800" b="1" dirty="0">
                <a:solidFill>
                  <a:srgbClr val="FFFFFF"/>
                </a:solidFill>
                <a:latin typeface="Tahoma" pitchFamily="34" charset="0"/>
                <a:ea typeface="Tahoma" pitchFamily="34" charset="-122"/>
                <a:cs typeface="Tahoma" pitchFamily="34" charset="-120"/>
              </a:rPr>
              <a:t>٢</a:t>
            </a:r>
            <a:endParaRPr lang="ar-SA" sz="1800" dirty="0"/>
          </a:p>
        </p:txBody>
      </p:sp>
      <p:sp>
        <p:nvSpPr>
          <p:cNvPr id="17" name="s19_t_15"/>
          <p:cNvSpPr txBox="1"/>
          <p:nvPr/>
        </p:nvSpPr>
        <p:spPr>
          <a:xfrm>
            <a:off x="6172200" y="4206240"/>
            <a:ext cx="2514600" cy="868680"/>
          </a:xfrm>
          <a:prstGeom prst="rect">
            <a:avLst/>
          </a:prstGeom>
          <a:noFill/>
          <a:ln/>
        </p:spPr>
        <p:txBody>
          <a:bodyPr wrap="square" lIns="762" tIns="762" rIns="762" bIns="762" rtlCol="0" anchor="ctr"/>
          <a:lstStyle/>
          <a:p>
            <a:pPr rtl="1" algn="ctr" indent="0" marL="0">
              <a:lnSpc>
                <a:spcPct val="108000"/>
              </a:lnSpc>
              <a:buNone/>
            </a:pPr>
            <a:r>
              <a:rPr lang="ar-SA" altLang="en-US" sz="1450" b="1" dirty="0">
                <a:solidFill>
                  <a:srgbClr val="1B2A4A"/>
                </a:solidFill>
                <a:latin typeface="Tahoma" pitchFamily="34" charset="0"/>
                <a:ea typeface="Tahoma" pitchFamily="34" charset="-122"/>
                <a:cs typeface="Tahoma" pitchFamily="34" charset="-120"/>
              </a:rPr>
              <a:t>ينمو البرعم وتنقسم نواة الخلية الأم انقسامًا متساويًا.</a:t>
            </a:r>
            <a:endParaRPr lang="ar-SA" sz="1450" dirty="0"/>
          </a:p>
        </p:txBody>
      </p:sp>
      <p:pic>
        <p:nvPicPr>
          <p:cNvPr id="18" name="s19_pic_16" descr="/tmp/claude-0/-home-user-Scienceshamah/8386cda7-7741-5ea4-8952-60ee8e67fc31/scratchpad/w4/img/scr_325x330_E3A21A_FFFFFF.png">    </p:cNvPr>
          <p:cNvPicPr>
            <a:picLocks noChangeAspect="1"/>
          </p:cNvPicPr>
          <p:nvPr/>
        </p:nvPicPr>
        <p:blipFill>
          <a:blip r:embed="rId11"/>
          <a:stretch>
            <a:fillRect/>
          </a:stretch>
        </p:blipFill>
        <p:spPr>
          <a:xfrm>
            <a:off x="3136392" y="2267712"/>
            <a:ext cx="2916936" cy="2962656"/>
          </a:xfrm>
          <a:prstGeom prst="rect">
            <a:avLst/>
          </a:prstGeom>
        </p:spPr>
      </p:pic>
      <p:pic>
        <p:nvPicPr>
          <p:cNvPr id="19" name="s19_pic_17" descr="مرحلة 3 من التبرعم">    </p:cNvPr>
          <p:cNvPicPr>
            <a:picLocks noChangeAspect="1"/>
          </p:cNvPicPr>
          <p:nvPr/>
        </p:nvPicPr>
        <p:blipFill>
          <a:blip r:embed="rId12"/>
          <a:stretch>
            <a:fillRect/>
          </a:stretch>
        </p:blipFill>
        <p:spPr>
          <a:xfrm>
            <a:off x="3566160" y="2423160"/>
            <a:ext cx="2057400" cy="1763486"/>
          </a:xfrm>
          <a:prstGeom prst="rect">
            <a:avLst/>
          </a:prstGeom>
        </p:spPr>
      </p:pic>
      <p:sp>
        <p:nvSpPr>
          <p:cNvPr id="20" name="s19_t_18"/>
          <p:cNvSpPr txBox="1"/>
          <p:nvPr/>
        </p:nvSpPr>
        <p:spPr>
          <a:xfrm>
            <a:off x="3337560" y="2450592"/>
            <a:ext cx="457200" cy="457200"/>
          </a:xfrm>
          <a:prstGeom prst="ellipse">
            <a:avLst/>
          </a:prstGeom>
          <a:solidFill>
            <a:srgbClr val="E3A21A"/>
          </a:solidFill>
          <a:ln/>
        </p:spPr>
        <p:txBody>
          <a:bodyPr wrap="square" lIns="762" tIns="762" rIns="762" bIns="762" rtlCol="0" anchor="ctr"/>
          <a:lstStyle/>
          <a:p>
            <a:pPr rtl="1" algn="ctr" indent="0" marL="0">
              <a:lnSpc>
                <a:spcPct val="108000"/>
              </a:lnSpc>
              <a:buNone/>
            </a:pPr>
            <a:r>
              <a:rPr lang="ar-SA" altLang="en-US" sz="1800" b="1" dirty="0">
                <a:solidFill>
                  <a:srgbClr val="FFFFFF"/>
                </a:solidFill>
                <a:latin typeface="Tahoma" pitchFamily="34" charset="0"/>
                <a:ea typeface="Tahoma" pitchFamily="34" charset="-122"/>
                <a:cs typeface="Tahoma" pitchFamily="34" charset="-120"/>
              </a:rPr>
              <a:t>٣</a:t>
            </a:r>
            <a:endParaRPr lang="ar-SA" sz="1800" dirty="0"/>
          </a:p>
        </p:txBody>
      </p:sp>
      <p:sp>
        <p:nvSpPr>
          <p:cNvPr id="21" name="s19_t_19"/>
          <p:cNvSpPr txBox="1"/>
          <p:nvPr/>
        </p:nvSpPr>
        <p:spPr>
          <a:xfrm>
            <a:off x="3337560" y="4206240"/>
            <a:ext cx="2514600" cy="868680"/>
          </a:xfrm>
          <a:prstGeom prst="rect">
            <a:avLst/>
          </a:prstGeom>
          <a:noFill/>
          <a:ln/>
        </p:spPr>
        <p:txBody>
          <a:bodyPr wrap="square" lIns="762" tIns="762" rIns="762" bIns="762" rtlCol="0" anchor="ctr"/>
          <a:lstStyle/>
          <a:p>
            <a:pPr rtl="1" algn="ctr" indent="0" marL="0">
              <a:lnSpc>
                <a:spcPct val="108000"/>
              </a:lnSpc>
              <a:buNone/>
            </a:pPr>
            <a:r>
              <a:rPr lang="ar-SA" altLang="en-US" sz="1450" b="1" dirty="0">
                <a:solidFill>
                  <a:srgbClr val="1B2A4A"/>
                </a:solidFill>
                <a:latin typeface="Tahoma" pitchFamily="34" charset="0"/>
                <a:ea typeface="Tahoma" pitchFamily="34" charset="-122"/>
                <a:cs typeface="Tahoma" pitchFamily="34" charset="-120"/>
              </a:rPr>
              <a:t>تصبح إحدى النواتين جزءًا من البرعم النامي.</a:t>
            </a:r>
            <a:endParaRPr lang="ar-SA" sz="1450" dirty="0"/>
          </a:p>
        </p:txBody>
      </p:sp>
      <p:pic>
        <p:nvPicPr>
          <p:cNvPr id="22" name="s19_pic_20" descr="/tmp/claude-0/-home-user-Scienceshamah/8386cda7-7741-5ea4-8952-60ee8e67fc31/scratchpad/w4/img/scr_325x330_E3A21A_FFFFFF.png">    </p:cNvPr>
          <p:cNvPicPr>
            <a:picLocks noChangeAspect="1"/>
          </p:cNvPicPr>
          <p:nvPr/>
        </p:nvPicPr>
        <p:blipFill>
          <a:blip r:embed="rId13"/>
          <a:stretch>
            <a:fillRect/>
          </a:stretch>
        </p:blipFill>
        <p:spPr>
          <a:xfrm>
            <a:off x="301752" y="2267712"/>
            <a:ext cx="2916936" cy="2962656"/>
          </a:xfrm>
          <a:prstGeom prst="rect">
            <a:avLst/>
          </a:prstGeom>
        </p:spPr>
      </p:pic>
      <p:pic>
        <p:nvPicPr>
          <p:cNvPr id="23" name="s19_pic_21" descr="مرحلة 4 من التبرعم">    </p:cNvPr>
          <p:cNvPicPr>
            <a:picLocks noChangeAspect="1"/>
          </p:cNvPicPr>
          <p:nvPr/>
        </p:nvPicPr>
        <p:blipFill>
          <a:blip r:embed="rId14"/>
          <a:stretch>
            <a:fillRect/>
          </a:stretch>
        </p:blipFill>
        <p:spPr>
          <a:xfrm>
            <a:off x="731520" y="2423160"/>
            <a:ext cx="2057400" cy="1763486"/>
          </a:xfrm>
          <a:prstGeom prst="rect">
            <a:avLst/>
          </a:prstGeom>
        </p:spPr>
      </p:pic>
      <p:sp>
        <p:nvSpPr>
          <p:cNvPr id="24" name="s19_t_22"/>
          <p:cNvSpPr txBox="1"/>
          <p:nvPr/>
        </p:nvSpPr>
        <p:spPr>
          <a:xfrm>
            <a:off x="502920" y="2450592"/>
            <a:ext cx="457200" cy="457200"/>
          </a:xfrm>
          <a:prstGeom prst="ellipse">
            <a:avLst/>
          </a:prstGeom>
          <a:solidFill>
            <a:srgbClr val="E3A21A"/>
          </a:solidFill>
          <a:ln/>
        </p:spPr>
        <p:txBody>
          <a:bodyPr wrap="square" lIns="762" tIns="762" rIns="762" bIns="762" rtlCol="0" anchor="ctr"/>
          <a:lstStyle/>
          <a:p>
            <a:pPr rtl="1" algn="ctr" indent="0" marL="0">
              <a:lnSpc>
                <a:spcPct val="108000"/>
              </a:lnSpc>
              <a:buNone/>
            </a:pPr>
            <a:r>
              <a:rPr lang="ar-SA" altLang="en-US" sz="1800" b="1" dirty="0">
                <a:solidFill>
                  <a:srgbClr val="FFFFFF"/>
                </a:solidFill>
                <a:latin typeface="Tahoma" pitchFamily="34" charset="0"/>
                <a:ea typeface="Tahoma" pitchFamily="34" charset="-122"/>
                <a:cs typeface="Tahoma" pitchFamily="34" charset="-120"/>
              </a:rPr>
              <a:t>٤</a:t>
            </a:r>
            <a:endParaRPr lang="ar-SA" sz="1800" dirty="0"/>
          </a:p>
        </p:txBody>
      </p:sp>
      <p:sp>
        <p:nvSpPr>
          <p:cNvPr id="25" name="s19_t_23"/>
          <p:cNvSpPr txBox="1"/>
          <p:nvPr/>
        </p:nvSpPr>
        <p:spPr>
          <a:xfrm>
            <a:off x="502920" y="4206240"/>
            <a:ext cx="2514600" cy="868680"/>
          </a:xfrm>
          <a:prstGeom prst="rect">
            <a:avLst/>
          </a:prstGeom>
          <a:noFill/>
          <a:ln/>
        </p:spPr>
        <p:txBody>
          <a:bodyPr wrap="square" lIns="762" tIns="762" rIns="762" bIns="762" rtlCol="0" anchor="ctr"/>
          <a:lstStyle/>
          <a:p>
            <a:pPr rtl="1" algn="ctr" indent="0" marL="0">
              <a:lnSpc>
                <a:spcPct val="108000"/>
              </a:lnSpc>
              <a:buNone/>
            </a:pPr>
            <a:r>
              <a:rPr lang="ar-SA" altLang="en-US" sz="1450" b="1" dirty="0">
                <a:solidFill>
                  <a:srgbClr val="1B2A4A"/>
                </a:solidFill>
                <a:latin typeface="Tahoma" pitchFamily="34" charset="0"/>
                <a:ea typeface="Tahoma" pitchFamily="34" charset="-122"/>
                <a:cs typeface="Tahoma" pitchFamily="34" charset="-120"/>
              </a:rPr>
              <a:t>ينفصل البرعم ويصبح مخلوقًا حيًّا جديدًا.</a:t>
            </a:r>
            <a:endParaRPr lang="ar-SA" sz="1450" dirty="0"/>
          </a:p>
        </p:txBody>
      </p:sp>
      <p:pic>
        <p:nvPicPr>
          <p:cNvPr id="26" name="s19_pic_24" descr="/tmp/claude-0/-home-user-Scienceshamah/8386cda7-7741-5ea4-8952-60ee8e67fc31/scratchpad/w4/img/scr_352x94_E3A21A_FFFFFF.png">    </p:cNvPr>
          <p:cNvPicPr>
            <a:picLocks noChangeAspect="1"/>
          </p:cNvPicPr>
          <p:nvPr/>
        </p:nvPicPr>
        <p:blipFill>
          <a:blip r:embed="rId15"/>
          <a:stretch>
            <a:fillRect/>
          </a:stretch>
        </p:blipFill>
        <p:spPr>
          <a:xfrm>
            <a:off x="347472" y="5239512"/>
            <a:ext cx="3145536" cy="996696"/>
          </a:xfrm>
          <a:prstGeom prst="rect">
            <a:avLst/>
          </a:prstGeom>
        </p:spPr>
      </p:pic>
      <p:pic>
        <p:nvPicPr>
          <p:cNvPr id="27" name="s19_pic_25" descr="خلايا خميرة تتكاثر بالتبرعم (من الكتاب)">    </p:cNvPr>
          <p:cNvPicPr>
            <a:picLocks noChangeAspect="1"/>
          </p:cNvPicPr>
          <p:nvPr/>
        </p:nvPicPr>
        <p:blipFill>
          <a:blip r:embed="rId16"/>
          <a:stretch>
            <a:fillRect/>
          </a:stretch>
        </p:blipFill>
        <p:spPr>
          <a:xfrm>
            <a:off x="530352" y="5394960"/>
            <a:ext cx="580292" cy="685800"/>
          </a:xfrm>
          <a:prstGeom prst="rect">
            <a:avLst/>
          </a:prstGeom>
        </p:spPr>
      </p:pic>
      <p:sp>
        <p:nvSpPr>
          <p:cNvPr id="28" name="s19_t_26"/>
          <p:cNvSpPr txBox="1"/>
          <p:nvPr/>
        </p:nvSpPr>
        <p:spPr>
          <a:xfrm>
            <a:off x="1280160" y="5394960"/>
            <a:ext cx="2011680" cy="685800"/>
          </a:xfrm>
          <a:prstGeom prst="rect">
            <a:avLst/>
          </a:prstGeom>
          <a:noFill/>
          <a:ln/>
        </p:spPr>
        <p:txBody>
          <a:bodyPr wrap="square" lIns="762" tIns="762" rIns="762" bIns="762" rtlCol="0" anchor="ctr"/>
          <a:lstStyle/>
          <a:p>
            <a:pPr rtl="1" algn="r" indent="0" marL="0">
              <a:lnSpc>
                <a:spcPct val="108000"/>
              </a:lnSpc>
              <a:buNone/>
            </a:pPr>
            <a:r>
              <a:rPr lang="ar-SA" altLang="en-US" sz="1400" b="1" dirty="0">
                <a:solidFill>
                  <a:srgbClr val="1B2A4A"/>
                </a:solidFill>
                <a:latin typeface="Tahoma" pitchFamily="34" charset="0"/>
                <a:ea typeface="Tahoma" pitchFamily="34" charset="-122"/>
                <a:cs typeface="Tahoma" pitchFamily="34" charset="-120"/>
              </a:rPr>
              <a:t>صورة الكتاب</a:t>
            </a:r>
            <a:endParaRPr lang="ar-SA" sz="1400" dirty="0"/>
          </a:p>
        </p:txBody>
      </p:sp>
      <p:pic>
        <p:nvPicPr>
          <p:cNvPr id="29" name="s19_pic_27" descr="/tmp/claude-0/-home-user-Scienceshamah/8386cda7-7741-5ea4-8952-60ee8e67fc31/scratchpad/w4/img/scr_979x94_3D8BFF_FFFFFF.png">    </p:cNvPr>
          <p:cNvPicPr>
            <a:picLocks noChangeAspect="1"/>
          </p:cNvPicPr>
          <p:nvPr/>
        </p:nvPicPr>
        <p:blipFill>
          <a:blip r:embed="rId17"/>
          <a:stretch>
            <a:fillRect/>
          </a:stretch>
        </p:blipFill>
        <p:spPr>
          <a:xfrm>
            <a:off x="3502152" y="5239512"/>
            <a:ext cx="8357616" cy="996696"/>
          </a:xfrm>
          <a:prstGeom prst="rect">
            <a:avLst/>
          </a:prstGeom>
        </p:spPr>
      </p:pic>
      <p:sp>
        <p:nvSpPr>
          <p:cNvPr id="30" name="s19_t_28"/>
          <p:cNvSpPr txBox="1"/>
          <p:nvPr/>
        </p:nvSpPr>
        <p:spPr>
          <a:xfrm>
            <a:off x="8595360" y="5376672"/>
            <a:ext cx="3017520" cy="713232"/>
          </a:xfrm>
          <a:prstGeom prst="rect">
            <a:avLst/>
          </a:prstGeom>
          <a:noFill/>
          <a:ln/>
        </p:spPr>
        <p:txBody>
          <a:bodyPr wrap="square" lIns="762" tIns="762" rIns="762" bIns="762" rtlCol="0" anchor="ctr"/>
          <a:lstStyle/>
          <a:p>
            <a:pPr rtl="1" algn="r" indent="0" marL="0">
              <a:lnSpc>
                <a:spcPct val="108000"/>
              </a:lnSpc>
              <a:buNone/>
            </a:pPr>
            <a:r>
              <a:rPr lang="ar-SA" altLang="en-US" sz="1500" b="1" dirty="0">
                <a:solidFill>
                  <a:srgbClr val="1B2A4A"/>
                </a:solidFill>
                <a:latin typeface="Tahoma" pitchFamily="34" charset="0"/>
                <a:ea typeface="Tahoma" pitchFamily="34" charset="-122"/>
                <a:cs typeface="Tahoma" pitchFamily="34" charset="-120"/>
              </a:rPr>
              <a:t>كيف تتكاثر الخميرة بالتبرعم؟</a:t>
            </a:r>
            <a:endParaRPr lang="ar-SA" sz="1500" dirty="0"/>
          </a:p>
        </p:txBody>
      </p:sp>
      <p:sp>
        <p:nvSpPr>
          <p:cNvPr id="31" name="s19_t_29"/>
          <p:cNvSpPr txBox="1"/>
          <p:nvPr/>
        </p:nvSpPr>
        <p:spPr>
          <a:xfrm>
            <a:off x="3703320" y="5376672"/>
            <a:ext cx="4846320" cy="713232"/>
          </a:xfrm>
          <a:prstGeom prst="rect">
            <a:avLst/>
          </a:prstGeom>
          <a:noFill/>
          <a:ln/>
        </p:spPr>
        <p:txBody>
          <a:bodyPr wrap="square" lIns="762" tIns="762" rIns="762" bIns="762" rtlCol="0" anchor="ctr"/>
          <a:lstStyle/>
          <a:p>
            <a:pPr rtl="1" algn="r" indent="0" marL="0">
              <a:lnSpc>
                <a:spcPct val="108000"/>
              </a:lnSpc>
              <a:buNone/>
            </a:pPr>
            <a:r>
              <a:rPr lang="ar-SA" altLang="en-US" sz="1350" b="1" dirty="0">
                <a:solidFill>
                  <a:srgbClr val="0E7C55"/>
                </a:solidFill>
                <a:latin typeface="Tahoma" pitchFamily="34" charset="0"/>
                <a:ea typeface="Tahoma" pitchFamily="34" charset="-122"/>
                <a:cs typeface="Tahoma" pitchFamily="34" charset="-120"/>
              </a:rPr>
              <a:t>✔ ينمو بروز (برعم) على الخلية الأم، وتنقسم نواتها، فتنتقل نواة إلى البرعم، ثم ينفصل مخلوقًا جديدًا.</a:t>
            </a:r>
            <a:endParaRPr lang="ar-SA" sz="1350" dirty="0"/>
          </a:p>
        </p:txBody>
      </p:sp>
    </p:spTree>
  </p:cSld>
  <p:clrMapOvr>
    <a:masterClrMapping/>
  </p:clrMapOvr>
  <mc:AlternateContent xmlns:mc="http://schemas.openxmlformats.org/markup-compatibility/2006">
    <mc:Choice xmlns:p14="http://schemas.microsoft.com/office/powerpoint/2010/main" Requires="p14">
      <p:transition spd="slow" p14:dur="14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10"/>
                                        </p:tgtEl>
                                        <p:attrNameLst>
                                          <p:attrName>style.visibility</p:attrName>
                                        </p:attrNameLst>
                                      </p:cBhvr>
                                      <p:to>
                                        <p:strVal val="visible"/>
                                      </p:to>
                                    </p:set>
                                    <p:anim calcmode="lin" valueType="num">
                                      <p:cBhvr>
                                        <p:cTn id="6" dur="500" fill="hold"/>
                                        <p:tgtEl>
                                          <p:spTgt spid="10"/>
                                        </p:tgtEl>
                                        <p:attrNameLst>
                                          <p:attrName>ppt_w</p:attrName>
                                        </p:attrNameLst>
                                      </p:cBhvr>
                                      <p:tavLst>
                                        <p:tav tm="0">
                                          <p:val>
                                            <p:fltVal val="0"/>
                                          </p:val>
                                        </p:tav>
                                        <p:tav tm="100000">
                                          <p:val>
                                            <p:strVal val="#ppt_w"/>
                                          </p:val>
                                        </p:tav>
                                      </p:tavLst>
                                    </p:anim>
                                    <p:anim calcmode="lin" valueType="num">
                                      <p:cBhvr>
                                        <p:cTn id="7" dur="500" fill="hold"/>
                                        <p:tgtEl>
                                          <p:spTgt spid="10"/>
                                        </p:tgtEl>
                                        <p:attrNameLst>
                                          <p:attrName>ppt_h</p:attrName>
                                        </p:attrNameLst>
                                      </p:cBhvr>
                                      <p:tavLst>
                                        <p:tav tm="0">
                                          <p:val>
                                            <p:fltVal val="0"/>
                                          </p:val>
                                        </p:tav>
                                        <p:tav tm="100000">
                                          <p:val>
                                            <p:strVal val="#ppt_h"/>
                                          </p:val>
                                        </p:tav>
                                      </p:tavLst>
                                    </p:anim>
                                    <p:animEffect transition="in" filter="fade">
                                      <p:cBhvr>
                                        <p:cTn id="8" dur="500"/>
                                        <p:tgtEl>
                                          <p:spTgt spid="10"/>
                                        </p:tgtEl>
                                      </p:cBhvr>
                                    </p:animEffect>
                                  </p:childTnLst>
                                </p:cTn>
                              </p:par>
                              <p:par>
                                <p:cTn id="14" presetID="53" presetClass="entr" presetSubtype="16"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p:cTn id="11" dur="500" fill="hold"/>
                                        <p:tgtEl>
                                          <p:spTgt spid="11"/>
                                        </p:tgtEl>
                                        <p:attrNameLst>
                                          <p:attrName>ppt_w</p:attrName>
                                        </p:attrNameLst>
                                      </p:cBhvr>
                                      <p:tavLst>
                                        <p:tav tm="0">
                                          <p:val>
                                            <p:fltVal val="0"/>
                                          </p:val>
                                        </p:tav>
                                        <p:tav tm="100000">
                                          <p:val>
                                            <p:strVal val="#ppt_w"/>
                                          </p:val>
                                        </p:tav>
                                      </p:tavLst>
                                    </p:anim>
                                    <p:anim calcmode="lin" valueType="num">
                                      <p:cBhvr>
                                        <p:cTn id="12" dur="500" fill="hold"/>
                                        <p:tgtEl>
                                          <p:spTgt spid="11"/>
                                        </p:tgtEl>
                                        <p:attrNameLst>
                                          <p:attrName>ppt_h</p:attrName>
                                        </p:attrNameLst>
                                      </p:cBhvr>
                                      <p:tavLst>
                                        <p:tav tm="0">
                                          <p:val>
                                            <p:fltVal val="0"/>
                                          </p:val>
                                        </p:tav>
                                        <p:tav tm="100000">
                                          <p:val>
                                            <p:strVal val="#ppt_h"/>
                                          </p:val>
                                        </p:tav>
                                      </p:tavLst>
                                    </p:anim>
                                    <p:animEffect transition="in" filter="fade">
                                      <p:cBhvr>
                                        <p:cTn id="13" dur="500"/>
                                        <p:tgtEl>
                                          <p:spTgt spid="11"/>
                                        </p:tgtEl>
                                      </p:cBhvr>
                                    </p:animEffect>
                                  </p:childTnLst>
                                </p:cTn>
                              </p:par>
                              <p:par>
                                <p:cTn id="19" presetID="53" presetClass="entr" presetSubtype="16"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p:cTn id="16" dur="500" fill="hold"/>
                                        <p:tgtEl>
                                          <p:spTgt spid="12"/>
                                        </p:tgtEl>
                                        <p:attrNameLst>
                                          <p:attrName>ppt_w</p:attrName>
                                        </p:attrNameLst>
                                      </p:cBhvr>
                                      <p:tavLst>
                                        <p:tav tm="0">
                                          <p:val>
                                            <p:fltVal val="0"/>
                                          </p:val>
                                        </p:tav>
                                        <p:tav tm="100000">
                                          <p:val>
                                            <p:strVal val="#ppt_w"/>
                                          </p:val>
                                        </p:tav>
                                      </p:tavLst>
                                    </p:anim>
                                    <p:anim calcmode="lin" valueType="num">
                                      <p:cBhvr>
                                        <p:cTn id="17" dur="500" fill="hold"/>
                                        <p:tgtEl>
                                          <p:spTgt spid="12"/>
                                        </p:tgtEl>
                                        <p:attrNameLst>
                                          <p:attrName>ppt_h</p:attrName>
                                        </p:attrNameLst>
                                      </p:cBhvr>
                                      <p:tavLst>
                                        <p:tav tm="0">
                                          <p:val>
                                            <p:fltVal val="0"/>
                                          </p:val>
                                        </p:tav>
                                        <p:tav tm="100000">
                                          <p:val>
                                            <p:strVal val="#ppt_h"/>
                                          </p:val>
                                        </p:tav>
                                      </p:tavLst>
                                    </p:anim>
                                    <p:animEffect transition="in" filter="fade">
                                      <p:cBhvr>
                                        <p:cTn id="18" dur="500"/>
                                        <p:tgtEl>
                                          <p:spTgt spid="12"/>
                                        </p:tgtEl>
                                      </p:cBhvr>
                                    </p:animEffect>
                                  </p:childTnLst>
                                </p:cTn>
                              </p:par>
                              <p:par>
                                <p:cTn id="24" presetID="53" presetClass="entr" presetSubtype="16"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 calcmode="lin" valueType="num">
                                      <p:cBhvr>
                                        <p:cTn id="21" dur="500" fill="hold"/>
                                        <p:tgtEl>
                                          <p:spTgt spid="13"/>
                                        </p:tgtEl>
                                        <p:attrNameLst>
                                          <p:attrName>ppt_w</p:attrName>
                                        </p:attrNameLst>
                                      </p:cBhvr>
                                      <p:tavLst>
                                        <p:tav tm="0">
                                          <p:val>
                                            <p:fltVal val="0"/>
                                          </p:val>
                                        </p:tav>
                                        <p:tav tm="100000">
                                          <p:val>
                                            <p:strVal val="#ppt_w"/>
                                          </p:val>
                                        </p:tav>
                                      </p:tavLst>
                                    </p:anim>
                                    <p:anim calcmode="lin" valueType="num">
                                      <p:cBhvr>
                                        <p:cTn id="22" dur="500" fill="hold"/>
                                        <p:tgtEl>
                                          <p:spTgt spid="13"/>
                                        </p:tgtEl>
                                        <p:attrNameLst>
                                          <p:attrName>ppt_h</p:attrName>
                                        </p:attrNameLst>
                                      </p:cBhvr>
                                      <p:tavLst>
                                        <p:tav tm="0">
                                          <p:val>
                                            <p:fltVal val="0"/>
                                          </p:val>
                                        </p:tav>
                                        <p:tav tm="100000">
                                          <p:val>
                                            <p:strVal val="#ppt_h"/>
                                          </p:val>
                                        </p:tav>
                                      </p:tavLst>
                                    </p:anim>
                                    <p:animEffect transition="in" filter="fade">
                                      <p:cBhvr>
                                        <p:cTn id="23" dur="500"/>
                                        <p:tgtEl>
                                          <p:spTgt spid="13"/>
                                        </p:tgtEl>
                                      </p:cBhvr>
                                    </p:animEffect>
                                  </p:childTnLst>
                                </p:cTn>
                              </p:par>
                            </p:childTnLst>
                          </p:cTn>
                        </p:par>
                      </p:childTnLst>
                    </p:cTn>
                  </p:par>
                  <p:par>
                    <p:cTn id="25" fill="hold">
                      <p:stCondLst>
                        <p:cond delay="indefinite"/>
                      </p:stCondLst>
                      <p:childTnLst>
                        <p:par>
                          <p:cTn id="26" fill="hold">
                            <p:stCondLst>
                              <p:cond delay="0"/>
                            </p:stCondLst>
                            <p:childTnLst>
                              <p:par>
                                <p:cTn id="31" presetID="53" presetClass="entr" presetSubtype="16"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 calcmode="lin" valueType="num">
                                      <p:cBhvr>
                                        <p:cTn id="28" dur="500" fill="hold"/>
                                        <p:tgtEl>
                                          <p:spTgt spid="14"/>
                                        </p:tgtEl>
                                        <p:attrNameLst>
                                          <p:attrName>ppt_w</p:attrName>
                                        </p:attrNameLst>
                                      </p:cBhvr>
                                      <p:tavLst>
                                        <p:tav tm="0">
                                          <p:val>
                                            <p:fltVal val="0"/>
                                          </p:val>
                                        </p:tav>
                                        <p:tav tm="100000">
                                          <p:val>
                                            <p:strVal val="#ppt_w"/>
                                          </p:val>
                                        </p:tav>
                                      </p:tavLst>
                                    </p:anim>
                                    <p:anim calcmode="lin" valueType="num">
                                      <p:cBhvr>
                                        <p:cTn id="29" dur="500" fill="hold"/>
                                        <p:tgtEl>
                                          <p:spTgt spid="14"/>
                                        </p:tgtEl>
                                        <p:attrNameLst>
                                          <p:attrName>ppt_h</p:attrName>
                                        </p:attrNameLst>
                                      </p:cBhvr>
                                      <p:tavLst>
                                        <p:tav tm="0">
                                          <p:val>
                                            <p:fltVal val="0"/>
                                          </p:val>
                                        </p:tav>
                                        <p:tav tm="100000">
                                          <p:val>
                                            <p:strVal val="#ppt_h"/>
                                          </p:val>
                                        </p:tav>
                                      </p:tavLst>
                                    </p:anim>
                                    <p:animEffect transition="in" filter="fade">
                                      <p:cBhvr>
                                        <p:cTn id="30" dur="500"/>
                                        <p:tgtEl>
                                          <p:spTgt spid="14"/>
                                        </p:tgtEl>
                                      </p:cBhvr>
                                    </p:animEffect>
                                  </p:childTnLst>
                                </p:cTn>
                              </p:par>
                              <p:par>
                                <p:cTn id="36" presetID="53" presetClass="entr" presetSubtype="16"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 calcmode="lin" valueType="num">
                                      <p:cBhvr>
                                        <p:cTn id="33" dur="500" fill="hold"/>
                                        <p:tgtEl>
                                          <p:spTgt spid="15"/>
                                        </p:tgtEl>
                                        <p:attrNameLst>
                                          <p:attrName>ppt_w</p:attrName>
                                        </p:attrNameLst>
                                      </p:cBhvr>
                                      <p:tavLst>
                                        <p:tav tm="0">
                                          <p:val>
                                            <p:fltVal val="0"/>
                                          </p:val>
                                        </p:tav>
                                        <p:tav tm="100000">
                                          <p:val>
                                            <p:strVal val="#ppt_w"/>
                                          </p:val>
                                        </p:tav>
                                      </p:tavLst>
                                    </p:anim>
                                    <p:anim calcmode="lin" valueType="num">
                                      <p:cBhvr>
                                        <p:cTn id="34" dur="500" fill="hold"/>
                                        <p:tgtEl>
                                          <p:spTgt spid="15"/>
                                        </p:tgtEl>
                                        <p:attrNameLst>
                                          <p:attrName>ppt_h</p:attrName>
                                        </p:attrNameLst>
                                      </p:cBhvr>
                                      <p:tavLst>
                                        <p:tav tm="0">
                                          <p:val>
                                            <p:fltVal val="0"/>
                                          </p:val>
                                        </p:tav>
                                        <p:tav tm="100000">
                                          <p:val>
                                            <p:strVal val="#ppt_h"/>
                                          </p:val>
                                        </p:tav>
                                      </p:tavLst>
                                    </p:anim>
                                    <p:animEffect transition="in" filter="fade">
                                      <p:cBhvr>
                                        <p:cTn id="35" dur="500"/>
                                        <p:tgtEl>
                                          <p:spTgt spid="15"/>
                                        </p:tgtEl>
                                      </p:cBhvr>
                                    </p:animEffect>
                                  </p:childTnLst>
                                </p:cTn>
                              </p:par>
                              <p:par>
                                <p:cTn id="41" presetID="53" presetClass="entr" presetSubtype="16"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 calcmode="lin" valueType="num">
                                      <p:cBhvr>
                                        <p:cTn id="38" dur="500" fill="hold"/>
                                        <p:tgtEl>
                                          <p:spTgt spid="16"/>
                                        </p:tgtEl>
                                        <p:attrNameLst>
                                          <p:attrName>ppt_w</p:attrName>
                                        </p:attrNameLst>
                                      </p:cBhvr>
                                      <p:tavLst>
                                        <p:tav tm="0">
                                          <p:val>
                                            <p:fltVal val="0"/>
                                          </p:val>
                                        </p:tav>
                                        <p:tav tm="100000">
                                          <p:val>
                                            <p:strVal val="#ppt_w"/>
                                          </p:val>
                                        </p:tav>
                                      </p:tavLst>
                                    </p:anim>
                                    <p:anim calcmode="lin" valueType="num">
                                      <p:cBhvr>
                                        <p:cTn id="39" dur="500" fill="hold"/>
                                        <p:tgtEl>
                                          <p:spTgt spid="16"/>
                                        </p:tgtEl>
                                        <p:attrNameLst>
                                          <p:attrName>ppt_h</p:attrName>
                                        </p:attrNameLst>
                                      </p:cBhvr>
                                      <p:tavLst>
                                        <p:tav tm="0">
                                          <p:val>
                                            <p:fltVal val="0"/>
                                          </p:val>
                                        </p:tav>
                                        <p:tav tm="100000">
                                          <p:val>
                                            <p:strVal val="#ppt_h"/>
                                          </p:val>
                                        </p:tav>
                                      </p:tavLst>
                                    </p:anim>
                                    <p:animEffect transition="in" filter="fade">
                                      <p:cBhvr>
                                        <p:cTn id="40" dur="500"/>
                                        <p:tgtEl>
                                          <p:spTgt spid="16"/>
                                        </p:tgtEl>
                                      </p:cBhvr>
                                    </p:animEffect>
                                  </p:childTnLst>
                                </p:cTn>
                              </p:par>
                              <p:par>
                                <p:cTn id="46" presetID="53" presetClass="entr" presetSubtype="16"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 calcmode="lin" valueType="num">
                                      <p:cBhvr>
                                        <p:cTn id="43" dur="500" fill="hold"/>
                                        <p:tgtEl>
                                          <p:spTgt spid="17"/>
                                        </p:tgtEl>
                                        <p:attrNameLst>
                                          <p:attrName>ppt_w</p:attrName>
                                        </p:attrNameLst>
                                      </p:cBhvr>
                                      <p:tavLst>
                                        <p:tav tm="0">
                                          <p:val>
                                            <p:fltVal val="0"/>
                                          </p:val>
                                        </p:tav>
                                        <p:tav tm="100000">
                                          <p:val>
                                            <p:strVal val="#ppt_w"/>
                                          </p:val>
                                        </p:tav>
                                      </p:tavLst>
                                    </p:anim>
                                    <p:anim calcmode="lin" valueType="num">
                                      <p:cBhvr>
                                        <p:cTn id="44" dur="500" fill="hold"/>
                                        <p:tgtEl>
                                          <p:spTgt spid="17"/>
                                        </p:tgtEl>
                                        <p:attrNameLst>
                                          <p:attrName>ppt_h</p:attrName>
                                        </p:attrNameLst>
                                      </p:cBhvr>
                                      <p:tavLst>
                                        <p:tav tm="0">
                                          <p:val>
                                            <p:fltVal val="0"/>
                                          </p:val>
                                        </p:tav>
                                        <p:tav tm="100000">
                                          <p:val>
                                            <p:strVal val="#ppt_h"/>
                                          </p:val>
                                        </p:tav>
                                      </p:tavLst>
                                    </p:anim>
                                    <p:animEffect transition="in" filter="fade">
                                      <p:cBhvr>
                                        <p:cTn id="45" dur="500"/>
                                        <p:tgtEl>
                                          <p:spTgt spid="17"/>
                                        </p:tgtEl>
                                      </p:cBhvr>
                                    </p:animEffect>
                                  </p:childTnLst>
                                </p:cTn>
                              </p:par>
                            </p:childTnLst>
                          </p:cTn>
                        </p:par>
                      </p:childTnLst>
                    </p:cTn>
                  </p:par>
                  <p:par>
                    <p:cTn id="47" fill="hold">
                      <p:stCondLst>
                        <p:cond delay="indefinite"/>
                      </p:stCondLst>
                      <p:childTnLst>
                        <p:par>
                          <p:cTn id="48" fill="hold">
                            <p:stCondLst>
                              <p:cond delay="0"/>
                            </p:stCondLst>
                            <p:childTnLst>
                              <p:par>
                                <p:cTn id="53" presetID="53" presetClass="entr" presetSubtype="16" fill="hold" grpId="0" nodeType="clickEffect">
                                  <p:stCondLst>
                                    <p:cond delay="0"/>
                                  </p:stCondLst>
                                  <p:childTnLst>
                                    <p:set>
                                      <p:cBhvr>
                                        <p:cTn id="49" dur="1" fill="hold">
                                          <p:stCondLst>
                                            <p:cond delay="0"/>
                                          </p:stCondLst>
                                        </p:cTn>
                                        <p:tgtEl>
                                          <p:spTgt spid="18"/>
                                        </p:tgtEl>
                                        <p:attrNameLst>
                                          <p:attrName>style.visibility</p:attrName>
                                        </p:attrNameLst>
                                      </p:cBhvr>
                                      <p:to>
                                        <p:strVal val="visible"/>
                                      </p:to>
                                    </p:set>
                                    <p:anim calcmode="lin" valueType="num">
                                      <p:cBhvr>
                                        <p:cTn id="50" dur="500" fill="hold"/>
                                        <p:tgtEl>
                                          <p:spTgt spid="18"/>
                                        </p:tgtEl>
                                        <p:attrNameLst>
                                          <p:attrName>ppt_w</p:attrName>
                                        </p:attrNameLst>
                                      </p:cBhvr>
                                      <p:tavLst>
                                        <p:tav tm="0">
                                          <p:val>
                                            <p:fltVal val="0"/>
                                          </p:val>
                                        </p:tav>
                                        <p:tav tm="100000">
                                          <p:val>
                                            <p:strVal val="#ppt_w"/>
                                          </p:val>
                                        </p:tav>
                                      </p:tavLst>
                                    </p:anim>
                                    <p:anim calcmode="lin" valueType="num">
                                      <p:cBhvr>
                                        <p:cTn id="51" dur="500" fill="hold"/>
                                        <p:tgtEl>
                                          <p:spTgt spid="18"/>
                                        </p:tgtEl>
                                        <p:attrNameLst>
                                          <p:attrName>ppt_h</p:attrName>
                                        </p:attrNameLst>
                                      </p:cBhvr>
                                      <p:tavLst>
                                        <p:tav tm="0">
                                          <p:val>
                                            <p:fltVal val="0"/>
                                          </p:val>
                                        </p:tav>
                                        <p:tav tm="100000">
                                          <p:val>
                                            <p:strVal val="#ppt_h"/>
                                          </p:val>
                                        </p:tav>
                                      </p:tavLst>
                                    </p:anim>
                                    <p:animEffect transition="in" filter="fade">
                                      <p:cBhvr>
                                        <p:cTn id="52" dur="500"/>
                                        <p:tgtEl>
                                          <p:spTgt spid="18"/>
                                        </p:tgtEl>
                                      </p:cBhvr>
                                    </p:animEffect>
                                  </p:childTnLst>
                                </p:cTn>
                              </p:par>
                              <p:par>
                                <p:cTn id="58" presetID="53" presetClass="entr" presetSubtype="16"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p:cTn id="55" dur="500" fill="hold"/>
                                        <p:tgtEl>
                                          <p:spTgt spid="19"/>
                                        </p:tgtEl>
                                        <p:attrNameLst>
                                          <p:attrName>ppt_w</p:attrName>
                                        </p:attrNameLst>
                                      </p:cBhvr>
                                      <p:tavLst>
                                        <p:tav tm="0">
                                          <p:val>
                                            <p:fltVal val="0"/>
                                          </p:val>
                                        </p:tav>
                                        <p:tav tm="100000">
                                          <p:val>
                                            <p:strVal val="#ppt_w"/>
                                          </p:val>
                                        </p:tav>
                                      </p:tavLst>
                                    </p:anim>
                                    <p:anim calcmode="lin" valueType="num">
                                      <p:cBhvr>
                                        <p:cTn id="56" dur="500" fill="hold"/>
                                        <p:tgtEl>
                                          <p:spTgt spid="19"/>
                                        </p:tgtEl>
                                        <p:attrNameLst>
                                          <p:attrName>ppt_h</p:attrName>
                                        </p:attrNameLst>
                                      </p:cBhvr>
                                      <p:tavLst>
                                        <p:tav tm="0">
                                          <p:val>
                                            <p:fltVal val="0"/>
                                          </p:val>
                                        </p:tav>
                                        <p:tav tm="100000">
                                          <p:val>
                                            <p:strVal val="#ppt_h"/>
                                          </p:val>
                                        </p:tav>
                                      </p:tavLst>
                                    </p:anim>
                                    <p:animEffect transition="in" filter="fade">
                                      <p:cBhvr>
                                        <p:cTn id="57" dur="500"/>
                                        <p:tgtEl>
                                          <p:spTgt spid="19"/>
                                        </p:tgtEl>
                                      </p:cBhvr>
                                    </p:animEffect>
                                  </p:childTnLst>
                                </p:cTn>
                              </p:par>
                              <p:par>
                                <p:cTn id="63" presetID="53" presetClass="entr" presetSubtype="16"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 calcmode="lin" valueType="num">
                                      <p:cBhvr>
                                        <p:cTn id="60" dur="500" fill="hold"/>
                                        <p:tgtEl>
                                          <p:spTgt spid="20"/>
                                        </p:tgtEl>
                                        <p:attrNameLst>
                                          <p:attrName>ppt_w</p:attrName>
                                        </p:attrNameLst>
                                      </p:cBhvr>
                                      <p:tavLst>
                                        <p:tav tm="0">
                                          <p:val>
                                            <p:fltVal val="0"/>
                                          </p:val>
                                        </p:tav>
                                        <p:tav tm="100000">
                                          <p:val>
                                            <p:strVal val="#ppt_w"/>
                                          </p:val>
                                        </p:tav>
                                      </p:tavLst>
                                    </p:anim>
                                    <p:anim calcmode="lin" valueType="num">
                                      <p:cBhvr>
                                        <p:cTn id="61" dur="500" fill="hold"/>
                                        <p:tgtEl>
                                          <p:spTgt spid="20"/>
                                        </p:tgtEl>
                                        <p:attrNameLst>
                                          <p:attrName>ppt_h</p:attrName>
                                        </p:attrNameLst>
                                      </p:cBhvr>
                                      <p:tavLst>
                                        <p:tav tm="0">
                                          <p:val>
                                            <p:fltVal val="0"/>
                                          </p:val>
                                        </p:tav>
                                        <p:tav tm="100000">
                                          <p:val>
                                            <p:strVal val="#ppt_h"/>
                                          </p:val>
                                        </p:tav>
                                      </p:tavLst>
                                    </p:anim>
                                    <p:animEffect transition="in" filter="fade">
                                      <p:cBhvr>
                                        <p:cTn id="62" dur="500"/>
                                        <p:tgtEl>
                                          <p:spTgt spid="20"/>
                                        </p:tgtEl>
                                      </p:cBhvr>
                                    </p:animEffect>
                                  </p:childTnLst>
                                </p:cTn>
                              </p:par>
                              <p:par>
                                <p:cTn id="68" presetID="53" presetClass="entr" presetSubtype="16" fill="hold" grpId="0" nodeType="withEffect">
                                  <p:stCondLst>
                                    <p:cond delay="0"/>
                                  </p:stCondLst>
                                  <p:childTnLst>
                                    <p:set>
                                      <p:cBhvr>
                                        <p:cTn id="64" dur="1" fill="hold">
                                          <p:stCondLst>
                                            <p:cond delay="0"/>
                                          </p:stCondLst>
                                        </p:cTn>
                                        <p:tgtEl>
                                          <p:spTgt spid="21"/>
                                        </p:tgtEl>
                                        <p:attrNameLst>
                                          <p:attrName>style.visibility</p:attrName>
                                        </p:attrNameLst>
                                      </p:cBhvr>
                                      <p:to>
                                        <p:strVal val="visible"/>
                                      </p:to>
                                    </p:set>
                                    <p:anim calcmode="lin" valueType="num">
                                      <p:cBhvr>
                                        <p:cTn id="65" dur="500" fill="hold"/>
                                        <p:tgtEl>
                                          <p:spTgt spid="21"/>
                                        </p:tgtEl>
                                        <p:attrNameLst>
                                          <p:attrName>ppt_w</p:attrName>
                                        </p:attrNameLst>
                                      </p:cBhvr>
                                      <p:tavLst>
                                        <p:tav tm="0">
                                          <p:val>
                                            <p:fltVal val="0"/>
                                          </p:val>
                                        </p:tav>
                                        <p:tav tm="100000">
                                          <p:val>
                                            <p:strVal val="#ppt_w"/>
                                          </p:val>
                                        </p:tav>
                                      </p:tavLst>
                                    </p:anim>
                                    <p:anim calcmode="lin" valueType="num">
                                      <p:cBhvr>
                                        <p:cTn id="66" dur="500" fill="hold"/>
                                        <p:tgtEl>
                                          <p:spTgt spid="21"/>
                                        </p:tgtEl>
                                        <p:attrNameLst>
                                          <p:attrName>ppt_h</p:attrName>
                                        </p:attrNameLst>
                                      </p:cBhvr>
                                      <p:tavLst>
                                        <p:tav tm="0">
                                          <p:val>
                                            <p:fltVal val="0"/>
                                          </p:val>
                                        </p:tav>
                                        <p:tav tm="100000">
                                          <p:val>
                                            <p:strVal val="#ppt_h"/>
                                          </p:val>
                                        </p:tav>
                                      </p:tavLst>
                                    </p:anim>
                                    <p:animEffect transition="in" filter="fade">
                                      <p:cBhvr>
                                        <p:cTn id="67" dur="500"/>
                                        <p:tgtEl>
                                          <p:spTgt spid="21"/>
                                        </p:tgtEl>
                                      </p:cBhvr>
                                    </p:animEffect>
                                  </p:childTnLst>
                                </p:cTn>
                              </p:par>
                            </p:childTnLst>
                          </p:cTn>
                        </p:par>
                      </p:childTnLst>
                    </p:cTn>
                  </p:par>
                  <p:par>
                    <p:cTn id="69" fill="hold">
                      <p:stCondLst>
                        <p:cond delay="indefinite"/>
                      </p:stCondLst>
                      <p:childTnLst>
                        <p:par>
                          <p:cTn id="70" fill="hold">
                            <p:stCondLst>
                              <p:cond delay="0"/>
                            </p:stCondLst>
                            <p:childTnLst>
                              <p:par>
                                <p:cTn id="75" presetID="53" presetClass="entr" presetSubtype="16" fill="hold" grpId="0" nodeType="clickEffect">
                                  <p:stCondLst>
                                    <p:cond delay="0"/>
                                  </p:stCondLst>
                                  <p:childTnLst>
                                    <p:set>
                                      <p:cBhvr>
                                        <p:cTn id="71" dur="1" fill="hold">
                                          <p:stCondLst>
                                            <p:cond delay="0"/>
                                          </p:stCondLst>
                                        </p:cTn>
                                        <p:tgtEl>
                                          <p:spTgt spid="22"/>
                                        </p:tgtEl>
                                        <p:attrNameLst>
                                          <p:attrName>style.visibility</p:attrName>
                                        </p:attrNameLst>
                                      </p:cBhvr>
                                      <p:to>
                                        <p:strVal val="visible"/>
                                      </p:to>
                                    </p:set>
                                    <p:anim calcmode="lin" valueType="num">
                                      <p:cBhvr>
                                        <p:cTn id="72" dur="500" fill="hold"/>
                                        <p:tgtEl>
                                          <p:spTgt spid="22"/>
                                        </p:tgtEl>
                                        <p:attrNameLst>
                                          <p:attrName>ppt_w</p:attrName>
                                        </p:attrNameLst>
                                      </p:cBhvr>
                                      <p:tavLst>
                                        <p:tav tm="0">
                                          <p:val>
                                            <p:fltVal val="0"/>
                                          </p:val>
                                        </p:tav>
                                        <p:tav tm="100000">
                                          <p:val>
                                            <p:strVal val="#ppt_w"/>
                                          </p:val>
                                        </p:tav>
                                      </p:tavLst>
                                    </p:anim>
                                    <p:anim calcmode="lin" valueType="num">
                                      <p:cBhvr>
                                        <p:cTn id="73" dur="500" fill="hold"/>
                                        <p:tgtEl>
                                          <p:spTgt spid="22"/>
                                        </p:tgtEl>
                                        <p:attrNameLst>
                                          <p:attrName>ppt_h</p:attrName>
                                        </p:attrNameLst>
                                      </p:cBhvr>
                                      <p:tavLst>
                                        <p:tav tm="0">
                                          <p:val>
                                            <p:fltVal val="0"/>
                                          </p:val>
                                        </p:tav>
                                        <p:tav tm="100000">
                                          <p:val>
                                            <p:strVal val="#ppt_h"/>
                                          </p:val>
                                        </p:tav>
                                      </p:tavLst>
                                    </p:anim>
                                    <p:animEffect transition="in" filter="fade">
                                      <p:cBhvr>
                                        <p:cTn id="74" dur="500"/>
                                        <p:tgtEl>
                                          <p:spTgt spid="22"/>
                                        </p:tgtEl>
                                      </p:cBhvr>
                                    </p:animEffect>
                                  </p:childTnLst>
                                </p:cTn>
                              </p:par>
                              <p:par>
                                <p:cTn id="80" presetID="53" presetClass="entr" presetSubtype="16" fill="hold" grpId="0" nodeType="withEffect">
                                  <p:stCondLst>
                                    <p:cond delay="0"/>
                                  </p:stCondLst>
                                  <p:childTnLst>
                                    <p:set>
                                      <p:cBhvr>
                                        <p:cTn id="76" dur="1" fill="hold">
                                          <p:stCondLst>
                                            <p:cond delay="0"/>
                                          </p:stCondLst>
                                        </p:cTn>
                                        <p:tgtEl>
                                          <p:spTgt spid="23"/>
                                        </p:tgtEl>
                                        <p:attrNameLst>
                                          <p:attrName>style.visibility</p:attrName>
                                        </p:attrNameLst>
                                      </p:cBhvr>
                                      <p:to>
                                        <p:strVal val="visible"/>
                                      </p:to>
                                    </p:set>
                                    <p:anim calcmode="lin" valueType="num">
                                      <p:cBhvr>
                                        <p:cTn id="77" dur="500" fill="hold"/>
                                        <p:tgtEl>
                                          <p:spTgt spid="23"/>
                                        </p:tgtEl>
                                        <p:attrNameLst>
                                          <p:attrName>ppt_w</p:attrName>
                                        </p:attrNameLst>
                                      </p:cBhvr>
                                      <p:tavLst>
                                        <p:tav tm="0">
                                          <p:val>
                                            <p:fltVal val="0"/>
                                          </p:val>
                                        </p:tav>
                                        <p:tav tm="100000">
                                          <p:val>
                                            <p:strVal val="#ppt_w"/>
                                          </p:val>
                                        </p:tav>
                                      </p:tavLst>
                                    </p:anim>
                                    <p:anim calcmode="lin" valueType="num">
                                      <p:cBhvr>
                                        <p:cTn id="78" dur="500" fill="hold"/>
                                        <p:tgtEl>
                                          <p:spTgt spid="23"/>
                                        </p:tgtEl>
                                        <p:attrNameLst>
                                          <p:attrName>ppt_h</p:attrName>
                                        </p:attrNameLst>
                                      </p:cBhvr>
                                      <p:tavLst>
                                        <p:tav tm="0">
                                          <p:val>
                                            <p:fltVal val="0"/>
                                          </p:val>
                                        </p:tav>
                                        <p:tav tm="100000">
                                          <p:val>
                                            <p:strVal val="#ppt_h"/>
                                          </p:val>
                                        </p:tav>
                                      </p:tavLst>
                                    </p:anim>
                                    <p:animEffect transition="in" filter="fade">
                                      <p:cBhvr>
                                        <p:cTn id="79" dur="500"/>
                                        <p:tgtEl>
                                          <p:spTgt spid="23"/>
                                        </p:tgtEl>
                                      </p:cBhvr>
                                    </p:animEffect>
                                  </p:childTnLst>
                                </p:cTn>
                              </p:par>
                              <p:par>
                                <p:cTn id="85" presetID="53" presetClass="entr" presetSubtype="16" fill="hold" grpId="0" nodeType="withEffect">
                                  <p:stCondLst>
                                    <p:cond delay="0"/>
                                  </p:stCondLst>
                                  <p:childTnLst>
                                    <p:set>
                                      <p:cBhvr>
                                        <p:cTn id="81" dur="1" fill="hold">
                                          <p:stCondLst>
                                            <p:cond delay="0"/>
                                          </p:stCondLst>
                                        </p:cTn>
                                        <p:tgtEl>
                                          <p:spTgt spid="24"/>
                                        </p:tgtEl>
                                        <p:attrNameLst>
                                          <p:attrName>style.visibility</p:attrName>
                                        </p:attrNameLst>
                                      </p:cBhvr>
                                      <p:to>
                                        <p:strVal val="visible"/>
                                      </p:to>
                                    </p:set>
                                    <p:anim calcmode="lin" valueType="num">
                                      <p:cBhvr>
                                        <p:cTn id="82" dur="500" fill="hold"/>
                                        <p:tgtEl>
                                          <p:spTgt spid="24"/>
                                        </p:tgtEl>
                                        <p:attrNameLst>
                                          <p:attrName>ppt_w</p:attrName>
                                        </p:attrNameLst>
                                      </p:cBhvr>
                                      <p:tavLst>
                                        <p:tav tm="0">
                                          <p:val>
                                            <p:fltVal val="0"/>
                                          </p:val>
                                        </p:tav>
                                        <p:tav tm="100000">
                                          <p:val>
                                            <p:strVal val="#ppt_w"/>
                                          </p:val>
                                        </p:tav>
                                      </p:tavLst>
                                    </p:anim>
                                    <p:anim calcmode="lin" valueType="num">
                                      <p:cBhvr>
                                        <p:cTn id="83" dur="500" fill="hold"/>
                                        <p:tgtEl>
                                          <p:spTgt spid="24"/>
                                        </p:tgtEl>
                                        <p:attrNameLst>
                                          <p:attrName>ppt_h</p:attrName>
                                        </p:attrNameLst>
                                      </p:cBhvr>
                                      <p:tavLst>
                                        <p:tav tm="0">
                                          <p:val>
                                            <p:fltVal val="0"/>
                                          </p:val>
                                        </p:tav>
                                        <p:tav tm="100000">
                                          <p:val>
                                            <p:strVal val="#ppt_h"/>
                                          </p:val>
                                        </p:tav>
                                      </p:tavLst>
                                    </p:anim>
                                    <p:animEffect transition="in" filter="fade">
                                      <p:cBhvr>
                                        <p:cTn id="84" dur="500"/>
                                        <p:tgtEl>
                                          <p:spTgt spid="24"/>
                                        </p:tgtEl>
                                      </p:cBhvr>
                                    </p:animEffect>
                                  </p:childTnLst>
                                </p:cTn>
                              </p:par>
                              <p:par>
                                <p:cTn id="90" presetID="53" presetClass="entr" presetSubtype="16" fill="hold" grpId="0" nodeType="withEffect">
                                  <p:stCondLst>
                                    <p:cond delay="0"/>
                                  </p:stCondLst>
                                  <p:childTnLst>
                                    <p:set>
                                      <p:cBhvr>
                                        <p:cTn id="86" dur="1" fill="hold">
                                          <p:stCondLst>
                                            <p:cond delay="0"/>
                                          </p:stCondLst>
                                        </p:cTn>
                                        <p:tgtEl>
                                          <p:spTgt spid="25"/>
                                        </p:tgtEl>
                                        <p:attrNameLst>
                                          <p:attrName>style.visibility</p:attrName>
                                        </p:attrNameLst>
                                      </p:cBhvr>
                                      <p:to>
                                        <p:strVal val="visible"/>
                                      </p:to>
                                    </p:set>
                                    <p:anim calcmode="lin" valueType="num">
                                      <p:cBhvr>
                                        <p:cTn id="87" dur="500" fill="hold"/>
                                        <p:tgtEl>
                                          <p:spTgt spid="25"/>
                                        </p:tgtEl>
                                        <p:attrNameLst>
                                          <p:attrName>ppt_w</p:attrName>
                                        </p:attrNameLst>
                                      </p:cBhvr>
                                      <p:tavLst>
                                        <p:tav tm="0">
                                          <p:val>
                                            <p:fltVal val="0"/>
                                          </p:val>
                                        </p:tav>
                                        <p:tav tm="100000">
                                          <p:val>
                                            <p:strVal val="#ppt_w"/>
                                          </p:val>
                                        </p:tav>
                                      </p:tavLst>
                                    </p:anim>
                                    <p:anim calcmode="lin" valueType="num">
                                      <p:cBhvr>
                                        <p:cTn id="88" dur="500" fill="hold"/>
                                        <p:tgtEl>
                                          <p:spTgt spid="25"/>
                                        </p:tgtEl>
                                        <p:attrNameLst>
                                          <p:attrName>ppt_h</p:attrName>
                                        </p:attrNameLst>
                                      </p:cBhvr>
                                      <p:tavLst>
                                        <p:tav tm="0">
                                          <p:val>
                                            <p:fltVal val="0"/>
                                          </p:val>
                                        </p:tav>
                                        <p:tav tm="100000">
                                          <p:val>
                                            <p:strVal val="#ppt_h"/>
                                          </p:val>
                                        </p:tav>
                                      </p:tavLst>
                                    </p:anim>
                                    <p:animEffect transition="in" filter="fade">
                                      <p:cBhvr>
                                        <p:cTn id="89" dur="500"/>
                                        <p:tgtEl>
                                          <p:spTgt spid="25"/>
                                        </p:tgtEl>
                                      </p:cBhvr>
                                    </p:animEffect>
                                  </p:childTnLst>
                                </p:cTn>
                              </p:par>
                            </p:childTnLst>
                          </p:cTn>
                        </p:par>
                      </p:childTnLst>
                    </p:cTn>
                  </p:par>
                  <p:par>
                    <p:cTn id="91" fill="hold">
                      <p:stCondLst>
                        <p:cond delay="indefinite"/>
                      </p:stCondLst>
                      <p:childTnLst>
                        <p:par>
                          <p:cTn id="92" fill="hold">
                            <p:stCondLst>
                              <p:cond delay="0"/>
                            </p:stCondLst>
                            <p:childTnLst>
                              <p:par>
                                <p:cTn id="97" presetID="53" presetClass="entr" presetSubtype="16" fill="hold" grpId="0" nodeType="clickEffect">
                                  <p:stCondLst>
                                    <p:cond delay="0"/>
                                  </p:stCondLst>
                                  <p:childTnLst>
                                    <p:set>
                                      <p:cBhvr>
                                        <p:cTn id="93" dur="1" fill="hold">
                                          <p:stCondLst>
                                            <p:cond delay="0"/>
                                          </p:stCondLst>
                                        </p:cTn>
                                        <p:tgtEl>
                                          <p:spTgt spid="31"/>
                                        </p:tgtEl>
                                        <p:attrNameLst>
                                          <p:attrName>style.visibility</p:attrName>
                                        </p:attrNameLst>
                                      </p:cBhvr>
                                      <p:to>
                                        <p:strVal val="visible"/>
                                      </p:to>
                                    </p:set>
                                    <p:anim calcmode="lin" valueType="num">
                                      <p:cBhvr>
                                        <p:cTn id="94" dur="500" fill="hold"/>
                                        <p:tgtEl>
                                          <p:spTgt spid="31"/>
                                        </p:tgtEl>
                                        <p:attrNameLst>
                                          <p:attrName>ppt_w</p:attrName>
                                        </p:attrNameLst>
                                      </p:cBhvr>
                                      <p:tavLst>
                                        <p:tav tm="0">
                                          <p:val>
                                            <p:fltVal val="0"/>
                                          </p:val>
                                        </p:tav>
                                        <p:tav tm="100000">
                                          <p:val>
                                            <p:strVal val="#ppt_w"/>
                                          </p:val>
                                        </p:tav>
                                      </p:tavLst>
                                    </p:anim>
                                    <p:anim calcmode="lin" valueType="num">
                                      <p:cBhvr>
                                        <p:cTn id="95" dur="500" fill="hold"/>
                                        <p:tgtEl>
                                          <p:spTgt spid="31"/>
                                        </p:tgtEl>
                                        <p:attrNameLst>
                                          <p:attrName>ppt_h</p:attrName>
                                        </p:attrNameLst>
                                      </p:cBhvr>
                                      <p:tavLst>
                                        <p:tav tm="0">
                                          <p:val>
                                            <p:fltVal val="0"/>
                                          </p:val>
                                        </p:tav>
                                        <p:tav tm="100000">
                                          <p:val>
                                            <p:strVal val="#ppt_h"/>
                                          </p:val>
                                        </p:tav>
                                      </p:tavLst>
                                    </p:anim>
                                    <p:animEffect transition="in" filter="fade">
                                      <p:cBhvr>
                                        <p:cTn id="96"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20_sign" descr="قاعة تكاثر البكتيريا">    </p:cNvPr>
          <p:cNvPicPr>
            <a:picLocks noChangeAspect="1"/>
          </p:cNvPicPr>
          <p:nvPr/>
        </p:nvPicPr>
        <p:blipFill>
          <a:blip r:embed="rId2"/>
          <a:stretch>
            <a:fillRect/>
          </a:stretch>
        </p:blipFill>
        <p:spPr>
          <a:xfrm>
            <a:off x="4279156" y="91440"/>
            <a:ext cx="3633383" cy="868680"/>
          </a:xfrm>
          <a:prstGeom prst="rect">
            <a:avLst/>
          </a:prstGeom>
        </p:spPr>
      </p:pic>
      <p:sp>
        <p:nvSpPr>
          <p:cNvPr id="3" name="s20_t_1"/>
          <p:cNvSpPr txBox="1"/>
          <p:nvPr/>
        </p:nvSpPr>
        <p:spPr>
          <a:xfrm>
            <a:off x="10561320" y="274320"/>
            <a:ext cx="1325880" cy="502920"/>
          </a:xfrm>
          <a:prstGeom prst="roundRect">
            <a:avLst>
              <a:gd name="adj" fmla="val 49091"/>
            </a:avLst>
          </a:prstGeom>
          <a:solidFill>
            <a:srgbClr val="1B2A4A"/>
          </a:solidFill>
          <a:ln/>
        </p:spPr>
        <p:txBody>
          <a:bodyPr wrap="square" lIns="762" tIns="762" rIns="762" bIns="762" rtlCol="0" anchor="ctr"/>
          <a:lstStyle/>
          <a:p>
            <a:pPr rtl="1" algn="ctr" indent="0" marL="0">
              <a:lnSpc>
                <a:spcPct val="108000"/>
              </a:lnSpc>
              <a:buNone/>
            </a:pPr>
            <a:r>
              <a:rPr lang="ar-SA" altLang="en-US" sz="1700" b="1" dirty="0">
                <a:solidFill>
                  <a:srgbClr val="FFFFFF"/>
                </a:solidFill>
                <a:latin typeface="Tahoma" pitchFamily="34" charset="0"/>
                <a:ea typeface="Tahoma" pitchFamily="34" charset="-122"/>
                <a:cs typeface="Tahoma" pitchFamily="34" charset="-120"/>
              </a:rPr>
              <a:t>القاعة </a:t>
            </a:r>
            <a:r>
              <a:rPr lang="ar-SA" altLang="en-US" sz="1700" b="1" dirty="0">
                <a:solidFill>
                  <a:srgbClr val="FFFFFF"/>
                </a:solidFill>
                <a:latin typeface="Tahoma" pitchFamily="34" charset="0"/>
                <a:ea typeface="Tahoma" pitchFamily="34" charset="-122"/>
                <a:cs typeface="Tahoma" pitchFamily="34" charset="-120"/>
              </a:rPr>
              <a:t>١٣</a:t>
            </a:r>
            <a:endParaRPr lang="ar-SA" sz="1700" dirty="0"/>
          </a:p>
        </p:txBody>
      </p:sp>
      <p:sp>
        <p:nvSpPr>
          <p:cNvPr id="4" name="s20_t_2"/>
          <p:cNvSpPr txBox="1"/>
          <p:nvPr/>
        </p:nvSpPr>
        <p:spPr>
          <a:xfrm>
            <a:off x="365760" y="228600"/>
            <a:ext cx="2788920" cy="603504"/>
          </a:xfrm>
          <a:prstGeom prst="roundRect">
            <a:avLst>
              <a:gd name="adj" fmla="val 39394"/>
            </a:avLst>
          </a:prstGeom>
          <a:solidFill>
            <a:srgbClr val="FFFFFF"/>
          </a:solidFill>
          <a:ln w="25400">
            <a:solidFill>
              <a:srgbClr val="8C5CFF"/>
            </a:solidFill>
            <a:prstDash val="dash"/>
          </a:ln>
        </p:spPr>
        <p:txBody>
          <a:bodyPr wrap="square" lIns="762" tIns="762" rIns="762" bIns="762" rtlCol="0" anchor="ctr"/>
          <a:lstStyle/>
          <a:p>
            <a:pPr rtl="1" algn="ctr" indent="0" marL="0">
              <a:lnSpc>
                <a:spcPct val="108000"/>
              </a:lnSpc>
              <a:buNone/>
            </a:pPr>
            <a:r>
              <a:rPr lang="ar-SA" altLang="en-US" sz="1350" b="1" dirty="0">
                <a:solidFill>
                  <a:srgbClr val="C2366F"/>
                </a:solidFill>
                <a:latin typeface="Tahoma" pitchFamily="34" charset="0"/>
                <a:ea typeface="Tahoma" pitchFamily="34" charset="-122"/>
                <a:cs typeface="Tahoma" pitchFamily="34" charset="-120"/>
              </a:rPr>
              <a:t>الاستراتيجية: </a:t>
            </a:r>
            <a:r>
              <a:rPr lang="ar-SA" altLang="en-US" sz="1350" b="1" dirty="0">
                <a:solidFill>
                  <a:srgbClr val="34405E"/>
                </a:solidFill>
                <a:latin typeface="Tahoma" pitchFamily="34" charset="0"/>
                <a:ea typeface="Tahoma" pitchFamily="34" charset="-122"/>
                <a:cs typeface="Tahoma" pitchFamily="34" charset="-120"/>
              </a:rPr>
              <a:t>المقارنة</a:t>
            </a:r>
            <a:endParaRPr lang="ar-SA" sz="1350" dirty="0"/>
          </a:p>
        </p:txBody>
      </p:sp>
      <p:sp>
        <p:nvSpPr>
          <p:cNvPr id="5" name="s20_t_3">
            <a:hlinkClick r:id="rId3" tooltip="الانتقال إلى القاعة التالية" action="ppaction://hlinksldjump"/>
          </p:cNvPr>
          <p:cNvSpPr txBox="1"/>
          <p:nvPr/>
        </p:nvSpPr>
        <p:spPr>
          <a:xfrm>
            <a:off x="2926080" y="6382512"/>
            <a:ext cx="2011680" cy="384048"/>
          </a:xfrm>
          <a:prstGeom prst="roundRect">
            <a:avLst>
              <a:gd name="adj" fmla="val 50000"/>
            </a:avLst>
          </a:prstGeom>
          <a:solidFill>
            <a:srgbClr val="5B6CFF"/>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القاعة التالية ◀</a:t>
            </a:r>
            <a:endParaRPr lang="ar-SA" sz="1600" dirty="0"/>
          </a:p>
        </p:txBody>
      </p:sp>
      <p:sp>
        <p:nvSpPr>
          <p:cNvPr id="6" name="s20_t_4">
            <a:hlinkClick r:id="rId4" tooltip="العودة إلى خريطة المتحف" action="ppaction://hlinksldjump"/>
          </p:cNvPr>
          <p:cNvSpPr txBox="1"/>
          <p:nvPr/>
        </p:nvSpPr>
        <p:spPr>
          <a:xfrm>
            <a:off x="5074920" y="6382512"/>
            <a:ext cx="2011680" cy="384048"/>
          </a:xfrm>
          <a:prstGeom prst="roundRect">
            <a:avLst>
              <a:gd name="adj" fmla="val 50000"/>
            </a:avLst>
          </a:prstGeom>
          <a:solidFill>
            <a:srgbClr val="0FA3B8"/>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خريطة المتحف</a:t>
            </a:r>
            <a:endParaRPr lang="ar-SA" sz="1600" dirty="0"/>
          </a:p>
        </p:txBody>
      </p:sp>
      <p:sp>
        <p:nvSpPr>
          <p:cNvPr id="7" name="s20_t_5">
            <a:hlinkClick r:id="rId5" tooltip="القاعة السابقة" action="ppaction://hlinksldjump"/>
          </p:cNvPr>
          <p:cNvSpPr txBox="1"/>
          <p:nvPr/>
        </p:nvSpPr>
        <p:spPr>
          <a:xfrm>
            <a:off x="7223760" y="6382512"/>
            <a:ext cx="1463040" cy="384048"/>
          </a:xfrm>
          <a:prstGeom prst="roundRect">
            <a:avLst>
              <a:gd name="adj" fmla="val 50000"/>
            </a:avLst>
          </a:prstGeom>
          <a:solidFill>
            <a:srgbClr val="8C9BB5"/>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السابقة</a:t>
            </a:r>
            <a:endParaRPr lang="ar-SA" sz="1600" dirty="0"/>
          </a:p>
        </p:txBody>
      </p:sp>
      <p:pic>
        <p:nvPicPr>
          <p:cNvPr id="8" name="s20_pic_6" descr="مرحلة 1 من انشطار البكتيريا">    </p:cNvPr>
          <p:cNvPicPr>
            <a:picLocks noChangeAspect="1"/>
          </p:cNvPicPr>
          <p:nvPr/>
        </p:nvPicPr>
        <p:blipFill>
          <a:blip r:embed="rId6"/>
          <a:stretch>
            <a:fillRect/>
          </a:stretch>
        </p:blipFill>
        <p:spPr>
          <a:xfrm>
            <a:off x="8183880" y="1234440"/>
            <a:ext cx="1783080" cy="1103811"/>
          </a:xfrm>
          <a:prstGeom prst="rect">
            <a:avLst/>
          </a:prstGeom>
        </p:spPr>
      </p:pic>
      <p:pic>
        <p:nvPicPr>
          <p:cNvPr id="9" name="s20_pic_7" descr="مرحلة 2 من انشطار البكتيريا">    </p:cNvPr>
          <p:cNvPicPr>
            <a:picLocks noChangeAspect="1"/>
          </p:cNvPicPr>
          <p:nvPr/>
        </p:nvPicPr>
        <p:blipFill>
          <a:blip r:embed="rId7"/>
          <a:stretch>
            <a:fillRect/>
          </a:stretch>
        </p:blipFill>
        <p:spPr>
          <a:xfrm>
            <a:off x="6309360" y="1234440"/>
            <a:ext cx="1783080" cy="1103811"/>
          </a:xfrm>
          <a:prstGeom prst="rect">
            <a:avLst/>
          </a:prstGeom>
        </p:spPr>
      </p:pic>
      <p:pic>
        <p:nvPicPr>
          <p:cNvPr id="10" name="s20_pic_8" descr="مرحلة 3 من انشطار البكتيريا">    </p:cNvPr>
          <p:cNvPicPr>
            <a:picLocks noChangeAspect="1"/>
          </p:cNvPicPr>
          <p:nvPr/>
        </p:nvPicPr>
        <p:blipFill>
          <a:blip r:embed="rId8"/>
          <a:stretch>
            <a:fillRect/>
          </a:stretch>
        </p:blipFill>
        <p:spPr>
          <a:xfrm>
            <a:off x="4434840" y="1234440"/>
            <a:ext cx="1783080" cy="1103811"/>
          </a:xfrm>
          <a:prstGeom prst="rect">
            <a:avLst/>
          </a:prstGeom>
        </p:spPr>
      </p:pic>
      <p:sp>
        <p:nvSpPr>
          <p:cNvPr id="11" name="s20_t_9"/>
          <p:cNvSpPr txBox="1"/>
          <p:nvPr/>
        </p:nvSpPr>
        <p:spPr>
          <a:xfrm>
            <a:off x="4297680" y="2377440"/>
            <a:ext cx="5943600" cy="731520"/>
          </a:xfrm>
          <a:prstGeom prst="rect">
            <a:avLst/>
          </a:prstGeom>
          <a:noFill/>
          <a:ln/>
        </p:spPr>
        <p:txBody>
          <a:bodyPr wrap="square" lIns="762" tIns="762" rIns="762" bIns="762" rtlCol="0" anchor="ctr"/>
          <a:lstStyle/>
          <a:p>
            <a:pPr rtl="1" algn="ctr" indent="0" marL="0">
              <a:lnSpc>
                <a:spcPct val="108000"/>
              </a:lnSpc>
              <a:buNone/>
            </a:pPr>
            <a:r>
              <a:rPr lang="ar-SA" altLang="en-US" sz="1500" b="1" dirty="0">
                <a:solidFill>
                  <a:srgbClr val="1B2A4A"/>
                </a:solidFill>
                <a:latin typeface="Tahoma" pitchFamily="34" charset="0"/>
                <a:ea typeface="Tahoma" pitchFamily="34" charset="-122"/>
                <a:cs typeface="Tahoma" pitchFamily="34" charset="-120"/>
              </a:rPr>
              <a:t>الانشطار الثنائي: تتكاثر معظم البكتيريا به، ومنها بكتيريا (إي. كولاي) التي تعيش في أمعاء الإنسان.</a:t>
            </a:r>
            <a:endParaRPr lang="ar-SA" sz="1500" dirty="0"/>
          </a:p>
        </p:txBody>
      </p:sp>
      <p:pic>
        <p:nvPicPr>
          <p:cNvPr id="12" name="s20_pic_10" descr="بكتيريا أثناء الاقتران">    </p:cNvPr>
          <p:cNvPicPr>
            <a:picLocks noChangeAspect="1"/>
          </p:cNvPicPr>
          <p:nvPr/>
        </p:nvPicPr>
        <p:blipFill>
          <a:blip r:embed="rId9"/>
          <a:stretch>
            <a:fillRect/>
          </a:stretch>
        </p:blipFill>
        <p:spPr>
          <a:xfrm>
            <a:off x="548640" y="1188720"/>
            <a:ext cx="3017520" cy="1616529"/>
          </a:xfrm>
          <a:prstGeom prst="rect">
            <a:avLst/>
          </a:prstGeom>
        </p:spPr>
      </p:pic>
      <p:sp>
        <p:nvSpPr>
          <p:cNvPr id="13" name="s20_t_11"/>
          <p:cNvSpPr txBox="1"/>
          <p:nvPr/>
        </p:nvSpPr>
        <p:spPr>
          <a:xfrm>
            <a:off x="457200" y="2788920"/>
            <a:ext cx="3566160" cy="914400"/>
          </a:xfrm>
          <a:prstGeom prst="rect">
            <a:avLst/>
          </a:prstGeom>
          <a:noFill/>
          <a:ln/>
        </p:spPr>
        <p:txBody>
          <a:bodyPr wrap="square" lIns="762" tIns="762" rIns="762" bIns="762" rtlCol="0" anchor="ctr"/>
          <a:lstStyle/>
          <a:p>
            <a:pPr rtl="1" algn="ctr" indent="0" marL="0">
              <a:lnSpc>
                <a:spcPct val="108000"/>
              </a:lnSpc>
              <a:buNone/>
            </a:pPr>
            <a:r>
              <a:rPr lang="ar-SA" altLang="en-US" sz="1350" b="1" dirty="0">
                <a:solidFill>
                  <a:srgbClr val="1B2A4A"/>
                </a:solidFill>
                <a:latin typeface="Tahoma" pitchFamily="34" charset="0"/>
                <a:ea typeface="Tahoma" pitchFamily="34" charset="-122"/>
                <a:cs typeface="Tahoma" pitchFamily="34" charset="-120"/>
              </a:rPr>
              <a:t>الاقتران: تتصل خليتان معًا، وتنتقل المادة الوراثية من إحداهما إلى الأخرى، ثم تنفصلان وتنقسمان.</a:t>
            </a:r>
            <a:endParaRPr lang="ar-SA" sz="1350" dirty="0"/>
          </a:p>
        </p:txBody>
      </p:sp>
      <p:pic>
        <p:nvPicPr>
          <p:cNvPr id="14" name="s20_pic_12" descr="بكتيريا تحت المجهر الإلكتروني أثناء الاقتران (من الكتاب)">    </p:cNvPr>
          <p:cNvPicPr>
            <a:picLocks noChangeAspect="1"/>
          </p:cNvPicPr>
          <p:nvPr/>
        </p:nvPicPr>
        <p:blipFill>
          <a:blip r:embed="rId10"/>
          <a:stretch>
            <a:fillRect/>
          </a:stretch>
        </p:blipFill>
        <p:spPr>
          <a:xfrm>
            <a:off x="10332720" y="1234440"/>
            <a:ext cx="1463040" cy="1071901"/>
          </a:xfrm>
          <a:prstGeom prst="rect">
            <a:avLst/>
          </a:prstGeom>
        </p:spPr>
      </p:pic>
      <p:graphicFrame>
        <p:nvGraphicFramePr>
          <p:cNvPr id="21" name="s_tab"/>
          <p:cNvGraphicFramePr>
            <a:graphicFrameLocks noGrp="1"/>
          </p:cNvGraphicFramePr>
          <p:nvPr>
            <p:extLst>
              <p:ext uri="{D42A27DB-BD31-4B8C-83A1-F6EECF244321}">
                <p14:modId xmlns:p14="http://schemas.microsoft.com/office/powerpoint/2010/main" val="1579011935"/>
              </p:ext>
            </p:extLst>
          </p:nvPr>
        </p:nvGraphicFramePr>
        <p:xfrm>
          <a:off x="2011680" y="3931920"/>
          <a:ext cx="8138160" cy="914400"/>
        </p:xfrm>
        <a:graphic>
          <a:graphicData uri="http://schemas.openxmlformats.org/drawingml/2006/table">
            <a:tbl>
              <a:tblPr/>
              <a:tblGrid>
                <a:gridCol w="2651760"/>
                <a:gridCol w="2926080"/>
                <a:gridCol w="2560320"/>
              </a:tblGrid>
              <a:tr h="457200">
                <a:tc>
                  <a:txBody>
                    <a:bodyPr/>
                    <a:lstStyle/>
                    <a:p>
                      <a:pPr rtl="1" algn="ctr" indent="0" marL="0">
                        <a:buNone/>
                      </a:pPr>
                      <a:r>
                        <a:rPr lang="en-US" sz="1600" b="1" dirty="0">
                          <a:solidFill>
                            <a:srgbClr val="FFFFFF"/>
                          </a:solidFill>
                          <a:latin typeface="Tahoma" pitchFamily="34" charset="0"/>
                          <a:ea typeface="Tahoma" pitchFamily="34" charset="-122"/>
                          <a:cs typeface="Tahoma" pitchFamily="34" charset="-120"/>
                        </a:rPr>
                        <a:t>الخميرة</a:t>
                      </a:r>
                      <a:endParaRPr lang="en-US" sz="1600" dirty="0">
                        <a:latin typeface="Tahoma" charset="0"/>
                        <a:ea typeface="Tahoma" charset="0"/>
                        <a:cs typeface="Tahoma"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FA3B8"/>
                    </a:solidFill>
                  </a:tcPr>
                </a:tc>
                <a:tc>
                  <a:txBody>
                    <a:bodyPr/>
                    <a:lstStyle/>
                    <a:p>
                      <a:pPr rtl="1" algn="ctr" indent="0" marL="0">
                        <a:buNone/>
                      </a:pPr>
                      <a:r>
                        <a:rPr lang="en-US" sz="1600" b="1" dirty="0">
                          <a:solidFill>
                            <a:srgbClr val="FFFFFF"/>
                          </a:solidFill>
                          <a:latin typeface="Tahoma" pitchFamily="34" charset="0"/>
                          <a:ea typeface="Tahoma" pitchFamily="34" charset="-122"/>
                          <a:cs typeface="Tahoma" pitchFamily="34" charset="-120"/>
                        </a:rPr>
                        <a:t>البكتيريا</a:t>
                      </a:r>
                      <a:endParaRPr lang="en-US" sz="1600" dirty="0">
                        <a:latin typeface="Tahoma" charset="0"/>
                        <a:ea typeface="Tahoma" charset="0"/>
                        <a:cs typeface="Tahoma"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FA3B8"/>
                    </a:solidFill>
                  </a:tcPr>
                </a:tc>
                <a:tc>
                  <a:txBody>
                    <a:bodyPr/>
                    <a:lstStyle/>
                    <a:p>
                      <a:pPr rtl="1" algn="ctr" indent="0" marL="0">
                        <a:buNone/>
                      </a:pPr>
                      <a:r>
                        <a:rPr lang="en-US" sz="1600" b="1" dirty="0">
                          <a:solidFill>
                            <a:srgbClr val="FFFFFF"/>
                          </a:solidFill>
                          <a:latin typeface="Tahoma" pitchFamily="34" charset="0"/>
                          <a:ea typeface="Tahoma" pitchFamily="34" charset="-122"/>
                          <a:cs typeface="Tahoma" pitchFamily="34" charset="-120"/>
                        </a:rPr>
                        <a:t>وجه المقارنة</a:t>
                      </a:r>
                      <a:endParaRPr lang="en-US" sz="1600" dirty="0">
                        <a:latin typeface="Tahoma" charset="0"/>
                        <a:ea typeface="Tahoma" charset="0"/>
                        <a:cs typeface="Tahoma"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FA3B8"/>
                    </a:solidFill>
                  </a:tcPr>
                </a:tc>
              </a:tr>
              <a:tr h="457200">
                <a:tc>
                  <a:txBody>
                    <a:bodyPr/>
                    <a:lstStyle/>
                    <a:p>
                      <a:pPr rtl="1" algn="ctr" indent="0" marL="0">
                        <a:buNone/>
                      </a:pPr>
                      <a:r>
                        <a:rPr lang="en-US" sz="1600" dirty="0">
                          <a:solidFill>
                            <a:srgbClr val="1B2A4A"/>
                          </a:solidFill>
                          <a:latin typeface="Tahoma" pitchFamily="34" charset="0"/>
                          <a:ea typeface="Tahoma" pitchFamily="34" charset="-122"/>
                          <a:cs typeface="Tahoma" pitchFamily="34" charset="-120"/>
                        </a:rPr>
                        <a:t>فطر مجهري</a:t>
                      </a:r>
                      <a:endParaRPr lang="en-US" sz="1600" dirty="0">
                        <a:latin typeface="Tahoma" charset="0"/>
                        <a:ea typeface="Tahoma" charset="0"/>
                        <a:cs typeface="Tahoma"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7E0"/>
                    </a:solidFill>
                  </a:tcPr>
                </a:tc>
                <a:tc>
                  <a:txBody>
                    <a:bodyPr/>
                    <a:lstStyle/>
                    <a:p>
                      <a:pPr rtl="1" algn="ctr" indent="0" marL="0">
                        <a:buNone/>
                      </a:pPr>
                      <a:r>
                        <a:rPr lang="en-US" sz="1600" dirty="0">
                          <a:solidFill>
                            <a:srgbClr val="1B2A4A"/>
                          </a:solidFill>
                          <a:latin typeface="Tahoma" pitchFamily="34" charset="0"/>
                          <a:ea typeface="Tahoma" pitchFamily="34" charset="-122"/>
                          <a:cs typeface="Tahoma" pitchFamily="34" charset="-120"/>
                        </a:rPr>
                        <a:t>وحيدة الخلية</a:t>
                      </a:r>
                      <a:endParaRPr lang="en-US" sz="1600" dirty="0">
                        <a:latin typeface="Tahoma" charset="0"/>
                        <a:ea typeface="Tahoma" charset="0"/>
                        <a:cs typeface="Tahoma"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6FBFF"/>
                    </a:solidFill>
                  </a:tcPr>
                </a:tc>
                <a:tc>
                  <a:txBody>
                    <a:bodyPr/>
                    <a:lstStyle/>
                    <a:p>
                      <a:pPr rtl="1" algn="ctr" indent="0" marL="0">
                        <a:buNone/>
                      </a:pPr>
                      <a:r>
                        <a:rPr lang="en-US" sz="1600" b="1" dirty="0">
                          <a:solidFill>
                            <a:srgbClr val="FFFFFF"/>
                          </a:solidFill>
                          <a:latin typeface="Tahoma" pitchFamily="34" charset="0"/>
                          <a:ea typeface="Tahoma" pitchFamily="34" charset="-122"/>
                          <a:cs typeface="Tahoma" pitchFamily="34" charset="-120"/>
                        </a:rPr>
                        <a:t>نوع المخلوق</a:t>
                      </a:r>
                      <a:endParaRPr lang="en-US" sz="1600" dirty="0">
                        <a:latin typeface="Tahoma" charset="0"/>
                        <a:ea typeface="Tahoma" charset="0"/>
                        <a:cs typeface="Tahoma"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FA3B8"/>
                    </a:solidFill>
                  </a:tcPr>
                </a:tc>
              </a:tr>
              <a:tr h="457200">
                <a:tc>
                  <a:txBody>
                    <a:bodyPr/>
                    <a:lstStyle/>
                    <a:p>
                      <a:pPr rtl="1" algn="ctr" indent="0" marL="0">
                        <a:buNone/>
                      </a:pPr>
                      <a:r>
                        <a:rPr lang="en-US" sz="1600" dirty="0">
                          <a:solidFill>
                            <a:srgbClr val="1B2A4A"/>
                          </a:solidFill>
                          <a:latin typeface="Tahoma" pitchFamily="34" charset="0"/>
                          <a:ea typeface="Tahoma" pitchFamily="34" charset="-122"/>
                          <a:cs typeface="Tahoma" pitchFamily="34" charset="-120"/>
                        </a:rPr>
                        <a:t>التبرعم</a:t>
                      </a:r>
                      <a:endParaRPr lang="en-US" sz="1600" dirty="0">
                        <a:latin typeface="Tahoma" charset="0"/>
                        <a:ea typeface="Tahoma" charset="0"/>
                        <a:cs typeface="Tahoma"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7E0"/>
                    </a:solidFill>
                  </a:tcPr>
                </a:tc>
                <a:tc>
                  <a:txBody>
                    <a:bodyPr/>
                    <a:lstStyle/>
                    <a:p>
                      <a:pPr rtl="1" algn="ctr" indent="0" marL="0">
                        <a:buNone/>
                      </a:pPr>
                      <a:r>
                        <a:rPr lang="en-US" sz="1600" dirty="0">
                          <a:solidFill>
                            <a:srgbClr val="1B2A4A"/>
                          </a:solidFill>
                          <a:latin typeface="Tahoma" pitchFamily="34" charset="0"/>
                          <a:ea typeface="Tahoma" pitchFamily="34" charset="-122"/>
                          <a:cs typeface="Tahoma" pitchFamily="34" charset="-120"/>
                        </a:rPr>
                        <a:t>الانشطار الثنائي</a:t>
                      </a:r>
                      <a:endParaRPr lang="en-US" sz="1600" dirty="0">
                        <a:latin typeface="Tahoma" charset="0"/>
                        <a:ea typeface="Tahoma" charset="0"/>
                        <a:cs typeface="Tahoma"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6FBFF"/>
                    </a:solidFill>
                  </a:tcPr>
                </a:tc>
                <a:tc>
                  <a:txBody>
                    <a:bodyPr/>
                    <a:lstStyle/>
                    <a:p>
                      <a:pPr rtl="1" algn="ctr" indent="0" marL="0">
                        <a:buNone/>
                      </a:pPr>
                      <a:r>
                        <a:rPr lang="en-US" sz="1600" b="1" dirty="0">
                          <a:solidFill>
                            <a:srgbClr val="FFFFFF"/>
                          </a:solidFill>
                          <a:latin typeface="Tahoma" pitchFamily="34" charset="0"/>
                          <a:ea typeface="Tahoma" pitchFamily="34" charset="-122"/>
                          <a:cs typeface="Tahoma" pitchFamily="34" charset="-120"/>
                        </a:rPr>
                        <a:t>طريقة التكاثر الرئيسة</a:t>
                      </a:r>
                      <a:endParaRPr lang="en-US" sz="1600" dirty="0">
                        <a:latin typeface="Tahoma" charset="0"/>
                        <a:ea typeface="Tahoma" charset="0"/>
                        <a:cs typeface="Tahoma"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FA3B8"/>
                    </a:solidFill>
                  </a:tcPr>
                </a:tc>
              </a:tr>
              <a:tr h="457200">
                <a:tc>
                  <a:txBody>
                    <a:bodyPr/>
                    <a:lstStyle/>
                    <a:p>
                      <a:pPr rtl="1" algn="ctr" indent="0" marL="0">
                        <a:buNone/>
                      </a:pPr>
                      <a:r>
                        <a:rPr lang="en-US" sz="1600" dirty="0">
                          <a:solidFill>
                            <a:srgbClr val="1B2A4A"/>
                          </a:solidFill>
                          <a:latin typeface="Tahoma" pitchFamily="34" charset="0"/>
                          <a:ea typeface="Tahoma" pitchFamily="34" charset="-122"/>
                          <a:cs typeface="Tahoma" pitchFamily="34" charset="-120"/>
                        </a:rPr>
                        <a:t>—</a:t>
                      </a:r>
                      <a:endParaRPr lang="en-US" sz="1600" dirty="0">
                        <a:latin typeface="Tahoma" charset="0"/>
                        <a:ea typeface="Tahoma" charset="0"/>
                        <a:cs typeface="Tahoma"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7E0"/>
                    </a:solidFill>
                  </a:tcPr>
                </a:tc>
                <a:tc>
                  <a:txBody>
                    <a:bodyPr/>
                    <a:lstStyle/>
                    <a:p>
                      <a:pPr rtl="1" algn="ctr" indent="0" marL="0">
                        <a:buNone/>
                      </a:pPr>
                      <a:r>
                        <a:rPr lang="en-US" sz="1600" dirty="0">
                          <a:solidFill>
                            <a:srgbClr val="1B2A4A"/>
                          </a:solidFill>
                          <a:latin typeface="Tahoma" pitchFamily="34" charset="0"/>
                          <a:ea typeface="Tahoma" pitchFamily="34" charset="-122"/>
                          <a:cs typeface="Tahoma" pitchFamily="34" charset="-120"/>
                        </a:rPr>
                        <a:t>الاقتران (بعض الأنواع)</a:t>
                      </a:r>
                      <a:endParaRPr lang="en-US" sz="1600" dirty="0">
                        <a:latin typeface="Tahoma" charset="0"/>
                        <a:ea typeface="Tahoma" charset="0"/>
                        <a:cs typeface="Tahoma"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6FBFF"/>
                    </a:solidFill>
                  </a:tcPr>
                </a:tc>
                <a:tc>
                  <a:txBody>
                    <a:bodyPr/>
                    <a:lstStyle/>
                    <a:p>
                      <a:pPr rtl="1" algn="ctr" indent="0" marL="0">
                        <a:buNone/>
                      </a:pPr>
                      <a:r>
                        <a:rPr lang="en-US" sz="1600" b="1" dirty="0">
                          <a:solidFill>
                            <a:srgbClr val="FFFFFF"/>
                          </a:solidFill>
                          <a:latin typeface="Tahoma" pitchFamily="34" charset="0"/>
                          <a:ea typeface="Tahoma" pitchFamily="34" charset="-122"/>
                          <a:cs typeface="Tahoma" pitchFamily="34" charset="-120"/>
                        </a:rPr>
                        <a:t>طريقة أخرى</a:t>
                      </a:r>
                      <a:endParaRPr lang="en-US" sz="1600" dirty="0">
                        <a:latin typeface="Tahoma" charset="0"/>
                        <a:ea typeface="Tahoma" charset="0"/>
                        <a:cs typeface="Tahoma"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FA3B8"/>
                    </a:solidFill>
                  </a:tcPr>
                </a:tc>
              </a:tr>
            </a:tbl>
          </a:graphicData>
        </a:graphic>
      </p:graphicFrame>
      <p:sp>
        <p:nvSpPr>
          <p:cNvPr id="16" name="s20_t_13"/>
          <p:cNvSpPr txBox="1"/>
          <p:nvPr/>
        </p:nvSpPr>
        <p:spPr>
          <a:xfrm>
            <a:off x="2926080" y="3474720"/>
            <a:ext cx="6309360" cy="411480"/>
          </a:xfrm>
          <a:prstGeom prst="rect">
            <a:avLst/>
          </a:prstGeom>
          <a:noFill/>
          <a:ln/>
        </p:spPr>
        <p:txBody>
          <a:bodyPr wrap="square" lIns="762" tIns="762" rIns="762" bIns="762" rtlCol="0" anchor="ctr"/>
          <a:lstStyle/>
          <a:p>
            <a:pPr rtl="1" algn="ctr" indent="0" marL="0">
              <a:lnSpc>
                <a:spcPct val="108000"/>
              </a:lnSpc>
              <a:buNone/>
            </a:pPr>
            <a:r>
              <a:rPr lang="ar-SA" altLang="en-US" sz="1700" b="1" dirty="0">
                <a:solidFill>
                  <a:srgbClr val="0C7F90"/>
                </a:solidFill>
                <a:latin typeface="Tahoma" pitchFamily="34" charset="0"/>
                <a:ea typeface="Tahoma" pitchFamily="34" charset="-122"/>
                <a:cs typeface="Tahoma" pitchFamily="34" charset="-120"/>
              </a:rPr>
              <a:t>قارني بين تكاثر البكتيريا وتكاثر الخميرة</a:t>
            </a:r>
            <a:endParaRPr lang="ar-SA" sz="1700" dirty="0"/>
          </a:p>
        </p:txBody>
      </p:sp>
    </p:spTree>
  </p:cSld>
  <p:clrMapOvr>
    <a:masterClrMapping/>
  </p:clrMapOvr>
  <mc:AlternateContent xmlns:mc="http://schemas.openxmlformats.org/markup-compatibility/2006">
    <mc:Choice xmlns:p14="http://schemas.microsoft.com/office/powerpoint/2010/main" Requires="p14">
      <p:transition spd="slow" p14:dur="14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8"/>
                                        </p:tgtEl>
                                        <p:attrNameLst>
                                          <p:attrName>style.visibility</p:attrName>
                                        </p:attrNameLst>
                                      </p:cBhvr>
                                      <p:to>
                                        <p:strVal val="visible"/>
                                      </p:to>
                                    </p:set>
                                    <p:anim calcmode="lin" valueType="num">
                                      <p:cBhvr>
                                        <p:cTn id="6" dur="500" fill="hold"/>
                                        <p:tgtEl>
                                          <p:spTgt spid="8"/>
                                        </p:tgtEl>
                                        <p:attrNameLst>
                                          <p:attrName>ppt_w</p:attrName>
                                        </p:attrNameLst>
                                      </p:cBhvr>
                                      <p:tavLst>
                                        <p:tav tm="0">
                                          <p:val>
                                            <p:fltVal val="0"/>
                                          </p:val>
                                        </p:tav>
                                        <p:tav tm="100000">
                                          <p:val>
                                            <p:strVal val="#ppt_w"/>
                                          </p:val>
                                        </p:tav>
                                      </p:tavLst>
                                    </p:anim>
                                    <p:anim calcmode="lin" valueType="num">
                                      <p:cBhvr>
                                        <p:cTn id="7" dur="500" fill="hold"/>
                                        <p:tgtEl>
                                          <p:spTgt spid="8"/>
                                        </p:tgtEl>
                                        <p:attrNameLst>
                                          <p:attrName>ppt_h</p:attrName>
                                        </p:attrNameLst>
                                      </p:cBhvr>
                                      <p:tavLst>
                                        <p:tav tm="0">
                                          <p:val>
                                            <p:fltVal val="0"/>
                                          </p:val>
                                        </p:tav>
                                        <p:tav tm="100000">
                                          <p:val>
                                            <p:strVal val="#ppt_h"/>
                                          </p:val>
                                        </p:tav>
                                      </p:tavLst>
                                    </p:anim>
                                    <p:animEffect transition="in" filter="fade">
                                      <p:cBhvr>
                                        <p:cTn id="8" dur="500"/>
                                        <p:tgtEl>
                                          <p:spTgt spid="8"/>
                                        </p:tgtEl>
                                      </p:cBhvr>
                                    </p:animEffect>
                                  </p:childTnLst>
                                </p:cTn>
                              </p:par>
                              <p:par>
                                <p:cTn id="14" presetID="53" presetClass="entr" presetSubtype="16" fill="hold" grpId="0" nodeType="withEffect">
                                  <p:stCondLst>
                                    <p:cond delay="30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ppt_w</p:attrName>
                                        </p:attrNameLst>
                                      </p:cBhvr>
                                      <p:tavLst>
                                        <p:tav tm="0">
                                          <p:val>
                                            <p:fltVal val="0"/>
                                          </p:val>
                                        </p:tav>
                                        <p:tav tm="100000">
                                          <p:val>
                                            <p:strVal val="#ppt_w"/>
                                          </p:val>
                                        </p:tav>
                                      </p:tavLst>
                                    </p:anim>
                                    <p:anim calcmode="lin" valueType="num">
                                      <p:cBhvr>
                                        <p:cTn id="12" dur="500" fill="hold"/>
                                        <p:tgtEl>
                                          <p:spTgt spid="9"/>
                                        </p:tgtEl>
                                        <p:attrNameLst>
                                          <p:attrName>ppt_h</p:attrName>
                                        </p:attrNameLst>
                                      </p:cBhvr>
                                      <p:tavLst>
                                        <p:tav tm="0">
                                          <p:val>
                                            <p:fltVal val="0"/>
                                          </p:val>
                                        </p:tav>
                                        <p:tav tm="100000">
                                          <p:val>
                                            <p:strVal val="#ppt_h"/>
                                          </p:val>
                                        </p:tav>
                                      </p:tavLst>
                                    </p:anim>
                                    <p:animEffect transition="in" filter="fade">
                                      <p:cBhvr>
                                        <p:cTn id="13" dur="500"/>
                                        <p:tgtEl>
                                          <p:spTgt spid="9"/>
                                        </p:tgtEl>
                                      </p:cBhvr>
                                    </p:animEffect>
                                  </p:childTnLst>
                                </p:cTn>
                              </p:par>
                              <p:par>
                                <p:cTn id="19" presetID="53" presetClass="entr" presetSubtype="16" fill="hold" grpId="0" nodeType="withEffect">
                                  <p:stCondLst>
                                    <p:cond delay="600"/>
                                  </p:stCondLst>
                                  <p:childTnLst>
                                    <p:set>
                                      <p:cBhvr>
                                        <p:cTn id="15" dur="1" fill="hold">
                                          <p:stCondLst>
                                            <p:cond delay="0"/>
                                          </p:stCondLst>
                                        </p:cTn>
                                        <p:tgtEl>
                                          <p:spTgt spid="10"/>
                                        </p:tgtEl>
                                        <p:attrNameLst>
                                          <p:attrName>style.visibility</p:attrName>
                                        </p:attrNameLst>
                                      </p:cBhvr>
                                      <p:to>
                                        <p:strVal val="visible"/>
                                      </p:to>
                                    </p:set>
                                    <p:anim calcmode="lin" valueType="num">
                                      <p:cBhvr>
                                        <p:cTn id="16" dur="500" fill="hold"/>
                                        <p:tgtEl>
                                          <p:spTgt spid="10"/>
                                        </p:tgtEl>
                                        <p:attrNameLst>
                                          <p:attrName>ppt_w</p:attrName>
                                        </p:attrNameLst>
                                      </p:cBhvr>
                                      <p:tavLst>
                                        <p:tav tm="0">
                                          <p:val>
                                            <p:fltVal val="0"/>
                                          </p:val>
                                        </p:tav>
                                        <p:tav tm="100000">
                                          <p:val>
                                            <p:strVal val="#ppt_w"/>
                                          </p:val>
                                        </p:tav>
                                      </p:tavLst>
                                    </p:anim>
                                    <p:anim calcmode="lin" valueType="num">
                                      <p:cBhvr>
                                        <p:cTn id="17" dur="500" fill="hold"/>
                                        <p:tgtEl>
                                          <p:spTgt spid="10"/>
                                        </p:tgtEl>
                                        <p:attrNameLst>
                                          <p:attrName>ppt_h</p:attrName>
                                        </p:attrNameLst>
                                      </p:cBhvr>
                                      <p:tavLst>
                                        <p:tav tm="0">
                                          <p:val>
                                            <p:fltVal val="0"/>
                                          </p:val>
                                        </p:tav>
                                        <p:tav tm="100000">
                                          <p:val>
                                            <p:strVal val="#ppt_h"/>
                                          </p:val>
                                        </p:tav>
                                      </p:tavLst>
                                    </p:anim>
                                    <p:animEffect transition="in" filter="fade">
                                      <p:cBhvr>
                                        <p:cTn id="1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21_sign" descr="أختبر نفسي (٢)">    </p:cNvPr>
          <p:cNvPicPr>
            <a:picLocks noChangeAspect="1"/>
          </p:cNvPicPr>
          <p:nvPr/>
        </p:nvPicPr>
        <p:blipFill>
          <a:blip r:embed="rId2"/>
          <a:stretch>
            <a:fillRect/>
          </a:stretch>
        </p:blipFill>
        <p:spPr>
          <a:xfrm>
            <a:off x="4525084" y="91440"/>
            <a:ext cx="3141528" cy="868680"/>
          </a:xfrm>
          <a:prstGeom prst="rect">
            <a:avLst/>
          </a:prstGeom>
        </p:spPr>
      </p:pic>
      <p:sp>
        <p:nvSpPr>
          <p:cNvPr id="3" name="s21_t_1"/>
          <p:cNvSpPr txBox="1"/>
          <p:nvPr/>
        </p:nvSpPr>
        <p:spPr>
          <a:xfrm>
            <a:off x="10561320" y="274320"/>
            <a:ext cx="1325880" cy="502920"/>
          </a:xfrm>
          <a:prstGeom prst="roundRect">
            <a:avLst>
              <a:gd name="adj" fmla="val 49091"/>
            </a:avLst>
          </a:prstGeom>
          <a:solidFill>
            <a:srgbClr val="1B2A4A"/>
          </a:solidFill>
          <a:ln/>
        </p:spPr>
        <p:txBody>
          <a:bodyPr wrap="square" lIns="762" tIns="762" rIns="762" bIns="762" rtlCol="0" anchor="ctr"/>
          <a:lstStyle/>
          <a:p>
            <a:pPr rtl="1" algn="ctr" indent="0" marL="0">
              <a:lnSpc>
                <a:spcPct val="108000"/>
              </a:lnSpc>
              <a:buNone/>
            </a:pPr>
            <a:r>
              <a:rPr lang="ar-SA" altLang="en-US" sz="1700" b="1" dirty="0">
                <a:solidFill>
                  <a:srgbClr val="FFFFFF"/>
                </a:solidFill>
                <a:latin typeface="Tahoma" pitchFamily="34" charset="0"/>
                <a:ea typeface="Tahoma" pitchFamily="34" charset="-122"/>
                <a:cs typeface="Tahoma" pitchFamily="34" charset="-120"/>
              </a:rPr>
              <a:t>القاعة </a:t>
            </a:r>
            <a:r>
              <a:rPr lang="ar-SA" altLang="en-US" sz="1700" b="1" dirty="0">
                <a:solidFill>
                  <a:srgbClr val="FFFFFF"/>
                </a:solidFill>
                <a:latin typeface="Tahoma" pitchFamily="34" charset="0"/>
                <a:ea typeface="Tahoma" pitchFamily="34" charset="-122"/>
                <a:cs typeface="Tahoma" pitchFamily="34" charset="-120"/>
              </a:rPr>
              <a:t>١٤</a:t>
            </a:r>
            <a:endParaRPr lang="ar-SA" sz="1700" dirty="0"/>
          </a:p>
        </p:txBody>
      </p:sp>
      <p:sp>
        <p:nvSpPr>
          <p:cNvPr id="4" name="s21_t_2"/>
          <p:cNvSpPr txBox="1"/>
          <p:nvPr/>
        </p:nvSpPr>
        <p:spPr>
          <a:xfrm>
            <a:off x="365760" y="228600"/>
            <a:ext cx="2788920" cy="603504"/>
          </a:xfrm>
          <a:prstGeom prst="roundRect">
            <a:avLst>
              <a:gd name="adj" fmla="val 39394"/>
            </a:avLst>
          </a:prstGeom>
          <a:solidFill>
            <a:srgbClr val="FFFFFF"/>
          </a:solidFill>
          <a:ln w="25400">
            <a:solidFill>
              <a:srgbClr val="8C5CFF"/>
            </a:solidFill>
            <a:prstDash val="dash"/>
          </a:ln>
        </p:spPr>
        <p:txBody>
          <a:bodyPr wrap="square" lIns="762" tIns="762" rIns="762" bIns="762" rtlCol="0" anchor="ctr"/>
          <a:lstStyle/>
          <a:p>
            <a:pPr rtl="1" algn="ctr" indent="0" marL="0">
              <a:lnSpc>
                <a:spcPct val="108000"/>
              </a:lnSpc>
              <a:buNone/>
            </a:pPr>
            <a:r>
              <a:rPr lang="ar-SA" altLang="en-US" sz="1350" b="1" dirty="0">
                <a:solidFill>
                  <a:srgbClr val="C2366F"/>
                </a:solidFill>
                <a:latin typeface="Tahoma" pitchFamily="34" charset="0"/>
                <a:ea typeface="Tahoma" pitchFamily="34" charset="-122"/>
                <a:cs typeface="Tahoma" pitchFamily="34" charset="-120"/>
              </a:rPr>
              <a:t>الاستراتيجية: </a:t>
            </a:r>
            <a:r>
              <a:rPr lang="ar-SA" altLang="en-US" sz="1350" b="1" dirty="0">
                <a:solidFill>
                  <a:srgbClr val="34405E"/>
                </a:solidFill>
                <a:latin typeface="Tahoma" pitchFamily="34" charset="0"/>
                <a:ea typeface="Tahoma" pitchFamily="34" charset="-122"/>
                <a:cs typeface="Tahoma" pitchFamily="34" charset="-120"/>
              </a:rPr>
              <a:t>الاستنتاج – التفكير الناقد</a:t>
            </a:r>
            <a:endParaRPr lang="ar-SA" sz="1350" dirty="0"/>
          </a:p>
        </p:txBody>
      </p:sp>
      <p:sp>
        <p:nvSpPr>
          <p:cNvPr id="5" name="s21_t_3">
            <a:hlinkClick r:id="rId3" tooltip="الانتقال إلى القاعة التالية" action="ppaction://hlinksldjump"/>
          </p:cNvPr>
          <p:cNvSpPr txBox="1"/>
          <p:nvPr/>
        </p:nvSpPr>
        <p:spPr>
          <a:xfrm>
            <a:off x="2926080" y="6382512"/>
            <a:ext cx="2011680" cy="384048"/>
          </a:xfrm>
          <a:prstGeom prst="roundRect">
            <a:avLst>
              <a:gd name="adj" fmla="val 50000"/>
            </a:avLst>
          </a:prstGeom>
          <a:solidFill>
            <a:srgbClr val="5B6CFF"/>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القاعة التالية ◀</a:t>
            </a:r>
            <a:endParaRPr lang="ar-SA" sz="1600" dirty="0"/>
          </a:p>
        </p:txBody>
      </p:sp>
      <p:sp>
        <p:nvSpPr>
          <p:cNvPr id="6" name="s21_t_4">
            <a:hlinkClick r:id="rId4" tooltip="العودة إلى خريطة المتحف" action="ppaction://hlinksldjump"/>
          </p:cNvPr>
          <p:cNvSpPr txBox="1"/>
          <p:nvPr/>
        </p:nvSpPr>
        <p:spPr>
          <a:xfrm>
            <a:off x="5074920" y="6382512"/>
            <a:ext cx="2011680" cy="384048"/>
          </a:xfrm>
          <a:prstGeom prst="roundRect">
            <a:avLst>
              <a:gd name="adj" fmla="val 50000"/>
            </a:avLst>
          </a:prstGeom>
          <a:solidFill>
            <a:srgbClr val="0FA3B8"/>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خريطة المتحف</a:t>
            </a:r>
            <a:endParaRPr lang="ar-SA" sz="1600" dirty="0"/>
          </a:p>
        </p:txBody>
      </p:sp>
      <p:sp>
        <p:nvSpPr>
          <p:cNvPr id="7" name="s21_t_5">
            <a:hlinkClick r:id="rId5" tooltip="القاعة السابقة" action="ppaction://hlinksldjump"/>
          </p:cNvPr>
          <p:cNvSpPr txBox="1"/>
          <p:nvPr/>
        </p:nvSpPr>
        <p:spPr>
          <a:xfrm>
            <a:off x="7223760" y="6382512"/>
            <a:ext cx="1463040" cy="384048"/>
          </a:xfrm>
          <a:prstGeom prst="roundRect">
            <a:avLst>
              <a:gd name="adj" fmla="val 50000"/>
            </a:avLst>
          </a:prstGeom>
          <a:solidFill>
            <a:srgbClr val="8C9BB5"/>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السابقة</a:t>
            </a:r>
            <a:endParaRPr lang="ar-SA" sz="1600" dirty="0"/>
          </a:p>
        </p:txBody>
      </p:sp>
      <p:pic>
        <p:nvPicPr>
          <p:cNvPr id="8" name="s21_pic_6" descr="/tmp/claude-0/-home-user-Scienceshamah/8386cda7-7741-5ea4-8952-60ee8e67fc31/scratchpad/w4/img/scr_1359x281_E3A21A_FFFFFF.png">    </p:cNvPr>
          <p:cNvPicPr>
            <a:picLocks noChangeAspect="1"/>
          </p:cNvPicPr>
          <p:nvPr/>
        </p:nvPicPr>
        <p:blipFill>
          <a:blip r:embed="rId6"/>
          <a:stretch>
            <a:fillRect/>
          </a:stretch>
        </p:blipFill>
        <p:spPr>
          <a:xfrm>
            <a:off x="347472" y="1078992"/>
            <a:ext cx="11512296" cy="2551176"/>
          </a:xfrm>
          <a:prstGeom prst="rect">
            <a:avLst/>
          </a:prstGeom>
        </p:spPr>
      </p:pic>
      <p:sp>
        <p:nvSpPr>
          <p:cNvPr id="9" name="s21_t_7"/>
          <p:cNvSpPr txBox="1"/>
          <p:nvPr/>
        </p:nvSpPr>
        <p:spPr>
          <a:xfrm>
            <a:off x="594360" y="1261872"/>
            <a:ext cx="11018520" cy="822960"/>
          </a:xfrm>
          <a:prstGeom prst="rect">
            <a:avLst/>
          </a:prstGeom>
          <a:noFill/>
          <a:ln/>
        </p:spPr>
        <p:txBody>
          <a:bodyPr wrap="square" lIns="762" tIns="762" rIns="762" bIns="762" rtlCol="0" anchor="ctr"/>
          <a:lstStyle/>
          <a:p>
            <a:pPr rtl="1" algn="r" indent="0" marL="0">
              <a:lnSpc>
                <a:spcPct val="108000"/>
              </a:lnSpc>
              <a:buNone/>
            </a:pPr>
            <a:r>
              <a:rPr lang="ar-SA" altLang="en-US" sz="2100" b="1" dirty="0">
                <a:solidFill>
                  <a:srgbClr val="1B2A4A"/>
                </a:solidFill>
                <a:latin typeface="Tahoma" pitchFamily="34" charset="0"/>
                <a:ea typeface="Tahoma" pitchFamily="34" charset="-122"/>
                <a:cs typeface="Tahoma" pitchFamily="34" charset="-120"/>
              </a:rPr>
              <a:t>أستنتج. عندما يحدث التبرعم، هل يشبه المخلوق الجديد أصله؟</a:t>
            </a:r>
            <a:endParaRPr lang="ar-SA" sz="2100" dirty="0"/>
          </a:p>
        </p:txBody>
      </p:sp>
      <p:sp>
        <p:nvSpPr>
          <p:cNvPr id="10" name="s21_t_8"/>
          <p:cNvSpPr txBox="1"/>
          <p:nvPr/>
        </p:nvSpPr>
        <p:spPr>
          <a:xfrm>
            <a:off x="594360" y="2084832"/>
            <a:ext cx="11018520" cy="1362456"/>
          </a:xfrm>
          <a:prstGeom prst="rect">
            <a:avLst/>
          </a:prstGeom>
          <a:noFill/>
          <a:ln/>
        </p:spPr>
        <p:txBody>
          <a:bodyPr wrap="square" lIns="762" tIns="762" rIns="762" bIns="762" rtlCol="0" anchor="t"/>
          <a:lstStyle/>
          <a:p>
            <a:pPr rtl="1" algn="r" indent="0" marL="0">
              <a:lnSpc>
                <a:spcPct val="108000"/>
              </a:lnSpc>
              <a:buNone/>
            </a:pPr>
            <a:r>
              <a:rPr lang="ar-SA" altLang="en-US" sz="1800" b="1" dirty="0">
                <a:solidFill>
                  <a:srgbClr val="0E7C55"/>
                </a:solidFill>
                <a:latin typeface="Tahoma" pitchFamily="34" charset="0"/>
                <a:ea typeface="Tahoma" pitchFamily="34" charset="-122"/>
                <a:cs typeface="Tahoma" pitchFamily="34" charset="-120"/>
              </a:rPr>
              <a:t>نعم يشبهه؛ لأن نواة الخلية الأم تنقسم انقسامًا متساويًا، فتتكوّن كروموسومات المخلوق الجديد مماثلة لكروموسومات أصله.</a:t>
            </a:r>
            <a:endParaRPr lang="ar-SA" sz="1800" dirty="0"/>
          </a:p>
        </p:txBody>
      </p:sp>
      <p:pic>
        <p:nvPicPr>
          <p:cNvPr id="11" name="s21_pic_9" descr="/tmp/claude-0/-home-user-Scienceshamah/8386cda7-7741-5ea4-8952-60ee8e67fc31/scratchpad/w4/img/scr_1359x286_8C5CFF_FFFFFF.png">    </p:cNvPr>
          <p:cNvPicPr>
            <a:picLocks noChangeAspect="1"/>
          </p:cNvPicPr>
          <p:nvPr/>
        </p:nvPicPr>
        <p:blipFill>
          <a:blip r:embed="rId7"/>
          <a:stretch>
            <a:fillRect/>
          </a:stretch>
        </p:blipFill>
        <p:spPr>
          <a:xfrm>
            <a:off x="347472" y="3639312"/>
            <a:ext cx="11512296" cy="2596896"/>
          </a:xfrm>
          <a:prstGeom prst="rect">
            <a:avLst/>
          </a:prstGeom>
        </p:spPr>
      </p:pic>
      <p:sp>
        <p:nvSpPr>
          <p:cNvPr id="12" name="s21_t_10"/>
          <p:cNvSpPr txBox="1"/>
          <p:nvPr/>
        </p:nvSpPr>
        <p:spPr>
          <a:xfrm>
            <a:off x="594360" y="3822192"/>
            <a:ext cx="11018520" cy="914400"/>
          </a:xfrm>
          <a:prstGeom prst="rect">
            <a:avLst/>
          </a:prstGeom>
          <a:noFill/>
          <a:ln/>
        </p:spPr>
        <p:txBody>
          <a:bodyPr wrap="square" lIns="762" tIns="762" rIns="762" bIns="762" rtlCol="0" anchor="ctr"/>
          <a:lstStyle/>
          <a:p>
            <a:pPr rtl="1" algn="r" indent="0" marL="0">
              <a:lnSpc>
                <a:spcPct val="108000"/>
              </a:lnSpc>
              <a:buNone/>
            </a:pPr>
            <a:r>
              <a:rPr lang="ar-SA" altLang="en-US" sz="2100" b="1" dirty="0">
                <a:solidFill>
                  <a:srgbClr val="1B2A4A"/>
                </a:solidFill>
                <a:latin typeface="Tahoma" pitchFamily="34" charset="0"/>
                <a:ea typeface="Tahoma" pitchFamily="34" charset="-122"/>
                <a:cs typeface="Tahoma" pitchFamily="34" charset="-120"/>
              </a:rPr>
              <a:t>التفكير الناقد. فيمَ يختلف الانشطار الثنائي عن الاقتران (التزاوج)؟</a:t>
            </a:r>
            <a:endParaRPr lang="ar-SA" sz="2100" dirty="0"/>
          </a:p>
        </p:txBody>
      </p:sp>
      <p:sp>
        <p:nvSpPr>
          <p:cNvPr id="13" name="s21_t_11"/>
          <p:cNvSpPr txBox="1"/>
          <p:nvPr/>
        </p:nvSpPr>
        <p:spPr>
          <a:xfrm>
            <a:off x="594360" y="4736592"/>
            <a:ext cx="11018520" cy="1316736"/>
          </a:xfrm>
          <a:prstGeom prst="rect">
            <a:avLst/>
          </a:prstGeom>
          <a:noFill/>
          <a:ln/>
        </p:spPr>
        <p:txBody>
          <a:bodyPr wrap="square" lIns="762" tIns="762" rIns="762" bIns="762" rtlCol="0" anchor="t"/>
          <a:lstStyle/>
          <a:p>
            <a:pPr rtl="1" algn="r" indent="0" marL="0">
              <a:lnSpc>
                <a:spcPct val="108000"/>
              </a:lnSpc>
              <a:buNone/>
            </a:pPr>
            <a:r>
              <a:rPr lang="ar-SA" altLang="en-US" sz="1800" b="1" dirty="0">
                <a:solidFill>
                  <a:srgbClr val="0E7C55"/>
                </a:solidFill>
                <a:latin typeface="Tahoma" pitchFamily="34" charset="0"/>
                <a:ea typeface="Tahoma" pitchFamily="34" charset="-122"/>
                <a:cs typeface="Tahoma" pitchFamily="34" charset="-120"/>
              </a:rPr>
              <a:t>الانشطار الثنائي لاجنسي ينقسم فيه المخلوق إلى مخلوقين متماثلين، أما الاقتران فجنسي تتصل فيه خليتان وتتبادلان المادة الوراثية.</a:t>
            </a:r>
            <a:endParaRPr lang="ar-SA" sz="1800" dirty="0"/>
          </a:p>
        </p:txBody>
      </p:sp>
    </p:spTree>
  </p:cSld>
  <p:clrMapOvr>
    <a:masterClrMapping/>
  </p:clrMapOvr>
  <mc:AlternateContent xmlns:mc="http://schemas.openxmlformats.org/markup-compatibility/2006">
    <mc:Choice xmlns:p14="http://schemas.microsoft.com/office/powerpoint/2010/main" Requires="p14">
      <p:transition spd="slow" p14:dur="14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10"/>
                                        </p:tgtEl>
                                        <p:attrNameLst>
                                          <p:attrName>style.visibility</p:attrName>
                                        </p:attrNameLst>
                                      </p:cBhvr>
                                      <p:to>
                                        <p:strVal val="visible"/>
                                      </p:to>
                                    </p:set>
                                    <p:animEffect transition="in" filter="fade">
                                      <p:cBhvr>
                                        <p:cTn id="6"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2" presetID="10"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22_sign" descr="مختبر اكتشفي الخطأ">    </p:cNvPr>
          <p:cNvPicPr>
            <a:picLocks noChangeAspect="1"/>
          </p:cNvPicPr>
          <p:nvPr/>
        </p:nvPicPr>
        <p:blipFill>
          <a:blip r:embed="rId2"/>
          <a:stretch>
            <a:fillRect/>
          </a:stretch>
        </p:blipFill>
        <p:spPr>
          <a:xfrm>
            <a:off x="4104627" y="91440"/>
            <a:ext cx="3982442" cy="868680"/>
          </a:xfrm>
          <a:prstGeom prst="rect">
            <a:avLst/>
          </a:prstGeom>
        </p:spPr>
      </p:pic>
      <p:sp>
        <p:nvSpPr>
          <p:cNvPr id="3" name="s22_t_1"/>
          <p:cNvSpPr txBox="1"/>
          <p:nvPr/>
        </p:nvSpPr>
        <p:spPr>
          <a:xfrm>
            <a:off x="10561320" y="274320"/>
            <a:ext cx="1325880" cy="502920"/>
          </a:xfrm>
          <a:prstGeom prst="roundRect">
            <a:avLst>
              <a:gd name="adj" fmla="val 49091"/>
            </a:avLst>
          </a:prstGeom>
          <a:solidFill>
            <a:srgbClr val="1B2A4A"/>
          </a:solidFill>
          <a:ln/>
        </p:spPr>
        <p:txBody>
          <a:bodyPr wrap="square" lIns="762" tIns="762" rIns="762" bIns="762" rtlCol="0" anchor="ctr"/>
          <a:lstStyle/>
          <a:p>
            <a:pPr rtl="1" algn="ctr" indent="0" marL="0">
              <a:lnSpc>
                <a:spcPct val="108000"/>
              </a:lnSpc>
              <a:buNone/>
            </a:pPr>
            <a:r>
              <a:rPr lang="ar-SA" altLang="en-US" sz="1700" b="1" dirty="0">
                <a:solidFill>
                  <a:srgbClr val="FFFFFF"/>
                </a:solidFill>
                <a:latin typeface="Tahoma" pitchFamily="34" charset="0"/>
                <a:ea typeface="Tahoma" pitchFamily="34" charset="-122"/>
                <a:cs typeface="Tahoma" pitchFamily="34" charset="-120"/>
              </a:rPr>
              <a:t>القاعة </a:t>
            </a:r>
            <a:r>
              <a:rPr lang="ar-SA" altLang="en-US" sz="1700" b="1" dirty="0">
                <a:solidFill>
                  <a:srgbClr val="FFFFFF"/>
                </a:solidFill>
                <a:latin typeface="Tahoma" pitchFamily="34" charset="0"/>
                <a:ea typeface="Tahoma" pitchFamily="34" charset="-122"/>
                <a:cs typeface="Tahoma" pitchFamily="34" charset="-120"/>
              </a:rPr>
              <a:t>١٥</a:t>
            </a:r>
            <a:endParaRPr lang="ar-SA" sz="1700" dirty="0"/>
          </a:p>
        </p:txBody>
      </p:sp>
      <p:sp>
        <p:nvSpPr>
          <p:cNvPr id="4" name="s22_t_2"/>
          <p:cNvSpPr txBox="1"/>
          <p:nvPr/>
        </p:nvSpPr>
        <p:spPr>
          <a:xfrm>
            <a:off x="365760" y="228600"/>
            <a:ext cx="2788920" cy="603504"/>
          </a:xfrm>
          <a:prstGeom prst="roundRect">
            <a:avLst>
              <a:gd name="adj" fmla="val 39394"/>
            </a:avLst>
          </a:prstGeom>
          <a:solidFill>
            <a:srgbClr val="FFFFFF"/>
          </a:solidFill>
          <a:ln w="25400">
            <a:solidFill>
              <a:srgbClr val="8C5CFF"/>
            </a:solidFill>
            <a:prstDash val="dash"/>
          </a:ln>
        </p:spPr>
        <p:txBody>
          <a:bodyPr wrap="square" lIns="762" tIns="762" rIns="762" bIns="762" rtlCol="0" anchor="ctr"/>
          <a:lstStyle/>
          <a:p>
            <a:pPr rtl="1" algn="ctr" indent="0" marL="0">
              <a:lnSpc>
                <a:spcPct val="108000"/>
              </a:lnSpc>
              <a:buNone/>
            </a:pPr>
            <a:r>
              <a:rPr lang="ar-SA" altLang="en-US" sz="1350" b="1" dirty="0">
                <a:solidFill>
                  <a:srgbClr val="C2366F"/>
                </a:solidFill>
                <a:latin typeface="Tahoma" pitchFamily="34" charset="0"/>
                <a:ea typeface="Tahoma" pitchFamily="34" charset="-122"/>
                <a:cs typeface="Tahoma" pitchFamily="34" charset="-120"/>
              </a:rPr>
              <a:t>الاستراتيجية: </a:t>
            </a:r>
            <a:r>
              <a:rPr lang="ar-SA" altLang="en-US" sz="1350" b="1" dirty="0">
                <a:solidFill>
                  <a:srgbClr val="34405E"/>
                </a:solidFill>
                <a:latin typeface="Tahoma" pitchFamily="34" charset="0"/>
                <a:ea typeface="Tahoma" pitchFamily="34" charset="-122"/>
                <a:cs typeface="Tahoma" pitchFamily="34" charset="-120"/>
              </a:rPr>
              <a:t>التناقض المعرفي</a:t>
            </a:r>
            <a:endParaRPr lang="ar-SA" sz="1350" dirty="0"/>
          </a:p>
        </p:txBody>
      </p:sp>
      <p:sp>
        <p:nvSpPr>
          <p:cNvPr id="5" name="s22_t_3">
            <a:hlinkClick r:id="rId3" tooltip="الانتقال إلى القاعة التالية" action="ppaction://hlinksldjump"/>
          </p:cNvPr>
          <p:cNvSpPr txBox="1"/>
          <p:nvPr/>
        </p:nvSpPr>
        <p:spPr>
          <a:xfrm>
            <a:off x="2926080" y="6382512"/>
            <a:ext cx="2011680" cy="384048"/>
          </a:xfrm>
          <a:prstGeom prst="roundRect">
            <a:avLst>
              <a:gd name="adj" fmla="val 50000"/>
            </a:avLst>
          </a:prstGeom>
          <a:solidFill>
            <a:srgbClr val="5B6CFF"/>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القاعة التالية ◀</a:t>
            </a:r>
            <a:endParaRPr lang="ar-SA" sz="1600" dirty="0"/>
          </a:p>
        </p:txBody>
      </p:sp>
      <p:sp>
        <p:nvSpPr>
          <p:cNvPr id="6" name="s22_t_4">
            <a:hlinkClick r:id="rId4" tooltip="العودة إلى خريطة المتحف" action="ppaction://hlinksldjump"/>
          </p:cNvPr>
          <p:cNvSpPr txBox="1"/>
          <p:nvPr/>
        </p:nvSpPr>
        <p:spPr>
          <a:xfrm>
            <a:off x="5074920" y="6382512"/>
            <a:ext cx="2011680" cy="384048"/>
          </a:xfrm>
          <a:prstGeom prst="roundRect">
            <a:avLst>
              <a:gd name="adj" fmla="val 50000"/>
            </a:avLst>
          </a:prstGeom>
          <a:solidFill>
            <a:srgbClr val="0FA3B8"/>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خريطة المتحف</a:t>
            </a:r>
            <a:endParaRPr lang="ar-SA" sz="1600" dirty="0"/>
          </a:p>
        </p:txBody>
      </p:sp>
      <p:sp>
        <p:nvSpPr>
          <p:cNvPr id="7" name="s22_t_5">
            <a:hlinkClick r:id="rId5" tooltip="القاعة السابقة" action="ppaction://hlinksldjump"/>
          </p:cNvPr>
          <p:cNvSpPr txBox="1"/>
          <p:nvPr/>
        </p:nvSpPr>
        <p:spPr>
          <a:xfrm>
            <a:off x="7223760" y="6382512"/>
            <a:ext cx="1463040" cy="384048"/>
          </a:xfrm>
          <a:prstGeom prst="roundRect">
            <a:avLst>
              <a:gd name="adj" fmla="val 50000"/>
            </a:avLst>
          </a:prstGeom>
          <a:solidFill>
            <a:srgbClr val="8C9BB5"/>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السابقة</a:t>
            </a:r>
            <a:endParaRPr lang="ar-SA" sz="1600" dirty="0"/>
          </a:p>
        </p:txBody>
      </p:sp>
      <p:pic>
        <p:nvPicPr>
          <p:cNvPr id="8" name="s22_pic_6" descr="/tmp/claude-0/-home-user-Scienceshamah/8386cda7-7741-5ea4-8952-60ee8e67fc31/scratchpad/w4/img/scr_435x594_E2558F_FFFFFF.png">    </p:cNvPr>
          <p:cNvPicPr>
            <a:picLocks noChangeAspect="1"/>
          </p:cNvPicPr>
          <p:nvPr/>
        </p:nvPicPr>
        <p:blipFill>
          <a:blip r:embed="rId6"/>
          <a:stretch>
            <a:fillRect/>
          </a:stretch>
        </p:blipFill>
        <p:spPr>
          <a:xfrm>
            <a:off x="7982712" y="1078992"/>
            <a:ext cx="3831336" cy="5157216"/>
          </a:xfrm>
          <a:prstGeom prst="rect">
            <a:avLst/>
          </a:prstGeom>
        </p:spPr>
      </p:pic>
      <p:sp>
        <p:nvSpPr>
          <p:cNvPr id="9" name="s22_t_7"/>
          <p:cNvSpPr txBox="1"/>
          <p:nvPr/>
        </p:nvSpPr>
        <p:spPr>
          <a:xfrm>
            <a:off x="8229600" y="1261872"/>
            <a:ext cx="3337560" cy="1005840"/>
          </a:xfrm>
          <a:prstGeom prst="rect">
            <a:avLst/>
          </a:prstGeom>
          <a:noFill/>
          <a:ln/>
        </p:spPr>
        <p:txBody>
          <a:bodyPr wrap="square" lIns="762" tIns="762" rIns="762" bIns="762" rtlCol="0" anchor="ctr"/>
          <a:lstStyle/>
          <a:p>
            <a:pPr rtl="1" algn="ctr" indent="0" marL="0">
              <a:lnSpc>
                <a:spcPct val="108000"/>
              </a:lnSpc>
              <a:buNone/>
            </a:pPr>
            <a:r>
              <a:rPr lang="ar-SA" altLang="en-US" sz="1800" b="1" dirty="0">
                <a:solidFill>
                  <a:srgbClr val="C2366F"/>
                </a:solidFill>
                <a:latin typeface="Tahoma" pitchFamily="34" charset="0"/>
                <a:ea typeface="Tahoma" pitchFamily="34" charset="-122"/>
                <a:cs typeface="Tahoma" pitchFamily="34" charset="-120"/>
              </a:rPr>
              <a:t>❌ </a:t>
            </a:r>
            <a:r>
              <a:rPr lang="ar-SA" altLang="en-US" sz="1800" b="1" dirty="0">
                <a:solidFill>
                  <a:srgbClr val="1B2A4A"/>
                </a:solidFill>
                <a:latin typeface="Tahoma" pitchFamily="34" charset="0"/>
                <a:ea typeface="Tahoma" pitchFamily="34" charset="-122"/>
                <a:cs typeface="Tahoma" pitchFamily="34" charset="-120"/>
              </a:rPr>
              <a:t>كل الميكروبات ضارة.</a:t>
            </a:r>
            <a:endParaRPr lang="ar-SA" sz="1800" dirty="0"/>
          </a:p>
        </p:txBody>
      </p:sp>
      <p:sp>
        <p:nvSpPr>
          <p:cNvPr id="10" name="s22_t_8"/>
          <p:cNvSpPr txBox="1"/>
          <p:nvPr/>
        </p:nvSpPr>
        <p:spPr>
          <a:xfrm>
            <a:off x="8229600" y="2331720"/>
            <a:ext cx="3337560" cy="914400"/>
          </a:xfrm>
          <a:prstGeom prst="rect">
            <a:avLst/>
          </a:prstGeom>
          <a:noFill/>
          <a:ln/>
        </p:spPr>
        <p:txBody>
          <a:bodyPr wrap="square" lIns="762" tIns="762" rIns="762" bIns="762" rtlCol="0" anchor="ctr"/>
          <a:lstStyle/>
          <a:p>
            <a:pPr rtl="1" algn="ctr" indent="0" marL="0">
              <a:lnSpc>
                <a:spcPct val="108000"/>
              </a:lnSpc>
              <a:buNone/>
            </a:pPr>
            <a:r>
              <a:rPr lang="ar-SA" altLang="en-US" sz="1600" b="1" dirty="0">
                <a:solidFill>
                  <a:srgbClr val="6B4FC0"/>
                </a:solidFill>
                <a:latin typeface="Tahoma" pitchFamily="34" charset="0"/>
                <a:ea typeface="Tahoma" pitchFamily="34" charset="-122"/>
                <a:cs typeface="Tahoma" pitchFamily="34" charset="-120"/>
              </a:rPr>
              <a:t>🤔 فكّري: ما الخميرة التي نصنع بها الخبز؟</a:t>
            </a:r>
            <a:endParaRPr lang="ar-SA" sz="1600" dirty="0"/>
          </a:p>
        </p:txBody>
      </p:sp>
      <p:sp>
        <p:nvSpPr>
          <p:cNvPr id="11" name="s22_t_9"/>
          <p:cNvSpPr txBox="1"/>
          <p:nvPr/>
        </p:nvSpPr>
        <p:spPr>
          <a:xfrm>
            <a:off x="8229600" y="3337560"/>
            <a:ext cx="3337560" cy="2651760"/>
          </a:xfrm>
          <a:prstGeom prst="rect">
            <a:avLst/>
          </a:prstGeom>
          <a:noFill/>
          <a:ln/>
        </p:spPr>
        <p:txBody>
          <a:bodyPr wrap="square" lIns="762" tIns="762" rIns="762" bIns="762" rtlCol="0" anchor="t"/>
          <a:lstStyle/>
          <a:p>
            <a:pPr rtl="1" algn="ctr" indent="0" marL="0">
              <a:lnSpc>
                <a:spcPct val="108000"/>
              </a:lnSpc>
              <a:buNone/>
            </a:pPr>
            <a:r>
              <a:rPr lang="ar-SA" altLang="en-US" sz="1600" b="1" dirty="0">
                <a:solidFill>
                  <a:srgbClr val="0E7C55"/>
                </a:solidFill>
                <a:latin typeface="Tahoma" pitchFamily="34" charset="0"/>
                <a:ea typeface="Tahoma" pitchFamily="34" charset="-122"/>
                <a:cs typeface="Tahoma" pitchFamily="34" charset="-120"/>
              </a:rPr>
              <a:t>✔ التصحيح: مصطلح الميكروبات يصف المخلوقات الدقيقة المفيدة والضارة؛ فمعظم البكتيريا غير ضار، والخميرة مفيدة.</a:t>
            </a:r>
            <a:endParaRPr lang="ar-SA" sz="1600" dirty="0"/>
          </a:p>
        </p:txBody>
      </p:sp>
      <p:pic>
        <p:nvPicPr>
          <p:cNvPr id="12" name="s22_pic_10" descr="/tmp/claude-0/-home-user-Scienceshamah/8386cda7-7741-5ea4-8952-60ee8e67fc31/scratchpad/w4/img/scr_435x594_8C5CFF_FFFFFF.png">    </p:cNvPr>
          <p:cNvPicPr>
            <a:picLocks noChangeAspect="1"/>
          </p:cNvPicPr>
          <p:nvPr/>
        </p:nvPicPr>
        <p:blipFill>
          <a:blip r:embed="rId7"/>
          <a:stretch>
            <a:fillRect/>
          </a:stretch>
        </p:blipFill>
        <p:spPr>
          <a:xfrm>
            <a:off x="4142232" y="1078992"/>
            <a:ext cx="3831336" cy="5157216"/>
          </a:xfrm>
          <a:prstGeom prst="rect">
            <a:avLst/>
          </a:prstGeom>
        </p:spPr>
      </p:pic>
      <p:sp>
        <p:nvSpPr>
          <p:cNvPr id="13" name="s22_t_11"/>
          <p:cNvSpPr txBox="1"/>
          <p:nvPr/>
        </p:nvSpPr>
        <p:spPr>
          <a:xfrm>
            <a:off x="4389120" y="1261872"/>
            <a:ext cx="3337560" cy="1005840"/>
          </a:xfrm>
          <a:prstGeom prst="rect">
            <a:avLst/>
          </a:prstGeom>
          <a:noFill/>
          <a:ln/>
        </p:spPr>
        <p:txBody>
          <a:bodyPr wrap="square" lIns="762" tIns="762" rIns="762" bIns="762" rtlCol="0" anchor="ctr"/>
          <a:lstStyle/>
          <a:p>
            <a:pPr rtl="1" algn="ctr" indent="0" marL="0">
              <a:lnSpc>
                <a:spcPct val="108000"/>
              </a:lnSpc>
              <a:buNone/>
            </a:pPr>
            <a:r>
              <a:rPr lang="ar-SA" altLang="en-US" sz="1800" b="1" dirty="0">
                <a:solidFill>
                  <a:srgbClr val="C2366F"/>
                </a:solidFill>
                <a:latin typeface="Tahoma" pitchFamily="34" charset="0"/>
                <a:ea typeface="Tahoma" pitchFamily="34" charset="-122"/>
                <a:cs typeface="Tahoma" pitchFamily="34" charset="-120"/>
              </a:rPr>
              <a:t>❌ </a:t>
            </a:r>
            <a:r>
              <a:rPr lang="ar-SA" altLang="en-US" sz="1800" b="1" dirty="0">
                <a:solidFill>
                  <a:srgbClr val="1B2A4A"/>
                </a:solidFill>
                <a:latin typeface="Tahoma" pitchFamily="34" charset="0"/>
                <a:ea typeface="Tahoma" pitchFamily="34" charset="-122"/>
                <a:cs typeface="Tahoma" pitchFamily="34" charset="-120"/>
              </a:rPr>
              <a:t>الفطريات المجهرية تصنع غذاءها بنفسها.</a:t>
            </a:r>
            <a:endParaRPr lang="ar-SA" sz="1800" dirty="0"/>
          </a:p>
        </p:txBody>
      </p:sp>
      <p:sp>
        <p:nvSpPr>
          <p:cNvPr id="14" name="s22_t_12"/>
          <p:cNvSpPr txBox="1"/>
          <p:nvPr/>
        </p:nvSpPr>
        <p:spPr>
          <a:xfrm>
            <a:off x="4389120" y="2331720"/>
            <a:ext cx="3337560" cy="914400"/>
          </a:xfrm>
          <a:prstGeom prst="rect">
            <a:avLst/>
          </a:prstGeom>
          <a:noFill/>
          <a:ln/>
        </p:spPr>
        <p:txBody>
          <a:bodyPr wrap="square" lIns="762" tIns="762" rIns="762" bIns="762" rtlCol="0" anchor="ctr"/>
          <a:lstStyle/>
          <a:p>
            <a:pPr rtl="1" algn="ctr" indent="0" marL="0">
              <a:lnSpc>
                <a:spcPct val="108000"/>
              </a:lnSpc>
              <a:buNone/>
            </a:pPr>
            <a:r>
              <a:rPr lang="ar-SA" altLang="en-US" sz="1600" b="1" dirty="0">
                <a:solidFill>
                  <a:srgbClr val="6B4FC0"/>
                </a:solidFill>
                <a:latin typeface="Tahoma" pitchFamily="34" charset="0"/>
                <a:ea typeface="Tahoma" pitchFamily="34" charset="-122"/>
                <a:cs typeface="Tahoma" pitchFamily="34" charset="-120"/>
              </a:rPr>
              <a:t>🤔 فكّري: ماذا قال الكتاب عن غذاء الفطريات؟</a:t>
            </a:r>
            <a:endParaRPr lang="ar-SA" sz="1600" dirty="0"/>
          </a:p>
        </p:txBody>
      </p:sp>
      <p:sp>
        <p:nvSpPr>
          <p:cNvPr id="15" name="s22_t_13"/>
          <p:cNvSpPr txBox="1"/>
          <p:nvPr/>
        </p:nvSpPr>
        <p:spPr>
          <a:xfrm>
            <a:off x="4389120" y="3337560"/>
            <a:ext cx="3337560" cy="2651760"/>
          </a:xfrm>
          <a:prstGeom prst="rect">
            <a:avLst/>
          </a:prstGeom>
          <a:noFill/>
          <a:ln/>
        </p:spPr>
        <p:txBody>
          <a:bodyPr wrap="square" lIns="762" tIns="762" rIns="762" bIns="762" rtlCol="0" anchor="t"/>
          <a:lstStyle/>
          <a:p>
            <a:pPr rtl="1" algn="ctr" indent="0" marL="0">
              <a:lnSpc>
                <a:spcPct val="108000"/>
              </a:lnSpc>
              <a:buNone/>
            </a:pPr>
            <a:r>
              <a:rPr lang="ar-SA" altLang="en-US" sz="1600" b="1" dirty="0">
                <a:solidFill>
                  <a:srgbClr val="0E7C55"/>
                </a:solidFill>
                <a:latin typeface="Tahoma" pitchFamily="34" charset="0"/>
                <a:ea typeface="Tahoma" pitchFamily="34" charset="-122"/>
                <a:cs typeface="Tahoma" pitchFamily="34" charset="-120"/>
              </a:rPr>
              <a:t>✔ التصحيح: لا تستطيع صنع غذائها، بل تمتص المواد المغذية من الوسط الذي تعيش فيه.</a:t>
            </a:r>
            <a:endParaRPr lang="ar-SA" sz="1600" dirty="0"/>
          </a:p>
        </p:txBody>
      </p:sp>
      <p:pic>
        <p:nvPicPr>
          <p:cNvPr id="16" name="s22_pic_14" descr="/tmp/claude-0/-home-user-Scienceshamah/8386cda7-7741-5ea4-8952-60ee8e67fc31/scratchpad/w4/img/scr_435x594_3D8BFF_FFFFFF.png">    </p:cNvPr>
          <p:cNvPicPr>
            <a:picLocks noChangeAspect="1"/>
          </p:cNvPicPr>
          <p:nvPr/>
        </p:nvPicPr>
        <p:blipFill>
          <a:blip r:embed="rId8"/>
          <a:stretch>
            <a:fillRect/>
          </a:stretch>
        </p:blipFill>
        <p:spPr>
          <a:xfrm>
            <a:off x="301752" y="1078992"/>
            <a:ext cx="3831336" cy="5157216"/>
          </a:xfrm>
          <a:prstGeom prst="rect">
            <a:avLst/>
          </a:prstGeom>
        </p:spPr>
      </p:pic>
      <p:sp>
        <p:nvSpPr>
          <p:cNvPr id="17" name="s22_t_15"/>
          <p:cNvSpPr txBox="1"/>
          <p:nvPr/>
        </p:nvSpPr>
        <p:spPr>
          <a:xfrm>
            <a:off x="548640" y="1261872"/>
            <a:ext cx="3337560" cy="1005840"/>
          </a:xfrm>
          <a:prstGeom prst="rect">
            <a:avLst/>
          </a:prstGeom>
          <a:noFill/>
          <a:ln/>
        </p:spPr>
        <p:txBody>
          <a:bodyPr wrap="square" lIns="762" tIns="762" rIns="762" bIns="762" rtlCol="0" anchor="ctr"/>
          <a:lstStyle/>
          <a:p>
            <a:pPr rtl="1" algn="ctr" indent="0" marL="0">
              <a:lnSpc>
                <a:spcPct val="108000"/>
              </a:lnSpc>
              <a:buNone/>
            </a:pPr>
            <a:r>
              <a:rPr lang="ar-SA" altLang="en-US" sz="1800" b="1" dirty="0">
                <a:solidFill>
                  <a:srgbClr val="C2366F"/>
                </a:solidFill>
                <a:latin typeface="Tahoma" pitchFamily="34" charset="0"/>
                <a:ea typeface="Tahoma" pitchFamily="34" charset="-122"/>
                <a:cs typeface="Tahoma" pitchFamily="34" charset="-120"/>
              </a:rPr>
              <a:t>❌ </a:t>
            </a:r>
            <a:r>
              <a:rPr lang="ar-SA" altLang="en-US" sz="1800" b="1" dirty="0">
                <a:solidFill>
                  <a:srgbClr val="1B2A4A"/>
                </a:solidFill>
                <a:latin typeface="Tahoma" pitchFamily="34" charset="0"/>
                <a:ea typeface="Tahoma" pitchFamily="34" charset="-122"/>
                <a:cs typeface="Tahoma" pitchFamily="34" charset="-120"/>
              </a:rPr>
              <a:t>البرعم ينتج مخلوقًا مختلفًا عن الخلية الأم.</a:t>
            </a:r>
            <a:endParaRPr lang="ar-SA" sz="1800" dirty="0"/>
          </a:p>
        </p:txBody>
      </p:sp>
      <p:sp>
        <p:nvSpPr>
          <p:cNvPr id="18" name="s22_t_16"/>
          <p:cNvSpPr txBox="1"/>
          <p:nvPr/>
        </p:nvSpPr>
        <p:spPr>
          <a:xfrm>
            <a:off x="548640" y="2331720"/>
            <a:ext cx="3337560" cy="914400"/>
          </a:xfrm>
          <a:prstGeom prst="rect">
            <a:avLst/>
          </a:prstGeom>
          <a:noFill/>
          <a:ln/>
        </p:spPr>
        <p:txBody>
          <a:bodyPr wrap="square" lIns="762" tIns="762" rIns="762" bIns="762" rtlCol="0" anchor="ctr"/>
          <a:lstStyle/>
          <a:p>
            <a:pPr rtl="1" algn="ctr" indent="0" marL="0">
              <a:lnSpc>
                <a:spcPct val="108000"/>
              </a:lnSpc>
              <a:buNone/>
            </a:pPr>
            <a:r>
              <a:rPr lang="ar-SA" altLang="en-US" sz="1600" b="1" dirty="0">
                <a:solidFill>
                  <a:srgbClr val="6B4FC0"/>
                </a:solidFill>
                <a:latin typeface="Tahoma" pitchFamily="34" charset="0"/>
                <a:ea typeface="Tahoma" pitchFamily="34" charset="-122"/>
                <a:cs typeface="Tahoma" pitchFamily="34" charset="-120"/>
              </a:rPr>
              <a:t>🤔 فكّري: كيف تنقسم نواة الخلية الأم؟</a:t>
            </a:r>
            <a:endParaRPr lang="ar-SA" sz="1600" dirty="0"/>
          </a:p>
        </p:txBody>
      </p:sp>
      <p:sp>
        <p:nvSpPr>
          <p:cNvPr id="19" name="s22_t_17"/>
          <p:cNvSpPr txBox="1"/>
          <p:nvPr/>
        </p:nvSpPr>
        <p:spPr>
          <a:xfrm>
            <a:off x="548640" y="3337560"/>
            <a:ext cx="3337560" cy="2651760"/>
          </a:xfrm>
          <a:prstGeom prst="rect">
            <a:avLst/>
          </a:prstGeom>
          <a:noFill/>
          <a:ln/>
        </p:spPr>
        <p:txBody>
          <a:bodyPr wrap="square" lIns="762" tIns="762" rIns="762" bIns="762" rtlCol="0" anchor="t"/>
          <a:lstStyle/>
          <a:p>
            <a:pPr rtl="1" algn="ctr" indent="0" marL="0">
              <a:lnSpc>
                <a:spcPct val="108000"/>
              </a:lnSpc>
              <a:buNone/>
            </a:pPr>
            <a:r>
              <a:rPr lang="ar-SA" altLang="en-US" sz="1600" b="1" dirty="0">
                <a:solidFill>
                  <a:srgbClr val="0E7C55"/>
                </a:solidFill>
                <a:latin typeface="Tahoma" pitchFamily="34" charset="0"/>
                <a:ea typeface="Tahoma" pitchFamily="34" charset="-122"/>
                <a:cs typeface="Tahoma" pitchFamily="34" charset="-120"/>
              </a:rPr>
              <a:t>✔ التصحيح: تنقسم انقسامًا متساويًا، فينتج مخلوق جديد يشبه أصله.</a:t>
            </a:r>
            <a:endParaRPr lang="ar-SA" sz="1600" dirty="0"/>
          </a:p>
        </p:txBody>
      </p:sp>
    </p:spTree>
  </p:cSld>
  <p:clrMapOvr>
    <a:masterClrMapping/>
  </p:clrMapOvr>
  <mc:AlternateContent xmlns:mc="http://schemas.openxmlformats.org/markup-compatibility/2006">
    <mc:Choice xmlns:p14="http://schemas.microsoft.com/office/powerpoint/2010/main" Requires="p14">
      <p:transition spd="slow" p14:dur="14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10"/>
                                        </p:tgtEl>
                                        <p:attrNameLst>
                                          <p:attrName>style.visibility</p:attrName>
                                        </p:attrNameLst>
                                      </p:cBhvr>
                                      <p:to>
                                        <p:strVal val="visible"/>
                                      </p:to>
                                    </p:set>
                                    <p:animEffect transition="in" filter="fade">
                                      <p:cBhvr>
                                        <p:cTn id="6"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4" presetID="53" presetClass="entr" presetSubtype="16"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p:cTn id="11" dur="500" fill="hold"/>
                                        <p:tgtEl>
                                          <p:spTgt spid="11"/>
                                        </p:tgtEl>
                                        <p:attrNameLst>
                                          <p:attrName>ppt_w</p:attrName>
                                        </p:attrNameLst>
                                      </p:cBhvr>
                                      <p:tavLst>
                                        <p:tav tm="0">
                                          <p:val>
                                            <p:fltVal val="0"/>
                                          </p:val>
                                        </p:tav>
                                        <p:tav tm="100000">
                                          <p:val>
                                            <p:strVal val="#ppt_w"/>
                                          </p:val>
                                        </p:tav>
                                      </p:tavLst>
                                    </p:anim>
                                    <p:anim calcmode="lin" valueType="num">
                                      <p:cBhvr>
                                        <p:cTn id="12" dur="500" fill="hold"/>
                                        <p:tgtEl>
                                          <p:spTgt spid="11"/>
                                        </p:tgtEl>
                                        <p:attrNameLst>
                                          <p:attrName>ppt_h</p:attrName>
                                        </p:attrNameLst>
                                      </p:cBhvr>
                                      <p:tavLst>
                                        <p:tav tm="0">
                                          <p:val>
                                            <p:fltVal val="0"/>
                                          </p:val>
                                        </p:tav>
                                        <p:tav tm="100000">
                                          <p:val>
                                            <p:strVal val="#ppt_h"/>
                                          </p:val>
                                        </p:tav>
                                      </p:tavLst>
                                    </p:anim>
                                    <p:animEffect transition="in" filter="fade">
                                      <p:cBhvr>
                                        <p:cTn id="13" dur="500"/>
                                        <p:tgtEl>
                                          <p:spTgt spid="11"/>
                                        </p:tgtEl>
                                      </p:cBhvr>
                                    </p:animEffect>
                                  </p:childTnLst>
                                </p:cTn>
                              </p:par>
                            </p:childTnLst>
                          </p:cTn>
                        </p:par>
                      </p:childTnLst>
                    </p:cTn>
                  </p:par>
                  <p:par>
                    <p:cTn id="15" fill="hold">
                      <p:stCondLst>
                        <p:cond delay="indefinite"/>
                      </p:stCondLst>
                      <p:childTnLst>
                        <p:par>
                          <p:cTn id="16" fill="hold">
                            <p:stCondLst>
                              <p:cond delay="0"/>
                            </p:stCondLst>
                            <p:childTnLst>
                              <p:par>
                                <p:cTn id="19"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20" fill="hold">
                      <p:stCondLst>
                        <p:cond delay="indefinite"/>
                      </p:stCondLst>
                      <p:childTnLst>
                        <p:par>
                          <p:cTn id="21" fill="hold">
                            <p:stCondLst>
                              <p:cond delay="0"/>
                            </p:stCondLst>
                            <p:childTnLst>
                              <p:par>
                                <p:cTn id="26" presetID="5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 calcmode="lin" valueType="num">
                                      <p:cBhvr>
                                        <p:cTn id="23" dur="500" fill="hold"/>
                                        <p:tgtEl>
                                          <p:spTgt spid="15"/>
                                        </p:tgtEl>
                                        <p:attrNameLst>
                                          <p:attrName>ppt_w</p:attrName>
                                        </p:attrNameLst>
                                      </p:cBhvr>
                                      <p:tavLst>
                                        <p:tav tm="0">
                                          <p:val>
                                            <p:fltVal val="0"/>
                                          </p:val>
                                        </p:tav>
                                        <p:tav tm="100000">
                                          <p:val>
                                            <p:strVal val="#ppt_w"/>
                                          </p:val>
                                        </p:tav>
                                      </p:tavLst>
                                    </p:anim>
                                    <p:anim calcmode="lin" valueType="num">
                                      <p:cBhvr>
                                        <p:cTn id="24" dur="500" fill="hold"/>
                                        <p:tgtEl>
                                          <p:spTgt spid="15"/>
                                        </p:tgtEl>
                                        <p:attrNameLst>
                                          <p:attrName>ppt_h</p:attrName>
                                        </p:attrNameLst>
                                      </p:cBhvr>
                                      <p:tavLst>
                                        <p:tav tm="0">
                                          <p:val>
                                            <p:fltVal val="0"/>
                                          </p:val>
                                        </p:tav>
                                        <p:tav tm="100000">
                                          <p:val>
                                            <p:strVal val="#ppt_h"/>
                                          </p:val>
                                        </p:tav>
                                      </p:tavLst>
                                    </p:anim>
                                    <p:animEffect transition="in" filter="fade">
                                      <p:cBhvr>
                                        <p:cTn id="25" dur="500"/>
                                        <p:tgtEl>
                                          <p:spTgt spid="15"/>
                                        </p:tgtEl>
                                      </p:cBhvr>
                                    </p:animEffect>
                                  </p:childTnLst>
                                </p:cTn>
                              </p:par>
                            </p:childTnLst>
                          </p:cTn>
                        </p:par>
                      </p:childTnLst>
                    </p:cTn>
                  </p:par>
                  <p:par>
                    <p:cTn id="27" fill="hold">
                      <p:stCondLst>
                        <p:cond delay="indefinite"/>
                      </p:stCondLst>
                      <p:childTnLst>
                        <p:par>
                          <p:cTn id="28" fill="hold">
                            <p:stCondLst>
                              <p:cond delay="0"/>
                            </p:stCondLst>
                            <p:childTnLst>
                              <p:par>
                                <p:cTn id="31" presetID="10" presetClass="entr" presetSubtype="0" fill="hold" grpId="0" nodeType="click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500"/>
                                        <p:tgtEl>
                                          <p:spTgt spid="18"/>
                                        </p:tgtEl>
                                      </p:cBhvr>
                                    </p:animEffect>
                                  </p:childTnLst>
                                </p:cTn>
                              </p:par>
                            </p:childTnLst>
                          </p:cTn>
                        </p:par>
                      </p:childTnLst>
                    </p:cTn>
                  </p:par>
                  <p:par>
                    <p:cTn id="32" fill="hold">
                      <p:stCondLst>
                        <p:cond delay="indefinite"/>
                      </p:stCondLst>
                      <p:childTnLst>
                        <p:par>
                          <p:cTn id="33" fill="hold">
                            <p:stCondLst>
                              <p:cond delay="0"/>
                            </p:stCondLst>
                            <p:childTnLst>
                              <p:par>
                                <p:cTn id="38" presetID="53" presetClass="entr" presetSubtype="16"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 calcmode="lin" valueType="num">
                                      <p:cBhvr>
                                        <p:cTn id="35" dur="500" fill="hold"/>
                                        <p:tgtEl>
                                          <p:spTgt spid="19"/>
                                        </p:tgtEl>
                                        <p:attrNameLst>
                                          <p:attrName>ppt_w</p:attrName>
                                        </p:attrNameLst>
                                      </p:cBhvr>
                                      <p:tavLst>
                                        <p:tav tm="0">
                                          <p:val>
                                            <p:fltVal val="0"/>
                                          </p:val>
                                        </p:tav>
                                        <p:tav tm="100000">
                                          <p:val>
                                            <p:strVal val="#ppt_w"/>
                                          </p:val>
                                        </p:tav>
                                      </p:tavLst>
                                    </p:anim>
                                    <p:anim calcmode="lin" valueType="num">
                                      <p:cBhvr>
                                        <p:cTn id="36" dur="500" fill="hold"/>
                                        <p:tgtEl>
                                          <p:spTgt spid="19"/>
                                        </p:tgtEl>
                                        <p:attrNameLst>
                                          <p:attrName>ppt_h</p:attrName>
                                        </p:attrNameLst>
                                      </p:cBhvr>
                                      <p:tavLst>
                                        <p:tav tm="0">
                                          <p:val>
                                            <p:fltVal val="0"/>
                                          </p:val>
                                        </p:tav>
                                        <p:tav tm="100000">
                                          <p:val>
                                            <p:strVal val="#ppt_h"/>
                                          </p:val>
                                        </p:tav>
                                      </p:tavLst>
                                    </p:anim>
                                    <p:animEffect transition="in" filter="fade">
                                      <p:cBhvr>
                                        <p:cTn id="3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23_sign" descr="قاعة البطاقات التعليمية">    </p:cNvPr>
          <p:cNvPicPr>
            <a:picLocks noChangeAspect="1"/>
          </p:cNvPicPr>
          <p:nvPr/>
        </p:nvPicPr>
        <p:blipFill>
          <a:blip r:embed="rId2"/>
          <a:stretch>
            <a:fillRect/>
          </a:stretch>
        </p:blipFill>
        <p:spPr>
          <a:xfrm>
            <a:off x="3896382" y="91440"/>
            <a:ext cx="4398932" cy="868680"/>
          </a:xfrm>
          <a:prstGeom prst="rect">
            <a:avLst/>
          </a:prstGeom>
        </p:spPr>
      </p:pic>
      <p:sp>
        <p:nvSpPr>
          <p:cNvPr id="3" name="s23_t_1"/>
          <p:cNvSpPr txBox="1"/>
          <p:nvPr/>
        </p:nvSpPr>
        <p:spPr>
          <a:xfrm>
            <a:off x="10561320" y="274320"/>
            <a:ext cx="1325880" cy="502920"/>
          </a:xfrm>
          <a:prstGeom prst="roundRect">
            <a:avLst>
              <a:gd name="adj" fmla="val 49091"/>
            </a:avLst>
          </a:prstGeom>
          <a:solidFill>
            <a:srgbClr val="1B2A4A"/>
          </a:solidFill>
          <a:ln/>
        </p:spPr>
        <p:txBody>
          <a:bodyPr wrap="square" lIns="762" tIns="762" rIns="762" bIns="762" rtlCol="0" anchor="ctr"/>
          <a:lstStyle/>
          <a:p>
            <a:pPr rtl="1" algn="ctr" indent="0" marL="0">
              <a:lnSpc>
                <a:spcPct val="108000"/>
              </a:lnSpc>
              <a:buNone/>
            </a:pPr>
            <a:r>
              <a:rPr lang="ar-SA" altLang="en-US" sz="1700" b="1" dirty="0">
                <a:solidFill>
                  <a:srgbClr val="FFFFFF"/>
                </a:solidFill>
                <a:latin typeface="Tahoma" pitchFamily="34" charset="0"/>
                <a:ea typeface="Tahoma" pitchFamily="34" charset="-122"/>
                <a:cs typeface="Tahoma" pitchFamily="34" charset="-120"/>
              </a:rPr>
              <a:t>القاعة </a:t>
            </a:r>
            <a:r>
              <a:rPr lang="ar-SA" altLang="en-US" sz="1700" b="1" dirty="0">
                <a:solidFill>
                  <a:srgbClr val="FFFFFF"/>
                </a:solidFill>
                <a:latin typeface="Tahoma" pitchFamily="34" charset="0"/>
                <a:ea typeface="Tahoma" pitchFamily="34" charset="-122"/>
                <a:cs typeface="Tahoma" pitchFamily="34" charset="-120"/>
              </a:rPr>
              <a:t>١٦</a:t>
            </a:r>
            <a:endParaRPr lang="ar-SA" sz="1700" dirty="0"/>
          </a:p>
        </p:txBody>
      </p:sp>
      <p:sp>
        <p:nvSpPr>
          <p:cNvPr id="4" name="s23_t_2"/>
          <p:cNvSpPr txBox="1"/>
          <p:nvPr/>
        </p:nvSpPr>
        <p:spPr>
          <a:xfrm>
            <a:off x="365760" y="228600"/>
            <a:ext cx="2788920" cy="603504"/>
          </a:xfrm>
          <a:prstGeom prst="roundRect">
            <a:avLst>
              <a:gd name="adj" fmla="val 39394"/>
            </a:avLst>
          </a:prstGeom>
          <a:solidFill>
            <a:srgbClr val="FFFFFF"/>
          </a:solidFill>
          <a:ln w="25400">
            <a:solidFill>
              <a:srgbClr val="8C5CFF"/>
            </a:solidFill>
            <a:prstDash val="dash"/>
          </a:ln>
        </p:spPr>
        <p:txBody>
          <a:bodyPr wrap="square" lIns="762" tIns="762" rIns="762" bIns="762" rtlCol="0" anchor="ctr"/>
          <a:lstStyle/>
          <a:p>
            <a:pPr rtl="1" algn="ctr" indent="0" marL="0">
              <a:lnSpc>
                <a:spcPct val="108000"/>
              </a:lnSpc>
              <a:buNone/>
            </a:pPr>
            <a:r>
              <a:rPr lang="ar-SA" altLang="en-US" sz="1350" b="1" dirty="0">
                <a:solidFill>
                  <a:srgbClr val="C2366F"/>
                </a:solidFill>
                <a:latin typeface="Tahoma" pitchFamily="34" charset="0"/>
                <a:ea typeface="Tahoma" pitchFamily="34" charset="-122"/>
                <a:cs typeface="Tahoma" pitchFamily="34" charset="-120"/>
              </a:rPr>
              <a:t>الاستراتيجية: </a:t>
            </a:r>
            <a:r>
              <a:rPr lang="ar-SA" altLang="en-US" sz="1350" b="1" dirty="0">
                <a:solidFill>
                  <a:srgbClr val="34405E"/>
                </a:solidFill>
                <a:latin typeface="Tahoma" pitchFamily="34" charset="0"/>
                <a:ea typeface="Tahoma" pitchFamily="34" charset="-122"/>
                <a:cs typeface="Tahoma" pitchFamily="34" charset="-120"/>
              </a:rPr>
              <a:t>التعلم باللعب</a:t>
            </a:r>
            <a:endParaRPr lang="ar-SA" sz="1350" dirty="0"/>
          </a:p>
        </p:txBody>
      </p:sp>
      <p:sp>
        <p:nvSpPr>
          <p:cNvPr id="5" name="s23_t_3">
            <a:hlinkClick r:id="rId3" tooltip="الانتقال إلى القاعة التالية" action="ppaction://hlinksldjump"/>
          </p:cNvPr>
          <p:cNvSpPr txBox="1"/>
          <p:nvPr/>
        </p:nvSpPr>
        <p:spPr>
          <a:xfrm>
            <a:off x="2926080" y="6382512"/>
            <a:ext cx="2011680" cy="384048"/>
          </a:xfrm>
          <a:prstGeom prst="roundRect">
            <a:avLst>
              <a:gd name="adj" fmla="val 50000"/>
            </a:avLst>
          </a:prstGeom>
          <a:solidFill>
            <a:srgbClr val="5B6CFF"/>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القاعة التالية ◀</a:t>
            </a:r>
            <a:endParaRPr lang="ar-SA" sz="1600" dirty="0"/>
          </a:p>
        </p:txBody>
      </p:sp>
      <p:sp>
        <p:nvSpPr>
          <p:cNvPr id="6" name="s23_t_4">
            <a:hlinkClick r:id="rId4" tooltip="العودة إلى خريطة المتحف" action="ppaction://hlinksldjump"/>
          </p:cNvPr>
          <p:cNvSpPr txBox="1"/>
          <p:nvPr/>
        </p:nvSpPr>
        <p:spPr>
          <a:xfrm>
            <a:off x="5074920" y="6382512"/>
            <a:ext cx="2011680" cy="384048"/>
          </a:xfrm>
          <a:prstGeom prst="roundRect">
            <a:avLst>
              <a:gd name="adj" fmla="val 50000"/>
            </a:avLst>
          </a:prstGeom>
          <a:solidFill>
            <a:srgbClr val="0FA3B8"/>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خريطة المتحف</a:t>
            </a:r>
            <a:endParaRPr lang="ar-SA" sz="1600" dirty="0"/>
          </a:p>
        </p:txBody>
      </p:sp>
      <p:sp>
        <p:nvSpPr>
          <p:cNvPr id="7" name="s23_t_5">
            <a:hlinkClick r:id="rId5" tooltip="القاعة السابقة" action="ppaction://hlinksldjump"/>
          </p:cNvPr>
          <p:cNvSpPr txBox="1"/>
          <p:nvPr/>
        </p:nvSpPr>
        <p:spPr>
          <a:xfrm>
            <a:off x="7223760" y="6382512"/>
            <a:ext cx="1463040" cy="384048"/>
          </a:xfrm>
          <a:prstGeom prst="roundRect">
            <a:avLst>
              <a:gd name="adj" fmla="val 50000"/>
            </a:avLst>
          </a:prstGeom>
          <a:solidFill>
            <a:srgbClr val="8C9BB5"/>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السابقة</a:t>
            </a:r>
            <a:endParaRPr lang="ar-SA" sz="1600" dirty="0"/>
          </a:p>
        </p:txBody>
      </p:sp>
      <p:pic>
        <p:nvPicPr>
          <p:cNvPr id="8" name="s23_pic_6" descr="/tmp/claude-0/-home-user-Scienceshamah/8386cda7-7741-5ea4-8952-60ee8e67fc31/scratchpad/w4/img/scr_435x281_8C5CFF_FFFFFF.png">    </p:cNvPr>
          <p:cNvPicPr>
            <a:picLocks noChangeAspect="1"/>
          </p:cNvPicPr>
          <p:nvPr/>
        </p:nvPicPr>
        <p:blipFill>
          <a:blip r:embed="rId6"/>
          <a:stretch>
            <a:fillRect/>
          </a:stretch>
        </p:blipFill>
        <p:spPr>
          <a:xfrm>
            <a:off x="7982712" y="1078992"/>
            <a:ext cx="3831336" cy="2551176"/>
          </a:xfrm>
          <a:prstGeom prst="rect">
            <a:avLst/>
          </a:prstGeom>
        </p:spPr>
      </p:pic>
      <p:sp>
        <p:nvSpPr>
          <p:cNvPr id="9" name="s23_t_7"/>
          <p:cNvSpPr txBox="1"/>
          <p:nvPr/>
        </p:nvSpPr>
        <p:spPr>
          <a:xfrm>
            <a:off x="8183880" y="1261872"/>
            <a:ext cx="3429000" cy="457200"/>
          </a:xfrm>
          <a:prstGeom prst="rect">
            <a:avLst/>
          </a:prstGeom>
          <a:noFill/>
          <a:ln/>
        </p:spPr>
        <p:txBody>
          <a:bodyPr wrap="square" lIns="762" tIns="762" rIns="762" bIns="762" rtlCol="0" anchor="ctr"/>
          <a:lstStyle/>
          <a:p>
            <a:pPr rtl="1" algn="ctr" indent="0" marL="0">
              <a:lnSpc>
                <a:spcPct val="108000"/>
              </a:lnSpc>
              <a:buNone/>
            </a:pPr>
            <a:r>
              <a:rPr lang="ar-SA" altLang="en-US" sz="1800" b="1" dirty="0">
                <a:solidFill>
                  <a:srgbClr val="8C5CFF"/>
                </a:solidFill>
                <a:latin typeface="Tahoma" pitchFamily="34" charset="0"/>
                <a:ea typeface="Tahoma" pitchFamily="34" charset="-122"/>
                <a:cs typeface="Tahoma" pitchFamily="34" charset="-120"/>
              </a:rPr>
              <a:t>من أنا؟</a:t>
            </a:r>
            <a:endParaRPr lang="ar-SA" sz="1800" dirty="0"/>
          </a:p>
        </p:txBody>
      </p:sp>
      <p:sp>
        <p:nvSpPr>
          <p:cNvPr id="10" name="s23_t_8"/>
          <p:cNvSpPr txBox="1"/>
          <p:nvPr/>
        </p:nvSpPr>
        <p:spPr>
          <a:xfrm>
            <a:off x="8229600" y="1737360"/>
            <a:ext cx="3337560" cy="868680"/>
          </a:xfrm>
          <a:prstGeom prst="rect">
            <a:avLst/>
          </a:prstGeom>
          <a:noFill/>
          <a:ln/>
        </p:spPr>
        <p:txBody>
          <a:bodyPr wrap="square" lIns="762" tIns="762" rIns="762" bIns="762" rtlCol="0" anchor="ctr"/>
          <a:lstStyle/>
          <a:p>
            <a:pPr rtl="1" algn="ctr" indent="0" marL="0">
              <a:lnSpc>
                <a:spcPct val="108000"/>
              </a:lnSpc>
              <a:buNone/>
            </a:pPr>
            <a:r>
              <a:rPr lang="ar-SA" altLang="en-US" sz="1600" b="1" dirty="0">
                <a:solidFill>
                  <a:srgbClr val="1B2A4A"/>
                </a:solidFill>
                <a:latin typeface="Tahoma" pitchFamily="34" charset="0"/>
                <a:ea typeface="Tahoma" pitchFamily="34" charset="-122"/>
                <a:cs typeface="Tahoma" pitchFamily="34" charset="-120"/>
              </a:rPr>
              <a:t>أنقسم إلى مخلوقين متماثلين.</a:t>
            </a:r>
            <a:endParaRPr lang="ar-SA" sz="1600" dirty="0"/>
          </a:p>
        </p:txBody>
      </p:sp>
      <p:sp>
        <p:nvSpPr>
          <p:cNvPr id="11" name="s23_t_9"/>
          <p:cNvSpPr txBox="1"/>
          <p:nvPr/>
        </p:nvSpPr>
        <p:spPr>
          <a:xfrm>
            <a:off x="8321040" y="2670048"/>
            <a:ext cx="3154680" cy="685800"/>
          </a:xfrm>
          <a:prstGeom prst="roundRect">
            <a:avLst>
              <a:gd name="adj" fmla="val 20000"/>
            </a:avLst>
          </a:prstGeom>
          <a:solidFill>
            <a:srgbClr val="E8FFF4"/>
          </a:solidFill>
          <a:ln/>
        </p:spPr>
        <p:txBody>
          <a:bodyPr wrap="square" lIns="762" tIns="762" rIns="762" bIns="762" rtlCol="0" anchor="ctr"/>
          <a:lstStyle/>
          <a:p>
            <a:pPr rtl="1" algn="ctr" indent="0" marL="0">
              <a:lnSpc>
                <a:spcPct val="108000"/>
              </a:lnSpc>
              <a:buNone/>
            </a:pPr>
            <a:r>
              <a:rPr lang="ar-SA" altLang="en-US" sz="1500" b="1" dirty="0">
                <a:solidFill>
                  <a:srgbClr val="0E7C55"/>
                </a:solidFill>
                <a:latin typeface="Tahoma" pitchFamily="34" charset="0"/>
                <a:ea typeface="Tahoma" pitchFamily="34" charset="-122"/>
                <a:cs typeface="Tahoma" pitchFamily="34" charset="-120"/>
              </a:rPr>
              <a:t>✔ الانشطار الثنائي</a:t>
            </a:r>
            <a:endParaRPr lang="ar-SA" sz="1500" dirty="0"/>
          </a:p>
        </p:txBody>
      </p:sp>
      <p:pic>
        <p:nvPicPr>
          <p:cNvPr id="12" name="s23_pic_10" descr="/tmp/claude-0/-home-user-Scienceshamah/8386cda7-7741-5ea4-8952-60ee8e67fc31/scratchpad/w4/img/scr_435x281_14B88A_FFFFFF.png">    </p:cNvPr>
          <p:cNvPicPr>
            <a:picLocks noChangeAspect="1"/>
          </p:cNvPicPr>
          <p:nvPr/>
        </p:nvPicPr>
        <p:blipFill>
          <a:blip r:embed="rId7"/>
          <a:stretch>
            <a:fillRect/>
          </a:stretch>
        </p:blipFill>
        <p:spPr>
          <a:xfrm>
            <a:off x="4142232" y="1078992"/>
            <a:ext cx="3831336" cy="2551176"/>
          </a:xfrm>
          <a:prstGeom prst="rect">
            <a:avLst/>
          </a:prstGeom>
        </p:spPr>
      </p:pic>
      <p:sp>
        <p:nvSpPr>
          <p:cNvPr id="13" name="s23_t_11"/>
          <p:cNvSpPr txBox="1"/>
          <p:nvPr/>
        </p:nvSpPr>
        <p:spPr>
          <a:xfrm>
            <a:off x="4343400" y="1261872"/>
            <a:ext cx="3429000" cy="457200"/>
          </a:xfrm>
          <a:prstGeom prst="rect">
            <a:avLst/>
          </a:prstGeom>
          <a:noFill/>
          <a:ln/>
        </p:spPr>
        <p:txBody>
          <a:bodyPr wrap="square" lIns="762" tIns="762" rIns="762" bIns="762" rtlCol="0" anchor="ctr"/>
          <a:lstStyle/>
          <a:p>
            <a:pPr rtl="1" algn="ctr" indent="0" marL="0">
              <a:lnSpc>
                <a:spcPct val="108000"/>
              </a:lnSpc>
              <a:buNone/>
            </a:pPr>
            <a:r>
              <a:rPr lang="ar-SA" altLang="en-US" sz="1800" b="1" dirty="0">
                <a:solidFill>
                  <a:srgbClr val="14B88A"/>
                </a:solidFill>
                <a:latin typeface="Tahoma" pitchFamily="34" charset="0"/>
                <a:ea typeface="Tahoma" pitchFamily="34" charset="-122"/>
                <a:cs typeface="Tahoma" pitchFamily="34" charset="-120"/>
              </a:rPr>
              <a:t>اختاري المفهوم</a:t>
            </a:r>
            <a:endParaRPr lang="ar-SA" sz="1800" dirty="0"/>
          </a:p>
        </p:txBody>
      </p:sp>
      <p:sp>
        <p:nvSpPr>
          <p:cNvPr id="14" name="s23_t_12"/>
          <p:cNvSpPr txBox="1"/>
          <p:nvPr/>
        </p:nvSpPr>
        <p:spPr>
          <a:xfrm>
            <a:off x="4389120" y="1737360"/>
            <a:ext cx="3337560" cy="868680"/>
          </a:xfrm>
          <a:prstGeom prst="rect">
            <a:avLst/>
          </a:prstGeom>
          <a:noFill/>
          <a:ln/>
        </p:spPr>
        <p:txBody>
          <a:bodyPr wrap="square" lIns="762" tIns="762" rIns="762" bIns="762" rtlCol="0" anchor="ctr"/>
          <a:lstStyle/>
          <a:p>
            <a:pPr rtl="1" algn="ctr" indent="0" marL="0">
              <a:lnSpc>
                <a:spcPct val="108000"/>
              </a:lnSpc>
              <a:buNone/>
            </a:pPr>
            <a:r>
              <a:rPr lang="ar-SA" altLang="en-US" sz="1600" b="1" dirty="0">
                <a:solidFill>
                  <a:srgbClr val="1B2A4A"/>
                </a:solidFill>
                <a:latin typeface="Tahoma" pitchFamily="34" charset="0"/>
                <a:ea typeface="Tahoma" pitchFamily="34" charset="-122"/>
                <a:cs typeface="Tahoma" pitchFamily="34" charset="-120"/>
              </a:rPr>
              <a:t>تكاثر الخميرة يكون بـ: (التبرعم / الاقتران)</a:t>
            </a:r>
            <a:endParaRPr lang="ar-SA" sz="1600" dirty="0"/>
          </a:p>
        </p:txBody>
      </p:sp>
      <p:sp>
        <p:nvSpPr>
          <p:cNvPr id="15" name="s23_t_13"/>
          <p:cNvSpPr txBox="1"/>
          <p:nvPr/>
        </p:nvSpPr>
        <p:spPr>
          <a:xfrm>
            <a:off x="4480560" y="2670048"/>
            <a:ext cx="3154680" cy="685800"/>
          </a:xfrm>
          <a:prstGeom prst="roundRect">
            <a:avLst>
              <a:gd name="adj" fmla="val 20000"/>
            </a:avLst>
          </a:prstGeom>
          <a:solidFill>
            <a:srgbClr val="E8FFF4"/>
          </a:solidFill>
          <a:ln/>
        </p:spPr>
        <p:txBody>
          <a:bodyPr wrap="square" lIns="762" tIns="762" rIns="762" bIns="762" rtlCol="0" anchor="ctr"/>
          <a:lstStyle/>
          <a:p>
            <a:pPr rtl="1" algn="ctr" indent="0" marL="0">
              <a:lnSpc>
                <a:spcPct val="108000"/>
              </a:lnSpc>
              <a:buNone/>
            </a:pPr>
            <a:r>
              <a:rPr lang="ar-SA" altLang="en-US" sz="1500" b="1" dirty="0">
                <a:solidFill>
                  <a:srgbClr val="0E7C55"/>
                </a:solidFill>
                <a:latin typeface="Tahoma" pitchFamily="34" charset="0"/>
                <a:ea typeface="Tahoma" pitchFamily="34" charset="-122"/>
                <a:cs typeface="Tahoma" pitchFamily="34" charset="-120"/>
              </a:rPr>
              <a:t>✔ التبرعم</a:t>
            </a:r>
            <a:endParaRPr lang="ar-SA" sz="1500" dirty="0"/>
          </a:p>
        </p:txBody>
      </p:sp>
      <p:pic>
        <p:nvPicPr>
          <p:cNvPr id="16" name="s23_pic_14" descr="/tmp/claude-0/-home-user-Scienceshamah/8386cda7-7741-5ea4-8952-60ee8e67fc31/scratchpad/w4/img/scr_435x281_0FA3B8_FFFFFF.png">    </p:cNvPr>
          <p:cNvPicPr>
            <a:picLocks noChangeAspect="1"/>
          </p:cNvPicPr>
          <p:nvPr/>
        </p:nvPicPr>
        <p:blipFill>
          <a:blip r:embed="rId8"/>
          <a:stretch>
            <a:fillRect/>
          </a:stretch>
        </p:blipFill>
        <p:spPr>
          <a:xfrm>
            <a:off x="301752" y="1078992"/>
            <a:ext cx="3831336" cy="2551176"/>
          </a:xfrm>
          <a:prstGeom prst="rect">
            <a:avLst/>
          </a:prstGeom>
        </p:spPr>
      </p:pic>
      <p:sp>
        <p:nvSpPr>
          <p:cNvPr id="17" name="s23_t_15"/>
          <p:cNvSpPr txBox="1"/>
          <p:nvPr/>
        </p:nvSpPr>
        <p:spPr>
          <a:xfrm>
            <a:off x="502920" y="1261872"/>
            <a:ext cx="3429000" cy="457200"/>
          </a:xfrm>
          <a:prstGeom prst="rect">
            <a:avLst/>
          </a:prstGeom>
          <a:noFill/>
          <a:ln/>
        </p:spPr>
        <p:txBody>
          <a:bodyPr wrap="square" lIns="762" tIns="762" rIns="762" bIns="762" rtlCol="0" anchor="ctr"/>
          <a:lstStyle/>
          <a:p>
            <a:pPr rtl="1" algn="ctr" indent="0" marL="0">
              <a:lnSpc>
                <a:spcPct val="108000"/>
              </a:lnSpc>
              <a:buNone/>
            </a:pPr>
            <a:r>
              <a:rPr lang="ar-SA" altLang="en-US" sz="1800" b="1" dirty="0">
                <a:solidFill>
                  <a:srgbClr val="0FA3B8"/>
                </a:solidFill>
                <a:latin typeface="Tahoma" pitchFamily="34" charset="0"/>
                <a:ea typeface="Tahoma" pitchFamily="34" charset="-122"/>
                <a:cs typeface="Tahoma" pitchFamily="34" charset="-120"/>
              </a:rPr>
              <a:t>قارني</a:t>
            </a:r>
            <a:endParaRPr lang="ar-SA" sz="1800" dirty="0"/>
          </a:p>
        </p:txBody>
      </p:sp>
      <p:sp>
        <p:nvSpPr>
          <p:cNvPr id="18" name="s23_t_16"/>
          <p:cNvSpPr txBox="1"/>
          <p:nvPr/>
        </p:nvSpPr>
        <p:spPr>
          <a:xfrm>
            <a:off x="548640" y="1737360"/>
            <a:ext cx="3337560" cy="868680"/>
          </a:xfrm>
          <a:prstGeom prst="rect">
            <a:avLst/>
          </a:prstGeom>
          <a:noFill/>
          <a:ln/>
        </p:spPr>
        <p:txBody>
          <a:bodyPr wrap="square" lIns="762" tIns="762" rIns="762" bIns="762" rtlCol="0" anchor="ctr"/>
          <a:lstStyle/>
          <a:p>
            <a:pPr rtl="1" algn="ctr" indent="0" marL="0">
              <a:lnSpc>
                <a:spcPct val="108000"/>
              </a:lnSpc>
              <a:buNone/>
            </a:pPr>
            <a:r>
              <a:rPr lang="ar-SA" altLang="en-US" sz="1600" b="1" dirty="0">
                <a:solidFill>
                  <a:srgbClr val="1B2A4A"/>
                </a:solidFill>
                <a:latin typeface="Tahoma" pitchFamily="34" charset="0"/>
                <a:ea typeface="Tahoma" pitchFamily="34" charset="-122"/>
                <a:cs typeface="Tahoma" pitchFamily="34" charset="-120"/>
              </a:rPr>
              <a:t>اليوجلينا والأميبا: أيهما تصنع غذاءها؟</a:t>
            </a:r>
            <a:endParaRPr lang="ar-SA" sz="1600" dirty="0"/>
          </a:p>
        </p:txBody>
      </p:sp>
      <p:sp>
        <p:nvSpPr>
          <p:cNvPr id="19" name="s23_t_17"/>
          <p:cNvSpPr txBox="1"/>
          <p:nvPr/>
        </p:nvSpPr>
        <p:spPr>
          <a:xfrm>
            <a:off x="640080" y="2670048"/>
            <a:ext cx="3154680" cy="685800"/>
          </a:xfrm>
          <a:prstGeom prst="roundRect">
            <a:avLst>
              <a:gd name="adj" fmla="val 20000"/>
            </a:avLst>
          </a:prstGeom>
          <a:solidFill>
            <a:srgbClr val="E8FFF4"/>
          </a:solidFill>
          <a:ln/>
        </p:spPr>
        <p:txBody>
          <a:bodyPr wrap="square" lIns="762" tIns="762" rIns="762" bIns="762" rtlCol="0" anchor="ctr"/>
          <a:lstStyle/>
          <a:p>
            <a:pPr rtl="1" algn="ctr" indent="0" marL="0">
              <a:lnSpc>
                <a:spcPct val="108000"/>
              </a:lnSpc>
              <a:buNone/>
            </a:pPr>
            <a:r>
              <a:rPr lang="ar-SA" altLang="en-US" sz="1500" b="1" dirty="0">
                <a:solidFill>
                  <a:srgbClr val="0E7C55"/>
                </a:solidFill>
                <a:latin typeface="Tahoma" pitchFamily="34" charset="0"/>
                <a:ea typeface="Tahoma" pitchFamily="34" charset="-122"/>
                <a:cs typeface="Tahoma" pitchFamily="34" charset="-120"/>
              </a:rPr>
              <a:t>✔ اليوجلينا</a:t>
            </a:r>
            <a:endParaRPr lang="ar-SA" sz="1500" dirty="0"/>
          </a:p>
        </p:txBody>
      </p:sp>
      <p:pic>
        <p:nvPicPr>
          <p:cNvPr id="20" name="s23_pic_18" descr="/tmp/claude-0/-home-user-Scienceshamah/8386cda7-7741-5ea4-8952-60ee8e67fc31/scratchpad/w4/img/scr_435x281_E3A21A_FFFFFF.png">    </p:cNvPr>
          <p:cNvPicPr>
            <a:picLocks noChangeAspect="1"/>
          </p:cNvPicPr>
          <p:nvPr/>
        </p:nvPicPr>
        <p:blipFill>
          <a:blip r:embed="rId9"/>
          <a:stretch>
            <a:fillRect/>
          </a:stretch>
        </p:blipFill>
        <p:spPr>
          <a:xfrm>
            <a:off x="7982712" y="3593592"/>
            <a:ext cx="3831336" cy="2551176"/>
          </a:xfrm>
          <a:prstGeom prst="rect">
            <a:avLst/>
          </a:prstGeom>
        </p:spPr>
      </p:pic>
      <p:sp>
        <p:nvSpPr>
          <p:cNvPr id="21" name="s23_t_19"/>
          <p:cNvSpPr txBox="1"/>
          <p:nvPr/>
        </p:nvSpPr>
        <p:spPr>
          <a:xfrm>
            <a:off x="8183880" y="3776472"/>
            <a:ext cx="3429000" cy="457200"/>
          </a:xfrm>
          <a:prstGeom prst="rect">
            <a:avLst/>
          </a:prstGeom>
          <a:noFill/>
          <a:ln/>
        </p:spPr>
        <p:txBody>
          <a:bodyPr wrap="square" lIns="762" tIns="762" rIns="762" bIns="762" rtlCol="0" anchor="ctr"/>
          <a:lstStyle/>
          <a:p>
            <a:pPr rtl="1" algn="ctr" indent="0" marL="0">
              <a:lnSpc>
                <a:spcPct val="108000"/>
              </a:lnSpc>
              <a:buNone/>
            </a:pPr>
            <a:r>
              <a:rPr lang="ar-SA" altLang="en-US" sz="1800" b="1" dirty="0">
                <a:solidFill>
                  <a:srgbClr val="E3A21A"/>
                </a:solidFill>
                <a:latin typeface="Tahoma" pitchFamily="34" charset="0"/>
                <a:ea typeface="Tahoma" pitchFamily="34" charset="-122"/>
                <a:cs typeface="Tahoma" pitchFamily="34" charset="-120"/>
              </a:rPr>
              <a:t>فسّري السبب</a:t>
            </a:r>
            <a:endParaRPr lang="ar-SA" sz="1800" dirty="0"/>
          </a:p>
        </p:txBody>
      </p:sp>
      <p:sp>
        <p:nvSpPr>
          <p:cNvPr id="22" name="s23_t_20"/>
          <p:cNvSpPr txBox="1"/>
          <p:nvPr/>
        </p:nvSpPr>
        <p:spPr>
          <a:xfrm>
            <a:off x="8229600" y="4251960"/>
            <a:ext cx="3337560" cy="868680"/>
          </a:xfrm>
          <a:prstGeom prst="rect">
            <a:avLst/>
          </a:prstGeom>
          <a:noFill/>
          <a:ln/>
        </p:spPr>
        <p:txBody>
          <a:bodyPr wrap="square" lIns="762" tIns="762" rIns="762" bIns="762" rtlCol="0" anchor="ctr"/>
          <a:lstStyle/>
          <a:p>
            <a:pPr rtl="1" algn="ctr" indent="0" marL="0">
              <a:lnSpc>
                <a:spcPct val="108000"/>
              </a:lnSpc>
              <a:buNone/>
            </a:pPr>
            <a:r>
              <a:rPr lang="ar-SA" altLang="en-US" sz="1600" b="1" dirty="0">
                <a:solidFill>
                  <a:srgbClr val="1B2A4A"/>
                </a:solidFill>
                <a:latin typeface="Tahoma" pitchFamily="34" charset="0"/>
                <a:ea typeface="Tahoma" pitchFamily="34" charset="-122"/>
                <a:cs typeface="Tahoma" pitchFamily="34" charset="-120"/>
              </a:rPr>
              <a:t>لماذا ينتفخ عجين الخبز؟</a:t>
            </a:r>
            <a:endParaRPr lang="ar-SA" sz="1600" dirty="0"/>
          </a:p>
        </p:txBody>
      </p:sp>
      <p:sp>
        <p:nvSpPr>
          <p:cNvPr id="23" name="s23_t_21"/>
          <p:cNvSpPr txBox="1"/>
          <p:nvPr/>
        </p:nvSpPr>
        <p:spPr>
          <a:xfrm>
            <a:off x="8321040" y="5184648"/>
            <a:ext cx="3154680" cy="685800"/>
          </a:xfrm>
          <a:prstGeom prst="roundRect">
            <a:avLst>
              <a:gd name="adj" fmla="val 20000"/>
            </a:avLst>
          </a:prstGeom>
          <a:solidFill>
            <a:srgbClr val="E8FFF4"/>
          </a:solidFill>
          <a:ln/>
        </p:spPr>
        <p:txBody>
          <a:bodyPr wrap="square" lIns="762" tIns="762" rIns="762" bIns="762" rtlCol="0" anchor="ctr"/>
          <a:lstStyle/>
          <a:p>
            <a:pPr rtl="1" algn="ctr" indent="0" marL="0">
              <a:lnSpc>
                <a:spcPct val="108000"/>
              </a:lnSpc>
              <a:buNone/>
            </a:pPr>
            <a:r>
              <a:rPr lang="ar-SA" altLang="en-US" sz="1500" b="1" dirty="0">
                <a:solidFill>
                  <a:srgbClr val="0E7C55"/>
                </a:solidFill>
                <a:latin typeface="Tahoma" pitchFamily="34" charset="0"/>
                <a:ea typeface="Tahoma" pitchFamily="34" charset="-122"/>
                <a:cs typeface="Tahoma" pitchFamily="34" charset="-120"/>
              </a:rPr>
              <a:t>✔ تكوّن الخميرة فقاقيع ثاني أكسيد الكربون</a:t>
            </a:r>
            <a:endParaRPr lang="ar-SA" sz="1500" dirty="0"/>
          </a:p>
        </p:txBody>
      </p:sp>
      <p:pic>
        <p:nvPicPr>
          <p:cNvPr id="24" name="s23_pic_22" descr="/tmp/claude-0/-home-user-Scienceshamah/8386cda7-7741-5ea4-8952-60ee8e67fc31/scratchpad/w4/img/scr_435x281_E2558F_FFFFFF.png">    </p:cNvPr>
          <p:cNvPicPr>
            <a:picLocks noChangeAspect="1"/>
          </p:cNvPicPr>
          <p:nvPr/>
        </p:nvPicPr>
        <p:blipFill>
          <a:blip r:embed="rId10"/>
          <a:stretch>
            <a:fillRect/>
          </a:stretch>
        </p:blipFill>
        <p:spPr>
          <a:xfrm>
            <a:off x="4142232" y="3593592"/>
            <a:ext cx="3831336" cy="2551176"/>
          </a:xfrm>
          <a:prstGeom prst="rect">
            <a:avLst/>
          </a:prstGeom>
        </p:spPr>
      </p:pic>
      <p:sp>
        <p:nvSpPr>
          <p:cNvPr id="25" name="s23_t_23"/>
          <p:cNvSpPr txBox="1"/>
          <p:nvPr/>
        </p:nvSpPr>
        <p:spPr>
          <a:xfrm>
            <a:off x="4343400" y="3776472"/>
            <a:ext cx="3429000" cy="457200"/>
          </a:xfrm>
          <a:prstGeom prst="rect">
            <a:avLst/>
          </a:prstGeom>
          <a:noFill/>
          <a:ln/>
        </p:spPr>
        <p:txBody>
          <a:bodyPr wrap="square" lIns="762" tIns="762" rIns="762" bIns="762" rtlCol="0" anchor="ctr"/>
          <a:lstStyle/>
          <a:p>
            <a:pPr rtl="1" algn="ctr" indent="0" marL="0">
              <a:lnSpc>
                <a:spcPct val="108000"/>
              </a:lnSpc>
              <a:buNone/>
            </a:pPr>
            <a:r>
              <a:rPr lang="ar-SA" altLang="en-US" sz="1800" b="1" dirty="0">
                <a:solidFill>
                  <a:srgbClr val="E2558F"/>
                </a:solidFill>
                <a:latin typeface="Tahoma" pitchFamily="34" charset="0"/>
                <a:ea typeface="Tahoma" pitchFamily="34" charset="-122"/>
                <a:cs typeface="Tahoma" pitchFamily="34" charset="-120"/>
              </a:rPr>
              <a:t>ماذا يحدث لو؟</a:t>
            </a:r>
            <a:endParaRPr lang="ar-SA" sz="1800" dirty="0"/>
          </a:p>
        </p:txBody>
      </p:sp>
      <p:sp>
        <p:nvSpPr>
          <p:cNvPr id="26" name="s23_t_24"/>
          <p:cNvSpPr txBox="1"/>
          <p:nvPr/>
        </p:nvSpPr>
        <p:spPr>
          <a:xfrm>
            <a:off x="4389120" y="4251960"/>
            <a:ext cx="3337560" cy="868680"/>
          </a:xfrm>
          <a:prstGeom prst="rect">
            <a:avLst/>
          </a:prstGeom>
          <a:noFill/>
          <a:ln/>
        </p:spPr>
        <p:txBody>
          <a:bodyPr wrap="square" lIns="762" tIns="762" rIns="762" bIns="762" rtlCol="0" anchor="ctr"/>
          <a:lstStyle/>
          <a:p>
            <a:pPr rtl="1" algn="ctr" indent="0" marL="0">
              <a:lnSpc>
                <a:spcPct val="108000"/>
              </a:lnSpc>
              <a:buNone/>
            </a:pPr>
            <a:r>
              <a:rPr lang="ar-SA" altLang="en-US" sz="1600" b="1" dirty="0">
                <a:solidFill>
                  <a:srgbClr val="1B2A4A"/>
                </a:solidFill>
                <a:latin typeface="Tahoma" pitchFamily="34" charset="0"/>
                <a:ea typeface="Tahoma" pitchFamily="34" charset="-122"/>
                <a:cs typeface="Tahoma" pitchFamily="34" charset="-120"/>
              </a:rPr>
              <a:t>لو ترك الخبز في مكان دافئ رطب؟</a:t>
            </a:r>
            <a:endParaRPr lang="ar-SA" sz="1600" dirty="0"/>
          </a:p>
        </p:txBody>
      </p:sp>
      <p:sp>
        <p:nvSpPr>
          <p:cNvPr id="27" name="s23_t_25"/>
          <p:cNvSpPr txBox="1"/>
          <p:nvPr/>
        </p:nvSpPr>
        <p:spPr>
          <a:xfrm>
            <a:off x="4480560" y="5184648"/>
            <a:ext cx="3154680" cy="685800"/>
          </a:xfrm>
          <a:prstGeom prst="roundRect">
            <a:avLst>
              <a:gd name="adj" fmla="val 20000"/>
            </a:avLst>
          </a:prstGeom>
          <a:solidFill>
            <a:srgbClr val="E8FFF4"/>
          </a:solidFill>
          <a:ln/>
        </p:spPr>
        <p:txBody>
          <a:bodyPr wrap="square" lIns="762" tIns="762" rIns="762" bIns="762" rtlCol="0" anchor="ctr"/>
          <a:lstStyle/>
          <a:p>
            <a:pPr rtl="1" algn="ctr" indent="0" marL="0">
              <a:lnSpc>
                <a:spcPct val="108000"/>
              </a:lnSpc>
              <a:buNone/>
            </a:pPr>
            <a:r>
              <a:rPr lang="ar-SA" altLang="en-US" sz="1500" b="1" dirty="0">
                <a:solidFill>
                  <a:srgbClr val="0E7C55"/>
                </a:solidFill>
                <a:latin typeface="Tahoma" pitchFamily="34" charset="0"/>
                <a:ea typeface="Tahoma" pitchFamily="34" charset="-122"/>
                <a:cs typeface="Tahoma" pitchFamily="34" charset="-120"/>
              </a:rPr>
              <a:t>✔ ينمو عليه العفن بسرعة</a:t>
            </a:r>
            <a:endParaRPr lang="ar-SA" sz="1500" dirty="0"/>
          </a:p>
        </p:txBody>
      </p:sp>
      <p:pic>
        <p:nvPicPr>
          <p:cNvPr id="28" name="s23_pic_26" descr="/tmp/claude-0/-home-user-Scienceshamah/8386cda7-7741-5ea4-8952-60ee8e67fc31/scratchpad/w4/img/scr_435x281_3D8BFF_FFFFFF.png">    </p:cNvPr>
          <p:cNvPicPr>
            <a:picLocks noChangeAspect="1"/>
          </p:cNvPicPr>
          <p:nvPr/>
        </p:nvPicPr>
        <p:blipFill>
          <a:blip r:embed="rId11"/>
          <a:stretch>
            <a:fillRect/>
          </a:stretch>
        </p:blipFill>
        <p:spPr>
          <a:xfrm>
            <a:off x="301752" y="3593592"/>
            <a:ext cx="3831336" cy="2551176"/>
          </a:xfrm>
          <a:prstGeom prst="rect">
            <a:avLst/>
          </a:prstGeom>
        </p:spPr>
      </p:pic>
      <p:sp>
        <p:nvSpPr>
          <p:cNvPr id="29" name="s23_t_27"/>
          <p:cNvSpPr txBox="1"/>
          <p:nvPr/>
        </p:nvSpPr>
        <p:spPr>
          <a:xfrm>
            <a:off x="502920" y="3776472"/>
            <a:ext cx="3429000" cy="457200"/>
          </a:xfrm>
          <a:prstGeom prst="rect">
            <a:avLst/>
          </a:prstGeom>
          <a:noFill/>
          <a:ln/>
        </p:spPr>
        <p:txBody>
          <a:bodyPr wrap="square" lIns="762" tIns="762" rIns="762" bIns="762" rtlCol="0" anchor="ctr"/>
          <a:lstStyle/>
          <a:p>
            <a:pPr rtl="1" algn="ctr" indent="0" marL="0">
              <a:lnSpc>
                <a:spcPct val="108000"/>
              </a:lnSpc>
              <a:buNone/>
            </a:pPr>
            <a:r>
              <a:rPr lang="ar-SA" altLang="en-US" sz="1800" b="1" dirty="0">
                <a:solidFill>
                  <a:srgbClr val="3D8BFF"/>
                </a:solidFill>
                <a:latin typeface="Tahoma" pitchFamily="34" charset="0"/>
                <a:ea typeface="Tahoma" pitchFamily="34" charset="-122"/>
                <a:cs typeface="Tahoma" pitchFamily="34" charset="-120"/>
              </a:rPr>
              <a:t>رتّبي</a:t>
            </a:r>
            <a:endParaRPr lang="ar-SA" sz="1800" dirty="0"/>
          </a:p>
        </p:txBody>
      </p:sp>
      <p:sp>
        <p:nvSpPr>
          <p:cNvPr id="30" name="s23_t_28"/>
          <p:cNvSpPr txBox="1"/>
          <p:nvPr/>
        </p:nvSpPr>
        <p:spPr>
          <a:xfrm>
            <a:off x="548640" y="4251960"/>
            <a:ext cx="3337560" cy="868680"/>
          </a:xfrm>
          <a:prstGeom prst="rect">
            <a:avLst/>
          </a:prstGeom>
          <a:noFill/>
          <a:ln/>
        </p:spPr>
        <p:txBody>
          <a:bodyPr wrap="square" lIns="762" tIns="762" rIns="762" bIns="762" rtlCol="0" anchor="ctr"/>
          <a:lstStyle/>
          <a:p>
            <a:pPr rtl="1" algn="ctr" indent="0" marL="0">
              <a:lnSpc>
                <a:spcPct val="108000"/>
              </a:lnSpc>
              <a:buNone/>
            </a:pPr>
            <a:r>
              <a:rPr lang="ar-SA" altLang="en-US" sz="1600" b="1" dirty="0">
                <a:solidFill>
                  <a:srgbClr val="1B2A4A"/>
                </a:solidFill>
                <a:latin typeface="Tahoma" pitchFamily="34" charset="0"/>
                <a:ea typeface="Tahoma" pitchFamily="34" charset="-122"/>
                <a:cs typeface="Tahoma" pitchFamily="34" charset="-120"/>
              </a:rPr>
              <a:t>برعم ← انقسام النواة ← ؟</a:t>
            </a:r>
            <a:endParaRPr lang="ar-SA" sz="1600" dirty="0"/>
          </a:p>
        </p:txBody>
      </p:sp>
      <p:sp>
        <p:nvSpPr>
          <p:cNvPr id="31" name="s23_t_29"/>
          <p:cNvSpPr txBox="1"/>
          <p:nvPr/>
        </p:nvSpPr>
        <p:spPr>
          <a:xfrm>
            <a:off x="640080" y="5184648"/>
            <a:ext cx="3154680" cy="685800"/>
          </a:xfrm>
          <a:prstGeom prst="roundRect">
            <a:avLst>
              <a:gd name="adj" fmla="val 20000"/>
            </a:avLst>
          </a:prstGeom>
          <a:solidFill>
            <a:srgbClr val="E8FFF4"/>
          </a:solidFill>
          <a:ln/>
        </p:spPr>
        <p:txBody>
          <a:bodyPr wrap="square" lIns="762" tIns="762" rIns="762" bIns="762" rtlCol="0" anchor="ctr"/>
          <a:lstStyle/>
          <a:p>
            <a:pPr rtl="1" algn="ctr" indent="0" marL="0">
              <a:lnSpc>
                <a:spcPct val="108000"/>
              </a:lnSpc>
              <a:buNone/>
            </a:pPr>
            <a:r>
              <a:rPr lang="ar-SA" altLang="en-US" sz="1500" b="1" dirty="0">
                <a:solidFill>
                  <a:srgbClr val="0E7C55"/>
                </a:solidFill>
                <a:latin typeface="Tahoma" pitchFamily="34" charset="0"/>
                <a:ea typeface="Tahoma" pitchFamily="34" charset="-122"/>
                <a:cs typeface="Tahoma" pitchFamily="34" charset="-120"/>
              </a:rPr>
              <a:t>✔ انفصال البرعم مخلوقًا جديدًا</a:t>
            </a:r>
            <a:endParaRPr lang="ar-SA" sz="1500" dirty="0"/>
          </a:p>
        </p:txBody>
      </p:sp>
    </p:spTree>
  </p:cSld>
  <p:clrMapOvr>
    <a:masterClrMapping/>
  </p:clrMapOvr>
  <mc:AlternateContent xmlns:mc="http://schemas.openxmlformats.org/markup-compatibility/2006">
    <mc:Choice xmlns:p14="http://schemas.microsoft.com/office/powerpoint/2010/main" Requires="p14">
      <p:transition spd="slow" p14:dur="1400">
        <p14:flythrough/>
      </p:transition>
    </mc:Choice>
    <mc:Fallback>
      <p:transition spd="slow">
        <p:fade/>
      </p:transition>
    </mc:Fallback>
  </mc:AlternateContent>
  <p:timing>
    <p:tnLst>
      <p:par>
        <p:cTn id="1" dur="indefinite" restart="never" nodeType="tmRoot">
          <p:childTnLst>
            <p:seq concurrent="1" nextAc="seek">
              <p:cTn id="3" restart="whenNotActive" fill="hold" evtFilter="cancelBubble" nodeType="interactiveSeq">
                <p:stCondLst>
                  <p:cond evt="onClick" delay="0">
                    <p:tgtEl>
                      <p:spTgt spid="8"/>
                    </p:tgtEl>
                  </p:cond>
                </p:stCondLst>
                <p:endSync evt="end" delay="0">
                  <p:rtn val="all"/>
                </p:endSync>
                <p:childTnLst>
                  <p:par>
                    <p:cTn id="4" fill="hold">
                      <p:stCondLst>
                        <p:cond delay="0"/>
                      </p:stCondLst>
                      <p:childTnLst>
                        <p:par>
                          <p:cTn id="5" fill="hold">
                            <p:stCondLst>
                              <p:cond delay="0"/>
                            </p:stCondLst>
                            <p:childTnLst>
                              <p:par>
                                <p:cTn id="10" presetID="53"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childTnLst>
                    </p:cTn>
                  </p:par>
                </p:childTnLst>
              </p:cTn>
              <p:nextCondLst>
                <p:cond evt="onClick" delay="0">
                  <p:tgtEl>
                    <p:spTgt spid="8"/>
                  </p:tgtEl>
                </p:cond>
              </p:nextCondLst>
            </p:seq>
            <p:seq concurrent="1" nextAc="seek">
              <p:cTn id="11" restart="whenNotActive" fill="hold" evtFilter="cancelBubble" nodeType="interactiveSeq">
                <p:stCondLst>
                  <p:cond evt="onClick" delay="0">
                    <p:tgtEl>
                      <p:spTgt spid="12"/>
                    </p:tgtEl>
                  </p:cond>
                </p:stCondLst>
                <p:endSync evt="end" delay="0">
                  <p:rtn val="all"/>
                </p:endSync>
                <p:childTnLst>
                  <p:par>
                    <p:cTn id="12" fill="hold">
                      <p:stCondLst>
                        <p:cond delay="0"/>
                      </p:stCondLst>
                      <p:childTnLst>
                        <p:par>
                          <p:cTn id="13" fill="hold">
                            <p:stCondLst>
                              <p:cond delay="0"/>
                            </p:stCondLst>
                            <p:childTnLst>
                              <p:par>
                                <p:cTn id="18" presetID="53" presetClass="entr" presetSubtype="16"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p:cTn id="15" dur="500" fill="hold"/>
                                        <p:tgtEl>
                                          <p:spTgt spid="15"/>
                                        </p:tgtEl>
                                        <p:attrNameLst>
                                          <p:attrName>ppt_w</p:attrName>
                                        </p:attrNameLst>
                                      </p:cBhvr>
                                      <p:tavLst>
                                        <p:tav tm="0">
                                          <p:val>
                                            <p:fltVal val="0"/>
                                          </p:val>
                                        </p:tav>
                                        <p:tav tm="100000">
                                          <p:val>
                                            <p:strVal val="#ppt_w"/>
                                          </p:val>
                                        </p:tav>
                                      </p:tavLst>
                                    </p:anim>
                                    <p:anim calcmode="lin" valueType="num">
                                      <p:cBhvr>
                                        <p:cTn id="16" dur="500" fill="hold"/>
                                        <p:tgtEl>
                                          <p:spTgt spid="15"/>
                                        </p:tgtEl>
                                        <p:attrNameLst>
                                          <p:attrName>ppt_h</p:attrName>
                                        </p:attrNameLst>
                                      </p:cBhvr>
                                      <p:tavLst>
                                        <p:tav tm="0">
                                          <p:val>
                                            <p:fltVal val="0"/>
                                          </p:val>
                                        </p:tav>
                                        <p:tav tm="100000">
                                          <p:val>
                                            <p:strVal val="#ppt_h"/>
                                          </p:val>
                                        </p:tav>
                                      </p:tavLst>
                                    </p:anim>
                                    <p:animEffect transition="in" filter="fade">
                                      <p:cBhvr>
                                        <p:cTn id="17" dur="500"/>
                                        <p:tgtEl>
                                          <p:spTgt spid="15"/>
                                        </p:tgtEl>
                                      </p:cBhvr>
                                    </p:animEffect>
                                  </p:childTnLst>
                                </p:cTn>
                              </p:par>
                            </p:childTnLst>
                          </p:cTn>
                        </p:par>
                      </p:childTnLst>
                    </p:cTn>
                  </p:par>
                </p:childTnLst>
              </p:cTn>
              <p:nextCondLst>
                <p:cond evt="onClick" delay="0">
                  <p:tgtEl>
                    <p:spTgt spid="12"/>
                  </p:tgtEl>
                </p:cond>
              </p:nextCondLst>
            </p:seq>
            <p:seq concurrent="1" nextAc="seek">
              <p:cTn id="19" restart="whenNotActive" fill="hold" evtFilter="cancelBubble" nodeType="interactiveSeq">
                <p:stCondLst>
                  <p:cond evt="onClick" delay="0">
                    <p:tgtEl>
                      <p:spTgt spid="16"/>
                    </p:tgtEl>
                  </p:cond>
                </p:stCondLst>
                <p:endSync evt="end" delay="0">
                  <p:rtn val="all"/>
                </p:endSync>
                <p:childTnLst>
                  <p:par>
                    <p:cTn id="20" fill="hold">
                      <p:stCondLst>
                        <p:cond delay="0"/>
                      </p:stCondLst>
                      <p:childTnLst>
                        <p:par>
                          <p:cTn id="21" fill="hold">
                            <p:stCondLst>
                              <p:cond delay="0"/>
                            </p:stCondLst>
                            <p:childTnLst>
                              <p:par>
                                <p:cTn id="26" presetID="53" presetClass="entr" presetSubtype="16"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anim calcmode="lin" valueType="num">
                                      <p:cBhvr>
                                        <p:cTn id="23" dur="500" fill="hold"/>
                                        <p:tgtEl>
                                          <p:spTgt spid="19"/>
                                        </p:tgtEl>
                                        <p:attrNameLst>
                                          <p:attrName>ppt_w</p:attrName>
                                        </p:attrNameLst>
                                      </p:cBhvr>
                                      <p:tavLst>
                                        <p:tav tm="0">
                                          <p:val>
                                            <p:fltVal val="0"/>
                                          </p:val>
                                        </p:tav>
                                        <p:tav tm="100000">
                                          <p:val>
                                            <p:strVal val="#ppt_w"/>
                                          </p:val>
                                        </p:tav>
                                      </p:tavLst>
                                    </p:anim>
                                    <p:anim calcmode="lin" valueType="num">
                                      <p:cBhvr>
                                        <p:cTn id="24" dur="500" fill="hold"/>
                                        <p:tgtEl>
                                          <p:spTgt spid="19"/>
                                        </p:tgtEl>
                                        <p:attrNameLst>
                                          <p:attrName>ppt_h</p:attrName>
                                        </p:attrNameLst>
                                      </p:cBhvr>
                                      <p:tavLst>
                                        <p:tav tm="0">
                                          <p:val>
                                            <p:fltVal val="0"/>
                                          </p:val>
                                        </p:tav>
                                        <p:tav tm="100000">
                                          <p:val>
                                            <p:strVal val="#ppt_h"/>
                                          </p:val>
                                        </p:tav>
                                      </p:tavLst>
                                    </p:anim>
                                    <p:animEffect transition="in" filter="fade">
                                      <p:cBhvr>
                                        <p:cTn id="25" dur="500"/>
                                        <p:tgtEl>
                                          <p:spTgt spid="19"/>
                                        </p:tgtEl>
                                      </p:cBhvr>
                                    </p:animEffect>
                                  </p:childTnLst>
                                </p:cTn>
                              </p:par>
                            </p:childTnLst>
                          </p:cTn>
                        </p:par>
                      </p:childTnLst>
                    </p:cTn>
                  </p:par>
                </p:childTnLst>
              </p:cTn>
              <p:nextCondLst>
                <p:cond evt="onClick" delay="0">
                  <p:tgtEl>
                    <p:spTgt spid="16"/>
                  </p:tgtEl>
                </p:cond>
              </p:nextCondLst>
            </p:seq>
            <p:seq concurrent="1" nextAc="seek">
              <p:cTn id="27" restart="whenNotActive" fill="hold" evtFilter="cancelBubble" nodeType="interactiveSeq">
                <p:stCondLst>
                  <p:cond evt="onClick" delay="0">
                    <p:tgtEl>
                      <p:spTgt spid="20"/>
                    </p:tgtEl>
                  </p:cond>
                </p:stCondLst>
                <p:endSync evt="end" delay="0">
                  <p:rtn val="all"/>
                </p:endSync>
                <p:childTnLst>
                  <p:par>
                    <p:cTn id="28" fill="hold">
                      <p:stCondLst>
                        <p:cond delay="0"/>
                      </p:stCondLst>
                      <p:childTnLst>
                        <p:par>
                          <p:cTn id="29" fill="hold">
                            <p:stCondLst>
                              <p:cond delay="0"/>
                            </p:stCondLst>
                            <p:childTnLst>
                              <p:par>
                                <p:cTn id="34" presetID="53" presetClass="entr" presetSubtype="16"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anim calcmode="lin" valueType="num">
                                      <p:cBhvr>
                                        <p:cTn id="31" dur="500" fill="hold"/>
                                        <p:tgtEl>
                                          <p:spTgt spid="23"/>
                                        </p:tgtEl>
                                        <p:attrNameLst>
                                          <p:attrName>ppt_w</p:attrName>
                                        </p:attrNameLst>
                                      </p:cBhvr>
                                      <p:tavLst>
                                        <p:tav tm="0">
                                          <p:val>
                                            <p:fltVal val="0"/>
                                          </p:val>
                                        </p:tav>
                                        <p:tav tm="100000">
                                          <p:val>
                                            <p:strVal val="#ppt_w"/>
                                          </p:val>
                                        </p:tav>
                                      </p:tavLst>
                                    </p:anim>
                                    <p:anim calcmode="lin" valueType="num">
                                      <p:cBhvr>
                                        <p:cTn id="32" dur="500" fill="hold"/>
                                        <p:tgtEl>
                                          <p:spTgt spid="23"/>
                                        </p:tgtEl>
                                        <p:attrNameLst>
                                          <p:attrName>ppt_h</p:attrName>
                                        </p:attrNameLst>
                                      </p:cBhvr>
                                      <p:tavLst>
                                        <p:tav tm="0">
                                          <p:val>
                                            <p:fltVal val="0"/>
                                          </p:val>
                                        </p:tav>
                                        <p:tav tm="100000">
                                          <p:val>
                                            <p:strVal val="#ppt_h"/>
                                          </p:val>
                                        </p:tav>
                                      </p:tavLst>
                                    </p:anim>
                                    <p:animEffect transition="in" filter="fade">
                                      <p:cBhvr>
                                        <p:cTn id="33" dur="500"/>
                                        <p:tgtEl>
                                          <p:spTgt spid="23"/>
                                        </p:tgtEl>
                                      </p:cBhvr>
                                    </p:animEffect>
                                  </p:childTnLst>
                                </p:cTn>
                              </p:par>
                            </p:childTnLst>
                          </p:cTn>
                        </p:par>
                      </p:childTnLst>
                    </p:cTn>
                  </p:par>
                </p:childTnLst>
              </p:cTn>
              <p:nextCondLst>
                <p:cond evt="onClick" delay="0">
                  <p:tgtEl>
                    <p:spTgt spid="20"/>
                  </p:tgtEl>
                </p:cond>
              </p:nextCondLst>
            </p:seq>
            <p:seq concurrent="1" nextAc="seek">
              <p:cTn id="35" restart="whenNotActive" fill="hold" evtFilter="cancelBubble" nodeType="interactiveSeq">
                <p:stCondLst>
                  <p:cond evt="onClick" delay="0">
                    <p:tgtEl>
                      <p:spTgt spid="24"/>
                    </p:tgtEl>
                  </p:cond>
                </p:stCondLst>
                <p:endSync evt="end" delay="0">
                  <p:rtn val="all"/>
                </p:endSync>
                <p:childTnLst>
                  <p:par>
                    <p:cTn id="36" fill="hold">
                      <p:stCondLst>
                        <p:cond delay="0"/>
                      </p:stCondLst>
                      <p:childTnLst>
                        <p:par>
                          <p:cTn id="37" fill="hold">
                            <p:stCondLst>
                              <p:cond delay="0"/>
                            </p:stCondLst>
                            <p:childTnLst>
                              <p:par>
                                <p:cTn id="42" presetID="53" presetClass="entr" presetSubtype="16" fill="hold" grpId="0" nodeType="clickEffect">
                                  <p:stCondLst>
                                    <p:cond delay="0"/>
                                  </p:stCondLst>
                                  <p:childTnLst>
                                    <p:set>
                                      <p:cBhvr>
                                        <p:cTn id="38" dur="1" fill="hold">
                                          <p:stCondLst>
                                            <p:cond delay="0"/>
                                          </p:stCondLst>
                                        </p:cTn>
                                        <p:tgtEl>
                                          <p:spTgt spid="27"/>
                                        </p:tgtEl>
                                        <p:attrNameLst>
                                          <p:attrName>style.visibility</p:attrName>
                                        </p:attrNameLst>
                                      </p:cBhvr>
                                      <p:to>
                                        <p:strVal val="visible"/>
                                      </p:to>
                                    </p:set>
                                    <p:anim calcmode="lin" valueType="num">
                                      <p:cBhvr>
                                        <p:cTn id="39" dur="500" fill="hold"/>
                                        <p:tgtEl>
                                          <p:spTgt spid="27"/>
                                        </p:tgtEl>
                                        <p:attrNameLst>
                                          <p:attrName>ppt_w</p:attrName>
                                        </p:attrNameLst>
                                      </p:cBhvr>
                                      <p:tavLst>
                                        <p:tav tm="0">
                                          <p:val>
                                            <p:fltVal val="0"/>
                                          </p:val>
                                        </p:tav>
                                        <p:tav tm="100000">
                                          <p:val>
                                            <p:strVal val="#ppt_w"/>
                                          </p:val>
                                        </p:tav>
                                      </p:tavLst>
                                    </p:anim>
                                    <p:anim calcmode="lin" valueType="num">
                                      <p:cBhvr>
                                        <p:cTn id="40" dur="500" fill="hold"/>
                                        <p:tgtEl>
                                          <p:spTgt spid="27"/>
                                        </p:tgtEl>
                                        <p:attrNameLst>
                                          <p:attrName>ppt_h</p:attrName>
                                        </p:attrNameLst>
                                      </p:cBhvr>
                                      <p:tavLst>
                                        <p:tav tm="0">
                                          <p:val>
                                            <p:fltVal val="0"/>
                                          </p:val>
                                        </p:tav>
                                        <p:tav tm="100000">
                                          <p:val>
                                            <p:strVal val="#ppt_h"/>
                                          </p:val>
                                        </p:tav>
                                      </p:tavLst>
                                    </p:anim>
                                    <p:animEffect transition="in" filter="fade">
                                      <p:cBhvr>
                                        <p:cTn id="41" dur="500"/>
                                        <p:tgtEl>
                                          <p:spTgt spid="27"/>
                                        </p:tgtEl>
                                      </p:cBhvr>
                                    </p:animEffect>
                                  </p:childTnLst>
                                </p:cTn>
                              </p:par>
                            </p:childTnLst>
                          </p:cTn>
                        </p:par>
                      </p:childTnLst>
                    </p:cTn>
                  </p:par>
                </p:childTnLst>
              </p:cTn>
              <p:nextCondLst>
                <p:cond evt="onClick" delay="0">
                  <p:tgtEl>
                    <p:spTgt spid="24"/>
                  </p:tgtEl>
                </p:cond>
              </p:nextCondLst>
            </p:seq>
            <p:seq concurrent="1" nextAc="seek">
              <p:cTn id="43" restart="whenNotActive" fill="hold" evtFilter="cancelBubble" nodeType="interactiveSeq">
                <p:stCondLst>
                  <p:cond evt="onClick" delay="0">
                    <p:tgtEl>
                      <p:spTgt spid="28"/>
                    </p:tgtEl>
                  </p:cond>
                </p:stCondLst>
                <p:endSync evt="end" delay="0">
                  <p:rtn val="all"/>
                </p:endSync>
                <p:childTnLst>
                  <p:par>
                    <p:cTn id="44" fill="hold">
                      <p:stCondLst>
                        <p:cond delay="0"/>
                      </p:stCondLst>
                      <p:childTnLst>
                        <p:par>
                          <p:cTn id="45" fill="hold">
                            <p:stCondLst>
                              <p:cond delay="0"/>
                            </p:stCondLst>
                            <p:childTnLst>
                              <p:par>
                                <p:cTn id="50" presetID="53" presetClass="entr" presetSubtype="16" fill="hold" grpId="0" nodeType="clickEffect">
                                  <p:stCondLst>
                                    <p:cond delay="0"/>
                                  </p:stCondLst>
                                  <p:childTnLst>
                                    <p:set>
                                      <p:cBhvr>
                                        <p:cTn id="46" dur="1" fill="hold">
                                          <p:stCondLst>
                                            <p:cond delay="0"/>
                                          </p:stCondLst>
                                        </p:cTn>
                                        <p:tgtEl>
                                          <p:spTgt spid="31"/>
                                        </p:tgtEl>
                                        <p:attrNameLst>
                                          <p:attrName>style.visibility</p:attrName>
                                        </p:attrNameLst>
                                      </p:cBhvr>
                                      <p:to>
                                        <p:strVal val="visible"/>
                                      </p:to>
                                    </p:set>
                                    <p:anim calcmode="lin" valueType="num">
                                      <p:cBhvr>
                                        <p:cTn id="47" dur="500" fill="hold"/>
                                        <p:tgtEl>
                                          <p:spTgt spid="31"/>
                                        </p:tgtEl>
                                        <p:attrNameLst>
                                          <p:attrName>ppt_w</p:attrName>
                                        </p:attrNameLst>
                                      </p:cBhvr>
                                      <p:tavLst>
                                        <p:tav tm="0">
                                          <p:val>
                                            <p:fltVal val="0"/>
                                          </p:val>
                                        </p:tav>
                                        <p:tav tm="100000">
                                          <p:val>
                                            <p:strVal val="#ppt_w"/>
                                          </p:val>
                                        </p:tav>
                                      </p:tavLst>
                                    </p:anim>
                                    <p:anim calcmode="lin" valueType="num">
                                      <p:cBhvr>
                                        <p:cTn id="48" dur="500" fill="hold"/>
                                        <p:tgtEl>
                                          <p:spTgt spid="31"/>
                                        </p:tgtEl>
                                        <p:attrNameLst>
                                          <p:attrName>ppt_h</p:attrName>
                                        </p:attrNameLst>
                                      </p:cBhvr>
                                      <p:tavLst>
                                        <p:tav tm="0">
                                          <p:val>
                                            <p:fltVal val="0"/>
                                          </p:val>
                                        </p:tav>
                                        <p:tav tm="100000">
                                          <p:val>
                                            <p:strVal val="#ppt_h"/>
                                          </p:val>
                                        </p:tav>
                                      </p:tavLst>
                                    </p:anim>
                                    <p:animEffect transition="in" filter="fade">
                                      <p:cBhvr>
                                        <p:cTn id="49" dur="500"/>
                                        <p:tgtEl>
                                          <p:spTgt spid="31"/>
                                        </p:tgtEl>
                                      </p:cBhvr>
                                    </p:animEffect>
                                  </p:childTnLst>
                                </p:cTn>
                              </p:par>
                            </p:childTnLst>
                          </p:cTn>
                        </p:par>
                      </p:childTnLst>
                    </p:cTn>
                  </p:par>
                </p:childTnLst>
              </p:cTn>
              <p:nextCondLst>
                <p:cond evt="onClick" delay="0">
                  <p:tgtEl>
                    <p:spTgt spid="28"/>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24_sign" descr="تحدي عالمات العلوم">    </p:cNvPr>
          <p:cNvPicPr>
            <a:picLocks noChangeAspect="1"/>
          </p:cNvPicPr>
          <p:nvPr/>
        </p:nvPicPr>
        <p:blipFill>
          <a:blip r:embed="rId2"/>
          <a:stretch>
            <a:fillRect/>
          </a:stretch>
        </p:blipFill>
        <p:spPr>
          <a:xfrm>
            <a:off x="4138343" y="91440"/>
            <a:ext cx="3915010" cy="868680"/>
          </a:xfrm>
          <a:prstGeom prst="rect">
            <a:avLst/>
          </a:prstGeom>
        </p:spPr>
      </p:pic>
      <p:sp>
        <p:nvSpPr>
          <p:cNvPr id="3" name="s24_t_1"/>
          <p:cNvSpPr txBox="1"/>
          <p:nvPr/>
        </p:nvSpPr>
        <p:spPr>
          <a:xfrm>
            <a:off x="10561320" y="274320"/>
            <a:ext cx="1325880" cy="502920"/>
          </a:xfrm>
          <a:prstGeom prst="roundRect">
            <a:avLst>
              <a:gd name="adj" fmla="val 49091"/>
            </a:avLst>
          </a:prstGeom>
          <a:solidFill>
            <a:srgbClr val="1B2A4A"/>
          </a:solidFill>
          <a:ln/>
        </p:spPr>
        <p:txBody>
          <a:bodyPr wrap="square" lIns="762" tIns="762" rIns="762" bIns="762" rtlCol="0" anchor="ctr"/>
          <a:lstStyle/>
          <a:p>
            <a:pPr rtl="1" algn="ctr" indent="0" marL="0">
              <a:lnSpc>
                <a:spcPct val="108000"/>
              </a:lnSpc>
              <a:buNone/>
            </a:pPr>
            <a:r>
              <a:rPr lang="ar-SA" altLang="en-US" sz="1700" b="1" dirty="0">
                <a:solidFill>
                  <a:srgbClr val="FFFFFF"/>
                </a:solidFill>
                <a:latin typeface="Tahoma" pitchFamily="34" charset="0"/>
                <a:ea typeface="Tahoma" pitchFamily="34" charset="-122"/>
                <a:cs typeface="Tahoma" pitchFamily="34" charset="-120"/>
              </a:rPr>
              <a:t>القاعة </a:t>
            </a:r>
            <a:r>
              <a:rPr lang="ar-SA" altLang="en-US" sz="1700" b="1" dirty="0">
                <a:solidFill>
                  <a:srgbClr val="FFFFFF"/>
                </a:solidFill>
                <a:latin typeface="Tahoma" pitchFamily="34" charset="0"/>
                <a:ea typeface="Tahoma" pitchFamily="34" charset="-122"/>
                <a:cs typeface="Tahoma" pitchFamily="34" charset="-120"/>
              </a:rPr>
              <a:t>١٧</a:t>
            </a:r>
            <a:endParaRPr lang="ar-SA" sz="1700" dirty="0"/>
          </a:p>
        </p:txBody>
      </p:sp>
      <p:sp>
        <p:nvSpPr>
          <p:cNvPr id="4" name="s24_t_2"/>
          <p:cNvSpPr txBox="1"/>
          <p:nvPr/>
        </p:nvSpPr>
        <p:spPr>
          <a:xfrm>
            <a:off x="365760" y="228600"/>
            <a:ext cx="2788920" cy="603504"/>
          </a:xfrm>
          <a:prstGeom prst="roundRect">
            <a:avLst>
              <a:gd name="adj" fmla="val 39394"/>
            </a:avLst>
          </a:prstGeom>
          <a:solidFill>
            <a:srgbClr val="FFFFFF"/>
          </a:solidFill>
          <a:ln w="25400">
            <a:solidFill>
              <a:srgbClr val="8C5CFF"/>
            </a:solidFill>
            <a:prstDash val="dash"/>
          </a:ln>
        </p:spPr>
        <p:txBody>
          <a:bodyPr wrap="square" lIns="762" tIns="762" rIns="762" bIns="762" rtlCol="0" anchor="ctr"/>
          <a:lstStyle/>
          <a:p>
            <a:pPr rtl="1" algn="ctr" indent="0" marL="0">
              <a:lnSpc>
                <a:spcPct val="108000"/>
              </a:lnSpc>
              <a:buNone/>
            </a:pPr>
            <a:r>
              <a:rPr lang="ar-SA" altLang="en-US" sz="1350" b="1" dirty="0">
                <a:solidFill>
                  <a:srgbClr val="C2366F"/>
                </a:solidFill>
                <a:latin typeface="Tahoma" pitchFamily="34" charset="0"/>
                <a:ea typeface="Tahoma" pitchFamily="34" charset="-122"/>
                <a:cs typeface="Tahoma" pitchFamily="34" charset="-120"/>
              </a:rPr>
              <a:t>الاستراتيجية: </a:t>
            </a:r>
            <a:r>
              <a:rPr lang="ar-SA" altLang="en-US" sz="1350" b="1" dirty="0">
                <a:solidFill>
                  <a:srgbClr val="34405E"/>
                </a:solidFill>
                <a:latin typeface="Tahoma" pitchFamily="34" charset="0"/>
                <a:ea typeface="Tahoma" pitchFamily="34" charset="-122"/>
                <a:cs typeface="Tahoma" pitchFamily="34" charset="-120"/>
              </a:rPr>
              <a:t>التعلم القائم على التحدي</a:t>
            </a:r>
            <a:endParaRPr lang="ar-SA" sz="1350" dirty="0"/>
          </a:p>
        </p:txBody>
      </p:sp>
      <p:sp>
        <p:nvSpPr>
          <p:cNvPr id="5" name="s24_t_3">
            <a:hlinkClick r:id="rId3" tooltip="الانتقال إلى القاعة التالية" action="ppaction://hlinksldjump"/>
          </p:cNvPr>
          <p:cNvSpPr txBox="1"/>
          <p:nvPr/>
        </p:nvSpPr>
        <p:spPr>
          <a:xfrm>
            <a:off x="2926080" y="6382512"/>
            <a:ext cx="2011680" cy="384048"/>
          </a:xfrm>
          <a:prstGeom prst="roundRect">
            <a:avLst>
              <a:gd name="adj" fmla="val 50000"/>
            </a:avLst>
          </a:prstGeom>
          <a:solidFill>
            <a:srgbClr val="5B6CFF"/>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القاعة التالية ◀</a:t>
            </a:r>
            <a:endParaRPr lang="ar-SA" sz="1600" dirty="0"/>
          </a:p>
        </p:txBody>
      </p:sp>
      <p:sp>
        <p:nvSpPr>
          <p:cNvPr id="6" name="s24_t_4">
            <a:hlinkClick r:id="rId4" tooltip="العودة إلى خريطة المتحف" action="ppaction://hlinksldjump"/>
          </p:cNvPr>
          <p:cNvSpPr txBox="1"/>
          <p:nvPr/>
        </p:nvSpPr>
        <p:spPr>
          <a:xfrm>
            <a:off x="5074920" y="6382512"/>
            <a:ext cx="2011680" cy="384048"/>
          </a:xfrm>
          <a:prstGeom prst="roundRect">
            <a:avLst>
              <a:gd name="adj" fmla="val 50000"/>
            </a:avLst>
          </a:prstGeom>
          <a:solidFill>
            <a:srgbClr val="0FA3B8"/>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خريطة المتحف</a:t>
            </a:r>
            <a:endParaRPr lang="ar-SA" sz="1600" dirty="0"/>
          </a:p>
        </p:txBody>
      </p:sp>
      <p:sp>
        <p:nvSpPr>
          <p:cNvPr id="7" name="s24_t_5">
            <a:hlinkClick r:id="rId5" tooltip="القاعة السابقة" action="ppaction://hlinksldjump"/>
          </p:cNvPr>
          <p:cNvSpPr txBox="1"/>
          <p:nvPr/>
        </p:nvSpPr>
        <p:spPr>
          <a:xfrm>
            <a:off x="7223760" y="6382512"/>
            <a:ext cx="1463040" cy="384048"/>
          </a:xfrm>
          <a:prstGeom prst="roundRect">
            <a:avLst>
              <a:gd name="adj" fmla="val 50000"/>
            </a:avLst>
          </a:prstGeom>
          <a:solidFill>
            <a:srgbClr val="8C9BB5"/>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السابقة</a:t>
            </a:r>
            <a:endParaRPr lang="ar-SA" sz="1600" dirty="0"/>
          </a:p>
        </p:txBody>
      </p:sp>
      <p:pic>
        <p:nvPicPr>
          <p:cNvPr id="8" name="s24_pic_6" descr="/tmp/claude-0/-home-user-Scienceshamah/8386cda7-7741-5ea4-8952-60ee8e67fc31/scratchpad/w4/img/scr_671x182_14B88A_FFFFFF.png">    </p:cNvPr>
          <p:cNvPicPr>
            <a:picLocks noChangeAspect="1"/>
          </p:cNvPicPr>
          <p:nvPr/>
        </p:nvPicPr>
        <p:blipFill>
          <a:blip r:embed="rId6"/>
          <a:stretch>
            <a:fillRect/>
          </a:stretch>
        </p:blipFill>
        <p:spPr>
          <a:xfrm>
            <a:off x="6062472" y="1078992"/>
            <a:ext cx="5797296" cy="1728216"/>
          </a:xfrm>
          <a:prstGeom prst="rect">
            <a:avLst/>
          </a:prstGeom>
        </p:spPr>
      </p:pic>
      <p:sp>
        <p:nvSpPr>
          <p:cNvPr id="9" name="s24_t_7"/>
          <p:cNvSpPr txBox="1"/>
          <p:nvPr/>
        </p:nvSpPr>
        <p:spPr>
          <a:xfrm>
            <a:off x="10012680" y="1243584"/>
            <a:ext cx="1600200" cy="411480"/>
          </a:xfrm>
          <a:prstGeom prst="rect">
            <a:avLst/>
          </a:prstGeom>
          <a:noFill/>
          <a:ln/>
        </p:spPr>
        <p:txBody>
          <a:bodyPr wrap="square" lIns="762" tIns="762" rIns="762" bIns="762" rtlCol="0" anchor="ctr"/>
          <a:lstStyle/>
          <a:p>
            <a:pPr rtl="1" algn="r" indent="0" marL="0">
              <a:lnSpc>
                <a:spcPct val="108000"/>
              </a:lnSpc>
              <a:buNone/>
            </a:pPr>
            <a:r>
              <a:rPr lang="ar-SA" altLang="en-US" sz="1400" b="1" dirty="0">
                <a:solidFill>
                  <a:srgbClr val="14B88A"/>
                </a:solidFill>
                <a:latin typeface="Tahoma" pitchFamily="34" charset="0"/>
                <a:ea typeface="Tahoma" pitchFamily="34" charset="-122"/>
                <a:cs typeface="Tahoma" pitchFamily="34" charset="-120"/>
              </a:rPr>
              <a:t>⭐ أكتشف</a:t>
            </a:r>
            <a:endParaRPr lang="ar-SA" sz="1400" dirty="0"/>
          </a:p>
        </p:txBody>
      </p:sp>
      <p:sp>
        <p:nvSpPr>
          <p:cNvPr id="10" name="s24_t_8"/>
          <p:cNvSpPr txBox="1"/>
          <p:nvPr/>
        </p:nvSpPr>
        <p:spPr>
          <a:xfrm>
            <a:off x="6309360" y="1243584"/>
            <a:ext cx="3703320" cy="868680"/>
          </a:xfrm>
          <a:prstGeom prst="rect">
            <a:avLst/>
          </a:prstGeom>
          <a:noFill/>
          <a:ln/>
        </p:spPr>
        <p:txBody>
          <a:bodyPr wrap="square" lIns="762" tIns="762" rIns="762" bIns="762" rtlCol="0" anchor="ctr"/>
          <a:lstStyle/>
          <a:p>
            <a:pPr rtl="1" algn="r" indent="0" marL="0">
              <a:lnSpc>
                <a:spcPct val="108000"/>
              </a:lnSpc>
              <a:buNone/>
            </a:pPr>
            <a:r>
              <a:rPr lang="ar-SA" altLang="en-US" sz="1450" b="1" dirty="0">
                <a:solidFill>
                  <a:srgbClr val="1B2A4A"/>
                </a:solidFill>
                <a:latin typeface="Tahoma" pitchFamily="34" charset="0"/>
                <a:ea typeface="Tahoma" pitchFamily="34" charset="-122"/>
                <a:cs typeface="Tahoma" pitchFamily="34" charset="-120"/>
              </a:rPr>
              <a:t>اختاري: المخلوق الذي يتحرك بالأقدام الكاذبة هو: (اليوجلينا – الأميبا – الخميرة)</a:t>
            </a:r>
            <a:endParaRPr lang="ar-SA" sz="1450" dirty="0"/>
          </a:p>
        </p:txBody>
      </p:sp>
      <p:sp>
        <p:nvSpPr>
          <p:cNvPr id="11" name="s24_t_9"/>
          <p:cNvSpPr txBox="1"/>
          <p:nvPr/>
        </p:nvSpPr>
        <p:spPr>
          <a:xfrm>
            <a:off x="6309360" y="2130552"/>
            <a:ext cx="5303520" cy="475488"/>
          </a:xfrm>
          <a:prstGeom prst="roundRect">
            <a:avLst>
              <a:gd name="adj" fmla="val 28846"/>
            </a:avLst>
          </a:prstGeom>
          <a:solidFill>
            <a:srgbClr val="E8FFF4"/>
          </a:solidFill>
          <a:ln/>
        </p:spPr>
        <p:txBody>
          <a:bodyPr wrap="square" lIns="762" tIns="762" rIns="762" bIns="762" rtlCol="0" anchor="ctr"/>
          <a:lstStyle/>
          <a:p>
            <a:pPr rtl="1" algn="r" indent="0" marL="0">
              <a:lnSpc>
                <a:spcPct val="108000"/>
              </a:lnSpc>
              <a:buNone/>
            </a:pPr>
            <a:r>
              <a:rPr lang="ar-SA" altLang="en-US" sz="1400" b="1" dirty="0">
                <a:solidFill>
                  <a:srgbClr val="0E7C55"/>
                </a:solidFill>
                <a:latin typeface="Tahoma" pitchFamily="34" charset="0"/>
                <a:ea typeface="Tahoma" pitchFamily="34" charset="-122"/>
                <a:cs typeface="Tahoma" pitchFamily="34" charset="-120"/>
              </a:rPr>
              <a:t>✔ الأميبا   +١ 🪙</a:t>
            </a:r>
            <a:endParaRPr lang="ar-SA" sz="1400" dirty="0"/>
          </a:p>
        </p:txBody>
      </p:sp>
      <p:pic>
        <p:nvPicPr>
          <p:cNvPr id="12" name="s24_pic_10" descr="/tmp/claude-0/-home-user-Scienceshamah/8386cda7-7741-5ea4-8952-60ee8e67fc31/scratchpad/w4/img/scr_671x182_14B88A_FFFFFF.png">    </p:cNvPr>
          <p:cNvPicPr>
            <a:picLocks noChangeAspect="1"/>
          </p:cNvPicPr>
          <p:nvPr/>
        </p:nvPicPr>
        <p:blipFill>
          <a:blip r:embed="rId7"/>
          <a:stretch>
            <a:fillRect/>
          </a:stretch>
        </p:blipFill>
        <p:spPr>
          <a:xfrm>
            <a:off x="347472" y="1078992"/>
            <a:ext cx="5797296" cy="1728216"/>
          </a:xfrm>
          <a:prstGeom prst="rect">
            <a:avLst/>
          </a:prstGeom>
        </p:spPr>
      </p:pic>
      <p:sp>
        <p:nvSpPr>
          <p:cNvPr id="13" name="s24_t_11"/>
          <p:cNvSpPr txBox="1"/>
          <p:nvPr/>
        </p:nvSpPr>
        <p:spPr>
          <a:xfrm>
            <a:off x="4297680" y="1243584"/>
            <a:ext cx="1600200" cy="411480"/>
          </a:xfrm>
          <a:prstGeom prst="rect">
            <a:avLst/>
          </a:prstGeom>
          <a:noFill/>
          <a:ln/>
        </p:spPr>
        <p:txBody>
          <a:bodyPr wrap="square" lIns="762" tIns="762" rIns="762" bIns="762" rtlCol="0" anchor="ctr"/>
          <a:lstStyle/>
          <a:p>
            <a:pPr rtl="1" algn="r" indent="0" marL="0">
              <a:lnSpc>
                <a:spcPct val="108000"/>
              </a:lnSpc>
              <a:buNone/>
            </a:pPr>
            <a:r>
              <a:rPr lang="ar-SA" altLang="en-US" sz="1400" b="1" dirty="0">
                <a:solidFill>
                  <a:srgbClr val="14B88A"/>
                </a:solidFill>
                <a:latin typeface="Tahoma" pitchFamily="34" charset="0"/>
                <a:ea typeface="Tahoma" pitchFamily="34" charset="-122"/>
                <a:cs typeface="Tahoma" pitchFamily="34" charset="-120"/>
              </a:rPr>
              <a:t>⭐ أكتشف</a:t>
            </a:r>
            <a:endParaRPr lang="ar-SA" sz="1400" dirty="0"/>
          </a:p>
        </p:txBody>
      </p:sp>
      <p:sp>
        <p:nvSpPr>
          <p:cNvPr id="14" name="s24_t_12"/>
          <p:cNvSpPr txBox="1"/>
          <p:nvPr/>
        </p:nvSpPr>
        <p:spPr>
          <a:xfrm>
            <a:off x="594360" y="1243584"/>
            <a:ext cx="3703320" cy="868680"/>
          </a:xfrm>
          <a:prstGeom prst="rect">
            <a:avLst/>
          </a:prstGeom>
          <a:noFill/>
          <a:ln/>
        </p:spPr>
        <p:txBody>
          <a:bodyPr wrap="square" lIns="762" tIns="762" rIns="762" bIns="762" rtlCol="0" anchor="ctr"/>
          <a:lstStyle/>
          <a:p>
            <a:pPr rtl="1" algn="r" indent="0" marL="0">
              <a:lnSpc>
                <a:spcPct val="108000"/>
              </a:lnSpc>
              <a:buNone/>
            </a:pPr>
            <a:r>
              <a:rPr lang="ar-SA" altLang="en-US" sz="1450" b="1" dirty="0">
                <a:solidFill>
                  <a:srgbClr val="1B2A4A"/>
                </a:solidFill>
                <a:latin typeface="Tahoma" pitchFamily="34" charset="0"/>
                <a:ea typeface="Tahoma" pitchFamily="34" charset="-122"/>
                <a:cs typeface="Tahoma" pitchFamily="34" charset="-120"/>
              </a:rPr>
              <a:t>صح أم خطأ: البكتيريا مخلوقات حية متعددة الخلايا.</a:t>
            </a:r>
            <a:endParaRPr lang="ar-SA" sz="1450" dirty="0"/>
          </a:p>
        </p:txBody>
      </p:sp>
      <p:sp>
        <p:nvSpPr>
          <p:cNvPr id="15" name="s24_t_13"/>
          <p:cNvSpPr txBox="1"/>
          <p:nvPr/>
        </p:nvSpPr>
        <p:spPr>
          <a:xfrm>
            <a:off x="594360" y="2130552"/>
            <a:ext cx="5303520" cy="475488"/>
          </a:xfrm>
          <a:prstGeom prst="roundRect">
            <a:avLst>
              <a:gd name="adj" fmla="val 28846"/>
            </a:avLst>
          </a:prstGeom>
          <a:solidFill>
            <a:srgbClr val="E8FFF4"/>
          </a:solidFill>
          <a:ln/>
        </p:spPr>
        <p:txBody>
          <a:bodyPr wrap="square" lIns="762" tIns="762" rIns="762" bIns="762" rtlCol="0" anchor="ctr"/>
          <a:lstStyle/>
          <a:p>
            <a:pPr rtl="1" algn="r" indent="0" marL="0">
              <a:lnSpc>
                <a:spcPct val="108000"/>
              </a:lnSpc>
              <a:buNone/>
            </a:pPr>
            <a:r>
              <a:rPr lang="ar-SA" altLang="en-US" sz="1400" b="1" dirty="0">
                <a:solidFill>
                  <a:srgbClr val="0E7C55"/>
                </a:solidFill>
                <a:latin typeface="Tahoma" pitchFamily="34" charset="0"/>
                <a:ea typeface="Tahoma" pitchFamily="34" charset="-122"/>
                <a:cs typeface="Tahoma" pitchFamily="34" charset="-120"/>
              </a:rPr>
              <a:t>✔ خطأ؛ وحيدة الخلية.   +١ 🪙</a:t>
            </a:r>
            <a:endParaRPr lang="ar-SA" sz="1400" dirty="0"/>
          </a:p>
        </p:txBody>
      </p:sp>
      <p:pic>
        <p:nvPicPr>
          <p:cNvPr id="16" name="s24_pic_14" descr="/tmp/claude-0/-home-user-Scienceshamah/8386cda7-7741-5ea4-8952-60ee8e67fc31/scratchpad/w4/img/scr_671x182_3D8BFF_FFFFFF.png">    </p:cNvPr>
          <p:cNvPicPr>
            <a:picLocks noChangeAspect="1"/>
          </p:cNvPicPr>
          <p:nvPr/>
        </p:nvPicPr>
        <p:blipFill>
          <a:blip r:embed="rId8"/>
          <a:stretch>
            <a:fillRect/>
          </a:stretch>
        </p:blipFill>
        <p:spPr>
          <a:xfrm>
            <a:off x="6062472" y="2743200"/>
            <a:ext cx="5797296" cy="1728216"/>
          </a:xfrm>
          <a:prstGeom prst="rect">
            <a:avLst/>
          </a:prstGeom>
        </p:spPr>
      </p:pic>
      <p:sp>
        <p:nvSpPr>
          <p:cNvPr id="17" name="s24_t_15"/>
          <p:cNvSpPr txBox="1"/>
          <p:nvPr/>
        </p:nvSpPr>
        <p:spPr>
          <a:xfrm>
            <a:off x="10012680" y="2907792"/>
            <a:ext cx="1600200" cy="411480"/>
          </a:xfrm>
          <a:prstGeom prst="rect">
            <a:avLst/>
          </a:prstGeom>
          <a:noFill/>
          <a:ln/>
        </p:spPr>
        <p:txBody>
          <a:bodyPr wrap="square" lIns="762" tIns="762" rIns="762" bIns="762" rtlCol="0" anchor="ctr"/>
          <a:lstStyle/>
          <a:p>
            <a:pPr rtl="1" algn="r" indent="0" marL="0">
              <a:lnSpc>
                <a:spcPct val="108000"/>
              </a:lnSpc>
              <a:buNone/>
            </a:pPr>
            <a:r>
              <a:rPr lang="ar-SA" altLang="en-US" sz="1400" b="1" dirty="0">
                <a:solidFill>
                  <a:srgbClr val="3D8BFF"/>
                </a:solidFill>
                <a:latin typeface="Tahoma" pitchFamily="34" charset="0"/>
                <a:ea typeface="Tahoma" pitchFamily="34" charset="-122"/>
                <a:cs typeface="Tahoma" pitchFamily="34" charset="-120"/>
              </a:rPr>
              <a:t>⭐⭐ أفكر</a:t>
            </a:r>
            <a:endParaRPr lang="ar-SA" sz="1400" dirty="0"/>
          </a:p>
        </p:txBody>
      </p:sp>
      <p:sp>
        <p:nvSpPr>
          <p:cNvPr id="18" name="s24_t_16"/>
          <p:cNvSpPr txBox="1"/>
          <p:nvPr/>
        </p:nvSpPr>
        <p:spPr>
          <a:xfrm>
            <a:off x="6309360" y="2907792"/>
            <a:ext cx="3703320" cy="868680"/>
          </a:xfrm>
          <a:prstGeom prst="rect">
            <a:avLst/>
          </a:prstGeom>
          <a:noFill/>
          <a:ln/>
        </p:spPr>
        <p:txBody>
          <a:bodyPr wrap="square" lIns="762" tIns="762" rIns="762" bIns="762" rtlCol="0" anchor="ctr"/>
          <a:lstStyle/>
          <a:p>
            <a:pPr rtl="1" algn="r" indent="0" marL="0">
              <a:lnSpc>
                <a:spcPct val="108000"/>
              </a:lnSpc>
              <a:buNone/>
            </a:pPr>
            <a:r>
              <a:rPr lang="ar-SA" altLang="en-US" sz="1450" b="1" dirty="0">
                <a:solidFill>
                  <a:srgbClr val="1B2A4A"/>
                </a:solidFill>
                <a:latin typeface="Tahoma" pitchFamily="34" charset="0"/>
                <a:ea typeface="Tahoma" pitchFamily="34" charset="-122"/>
                <a:cs typeface="Tahoma" pitchFamily="34" charset="-120"/>
              </a:rPr>
              <a:t>صنّفي حسب طريقة التكاثر: البراميسيوم، الخميرة، (إي. كولاي).</a:t>
            </a:r>
            <a:endParaRPr lang="ar-SA" sz="1450" dirty="0"/>
          </a:p>
        </p:txBody>
      </p:sp>
      <p:sp>
        <p:nvSpPr>
          <p:cNvPr id="19" name="s24_t_17"/>
          <p:cNvSpPr txBox="1"/>
          <p:nvPr/>
        </p:nvSpPr>
        <p:spPr>
          <a:xfrm>
            <a:off x="6309360" y="3794760"/>
            <a:ext cx="5303520" cy="475488"/>
          </a:xfrm>
          <a:prstGeom prst="roundRect">
            <a:avLst>
              <a:gd name="adj" fmla="val 28846"/>
            </a:avLst>
          </a:prstGeom>
          <a:solidFill>
            <a:srgbClr val="E8FFF4"/>
          </a:solidFill>
          <a:ln/>
        </p:spPr>
        <p:txBody>
          <a:bodyPr wrap="square" lIns="762" tIns="762" rIns="762" bIns="762" rtlCol="0" anchor="ctr"/>
          <a:lstStyle/>
          <a:p>
            <a:pPr rtl="1" algn="r" indent="0" marL="0">
              <a:lnSpc>
                <a:spcPct val="108000"/>
              </a:lnSpc>
              <a:buNone/>
            </a:pPr>
            <a:r>
              <a:rPr lang="ar-SA" altLang="en-US" sz="1400" b="1" dirty="0">
                <a:solidFill>
                  <a:srgbClr val="0E7C55"/>
                </a:solidFill>
                <a:latin typeface="Tahoma" pitchFamily="34" charset="0"/>
                <a:ea typeface="Tahoma" pitchFamily="34" charset="-122"/>
                <a:cs typeface="Tahoma" pitchFamily="34" charset="-120"/>
              </a:rPr>
              <a:t>✔ انشطار: البراميسيوم و(إي. كولاي) – تبرعم: الخميرة.   +١ 🪙</a:t>
            </a:r>
            <a:endParaRPr lang="ar-SA" sz="1400" dirty="0"/>
          </a:p>
        </p:txBody>
      </p:sp>
      <p:pic>
        <p:nvPicPr>
          <p:cNvPr id="20" name="s24_pic_18" descr="/tmp/claude-0/-home-user-Scienceshamah/8386cda7-7741-5ea4-8952-60ee8e67fc31/scratchpad/w4/img/scr_671x182_3D8BFF_FFFFFF.png">    </p:cNvPr>
          <p:cNvPicPr>
            <a:picLocks noChangeAspect="1"/>
          </p:cNvPicPr>
          <p:nvPr/>
        </p:nvPicPr>
        <p:blipFill>
          <a:blip r:embed="rId9"/>
          <a:stretch>
            <a:fillRect/>
          </a:stretch>
        </p:blipFill>
        <p:spPr>
          <a:xfrm>
            <a:off x="347472" y="2743200"/>
            <a:ext cx="5797296" cy="1728216"/>
          </a:xfrm>
          <a:prstGeom prst="rect">
            <a:avLst/>
          </a:prstGeom>
        </p:spPr>
      </p:pic>
      <p:sp>
        <p:nvSpPr>
          <p:cNvPr id="21" name="s24_t_19"/>
          <p:cNvSpPr txBox="1"/>
          <p:nvPr/>
        </p:nvSpPr>
        <p:spPr>
          <a:xfrm>
            <a:off x="4297680" y="2907792"/>
            <a:ext cx="1600200" cy="411480"/>
          </a:xfrm>
          <a:prstGeom prst="rect">
            <a:avLst/>
          </a:prstGeom>
          <a:noFill/>
          <a:ln/>
        </p:spPr>
        <p:txBody>
          <a:bodyPr wrap="square" lIns="762" tIns="762" rIns="762" bIns="762" rtlCol="0" anchor="ctr"/>
          <a:lstStyle/>
          <a:p>
            <a:pPr rtl="1" algn="r" indent="0" marL="0">
              <a:lnSpc>
                <a:spcPct val="108000"/>
              </a:lnSpc>
              <a:buNone/>
            </a:pPr>
            <a:r>
              <a:rPr lang="ar-SA" altLang="en-US" sz="1400" b="1" dirty="0">
                <a:solidFill>
                  <a:srgbClr val="3D8BFF"/>
                </a:solidFill>
                <a:latin typeface="Tahoma" pitchFamily="34" charset="0"/>
                <a:ea typeface="Tahoma" pitchFamily="34" charset="-122"/>
                <a:cs typeface="Tahoma" pitchFamily="34" charset="-120"/>
              </a:rPr>
              <a:t>⭐⭐ أفكر</a:t>
            </a:r>
            <a:endParaRPr lang="ar-SA" sz="1400" dirty="0"/>
          </a:p>
        </p:txBody>
      </p:sp>
      <p:sp>
        <p:nvSpPr>
          <p:cNvPr id="22" name="s24_t_20"/>
          <p:cNvSpPr txBox="1"/>
          <p:nvPr/>
        </p:nvSpPr>
        <p:spPr>
          <a:xfrm>
            <a:off x="594360" y="2907792"/>
            <a:ext cx="3703320" cy="868680"/>
          </a:xfrm>
          <a:prstGeom prst="rect">
            <a:avLst/>
          </a:prstGeom>
          <a:noFill/>
          <a:ln/>
        </p:spPr>
        <p:txBody>
          <a:bodyPr wrap="square" lIns="762" tIns="762" rIns="762" bIns="762" rtlCol="0" anchor="ctr"/>
          <a:lstStyle/>
          <a:p>
            <a:pPr rtl="1" algn="r" indent="0" marL="0">
              <a:lnSpc>
                <a:spcPct val="108000"/>
              </a:lnSpc>
              <a:buNone/>
            </a:pPr>
            <a:r>
              <a:rPr lang="ar-SA" altLang="en-US" sz="1450" b="1" dirty="0">
                <a:solidFill>
                  <a:srgbClr val="1B2A4A"/>
                </a:solidFill>
                <a:latin typeface="Tahoma" pitchFamily="34" charset="0"/>
                <a:ea typeface="Tahoma" pitchFamily="34" charset="-122"/>
                <a:cs typeface="Tahoma" pitchFamily="34" charset="-120"/>
              </a:rPr>
              <a:t>قارني: ما وجه الشبه بين الانشطار الثنائي والتبرعم؟</a:t>
            </a:r>
            <a:endParaRPr lang="ar-SA" sz="1450" dirty="0"/>
          </a:p>
        </p:txBody>
      </p:sp>
      <p:sp>
        <p:nvSpPr>
          <p:cNvPr id="23" name="s24_t_21"/>
          <p:cNvSpPr txBox="1"/>
          <p:nvPr/>
        </p:nvSpPr>
        <p:spPr>
          <a:xfrm>
            <a:off x="594360" y="3794760"/>
            <a:ext cx="5303520" cy="475488"/>
          </a:xfrm>
          <a:prstGeom prst="roundRect">
            <a:avLst>
              <a:gd name="adj" fmla="val 28846"/>
            </a:avLst>
          </a:prstGeom>
          <a:solidFill>
            <a:srgbClr val="E8FFF4"/>
          </a:solidFill>
          <a:ln/>
        </p:spPr>
        <p:txBody>
          <a:bodyPr wrap="square" lIns="762" tIns="762" rIns="762" bIns="762" rtlCol="0" anchor="ctr"/>
          <a:lstStyle/>
          <a:p>
            <a:pPr rtl="1" algn="r" indent="0" marL="0">
              <a:lnSpc>
                <a:spcPct val="108000"/>
              </a:lnSpc>
              <a:buNone/>
            </a:pPr>
            <a:r>
              <a:rPr lang="ar-SA" altLang="en-US" sz="1400" b="1" dirty="0">
                <a:solidFill>
                  <a:srgbClr val="0E7C55"/>
                </a:solidFill>
                <a:latin typeface="Tahoma" pitchFamily="34" charset="0"/>
                <a:ea typeface="Tahoma" pitchFamily="34" charset="-122"/>
                <a:cs typeface="Tahoma" pitchFamily="34" charset="-120"/>
              </a:rPr>
              <a:t>✔ كلاهما تكاثر لاجنسي ينتج مخلوقًا يماثل أصله.   +١ 🪙</a:t>
            </a:r>
            <a:endParaRPr lang="ar-SA" sz="1400" dirty="0"/>
          </a:p>
        </p:txBody>
      </p:sp>
      <p:pic>
        <p:nvPicPr>
          <p:cNvPr id="24" name="s24_pic_22" descr="/tmp/claude-0/-home-user-Scienceshamah/8386cda7-7741-5ea4-8952-60ee8e67fc31/scratchpad/w4/img/scr_671x182_E2558F_FFFFFF.png">    </p:cNvPr>
          <p:cNvPicPr>
            <a:picLocks noChangeAspect="1"/>
          </p:cNvPicPr>
          <p:nvPr/>
        </p:nvPicPr>
        <p:blipFill>
          <a:blip r:embed="rId10"/>
          <a:stretch>
            <a:fillRect/>
          </a:stretch>
        </p:blipFill>
        <p:spPr>
          <a:xfrm>
            <a:off x="6062472" y="4407408"/>
            <a:ext cx="5797296" cy="1728216"/>
          </a:xfrm>
          <a:prstGeom prst="rect">
            <a:avLst/>
          </a:prstGeom>
        </p:spPr>
      </p:pic>
      <p:sp>
        <p:nvSpPr>
          <p:cNvPr id="25" name="s24_t_23"/>
          <p:cNvSpPr txBox="1"/>
          <p:nvPr/>
        </p:nvSpPr>
        <p:spPr>
          <a:xfrm>
            <a:off x="10012680" y="4572000"/>
            <a:ext cx="1600200" cy="411480"/>
          </a:xfrm>
          <a:prstGeom prst="rect">
            <a:avLst/>
          </a:prstGeom>
          <a:noFill/>
          <a:ln/>
        </p:spPr>
        <p:txBody>
          <a:bodyPr wrap="square" lIns="762" tIns="762" rIns="762" bIns="762" rtlCol="0" anchor="ctr"/>
          <a:lstStyle/>
          <a:p>
            <a:pPr rtl="1" algn="r" indent="0" marL="0">
              <a:lnSpc>
                <a:spcPct val="108000"/>
              </a:lnSpc>
              <a:buNone/>
            </a:pPr>
            <a:r>
              <a:rPr lang="ar-SA" altLang="en-US" sz="1400" b="1" dirty="0">
                <a:solidFill>
                  <a:srgbClr val="E2558F"/>
                </a:solidFill>
                <a:latin typeface="Tahoma" pitchFamily="34" charset="0"/>
                <a:ea typeface="Tahoma" pitchFamily="34" charset="-122"/>
                <a:cs typeface="Tahoma" pitchFamily="34" charset="-120"/>
              </a:rPr>
              <a:t>⭐⭐⭐ أتحدى نفسي</a:t>
            </a:r>
            <a:endParaRPr lang="ar-SA" sz="1400" dirty="0"/>
          </a:p>
        </p:txBody>
      </p:sp>
      <p:sp>
        <p:nvSpPr>
          <p:cNvPr id="26" name="s24_t_24"/>
          <p:cNvSpPr txBox="1"/>
          <p:nvPr/>
        </p:nvSpPr>
        <p:spPr>
          <a:xfrm>
            <a:off x="6309360" y="4572000"/>
            <a:ext cx="3703320" cy="868680"/>
          </a:xfrm>
          <a:prstGeom prst="rect">
            <a:avLst/>
          </a:prstGeom>
          <a:noFill/>
          <a:ln/>
        </p:spPr>
        <p:txBody>
          <a:bodyPr wrap="square" lIns="762" tIns="762" rIns="762" bIns="762" rtlCol="0" anchor="ctr"/>
          <a:lstStyle/>
          <a:p>
            <a:pPr rtl="1" algn="r" indent="0" marL="0">
              <a:lnSpc>
                <a:spcPct val="108000"/>
              </a:lnSpc>
              <a:buNone/>
            </a:pPr>
            <a:r>
              <a:rPr lang="ar-SA" altLang="en-US" sz="1450" b="1" dirty="0">
                <a:solidFill>
                  <a:srgbClr val="1B2A4A"/>
                </a:solidFill>
                <a:latin typeface="Tahoma" pitchFamily="34" charset="0"/>
                <a:ea typeface="Tahoma" pitchFamily="34" charset="-122"/>
                <a:cs typeface="Tahoma" pitchFamily="34" charset="-120"/>
              </a:rPr>
              <a:t>فسّري: لماذا تبقى البوغيات حية في الظروف القاسية؟</a:t>
            </a:r>
            <a:endParaRPr lang="ar-SA" sz="1450" dirty="0"/>
          </a:p>
        </p:txBody>
      </p:sp>
      <p:sp>
        <p:nvSpPr>
          <p:cNvPr id="27" name="s24_t_25"/>
          <p:cNvSpPr txBox="1"/>
          <p:nvPr/>
        </p:nvSpPr>
        <p:spPr>
          <a:xfrm>
            <a:off x="6309360" y="5458968"/>
            <a:ext cx="5303520" cy="475488"/>
          </a:xfrm>
          <a:prstGeom prst="roundRect">
            <a:avLst>
              <a:gd name="adj" fmla="val 28846"/>
            </a:avLst>
          </a:prstGeom>
          <a:solidFill>
            <a:srgbClr val="E8FFF4"/>
          </a:solidFill>
          <a:ln/>
        </p:spPr>
        <p:txBody>
          <a:bodyPr wrap="square" lIns="762" tIns="762" rIns="762" bIns="762" rtlCol="0" anchor="ctr"/>
          <a:lstStyle/>
          <a:p>
            <a:pPr rtl="1" algn="r" indent="0" marL="0">
              <a:lnSpc>
                <a:spcPct val="108000"/>
              </a:lnSpc>
              <a:buNone/>
            </a:pPr>
            <a:r>
              <a:rPr lang="ar-SA" altLang="en-US" sz="1400" b="1" dirty="0">
                <a:solidFill>
                  <a:srgbClr val="0E7C55"/>
                </a:solidFill>
                <a:latin typeface="Tahoma" pitchFamily="34" charset="0"/>
                <a:ea typeface="Tahoma" pitchFamily="34" charset="-122"/>
                <a:cs typeface="Tahoma" pitchFamily="34" charset="-120"/>
              </a:rPr>
              <a:t>✔ لأن أبواغها تحفظ المادة الوراثية داخل غشاء يحميها حتى تتهيأ الظروف.   +١ 🪙</a:t>
            </a:r>
            <a:endParaRPr lang="ar-SA" sz="1400" dirty="0"/>
          </a:p>
        </p:txBody>
      </p:sp>
      <p:pic>
        <p:nvPicPr>
          <p:cNvPr id="28" name="s24_pic_26" descr="/tmp/claude-0/-home-user-Scienceshamah/8386cda7-7741-5ea4-8952-60ee8e67fc31/scratchpad/w4/img/scr_671x182_E2558F_FFFFFF.png">    </p:cNvPr>
          <p:cNvPicPr>
            <a:picLocks noChangeAspect="1"/>
          </p:cNvPicPr>
          <p:nvPr/>
        </p:nvPicPr>
        <p:blipFill>
          <a:blip r:embed="rId11"/>
          <a:stretch>
            <a:fillRect/>
          </a:stretch>
        </p:blipFill>
        <p:spPr>
          <a:xfrm>
            <a:off x="347472" y="4407408"/>
            <a:ext cx="5797296" cy="1728216"/>
          </a:xfrm>
          <a:prstGeom prst="rect">
            <a:avLst/>
          </a:prstGeom>
        </p:spPr>
      </p:pic>
      <p:sp>
        <p:nvSpPr>
          <p:cNvPr id="29" name="s24_t_27"/>
          <p:cNvSpPr txBox="1"/>
          <p:nvPr/>
        </p:nvSpPr>
        <p:spPr>
          <a:xfrm>
            <a:off x="4297680" y="4572000"/>
            <a:ext cx="1600200" cy="411480"/>
          </a:xfrm>
          <a:prstGeom prst="rect">
            <a:avLst/>
          </a:prstGeom>
          <a:noFill/>
          <a:ln/>
        </p:spPr>
        <p:txBody>
          <a:bodyPr wrap="square" lIns="762" tIns="762" rIns="762" bIns="762" rtlCol="0" anchor="ctr"/>
          <a:lstStyle/>
          <a:p>
            <a:pPr rtl="1" algn="r" indent="0" marL="0">
              <a:lnSpc>
                <a:spcPct val="108000"/>
              </a:lnSpc>
              <a:buNone/>
            </a:pPr>
            <a:r>
              <a:rPr lang="ar-SA" altLang="en-US" sz="1400" b="1" dirty="0">
                <a:solidFill>
                  <a:srgbClr val="E2558F"/>
                </a:solidFill>
                <a:latin typeface="Tahoma" pitchFamily="34" charset="0"/>
                <a:ea typeface="Tahoma" pitchFamily="34" charset="-122"/>
                <a:cs typeface="Tahoma" pitchFamily="34" charset="-120"/>
              </a:rPr>
              <a:t>⭐⭐⭐ أتحدى نفسي</a:t>
            </a:r>
            <a:endParaRPr lang="ar-SA" sz="1400" dirty="0"/>
          </a:p>
        </p:txBody>
      </p:sp>
      <p:sp>
        <p:nvSpPr>
          <p:cNvPr id="30" name="s24_t_28"/>
          <p:cNvSpPr txBox="1"/>
          <p:nvPr/>
        </p:nvSpPr>
        <p:spPr>
          <a:xfrm>
            <a:off x="594360" y="4572000"/>
            <a:ext cx="3703320" cy="868680"/>
          </a:xfrm>
          <a:prstGeom prst="rect">
            <a:avLst/>
          </a:prstGeom>
          <a:noFill/>
          <a:ln/>
        </p:spPr>
        <p:txBody>
          <a:bodyPr wrap="square" lIns="762" tIns="762" rIns="762" bIns="762" rtlCol="0" anchor="ctr"/>
          <a:lstStyle/>
          <a:p>
            <a:pPr rtl="1" algn="r" indent="0" marL="0">
              <a:lnSpc>
                <a:spcPct val="108000"/>
              </a:lnSpc>
              <a:buNone/>
            </a:pPr>
            <a:r>
              <a:rPr lang="ar-SA" altLang="en-US" sz="1450" b="1" dirty="0">
                <a:solidFill>
                  <a:srgbClr val="1B2A4A"/>
                </a:solidFill>
                <a:latin typeface="Tahoma" pitchFamily="34" charset="0"/>
                <a:ea typeface="Tahoma" pitchFamily="34" charset="-122"/>
                <a:cs typeface="Tahoma" pitchFamily="34" charset="-120"/>
              </a:rPr>
              <a:t>رتّبي: اقتران ← ؟ ← انقسام بالانشطار الثنائي</a:t>
            </a:r>
            <a:endParaRPr lang="ar-SA" sz="1450" dirty="0"/>
          </a:p>
        </p:txBody>
      </p:sp>
      <p:sp>
        <p:nvSpPr>
          <p:cNvPr id="31" name="s24_t_29"/>
          <p:cNvSpPr txBox="1"/>
          <p:nvPr/>
        </p:nvSpPr>
        <p:spPr>
          <a:xfrm>
            <a:off x="594360" y="5458968"/>
            <a:ext cx="5303520" cy="475488"/>
          </a:xfrm>
          <a:prstGeom prst="roundRect">
            <a:avLst>
              <a:gd name="adj" fmla="val 28846"/>
            </a:avLst>
          </a:prstGeom>
          <a:solidFill>
            <a:srgbClr val="E8FFF4"/>
          </a:solidFill>
          <a:ln/>
        </p:spPr>
        <p:txBody>
          <a:bodyPr wrap="square" lIns="762" tIns="762" rIns="762" bIns="762" rtlCol="0" anchor="ctr"/>
          <a:lstStyle/>
          <a:p>
            <a:pPr rtl="1" algn="r" indent="0" marL="0">
              <a:lnSpc>
                <a:spcPct val="108000"/>
              </a:lnSpc>
              <a:buNone/>
            </a:pPr>
            <a:r>
              <a:rPr lang="ar-SA" altLang="en-US" sz="1400" b="1" dirty="0">
                <a:solidFill>
                  <a:srgbClr val="0E7C55"/>
                </a:solidFill>
                <a:latin typeface="Tahoma" pitchFamily="34" charset="0"/>
                <a:ea typeface="Tahoma" pitchFamily="34" charset="-122"/>
                <a:cs typeface="Tahoma" pitchFamily="34" charset="-120"/>
              </a:rPr>
              <a:t>✔ تبادل المادة الوراثية ثم الانفصال.   +١ 🪙</a:t>
            </a:r>
            <a:endParaRPr lang="ar-SA" sz="1400" dirty="0"/>
          </a:p>
        </p:txBody>
      </p:sp>
    </p:spTree>
  </p:cSld>
  <p:clrMapOvr>
    <a:masterClrMapping/>
  </p:clrMapOvr>
  <mc:AlternateContent xmlns:mc="http://schemas.openxmlformats.org/markup-compatibility/2006">
    <mc:Choice xmlns:p14="http://schemas.microsoft.com/office/powerpoint/2010/main" Requires="p14">
      <p:transition spd="slow" p14:dur="1400">
        <p14:flythrough/>
      </p:transition>
    </mc:Choice>
    <mc:Fallback>
      <p:transition spd="slow">
        <p:fade/>
      </p:transition>
    </mc:Fallback>
  </mc:AlternateContent>
  <p:timing>
    <p:tnLst>
      <p:par>
        <p:cTn id="1" dur="indefinite" restart="never" nodeType="tmRoot">
          <p:childTnLst>
            <p:seq concurrent="1" nextAc="seek">
              <p:cTn id="3" restart="whenNotActive" fill="hold" evtFilter="cancelBubble" nodeType="interactiveSeq">
                <p:stCondLst>
                  <p:cond evt="onClick" delay="0">
                    <p:tgtEl>
                      <p:spTgt spid="8"/>
                    </p:tgtEl>
                  </p:cond>
                </p:stCondLst>
                <p:endSync evt="end" delay="0">
                  <p:rtn val="all"/>
                </p:endSync>
                <p:childTnLst>
                  <p:par>
                    <p:cTn id="4" fill="hold">
                      <p:stCondLst>
                        <p:cond delay="0"/>
                      </p:stCondLst>
                      <p:childTnLst>
                        <p:par>
                          <p:cTn id="5" fill="hold">
                            <p:stCondLst>
                              <p:cond delay="0"/>
                            </p:stCondLst>
                            <p:childTnLst>
                              <p:par>
                                <p:cTn id="10" presetID="53"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childTnLst>
                    </p:cTn>
                  </p:par>
                </p:childTnLst>
              </p:cTn>
              <p:nextCondLst>
                <p:cond evt="onClick" delay="0">
                  <p:tgtEl>
                    <p:spTgt spid="8"/>
                  </p:tgtEl>
                </p:cond>
              </p:nextCondLst>
            </p:seq>
            <p:seq concurrent="1" nextAc="seek">
              <p:cTn id="11" restart="whenNotActive" fill="hold" evtFilter="cancelBubble" nodeType="interactiveSeq">
                <p:stCondLst>
                  <p:cond evt="onClick" delay="0">
                    <p:tgtEl>
                      <p:spTgt spid="12"/>
                    </p:tgtEl>
                  </p:cond>
                </p:stCondLst>
                <p:endSync evt="end" delay="0">
                  <p:rtn val="all"/>
                </p:endSync>
                <p:childTnLst>
                  <p:par>
                    <p:cTn id="12" fill="hold">
                      <p:stCondLst>
                        <p:cond delay="0"/>
                      </p:stCondLst>
                      <p:childTnLst>
                        <p:par>
                          <p:cTn id="13" fill="hold">
                            <p:stCondLst>
                              <p:cond delay="0"/>
                            </p:stCondLst>
                            <p:childTnLst>
                              <p:par>
                                <p:cTn id="18" presetID="53" presetClass="entr" presetSubtype="16"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p:cTn id="15" dur="500" fill="hold"/>
                                        <p:tgtEl>
                                          <p:spTgt spid="15"/>
                                        </p:tgtEl>
                                        <p:attrNameLst>
                                          <p:attrName>ppt_w</p:attrName>
                                        </p:attrNameLst>
                                      </p:cBhvr>
                                      <p:tavLst>
                                        <p:tav tm="0">
                                          <p:val>
                                            <p:fltVal val="0"/>
                                          </p:val>
                                        </p:tav>
                                        <p:tav tm="100000">
                                          <p:val>
                                            <p:strVal val="#ppt_w"/>
                                          </p:val>
                                        </p:tav>
                                      </p:tavLst>
                                    </p:anim>
                                    <p:anim calcmode="lin" valueType="num">
                                      <p:cBhvr>
                                        <p:cTn id="16" dur="500" fill="hold"/>
                                        <p:tgtEl>
                                          <p:spTgt spid="15"/>
                                        </p:tgtEl>
                                        <p:attrNameLst>
                                          <p:attrName>ppt_h</p:attrName>
                                        </p:attrNameLst>
                                      </p:cBhvr>
                                      <p:tavLst>
                                        <p:tav tm="0">
                                          <p:val>
                                            <p:fltVal val="0"/>
                                          </p:val>
                                        </p:tav>
                                        <p:tav tm="100000">
                                          <p:val>
                                            <p:strVal val="#ppt_h"/>
                                          </p:val>
                                        </p:tav>
                                      </p:tavLst>
                                    </p:anim>
                                    <p:animEffect transition="in" filter="fade">
                                      <p:cBhvr>
                                        <p:cTn id="17" dur="500"/>
                                        <p:tgtEl>
                                          <p:spTgt spid="15"/>
                                        </p:tgtEl>
                                      </p:cBhvr>
                                    </p:animEffect>
                                  </p:childTnLst>
                                </p:cTn>
                              </p:par>
                            </p:childTnLst>
                          </p:cTn>
                        </p:par>
                      </p:childTnLst>
                    </p:cTn>
                  </p:par>
                </p:childTnLst>
              </p:cTn>
              <p:nextCondLst>
                <p:cond evt="onClick" delay="0">
                  <p:tgtEl>
                    <p:spTgt spid="12"/>
                  </p:tgtEl>
                </p:cond>
              </p:nextCondLst>
            </p:seq>
            <p:seq concurrent="1" nextAc="seek">
              <p:cTn id="19" restart="whenNotActive" fill="hold" evtFilter="cancelBubble" nodeType="interactiveSeq">
                <p:stCondLst>
                  <p:cond evt="onClick" delay="0">
                    <p:tgtEl>
                      <p:spTgt spid="16"/>
                    </p:tgtEl>
                  </p:cond>
                </p:stCondLst>
                <p:endSync evt="end" delay="0">
                  <p:rtn val="all"/>
                </p:endSync>
                <p:childTnLst>
                  <p:par>
                    <p:cTn id="20" fill="hold">
                      <p:stCondLst>
                        <p:cond delay="0"/>
                      </p:stCondLst>
                      <p:childTnLst>
                        <p:par>
                          <p:cTn id="21" fill="hold">
                            <p:stCondLst>
                              <p:cond delay="0"/>
                            </p:stCondLst>
                            <p:childTnLst>
                              <p:par>
                                <p:cTn id="26" presetID="53" presetClass="entr" presetSubtype="16"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anim calcmode="lin" valueType="num">
                                      <p:cBhvr>
                                        <p:cTn id="23" dur="500" fill="hold"/>
                                        <p:tgtEl>
                                          <p:spTgt spid="19"/>
                                        </p:tgtEl>
                                        <p:attrNameLst>
                                          <p:attrName>ppt_w</p:attrName>
                                        </p:attrNameLst>
                                      </p:cBhvr>
                                      <p:tavLst>
                                        <p:tav tm="0">
                                          <p:val>
                                            <p:fltVal val="0"/>
                                          </p:val>
                                        </p:tav>
                                        <p:tav tm="100000">
                                          <p:val>
                                            <p:strVal val="#ppt_w"/>
                                          </p:val>
                                        </p:tav>
                                      </p:tavLst>
                                    </p:anim>
                                    <p:anim calcmode="lin" valueType="num">
                                      <p:cBhvr>
                                        <p:cTn id="24" dur="500" fill="hold"/>
                                        <p:tgtEl>
                                          <p:spTgt spid="19"/>
                                        </p:tgtEl>
                                        <p:attrNameLst>
                                          <p:attrName>ppt_h</p:attrName>
                                        </p:attrNameLst>
                                      </p:cBhvr>
                                      <p:tavLst>
                                        <p:tav tm="0">
                                          <p:val>
                                            <p:fltVal val="0"/>
                                          </p:val>
                                        </p:tav>
                                        <p:tav tm="100000">
                                          <p:val>
                                            <p:strVal val="#ppt_h"/>
                                          </p:val>
                                        </p:tav>
                                      </p:tavLst>
                                    </p:anim>
                                    <p:animEffect transition="in" filter="fade">
                                      <p:cBhvr>
                                        <p:cTn id="25" dur="500"/>
                                        <p:tgtEl>
                                          <p:spTgt spid="19"/>
                                        </p:tgtEl>
                                      </p:cBhvr>
                                    </p:animEffect>
                                  </p:childTnLst>
                                </p:cTn>
                              </p:par>
                            </p:childTnLst>
                          </p:cTn>
                        </p:par>
                      </p:childTnLst>
                    </p:cTn>
                  </p:par>
                </p:childTnLst>
              </p:cTn>
              <p:nextCondLst>
                <p:cond evt="onClick" delay="0">
                  <p:tgtEl>
                    <p:spTgt spid="16"/>
                  </p:tgtEl>
                </p:cond>
              </p:nextCondLst>
            </p:seq>
            <p:seq concurrent="1" nextAc="seek">
              <p:cTn id="27" restart="whenNotActive" fill="hold" evtFilter="cancelBubble" nodeType="interactiveSeq">
                <p:stCondLst>
                  <p:cond evt="onClick" delay="0">
                    <p:tgtEl>
                      <p:spTgt spid="20"/>
                    </p:tgtEl>
                  </p:cond>
                </p:stCondLst>
                <p:endSync evt="end" delay="0">
                  <p:rtn val="all"/>
                </p:endSync>
                <p:childTnLst>
                  <p:par>
                    <p:cTn id="28" fill="hold">
                      <p:stCondLst>
                        <p:cond delay="0"/>
                      </p:stCondLst>
                      <p:childTnLst>
                        <p:par>
                          <p:cTn id="29" fill="hold">
                            <p:stCondLst>
                              <p:cond delay="0"/>
                            </p:stCondLst>
                            <p:childTnLst>
                              <p:par>
                                <p:cTn id="34" presetID="53" presetClass="entr" presetSubtype="16"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anim calcmode="lin" valueType="num">
                                      <p:cBhvr>
                                        <p:cTn id="31" dur="500" fill="hold"/>
                                        <p:tgtEl>
                                          <p:spTgt spid="23"/>
                                        </p:tgtEl>
                                        <p:attrNameLst>
                                          <p:attrName>ppt_w</p:attrName>
                                        </p:attrNameLst>
                                      </p:cBhvr>
                                      <p:tavLst>
                                        <p:tav tm="0">
                                          <p:val>
                                            <p:fltVal val="0"/>
                                          </p:val>
                                        </p:tav>
                                        <p:tav tm="100000">
                                          <p:val>
                                            <p:strVal val="#ppt_w"/>
                                          </p:val>
                                        </p:tav>
                                      </p:tavLst>
                                    </p:anim>
                                    <p:anim calcmode="lin" valueType="num">
                                      <p:cBhvr>
                                        <p:cTn id="32" dur="500" fill="hold"/>
                                        <p:tgtEl>
                                          <p:spTgt spid="23"/>
                                        </p:tgtEl>
                                        <p:attrNameLst>
                                          <p:attrName>ppt_h</p:attrName>
                                        </p:attrNameLst>
                                      </p:cBhvr>
                                      <p:tavLst>
                                        <p:tav tm="0">
                                          <p:val>
                                            <p:fltVal val="0"/>
                                          </p:val>
                                        </p:tav>
                                        <p:tav tm="100000">
                                          <p:val>
                                            <p:strVal val="#ppt_h"/>
                                          </p:val>
                                        </p:tav>
                                      </p:tavLst>
                                    </p:anim>
                                    <p:animEffect transition="in" filter="fade">
                                      <p:cBhvr>
                                        <p:cTn id="33" dur="500"/>
                                        <p:tgtEl>
                                          <p:spTgt spid="23"/>
                                        </p:tgtEl>
                                      </p:cBhvr>
                                    </p:animEffect>
                                  </p:childTnLst>
                                </p:cTn>
                              </p:par>
                            </p:childTnLst>
                          </p:cTn>
                        </p:par>
                      </p:childTnLst>
                    </p:cTn>
                  </p:par>
                </p:childTnLst>
              </p:cTn>
              <p:nextCondLst>
                <p:cond evt="onClick" delay="0">
                  <p:tgtEl>
                    <p:spTgt spid="20"/>
                  </p:tgtEl>
                </p:cond>
              </p:nextCondLst>
            </p:seq>
            <p:seq concurrent="1" nextAc="seek">
              <p:cTn id="35" restart="whenNotActive" fill="hold" evtFilter="cancelBubble" nodeType="interactiveSeq">
                <p:stCondLst>
                  <p:cond evt="onClick" delay="0">
                    <p:tgtEl>
                      <p:spTgt spid="24"/>
                    </p:tgtEl>
                  </p:cond>
                </p:stCondLst>
                <p:endSync evt="end" delay="0">
                  <p:rtn val="all"/>
                </p:endSync>
                <p:childTnLst>
                  <p:par>
                    <p:cTn id="36" fill="hold">
                      <p:stCondLst>
                        <p:cond delay="0"/>
                      </p:stCondLst>
                      <p:childTnLst>
                        <p:par>
                          <p:cTn id="37" fill="hold">
                            <p:stCondLst>
                              <p:cond delay="0"/>
                            </p:stCondLst>
                            <p:childTnLst>
                              <p:par>
                                <p:cTn id="42" presetID="53" presetClass="entr" presetSubtype="16" fill="hold" grpId="0" nodeType="clickEffect">
                                  <p:stCondLst>
                                    <p:cond delay="0"/>
                                  </p:stCondLst>
                                  <p:childTnLst>
                                    <p:set>
                                      <p:cBhvr>
                                        <p:cTn id="38" dur="1" fill="hold">
                                          <p:stCondLst>
                                            <p:cond delay="0"/>
                                          </p:stCondLst>
                                        </p:cTn>
                                        <p:tgtEl>
                                          <p:spTgt spid="27"/>
                                        </p:tgtEl>
                                        <p:attrNameLst>
                                          <p:attrName>style.visibility</p:attrName>
                                        </p:attrNameLst>
                                      </p:cBhvr>
                                      <p:to>
                                        <p:strVal val="visible"/>
                                      </p:to>
                                    </p:set>
                                    <p:anim calcmode="lin" valueType="num">
                                      <p:cBhvr>
                                        <p:cTn id="39" dur="500" fill="hold"/>
                                        <p:tgtEl>
                                          <p:spTgt spid="27"/>
                                        </p:tgtEl>
                                        <p:attrNameLst>
                                          <p:attrName>ppt_w</p:attrName>
                                        </p:attrNameLst>
                                      </p:cBhvr>
                                      <p:tavLst>
                                        <p:tav tm="0">
                                          <p:val>
                                            <p:fltVal val="0"/>
                                          </p:val>
                                        </p:tav>
                                        <p:tav tm="100000">
                                          <p:val>
                                            <p:strVal val="#ppt_w"/>
                                          </p:val>
                                        </p:tav>
                                      </p:tavLst>
                                    </p:anim>
                                    <p:anim calcmode="lin" valueType="num">
                                      <p:cBhvr>
                                        <p:cTn id="40" dur="500" fill="hold"/>
                                        <p:tgtEl>
                                          <p:spTgt spid="27"/>
                                        </p:tgtEl>
                                        <p:attrNameLst>
                                          <p:attrName>ppt_h</p:attrName>
                                        </p:attrNameLst>
                                      </p:cBhvr>
                                      <p:tavLst>
                                        <p:tav tm="0">
                                          <p:val>
                                            <p:fltVal val="0"/>
                                          </p:val>
                                        </p:tav>
                                        <p:tav tm="100000">
                                          <p:val>
                                            <p:strVal val="#ppt_h"/>
                                          </p:val>
                                        </p:tav>
                                      </p:tavLst>
                                    </p:anim>
                                    <p:animEffect transition="in" filter="fade">
                                      <p:cBhvr>
                                        <p:cTn id="41" dur="500"/>
                                        <p:tgtEl>
                                          <p:spTgt spid="27"/>
                                        </p:tgtEl>
                                      </p:cBhvr>
                                    </p:animEffect>
                                  </p:childTnLst>
                                </p:cTn>
                              </p:par>
                            </p:childTnLst>
                          </p:cTn>
                        </p:par>
                      </p:childTnLst>
                    </p:cTn>
                  </p:par>
                </p:childTnLst>
              </p:cTn>
              <p:nextCondLst>
                <p:cond evt="onClick" delay="0">
                  <p:tgtEl>
                    <p:spTgt spid="24"/>
                  </p:tgtEl>
                </p:cond>
              </p:nextCondLst>
            </p:seq>
            <p:seq concurrent="1" nextAc="seek">
              <p:cTn id="43" restart="whenNotActive" fill="hold" evtFilter="cancelBubble" nodeType="interactiveSeq">
                <p:stCondLst>
                  <p:cond evt="onClick" delay="0">
                    <p:tgtEl>
                      <p:spTgt spid="28"/>
                    </p:tgtEl>
                  </p:cond>
                </p:stCondLst>
                <p:endSync evt="end" delay="0">
                  <p:rtn val="all"/>
                </p:endSync>
                <p:childTnLst>
                  <p:par>
                    <p:cTn id="44" fill="hold">
                      <p:stCondLst>
                        <p:cond delay="0"/>
                      </p:stCondLst>
                      <p:childTnLst>
                        <p:par>
                          <p:cTn id="45" fill="hold">
                            <p:stCondLst>
                              <p:cond delay="0"/>
                            </p:stCondLst>
                            <p:childTnLst>
                              <p:par>
                                <p:cTn id="50" presetID="53" presetClass="entr" presetSubtype="16" fill="hold" grpId="0" nodeType="clickEffect">
                                  <p:stCondLst>
                                    <p:cond delay="0"/>
                                  </p:stCondLst>
                                  <p:childTnLst>
                                    <p:set>
                                      <p:cBhvr>
                                        <p:cTn id="46" dur="1" fill="hold">
                                          <p:stCondLst>
                                            <p:cond delay="0"/>
                                          </p:stCondLst>
                                        </p:cTn>
                                        <p:tgtEl>
                                          <p:spTgt spid="31"/>
                                        </p:tgtEl>
                                        <p:attrNameLst>
                                          <p:attrName>style.visibility</p:attrName>
                                        </p:attrNameLst>
                                      </p:cBhvr>
                                      <p:to>
                                        <p:strVal val="visible"/>
                                      </p:to>
                                    </p:set>
                                    <p:anim calcmode="lin" valueType="num">
                                      <p:cBhvr>
                                        <p:cTn id="47" dur="500" fill="hold"/>
                                        <p:tgtEl>
                                          <p:spTgt spid="31"/>
                                        </p:tgtEl>
                                        <p:attrNameLst>
                                          <p:attrName>ppt_w</p:attrName>
                                        </p:attrNameLst>
                                      </p:cBhvr>
                                      <p:tavLst>
                                        <p:tav tm="0">
                                          <p:val>
                                            <p:fltVal val="0"/>
                                          </p:val>
                                        </p:tav>
                                        <p:tav tm="100000">
                                          <p:val>
                                            <p:strVal val="#ppt_w"/>
                                          </p:val>
                                        </p:tav>
                                      </p:tavLst>
                                    </p:anim>
                                    <p:anim calcmode="lin" valueType="num">
                                      <p:cBhvr>
                                        <p:cTn id="48" dur="500" fill="hold"/>
                                        <p:tgtEl>
                                          <p:spTgt spid="31"/>
                                        </p:tgtEl>
                                        <p:attrNameLst>
                                          <p:attrName>ppt_h</p:attrName>
                                        </p:attrNameLst>
                                      </p:cBhvr>
                                      <p:tavLst>
                                        <p:tav tm="0">
                                          <p:val>
                                            <p:fltVal val="0"/>
                                          </p:val>
                                        </p:tav>
                                        <p:tav tm="100000">
                                          <p:val>
                                            <p:strVal val="#ppt_h"/>
                                          </p:val>
                                        </p:tav>
                                      </p:tavLst>
                                    </p:anim>
                                    <p:animEffect transition="in" filter="fade">
                                      <p:cBhvr>
                                        <p:cTn id="49" dur="500"/>
                                        <p:tgtEl>
                                          <p:spTgt spid="31"/>
                                        </p:tgtEl>
                                      </p:cBhvr>
                                    </p:animEffect>
                                  </p:childTnLst>
                                </p:cTn>
                              </p:par>
                            </p:childTnLst>
                          </p:cTn>
                        </p:par>
                      </p:childTnLst>
                    </p:cTn>
                  </p:par>
                </p:childTnLst>
              </p:cTn>
              <p:nextCondLst>
                <p:cond evt="onClick" delay="0">
                  <p:tgtEl>
                    <p:spTgt spid="28"/>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25_sign" descr="قاعة: ماذا لو؟">    </p:cNvPr>
          <p:cNvPicPr>
            <a:picLocks noChangeAspect="1"/>
          </p:cNvPicPr>
          <p:nvPr/>
        </p:nvPicPr>
        <p:blipFill>
          <a:blip r:embed="rId2"/>
          <a:stretch>
            <a:fillRect/>
          </a:stretch>
        </p:blipFill>
        <p:spPr>
          <a:xfrm>
            <a:off x="4650031" y="91440"/>
            <a:ext cx="2891633" cy="868680"/>
          </a:xfrm>
          <a:prstGeom prst="rect">
            <a:avLst/>
          </a:prstGeom>
        </p:spPr>
      </p:pic>
      <p:sp>
        <p:nvSpPr>
          <p:cNvPr id="3" name="s25_t_1"/>
          <p:cNvSpPr txBox="1"/>
          <p:nvPr/>
        </p:nvSpPr>
        <p:spPr>
          <a:xfrm>
            <a:off x="10561320" y="274320"/>
            <a:ext cx="1325880" cy="502920"/>
          </a:xfrm>
          <a:prstGeom prst="roundRect">
            <a:avLst>
              <a:gd name="adj" fmla="val 49091"/>
            </a:avLst>
          </a:prstGeom>
          <a:solidFill>
            <a:srgbClr val="1B2A4A"/>
          </a:solidFill>
          <a:ln/>
        </p:spPr>
        <p:txBody>
          <a:bodyPr wrap="square" lIns="762" tIns="762" rIns="762" bIns="762" rtlCol="0" anchor="ctr"/>
          <a:lstStyle/>
          <a:p>
            <a:pPr rtl="1" algn="ctr" indent="0" marL="0">
              <a:lnSpc>
                <a:spcPct val="108000"/>
              </a:lnSpc>
              <a:buNone/>
            </a:pPr>
            <a:r>
              <a:rPr lang="ar-SA" altLang="en-US" sz="1700" b="1" dirty="0">
                <a:solidFill>
                  <a:srgbClr val="FFFFFF"/>
                </a:solidFill>
                <a:latin typeface="Tahoma" pitchFamily="34" charset="0"/>
                <a:ea typeface="Tahoma" pitchFamily="34" charset="-122"/>
                <a:cs typeface="Tahoma" pitchFamily="34" charset="-120"/>
              </a:rPr>
              <a:t>القاعة </a:t>
            </a:r>
            <a:r>
              <a:rPr lang="ar-SA" altLang="en-US" sz="1700" b="1" dirty="0">
                <a:solidFill>
                  <a:srgbClr val="FFFFFF"/>
                </a:solidFill>
                <a:latin typeface="Tahoma" pitchFamily="34" charset="0"/>
                <a:ea typeface="Tahoma" pitchFamily="34" charset="-122"/>
                <a:cs typeface="Tahoma" pitchFamily="34" charset="-120"/>
              </a:rPr>
              <a:t>١٨</a:t>
            </a:r>
            <a:endParaRPr lang="ar-SA" sz="1700" dirty="0"/>
          </a:p>
        </p:txBody>
      </p:sp>
      <p:sp>
        <p:nvSpPr>
          <p:cNvPr id="4" name="s25_t_2"/>
          <p:cNvSpPr txBox="1"/>
          <p:nvPr/>
        </p:nvSpPr>
        <p:spPr>
          <a:xfrm>
            <a:off x="365760" y="228600"/>
            <a:ext cx="2788920" cy="603504"/>
          </a:xfrm>
          <a:prstGeom prst="roundRect">
            <a:avLst>
              <a:gd name="adj" fmla="val 39394"/>
            </a:avLst>
          </a:prstGeom>
          <a:solidFill>
            <a:srgbClr val="FFFFFF"/>
          </a:solidFill>
          <a:ln w="25400">
            <a:solidFill>
              <a:srgbClr val="8C5CFF"/>
            </a:solidFill>
            <a:prstDash val="dash"/>
          </a:ln>
        </p:spPr>
        <p:txBody>
          <a:bodyPr wrap="square" lIns="762" tIns="762" rIns="762" bIns="762" rtlCol="0" anchor="ctr"/>
          <a:lstStyle/>
          <a:p>
            <a:pPr rtl="1" algn="ctr" indent="0" marL="0">
              <a:lnSpc>
                <a:spcPct val="108000"/>
              </a:lnSpc>
              <a:buNone/>
            </a:pPr>
            <a:r>
              <a:rPr lang="ar-SA" altLang="en-US" sz="1350" b="1" dirty="0">
                <a:solidFill>
                  <a:srgbClr val="C2366F"/>
                </a:solidFill>
                <a:latin typeface="Tahoma" pitchFamily="34" charset="0"/>
                <a:ea typeface="Tahoma" pitchFamily="34" charset="-122"/>
                <a:cs typeface="Tahoma" pitchFamily="34" charset="-120"/>
              </a:rPr>
              <a:t>الاستراتيجية: </a:t>
            </a:r>
            <a:r>
              <a:rPr lang="ar-SA" altLang="en-US" sz="1350" b="1" dirty="0">
                <a:solidFill>
                  <a:srgbClr val="34405E"/>
                </a:solidFill>
                <a:latin typeface="Tahoma" pitchFamily="34" charset="0"/>
                <a:ea typeface="Tahoma" pitchFamily="34" charset="-122"/>
                <a:cs typeface="Tahoma" pitchFamily="34" charset="-120"/>
              </a:rPr>
              <a:t>التفكير العليا – التنبؤ</a:t>
            </a:r>
            <a:endParaRPr lang="ar-SA" sz="1350" dirty="0"/>
          </a:p>
        </p:txBody>
      </p:sp>
      <p:sp>
        <p:nvSpPr>
          <p:cNvPr id="5" name="s25_t_3">
            <a:hlinkClick r:id="rId3" tooltip="الانتقال إلى القاعة التالية" action="ppaction://hlinksldjump"/>
          </p:cNvPr>
          <p:cNvSpPr txBox="1"/>
          <p:nvPr/>
        </p:nvSpPr>
        <p:spPr>
          <a:xfrm>
            <a:off x="2926080" y="6382512"/>
            <a:ext cx="2011680" cy="384048"/>
          </a:xfrm>
          <a:prstGeom prst="roundRect">
            <a:avLst>
              <a:gd name="adj" fmla="val 50000"/>
            </a:avLst>
          </a:prstGeom>
          <a:solidFill>
            <a:srgbClr val="5B6CFF"/>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القاعة التالية ◀</a:t>
            </a:r>
            <a:endParaRPr lang="ar-SA" sz="1600" dirty="0"/>
          </a:p>
        </p:txBody>
      </p:sp>
      <p:sp>
        <p:nvSpPr>
          <p:cNvPr id="6" name="s25_t_4">
            <a:hlinkClick r:id="rId4" tooltip="العودة إلى خريطة المتحف" action="ppaction://hlinksldjump"/>
          </p:cNvPr>
          <p:cNvSpPr txBox="1"/>
          <p:nvPr/>
        </p:nvSpPr>
        <p:spPr>
          <a:xfrm>
            <a:off x="5074920" y="6382512"/>
            <a:ext cx="2011680" cy="384048"/>
          </a:xfrm>
          <a:prstGeom prst="roundRect">
            <a:avLst>
              <a:gd name="adj" fmla="val 50000"/>
            </a:avLst>
          </a:prstGeom>
          <a:solidFill>
            <a:srgbClr val="0FA3B8"/>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خريطة المتحف</a:t>
            </a:r>
            <a:endParaRPr lang="ar-SA" sz="1600" dirty="0"/>
          </a:p>
        </p:txBody>
      </p:sp>
      <p:sp>
        <p:nvSpPr>
          <p:cNvPr id="7" name="s25_t_5">
            <a:hlinkClick r:id="rId5" tooltip="القاعة السابقة" action="ppaction://hlinksldjump"/>
          </p:cNvPr>
          <p:cNvSpPr txBox="1"/>
          <p:nvPr/>
        </p:nvSpPr>
        <p:spPr>
          <a:xfrm>
            <a:off x="7223760" y="6382512"/>
            <a:ext cx="1463040" cy="384048"/>
          </a:xfrm>
          <a:prstGeom prst="roundRect">
            <a:avLst>
              <a:gd name="adj" fmla="val 50000"/>
            </a:avLst>
          </a:prstGeom>
          <a:solidFill>
            <a:srgbClr val="8C9BB5"/>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السابقة</a:t>
            </a:r>
            <a:endParaRPr lang="ar-SA" sz="1600" dirty="0"/>
          </a:p>
        </p:txBody>
      </p:sp>
      <p:pic>
        <p:nvPicPr>
          <p:cNvPr id="8" name="s25_pic_6" descr="/tmp/claude-0/-home-user-Scienceshamah/8386cda7-7741-5ea4-8952-60ee8e67fc31/scratchpad/w4/img/scr_1359x182_8C5CFF_FFFFFF.png">    </p:cNvPr>
          <p:cNvPicPr>
            <a:picLocks noChangeAspect="1"/>
          </p:cNvPicPr>
          <p:nvPr/>
        </p:nvPicPr>
        <p:blipFill>
          <a:blip r:embed="rId6"/>
          <a:stretch>
            <a:fillRect/>
          </a:stretch>
        </p:blipFill>
        <p:spPr>
          <a:xfrm>
            <a:off x="347472" y="1078992"/>
            <a:ext cx="11512296" cy="1728216"/>
          </a:xfrm>
          <a:prstGeom prst="rect">
            <a:avLst/>
          </a:prstGeom>
        </p:spPr>
      </p:pic>
      <p:sp>
        <p:nvSpPr>
          <p:cNvPr id="9" name="s25_t_7"/>
          <p:cNvSpPr txBox="1"/>
          <p:nvPr/>
        </p:nvSpPr>
        <p:spPr>
          <a:xfrm>
            <a:off x="5760720" y="1261872"/>
            <a:ext cx="5852160" cy="1371600"/>
          </a:xfrm>
          <a:prstGeom prst="rect">
            <a:avLst/>
          </a:prstGeom>
          <a:noFill/>
          <a:ln/>
        </p:spPr>
        <p:txBody>
          <a:bodyPr wrap="square" lIns="762" tIns="762" rIns="762" bIns="762" rtlCol="0" anchor="ctr"/>
          <a:lstStyle/>
          <a:p>
            <a:pPr rtl="1" algn="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(التنبؤ) </a:t>
            </a:r>
            <a:r>
              <a:rPr lang="ar-SA" altLang="en-US" sz="1700" b="1" dirty="0">
                <a:solidFill>
                  <a:srgbClr val="1B2A4A"/>
                </a:solidFill>
                <a:latin typeface="Tahoma" pitchFamily="34" charset="0"/>
                <a:ea typeface="Tahoma" pitchFamily="34" charset="-122"/>
                <a:cs typeface="Tahoma" pitchFamily="34" charset="-120"/>
              </a:rPr>
              <a:t>ماذا لو وضعنا الخبز في الثلاجة بدل مكان دافئ رطب؟</a:t>
            </a:r>
            <a:endParaRPr lang="ar-SA" sz="1700" dirty="0"/>
          </a:p>
        </p:txBody>
      </p:sp>
      <p:sp>
        <p:nvSpPr>
          <p:cNvPr id="10" name="s25_t_8"/>
          <p:cNvSpPr txBox="1"/>
          <p:nvPr/>
        </p:nvSpPr>
        <p:spPr>
          <a:xfrm>
            <a:off x="594360" y="1261872"/>
            <a:ext cx="5074920" cy="1371600"/>
          </a:xfrm>
          <a:prstGeom prst="rect">
            <a:avLst/>
          </a:prstGeom>
          <a:noFill/>
          <a:ln/>
        </p:spPr>
        <p:txBody>
          <a:bodyPr wrap="square" lIns="762" tIns="762" rIns="762" bIns="762" rtlCol="0" anchor="ctr"/>
          <a:lstStyle/>
          <a:p>
            <a:pPr rtl="1" algn="r" indent="0" marL="0">
              <a:lnSpc>
                <a:spcPct val="108000"/>
              </a:lnSpc>
              <a:buNone/>
            </a:pPr>
            <a:r>
              <a:rPr lang="ar-SA" altLang="en-US" sz="1500" b="1" dirty="0">
                <a:solidFill>
                  <a:srgbClr val="6B4FC0"/>
                </a:solidFill>
                <a:latin typeface="Tahoma" pitchFamily="34" charset="0"/>
                <a:ea typeface="Tahoma" pitchFamily="34" charset="-122"/>
                <a:cs typeface="Tahoma" pitchFamily="34" charset="-120"/>
              </a:rPr>
              <a:t>الدليل العلمي: </a:t>
            </a:r>
            <a:r>
              <a:rPr lang="ar-SA" altLang="en-US" sz="1500" b="1" dirty="0">
                <a:solidFill>
                  <a:srgbClr val="0E7C55"/>
                </a:solidFill>
                <a:latin typeface="Tahoma" pitchFamily="34" charset="0"/>
                <a:ea typeface="Tahoma" pitchFamily="34" charset="-122"/>
                <a:cs typeface="Tahoma" pitchFamily="34" charset="-120"/>
              </a:rPr>
              <a:t>سيتأخر نمو العفن؛ لأن الحرارة والرطوبة تساعدان على تكاثر الفطريات بسرعة.</a:t>
            </a:r>
            <a:endParaRPr lang="ar-SA" sz="1500" dirty="0"/>
          </a:p>
        </p:txBody>
      </p:sp>
      <p:pic>
        <p:nvPicPr>
          <p:cNvPr id="11" name="s25_pic_9" descr="/tmp/claude-0/-home-user-Scienceshamah/8386cda7-7741-5ea4-8952-60ee8e67fc31/scratchpad/w4/img/scr_1359x182_3D8BFF_FFFFFF.png">    </p:cNvPr>
          <p:cNvPicPr>
            <a:picLocks noChangeAspect="1"/>
          </p:cNvPicPr>
          <p:nvPr/>
        </p:nvPicPr>
        <p:blipFill>
          <a:blip r:embed="rId7"/>
          <a:stretch>
            <a:fillRect/>
          </a:stretch>
        </p:blipFill>
        <p:spPr>
          <a:xfrm>
            <a:off x="347472" y="2743200"/>
            <a:ext cx="11512296" cy="1728216"/>
          </a:xfrm>
          <a:prstGeom prst="rect">
            <a:avLst/>
          </a:prstGeom>
        </p:spPr>
      </p:pic>
      <p:sp>
        <p:nvSpPr>
          <p:cNvPr id="12" name="s25_t_10"/>
          <p:cNvSpPr txBox="1"/>
          <p:nvPr/>
        </p:nvSpPr>
        <p:spPr>
          <a:xfrm>
            <a:off x="5760720" y="2926080"/>
            <a:ext cx="5852160" cy="1371600"/>
          </a:xfrm>
          <a:prstGeom prst="rect">
            <a:avLst/>
          </a:prstGeom>
          <a:noFill/>
          <a:ln/>
        </p:spPr>
        <p:txBody>
          <a:bodyPr wrap="square" lIns="762" tIns="762" rIns="762" bIns="762" rtlCol="0" anchor="ctr"/>
          <a:lstStyle/>
          <a:p>
            <a:pPr rtl="1" algn="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(التحليل) </a:t>
            </a:r>
            <a:r>
              <a:rPr lang="ar-SA" altLang="en-US" sz="1700" b="1" dirty="0">
                <a:solidFill>
                  <a:srgbClr val="1B2A4A"/>
                </a:solidFill>
                <a:latin typeface="Tahoma" pitchFamily="34" charset="0"/>
                <a:ea typeface="Tahoma" pitchFamily="34" charset="-122"/>
                <a:cs typeface="Tahoma" pitchFamily="34" charset="-120"/>
              </a:rPr>
              <a:t>ماذا لو لم تتمكن الدياتومات من صنع غذائها؟</a:t>
            </a:r>
            <a:endParaRPr lang="ar-SA" sz="1700" dirty="0"/>
          </a:p>
        </p:txBody>
      </p:sp>
      <p:sp>
        <p:nvSpPr>
          <p:cNvPr id="13" name="s25_t_11"/>
          <p:cNvSpPr txBox="1"/>
          <p:nvPr/>
        </p:nvSpPr>
        <p:spPr>
          <a:xfrm>
            <a:off x="594360" y="2926080"/>
            <a:ext cx="5074920" cy="1371600"/>
          </a:xfrm>
          <a:prstGeom prst="rect">
            <a:avLst/>
          </a:prstGeom>
          <a:noFill/>
          <a:ln/>
        </p:spPr>
        <p:txBody>
          <a:bodyPr wrap="square" lIns="762" tIns="762" rIns="762" bIns="762" rtlCol="0" anchor="ctr"/>
          <a:lstStyle/>
          <a:p>
            <a:pPr rtl="1" algn="r" indent="0" marL="0">
              <a:lnSpc>
                <a:spcPct val="108000"/>
              </a:lnSpc>
              <a:buNone/>
            </a:pPr>
            <a:r>
              <a:rPr lang="ar-SA" altLang="en-US" sz="1500" b="1" dirty="0">
                <a:solidFill>
                  <a:srgbClr val="6B4FC0"/>
                </a:solidFill>
                <a:latin typeface="Tahoma" pitchFamily="34" charset="0"/>
                <a:ea typeface="Tahoma" pitchFamily="34" charset="-122"/>
                <a:cs typeface="Tahoma" pitchFamily="34" charset="-120"/>
              </a:rPr>
              <a:t>الدليل العلمي: </a:t>
            </a:r>
            <a:r>
              <a:rPr lang="ar-SA" altLang="en-US" sz="1500" b="1" dirty="0">
                <a:solidFill>
                  <a:srgbClr val="0E7C55"/>
                </a:solidFill>
                <a:latin typeface="Tahoma" pitchFamily="34" charset="0"/>
                <a:ea typeface="Tahoma" pitchFamily="34" charset="-122"/>
                <a:cs typeface="Tahoma" pitchFamily="34" charset="-120"/>
              </a:rPr>
              <a:t>قد يتأثر غذاء الأنظمة البيئية البحرية؛ لأنها مصدر الغذاء الرئيس فيها.</a:t>
            </a:r>
            <a:endParaRPr lang="ar-SA" sz="1500" dirty="0"/>
          </a:p>
        </p:txBody>
      </p:sp>
      <p:pic>
        <p:nvPicPr>
          <p:cNvPr id="14" name="s25_pic_12" descr="/tmp/claude-0/-home-user-Scienceshamah/8386cda7-7741-5ea4-8952-60ee8e67fc31/scratchpad/w4/img/scr_1359x182_14B88A_FFFFFF.png">    </p:cNvPr>
          <p:cNvPicPr>
            <a:picLocks noChangeAspect="1"/>
          </p:cNvPicPr>
          <p:nvPr/>
        </p:nvPicPr>
        <p:blipFill>
          <a:blip r:embed="rId8"/>
          <a:stretch>
            <a:fillRect/>
          </a:stretch>
        </p:blipFill>
        <p:spPr>
          <a:xfrm>
            <a:off x="347472" y="4407408"/>
            <a:ext cx="11512296" cy="1728216"/>
          </a:xfrm>
          <a:prstGeom prst="rect">
            <a:avLst/>
          </a:prstGeom>
        </p:spPr>
      </p:pic>
      <p:sp>
        <p:nvSpPr>
          <p:cNvPr id="15" name="s25_t_13"/>
          <p:cNvSpPr txBox="1"/>
          <p:nvPr/>
        </p:nvSpPr>
        <p:spPr>
          <a:xfrm>
            <a:off x="5760720" y="4590288"/>
            <a:ext cx="5852160" cy="1371600"/>
          </a:xfrm>
          <a:prstGeom prst="rect">
            <a:avLst/>
          </a:prstGeom>
          <a:noFill/>
          <a:ln/>
        </p:spPr>
        <p:txBody>
          <a:bodyPr wrap="square" lIns="762" tIns="762" rIns="762" bIns="762" rtlCol="0" anchor="ctr"/>
          <a:lstStyle/>
          <a:p>
            <a:pPr rtl="1" algn="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(الاستنتاج) </a:t>
            </a:r>
            <a:r>
              <a:rPr lang="ar-SA" altLang="en-US" sz="1700" b="1" dirty="0">
                <a:solidFill>
                  <a:srgbClr val="1B2A4A"/>
                </a:solidFill>
                <a:latin typeface="Tahoma" pitchFamily="34" charset="0"/>
                <a:ea typeface="Tahoma" pitchFamily="34" charset="-122"/>
                <a:cs typeface="Tahoma" pitchFamily="34" charset="-120"/>
              </a:rPr>
              <a:t>ماذا لو تكاثرت بكتيريا بالانشطار الثنائي عدة مرات؟</a:t>
            </a:r>
            <a:endParaRPr lang="ar-SA" sz="1700" dirty="0"/>
          </a:p>
        </p:txBody>
      </p:sp>
      <p:sp>
        <p:nvSpPr>
          <p:cNvPr id="16" name="s25_t_14"/>
          <p:cNvSpPr txBox="1"/>
          <p:nvPr/>
        </p:nvSpPr>
        <p:spPr>
          <a:xfrm>
            <a:off x="594360" y="4590288"/>
            <a:ext cx="5074920" cy="1371600"/>
          </a:xfrm>
          <a:prstGeom prst="rect">
            <a:avLst/>
          </a:prstGeom>
          <a:noFill/>
          <a:ln/>
        </p:spPr>
        <p:txBody>
          <a:bodyPr wrap="square" lIns="762" tIns="762" rIns="762" bIns="762" rtlCol="0" anchor="ctr"/>
          <a:lstStyle/>
          <a:p>
            <a:pPr rtl="1" algn="r" indent="0" marL="0">
              <a:lnSpc>
                <a:spcPct val="108000"/>
              </a:lnSpc>
              <a:buNone/>
            </a:pPr>
            <a:r>
              <a:rPr lang="ar-SA" altLang="en-US" sz="1500" b="1" dirty="0">
                <a:solidFill>
                  <a:srgbClr val="6B4FC0"/>
                </a:solidFill>
                <a:latin typeface="Tahoma" pitchFamily="34" charset="0"/>
                <a:ea typeface="Tahoma" pitchFamily="34" charset="-122"/>
                <a:cs typeface="Tahoma" pitchFamily="34" charset="-120"/>
              </a:rPr>
              <a:t>الدليل العلمي: </a:t>
            </a:r>
            <a:r>
              <a:rPr lang="ar-SA" altLang="en-US" sz="1500" b="1" dirty="0">
                <a:solidFill>
                  <a:srgbClr val="0E7C55"/>
                </a:solidFill>
                <a:latin typeface="Tahoma" pitchFamily="34" charset="0"/>
                <a:ea typeface="Tahoma" pitchFamily="34" charset="-122"/>
                <a:cs typeface="Tahoma" pitchFamily="34" charset="-120"/>
              </a:rPr>
              <a:t>يتضاعف عددها في كل مرة؛ فتصبح بالملايين بسرعة.</a:t>
            </a:r>
            <a:endParaRPr lang="ar-SA" sz="1500" dirty="0"/>
          </a:p>
        </p:txBody>
      </p:sp>
    </p:spTree>
  </p:cSld>
  <p:clrMapOvr>
    <a:masterClrMapping/>
  </p:clrMapOvr>
  <mc:AlternateContent xmlns:mc="http://schemas.openxmlformats.org/markup-compatibility/2006">
    <mc:Choice xmlns:p14="http://schemas.microsoft.com/office/powerpoint/2010/main" Requires="p14">
      <p:transition spd="slow" p14:dur="14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10"/>
                                        </p:tgtEl>
                                        <p:attrNameLst>
                                          <p:attrName>style.visibility</p:attrName>
                                        </p:attrNameLst>
                                      </p:cBhvr>
                                      <p:to>
                                        <p:strVal val="visible"/>
                                      </p:to>
                                    </p:set>
                                    <p:anim calcmode="lin" valueType="num">
                                      <p:cBhvr>
                                        <p:cTn id="6" dur="500" fill="hold"/>
                                        <p:tgtEl>
                                          <p:spTgt spid="10"/>
                                        </p:tgtEl>
                                        <p:attrNameLst>
                                          <p:attrName>ppt_w</p:attrName>
                                        </p:attrNameLst>
                                      </p:cBhvr>
                                      <p:tavLst>
                                        <p:tav tm="0">
                                          <p:val>
                                            <p:fltVal val="0"/>
                                          </p:val>
                                        </p:tav>
                                        <p:tav tm="100000">
                                          <p:val>
                                            <p:strVal val="#ppt_w"/>
                                          </p:val>
                                        </p:tav>
                                      </p:tavLst>
                                    </p:anim>
                                    <p:anim calcmode="lin" valueType="num">
                                      <p:cBhvr>
                                        <p:cTn id="7" dur="500" fill="hold"/>
                                        <p:tgtEl>
                                          <p:spTgt spid="10"/>
                                        </p:tgtEl>
                                        <p:attrNameLst>
                                          <p:attrName>ppt_h</p:attrName>
                                        </p:attrNameLst>
                                      </p:cBhvr>
                                      <p:tavLst>
                                        <p:tav tm="0">
                                          <p:val>
                                            <p:fltVal val="0"/>
                                          </p:val>
                                        </p:tav>
                                        <p:tav tm="100000">
                                          <p:val>
                                            <p:strVal val="#ppt_h"/>
                                          </p:val>
                                        </p:tav>
                                      </p:tavLst>
                                    </p:anim>
                                    <p:animEffect transition="in" filter="fade">
                                      <p:cBhvr>
                                        <p:cTn id="8" dur="500"/>
                                        <p:tgtEl>
                                          <p:spTgt spid="10"/>
                                        </p:tgtEl>
                                      </p:cBhvr>
                                    </p:animEffect>
                                  </p:childTnLst>
                                </p:cTn>
                              </p:par>
                            </p:childTnLst>
                          </p:cTn>
                        </p:par>
                      </p:childTnLst>
                    </p:cTn>
                  </p:par>
                  <p:par>
                    <p:cTn id="10" fill="hold">
                      <p:stCondLst>
                        <p:cond delay="indefinite"/>
                      </p:stCondLst>
                      <p:childTnLst>
                        <p:par>
                          <p:cTn id="11" fill="hold">
                            <p:stCondLst>
                              <p:cond delay="0"/>
                            </p:stCondLst>
                            <p:childTnLst>
                              <p:par>
                                <p:cTn id="16" presetID="53" presetClass="entr" presetSubtype="16"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p:cTn id="13" dur="500" fill="hold"/>
                                        <p:tgtEl>
                                          <p:spTgt spid="13"/>
                                        </p:tgtEl>
                                        <p:attrNameLst>
                                          <p:attrName>ppt_w</p:attrName>
                                        </p:attrNameLst>
                                      </p:cBhvr>
                                      <p:tavLst>
                                        <p:tav tm="0">
                                          <p:val>
                                            <p:fltVal val="0"/>
                                          </p:val>
                                        </p:tav>
                                        <p:tav tm="100000">
                                          <p:val>
                                            <p:strVal val="#ppt_w"/>
                                          </p:val>
                                        </p:tav>
                                      </p:tavLst>
                                    </p:anim>
                                    <p:anim calcmode="lin" valueType="num">
                                      <p:cBhvr>
                                        <p:cTn id="14" dur="500" fill="hold"/>
                                        <p:tgtEl>
                                          <p:spTgt spid="13"/>
                                        </p:tgtEl>
                                        <p:attrNameLst>
                                          <p:attrName>ppt_h</p:attrName>
                                        </p:attrNameLst>
                                      </p:cBhvr>
                                      <p:tavLst>
                                        <p:tav tm="0">
                                          <p:val>
                                            <p:fltVal val="0"/>
                                          </p:val>
                                        </p:tav>
                                        <p:tav tm="100000">
                                          <p:val>
                                            <p:strVal val="#ppt_h"/>
                                          </p:val>
                                        </p:tav>
                                      </p:tavLst>
                                    </p:anim>
                                    <p:animEffect transition="in" filter="fade">
                                      <p:cBhvr>
                                        <p:cTn id="15" dur="500"/>
                                        <p:tgtEl>
                                          <p:spTgt spid="13"/>
                                        </p:tgtEl>
                                      </p:cBhvr>
                                    </p:animEffect>
                                  </p:childTnLst>
                                </p:cTn>
                              </p:par>
                            </p:childTnLst>
                          </p:cTn>
                        </p:par>
                      </p:childTnLst>
                    </p:cTn>
                  </p:par>
                  <p:par>
                    <p:cTn id="17" fill="hold">
                      <p:stCondLst>
                        <p:cond delay="indefinite"/>
                      </p:stCondLst>
                      <p:childTnLst>
                        <p:par>
                          <p:cTn id="18" fill="hold">
                            <p:stCondLst>
                              <p:cond delay="0"/>
                            </p:stCondLst>
                            <p:childTnLst>
                              <p:par>
                                <p:cTn id="23" presetID="53" presetClass="entr" presetSubtype="16" fill="hold" grpId="0" nodeType="clickEffect">
                                  <p:stCondLst>
                                    <p:cond delay="0"/>
                                  </p:stCondLst>
                                  <p:childTnLst>
                                    <p:set>
                                      <p:cBhvr>
                                        <p:cTn id="19" dur="1" fill="hold">
                                          <p:stCondLst>
                                            <p:cond delay="0"/>
                                          </p:stCondLst>
                                        </p:cTn>
                                        <p:tgtEl>
                                          <p:spTgt spid="16"/>
                                        </p:tgtEl>
                                        <p:attrNameLst>
                                          <p:attrName>style.visibility</p:attrName>
                                        </p:attrNameLst>
                                      </p:cBhvr>
                                      <p:to>
                                        <p:strVal val="visible"/>
                                      </p:to>
                                    </p:set>
                                    <p:anim calcmode="lin" valueType="num">
                                      <p:cBhvr>
                                        <p:cTn id="20" dur="500" fill="hold"/>
                                        <p:tgtEl>
                                          <p:spTgt spid="16"/>
                                        </p:tgtEl>
                                        <p:attrNameLst>
                                          <p:attrName>ppt_w</p:attrName>
                                        </p:attrNameLst>
                                      </p:cBhvr>
                                      <p:tavLst>
                                        <p:tav tm="0">
                                          <p:val>
                                            <p:fltVal val="0"/>
                                          </p:val>
                                        </p:tav>
                                        <p:tav tm="100000">
                                          <p:val>
                                            <p:strVal val="#ppt_w"/>
                                          </p:val>
                                        </p:tav>
                                      </p:tavLst>
                                    </p:anim>
                                    <p:anim calcmode="lin" valueType="num">
                                      <p:cBhvr>
                                        <p:cTn id="21" dur="500" fill="hold"/>
                                        <p:tgtEl>
                                          <p:spTgt spid="16"/>
                                        </p:tgtEl>
                                        <p:attrNameLst>
                                          <p:attrName>ppt_h</p:attrName>
                                        </p:attrNameLst>
                                      </p:cBhvr>
                                      <p:tavLst>
                                        <p:tav tm="0">
                                          <p:val>
                                            <p:fltVal val="0"/>
                                          </p:val>
                                        </p:tav>
                                        <p:tav tm="100000">
                                          <p:val>
                                            <p:strVal val="#ppt_h"/>
                                          </p:val>
                                        </p:tav>
                                      </p:tavLst>
                                    </p:anim>
                                    <p:animEffect transition="in" filter="fade">
                                      <p:cBhvr>
                                        <p:cTn id="2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26_sign" descr="قاعة العلوم من حولنا">    </p:cNvPr>
          <p:cNvPicPr>
            <a:picLocks noChangeAspect="1"/>
          </p:cNvPicPr>
          <p:nvPr/>
        </p:nvPicPr>
        <p:blipFill>
          <a:blip r:embed="rId2"/>
          <a:stretch>
            <a:fillRect/>
          </a:stretch>
        </p:blipFill>
        <p:spPr>
          <a:xfrm>
            <a:off x="4092727" y="91440"/>
            <a:ext cx="4006241" cy="868680"/>
          </a:xfrm>
          <a:prstGeom prst="rect">
            <a:avLst/>
          </a:prstGeom>
        </p:spPr>
      </p:pic>
      <p:sp>
        <p:nvSpPr>
          <p:cNvPr id="3" name="s26_t_1"/>
          <p:cNvSpPr txBox="1"/>
          <p:nvPr/>
        </p:nvSpPr>
        <p:spPr>
          <a:xfrm>
            <a:off x="10561320" y="274320"/>
            <a:ext cx="1325880" cy="502920"/>
          </a:xfrm>
          <a:prstGeom prst="roundRect">
            <a:avLst>
              <a:gd name="adj" fmla="val 49091"/>
            </a:avLst>
          </a:prstGeom>
          <a:solidFill>
            <a:srgbClr val="1B2A4A"/>
          </a:solidFill>
          <a:ln/>
        </p:spPr>
        <p:txBody>
          <a:bodyPr wrap="square" lIns="762" tIns="762" rIns="762" bIns="762" rtlCol="0" anchor="ctr"/>
          <a:lstStyle/>
          <a:p>
            <a:pPr rtl="1" algn="ctr" indent="0" marL="0">
              <a:lnSpc>
                <a:spcPct val="108000"/>
              </a:lnSpc>
              <a:buNone/>
            </a:pPr>
            <a:r>
              <a:rPr lang="ar-SA" altLang="en-US" sz="1700" b="1" dirty="0">
                <a:solidFill>
                  <a:srgbClr val="FFFFFF"/>
                </a:solidFill>
                <a:latin typeface="Tahoma" pitchFamily="34" charset="0"/>
                <a:ea typeface="Tahoma" pitchFamily="34" charset="-122"/>
                <a:cs typeface="Tahoma" pitchFamily="34" charset="-120"/>
              </a:rPr>
              <a:t>القاعة </a:t>
            </a:r>
            <a:r>
              <a:rPr lang="ar-SA" altLang="en-US" sz="1700" b="1" dirty="0">
                <a:solidFill>
                  <a:srgbClr val="FFFFFF"/>
                </a:solidFill>
                <a:latin typeface="Tahoma" pitchFamily="34" charset="0"/>
                <a:ea typeface="Tahoma" pitchFamily="34" charset="-122"/>
                <a:cs typeface="Tahoma" pitchFamily="34" charset="-120"/>
              </a:rPr>
              <a:t>١٩</a:t>
            </a:r>
            <a:endParaRPr lang="ar-SA" sz="1700" dirty="0"/>
          </a:p>
        </p:txBody>
      </p:sp>
      <p:sp>
        <p:nvSpPr>
          <p:cNvPr id="4" name="s26_t_2"/>
          <p:cNvSpPr txBox="1"/>
          <p:nvPr/>
        </p:nvSpPr>
        <p:spPr>
          <a:xfrm>
            <a:off x="365760" y="228600"/>
            <a:ext cx="2788920" cy="603504"/>
          </a:xfrm>
          <a:prstGeom prst="roundRect">
            <a:avLst>
              <a:gd name="adj" fmla="val 39394"/>
            </a:avLst>
          </a:prstGeom>
          <a:solidFill>
            <a:srgbClr val="FFFFFF"/>
          </a:solidFill>
          <a:ln w="25400">
            <a:solidFill>
              <a:srgbClr val="8C5CFF"/>
            </a:solidFill>
            <a:prstDash val="dash"/>
          </a:ln>
        </p:spPr>
        <p:txBody>
          <a:bodyPr wrap="square" lIns="762" tIns="762" rIns="762" bIns="762" rtlCol="0" anchor="ctr"/>
          <a:lstStyle/>
          <a:p>
            <a:pPr rtl="1" algn="ctr" indent="0" marL="0">
              <a:lnSpc>
                <a:spcPct val="108000"/>
              </a:lnSpc>
              <a:buNone/>
            </a:pPr>
            <a:r>
              <a:rPr lang="ar-SA" altLang="en-US" sz="1350" b="1" dirty="0">
                <a:solidFill>
                  <a:srgbClr val="C2366F"/>
                </a:solidFill>
                <a:latin typeface="Tahoma" pitchFamily="34" charset="0"/>
                <a:ea typeface="Tahoma" pitchFamily="34" charset="-122"/>
                <a:cs typeface="Tahoma" pitchFamily="34" charset="-120"/>
              </a:rPr>
              <a:t>الاستراتيجية: </a:t>
            </a:r>
            <a:r>
              <a:rPr lang="ar-SA" altLang="en-US" sz="1350" b="1" dirty="0">
                <a:solidFill>
                  <a:srgbClr val="34405E"/>
                </a:solidFill>
                <a:latin typeface="Tahoma" pitchFamily="34" charset="0"/>
                <a:ea typeface="Tahoma" pitchFamily="34" charset="-122"/>
                <a:cs typeface="Tahoma" pitchFamily="34" charset="-120"/>
              </a:rPr>
              <a:t>الربط بالحياة</a:t>
            </a:r>
            <a:endParaRPr lang="ar-SA" sz="1350" dirty="0"/>
          </a:p>
        </p:txBody>
      </p:sp>
      <p:sp>
        <p:nvSpPr>
          <p:cNvPr id="5" name="s26_t_3">
            <a:hlinkClick r:id="rId3" tooltip="الانتقال إلى القاعة التالية" action="ppaction://hlinksldjump"/>
          </p:cNvPr>
          <p:cNvSpPr txBox="1"/>
          <p:nvPr/>
        </p:nvSpPr>
        <p:spPr>
          <a:xfrm>
            <a:off x="2926080" y="6382512"/>
            <a:ext cx="2011680" cy="384048"/>
          </a:xfrm>
          <a:prstGeom prst="roundRect">
            <a:avLst>
              <a:gd name="adj" fmla="val 50000"/>
            </a:avLst>
          </a:prstGeom>
          <a:solidFill>
            <a:srgbClr val="5B6CFF"/>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القاعة التالية ◀</a:t>
            </a:r>
            <a:endParaRPr lang="ar-SA" sz="1600" dirty="0"/>
          </a:p>
        </p:txBody>
      </p:sp>
      <p:sp>
        <p:nvSpPr>
          <p:cNvPr id="6" name="s26_t_4">
            <a:hlinkClick r:id="rId4" tooltip="العودة إلى خريطة المتحف" action="ppaction://hlinksldjump"/>
          </p:cNvPr>
          <p:cNvSpPr txBox="1"/>
          <p:nvPr/>
        </p:nvSpPr>
        <p:spPr>
          <a:xfrm>
            <a:off x="5074920" y="6382512"/>
            <a:ext cx="2011680" cy="384048"/>
          </a:xfrm>
          <a:prstGeom prst="roundRect">
            <a:avLst>
              <a:gd name="adj" fmla="val 50000"/>
            </a:avLst>
          </a:prstGeom>
          <a:solidFill>
            <a:srgbClr val="0FA3B8"/>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خريطة المتحف</a:t>
            </a:r>
            <a:endParaRPr lang="ar-SA" sz="1600" dirty="0"/>
          </a:p>
        </p:txBody>
      </p:sp>
      <p:sp>
        <p:nvSpPr>
          <p:cNvPr id="7" name="s26_t_5">
            <a:hlinkClick r:id="rId5" tooltip="القاعة السابقة" action="ppaction://hlinksldjump"/>
          </p:cNvPr>
          <p:cNvSpPr txBox="1"/>
          <p:nvPr/>
        </p:nvSpPr>
        <p:spPr>
          <a:xfrm>
            <a:off x="7223760" y="6382512"/>
            <a:ext cx="1463040" cy="384048"/>
          </a:xfrm>
          <a:prstGeom prst="roundRect">
            <a:avLst>
              <a:gd name="adj" fmla="val 50000"/>
            </a:avLst>
          </a:prstGeom>
          <a:solidFill>
            <a:srgbClr val="8C9BB5"/>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السابقة</a:t>
            </a:r>
            <a:endParaRPr lang="ar-SA" sz="1600" dirty="0"/>
          </a:p>
        </p:txBody>
      </p:sp>
      <p:pic>
        <p:nvPicPr>
          <p:cNvPr id="8" name="s26_pic_6" descr="/tmp/claude-0/-home-user-Scienceshamah/8386cda7-7741-5ea4-8952-60ee8e67fc31/scratchpad/w4/img/scr_325x578_0FA3B8_FFFFFF.png">    </p:cNvPr>
          <p:cNvPicPr>
            <a:picLocks noChangeAspect="1"/>
          </p:cNvPicPr>
          <p:nvPr/>
        </p:nvPicPr>
        <p:blipFill>
          <a:blip r:embed="rId6"/>
          <a:stretch>
            <a:fillRect/>
          </a:stretch>
        </p:blipFill>
        <p:spPr>
          <a:xfrm>
            <a:off x="8805672" y="1170432"/>
            <a:ext cx="2916936" cy="5020056"/>
          </a:xfrm>
          <a:prstGeom prst="rect">
            <a:avLst/>
          </a:prstGeom>
        </p:spPr>
      </p:pic>
      <p:pic>
        <p:nvPicPr>
          <p:cNvPr id="9" name="s26_pic_7" descr="العفن على الطعام">    </p:cNvPr>
          <p:cNvPicPr>
            <a:picLocks noChangeAspect="1"/>
          </p:cNvPicPr>
          <p:nvPr/>
        </p:nvPicPr>
        <p:blipFill>
          <a:blip r:embed="rId7"/>
          <a:stretch>
            <a:fillRect/>
          </a:stretch>
        </p:blipFill>
        <p:spPr>
          <a:xfrm>
            <a:off x="9646920" y="1463040"/>
            <a:ext cx="1234440" cy="1234440"/>
          </a:xfrm>
          <a:prstGeom prst="rect">
            <a:avLst/>
          </a:prstGeom>
        </p:spPr>
      </p:pic>
      <p:sp>
        <p:nvSpPr>
          <p:cNvPr id="10" name="s26_t_8"/>
          <p:cNvSpPr txBox="1"/>
          <p:nvPr/>
        </p:nvSpPr>
        <p:spPr>
          <a:xfrm>
            <a:off x="9006840" y="2788920"/>
            <a:ext cx="2514600" cy="548640"/>
          </a:xfrm>
          <a:prstGeom prst="rect">
            <a:avLst/>
          </a:prstGeom>
          <a:noFill/>
          <a:ln/>
        </p:spPr>
        <p:txBody>
          <a:bodyPr wrap="square" lIns="762" tIns="762" rIns="762" bIns="762" rtlCol="0" anchor="ctr"/>
          <a:lstStyle/>
          <a:p>
            <a:pPr rtl="1" algn="ctr" indent="0" marL="0">
              <a:lnSpc>
                <a:spcPct val="108000"/>
              </a:lnSpc>
              <a:buNone/>
            </a:pPr>
            <a:r>
              <a:rPr lang="ar-SA" altLang="en-US" sz="1900" b="1" dirty="0">
                <a:solidFill>
                  <a:srgbClr val="1B2A4A"/>
                </a:solidFill>
                <a:latin typeface="Tahoma" pitchFamily="34" charset="0"/>
                <a:ea typeface="Tahoma" pitchFamily="34" charset="-122"/>
                <a:cs typeface="Tahoma" pitchFamily="34" charset="-120"/>
              </a:rPr>
              <a:t>العفن على الطعام</a:t>
            </a:r>
            <a:endParaRPr lang="ar-SA" sz="1900" dirty="0"/>
          </a:p>
        </p:txBody>
      </p:sp>
      <p:sp>
        <p:nvSpPr>
          <p:cNvPr id="11" name="s26_t_9"/>
          <p:cNvSpPr txBox="1"/>
          <p:nvPr/>
        </p:nvSpPr>
        <p:spPr>
          <a:xfrm>
            <a:off x="9052560" y="3383280"/>
            <a:ext cx="2423160" cy="2468880"/>
          </a:xfrm>
          <a:prstGeom prst="rect">
            <a:avLst/>
          </a:prstGeom>
          <a:noFill/>
          <a:ln/>
        </p:spPr>
        <p:txBody>
          <a:bodyPr wrap="square" lIns="762" tIns="762" rIns="762" bIns="762" rtlCol="0" anchor="t"/>
          <a:lstStyle/>
          <a:p>
            <a:pPr rtl="1" algn="ctr" indent="0" marL="0">
              <a:lnSpc>
                <a:spcPct val="108000"/>
              </a:lnSpc>
              <a:buNone/>
            </a:pPr>
            <a:r>
              <a:rPr lang="ar-SA" altLang="en-US" sz="1600" b="1" dirty="0">
                <a:solidFill>
                  <a:srgbClr val="1B2A4A"/>
                </a:solidFill>
                <a:latin typeface="Tahoma" pitchFamily="34" charset="0"/>
                <a:ea typeface="Tahoma" pitchFamily="34" charset="-122"/>
                <a:cs typeface="Tahoma" pitchFamily="34" charset="-120"/>
              </a:rPr>
              <a:t>نحفظ الخبز في مكان جاف وبارد حتى لا ينمو عليه العفن بسرعة.</a:t>
            </a:r>
            <a:endParaRPr lang="ar-SA" sz="1600" dirty="0"/>
          </a:p>
        </p:txBody>
      </p:sp>
      <p:pic>
        <p:nvPicPr>
          <p:cNvPr id="12" name="s26_pic_10" descr="/tmp/claude-0/-home-user-Scienceshamah/8386cda7-7741-5ea4-8952-60ee8e67fc31/scratchpad/w4/img/scr_325x578_E3A21A_FFFFFF.png">    </p:cNvPr>
          <p:cNvPicPr>
            <a:picLocks noChangeAspect="1"/>
          </p:cNvPicPr>
          <p:nvPr/>
        </p:nvPicPr>
        <p:blipFill>
          <a:blip r:embed="rId8"/>
          <a:stretch>
            <a:fillRect/>
          </a:stretch>
        </p:blipFill>
        <p:spPr>
          <a:xfrm>
            <a:off x="5971032" y="1170432"/>
            <a:ext cx="2916936" cy="5020056"/>
          </a:xfrm>
          <a:prstGeom prst="rect">
            <a:avLst/>
          </a:prstGeom>
        </p:spPr>
      </p:pic>
      <p:pic>
        <p:nvPicPr>
          <p:cNvPr id="13" name="s26_pic_11" descr="الخميرة في المطبخ">    </p:cNvPr>
          <p:cNvPicPr>
            <a:picLocks noChangeAspect="1"/>
          </p:cNvPicPr>
          <p:nvPr/>
        </p:nvPicPr>
        <p:blipFill>
          <a:blip r:embed="rId9"/>
          <a:stretch>
            <a:fillRect/>
          </a:stretch>
        </p:blipFill>
        <p:spPr>
          <a:xfrm>
            <a:off x="6812280" y="1463040"/>
            <a:ext cx="1234440" cy="1234440"/>
          </a:xfrm>
          <a:prstGeom prst="rect">
            <a:avLst/>
          </a:prstGeom>
        </p:spPr>
      </p:pic>
      <p:sp>
        <p:nvSpPr>
          <p:cNvPr id="14" name="s26_t_12"/>
          <p:cNvSpPr txBox="1"/>
          <p:nvPr/>
        </p:nvSpPr>
        <p:spPr>
          <a:xfrm>
            <a:off x="6172200" y="2788920"/>
            <a:ext cx="2514600" cy="548640"/>
          </a:xfrm>
          <a:prstGeom prst="rect">
            <a:avLst/>
          </a:prstGeom>
          <a:noFill/>
          <a:ln/>
        </p:spPr>
        <p:txBody>
          <a:bodyPr wrap="square" lIns="762" tIns="762" rIns="762" bIns="762" rtlCol="0" anchor="ctr"/>
          <a:lstStyle/>
          <a:p>
            <a:pPr rtl="1" algn="ctr" indent="0" marL="0">
              <a:lnSpc>
                <a:spcPct val="108000"/>
              </a:lnSpc>
              <a:buNone/>
            </a:pPr>
            <a:r>
              <a:rPr lang="ar-SA" altLang="en-US" sz="1900" b="1" dirty="0">
                <a:solidFill>
                  <a:srgbClr val="1B2A4A"/>
                </a:solidFill>
                <a:latin typeface="Tahoma" pitchFamily="34" charset="0"/>
                <a:ea typeface="Tahoma" pitchFamily="34" charset="-122"/>
                <a:cs typeface="Tahoma" pitchFamily="34" charset="-120"/>
              </a:rPr>
              <a:t>الخميرة في المطبخ</a:t>
            </a:r>
            <a:endParaRPr lang="ar-SA" sz="1900" dirty="0"/>
          </a:p>
        </p:txBody>
      </p:sp>
      <p:sp>
        <p:nvSpPr>
          <p:cNvPr id="15" name="s26_t_13"/>
          <p:cNvSpPr txBox="1"/>
          <p:nvPr/>
        </p:nvSpPr>
        <p:spPr>
          <a:xfrm>
            <a:off x="6217920" y="3383280"/>
            <a:ext cx="2423160" cy="2468880"/>
          </a:xfrm>
          <a:prstGeom prst="rect">
            <a:avLst/>
          </a:prstGeom>
          <a:noFill/>
          <a:ln/>
        </p:spPr>
        <p:txBody>
          <a:bodyPr wrap="square" lIns="762" tIns="762" rIns="762" bIns="762" rtlCol="0" anchor="t"/>
          <a:lstStyle/>
          <a:p>
            <a:pPr rtl="1" algn="ctr" indent="0" marL="0">
              <a:lnSpc>
                <a:spcPct val="108000"/>
              </a:lnSpc>
              <a:buNone/>
            </a:pPr>
            <a:r>
              <a:rPr lang="ar-SA" altLang="en-US" sz="1600" b="1" dirty="0">
                <a:solidFill>
                  <a:srgbClr val="1B2A4A"/>
                </a:solidFill>
                <a:latin typeface="Tahoma" pitchFamily="34" charset="0"/>
                <a:ea typeface="Tahoma" pitchFamily="34" charset="-122"/>
                <a:cs typeface="Tahoma" pitchFamily="34" charset="-120"/>
              </a:rPr>
              <a:t>تُنفخ عجينة الخبز بفقاقيع ثاني أكسيد الكربون التي تكوّنها الخميرة.</a:t>
            </a:r>
            <a:endParaRPr lang="ar-SA" sz="1600" dirty="0"/>
          </a:p>
        </p:txBody>
      </p:sp>
      <p:pic>
        <p:nvPicPr>
          <p:cNvPr id="16" name="s26_pic_14" descr="/tmp/claude-0/-home-user-Scienceshamah/8386cda7-7741-5ea4-8952-60ee8e67fc31/scratchpad/w4/img/scr_325x578_14B88A_FFFFFF.png">    </p:cNvPr>
          <p:cNvPicPr>
            <a:picLocks noChangeAspect="1"/>
          </p:cNvPicPr>
          <p:nvPr/>
        </p:nvPicPr>
        <p:blipFill>
          <a:blip r:embed="rId10"/>
          <a:stretch>
            <a:fillRect/>
          </a:stretch>
        </p:blipFill>
        <p:spPr>
          <a:xfrm>
            <a:off x="3136392" y="1170432"/>
            <a:ext cx="2916936" cy="5020056"/>
          </a:xfrm>
          <a:prstGeom prst="rect">
            <a:avLst/>
          </a:prstGeom>
        </p:spPr>
      </p:pic>
      <p:pic>
        <p:nvPicPr>
          <p:cNvPr id="17" name="s26_pic_15" descr="البكتيريا المفيدة">    </p:cNvPr>
          <p:cNvPicPr>
            <a:picLocks noChangeAspect="1"/>
          </p:cNvPicPr>
          <p:nvPr/>
        </p:nvPicPr>
        <p:blipFill>
          <a:blip r:embed="rId11"/>
          <a:stretch>
            <a:fillRect/>
          </a:stretch>
        </p:blipFill>
        <p:spPr>
          <a:xfrm>
            <a:off x="3977640" y="1463040"/>
            <a:ext cx="1234440" cy="1234440"/>
          </a:xfrm>
          <a:prstGeom prst="rect">
            <a:avLst/>
          </a:prstGeom>
        </p:spPr>
      </p:pic>
      <p:sp>
        <p:nvSpPr>
          <p:cNvPr id="18" name="s26_t_16"/>
          <p:cNvSpPr txBox="1"/>
          <p:nvPr/>
        </p:nvSpPr>
        <p:spPr>
          <a:xfrm>
            <a:off x="3337560" y="2788920"/>
            <a:ext cx="2514600" cy="548640"/>
          </a:xfrm>
          <a:prstGeom prst="rect">
            <a:avLst/>
          </a:prstGeom>
          <a:noFill/>
          <a:ln/>
        </p:spPr>
        <p:txBody>
          <a:bodyPr wrap="square" lIns="762" tIns="762" rIns="762" bIns="762" rtlCol="0" anchor="ctr"/>
          <a:lstStyle/>
          <a:p>
            <a:pPr rtl="1" algn="ctr" indent="0" marL="0">
              <a:lnSpc>
                <a:spcPct val="108000"/>
              </a:lnSpc>
              <a:buNone/>
            </a:pPr>
            <a:r>
              <a:rPr lang="ar-SA" altLang="en-US" sz="1900" b="1" dirty="0">
                <a:solidFill>
                  <a:srgbClr val="1B2A4A"/>
                </a:solidFill>
                <a:latin typeface="Tahoma" pitchFamily="34" charset="0"/>
                <a:ea typeface="Tahoma" pitchFamily="34" charset="-122"/>
                <a:cs typeface="Tahoma" pitchFamily="34" charset="-120"/>
              </a:rPr>
              <a:t>البكتيريا المفيدة</a:t>
            </a:r>
            <a:endParaRPr lang="ar-SA" sz="1900" dirty="0"/>
          </a:p>
        </p:txBody>
      </p:sp>
      <p:sp>
        <p:nvSpPr>
          <p:cNvPr id="19" name="s26_t_17"/>
          <p:cNvSpPr txBox="1"/>
          <p:nvPr/>
        </p:nvSpPr>
        <p:spPr>
          <a:xfrm>
            <a:off x="3383280" y="3383280"/>
            <a:ext cx="2423160" cy="2468880"/>
          </a:xfrm>
          <a:prstGeom prst="rect">
            <a:avLst/>
          </a:prstGeom>
          <a:noFill/>
          <a:ln/>
        </p:spPr>
        <p:txBody>
          <a:bodyPr wrap="square" lIns="762" tIns="762" rIns="762" bIns="762" rtlCol="0" anchor="t"/>
          <a:lstStyle/>
          <a:p>
            <a:pPr rtl="1" algn="ctr" indent="0" marL="0">
              <a:lnSpc>
                <a:spcPct val="108000"/>
              </a:lnSpc>
              <a:buNone/>
            </a:pPr>
            <a:r>
              <a:rPr lang="ar-SA" altLang="en-US" sz="1600" b="1" dirty="0">
                <a:solidFill>
                  <a:srgbClr val="1B2A4A"/>
                </a:solidFill>
                <a:latin typeface="Tahoma" pitchFamily="34" charset="0"/>
                <a:ea typeface="Tahoma" pitchFamily="34" charset="-122"/>
                <a:cs typeface="Tahoma" pitchFamily="34" charset="-120"/>
              </a:rPr>
              <a:t>البكتيريا العصوية تُستعمل لإنتاج اللبن الرائب.</a:t>
            </a:r>
            <a:endParaRPr lang="ar-SA" sz="1600" dirty="0"/>
          </a:p>
        </p:txBody>
      </p:sp>
      <p:pic>
        <p:nvPicPr>
          <p:cNvPr id="20" name="s26_pic_18" descr="/tmp/claude-0/-home-user-Scienceshamah/8386cda7-7741-5ea4-8952-60ee8e67fc31/scratchpad/w4/img/scr_325x578_3D8BFF_FFFFFF.png">    </p:cNvPr>
          <p:cNvPicPr>
            <a:picLocks noChangeAspect="1"/>
          </p:cNvPicPr>
          <p:nvPr/>
        </p:nvPicPr>
        <p:blipFill>
          <a:blip r:embed="rId12"/>
          <a:stretch>
            <a:fillRect/>
          </a:stretch>
        </p:blipFill>
        <p:spPr>
          <a:xfrm>
            <a:off x="301752" y="1170432"/>
            <a:ext cx="2916936" cy="5020056"/>
          </a:xfrm>
          <a:prstGeom prst="rect">
            <a:avLst/>
          </a:prstGeom>
        </p:spPr>
      </p:pic>
      <p:pic>
        <p:nvPicPr>
          <p:cNvPr id="21" name="s26_pic_19" descr="النظافة والوقاية">    </p:cNvPr>
          <p:cNvPicPr>
            <a:picLocks noChangeAspect="1"/>
          </p:cNvPicPr>
          <p:nvPr/>
        </p:nvPicPr>
        <p:blipFill>
          <a:blip r:embed="rId13"/>
          <a:stretch>
            <a:fillRect/>
          </a:stretch>
        </p:blipFill>
        <p:spPr>
          <a:xfrm>
            <a:off x="1143000" y="1463040"/>
            <a:ext cx="1234440" cy="1234440"/>
          </a:xfrm>
          <a:prstGeom prst="rect">
            <a:avLst/>
          </a:prstGeom>
        </p:spPr>
      </p:pic>
      <p:sp>
        <p:nvSpPr>
          <p:cNvPr id="22" name="s26_t_20"/>
          <p:cNvSpPr txBox="1"/>
          <p:nvPr/>
        </p:nvSpPr>
        <p:spPr>
          <a:xfrm>
            <a:off x="502920" y="2788920"/>
            <a:ext cx="2514600" cy="548640"/>
          </a:xfrm>
          <a:prstGeom prst="rect">
            <a:avLst/>
          </a:prstGeom>
          <a:noFill/>
          <a:ln/>
        </p:spPr>
        <p:txBody>
          <a:bodyPr wrap="square" lIns="762" tIns="762" rIns="762" bIns="762" rtlCol="0" anchor="ctr"/>
          <a:lstStyle/>
          <a:p>
            <a:pPr rtl="1" algn="ctr" indent="0" marL="0">
              <a:lnSpc>
                <a:spcPct val="108000"/>
              </a:lnSpc>
              <a:buNone/>
            </a:pPr>
            <a:r>
              <a:rPr lang="ar-SA" altLang="en-US" sz="1900" b="1" dirty="0">
                <a:solidFill>
                  <a:srgbClr val="1B2A4A"/>
                </a:solidFill>
                <a:latin typeface="Tahoma" pitchFamily="34" charset="0"/>
                <a:ea typeface="Tahoma" pitchFamily="34" charset="-122"/>
                <a:cs typeface="Tahoma" pitchFamily="34" charset="-120"/>
              </a:rPr>
              <a:t>النظافة والوقاية</a:t>
            </a:r>
            <a:endParaRPr lang="ar-SA" sz="1900" dirty="0"/>
          </a:p>
        </p:txBody>
      </p:sp>
      <p:sp>
        <p:nvSpPr>
          <p:cNvPr id="23" name="s26_t_21"/>
          <p:cNvSpPr txBox="1"/>
          <p:nvPr/>
        </p:nvSpPr>
        <p:spPr>
          <a:xfrm>
            <a:off x="548640" y="3383280"/>
            <a:ext cx="2423160" cy="2468880"/>
          </a:xfrm>
          <a:prstGeom prst="rect">
            <a:avLst/>
          </a:prstGeom>
          <a:noFill/>
          <a:ln/>
        </p:spPr>
        <p:txBody>
          <a:bodyPr wrap="square" lIns="762" tIns="762" rIns="762" bIns="762" rtlCol="0" anchor="t"/>
          <a:lstStyle/>
          <a:p>
            <a:pPr rtl="1" algn="ctr" indent="0" marL="0">
              <a:lnSpc>
                <a:spcPct val="108000"/>
              </a:lnSpc>
              <a:buNone/>
            </a:pPr>
            <a:r>
              <a:rPr lang="ar-SA" altLang="en-US" sz="1600" b="1" dirty="0">
                <a:solidFill>
                  <a:srgbClr val="1B2A4A"/>
                </a:solidFill>
                <a:latin typeface="Tahoma" pitchFamily="34" charset="0"/>
                <a:ea typeface="Tahoma" pitchFamily="34" charset="-122"/>
                <a:cs typeface="Tahoma" pitchFamily="34" charset="-120"/>
              </a:rPr>
              <a:t>تجفيف القدمين جيدًا يقي من فطريات القدم الرياضي.</a:t>
            </a:r>
            <a:endParaRPr lang="ar-SA" sz="1600" dirty="0"/>
          </a:p>
        </p:txBody>
      </p:sp>
    </p:spTree>
  </p:cSld>
  <p:clrMapOvr>
    <a:masterClrMapping/>
  </p:clrMapOvr>
  <mc:AlternateContent xmlns:mc="http://schemas.openxmlformats.org/markup-compatibility/2006">
    <mc:Choice xmlns:p14="http://schemas.microsoft.com/office/powerpoint/2010/main" Requires="p14">
      <p:transition spd="slow" p14:dur="14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8"/>
                                        </p:tgtEl>
                                        <p:attrNameLst>
                                          <p:attrName>style.visibility</p:attrName>
                                        </p:attrNameLst>
                                      </p:cBhvr>
                                      <p:to>
                                        <p:strVal val="visible"/>
                                      </p:to>
                                    </p:set>
                                    <p:anim calcmode="lin" valueType="num">
                                      <p:cBhvr>
                                        <p:cTn id="6" dur="500" fill="hold"/>
                                        <p:tgtEl>
                                          <p:spTgt spid="8"/>
                                        </p:tgtEl>
                                        <p:attrNameLst>
                                          <p:attrName>ppt_w</p:attrName>
                                        </p:attrNameLst>
                                      </p:cBhvr>
                                      <p:tavLst>
                                        <p:tav tm="0">
                                          <p:val>
                                            <p:fltVal val="0"/>
                                          </p:val>
                                        </p:tav>
                                        <p:tav tm="100000">
                                          <p:val>
                                            <p:strVal val="#ppt_w"/>
                                          </p:val>
                                        </p:tav>
                                      </p:tavLst>
                                    </p:anim>
                                    <p:anim calcmode="lin" valueType="num">
                                      <p:cBhvr>
                                        <p:cTn id="7" dur="500" fill="hold"/>
                                        <p:tgtEl>
                                          <p:spTgt spid="8"/>
                                        </p:tgtEl>
                                        <p:attrNameLst>
                                          <p:attrName>ppt_h</p:attrName>
                                        </p:attrNameLst>
                                      </p:cBhvr>
                                      <p:tavLst>
                                        <p:tav tm="0">
                                          <p:val>
                                            <p:fltVal val="0"/>
                                          </p:val>
                                        </p:tav>
                                        <p:tav tm="100000">
                                          <p:val>
                                            <p:strVal val="#ppt_h"/>
                                          </p:val>
                                        </p:tav>
                                      </p:tavLst>
                                    </p:anim>
                                    <p:animEffect transition="in" filter="fade">
                                      <p:cBhvr>
                                        <p:cTn id="8" dur="500"/>
                                        <p:tgtEl>
                                          <p:spTgt spid="8"/>
                                        </p:tgtEl>
                                      </p:cBhvr>
                                    </p:animEffect>
                                  </p:childTnLst>
                                </p:cTn>
                              </p:par>
                              <p:par>
                                <p:cTn id="14" presetID="53" presetClass="entr" presetSubtype="16"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ppt_w</p:attrName>
                                        </p:attrNameLst>
                                      </p:cBhvr>
                                      <p:tavLst>
                                        <p:tav tm="0">
                                          <p:val>
                                            <p:fltVal val="0"/>
                                          </p:val>
                                        </p:tav>
                                        <p:tav tm="100000">
                                          <p:val>
                                            <p:strVal val="#ppt_w"/>
                                          </p:val>
                                        </p:tav>
                                      </p:tavLst>
                                    </p:anim>
                                    <p:anim calcmode="lin" valueType="num">
                                      <p:cBhvr>
                                        <p:cTn id="12" dur="500" fill="hold"/>
                                        <p:tgtEl>
                                          <p:spTgt spid="9"/>
                                        </p:tgtEl>
                                        <p:attrNameLst>
                                          <p:attrName>ppt_h</p:attrName>
                                        </p:attrNameLst>
                                      </p:cBhvr>
                                      <p:tavLst>
                                        <p:tav tm="0">
                                          <p:val>
                                            <p:fltVal val="0"/>
                                          </p:val>
                                        </p:tav>
                                        <p:tav tm="100000">
                                          <p:val>
                                            <p:strVal val="#ppt_h"/>
                                          </p:val>
                                        </p:tav>
                                      </p:tavLst>
                                    </p:anim>
                                    <p:animEffect transition="in" filter="fade">
                                      <p:cBhvr>
                                        <p:cTn id="13" dur="500"/>
                                        <p:tgtEl>
                                          <p:spTgt spid="9"/>
                                        </p:tgtEl>
                                      </p:cBhvr>
                                    </p:animEffect>
                                  </p:childTnLst>
                                </p:cTn>
                              </p:par>
                              <p:par>
                                <p:cTn id="19" presetID="53" presetClass="entr" presetSubtype="16"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p:cTn id="16" dur="500" fill="hold"/>
                                        <p:tgtEl>
                                          <p:spTgt spid="10"/>
                                        </p:tgtEl>
                                        <p:attrNameLst>
                                          <p:attrName>ppt_w</p:attrName>
                                        </p:attrNameLst>
                                      </p:cBhvr>
                                      <p:tavLst>
                                        <p:tav tm="0">
                                          <p:val>
                                            <p:fltVal val="0"/>
                                          </p:val>
                                        </p:tav>
                                        <p:tav tm="100000">
                                          <p:val>
                                            <p:strVal val="#ppt_w"/>
                                          </p:val>
                                        </p:tav>
                                      </p:tavLst>
                                    </p:anim>
                                    <p:anim calcmode="lin" valueType="num">
                                      <p:cBhvr>
                                        <p:cTn id="17" dur="500" fill="hold"/>
                                        <p:tgtEl>
                                          <p:spTgt spid="10"/>
                                        </p:tgtEl>
                                        <p:attrNameLst>
                                          <p:attrName>ppt_h</p:attrName>
                                        </p:attrNameLst>
                                      </p:cBhvr>
                                      <p:tavLst>
                                        <p:tav tm="0">
                                          <p:val>
                                            <p:fltVal val="0"/>
                                          </p:val>
                                        </p:tav>
                                        <p:tav tm="100000">
                                          <p:val>
                                            <p:strVal val="#ppt_h"/>
                                          </p:val>
                                        </p:tav>
                                      </p:tavLst>
                                    </p:anim>
                                    <p:animEffect transition="in" filter="fade">
                                      <p:cBhvr>
                                        <p:cTn id="18" dur="500"/>
                                        <p:tgtEl>
                                          <p:spTgt spid="10"/>
                                        </p:tgtEl>
                                      </p:cBhvr>
                                    </p:animEffect>
                                  </p:childTnLst>
                                </p:cTn>
                              </p:par>
                              <p:par>
                                <p:cTn id="24" presetID="53" presetClass="entr" presetSubtype="16"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p:cTn id="21" dur="500" fill="hold"/>
                                        <p:tgtEl>
                                          <p:spTgt spid="11"/>
                                        </p:tgtEl>
                                        <p:attrNameLst>
                                          <p:attrName>ppt_w</p:attrName>
                                        </p:attrNameLst>
                                      </p:cBhvr>
                                      <p:tavLst>
                                        <p:tav tm="0">
                                          <p:val>
                                            <p:fltVal val="0"/>
                                          </p:val>
                                        </p:tav>
                                        <p:tav tm="100000">
                                          <p:val>
                                            <p:strVal val="#ppt_w"/>
                                          </p:val>
                                        </p:tav>
                                      </p:tavLst>
                                    </p:anim>
                                    <p:anim calcmode="lin" valueType="num">
                                      <p:cBhvr>
                                        <p:cTn id="22" dur="500" fill="hold"/>
                                        <p:tgtEl>
                                          <p:spTgt spid="11"/>
                                        </p:tgtEl>
                                        <p:attrNameLst>
                                          <p:attrName>ppt_h</p:attrName>
                                        </p:attrNameLst>
                                      </p:cBhvr>
                                      <p:tavLst>
                                        <p:tav tm="0">
                                          <p:val>
                                            <p:fltVal val="0"/>
                                          </p:val>
                                        </p:tav>
                                        <p:tav tm="100000">
                                          <p:val>
                                            <p:strVal val="#ppt_h"/>
                                          </p:val>
                                        </p:tav>
                                      </p:tavLst>
                                    </p:anim>
                                    <p:animEffect transition="in" filter="fade">
                                      <p:cBhvr>
                                        <p:cTn id="23" dur="500"/>
                                        <p:tgtEl>
                                          <p:spTgt spid="11"/>
                                        </p:tgtEl>
                                      </p:cBhvr>
                                    </p:animEffect>
                                  </p:childTnLst>
                                </p:cTn>
                              </p:par>
                            </p:childTnLst>
                          </p:cTn>
                        </p:par>
                      </p:childTnLst>
                    </p:cTn>
                  </p:par>
                  <p:par>
                    <p:cTn id="25" fill="hold">
                      <p:stCondLst>
                        <p:cond delay="indefinite"/>
                      </p:stCondLst>
                      <p:childTnLst>
                        <p:par>
                          <p:cTn id="26" fill="hold">
                            <p:stCondLst>
                              <p:cond delay="0"/>
                            </p:stCondLst>
                            <p:childTnLst>
                              <p:par>
                                <p:cTn id="31" presetID="53" presetClass="entr" presetSubtype="16"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 calcmode="lin" valueType="num">
                                      <p:cBhvr>
                                        <p:cTn id="28" dur="500" fill="hold"/>
                                        <p:tgtEl>
                                          <p:spTgt spid="12"/>
                                        </p:tgtEl>
                                        <p:attrNameLst>
                                          <p:attrName>ppt_w</p:attrName>
                                        </p:attrNameLst>
                                      </p:cBhvr>
                                      <p:tavLst>
                                        <p:tav tm="0">
                                          <p:val>
                                            <p:fltVal val="0"/>
                                          </p:val>
                                        </p:tav>
                                        <p:tav tm="100000">
                                          <p:val>
                                            <p:strVal val="#ppt_w"/>
                                          </p:val>
                                        </p:tav>
                                      </p:tavLst>
                                    </p:anim>
                                    <p:anim calcmode="lin" valueType="num">
                                      <p:cBhvr>
                                        <p:cTn id="29" dur="500" fill="hold"/>
                                        <p:tgtEl>
                                          <p:spTgt spid="12"/>
                                        </p:tgtEl>
                                        <p:attrNameLst>
                                          <p:attrName>ppt_h</p:attrName>
                                        </p:attrNameLst>
                                      </p:cBhvr>
                                      <p:tavLst>
                                        <p:tav tm="0">
                                          <p:val>
                                            <p:fltVal val="0"/>
                                          </p:val>
                                        </p:tav>
                                        <p:tav tm="100000">
                                          <p:val>
                                            <p:strVal val="#ppt_h"/>
                                          </p:val>
                                        </p:tav>
                                      </p:tavLst>
                                    </p:anim>
                                    <p:animEffect transition="in" filter="fade">
                                      <p:cBhvr>
                                        <p:cTn id="30" dur="500"/>
                                        <p:tgtEl>
                                          <p:spTgt spid="12"/>
                                        </p:tgtEl>
                                      </p:cBhvr>
                                    </p:animEffect>
                                  </p:childTnLst>
                                </p:cTn>
                              </p:par>
                              <p:par>
                                <p:cTn id="36" presetID="53" presetClass="entr" presetSubtype="16"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p:cTn id="33" dur="500" fill="hold"/>
                                        <p:tgtEl>
                                          <p:spTgt spid="13"/>
                                        </p:tgtEl>
                                        <p:attrNameLst>
                                          <p:attrName>ppt_w</p:attrName>
                                        </p:attrNameLst>
                                      </p:cBhvr>
                                      <p:tavLst>
                                        <p:tav tm="0">
                                          <p:val>
                                            <p:fltVal val="0"/>
                                          </p:val>
                                        </p:tav>
                                        <p:tav tm="100000">
                                          <p:val>
                                            <p:strVal val="#ppt_w"/>
                                          </p:val>
                                        </p:tav>
                                      </p:tavLst>
                                    </p:anim>
                                    <p:anim calcmode="lin" valueType="num">
                                      <p:cBhvr>
                                        <p:cTn id="34" dur="500" fill="hold"/>
                                        <p:tgtEl>
                                          <p:spTgt spid="13"/>
                                        </p:tgtEl>
                                        <p:attrNameLst>
                                          <p:attrName>ppt_h</p:attrName>
                                        </p:attrNameLst>
                                      </p:cBhvr>
                                      <p:tavLst>
                                        <p:tav tm="0">
                                          <p:val>
                                            <p:fltVal val="0"/>
                                          </p:val>
                                        </p:tav>
                                        <p:tav tm="100000">
                                          <p:val>
                                            <p:strVal val="#ppt_h"/>
                                          </p:val>
                                        </p:tav>
                                      </p:tavLst>
                                    </p:anim>
                                    <p:animEffect transition="in" filter="fade">
                                      <p:cBhvr>
                                        <p:cTn id="35" dur="500"/>
                                        <p:tgtEl>
                                          <p:spTgt spid="13"/>
                                        </p:tgtEl>
                                      </p:cBhvr>
                                    </p:animEffect>
                                  </p:childTnLst>
                                </p:cTn>
                              </p:par>
                              <p:par>
                                <p:cTn id="41" presetID="53" presetClass="entr" presetSubtype="16"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 calcmode="lin" valueType="num">
                                      <p:cBhvr>
                                        <p:cTn id="38" dur="500" fill="hold"/>
                                        <p:tgtEl>
                                          <p:spTgt spid="14"/>
                                        </p:tgtEl>
                                        <p:attrNameLst>
                                          <p:attrName>ppt_w</p:attrName>
                                        </p:attrNameLst>
                                      </p:cBhvr>
                                      <p:tavLst>
                                        <p:tav tm="0">
                                          <p:val>
                                            <p:fltVal val="0"/>
                                          </p:val>
                                        </p:tav>
                                        <p:tav tm="100000">
                                          <p:val>
                                            <p:strVal val="#ppt_w"/>
                                          </p:val>
                                        </p:tav>
                                      </p:tavLst>
                                    </p:anim>
                                    <p:anim calcmode="lin" valueType="num">
                                      <p:cBhvr>
                                        <p:cTn id="39" dur="500" fill="hold"/>
                                        <p:tgtEl>
                                          <p:spTgt spid="14"/>
                                        </p:tgtEl>
                                        <p:attrNameLst>
                                          <p:attrName>ppt_h</p:attrName>
                                        </p:attrNameLst>
                                      </p:cBhvr>
                                      <p:tavLst>
                                        <p:tav tm="0">
                                          <p:val>
                                            <p:fltVal val="0"/>
                                          </p:val>
                                        </p:tav>
                                        <p:tav tm="100000">
                                          <p:val>
                                            <p:strVal val="#ppt_h"/>
                                          </p:val>
                                        </p:tav>
                                      </p:tavLst>
                                    </p:anim>
                                    <p:animEffect transition="in" filter="fade">
                                      <p:cBhvr>
                                        <p:cTn id="40" dur="500"/>
                                        <p:tgtEl>
                                          <p:spTgt spid="14"/>
                                        </p:tgtEl>
                                      </p:cBhvr>
                                    </p:animEffect>
                                  </p:childTnLst>
                                </p:cTn>
                              </p:par>
                              <p:par>
                                <p:cTn id="46" presetID="53" presetClass="entr" presetSubtype="16"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p:cTn id="43" dur="500" fill="hold"/>
                                        <p:tgtEl>
                                          <p:spTgt spid="15"/>
                                        </p:tgtEl>
                                        <p:attrNameLst>
                                          <p:attrName>ppt_w</p:attrName>
                                        </p:attrNameLst>
                                      </p:cBhvr>
                                      <p:tavLst>
                                        <p:tav tm="0">
                                          <p:val>
                                            <p:fltVal val="0"/>
                                          </p:val>
                                        </p:tav>
                                        <p:tav tm="100000">
                                          <p:val>
                                            <p:strVal val="#ppt_w"/>
                                          </p:val>
                                        </p:tav>
                                      </p:tavLst>
                                    </p:anim>
                                    <p:anim calcmode="lin" valueType="num">
                                      <p:cBhvr>
                                        <p:cTn id="44" dur="500" fill="hold"/>
                                        <p:tgtEl>
                                          <p:spTgt spid="15"/>
                                        </p:tgtEl>
                                        <p:attrNameLst>
                                          <p:attrName>ppt_h</p:attrName>
                                        </p:attrNameLst>
                                      </p:cBhvr>
                                      <p:tavLst>
                                        <p:tav tm="0">
                                          <p:val>
                                            <p:fltVal val="0"/>
                                          </p:val>
                                        </p:tav>
                                        <p:tav tm="100000">
                                          <p:val>
                                            <p:strVal val="#ppt_h"/>
                                          </p:val>
                                        </p:tav>
                                      </p:tavLst>
                                    </p:anim>
                                    <p:animEffect transition="in" filter="fade">
                                      <p:cBhvr>
                                        <p:cTn id="45" dur="500"/>
                                        <p:tgtEl>
                                          <p:spTgt spid="15"/>
                                        </p:tgtEl>
                                      </p:cBhvr>
                                    </p:animEffect>
                                  </p:childTnLst>
                                </p:cTn>
                              </p:par>
                            </p:childTnLst>
                          </p:cTn>
                        </p:par>
                      </p:childTnLst>
                    </p:cTn>
                  </p:par>
                  <p:par>
                    <p:cTn id="47" fill="hold">
                      <p:stCondLst>
                        <p:cond delay="indefinite"/>
                      </p:stCondLst>
                      <p:childTnLst>
                        <p:par>
                          <p:cTn id="48" fill="hold">
                            <p:stCondLst>
                              <p:cond delay="0"/>
                            </p:stCondLst>
                            <p:childTnLst>
                              <p:par>
                                <p:cTn id="53" presetID="53" presetClass="entr" presetSubtype="16" fill="hold" grpId="0" nodeType="clickEffect">
                                  <p:stCondLst>
                                    <p:cond delay="0"/>
                                  </p:stCondLst>
                                  <p:childTnLst>
                                    <p:set>
                                      <p:cBhvr>
                                        <p:cTn id="49" dur="1" fill="hold">
                                          <p:stCondLst>
                                            <p:cond delay="0"/>
                                          </p:stCondLst>
                                        </p:cTn>
                                        <p:tgtEl>
                                          <p:spTgt spid="16"/>
                                        </p:tgtEl>
                                        <p:attrNameLst>
                                          <p:attrName>style.visibility</p:attrName>
                                        </p:attrNameLst>
                                      </p:cBhvr>
                                      <p:to>
                                        <p:strVal val="visible"/>
                                      </p:to>
                                    </p:set>
                                    <p:anim calcmode="lin" valueType="num">
                                      <p:cBhvr>
                                        <p:cTn id="50" dur="500" fill="hold"/>
                                        <p:tgtEl>
                                          <p:spTgt spid="16"/>
                                        </p:tgtEl>
                                        <p:attrNameLst>
                                          <p:attrName>ppt_w</p:attrName>
                                        </p:attrNameLst>
                                      </p:cBhvr>
                                      <p:tavLst>
                                        <p:tav tm="0">
                                          <p:val>
                                            <p:fltVal val="0"/>
                                          </p:val>
                                        </p:tav>
                                        <p:tav tm="100000">
                                          <p:val>
                                            <p:strVal val="#ppt_w"/>
                                          </p:val>
                                        </p:tav>
                                      </p:tavLst>
                                    </p:anim>
                                    <p:anim calcmode="lin" valueType="num">
                                      <p:cBhvr>
                                        <p:cTn id="51" dur="500" fill="hold"/>
                                        <p:tgtEl>
                                          <p:spTgt spid="16"/>
                                        </p:tgtEl>
                                        <p:attrNameLst>
                                          <p:attrName>ppt_h</p:attrName>
                                        </p:attrNameLst>
                                      </p:cBhvr>
                                      <p:tavLst>
                                        <p:tav tm="0">
                                          <p:val>
                                            <p:fltVal val="0"/>
                                          </p:val>
                                        </p:tav>
                                        <p:tav tm="100000">
                                          <p:val>
                                            <p:strVal val="#ppt_h"/>
                                          </p:val>
                                        </p:tav>
                                      </p:tavLst>
                                    </p:anim>
                                    <p:animEffect transition="in" filter="fade">
                                      <p:cBhvr>
                                        <p:cTn id="52" dur="500"/>
                                        <p:tgtEl>
                                          <p:spTgt spid="16"/>
                                        </p:tgtEl>
                                      </p:cBhvr>
                                    </p:animEffect>
                                  </p:childTnLst>
                                </p:cTn>
                              </p:par>
                              <p:par>
                                <p:cTn id="58" presetID="53" presetClass="entr" presetSubtype="16"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anim calcmode="lin" valueType="num">
                                      <p:cBhvr>
                                        <p:cTn id="55" dur="500" fill="hold"/>
                                        <p:tgtEl>
                                          <p:spTgt spid="17"/>
                                        </p:tgtEl>
                                        <p:attrNameLst>
                                          <p:attrName>ppt_w</p:attrName>
                                        </p:attrNameLst>
                                      </p:cBhvr>
                                      <p:tavLst>
                                        <p:tav tm="0">
                                          <p:val>
                                            <p:fltVal val="0"/>
                                          </p:val>
                                        </p:tav>
                                        <p:tav tm="100000">
                                          <p:val>
                                            <p:strVal val="#ppt_w"/>
                                          </p:val>
                                        </p:tav>
                                      </p:tavLst>
                                    </p:anim>
                                    <p:anim calcmode="lin" valueType="num">
                                      <p:cBhvr>
                                        <p:cTn id="56" dur="500" fill="hold"/>
                                        <p:tgtEl>
                                          <p:spTgt spid="17"/>
                                        </p:tgtEl>
                                        <p:attrNameLst>
                                          <p:attrName>ppt_h</p:attrName>
                                        </p:attrNameLst>
                                      </p:cBhvr>
                                      <p:tavLst>
                                        <p:tav tm="0">
                                          <p:val>
                                            <p:fltVal val="0"/>
                                          </p:val>
                                        </p:tav>
                                        <p:tav tm="100000">
                                          <p:val>
                                            <p:strVal val="#ppt_h"/>
                                          </p:val>
                                        </p:tav>
                                      </p:tavLst>
                                    </p:anim>
                                    <p:animEffect transition="in" filter="fade">
                                      <p:cBhvr>
                                        <p:cTn id="57" dur="500"/>
                                        <p:tgtEl>
                                          <p:spTgt spid="17"/>
                                        </p:tgtEl>
                                      </p:cBhvr>
                                    </p:animEffect>
                                  </p:childTnLst>
                                </p:cTn>
                              </p:par>
                              <p:par>
                                <p:cTn id="63" presetID="53" presetClass="entr" presetSubtype="16" fill="hold" grpId="0" nodeType="withEffect">
                                  <p:stCondLst>
                                    <p:cond delay="0"/>
                                  </p:stCondLst>
                                  <p:childTnLst>
                                    <p:set>
                                      <p:cBhvr>
                                        <p:cTn id="59" dur="1" fill="hold">
                                          <p:stCondLst>
                                            <p:cond delay="0"/>
                                          </p:stCondLst>
                                        </p:cTn>
                                        <p:tgtEl>
                                          <p:spTgt spid="18"/>
                                        </p:tgtEl>
                                        <p:attrNameLst>
                                          <p:attrName>style.visibility</p:attrName>
                                        </p:attrNameLst>
                                      </p:cBhvr>
                                      <p:to>
                                        <p:strVal val="visible"/>
                                      </p:to>
                                    </p:set>
                                    <p:anim calcmode="lin" valueType="num">
                                      <p:cBhvr>
                                        <p:cTn id="60" dur="500" fill="hold"/>
                                        <p:tgtEl>
                                          <p:spTgt spid="18"/>
                                        </p:tgtEl>
                                        <p:attrNameLst>
                                          <p:attrName>ppt_w</p:attrName>
                                        </p:attrNameLst>
                                      </p:cBhvr>
                                      <p:tavLst>
                                        <p:tav tm="0">
                                          <p:val>
                                            <p:fltVal val="0"/>
                                          </p:val>
                                        </p:tav>
                                        <p:tav tm="100000">
                                          <p:val>
                                            <p:strVal val="#ppt_w"/>
                                          </p:val>
                                        </p:tav>
                                      </p:tavLst>
                                    </p:anim>
                                    <p:anim calcmode="lin" valueType="num">
                                      <p:cBhvr>
                                        <p:cTn id="61" dur="500" fill="hold"/>
                                        <p:tgtEl>
                                          <p:spTgt spid="18"/>
                                        </p:tgtEl>
                                        <p:attrNameLst>
                                          <p:attrName>ppt_h</p:attrName>
                                        </p:attrNameLst>
                                      </p:cBhvr>
                                      <p:tavLst>
                                        <p:tav tm="0">
                                          <p:val>
                                            <p:fltVal val="0"/>
                                          </p:val>
                                        </p:tav>
                                        <p:tav tm="100000">
                                          <p:val>
                                            <p:strVal val="#ppt_h"/>
                                          </p:val>
                                        </p:tav>
                                      </p:tavLst>
                                    </p:anim>
                                    <p:animEffect transition="in" filter="fade">
                                      <p:cBhvr>
                                        <p:cTn id="62" dur="500"/>
                                        <p:tgtEl>
                                          <p:spTgt spid="18"/>
                                        </p:tgtEl>
                                      </p:cBhvr>
                                    </p:animEffect>
                                  </p:childTnLst>
                                </p:cTn>
                              </p:par>
                              <p:par>
                                <p:cTn id="68" presetID="53" presetClass="entr" presetSubtype="16" fill="hold" grpId="0" nodeType="withEffect">
                                  <p:stCondLst>
                                    <p:cond delay="0"/>
                                  </p:stCondLst>
                                  <p:childTnLst>
                                    <p:set>
                                      <p:cBhvr>
                                        <p:cTn id="64" dur="1" fill="hold">
                                          <p:stCondLst>
                                            <p:cond delay="0"/>
                                          </p:stCondLst>
                                        </p:cTn>
                                        <p:tgtEl>
                                          <p:spTgt spid="19"/>
                                        </p:tgtEl>
                                        <p:attrNameLst>
                                          <p:attrName>style.visibility</p:attrName>
                                        </p:attrNameLst>
                                      </p:cBhvr>
                                      <p:to>
                                        <p:strVal val="visible"/>
                                      </p:to>
                                    </p:set>
                                    <p:anim calcmode="lin" valueType="num">
                                      <p:cBhvr>
                                        <p:cTn id="65" dur="500" fill="hold"/>
                                        <p:tgtEl>
                                          <p:spTgt spid="19"/>
                                        </p:tgtEl>
                                        <p:attrNameLst>
                                          <p:attrName>ppt_w</p:attrName>
                                        </p:attrNameLst>
                                      </p:cBhvr>
                                      <p:tavLst>
                                        <p:tav tm="0">
                                          <p:val>
                                            <p:fltVal val="0"/>
                                          </p:val>
                                        </p:tav>
                                        <p:tav tm="100000">
                                          <p:val>
                                            <p:strVal val="#ppt_w"/>
                                          </p:val>
                                        </p:tav>
                                      </p:tavLst>
                                    </p:anim>
                                    <p:anim calcmode="lin" valueType="num">
                                      <p:cBhvr>
                                        <p:cTn id="66" dur="500" fill="hold"/>
                                        <p:tgtEl>
                                          <p:spTgt spid="19"/>
                                        </p:tgtEl>
                                        <p:attrNameLst>
                                          <p:attrName>ppt_h</p:attrName>
                                        </p:attrNameLst>
                                      </p:cBhvr>
                                      <p:tavLst>
                                        <p:tav tm="0">
                                          <p:val>
                                            <p:fltVal val="0"/>
                                          </p:val>
                                        </p:tav>
                                        <p:tav tm="100000">
                                          <p:val>
                                            <p:strVal val="#ppt_h"/>
                                          </p:val>
                                        </p:tav>
                                      </p:tavLst>
                                    </p:anim>
                                    <p:animEffect transition="in" filter="fade">
                                      <p:cBhvr>
                                        <p:cTn id="67" dur="500"/>
                                        <p:tgtEl>
                                          <p:spTgt spid="19"/>
                                        </p:tgtEl>
                                      </p:cBhvr>
                                    </p:animEffect>
                                  </p:childTnLst>
                                </p:cTn>
                              </p:par>
                            </p:childTnLst>
                          </p:cTn>
                        </p:par>
                      </p:childTnLst>
                    </p:cTn>
                  </p:par>
                  <p:par>
                    <p:cTn id="69" fill="hold">
                      <p:stCondLst>
                        <p:cond delay="indefinite"/>
                      </p:stCondLst>
                      <p:childTnLst>
                        <p:par>
                          <p:cTn id="70" fill="hold">
                            <p:stCondLst>
                              <p:cond delay="0"/>
                            </p:stCondLst>
                            <p:childTnLst>
                              <p:par>
                                <p:cTn id="75" presetID="53" presetClass="entr" presetSubtype="16" fill="hold" grpId="0" nodeType="clickEffect">
                                  <p:stCondLst>
                                    <p:cond delay="0"/>
                                  </p:stCondLst>
                                  <p:childTnLst>
                                    <p:set>
                                      <p:cBhvr>
                                        <p:cTn id="71" dur="1" fill="hold">
                                          <p:stCondLst>
                                            <p:cond delay="0"/>
                                          </p:stCondLst>
                                        </p:cTn>
                                        <p:tgtEl>
                                          <p:spTgt spid="20"/>
                                        </p:tgtEl>
                                        <p:attrNameLst>
                                          <p:attrName>style.visibility</p:attrName>
                                        </p:attrNameLst>
                                      </p:cBhvr>
                                      <p:to>
                                        <p:strVal val="visible"/>
                                      </p:to>
                                    </p:set>
                                    <p:anim calcmode="lin" valueType="num">
                                      <p:cBhvr>
                                        <p:cTn id="72" dur="500" fill="hold"/>
                                        <p:tgtEl>
                                          <p:spTgt spid="20"/>
                                        </p:tgtEl>
                                        <p:attrNameLst>
                                          <p:attrName>ppt_w</p:attrName>
                                        </p:attrNameLst>
                                      </p:cBhvr>
                                      <p:tavLst>
                                        <p:tav tm="0">
                                          <p:val>
                                            <p:fltVal val="0"/>
                                          </p:val>
                                        </p:tav>
                                        <p:tav tm="100000">
                                          <p:val>
                                            <p:strVal val="#ppt_w"/>
                                          </p:val>
                                        </p:tav>
                                      </p:tavLst>
                                    </p:anim>
                                    <p:anim calcmode="lin" valueType="num">
                                      <p:cBhvr>
                                        <p:cTn id="73" dur="500" fill="hold"/>
                                        <p:tgtEl>
                                          <p:spTgt spid="20"/>
                                        </p:tgtEl>
                                        <p:attrNameLst>
                                          <p:attrName>ppt_h</p:attrName>
                                        </p:attrNameLst>
                                      </p:cBhvr>
                                      <p:tavLst>
                                        <p:tav tm="0">
                                          <p:val>
                                            <p:fltVal val="0"/>
                                          </p:val>
                                        </p:tav>
                                        <p:tav tm="100000">
                                          <p:val>
                                            <p:strVal val="#ppt_h"/>
                                          </p:val>
                                        </p:tav>
                                      </p:tavLst>
                                    </p:anim>
                                    <p:animEffect transition="in" filter="fade">
                                      <p:cBhvr>
                                        <p:cTn id="74" dur="500"/>
                                        <p:tgtEl>
                                          <p:spTgt spid="20"/>
                                        </p:tgtEl>
                                      </p:cBhvr>
                                    </p:animEffect>
                                  </p:childTnLst>
                                </p:cTn>
                              </p:par>
                              <p:par>
                                <p:cTn id="80" presetID="53" presetClass="entr" presetSubtype="16" fill="hold" grpId="0" nodeType="withEffect">
                                  <p:stCondLst>
                                    <p:cond delay="0"/>
                                  </p:stCondLst>
                                  <p:childTnLst>
                                    <p:set>
                                      <p:cBhvr>
                                        <p:cTn id="76" dur="1" fill="hold">
                                          <p:stCondLst>
                                            <p:cond delay="0"/>
                                          </p:stCondLst>
                                        </p:cTn>
                                        <p:tgtEl>
                                          <p:spTgt spid="21"/>
                                        </p:tgtEl>
                                        <p:attrNameLst>
                                          <p:attrName>style.visibility</p:attrName>
                                        </p:attrNameLst>
                                      </p:cBhvr>
                                      <p:to>
                                        <p:strVal val="visible"/>
                                      </p:to>
                                    </p:set>
                                    <p:anim calcmode="lin" valueType="num">
                                      <p:cBhvr>
                                        <p:cTn id="77" dur="500" fill="hold"/>
                                        <p:tgtEl>
                                          <p:spTgt spid="21"/>
                                        </p:tgtEl>
                                        <p:attrNameLst>
                                          <p:attrName>ppt_w</p:attrName>
                                        </p:attrNameLst>
                                      </p:cBhvr>
                                      <p:tavLst>
                                        <p:tav tm="0">
                                          <p:val>
                                            <p:fltVal val="0"/>
                                          </p:val>
                                        </p:tav>
                                        <p:tav tm="100000">
                                          <p:val>
                                            <p:strVal val="#ppt_w"/>
                                          </p:val>
                                        </p:tav>
                                      </p:tavLst>
                                    </p:anim>
                                    <p:anim calcmode="lin" valueType="num">
                                      <p:cBhvr>
                                        <p:cTn id="78" dur="500" fill="hold"/>
                                        <p:tgtEl>
                                          <p:spTgt spid="21"/>
                                        </p:tgtEl>
                                        <p:attrNameLst>
                                          <p:attrName>ppt_h</p:attrName>
                                        </p:attrNameLst>
                                      </p:cBhvr>
                                      <p:tavLst>
                                        <p:tav tm="0">
                                          <p:val>
                                            <p:fltVal val="0"/>
                                          </p:val>
                                        </p:tav>
                                        <p:tav tm="100000">
                                          <p:val>
                                            <p:strVal val="#ppt_h"/>
                                          </p:val>
                                        </p:tav>
                                      </p:tavLst>
                                    </p:anim>
                                    <p:animEffect transition="in" filter="fade">
                                      <p:cBhvr>
                                        <p:cTn id="79" dur="500"/>
                                        <p:tgtEl>
                                          <p:spTgt spid="21"/>
                                        </p:tgtEl>
                                      </p:cBhvr>
                                    </p:animEffect>
                                  </p:childTnLst>
                                </p:cTn>
                              </p:par>
                              <p:par>
                                <p:cTn id="85" presetID="53" presetClass="entr" presetSubtype="16" fill="hold" grpId="0" nodeType="withEffect">
                                  <p:stCondLst>
                                    <p:cond delay="0"/>
                                  </p:stCondLst>
                                  <p:childTnLst>
                                    <p:set>
                                      <p:cBhvr>
                                        <p:cTn id="81" dur="1" fill="hold">
                                          <p:stCondLst>
                                            <p:cond delay="0"/>
                                          </p:stCondLst>
                                        </p:cTn>
                                        <p:tgtEl>
                                          <p:spTgt spid="22"/>
                                        </p:tgtEl>
                                        <p:attrNameLst>
                                          <p:attrName>style.visibility</p:attrName>
                                        </p:attrNameLst>
                                      </p:cBhvr>
                                      <p:to>
                                        <p:strVal val="visible"/>
                                      </p:to>
                                    </p:set>
                                    <p:anim calcmode="lin" valueType="num">
                                      <p:cBhvr>
                                        <p:cTn id="82" dur="500" fill="hold"/>
                                        <p:tgtEl>
                                          <p:spTgt spid="22"/>
                                        </p:tgtEl>
                                        <p:attrNameLst>
                                          <p:attrName>ppt_w</p:attrName>
                                        </p:attrNameLst>
                                      </p:cBhvr>
                                      <p:tavLst>
                                        <p:tav tm="0">
                                          <p:val>
                                            <p:fltVal val="0"/>
                                          </p:val>
                                        </p:tav>
                                        <p:tav tm="100000">
                                          <p:val>
                                            <p:strVal val="#ppt_w"/>
                                          </p:val>
                                        </p:tav>
                                      </p:tavLst>
                                    </p:anim>
                                    <p:anim calcmode="lin" valueType="num">
                                      <p:cBhvr>
                                        <p:cTn id="83" dur="500" fill="hold"/>
                                        <p:tgtEl>
                                          <p:spTgt spid="22"/>
                                        </p:tgtEl>
                                        <p:attrNameLst>
                                          <p:attrName>ppt_h</p:attrName>
                                        </p:attrNameLst>
                                      </p:cBhvr>
                                      <p:tavLst>
                                        <p:tav tm="0">
                                          <p:val>
                                            <p:fltVal val="0"/>
                                          </p:val>
                                        </p:tav>
                                        <p:tav tm="100000">
                                          <p:val>
                                            <p:strVal val="#ppt_h"/>
                                          </p:val>
                                        </p:tav>
                                      </p:tavLst>
                                    </p:anim>
                                    <p:animEffect transition="in" filter="fade">
                                      <p:cBhvr>
                                        <p:cTn id="84" dur="500"/>
                                        <p:tgtEl>
                                          <p:spTgt spid="22"/>
                                        </p:tgtEl>
                                      </p:cBhvr>
                                    </p:animEffect>
                                  </p:childTnLst>
                                </p:cTn>
                              </p:par>
                              <p:par>
                                <p:cTn id="90" presetID="53" presetClass="entr" presetSubtype="16" fill="hold" grpId="0" nodeType="withEffect">
                                  <p:stCondLst>
                                    <p:cond delay="0"/>
                                  </p:stCondLst>
                                  <p:childTnLst>
                                    <p:set>
                                      <p:cBhvr>
                                        <p:cTn id="86" dur="1" fill="hold">
                                          <p:stCondLst>
                                            <p:cond delay="0"/>
                                          </p:stCondLst>
                                        </p:cTn>
                                        <p:tgtEl>
                                          <p:spTgt spid="23"/>
                                        </p:tgtEl>
                                        <p:attrNameLst>
                                          <p:attrName>style.visibility</p:attrName>
                                        </p:attrNameLst>
                                      </p:cBhvr>
                                      <p:to>
                                        <p:strVal val="visible"/>
                                      </p:to>
                                    </p:set>
                                    <p:anim calcmode="lin" valueType="num">
                                      <p:cBhvr>
                                        <p:cTn id="87" dur="500" fill="hold"/>
                                        <p:tgtEl>
                                          <p:spTgt spid="23"/>
                                        </p:tgtEl>
                                        <p:attrNameLst>
                                          <p:attrName>ppt_w</p:attrName>
                                        </p:attrNameLst>
                                      </p:cBhvr>
                                      <p:tavLst>
                                        <p:tav tm="0">
                                          <p:val>
                                            <p:fltVal val="0"/>
                                          </p:val>
                                        </p:tav>
                                        <p:tav tm="100000">
                                          <p:val>
                                            <p:strVal val="#ppt_w"/>
                                          </p:val>
                                        </p:tav>
                                      </p:tavLst>
                                    </p:anim>
                                    <p:anim calcmode="lin" valueType="num">
                                      <p:cBhvr>
                                        <p:cTn id="88" dur="500" fill="hold"/>
                                        <p:tgtEl>
                                          <p:spTgt spid="23"/>
                                        </p:tgtEl>
                                        <p:attrNameLst>
                                          <p:attrName>ppt_h</p:attrName>
                                        </p:attrNameLst>
                                      </p:cBhvr>
                                      <p:tavLst>
                                        <p:tav tm="0">
                                          <p:val>
                                            <p:fltVal val="0"/>
                                          </p:val>
                                        </p:tav>
                                        <p:tav tm="100000">
                                          <p:val>
                                            <p:strVal val="#ppt_h"/>
                                          </p:val>
                                        </p:tav>
                                      </p:tavLst>
                                    </p:anim>
                                    <p:animEffect transition="in" filter="fade">
                                      <p:cBhvr>
                                        <p:cTn id="89"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27_sign" descr="قاعة الوطن والعلوم">    </p:cNvPr>
          <p:cNvPicPr>
            <a:picLocks noChangeAspect="1"/>
          </p:cNvPicPr>
          <p:nvPr/>
        </p:nvPicPr>
        <p:blipFill>
          <a:blip r:embed="rId2"/>
          <a:stretch>
            <a:fillRect/>
          </a:stretch>
        </p:blipFill>
        <p:spPr>
          <a:xfrm>
            <a:off x="4178008" y="91440"/>
            <a:ext cx="3835678" cy="868680"/>
          </a:xfrm>
          <a:prstGeom prst="rect">
            <a:avLst/>
          </a:prstGeom>
        </p:spPr>
      </p:pic>
      <p:sp>
        <p:nvSpPr>
          <p:cNvPr id="3" name="s27_t_1"/>
          <p:cNvSpPr txBox="1"/>
          <p:nvPr/>
        </p:nvSpPr>
        <p:spPr>
          <a:xfrm>
            <a:off x="10561320" y="274320"/>
            <a:ext cx="1325880" cy="502920"/>
          </a:xfrm>
          <a:prstGeom prst="roundRect">
            <a:avLst>
              <a:gd name="adj" fmla="val 49091"/>
            </a:avLst>
          </a:prstGeom>
          <a:solidFill>
            <a:srgbClr val="1B2A4A"/>
          </a:solidFill>
          <a:ln/>
        </p:spPr>
        <p:txBody>
          <a:bodyPr wrap="square" lIns="762" tIns="762" rIns="762" bIns="762" rtlCol="0" anchor="ctr"/>
          <a:lstStyle/>
          <a:p>
            <a:pPr rtl="1" algn="ctr" indent="0" marL="0">
              <a:lnSpc>
                <a:spcPct val="108000"/>
              </a:lnSpc>
              <a:buNone/>
            </a:pPr>
            <a:r>
              <a:rPr lang="ar-SA" altLang="en-US" sz="1700" b="1" dirty="0">
                <a:solidFill>
                  <a:srgbClr val="FFFFFF"/>
                </a:solidFill>
                <a:latin typeface="Tahoma" pitchFamily="34" charset="0"/>
                <a:ea typeface="Tahoma" pitchFamily="34" charset="-122"/>
                <a:cs typeface="Tahoma" pitchFamily="34" charset="-120"/>
              </a:rPr>
              <a:t>القاعة </a:t>
            </a:r>
            <a:r>
              <a:rPr lang="ar-SA" altLang="en-US" sz="1700" b="1" dirty="0">
                <a:solidFill>
                  <a:srgbClr val="FFFFFF"/>
                </a:solidFill>
                <a:latin typeface="Tahoma" pitchFamily="34" charset="0"/>
                <a:ea typeface="Tahoma" pitchFamily="34" charset="-122"/>
                <a:cs typeface="Tahoma" pitchFamily="34" charset="-120"/>
              </a:rPr>
              <a:t>٢٠</a:t>
            </a:r>
            <a:endParaRPr lang="ar-SA" sz="1700" dirty="0"/>
          </a:p>
        </p:txBody>
      </p:sp>
      <p:sp>
        <p:nvSpPr>
          <p:cNvPr id="4" name="s27_t_2"/>
          <p:cNvSpPr txBox="1"/>
          <p:nvPr/>
        </p:nvSpPr>
        <p:spPr>
          <a:xfrm>
            <a:off x="365760" y="228600"/>
            <a:ext cx="2788920" cy="603504"/>
          </a:xfrm>
          <a:prstGeom prst="roundRect">
            <a:avLst>
              <a:gd name="adj" fmla="val 39394"/>
            </a:avLst>
          </a:prstGeom>
          <a:solidFill>
            <a:srgbClr val="FFFFFF"/>
          </a:solidFill>
          <a:ln w="25400">
            <a:solidFill>
              <a:srgbClr val="8C5CFF"/>
            </a:solidFill>
            <a:prstDash val="dash"/>
          </a:ln>
        </p:spPr>
        <p:txBody>
          <a:bodyPr wrap="square" lIns="762" tIns="762" rIns="762" bIns="762" rtlCol="0" anchor="ctr"/>
          <a:lstStyle/>
          <a:p>
            <a:pPr rtl="1" algn="ctr" indent="0" marL="0">
              <a:lnSpc>
                <a:spcPct val="108000"/>
              </a:lnSpc>
              <a:buNone/>
            </a:pPr>
            <a:r>
              <a:rPr lang="ar-SA" altLang="en-US" sz="1350" b="1" dirty="0">
                <a:solidFill>
                  <a:srgbClr val="C2366F"/>
                </a:solidFill>
                <a:latin typeface="Tahoma" pitchFamily="34" charset="0"/>
                <a:ea typeface="Tahoma" pitchFamily="34" charset="-122"/>
                <a:cs typeface="Tahoma" pitchFamily="34" charset="-120"/>
              </a:rPr>
              <a:t>الاستراتيجية: </a:t>
            </a:r>
            <a:r>
              <a:rPr lang="ar-SA" altLang="en-US" sz="1350" b="1" dirty="0">
                <a:solidFill>
                  <a:srgbClr val="34405E"/>
                </a:solidFill>
                <a:latin typeface="Tahoma" pitchFamily="34" charset="0"/>
                <a:ea typeface="Tahoma" pitchFamily="34" charset="-122"/>
                <a:cs typeface="Tahoma" pitchFamily="34" charset="-120"/>
              </a:rPr>
              <a:t>الربط بالوطن</a:t>
            </a:r>
            <a:endParaRPr lang="ar-SA" sz="1350" dirty="0"/>
          </a:p>
        </p:txBody>
      </p:sp>
      <p:sp>
        <p:nvSpPr>
          <p:cNvPr id="5" name="s27_t_3">
            <a:hlinkClick r:id="rId3" tooltip="الانتقال إلى القاعة التالية" action="ppaction://hlinksldjump"/>
          </p:cNvPr>
          <p:cNvSpPr txBox="1"/>
          <p:nvPr/>
        </p:nvSpPr>
        <p:spPr>
          <a:xfrm>
            <a:off x="2926080" y="6382512"/>
            <a:ext cx="2011680" cy="384048"/>
          </a:xfrm>
          <a:prstGeom prst="roundRect">
            <a:avLst>
              <a:gd name="adj" fmla="val 50000"/>
            </a:avLst>
          </a:prstGeom>
          <a:solidFill>
            <a:srgbClr val="5B6CFF"/>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القاعة التالية ◀</a:t>
            </a:r>
            <a:endParaRPr lang="ar-SA" sz="1600" dirty="0"/>
          </a:p>
        </p:txBody>
      </p:sp>
      <p:sp>
        <p:nvSpPr>
          <p:cNvPr id="6" name="s27_t_4">
            <a:hlinkClick r:id="rId4" tooltip="العودة إلى خريطة المتحف" action="ppaction://hlinksldjump"/>
          </p:cNvPr>
          <p:cNvSpPr txBox="1"/>
          <p:nvPr/>
        </p:nvSpPr>
        <p:spPr>
          <a:xfrm>
            <a:off x="5074920" y="6382512"/>
            <a:ext cx="2011680" cy="384048"/>
          </a:xfrm>
          <a:prstGeom prst="roundRect">
            <a:avLst>
              <a:gd name="adj" fmla="val 50000"/>
            </a:avLst>
          </a:prstGeom>
          <a:solidFill>
            <a:srgbClr val="0FA3B8"/>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خريطة المتحف</a:t>
            </a:r>
            <a:endParaRPr lang="ar-SA" sz="1600" dirty="0"/>
          </a:p>
        </p:txBody>
      </p:sp>
      <p:sp>
        <p:nvSpPr>
          <p:cNvPr id="7" name="s27_t_5">
            <a:hlinkClick r:id="rId5" tooltip="القاعة السابقة" action="ppaction://hlinksldjump"/>
          </p:cNvPr>
          <p:cNvSpPr txBox="1"/>
          <p:nvPr/>
        </p:nvSpPr>
        <p:spPr>
          <a:xfrm>
            <a:off x="7223760" y="6382512"/>
            <a:ext cx="1463040" cy="384048"/>
          </a:xfrm>
          <a:prstGeom prst="roundRect">
            <a:avLst>
              <a:gd name="adj" fmla="val 50000"/>
            </a:avLst>
          </a:prstGeom>
          <a:solidFill>
            <a:srgbClr val="8C9BB5"/>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السابقة</a:t>
            </a:r>
            <a:endParaRPr lang="ar-SA" sz="1600" dirty="0"/>
          </a:p>
        </p:txBody>
      </p:sp>
      <p:pic>
        <p:nvPicPr>
          <p:cNvPr id="8" name="s27_pic_6" descr="علم المملكة العربية السعودية">    </p:cNvPr>
          <p:cNvPicPr>
            <a:picLocks noChangeAspect="1"/>
          </p:cNvPicPr>
          <p:nvPr/>
        </p:nvPicPr>
        <p:blipFill>
          <a:blip r:embed="rId6"/>
          <a:stretch>
            <a:fillRect/>
          </a:stretch>
        </p:blipFill>
        <p:spPr>
          <a:xfrm>
            <a:off x="9144000" y="228600"/>
            <a:ext cx="1188720" cy="891540"/>
          </a:xfrm>
          <a:prstGeom prst="rect">
            <a:avLst/>
          </a:prstGeom>
        </p:spPr>
      </p:pic>
      <p:pic>
        <p:nvPicPr>
          <p:cNvPr id="9" name="s27_pic_7" descr="/tmp/claude-0/-home-user-Scienceshamah/8386cda7-7741-5ea4-8952-60ee8e67fc31/scratchpad/w4/img/scr_435x396_0F8A4A_FFFFFF.png">    </p:cNvPr>
          <p:cNvPicPr>
            <a:picLocks noChangeAspect="1"/>
          </p:cNvPicPr>
          <p:nvPr/>
        </p:nvPicPr>
        <p:blipFill>
          <a:blip r:embed="rId7"/>
          <a:stretch>
            <a:fillRect/>
          </a:stretch>
        </p:blipFill>
        <p:spPr>
          <a:xfrm>
            <a:off x="7982712" y="1124712"/>
            <a:ext cx="3831336" cy="3511296"/>
          </a:xfrm>
          <a:prstGeom prst="rect">
            <a:avLst/>
          </a:prstGeom>
        </p:spPr>
      </p:pic>
      <p:pic>
        <p:nvPicPr>
          <p:cNvPr id="10" name="s27_pic_8" descr="هيئة الصحة العامة (وقاية)">    </p:cNvPr>
          <p:cNvPicPr>
            <a:picLocks noChangeAspect="1"/>
          </p:cNvPicPr>
          <p:nvPr/>
        </p:nvPicPr>
        <p:blipFill>
          <a:blip r:embed="rId8"/>
          <a:stretch>
            <a:fillRect/>
          </a:stretch>
        </p:blipFill>
        <p:spPr>
          <a:xfrm>
            <a:off x="9418320" y="1371600"/>
            <a:ext cx="960120" cy="960120"/>
          </a:xfrm>
          <a:prstGeom prst="rect">
            <a:avLst/>
          </a:prstGeom>
        </p:spPr>
      </p:pic>
      <p:sp>
        <p:nvSpPr>
          <p:cNvPr id="11" name="s27_t_9"/>
          <p:cNvSpPr txBox="1"/>
          <p:nvPr/>
        </p:nvSpPr>
        <p:spPr>
          <a:xfrm>
            <a:off x="8183880" y="2377440"/>
            <a:ext cx="3429000" cy="685800"/>
          </a:xfrm>
          <a:prstGeom prst="rect">
            <a:avLst/>
          </a:prstGeom>
          <a:noFill/>
          <a:ln/>
        </p:spPr>
        <p:txBody>
          <a:bodyPr wrap="square" lIns="762" tIns="762" rIns="762" bIns="762" rtlCol="0" anchor="ctr"/>
          <a:lstStyle/>
          <a:p>
            <a:pPr rtl="1" algn="ctr" indent="0" marL="0">
              <a:lnSpc>
                <a:spcPct val="108000"/>
              </a:lnSpc>
              <a:buNone/>
            </a:pPr>
            <a:r>
              <a:rPr lang="ar-SA" altLang="en-US" sz="1700" b="1" dirty="0">
                <a:solidFill>
                  <a:srgbClr val="0F6E3A"/>
                </a:solidFill>
                <a:latin typeface="Tahoma" pitchFamily="34" charset="0"/>
                <a:ea typeface="Tahoma" pitchFamily="34" charset="-122"/>
                <a:cs typeface="Tahoma" pitchFamily="34" charset="-120"/>
              </a:rPr>
              <a:t>هيئة الصحة العامة (وقاية)</a:t>
            </a:r>
            <a:endParaRPr lang="ar-SA" sz="1700" dirty="0"/>
          </a:p>
        </p:txBody>
      </p:sp>
      <p:sp>
        <p:nvSpPr>
          <p:cNvPr id="12" name="s27_t_10"/>
          <p:cNvSpPr txBox="1"/>
          <p:nvPr/>
        </p:nvSpPr>
        <p:spPr>
          <a:xfrm>
            <a:off x="8229600" y="3063240"/>
            <a:ext cx="3337560" cy="1371600"/>
          </a:xfrm>
          <a:prstGeom prst="rect">
            <a:avLst/>
          </a:prstGeom>
          <a:noFill/>
          <a:ln/>
        </p:spPr>
        <p:txBody>
          <a:bodyPr wrap="square" lIns="762" tIns="762" rIns="762" bIns="762" rtlCol="0" anchor="t"/>
          <a:lstStyle/>
          <a:p>
            <a:pPr rtl="1" algn="ctr" indent="0" marL="0">
              <a:lnSpc>
                <a:spcPct val="108000"/>
              </a:lnSpc>
              <a:buNone/>
            </a:pPr>
            <a:r>
              <a:rPr lang="ar-SA" altLang="en-US" sz="1500" b="1" dirty="0">
                <a:solidFill>
                  <a:srgbClr val="1B2A4A"/>
                </a:solidFill>
                <a:latin typeface="Tahoma" pitchFamily="34" charset="0"/>
                <a:ea typeface="Tahoma" pitchFamily="34" charset="-122"/>
                <a:cs typeface="Tahoma" pitchFamily="34" charset="-120"/>
              </a:rPr>
              <a:t>ترصد الأمراض المعدية وتنشر التوعية الصحية للوقاية منها.</a:t>
            </a:r>
            <a:endParaRPr lang="ar-SA" sz="1500" dirty="0"/>
          </a:p>
        </p:txBody>
      </p:sp>
      <p:pic>
        <p:nvPicPr>
          <p:cNvPr id="13" name="s27_pic_11" descr="/tmp/claude-0/-home-user-Scienceshamah/8386cda7-7741-5ea4-8952-60ee8e67fc31/scratchpad/w4/img/scr_435x396_0F8A4A_FFFFFF.png">    </p:cNvPr>
          <p:cNvPicPr>
            <a:picLocks noChangeAspect="1"/>
          </p:cNvPicPr>
          <p:nvPr/>
        </p:nvPicPr>
        <p:blipFill>
          <a:blip r:embed="rId9"/>
          <a:stretch>
            <a:fillRect/>
          </a:stretch>
        </p:blipFill>
        <p:spPr>
          <a:xfrm>
            <a:off x="4142232" y="1124712"/>
            <a:ext cx="3831336" cy="3511296"/>
          </a:xfrm>
          <a:prstGeom prst="rect">
            <a:avLst/>
          </a:prstGeom>
        </p:spPr>
      </p:pic>
      <p:pic>
        <p:nvPicPr>
          <p:cNvPr id="14" name="s27_pic_12" descr="الهيئة العامة للغذاء والدواء">    </p:cNvPr>
          <p:cNvPicPr>
            <a:picLocks noChangeAspect="1"/>
          </p:cNvPicPr>
          <p:nvPr/>
        </p:nvPicPr>
        <p:blipFill>
          <a:blip r:embed="rId10"/>
          <a:stretch>
            <a:fillRect/>
          </a:stretch>
        </p:blipFill>
        <p:spPr>
          <a:xfrm>
            <a:off x="5577840" y="1371600"/>
            <a:ext cx="960120" cy="960120"/>
          </a:xfrm>
          <a:prstGeom prst="rect">
            <a:avLst/>
          </a:prstGeom>
        </p:spPr>
      </p:pic>
      <p:sp>
        <p:nvSpPr>
          <p:cNvPr id="15" name="s27_t_13"/>
          <p:cNvSpPr txBox="1"/>
          <p:nvPr/>
        </p:nvSpPr>
        <p:spPr>
          <a:xfrm>
            <a:off x="4343400" y="2377440"/>
            <a:ext cx="3429000" cy="685800"/>
          </a:xfrm>
          <a:prstGeom prst="rect">
            <a:avLst/>
          </a:prstGeom>
          <a:noFill/>
          <a:ln/>
        </p:spPr>
        <p:txBody>
          <a:bodyPr wrap="square" lIns="762" tIns="762" rIns="762" bIns="762" rtlCol="0" anchor="ctr"/>
          <a:lstStyle/>
          <a:p>
            <a:pPr rtl="1" algn="ctr" indent="0" marL="0">
              <a:lnSpc>
                <a:spcPct val="108000"/>
              </a:lnSpc>
              <a:buNone/>
            </a:pPr>
            <a:r>
              <a:rPr lang="ar-SA" altLang="en-US" sz="1700" b="1" dirty="0">
                <a:solidFill>
                  <a:srgbClr val="0F6E3A"/>
                </a:solidFill>
                <a:latin typeface="Tahoma" pitchFamily="34" charset="0"/>
                <a:ea typeface="Tahoma" pitchFamily="34" charset="-122"/>
                <a:cs typeface="Tahoma" pitchFamily="34" charset="-120"/>
              </a:rPr>
              <a:t>الهيئة العامة للغذاء والدواء</a:t>
            </a:r>
            <a:endParaRPr lang="ar-SA" sz="1700" dirty="0"/>
          </a:p>
        </p:txBody>
      </p:sp>
      <p:sp>
        <p:nvSpPr>
          <p:cNvPr id="16" name="s27_t_14"/>
          <p:cNvSpPr txBox="1"/>
          <p:nvPr/>
        </p:nvSpPr>
        <p:spPr>
          <a:xfrm>
            <a:off x="4389120" y="3063240"/>
            <a:ext cx="3337560" cy="1371600"/>
          </a:xfrm>
          <a:prstGeom prst="rect">
            <a:avLst/>
          </a:prstGeom>
          <a:noFill/>
          <a:ln/>
        </p:spPr>
        <p:txBody>
          <a:bodyPr wrap="square" lIns="762" tIns="762" rIns="762" bIns="762" rtlCol="0" anchor="t"/>
          <a:lstStyle/>
          <a:p>
            <a:pPr rtl="1" algn="ctr" indent="0" marL="0">
              <a:lnSpc>
                <a:spcPct val="108000"/>
              </a:lnSpc>
              <a:buNone/>
            </a:pPr>
            <a:r>
              <a:rPr lang="ar-SA" altLang="en-US" sz="1500" b="1" dirty="0">
                <a:solidFill>
                  <a:srgbClr val="1B2A4A"/>
                </a:solidFill>
                <a:latin typeface="Tahoma" pitchFamily="34" charset="0"/>
                <a:ea typeface="Tahoma" pitchFamily="34" charset="-122"/>
                <a:cs typeface="Tahoma" pitchFamily="34" charset="-120"/>
              </a:rPr>
              <a:t>تراقب سلامة الغذاء والدواء، ومنها الأدوية المصنّعة من بعض الفطريات.</a:t>
            </a:r>
            <a:endParaRPr lang="ar-SA" sz="1500" dirty="0"/>
          </a:p>
        </p:txBody>
      </p:sp>
      <p:pic>
        <p:nvPicPr>
          <p:cNvPr id="17" name="s27_pic_15" descr="/tmp/claude-0/-home-user-Scienceshamah/8386cda7-7741-5ea4-8952-60ee8e67fc31/scratchpad/w4/img/scr_435x396_0F8A4A_FFFFFF.png">    </p:cNvPr>
          <p:cNvPicPr>
            <a:picLocks noChangeAspect="1"/>
          </p:cNvPicPr>
          <p:nvPr/>
        </p:nvPicPr>
        <p:blipFill>
          <a:blip r:embed="rId11"/>
          <a:stretch>
            <a:fillRect/>
          </a:stretch>
        </p:blipFill>
        <p:spPr>
          <a:xfrm>
            <a:off x="301752" y="1124712"/>
            <a:ext cx="3831336" cy="3511296"/>
          </a:xfrm>
          <a:prstGeom prst="rect">
            <a:avLst/>
          </a:prstGeom>
        </p:spPr>
      </p:pic>
      <p:pic>
        <p:nvPicPr>
          <p:cNvPr id="18" name="s27_pic_16" descr="المختبرات والجامعات السعودية">    </p:cNvPr>
          <p:cNvPicPr>
            <a:picLocks noChangeAspect="1"/>
          </p:cNvPicPr>
          <p:nvPr/>
        </p:nvPicPr>
        <p:blipFill>
          <a:blip r:embed="rId12"/>
          <a:stretch>
            <a:fillRect/>
          </a:stretch>
        </p:blipFill>
        <p:spPr>
          <a:xfrm>
            <a:off x="1737360" y="1371600"/>
            <a:ext cx="960120" cy="960120"/>
          </a:xfrm>
          <a:prstGeom prst="rect">
            <a:avLst/>
          </a:prstGeom>
        </p:spPr>
      </p:pic>
      <p:sp>
        <p:nvSpPr>
          <p:cNvPr id="19" name="s27_t_17"/>
          <p:cNvSpPr txBox="1"/>
          <p:nvPr/>
        </p:nvSpPr>
        <p:spPr>
          <a:xfrm>
            <a:off x="502920" y="2377440"/>
            <a:ext cx="3429000" cy="685800"/>
          </a:xfrm>
          <a:prstGeom prst="rect">
            <a:avLst/>
          </a:prstGeom>
          <a:noFill/>
          <a:ln/>
        </p:spPr>
        <p:txBody>
          <a:bodyPr wrap="square" lIns="762" tIns="762" rIns="762" bIns="762" rtlCol="0" anchor="ctr"/>
          <a:lstStyle/>
          <a:p>
            <a:pPr rtl="1" algn="ctr" indent="0" marL="0">
              <a:lnSpc>
                <a:spcPct val="108000"/>
              </a:lnSpc>
              <a:buNone/>
            </a:pPr>
            <a:r>
              <a:rPr lang="ar-SA" altLang="en-US" sz="1700" b="1" dirty="0">
                <a:solidFill>
                  <a:srgbClr val="0F6E3A"/>
                </a:solidFill>
                <a:latin typeface="Tahoma" pitchFamily="34" charset="0"/>
                <a:ea typeface="Tahoma" pitchFamily="34" charset="-122"/>
                <a:cs typeface="Tahoma" pitchFamily="34" charset="-120"/>
              </a:rPr>
              <a:t>المختبرات والجامعات السعودية</a:t>
            </a:r>
            <a:endParaRPr lang="ar-SA" sz="1700" dirty="0"/>
          </a:p>
        </p:txBody>
      </p:sp>
      <p:sp>
        <p:nvSpPr>
          <p:cNvPr id="20" name="s27_t_18"/>
          <p:cNvSpPr txBox="1"/>
          <p:nvPr/>
        </p:nvSpPr>
        <p:spPr>
          <a:xfrm>
            <a:off x="548640" y="3063240"/>
            <a:ext cx="3337560" cy="1371600"/>
          </a:xfrm>
          <a:prstGeom prst="rect">
            <a:avLst/>
          </a:prstGeom>
          <a:noFill/>
          <a:ln/>
        </p:spPr>
        <p:txBody>
          <a:bodyPr wrap="square" lIns="762" tIns="762" rIns="762" bIns="762" rtlCol="0" anchor="t"/>
          <a:lstStyle/>
          <a:p>
            <a:pPr rtl="1" algn="ctr" indent="0" marL="0">
              <a:lnSpc>
                <a:spcPct val="108000"/>
              </a:lnSpc>
              <a:buNone/>
            </a:pPr>
            <a:r>
              <a:rPr lang="ar-SA" altLang="en-US" sz="1500" b="1" dirty="0">
                <a:solidFill>
                  <a:srgbClr val="1B2A4A"/>
                </a:solidFill>
                <a:latin typeface="Tahoma" pitchFamily="34" charset="0"/>
                <a:ea typeface="Tahoma" pitchFamily="34" charset="-122"/>
                <a:cs typeface="Tahoma" pitchFamily="34" charset="-120"/>
              </a:rPr>
              <a:t>يجري فيها العلماء أبحاثًا على المخلوقات الحية الدقيقة لحماية صحة المجتمع.</a:t>
            </a:r>
            <a:endParaRPr lang="ar-SA" sz="1500" dirty="0"/>
          </a:p>
        </p:txBody>
      </p:sp>
      <p:pic>
        <p:nvPicPr>
          <p:cNvPr id="21" name="s27_pic_19" descr="/tmp/claude-0/-home-user-Scienceshamah/8386cda7-7741-5ea4-8952-60ee8e67fc31/scratchpad/w4/img/scr_1359x165_0F8A4A_F0FBF4.png">    </p:cNvPr>
          <p:cNvPicPr>
            <a:picLocks noChangeAspect="1"/>
          </p:cNvPicPr>
          <p:nvPr/>
        </p:nvPicPr>
        <p:blipFill>
          <a:blip r:embed="rId13"/>
          <a:stretch>
            <a:fillRect/>
          </a:stretch>
        </p:blipFill>
        <p:spPr>
          <a:xfrm>
            <a:off x="347472" y="4645152"/>
            <a:ext cx="11512296" cy="1591056"/>
          </a:xfrm>
          <a:prstGeom prst="rect">
            <a:avLst/>
          </a:prstGeom>
        </p:spPr>
      </p:pic>
      <p:sp>
        <p:nvSpPr>
          <p:cNvPr id="22" name="s27_t_20"/>
          <p:cNvSpPr txBox="1"/>
          <p:nvPr/>
        </p:nvSpPr>
        <p:spPr>
          <a:xfrm>
            <a:off x="5760720" y="4800600"/>
            <a:ext cx="5852160" cy="1280160"/>
          </a:xfrm>
          <a:prstGeom prst="rect">
            <a:avLst/>
          </a:prstGeom>
          <a:noFill/>
          <a:ln/>
        </p:spPr>
        <p:txBody>
          <a:bodyPr wrap="square" lIns="762" tIns="762" rIns="762" bIns="762" rtlCol="0" anchor="ctr"/>
          <a:lstStyle/>
          <a:p>
            <a:pPr rtl="1" algn="r" indent="0" marL="0">
              <a:lnSpc>
                <a:spcPct val="108000"/>
              </a:lnSpc>
              <a:buNone/>
            </a:pPr>
            <a:r>
              <a:rPr lang="ar-SA" altLang="en-US" sz="1800" b="1" dirty="0">
                <a:solidFill>
                  <a:srgbClr val="1B2A4A"/>
                </a:solidFill>
                <a:latin typeface="Tahoma" pitchFamily="34" charset="0"/>
                <a:ea typeface="Tahoma" pitchFamily="34" charset="-122"/>
                <a:cs typeface="Tahoma" pitchFamily="34" charset="-120"/>
              </a:rPr>
              <a:t>❓ كيف يسهم العلماء في حماية صحة مجتمعنا ووطننا؟</a:t>
            </a:r>
            <a:endParaRPr lang="ar-SA" sz="1800" dirty="0"/>
          </a:p>
        </p:txBody>
      </p:sp>
      <p:sp>
        <p:nvSpPr>
          <p:cNvPr id="23" name="s27_t_21"/>
          <p:cNvSpPr txBox="1"/>
          <p:nvPr/>
        </p:nvSpPr>
        <p:spPr>
          <a:xfrm>
            <a:off x="594360" y="4800600"/>
            <a:ext cx="5074920" cy="1280160"/>
          </a:xfrm>
          <a:prstGeom prst="rect">
            <a:avLst/>
          </a:prstGeom>
          <a:noFill/>
          <a:ln/>
        </p:spPr>
        <p:txBody>
          <a:bodyPr wrap="square" lIns="762" tIns="762" rIns="762" bIns="762" rtlCol="0" anchor="ctr"/>
          <a:lstStyle/>
          <a:p>
            <a:pPr rtl="1" algn="r" indent="0" marL="0">
              <a:lnSpc>
                <a:spcPct val="108000"/>
              </a:lnSpc>
              <a:buNone/>
            </a:pPr>
            <a:r>
              <a:rPr lang="ar-SA" altLang="en-US" sz="1600" b="1" dirty="0">
                <a:solidFill>
                  <a:srgbClr val="0E7C55"/>
                </a:solidFill>
                <a:latin typeface="Tahoma" pitchFamily="34" charset="0"/>
                <a:ea typeface="Tahoma" pitchFamily="34" charset="-122"/>
                <a:cs typeface="Tahoma" pitchFamily="34" charset="-120"/>
              </a:rPr>
              <a:t>✔ يدرسون المخلوقات الحية الدقيقة الضارة والمفيدة، فيكتشفون طرق الوقاية والعلاج ويطوّرون الأدوية.</a:t>
            </a:r>
            <a:endParaRPr lang="ar-SA" sz="1600" dirty="0"/>
          </a:p>
        </p:txBody>
      </p:sp>
    </p:spTree>
  </p:cSld>
  <p:clrMapOvr>
    <a:masterClrMapping/>
  </p:clrMapOvr>
  <mc:AlternateContent xmlns:mc="http://schemas.openxmlformats.org/markup-compatibility/2006">
    <mc:Choice xmlns:p14="http://schemas.microsoft.com/office/powerpoint/2010/main" Requires="p14">
      <p:transition spd="slow" p14:dur="14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9"/>
                                        </p:tgtEl>
                                        <p:attrNameLst>
                                          <p:attrName>style.visibility</p:attrName>
                                        </p:attrNameLst>
                                      </p:cBhvr>
                                      <p:to>
                                        <p:strVal val="visible"/>
                                      </p:to>
                                    </p:set>
                                    <p:anim calcmode="lin" valueType="num">
                                      <p:cBhvr>
                                        <p:cTn id="6" dur="500" fill="hold"/>
                                        <p:tgtEl>
                                          <p:spTgt spid="9"/>
                                        </p:tgtEl>
                                        <p:attrNameLst>
                                          <p:attrName>ppt_w</p:attrName>
                                        </p:attrNameLst>
                                      </p:cBhvr>
                                      <p:tavLst>
                                        <p:tav tm="0">
                                          <p:val>
                                            <p:fltVal val="0"/>
                                          </p:val>
                                        </p:tav>
                                        <p:tav tm="100000">
                                          <p:val>
                                            <p:strVal val="#ppt_w"/>
                                          </p:val>
                                        </p:tav>
                                      </p:tavLst>
                                    </p:anim>
                                    <p:anim calcmode="lin" valueType="num">
                                      <p:cBhvr>
                                        <p:cTn id="7" dur="500" fill="hold"/>
                                        <p:tgtEl>
                                          <p:spTgt spid="9"/>
                                        </p:tgtEl>
                                        <p:attrNameLst>
                                          <p:attrName>ppt_h</p:attrName>
                                        </p:attrNameLst>
                                      </p:cBhvr>
                                      <p:tavLst>
                                        <p:tav tm="0">
                                          <p:val>
                                            <p:fltVal val="0"/>
                                          </p:val>
                                        </p:tav>
                                        <p:tav tm="100000">
                                          <p:val>
                                            <p:strVal val="#ppt_h"/>
                                          </p:val>
                                        </p:tav>
                                      </p:tavLst>
                                    </p:anim>
                                    <p:animEffect transition="in" filter="fade">
                                      <p:cBhvr>
                                        <p:cTn id="8" dur="500"/>
                                        <p:tgtEl>
                                          <p:spTgt spid="9"/>
                                        </p:tgtEl>
                                      </p:cBhvr>
                                    </p:animEffect>
                                  </p:childTnLst>
                                </p:cTn>
                              </p:par>
                              <p:par>
                                <p:cTn id="14" presetID="53" presetClass="entr" presetSubtype="16"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p:cTn id="11" dur="500" fill="hold"/>
                                        <p:tgtEl>
                                          <p:spTgt spid="10"/>
                                        </p:tgtEl>
                                        <p:attrNameLst>
                                          <p:attrName>ppt_w</p:attrName>
                                        </p:attrNameLst>
                                      </p:cBhvr>
                                      <p:tavLst>
                                        <p:tav tm="0">
                                          <p:val>
                                            <p:fltVal val="0"/>
                                          </p:val>
                                        </p:tav>
                                        <p:tav tm="100000">
                                          <p:val>
                                            <p:strVal val="#ppt_w"/>
                                          </p:val>
                                        </p:tav>
                                      </p:tavLst>
                                    </p:anim>
                                    <p:anim calcmode="lin" valueType="num">
                                      <p:cBhvr>
                                        <p:cTn id="12" dur="500" fill="hold"/>
                                        <p:tgtEl>
                                          <p:spTgt spid="10"/>
                                        </p:tgtEl>
                                        <p:attrNameLst>
                                          <p:attrName>ppt_h</p:attrName>
                                        </p:attrNameLst>
                                      </p:cBhvr>
                                      <p:tavLst>
                                        <p:tav tm="0">
                                          <p:val>
                                            <p:fltVal val="0"/>
                                          </p:val>
                                        </p:tav>
                                        <p:tav tm="100000">
                                          <p:val>
                                            <p:strVal val="#ppt_h"/>
                                          </p:val>
                                        </p:tav>
                                      </p:tavLst>
                                    </p:anim>
                                    <p:animEffect transition="in" filter="fade">
                                      <p:cBhvr>
                                        <p:cTn id="13" dur="500"/>
                                        <p:tgtEl>
                                          <p:spTgt spid="10"/>
                                        </p:tgtEl>
                                      </p:cBhvr>
                                    </p:animEffect>
                                  </p:childTnLst>
                                </p:cTn>
                              </p:par>
                              <p:par>
                                <p:cTn id="19" presetID="53" presetClass="entr" presetSubtype="16"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p:cTn id="16" dur="500" fill="hold"/>
                                        <p:tgtEl>
                                          <p:spTgt spid="11"/>
                                        </p:tgtEl>
                                        <p:attrNameLst>
                                          <p:attrName>ppt_w</p:attrName>
                                        </p:attrNameLst>
                                      </p:cBhvr>
                                      <p:tavLst>
                                        <p:tav tm="0">
                                          <p:val>
                                            <p:fltVal val="0"/>
                                          </p:val>
                                        </p:tav>
                                        <p:tav tm="100000">
                                          <p:val>
                                            <p:strVal val="#ppt_w"/>
                                          </p:val>
                                        </p:tav>
                                      </p:tavLst>
                                    </p:anim>
                                    <p:anim calcmode="lin" valueType="num">
                                      <p:cBhvr>
                                        <p:cTn id="17" dur="500" fill="hold"/>
                                        <p:tgtEl>
                                          <p:spTgt spid="11"/>
                                        </p:tgtEl>
                                        <p:attrNameLst>
                                          <p:attrName>ppt_h</p:attrName>
                                        </p:attrNameLst>
                                      </p:cBhvr>
                                      <p:tavLst>
                                        <p:tav tm="0">
                                          <p:val>
                                            <p:fltVal val="0"/>
                                          </p:val>
                                        </p:tav>
                                        <p:tav tm="100000">
                                          <p:val>
                                            <p:strVal val="#ppt_h"/>
                                          </p:val>
                                        </p:tav>
                                      </p:tavLst>
                                    </p:anim>
                                    <p:animEffect transition="in" filter="fade">
                                      <p:cBhvr>
                                        <p:cTn id="18" dur="500"/>
                                        <p:tgtEl>
                                          <p:spTgt spid="11"/>
                                        </p:tgtEl>
                                      </p:cBhvr>
                                    </p:animEffect>
                                  </p:childTnLst>
                                </p:cTn>
                              </p:par>
                              <p:par>
                                <p:cTn id="24" presetID="53" presetClass="entr" presetSubtype="16"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p:cTn id="21" dur="500" fill="hold"/>
                                        <p:tgtEl>
                                          <p:spTgt spid="12"/>
                                        </p:tgtEl>
                                        <p:attrNameLst>
                                          <p:attrName>ppt_w</p:attrName>
                                        </p:attrNameLst>
                                      </p:cBhvr>
                                      <p:tavLst>
                                        <p:tav tm="0">
                                          <p:val>
                                            <p:fltVal val="0"/>
                                          </p:val>
                                        </p:tav>
                                        <p:tav tm="100000">
                                          <p:val>
                                            <p:strVal val="#ppt_w"/>
                                          </p:val>
                                        </p:tav>
                                      </p:tavLst>
                                    </p:anim>
                                    <p:anim calcmode="lin" valueType="num">
                                      <p:cBhvr>
                                        <p:cTn id="22" dur="500" fill="hold"/>
                                        <p:tgtEl>
                                          <p:spTgt spid="12"/>
                                        </p:tgtEl>
                                        <p:attrNameLst>
                                          <p:attrName>ppt_h</p:attrName>
                                        </p:attrNameLst>
                                      </p:cBhvr>
                                      <p:tavLst>
                                        <p:tav tm="0">
                                          <p:val>
                                            <p:fltVal val="0"/>
                                          </p:val>
                                        </p:tav>
                                        <p:tav tm="100000">
                                          <p:val>
                                            <p:strVal val="#ppt_h"/>
                                          </p:val>
                                        </p:tav>
                                      </p:tavLst>
                                    </p:anim>
                                    <p:animEffect transition="in" filter="fade">
                                      <p:cBhvr>
                                        <p:cTn id="23" dur="500"/>
                                        <p:tgtEl>
                                          <p:spTgt spid="12"/>
                                        </p:tgtEl>
                                      </p:cBhvr>
                                    </p:animEffect>
                                  </p:childTnLst>
                                </p:cTn>
                              </p:par>
                            </p:childTnLst>
                          </p:cTn>
                        </p:par>
                      </p:childTnLst>
                    </p:cTn>
                  </p:par>
                  <p:par>
                    <p:cTn id="25" fill="hold">
                      <p:stCondLst>
                        <p:cond delay="indefinite"/>
                      </p:stCondLst>
                      <p:childTnLst>
                        <p:par>
                          <p:cTn id="26" fill="hold">
                            <p:stCondLst>
                              <p:cond delay="0"/>
                            </p:stCondLst>
                            <p:childTnLst>
                              <p:par>
                                <p:cTn id="31" presetID="53" presetClass="entr" presetSubtype="16"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par>
                                <p:cTn id="36" presetID="53" presetClass="entr" presetSubtype="16"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 calcmode="lin" valueType="num">
                                      <p:cBhvr>
                                        <p:cTn id="33" dur="500" fill="hold"/>
                                        <p:tgtEl>
                                          <p:spTgt spid="14"/>
                                        </p:tgtEl>
                                        <p:attrNameLst>
                                          <p:attrName>ppt_w</p:attrName>
                                        </p:attrNameLst>
                                      </p:cBhvr>
                                      <p:tavLst>
                                        <p:tav tm="0">
                                          <p:val>
                                            <p:fltVal val="0"/>
                                          </p:val>
                                        </p:tav>
                                        <p:tav tm="100000">
                                          <p:val>
                                            <p:strVal val="#ppt_w"/>
                                          </p:val>
                                        </p:tav>
                                      </p:tavLst>
                                    </p:anim>
                                    <p:anim calcmode="lin" valueType="num">
                                      <p:cBhvr>
                                        <p:cTn id="34" dur="500" fill="hold"/>
                                        <p:tgtEl>
                                          <p:spTgt spid="14"/>
                                        </p:tgtEl>
                                        <p:attrNameLst>
                                          <p:attrName>ppt_h</p:attrName>
                                        </p:attrNameLst>
                                      </p:cBhvr>
                                      <p:tavLst>
                                        <p:tav tm="0">
                                          <p:val>
                                            <p:fltVal val="0"/>
                                          </p:val>
                                        </p:tav>
                                        <p:tav tm="100000">
                                          <p:val>
                                            <p:strVal val="#ppt_h"/>
                                          </p:val>
                                        </p:tav>
                                      </p:tavLst>
                                    </p:anim>
                                    <p:animEffect transition="in" filter="fade">
                                      <p:cBhvr>
                                        <p:cTn id="35" dur="500"/>
                                        <p:tgtEl>
                                          <p:spTgt spid="14"/>
                                        </p:tgtEl>
                                      </p:cBhvr>
                                    </p:animEffect>
                                  </p:childTnLst>
                                </p:cTn>
                              </p:par>
                              <p:par>
                                <p:cTn id="41" presetID="53" presetClass="entr" presetSubtype="16"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 calcmode="lin" valueType="num">
                                      <p:cBhvr>
                                        <p:cTn id="38" dur="500" fill="hold"/>
                                        <p:tgtEl>
                                          <p:spTgt spid="15"/>
                                        </p:tgtEl>
                                        <p:attrNameLst>
                                          <p:attrName>ppt_w</p:attrName>
                                        </p:attrNameLst>
                                      </p:cBhvr>
                                      <p:tavLst>
                                        <p:tav tm="0">
                                          <p:val>
                                            <p:fltVal val="0"/>
                                          </p:val>
                                        </p:tav>
                                        <p:tav tm="100000">
                                          <p:val>
                                            <p:strVal val="#ppt_w"/>
                                          </p:val>
                                        </p:tav>
                                      </p:tavLst>
                                    </p:anim>
                                    <p:anim calcmode="lin" valueType="num">
                                      <p:cBhvr>
                                        <p:cTn id="39" dur="500" fill="hold"/>
                                        <p:tgtEl>
                                          <p:spTgt spid="15"/>
                                        </p:tgtEl>
                                        <p:attrNameLst>
                                          <p:attrName>ppt_h</p:attrName>
                                        </p:attrNameLst>
                                      </p:cBhvr>
                                      <p:tavLst>
                                        <p:tav tm="0">
                                          <p:val>
                                            <p:fltVal val="0"/>
                                          </p:val>
                                        </p:tav>
                                        <p:tav tm="100000">
                                          <p:val>
                                            <p:strVal val="#ppt_h"/>
                                          </p:val>
                                        </p:tav>
                                      </p:tavLst>
                                    </p:anim>
                                    <p:animEffect transition="in" filter="fade">
                                      <p:cBhvr>
                                        <p:cTn id="40" dur="500"/>
                                        <p:tgtEl>
                                          <p:spTgt spid="15"/>
                                        </p:tgtEl>
                                      </p:cBhvr>
                                    </p:animEffect>
                                  </p:childTnLst>
                                </p:cTn>
                              </p:par>
                              <p:par>
                                <p:cTn id="46" presetID="53" presetClass="entr" presetSubtype="16"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p:cTn id="43" dur="500" fill="hold"/>
                                        <p:tgtEl>
                                          <p:spTgt spid="16"/>
                                        </p:tgtEl>
                                        <p:attrNameLst>
                                          <p:attrName>ppt_w</p:attrName>
                                        </p:attrNameLst>
                                      </p:cBhvr>
                                      <p:tavLst>
                                        <p:tav tm="0">
                                          <p:val>
                                            <p:fltVal val="0"/>
                                          </p:val>
                                        </p:tav>
                                        <p:tav tm="100000">
                                          <p:val>
                                            <p:strVal val="#ppt_w"/>
                                          </p:val>
                                        </p:tav>
                                      </p:tavLst>
                                    </p:anim>
                                    <p:anim calcmode="lin" valueType="num">
                                      <p:cBhvr>
                                        <p:cTn id="44" dur="500" fill="hold"/>
                                        <p:tgtEl>
                                          <p:spTgt spid="16"/>
                                        </p:tgtEl>
                                        <p:attrNameLst>
                                          <p:attrName>ppt_h</p:attrName>
                                        </p:attrNameLst>
                                      </p:cBhvr>
                                      <p:tavLst>
                                        <p:tav tm="0">
                                          <p:val>
                                            <p:fltVal val="0"/>
                                          </p:val>
                                        </p:tav>
                                        <p:tav tm="100000">
                                          <p:val>
                                            <p:strVal val="#ppt_h"/>
                                          </p:val>
                                        </p:tav>
                                      </p:tavLst>
                                    </p:anim>
                                    <p:animEffect transition="in" filter="fade">
                                      <p:cBhvr>
                                        <p:cTn id="45" dur="500"/>
                                        <p:tgtEl>
                                          <p:spTgt spid="16"/>
                                        </p:tgtEl>
                                      </p:cBhvr>
                                    </p:animEffect>
                                  </p:childTnLst>
                                </p:cTn>
                              </p:par>
                            </p:childTnLst>
                          </p:cTn>
                        </p:par>
                      </p:childTnLst>
                    </p:cTn>
                  </p:par>
                  <p:par>
                    <p:cTn id="47" fill="hold">
                      <p:stCondLst>
                        <p:cond delay="indefinite"/>
                      </p:stCondLst>
                      <p:childTnLst>
                        <p:par>
                          <p:cTn id="48" fill="hold">
                            <p:stCondLst>
                              <p:cond delay="0"/>
                            </p:stCondLst>
                            <p:childTnLst>
                              <p:par>
                                <p:cTn id="53" presetID="53" presetClass="entr" presetSubtype="16" fill="hold" grpId="0" nodeType="clickEffect">
                                  <p:stCondLst>
                                    <p:cond delay="0"/>
                                  </p:stCondLst>
                                  <p:childTnLst>
                                    <p:set>
                                      <p:cBhvr>
                                        <p:cTn id="49" dur="1" fill="hold">
                                          <p:stCondLst>
                                            <p:cond delay="0"/>
                                          </p:stCondLst>
                                        </p:cTn>
                                        <p:tgtEl>
                                          <p:spTgt spid="17"/>
                                        </p:tgtEl>
                                        <p:attrNameLst>
                                          <p:attrName>style.visibility</p:attrName>
                                        </p:attrNameLst>
                                      </p:cBhvr>
                                      <p:to>
                                        <p:strVal val="visible"/>
                                      </p:to>
                                    </p:set>
                                    <p:anim calcmode="lin" valueType="num">
                                      <p:cBhvr>
                                        <p:cTn id="50" dur="500" fill="hold"/>
                                        <p:tgtEl>
                                          <p:spTgt spid="17"/>
                                        </p:tgtEl>
                                        <p:attrNameLst>
                                          <p:attrName>ppt_w</p:attrName>
                                        </p:attrNameLst>
                                      </p:cBhvr>
                                      <p:tavLst>
                                        <p:tav tm="0">
                                          <p:val>
                                            <p:fltVal val="0"/>
                                          </p:val>
                                        </p:tav>
                                        <p:tav tm="100000">
                                          <p:val>
                                            <p:strVal val="#ppt_w"/>
                                          </p:val>
                                        </p:tav>
                                      </p:tavLst>
                                    </p:anim>
                                    <p:anim calcmode="lin" valueType="num">
                                      <p:cBhvr>
                                        <p:cTn id="51" dur="500" fill="hold"/>
                                        <p:tgtEl>
                                          <p:spTgt spid="17"/>
                                        </p:tgtEl>
                                        <p:attrNameLst>
                                          <p:attrName>ppt_h</p:attrName>
                                        </p:attrNameLst>
                                      </p:cBhvr>
                                      <p:tavLst>
                                        <p:tav tm="0">
                                          <p:val>
                                            <p:fltVal val="0"/>
                                          </p:val>
                                        </p:tav>
                                        <p:tav tm="100000">
                                          <p:val>
                                            <p:strVal val="#ppt_h"/>
                                          </p:val>
                                        </p:tav>
                                      </p:tavLst>
                                    </p:anim>
                                    <p:animEffect transition="in" filter="fade">
                                      <p:cBhvr>
                                        <p:cTn id="52" dur="500"/>
                                        <p:tgtEl>
                                          <p:spTgt spid="17"/>
                                        </p:tgtEl>
                                      </p:cBhvr>
                                    </p:animEffect>
                                  </p:childTnLst>
                                </p:cTn>
                              </p:par>
                              <p:par>
                                <p:cTn id="58" presetID="53" presetClass="entr" presetSubtype="16"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 calcmode="lin" valueType="num">
                                      <p:cBhvr>
                                        <p:cTn id="55" dur="500" fill="hold"/>
                                        <p:tgtEl>
                                          <p:spTgt spid="18"/>
                                        </p:tgtEl>
                                        <p:attrNameLst>
                                          <p:attrName>ppt_w</p:attrName>
                                        </p:attrNameLst>
                                      </p:cBhvr>
                                      <p:tavLst>
                                        <p:tav tm="0">
                                          <p:val>
                                            <p:fltVal val="0"/>
                                          </p:val>
                                        </p:tav>
                                        <p:tav tm="100000">
                                          <p:val>
                                            <p:strVal val="#ppt_w"/>
                                          </p:val>
                                        </p:tav>
                                      </p:tavLst>
                                    </p:anim>
                                    <p:anim calcmode="lin" valueType="num">
                                      <p:cBhvr>
                                        <p:cTn id="56" dur="500" fill="hold"/>
                                        <p:tgtEl>
                                          <p:spTgt spid="18"/>
                                        </p:tgtEl>
                                        <p:attrNameLst>
                                          <p:attrName>ppt_h</p:attrName>
                                        </p:attrNameLst>
                                      </p:cBhvr>
                                      <p:tavLst>
                                        <p:tav tm="0">
                                          <p:val>
                                            <p:fltVal val="0"/>
                                          </p:val>
                                        </p:tav>
                                        <p:tav tm="100000">
                                          <p:val>
                                            <p:strVal val="#ppt_h"/>
                                          </p:val>
                                        </p:tav>
                                      </p:tavLst>
                                    </p:anim>
                                    <p:animEffect transition="in" filter="fade">
                                      <p:cBhvr>
                                        <p:cTn id="57" dur="500"/>
                                        <p:tgtEl>
                                          <p:spTgt spid="18"/>
                                        </p:tgtEl>
                                      </p:cBhvr>
                                    </p:animEffect>
                                  </p:childTnLst>
                                </p:cTn>
                              </p:par>
                              <p:par>
                                <p:cTn id="63" presetID="53" presetClass="entr" presetSubtype="16" fill="hold" grpId="0" nodeType="withEffect">
                                  <p:stCondLst>
                                    <p:cond delay="0"/>
                                  </p:stCondLst>
                                  <p:childTnLst>
                                    <p:set>
                                      <p:cBhvr>
                                        <p:cTn id="59" dur="1" fill="hold">
                                          <p:stCondLst>
                                            <p:cond delay="0"/>
                                          </p:stCondLst>
                                        </p:cTn>
                                        <p:tgtEl>
                                          <p:spTgt spid="19"/>
                                        </p:tgtEl>
                                        <p:attrNameLst>
                                          <p:attrName>style.visibility</p:attrName>
                                        </p:attrNameLst>
                                      </p:cBhvr>
                                      <p:to>
                                        <p:strVal val="visible"/>
                                      </p:to>
                                    </p:set>
                                    <p:anim calcmode="lin" valueType="num">
                                      <p:cBhvr>
                                        <p:cTn id="60" dur="500" fill="hold"/>
                                        <p:tgtEl>
                                          <p:spTgt spid="19"/>
                                        </p:tgtEl>
                                        <p:attrNameLst>
                                          <p:attrName>ppt_w</p:attrName>
                                        </p:attrNameLst>
                                      </p:cBhvr>
                                      <p:tavLst>
                                        <p:tav tm="0">
                                          <p:val>
                                            <p:fltVal val="0"/>
                                          </p:val>
                                        </p:tav>
                                        <p:tav tm="100000">
                                          <p:val>
                                            <p:strVal val="#ppt_w"/>
                                          </p:val>
                                        </p:tav>
                                      </p:tavLst>
                                    </p:anim>
                                    <p:anim calcmode="lin" valueType="num">
                                      <p:cBhvr>
                                        <p:cTn id="61" dur="500" fill="hold"/>
                                        <p:tgtEl>
                                          <p:spTgt spid="19"/>
                                        </p:tgtEl>
                                        <p:attrNameLst>
                                          <p:attrName>ppt_h</p:attrName>
                                        </p:attrNameLst>
                                      </p:cBhvr>
                                      <p:tavLst>
                                        <p:tav tm="0">
                                          <p:val>
                                            <p:fltVal val="0"/>
                                          </p:val>
                                        </p:tav>
                                        <p:tav tm="100000">
                                          <p:val>
                                            <p:strVal val="#ppt_h"/>
                                          </p:val>
                                        </p:tav>
                                      </p:tavLst>
                                    </p:anim>
                                    <p:animEffect transition="in" filter="fade">
                                      <p:cBhvr>
                                        <p:cTn id="62" dur="500"/>
                                        <p:tgtEl>
                                          <p:spTgt spid="19"/>
                                        </p:tgtEl>
                                      </p:cBhvr>
                                    </p:animEffect>
                                  </p:childTnLst>
                                </p:cTn>
                              </p:par>
                              <p:par>
                                <p:cTn id="68" presetID="53" presetClass="entr" presetSubtype="16" fill="hold" grpId="0" nodeType="withEffect">
                                  <p:stCondLst>
                                    <p:cond delay="0"/>
                                  </p:stCondLst>
                                  <p:childTnLst>
                                    <p:set>
                                      <p:cBhvr>
                                        <p:cTn id="64" dur="1" fill="hold">
                                          <p:stCondLst>
                                            <p:cond delay="0"/>
                                          </p:stCondLst>
                                        </p:cTn>
                                        <p:tgtEl>
                                          <p:spTgt spid="20"/>
                                        </p:tgtEl>
                                        <p:attrNameLst>
                                          <p:attrName>style.visibility</p:attrName>
                                        </p:attrNameLst>
                                      </p:cBhvr>
                                      <p:to>
                                        <p:strVal val="visible"/>
                                      </p:to>
                                    </p:set>
                                    <p:anim calcmode="lin" valueType="num">
                                      <p:cBhvr>
                                        <p:cTn id="65" dur="500" fill="hold"/>
                                        <p:tgtEl>
                                          <p:spTgt spid="20"/>
                                        </p:tgtEl>
                                        <p:attrNameLst>
                                          <p:attrName>ppt_w</p:attrName>
                                        </p:attrNameLst>
                                      </p:cBhvr>
                                      <p:tavLst>
                                        <p:tav tm="0">
                                          <p:val>
                                            <p:fltVal val="0"/>
                                          </p:val>
                                        </p:tav>
                                        <p:tav tm="100000">
                                          <p:val>
                                            <p:strVal val="#ppt_w"/>
                                          </p:val>
                                        </p:tav>
                                      </p:tavLst>
                                    </p:anim>
                                    <p:anim calcmode="lin" valueType="num">
                                      <p:cBhvr>
                                        <p:cTn id="66" dur="500" fill="hold"/>
                                        <p:tgtEl>
                                          <p:spTgt spid="20"/>
                                        </p:tgtEl>
                                        <p:attrNameLst>
                                          <p:attrName>ppt_h</p:attrName>
                                        </p:attrNameLst>
                                      </p:cBhvr>
                                      <p:tavLst>
                                        <p:tav tm="0">
                                          <p:val>
                                            <p:fltVal val="0"/>
                                          </p:val>
                                        </p:tav>
                                        <p:tav tm="100000">
                                          <p:val>
                                            <p:strVal val="#ppt_h"/>
                                          </p:val>
                                        </p:tav>
                                      </p:tavLst>
                                    </p:anim>
                                    <p:animEffect transition="in" filter="fade">
                                      <p:cBhvr>
                                        <p:cTn id="67" dur="500"/>
                                        <p:tgtEl>
                                          <p:spTgt spid="20"/>
                                        </p:tgtEl>
                                      </p:cBhvr>
                                    </p:animEffect>
                                  </p:childTnLst>
                                </p:cTn>
                              </p:par>
                            </p:childTnLst>
                          </p:cTn>
                        </p:par>
                      </p:childTnLst>
                    </p:cTn>
                  </p:par>
                  <p:par>
                    <p:cTn id="69" fill="hold">
                      <p:stCondLst>
                        <p:cond delay="indefinite"/>
                      </p:stCondLst>
                      <p:childTnLst>
                        <p:par>
                          <p:cTn id="70" fill="hold">
                            <p:stCondLst>
                              <p:cond delay="0"/>
                            </p:stCondLst>
                            <p:childTnLst>
                              <p:par>
                                <p:cTn id="75" presetID="53" presetClass="entr" presetSubtype="16" fill="hold" grpId="0" nodeType="clickEffect">
                                  <p:stCondLst>
                                    <p:cond delay="0"/>
                                  </p:stCondLst>
                                  <p:childTnLst>
                                    <p:set>
                                      <p:cBhvr>
                                        <p:cTn id="71" dur="1" fill="hold">
                                          <p:stCondLst>
                                            <p:cond delay="0"/>
                                          </p:stCondLst>
                                        </p:cTn>
                                        <p:tgtEl>
                                          <p:spTgt spid="23"/>
                                        </p:tgtEl>
                                        <p:attrNameLst>
                                          <p:attrName>style.visibility</p:attrName>
                                        </p:attrNameLst>
                                      </p:cBhvr>
                                      <p:to>
                                        <p:strVal val="visible"/>
                                      </p:to>
                                    </p:set>
                                    <p:anim calcmode="lin" valueType="num">
                                      <p:cBhvr>
                                        <p:cTn id="72" dur="500" fill="hold"/>
                                        <p:tgtEl>
                                          <p:spTgt spid="23"/>
                                        </p:tgtEl>
                                        <p:attrNameLst>
                                          <p:attrName>ppt_w</p:attrName>
                                        </p:attrNameLst>
                                      </p:cBhvr>
                                      <p:tavLst>
                                        <p:tav tm="0">
                                          <p:val>
                                            <p:fltVal val="0"/>
                                          </p:val>
                                        </p:tav>
                                        <p:tav tm="100000">
                                          <p:val>
                                            <p:strVal val="#ppt_w"/>
                                          </p:val>
                                        </p:tav>
                                      </p:tavLst>
                                    </p:anim>
                                    <p:anim calcmode="lin" valueType="num">
                                      <p:cBhvr>
                                        <p:cTn id="73" dur="500" fill="hold"/>
                                        <p:tgtEl>
                                          <p:spTgt spid="23"/>
                                        </p:tgtEl>
                                        <p:attrNameLst>
                                          <p:attrName>ppt_h</p:attrName>
                                        </p:attrNameLst>
                                      </p:cBhvr>
                                      <p:tavLst>
                                        <p:tav tm="0">
                                          <p:val>
                                            <p:fltVal val="0"/>
                                          </p:val>
                                        </p:tav>
                                        <p:tav tm="100000">
                                          <p:val>
                                            <p:strVal val="#ppt_h"/>
                                          </p:val>
                                        </p:tav>
                                      </p:tavLst>
                                    </p:anim>
                                    <p:animEffect transition="in" filter="fade">
                                      <p:cBhvr>
                                        <p:cTn id="74"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28_sign" descr="قاعة حصاد المعرفة">    </p:cNvPr>
          <p:cNvPicPr>
            <a:picLocks noChangeAspect="1"/>
          </p:cNvPicPr>
          <p:nvPr/>
        </p:nvPicPr>
        <p:blipFill>
          <a:blip r:embed="rId2"/>
          <a:stretch>
            <a:fillRect/>
          </a:stretch>
        </p:blipFill>
        <p:spPr>
          <a:xfrm>
            <a:off x="4221641" y="91440"/>
            <a:ext cx="3748414" cy="868680"/>
          </a:xfrm>
          <a:prstGeom prst="rect">
            <a:avLst/>
          </a:prstGeom>
        </p:spPr>
      </p:pic>
      <p:sp>
        <p:nvSpPr>
          <p:cNvPr id="3" name="s28_t_1"/>
          <p:cNvSpPr txBox="1"/>
          <p:nvPr/>
        </p:nvSpPr>
        <p:spPr>
          <a:xfrm>
            <a:off x="10561320" y="274320"/>
            <a:ext cx="1325880" cy="502920"/>
          </a:xfrm>
          <a:prstGeom prst="roundRect">
            <a:avLst>
              <a:gd name="adj" fmla="val 49091"/>
            </a:avLst>
          </a:prstGeom>
          <a:solidFill>
            <a:srgbClr val="1B2A4A"/>
          </a:solidFill>
          <a:ln/>
        </p:spPr>
        <p:txBody>
          <a:bodyPr wrap="square" lIns="762" tIns="762" rIns="762" bIns="762" rtlCol="0" anchor="ctr"/>
          <a:lstStyle/>
          <a:p>
            <a:pPr rtl="1" algn="ctr" indent="0" marL="0">
              <a:lnSpc>
                <a:spcPct val="108000"/>
              </a:lnSpc>
              <a:buNone/>
            </a:pPr>
            <a:r>
              <a:rPr lang="ar-SA" altLang="en-US" sz="1700" b="1" dirty="0">
                <a:solidFill>
                  <a:srgbClr val="FFFFFF"/>
                </a:solidFill>
                <a:latin typeface="Tahoma" pitchFamily="34" charset="0"/>
                <a:ea typeface="Tahoma" pitchFamily="34" charset="-122"/>
                <a:cs typeface="Tahoma" pitchFamily="34" charset="-120"/>
              </a:rPr>
              <a:t>القاعة </a:t>
            </a:r>
            <a:r>
              <a:rPr lang="ar-SA" altLang="en-US" sz="1700" b="1" dirty="0">
                <a:solidFill>
                  <a:srgbClr val="FFFFFF"/>
                </a:solidFill>
                <a:latin typeface="Tahoma" pitchFamily="34" charset="0"/>
                <a:ea typeface="Tahoma" pitchFamily="34" charset="-122"/>
                <a:cs typeface="Tahoma" pitchFamily="34" charset="-120"/>
              </a:rPr>
              <a:t>٢١</a:t>
            </a:r>
            <a:endParaRPr lang="ar-SA" sz="1700" dirty="0"/>
          </a:p>
        </p:txBody>
      </p:sp>
      <p:sp>
        <p:nvSpPr>
          <p:cNvPr id="4" name="s28_t_2"/>
          <p:cNvSpPr txBox="1"/>
          <p:nvPr/>
        </p:nvSpPr>
        <p:spPr>
          <a:xfrm>
            <a:off x="365760" y="228600"/>
            <a:ext cx="2788920" cy="603504"/>
          </a:xfrm>
          <a:prstGeom prst="roundRect">
            <a:avLst>
              <a:gd name="adj" fmla="val 39394"/>
            </a:avLst>
          </a:prstGeom>
          <a:solidFill>
            <a:srgbClr val="FFFFFF"/>
          </a:solidFill>
          <a:ln w="25400">
            <a:solidFill>
              <a:srgbClr val="8C5CFF"/>
            </a:solidFill>
            <a:prstDash val="dash"/>
          </a:ln>
        </p:spPr>
        <p:txBody>
          <a:bodyPr wrap="square" lIns="762" tIns="762" rIns="762" bIns="762" rtlCol="0" anchor="ctr"/>
          <a:lstStyle/>
          <a:p>
            <a:pPr rtl="1" algn="ctr" indent="0" marL="0">
              <a:lnSpc>
                <a:spcPct val="108000"/>
              </a:lnSpc>
              <a:buNone/>
            </a:pPr>
            <a:r>
              <a:rPr lang="ar-SA" altLang="en-US" sz="1350" b="1" dirty="0">
                <a:solidFill>
                  <a:srgbClr val="C2366F"/>
                </a:solidFill>
                <a:latin typeface="Tahoma" pitchFamily="34" charset="0"/>
                <a:ea typeface="Tahoma" pitchFamily="34" charset="-122"/>
                <a:cs typeface="Tahoma" pitchFamily="34" charset="-120"/>
              </a:rPr>
              <a:t>الاستراتيجية: </a:t>
            </a:r>
            <a:r>
              <a:rPr lang="ar-SA" altLang="en-US" sz="1350" b="1" dirty="0">
                <a:solidFill>
                  <a:srgbClr val="34405E"/>
                </a:solidFill>
                <a:latin typeface="Tahoma" pitchFamily="34" charset="0"/>
                <a:ea typeface="Tahoma" pitchFamily="34" charset="-122"/>
                <a:cs typeface="Tahoma" pitchFamily="34" charset="-120"/>
              </a:rPr>
              <a:t>خريطة المفاهيم – تذكرة الخروج</a:t>
            </a:r>
            <a:endParaRPr lang="ar-SA" sz="1350" dirty="0"/>
          </a:p>
        </p:txBody>
      </p:sp>
      <p:sp>
        <p:nvSpPr>
          <p:cNvPr id="5" name="s28_t_3">
            <a:hlinkClick r:id="rId3" tooltip="الانتقال إلى القاعة التالية" action="ppaction://hlinksldjump"/>
          </p:cNvPr>
          <p:cNvSpPr txBox="1"/>
          <p:nvPr/>
        </p:nvSpPr>
        <p:spPr>
          <a:xfrm>
            <a:off x="2926080" y="6382512"/>
            <a:ext cx="2011680" cy="384048"/>
          </a:xfrm>
          <a:prstGeom prst="roundRect">
            <a:avLst>
              <a:gd name="adj" fmla="val 50000"/>
            </a:avLst>
          </a:prstGeom>
          <a:solidFill>
            <a:srgbClr val="5B6CFF"/>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القاعة التالية ◀</a:t>
            </a:r>
            <a:endParaRPr lang="ar-SA" sz="1600" dirty="0"/>
          </a:p>
        </p:txBody>
      </p:sp>
      <p:sp>
        <p:nvSpPr>
          <p:cNvPr id="6" name="s28_t_4">
            <a:hlinkClick r:id="rId4" tooltip="العودة إلى خريطة المتحف" action="ppaction://hlinksldjump"/>
          </p:cNvPr>
          <p:cNvSpPr txBox="1"/>
          <p:nvPr/>
        </p:nvSpPr>
        <p:spPr>
          <a:xfrm>
            <a:off x="5074920" y="6382512"/>
            <a:ext cx="2011680" cy="384048"/>
          </a:xfrm>
          <a:prstGeom prst="roundRect">
            <a:avLst>
              <a:gd name="adj" fmla="val 50000"/>
            </a:avLst>
          </a:prstGeom>
          <a:solidFill>
            <a:srgbClr val="0FA3B8"/>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خريطة المتحف</a:t>
            </a:r>
            <a:endParaRPr lang="ar-SA" sz="1600" dirty="0"/>
          </a:p>
        </p:txBody>
      </p:sp>
      <p:sp>
        <p:nvSpPr>
          <p:cNvPr id="7" name="s28_t_5">
            <a:hlinkClick r:id="rId5" tooltip="القاعة السابقة" action="ppaction://hlinksldjump"/>
          </p:cNvPr>
          <p:cNvSpPr txBox="1"/>
          <p:nvPr/>
        </p:nvSpPr>
        <p:spPr>
          <a:xfrm>
            <a:off x="7223760" y="6382512"/>
            <a:ext cx="1463040" cy="384048"/>
          </a:xfrm>
          <a:prstGeom prst="roundRect">
            <a:avLst>
              <a:gd name="adj" fmla="val 50000"/>
            </a:avLst>
          </a:prstGeom>
          <a:solidFill>
            <a:srgbClr val="8C9BB5"/>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السابقة</a:t>
            </a:r>
            <a:endParaRPr lang="ar-SA" sz="1600" dirty="0"/>
          </a:p>
        </p:txBody>
      </p:sp>
      <p:sp>
        <p:nvSpPr>
          <p:cNvPr id="8" name="s28_t_6"/>
          <p:cNvSpPr txBox="1"/>
          <p:nvPr/>
        </p:nvSpPr>
        <p:spPr>
          <a:xfrm>
            <a:off x="4270248" y="1188720"/>
            <a:ext cx="3657600" cy="548640"/>
          </a:xfrm>
          <a:prstGeom prst="roundRect">
            <a:avLst>
              <a:gd name="adj" fmla="val 50000"/>
            </a:avLst>
          </a:prstGeom>
          <a:solidFill>
            <a:srgbClr val="3D8BFF"/>
          </a:solidFill>
          <a:ln/>
        </p:spPr>
        <p:txBody>
          <a:bodyPr wrap="square" lIns="762" tIns="762" rIns="762" bIns="762" rtlCol="0" anchor="ctr"/>
          <a:lstStyle/>
          <a:p>
            <a:pPr rtl="1" algn="ctr" indent="0" marL="0">
              <a:lnSpc>
                <a:spcPct val="108000"/>
              </a:lnSpc>
              <a:buNone/>
            </a:pPr>
            <a:r>
              <a:rPr lang="ar-SA" altLang="en-US" sz="1900" b="1" dirty="0">
                <a:solidFill>
                  <a:srgbClr val="FFFFFF"/>
                </a:solidFill>
                <a:latin typeface="Tahoma" pitchFamily="34" charset="0"/>
                <a:ea typeface="Tahoma" pitchFamily="34" charset="-122"/>
                <a:cs typeface="Tahoma" pitchFamily="34" charset="-120"/>
              </a:rPr>
              <a:t>المخلوقات الحية الدقيقة</a:t>
            </a:r>
            <a:endParaRPr lang="ar-SA" sz="1900" dirty="0"/>
          </a:p>
        </p:txBody>
      </p:sp>
      <p:sp>
        <p:nvSpPr>
          <p:cNvPr id="9" name="s28_t_7"/>
          <p:cNvSpPr txBox="1"/>
          <p:nvPr/>
        </p:nvSpPr>
        <p:spPr>
          <a:xfrm>
            <a:off x="4727448" y="1965960"/>
            <a:ext cx="2743200" cy="502920"/>
          </a:xfrm>
          <a:prstGeom prst="roundRect">
            <a:avLst>
              <a:gd name="adj" fmla="val 49091"/>
            </a:avLst>
          </a:prstGeom>
          <a:solidFill>
            <a:srgbClr val="8C5CFF"/>
          </a:solidFill>
          <a:ln/>
        </p:spPr>
        <p:txBody>
          <a:bodyPr wrap="square" lIns="762" tIns="762" rIns="762" bIns="762" rtlCol="0" anchor="ctr"/>
          <a:lstStyle/>
          <a:p>
            <a:pPr rtl="1" algn="ctr" indent="0" marL="0">
              <a:lnSpc>
                <a:spcPct val="108000"/>
              </a:lnSpc>
              <a:buNone/>
            </a:pPr>
            <a:r>
              <a:rPr lang="ar-SA" altLang="en-US" sz="1800" b="1" dirty="0">
                <a:solidFill>
                  <a:srgbClr val="FFFFFF"/>
                </a:solidFill>
                <a:latin typeface="Tahoma" pitchFamily="34" charset="0"/>
                <a:ea typeface="Tahoma" pitchFamily="34" charset="-122"/>
                <a:cs typeface="Tahoma" pitchFamily="34" charset="-120"/>
              </a:rPr>
              <a:t>طرق التكاثر</a:t>
            </a:r>
            <a:endParaRPr lang="ar-SA" sz="1800" dirty="0"/>
          </a:p>
        </p:txBody>
      </p:sp>
      <p:sp>
        <p:nvSpPr>
          <p:cNvPr id="10" name="s28_t_8"/>
          <p:cNvSpPr txBox="1"/>
          <p:nvPr/>
        </p:nvSpPr>
        <p:spPr>
          <a:xfrm>
            <a:off x="8138160" y="2697480"/>
            <a:ext cx="3566160" cy="502920"/>
          </a:xfrm>
          <a:prstGeom prst="roundRect">
            <a:avLst>
              <a:gd name="adj" fmla="val 49091"/>
            </a:avLst>
          </a:prstGeom>
          <a:solidFill>
            <a:srgbClr val="14B88A"/>
          </a:solidFill>
          <a:ln/>
        </p:spPr>
        <p:txBody>
          <a:bodyPr wrap="square" lIns="762" tIns="762" rIns="762" bIns="762" rtlCol="0" anchor="ctr"/>
          <a:lstStyle/>
          <a:p>
            <a:pPr rtl="1" algn="ctr" indent="0" marL="0">
              <a:lnSpc>
                <a:spcPct val="108000"/>
              </a:lnSpc>
              <a:buNone/>
            </a:pPr>
            <a:r>
              <a:rPr lang="ar-SA" altLang="en-US" sz="1800" b="1" dirty="0">
                <a:solidFill>
                  <a:srgbClr val="FFFFFF"/>
                </a:solidFill>
                <a:latin typeface="Tahoma" pitchFamily="34" charset="0"/>
                <a:ea typeface="Tahoma" pitchFamily="34" charset="-122"/>
                <a:cs typeface="Tahoma" pitchFamily="34" charset="-120"/>
              </a:rPr>
              <a:t>الانشطار الثنائي</a:t>
            </a:r>
            <a:endParaRPr lang="ar-SA" sz="1800" dirty="0"/>
          </a:p>
        </p:txBody>
      </p:sp>
      <p:sp>
        <p:nvSpPr>
          <p:cNvPr id="11" name="s28_t_9"/>
          <p:cNvSpPr txBox="1"/>
          <p:nvPr/>
        </p:nvSpPr>
        <p:spPr>
          <a:xfrm>
            <a:off x="8138160" y="3200400"/>
            <a:ext cx="3566160" cy="685800"/>
          </a:xfrm>
          <a:prstGeom prst="rect">
            <a:avLst/>
          </a:prstGeom>
          <a:noFill/>
          <a:ln/>
        </p:spPr>
        <p:txBody>
          <a:bodyPr wrap="square" lIns="762" tIns="762" rIns="762" bIns="762" rtlCol="0" anchor="ctr"/>
          <a:lstStyle/>
          <a:p>
            <a:pPr rtl="1" algn="ctr" indent="0" marL="0">
              <a:lnSpc>
                <a:spcPct val="108000"/>
              </a:lnSpc>
              <a:buNone/>
            </a:pPr>
            <a:r>
              <a:rPr lang="ar-SA" altLang="en-US" sz="1450" b="1" dirty="0">
                <a:solidFill>
                  <a:srgbClr val="1B2A4A"/>
                </a:solidFill>
                <a:latin typeface="Tahoma" pitchFamily="34" charset="0"/>
                <a:ea typeface="Tahoma" pitchFamily="34" charset="-122"/>
                <a:cs typeface="Tahoma" pitchFamily="34" charset="-120"/>
              </a:rPr>
              <a:t>لاجنسي: مخلوقان متماثلان (البراميسيوم، البكتيريا)</a:t>
            </a:r>
            <a:endParaRPr lang="ar-SA" sz="1450" dirty="0"/>
          </a:p>
        </p:txBody>
      </p:sp>
      <p:sp>
        <p:nvSpPr>
          <p:cNvPr id="12" name="s28_t_10"/>
          <p:cNvSpPr txBox="1"/>
          <p:nvPr/>
        </p:nvSpPr>
        <p:spPr>
          <a:xfrm>
            <a:off x="4343400" y="2697480"/>
            <a:ext cx="3566160" cy="502920"/>
          </a:xfrm>
          <a:prstGeom prst="roundRect">
            <a:avLst>
              <a:gd name="adj" fmla="val 49091"/>
            </a:avLst>
          </a:prstGeom>
          <a:solidFill>
            <a:srgbClr val="E3A21A"/>
          </a:solidFill>
          <a:ln/>
        </p:spPr>
        <p:txBody>
          <a:bodyPr wrap="square" lIns="762" tIns="762" rIns="762" bIns="762" rtlCol="0" anchor="ctr"/>
          <a:lstStyle/>
          <a:p>
            <a:pPr rtl="1" algn="ctr" indent="0" marL="0">
              <a:lnSpc>
                <a:spcPct val="108000"/>
              </a:lnSpc>
              <a:buNone/>
            </a:pPr>
            <a:r>
              <a:rPr lang="ar-SA" altLang="en-US" sz="1800" b="1" dirty="0">
                <a:solidFill>
                  <a:srgbClr val="FFFFFF"/>
                </a:solidFill>
                <a:latin typeface="Tahoma" pitchFamily="34" charset="0"/>
                <a:ea typeface="Tahoma" pitchFamily="34" charset="-122"/>
                <a:cs typeface="Tahoma" pitchFamily="34" charset="-120"/>
              </a:rPr>
              <a:t>التبرعم</a:t>
            </a:r>
            <a:endParaRPr lang="ar-SA" sz="1800" dirty="0"/>
          </a:p>
        </p:txBody>
      </p:sp>
      <p:sp>
        <p:nvSpPr>
          <p:cNvPr id="13" name="s28_t_11"/>
          <p:cNvSpPr txBox="1"/>
          <p:nvPr/>
        </p:nvSpPr>
        <p:spPr>
          <a:xfrm>
            <a:off x="4343400" y="3200400"/>
            <a:ext cx="3566160" cy="685800"/>
          </a:xfrm>
          <a:prstGeom prst="rect">
            <a:avLst/>
          </a:prstGeom>
          <a:noFill/>
          <a:ln/>
        </p:spPr>
        <p:txBody>
          <a:bodyPr wrap="square" lIns="762" tIns="762" rIns="762" bIns="762" rtlCol="0" anchor="ctr"/>
          <a:lstStyle/>
          <a:p>
            <a:pPr rtl="1" algn="ctr" indent="0" marL="0">
              <a:lnSpc>
                <a:spcPct val="108000"/>
              </a:lnSpc>
              <a:buNone/>
            </a:pPr>
            <a:r>
              <a:rPr lang="ar-SA" altLang="en-US" sz="1450" b="1" dirty="0">
                <a:solidFill>
                  <a:srgbClr val="1B2A4A"/>
                </a:solidFill>
                <a:latin typeface="Tahoma" pitchFamily="34" charset="0"/>
                <a:ea typeface="Tahoma" pitchFamily="34" charset="-122"/>
                <a:cs typeface="Tahoma" pitchFamily="34" charset="-120"/>
              </a:rPr>
              <a:t>لاجنسي: برعم ينفصل (الخميرة)</a:t>
            </a:r>
            <a:endParaRPr lang="ar-SA" sz="1450" dirty="0"/>
          </a:p>
        </p:txBody>
      </p:sp>
      <p:sp>
        <p:nvSpPr>
          <p:cNvPr id="14" name="s28_t_12"/>
          <p:cNvSpPr txBox="1"/>
          <p:nvPr/>
        </p:nvSpPr>
        <p:spPr>
          <a:xfrm>
            <a:off x="548640" y="2697480"/>
            <a:ext cx="3566160" cy="502920"/>
          </a:xfrm>
          <a:prstGeom prst="roundRect">
            <a:avLst>
              <a:gd name="adj" fmla="val 49091"/>
            </a:avLst>
          </a:prstGeom>
          <a:solidFill>
            <a:srgbClr val="E2558F"/>
          </a:solidFill>
          <a:ln/>
        </p:spPr>
        <p:txBody>
          <a:bodyPr wrap="square" lIns="762" tIns="762" rIns="762" bIns="762" rtlCol="0" anchor="ctr"/>
          <a:lstStyle/>
          <a:p>
            <a:pPr rtl="1" algn="ctr" indent="0" marL="0">
              <a:lnSpc>
                <a:spcPct val="108000"/>
              </a:lnSpc>
              <a:buNone/>
            </a:pPr>
            <a:r>
              <a:rPr lang="ar-SA" altLang="en-US" sz="1800" b="1" dirty="0">
                <a:solidFill>
                  <a:srgbClr val="FFFFFF"/>
                </a:solidFill>
                <a:latin typeface="Tahoma" pitchFamily="34" charset="0"/>
                <a:ea typeface="Tahoma" pitchFamily="34" charset="-122"/>
                <a:cs typeface="Tahoma" pitchFamily="34" charset="-120"/>
              </a:rPr>
              <a:t>الاقتران</a:t>
            </a:r>
            <a:endParaRPr lang="ar-SA" sz="1800" dirty="0"/>
          </a:p>
        </p:txBody>
      </p:sp>
      <p:sp>
        <p:nvSpPr>
          <p:cNvPr id="15" name="s28_t_13"/>
          <p:cNvSpPr txBox="1"/>
          <p:nvPr/>
        </p:nvSpPr>
        <p:spPr>
          <a:xfrm>
            <a:off x="548640" y="3200400"/>
            <a:ext cx="3566160" cy="685800"/>
          </a:xfrm>
          <a:prstGeom prst="rect">
            <a:avLst/>
          </a:prstGeom>
          <a:noFill/>
          <a:ln/>
        </p:spPr>
        <p:txBody>
          <a:bodyPr wrap="square" lIns="762" tIns="762" rIns="762" bIns="762" rtlCol="0" anchor="ctr"/>
          <a:lstStyle/>
          <a:p>
            <a:pPr rtl="1" algn="ctr" indent="0" marL="0">
              <a:lnSpc>
                <a:spcPct val="108000"/>
              </a:lnSpc>
              <a:buNone/>
            </a:pPr>
            <a:r>
              <a:rPr lang="ar-SA" altLang="en-US" sz="1450" b="1" dirty="0">
                <a:solidFill>
                  <a:srgbClr val="1B2A4A"/>
                </a:solidFill>
                <a:latin typeface="Tahoma" pitchFamily="34" charset="0"/>
                <a:ea typeface="Tahoma" pitchFamily="34" charset="-122"/>
                <a:cs typeface="Tahoma" pitchFamily="34" charset="-120"/>
              </a:rPr>
              <a:t>جنسي: تبادل المادة الوراثية</a:t>
            </a:r>
            <a:endParaRPr lang="ar-SA" sz="1450" dirty="0"/>
          </a:p>
        </p:txBody>
      </p:sp>
      <p:pic>
        <p:nvPicPr>
          <p:cNvPr id="16" name="s28_pic_14" descr="/tmp/claude-0/-home-user-Scienceshamah/8386cda7-7741-5ea4-8952-60ee8e67fc31/scratchpad/w4/img/scr_677x248_3D8BFF_FFFFFF.png">    </p:cNvPr>
          <p:cNvPicPr>
            <a:picLocks noChangeAspect="1"/>
          </p:cNvPicPr>
          <p:nvPr/>
        </p:nvPicPr>
        <p:blipFill>
          <a:blip r:embed="rId6"/>
          <a:stretch>
            <a:fillRect/>
          </a:stretch>
        </p:blipFill>
        <p:spPr>
          <a:xfrm>
            <a:off x="6016752" y="3959352"/>
            <a:ext cx="5843016" cy="2276856"/>
          </a:xfrm>
          <a:prstGeom prst="rect">
            <a:avLst/>
          </a:prstGeom>
        </p:spPr>
      </p:pic>
      <p:sp>
        <p:nvSpPr>
          <p:cNvPr id="17" name="s28_t_15"/>
          <p:cNvSpPr txBox="1"/>
          <p:nvPr/>
        </p:nvSpPr>
        <p:spPr>
          <a:xfrm>
            <a:off x="6263640" y="4114800"/>
            <a:ext cx="5349240" cy="731520"/>
          </a:xfrm>
          <a:prstGeom prst="rect">
            <a:avLst/>
          </a:prstGeom>
          <a:noFill/>
          <a:ln/>
        </p:spPr>
        <p:txBody>
          <a:bodyPr wrap="square" lIns="762" tIns="762" rIns="762" bIns="762" rtlCol="0" anchor="ctr"/>
          <a:lstStyle/>
          <a:p>
            <a:pPr rtl="1" algn="r" indent="0" marL="0">
              <a:lnSpc>
                <a:spcPct val="108000"/>
              </a:lnSpc>
              <a:buNone/>
            </a:pPr>
            <a:r>
              <a:rPr lang="ar-SA" altLang="en-US" sz="1600" b="1" dirty="0">
                <a:solidFill>
                  <a:srgbClr val="1B2A4A"/>
                </a:solidFill>
                <a:latin typeface="Tahoma" pitchFamily="34" charset="0"/>
                <a:ea typeface="Tahoma" pitchFamily="34" charset="-122"/>
                <a:cs typeface="Tahoma" pitchFamily="34" charset="-120"/>
              </a:rPr>
              <a:t>تقويم ختامي: فيمَ تتشابه المخلوقات الحية الدقيقة، وفيمَ تختلف؟</a:t>
            </a:r>
            <a:endParaRPr lang="ar-SA" sz="1600" dirty="0"/>
          </a:p>
        </p:txBody>
      </p:sp>
      <p:sp>
        <p:nvSpPr>
          <p:cNvPr id="18" name="s28_t_16"/>
          <p:cNvSpPr txBox="1"/>
          <p:nvPr/>
        </p:nvSpPr>
        <p:spPr>
          <a:xfrm>
            <a:off x="6263640" y="4846320"/>
            <a:ext cx="5349240" cy="1234440"/>
          </a:xfrm>
          <a:prstGeom prst="rect">
            <a:avLst/>
          </a:prstGeom>
          <a:noFill/>
          <a:ln/>
        </p:spPr>
        <p:txBody>
          <a:bodyPr wrap="square" lIns="762" tIns="762" rIns="762" bIns="762" rtlCol="0" anchor="t"/>
          <a:lstStyle/>
          <a:p>
            <a:pPr rtl="1" algn="r" indent="0" marL="0">
              <a:lnSpc>
                <a:spcPct val="108000"/>
              </a:lnSpc>
              <a:buNone/>
            </a:pPr>
            <a:r>
              <a:rPr lang="ar-SA" altLang="en-US" sz="1450" b="1" dirty="0">
                <a:solidFill>
                  <a:srgbClr val="0E7C55"/>
                </a:solidFill>
                <a:latin typeface="Tahoma" pitchFamily="34" charset="0"/>
                <a:ea typeface="Tahoma" pitchFamily="34" charset="-122"/>
                <a:cs typeface="Tahoma" pitchFamily="34" charset="-120"/>
              </a:rPr>
              <a:t>✔ تتشابه في أنها مجهرية لا تُرى بالعين المجردة وتقوم بعمليات الحياة، وتختلف في تركيبها وغذائها وطريقة تكاثرها.</a:t>
            </a:r>
            <a:endParaRPr lang="ar-SA" sz="1450" dirty="0"/>
          </a:p>
        </p:txBody>
      </p:sp>
      <p:pic>
        <p:nvPicPr>
          <p:cNvPr id="19" name="s28_pic_17" descr="/tmp/claude-0/-home-user-Scienceshamah/8386cda7-7741-5ea4-8952-60ee8e67fc31/scratchpad/w4/img/scr_655x248_E3A21A_FFFBEF.png">    </p:cNvPr>
          <p:cNvPicPr>
            <a:picLocks noChangeAspect="1"/>
          </p:cNvPicPr>
          <p:nvPr/>
        </p:nvPicPr>
        <p:blipFill>
          <a:blip r:embed="rId7"/>
          <a:stretch>
            <a:fillRect/>
          </a:stretch>
        </p:blipFill>
        <p:spPr>
          <a:xfrm>
            <a:off x="347472" y="3959352"/>
            <a:ext cx="5660136" cy="2276856"/>
          </a:xfrm>
          <a:prstGeom prst="rect">
            <a:avLst/>
          </a:prstGeom>
        </p:spPr>
      </p:pic>
      <p:sp>
        <p:nvSpPr>
          <p:cNvPr id="20" name="s28_t_18"/>
          <p:cNvSpPr txBox="1"/>
          <p:nvPr/>
        </p:nvSpPr>
        <p:spPr>
          <a:xfrm>
            <a:off x="594360" y="4114800"/>
            <a:ext cx="5166360" cy="1965960"/>
          </a:xfrm>
          <a:prstGeom prst="rect">
            <a:avLst/>
          </a:prstGeom>
          <a:noFill/>
          <a:ln/>
        </p:spPr>
        <p:txBody>
          <a:bodyPr wrap="square" lIns="762" tIns="762" rIns="762" bIns="762" rtlCol="0" anchor="ctr"/>
          <a:lstStyle/>
          <a:p>
            <a:pPr rtl="1" algn="ctr" indent="0" marL="0">
              <a:lnSpc>
                <a:spcPct val="125000"/>
              </a:lnSpc>
              <a:buNone/>
            </a:pPr>
            <a:r>
              <a:rPr lang="ar-SA" altLang="en-US" sz="1800" b="1" dirty="0">
                <a:solidFill>
                  <a:srgbClr val="8A5A00"/>
                </a:solidFill>
                <a:latin typeface="Tahoma" pitchFamily="34" charset="0"/>
                <a:ea typeface="Tahoma" pitchFamily="34" charset="-122"/>
                <a:cs typeface="Tahoma" pitchFamily="34" charset="-120"/>
              </a:rPr>
              <a:t>🎟️ تذكرة الخروج</a:t>
            </a:r>
            <a:endParaRPr lang="ar-SA" sz="1800" dirty="0"/>
          </a:p>
          <a:p>
            <a:pPr rtl="1" algn="ctr" indent="0" marL="0">
              <a:lnSpc>
                <a:spcPct val="125000"/>
              </a:lnSpc>
              <a:buNone/>
            </a:pPr>
            <a:r>
              <a:rPr lang="ar-SA" altLang="en-US" sz="1800" b="1" dirty="0">
                <a:solidFill>
                  <a:srgbClr val="1B2A4A"/>
                </a:solidFill>
                <a:latin typeface="Tahoma" pitchFamily="34" charset="0"/>
                <a:ea typeface="Tahoma" pitchFamily="34" charset="-122"/>
                <a:cs typeface="Tahoma" pitchFamily="34" charset="-120"/>
              </a:rPr>
              <a:t>ما أهم معلومة تعلّمتِها اليوم؟</a:t>
            </a:r>
            <a:endParaRPr lang="ar-SA" sz="1800" dirty="0"/>
          </a:p>
          <a:p>
            <a:pPr rtl="1" algn="ctr" indent="0" marL="0">
              <a:lnSpc>
                <a:spcPct val="125000"/>
              </a:lnSpc>
              <a:buNone/>
            </a:pPr>
            <a:r>
              <a:rPr lang="ar-SA" altLang="en-US" sz="1800" b="1" dirty="0">
                <a:solidFill>
                  <a:srgbClr val="1B2A4A"/>
                </a:solidFill>
                <a:latin typeface="Tahoma" pitchFamily="34" charset="0"/>
                <a:ea typeface="Tahoma" pitchFamily="34" charset="-122"/>
                <a:cs typeface="Tahoma" pitchFamily="34" charset="-120"/>
              </a:rPr>
              <a:t>...............................................</a:t>
            </a:r>
            <a:endParaRPr lang="ar-SA" sz="1800" dirty="0"/>
          </a:p>
        </p:txBody>
      </p:sp>
    </p:spTree>
  </p:cSld>
  <p:clrMapOvr>
    <a:masterClrMapping/>
  </p:clrMapOvr>
  <mc:AlternateContent xmlns:mc="http://schemas.openxmlformats.org/markup-compatibility/2006">
    <mc:Choice xmlns:p14="http://schemas.microsoft.com/office/powerpoint/2010/main" Requires="p14">
      <p:transition spd="slow" p14:dur="14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8"/>
                                        </p:tgtEl>
                                        <p:attrNameLst>
                                          <p:attrName>style.visibility</p:attrName>
                                        </p:attrNameLst>
                                      </p:cBhvr>
                                      <p:to>
                                        <p:strVal val="visible"/>
                                      </p:to>
                                    </p:set>
                                    <p:anim calcmode="lin" valueType="num">
                                      <p:cBhvr>
                                        <p:cTn id="6" dur="500" fill="hold"/>
                                        <p:tgtEl>
                                          <p:spTgt spid="8"/>
                                        </p:tgtEl>
                                        <p:attrNameLst>
                                          <p:attrName>ppt_w</p:attrName>
                                        </p:attrNameLst>
                                      </p:cBhvr>
                                      <p:tavLst>
                                        <p:tav tm="0">
                                          <p:val>
                                            <p:fltVal val="0"/>
                                          </p:val>
                                        </p:tav>
                                        <p:tav tm="100000">
                                          <p:val>
                                            <p:strVal val="#ppt_w"/>
                                          </p:val>
                                        </p:tav>
                                      </p:tavLst>
                                    </p:anim>
                                    <p:anim calcmode="lin" valueType="num">
                                      <p:cBhvr>
                                        <p:cTn id="7" dur="500" fill="hold"/>
                                        <p:tgtEl>
                                          <p:spTgt spid="8"/>
                                        </p:tgtEl>
                                        <p:attrNameLst>
                                          <p:attrName>ppt_h</p:attrName>
                                        </p:attrNameLst>
                                      </p:cBhvr>
                                      <p:tavLst>
                                        <p:tav tm="0">
                                          <p:val>
                                            <p:fltVal val="0"/>
                                          </p:val>
                                        </p:tav>
                                        <p:tav tm="100000">
                                          <p:val>
                                            <p:strVal val="#ppt_h"/>
                                          </p:val>
                                        </p:tav>
                                      </p:tavLst>
                                    </p:anim>
                                    <p:animEffect transition="in" filter="fade">
                                      <p:cBhvr>
                                        <p:cTn id="8"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6" presetID="53" presetClass="entr" presetSubtype="16"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p:cTn id="13" dur="500" fill="hold"/>
                                        <p:tgtEl>
                                          <p:spTgt spid="9"/>
                                        </p:tgtEl>
                                        <p:attrNameLst>
                                          <p:attrName>ppt_w</p:attrName>
                                        </p:attrNameLst>
                                      </p:cBhvr>
                                      <p:tavLst>
                                        <p:tav tm="0">
                                          <p:val>
                                            <p:fltVal val="0"/>
                                          </p:val>
                                        </p:tav>
                                        <p:tav tm="100000">
                                          <p:val>
                                            <p:strVal val="#ppt_w"/>
                                          </p:val>
                                        </p:tav>
                                      </p:tavLst>
                                    </p:anim>
                                    <p:anim calcmode="lin" valueType="num">
                                      <p:cBhvr>
                                        <p:cTn id="14" dur="500" fill="hold"/>
                                        <p:tgtEl>
                                          <p:spTgt spid="9"/>
                                        </p:tgtEl>
                                        <p:attrNameLst>
                                          <p:attrName>ppt_h</p:attrName>
                                        </p:attrNameLst>
                                      </p:cBhvr>
                                      <p:tavLst>
                                        <p:tav tm="0">
                                          <p:val>
                                            <p:fltVal val="0"/>
                                          </p:val>
                                        </p:tav>
                                        <p:tav tm="100000">
                                          <p:val>
                                            <p:strVal val="#ppt_h"/>
                                          </p:val>
                                        </p:tav>
                                      </p:tavLst>
                                    </p:anim>
                                    <p:animEffect transition="in" filter="fade">
                                      <p:cBhvr>
                                        <p:cTn id="15"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23" presetID="53" presetClass="entr" presetSubtype="16"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 calcmode="lin" valueType="num">
                                      <p:cBhvr>
                                        <p:cTn id="20" dur="500" fill="hold"/>
                                        <p:tgtEl>
                                          <p:spTgt spid="10"/>
                                        </p:tgtEl>
                                        <p:attrNameLst>
                                          <p:attrName>ppt_w</p:attrName>
                                        </p:attrNameLst>
                                      </p:cBhvr>
                                      <p:tavLst>
                                        <p:tav tm="0">
                                          <p:val>
                                            <p:fltVal val="0"/>
                                          </p:val>
                                        </p:tav>
                                        <p:tav tm="100000">
                                          <p:val>
                                            <p:strVal val="#ppt_w"/>
                                          </p:val>
                                        </p:tav>
                                      </p:tavLst>
                                    </p:anim>
                                    <p:anim calcmode="lin" valueType="num">
                                      <p:cBhvr>
                                        <p:cTn id="21" dur="500" fill="hold"/>
                                        <p:tgtEl>
                                          <p:spTgt spid="10"/>
                                        </p:tgtEl>
                                        <p:attrNameLst>
                                          <p:attrName>ppt_h</p:attrName>
                                        </p:attrNameLst>
                                      </p:cBhvr>
                                      <p:tavLst>
                                        <p:tav tm="0">
                                          <p:val>
                                            <p:fltVal val="0"/>
                                          </p:val>
                                        </p:tav>
                                        <p:tav tm="100000">
                                          <p:val>
                                            <p:strVal val="#ppt_h"/>
                                          </p:val>
                                        </p:tav>
                                      </p:tavLst>
                                    </p:anim>
                                    <p:animEffect transition="in" filter="fade">
                                      <p:cBhvr>
                                        <p:cTn id="22" dur="500"/>
                                        <p:tgtEl>
                                          <p:spTgt spid="10"/>
                                        </p:tgtEl>
                                      </p:cBhvr>
                                    </p:animEffect>
                                  </p:childTnLst>
                                </p:cTn>
                              </p:par>
                              <p:par>
                                <p:cTn id="28" presetID="53" presetClass="entr" presetSubtype="16"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p:cTn id="25" dur="500" fill="hold"/>
                                        <p:tgtEl>
                                          <p:spTgt spid="11"/>
                                        </p:tgtEl>
                                        <p:attrNameLst>
                                          <p:attrName>ppt_w</p:attrName>
                                        </p:attrNameLst>
                                      </p:cBhvr>
                                      <p:tavLst>
                                        <p:tav tm="0">
                                          <p:val>
                                            <p:fltVal val="0"/>
                                          </p:val>
                                        </p:tav>
                                        <p:tav tm="100000">
                                          <p:val>
                                            <p:strVal val="#ppt_w"/>
                                          </p:val>
                                        </p:tav>
                                      </p:tavLst>
                                    </p:anim>
                                    <p:anim calcmode="lin" valueType="num">
                                      <p:cBhvr>
                                        <p:cTn id="26" dur="500" fill="hold"/>
                                        <p:tgtEl>
                                          <p:spTgt spid="11"/>
                                        </p:tgtEl>
                                        <p:attrNameLst>
                                          <p:attrName>ppt_h</p:attrName>
                                        </p:attrNameLst>
                                      </p:cBhvr>
                                      <p:tavLst>
                                        <p:tav tm="0">
                                          <p:val>
                                            <p:fltVal val="0"/>
                                          </p:val>
                                        </p:tav>
                                        <p:tav tm="100000">
                                          <p:val>
                                            <p:strVal val="#ppt_h"/>
                                          </p:val>
                                        </p:tav>
                                      </p:tavLst>
                                    </p:anim>
                                    <p:animEffect transition="in" filter="fade">
                                      <p:cBhvr>
                                        <p:cTn id="27" dur="500"/>
                                        <p:tgtEl>
                                          <p:spTgt spid="11"/>
                                        </p:tgtEl>
                                      </p:cBhvr>
                                    </p:animEffect>
                                  </p:childTnLst>
                                </p:cTn>
                              </p:par>
                              <p:par>
                                <p:cTn id="33" presetID="53" presetClass="entr" presetSubtype="16" fill="hold" grpId="0" nodeType="withEffect">
                                  <p:stCondLst>
                                    <p:cond delay="250"/>
                                  </p:stCondLst>
                                  <p:childTnLst>
                                    <p:set>
                                      <p:cBhvr>
                                        <p:cTn id="29" dur="1" fill="hold">
                                          <p:stCondLst>
                                            <p:cond delay="0"/>
                                          </p:stCondLst>
                                        </p:cTn>
                                        <p:tgtEl>
                                          <p:spTgt spid="12"/>
                                        </p:tgtEl>
                                        <p:attrNameLst>
                                          <p:attrName>style.visibility</p:attrName>
                                        </p:attrNameLst>
                                      </p:cBhvr>
                                      <p:to>
                                        <p:strVal val="visible"/>
                                      </p:to>
                                    </p:set>
                                    <p:anim calcmode="lin" valueType="num">
                                      <p:cBhvr>
                                        <p:cTn id="30" dur="500" fill="hold"/>
                                        <p:tgtEl>
                                          <p:spTgt spid="12"/>
                                        </p:tgtEl>
                                        <p:attrNameLst>
                                          <p:attrName>ppt_w</p:attrName>
                                        </p:attrNameLst>
                                      </p:cBhvr>
                                      <p:tavLst>
                                        <p:tav tm="0">
                                          <p:val>
                                            <p:fltVal val="0"/>
                                          </p:val>
                                        </p:tav>
                                        <p:tav tm="100000">
                                          <p:val>
                                            <p:strVal val="#ppt_w"/>
                                          </p:val>
                                        </p:tav>
                                      </p:tavLst>
                                    </p:anim>
                                    <p:anim calcmode="lin" valueType="num">
                                      <p:cBhvr>
                                        <p:cTn id="31" dur="500" fill="hold"/>
                                        <p:tgtEl>
                                          <p:spTgt spid="12"/>
                                        </p:tgtEl>
                                        <p:attrNameLst>
                                          <p:attrName>ppt_h</p:attrName>
                                        </p:attrNameLst>
                                      </p:cBhvr>
                                      <p:tavLst>
                                        <p:tav tm="0">
                                          <p:val>
                                            <p:fltVal val="0"/>
                                          </p:val>
                                        </p:tav>
                                        <p:tav tm="100000">
                                          <p:val>
                                            <p:strVal val="#ppt_h"/>
                                          </p:val>
                                        </p:tav>
                                      </p:tavLst>
                                    </p:anim>
                                    <p:animEffect transition="in" filter="fade">
                                      <p:cBhvr>
                                        <p:cTn id="32" dur="500"/>
                                        <p:tgtEl>
                                          <p:spTgt spid="12"/>
                                        </p:tgtEl>
                                      </p:cBhvr>
                                    </p:animEffect>
                                  </p:childTnLst>
                                </p:cTn>
                              </p:par>
                              <p:par>
                                <p:cTn id="38" presetID="53" presetClass="entr" presetSubtype="16" fill="hold" grpId="0" nodeType="withEffect">
                                  <p:stCondLst>
                                    <p:cond delay="250"/>
                                  </p:stCondLst>
                                  <p:childTnLst>
                                    <p:set>
                                      <p:cBhvr>
                                        <p:cTn id="34" dur="1" fill="hold">
                                          <p:stCondLst>
                                            <p:cond delay="0"/>
                                          </p:stCondLst>
                                        </p:cTn>
                                        <p:tgtEl>
                                          <p:spTgt spid="13"/>
                                        </p:tgtEl>
                                        <p:attrNameLst>
                                          <p:attrName>style.visibility</p:attrName>
                                        </p:attrNameLst>
                                      </p:cBhvr>
                                      <p:to>
                                        <p:strVal val="visible"/>
                                      </p:to>
                                    </p:set>
                                    <p:anim calcmode="lin" valueType="num">
                                      <p:cBhvr>
                                        <p:cTn id="35" dur="500" fill="hold"/>
                                        <p:tgtEl>
                                          <p:spTgt spid="13"/>
                                        </p:tgtEl>
                                        <p:attrNameLst>
                                          <p:attrName>ppt_w</p:attrName>
                                        </p:attrNameLst>
                                      </p:cBhvr>
                                      <p:tavLst>
                                        <p:tav tm="0">
                                          <p:val>
                                            <p:fltVal val="0"/>
                                          </p:val>
                                        </p:tav>
                                        <p:tav tm="100000">
                                          <p:val>
                                            <p:strVal val="#ppt_w"/>
                                          </p:val>
                                        </p:tav>
                                      </p:tavLst>
                                    </p:anim>
                                    <p:anim calcmode="lin" valueType="num">
                                      <p:cBhvr>
                                        <p:cTn id="36" dur="500" fill="hold"/>
                                        <p:tgtEl>
                                          <p:spTgt spid="13"/>
                                        </p:tgtEl>
                                        <p:attrNameLst>
                                          <p:attrName>ppt_h</p:attrName>
                                        </p:attrNameLst>
                                      </p:cBhvr>
                                      <p:tavLst>
                                        <p:tav tm="0">
                                          <p:val>
                                            <p:fltVal val="0"/>
                                          </p:val>
                                        </p:tav>
                                        <p:tav tm="100000">
                                          <p:val>
                                            <p:strVal val="#ppt_h"/>
                                          </p:val>
                                        </p:tav>
                                      </p:tavLst>
                                    </p:anim>
                                    <p:animEffect transition="in" filter="fade">
                                      <p:cBhvr>
                                        <p:cTn id="37" dur="500"/>
                                        <p:tgtEl>
                                          <p:spTgt spid="13"/>
                                        </p:tgtEl>
                                      </p:cBhvr>
                                    </p:animEffect>
                                  </p:childTnLst>
                                </p:cTn>
                              </p:par>
                              <p:par>
                                <p:cTn id="43" presetID="53" presetClass="entr" presetSubtype="16" fill="hold" grpId="0" nodeType="withEffect">
                                  <p:stCondLst>
                                    <p:cond delay="500"/>
                                  </p:stCondLst>
                                  <p:childTnLst>
                                    <p:set>
                                      <p:cBhvr>
                                        <p:cTn id="39" dur="1" fill="hold">
                                          <p:stCondLst>
                                            <p:cond delay="0"/>
                                          </p:stCondLst>
                                        </p:cTn>
                                        <p:tgtEl>
                                          <p:spTgt spid="14"/>
                                        </p:tgtEl>
                                        <p:attrNameLst>
                                          <p:attrName>style.visibility</p:attrName>
                                        </p:attrNameLst>
                                      </p:cBhvr>
                                      <p:to>
                                        <p:strVal val="visible"/>
                                      </p:to>
                                    </p:set>
                                    <p:anim calcmode="lin" valueType="num">
                                      <p:cBhvr>
                                        <p:cTn id="40" dur="500" fill="hold"/>
                                        <p:tgtEl>
                                          <p:spTgt spid="14"/>
                                        </p:tgtEl>
                                        <p:attrNameLst>
                                          <p:attrName>ppt_w</p:attrName>
                                        </p:attrNameLst>
                                      </p:cBhvr>
                                      <p:tavLst>
                                        <p:tav tm="0">
                                          <p:val>
                                            <p:fltVal val="0"/>
                                          </p:val>
                                        </p:tav>
                                        <p:tav tm="100000">
                                          <p:val>
                                            <p:strVal val="#ppt_w"/>
                                          </p:val>
                                        </p:tav>
                                      </p:tavLst>
                                    </p:anim>
                                    <p:anim calcmode="lin" valueType="num">
                                      <p:cBhvr>
                                        <p:cTn id="41" dur="500" fill="hold"/>
                                        <p:tgtEl>
                                          <p:spTgt spid="14"/>
                                        </p:tgtEl>
                                        <p:attrNameLst>
                                          <p:attrName>ppt_h</p:attrName>
                                        </p:attrNameLst>
                                      </p:cBhvr>
                                      <p:tavLst>
                                        <p:tav tm="0">
                                          <p:val>
                                            <p:fltVal val="0"/>
                                          </p:val>
                                        </p:tav>
                                        <p:tav tm="100000">
                                          <p:val>
                                            <p:strVal val="#ppt_h"/>
                                          </p:val>
                                        </p:tav>
                                      </p:tavLst>
                                    </p:anim>
                                    <p:animEffect transition="in" filter="fade">
                                      <p:cBhvr>
                                        <p:cTn id="42" dur="500"/>
                                        <p:tgtEl>
                                          <p:spTgt spid="14"/>
                                        </p:tgtEl>
                                      </p:cBhvr>
                                    </p:animEffect>
                                  </p:childTnLst>
                                </p:cTn>
                              </p:par>
                              <p:par>
                                <p:cTn id="48" presetID="53" presetClass="entr" presetSubtype="16" fill="hold" grpId="0" nodeType="withEffect">
                                  <p:stCondLst>
                                    <p:cond delay="500"/>
                                  </p:stCondLst>
                                  <p:childTnLst>
                                    <p:set>
                                      <p:cBhvr>
                                        <p:cTn id="44" dur="1" fill="hold">
                                          <p:stCondLst>
                                            <p:cond delay="0"/>
                                          </p:stCondLst>
                                        </p:cTn>
                                        <p:tgtEl>
                                          <p:spTgt spid="15"/>
                                        </p:tgtEl>
                                        <p:attrNameLst>
                                          <p:attrName>style.visibility</p:attrName>
                                        </p:attrNameLst>
                                      </p:cBhvr>
                                      <p:to>
                                        <p:strVal val="visible"/>
                                      </p:to>
                                    </p:set>
                                    <p:anim calcmode="lin" valueType="num">
                                      <p:cBhvr>
                                        <p:cTn id="45" dur="500" fill="hold"/>
                                        <p:tgtEl>
                                          <p:spTgt spid="15"/>
                                        </p:tgtEl>
                                        <p:attrNameLst>
                                          <p:attrName>ppt_w</p:attrName>
                                        </p:attrNameLst>
                                      </p:cBhvr>
                                      <p:tavLst>
                                        <p:tav tm="0">
                                          <p:val>
                                            <p:fltVal val="0"/>
                                          </p:val>
                                        </p:tav>
                                        <p:tav tm="100000">
                                          <p:val>
                                            <p:strVal val="#ppt_w"/>
                                          </p:val>
                                        </p:tav>
                                      </p:tavLst>
                                    </p:anim>
                                    <p:anim calcmode="lin" valueType="num">
                                      <p:cBhvr>
                                        <p:cTn id="46" dur="500" fill="hold"/>
                                        <p:tgtEl>
                                          <p:spTgt spid="15"/>
                                        </p:tgtEl>
                                        <p:attrNameLst>
                                          <p:attrName>ppt_h</p:attrName>
                                        </p:attrNameLst>
                                      </p:cBhvr>
                                      <p:tavLst>
                                        <p:tav tm="0">
                                          <p:val>
                                            <p:fltVal val="0"/>
                                          </p:val>
                                        </p:tav>
                                        <p:tav tm="100000">
                                          <p:val>
                                            <p:strVal val="#ppt_h"/>
                                          </p:val>
                                        </p:tav>
                                      </p:tavLst>
                                    </p:anim>
                                    <p:animEffect transition="in" filter="fade">
                                      <p:cBhvr>
                                        <p:cTn id="47" dur="500"/>
                                        <p:tgtEl>
                                          <p:spTgt spid="15"/>
                                        </p:tgtEl>
                                      </p:cBhvr>
                                    </p:animEffect>
                                  </p:childTnLst>
                                </p:cTn>
                              </p:par>
                            </p:childTnLst>
                          </p:cTn>
                        </p:par>
                      </p:childTnLst>
                    </p:cTn>
                  </p:par>
                  <p:par>
                    <p:cTn id="49" fill="hold">
                      <p:stCondLst>
                        <p:cond delay="indefinite"/>
                      </p:stCondLst>
                      <p:childTnLst>
                        <p:par>
                          <p:cTn id="50" fill="hold">
                            <p:stCondLst>
                              <p:cond delay="0"/>
                            </p:stCondLst>
                            <p:childTnLst>
                              <p:par>
                                <p:cTn id="55" presetID="53" presetClass="entr" presetSubtype="16" fill="hold" grpId="0" nodeType="clickEffect">
                                  <p:stCondLst>
                                    <p:cond delay="0"/>
                                  </p:stCondLst>
                                  <p:childTnLst>
                                    <p:set>
                                      <p:cBhvr>
                                        <p:cTn id="51" dur="1" fill="hold">
                                          <p:stCondLst>
                                            <p:cond delay="0"/>
                                          </p:stCondLst>
                                        </p:cTn>
                                        <p:tgtEl>
                                          <p:spTgt spid="18"/>
                                        </p:tgtEl>
                                        <p:attrNameLst>
                                          <p:attrName>style.visibility</p:attrName>
                                        </p:attrNameLst>
                                      </p:cBhvr>
                                      <p:to>
                                        <p:strVal val="visible"/>
                                      </p:to>
                                    </p:set>
                                    <p:anim calcmode="lin" valueType="num">
                                      <p:cBhvr>
                                        <p:cTn id="52" dur="500" fill="hold"/>
                                        <p:tgtEl>
                                          <p:spTgt spid="18"/>
                                        </p:tgtEl>
                                        <p:attrNameLst>
                                          <p:attrName>ppt_w</p:attrName>
                                        </p:attrNameLst>
                                      </p:cBhvr>
                                      <p:tavLst>
                                        <p:tav tm="0">
                                          <p:val>
                                            <p:fltVal val="0"/>
                                          </p:val>
                                        </p:tav>
                                        <p:tav tm="100000">
                                          <p:val>
                                            <p:strVal val="#ppt_w"/>
                                          </p:val>
                                        </p:tav>
                                      </p:tavLst>
                                    </p:anim>
                                    <p:anim calcmode="lin" valueType="num">
                                      <p:cBhvr>
                                        <p:cTn id="53" dur="500" fill="hold"/>
                                        <p:tgtEl>
                                          <p:spTgt spid="18"/>
                                        </p:tgtEl>
                                        <p:attrNameLst>
                                          <p:attrName>ppt_h</p:attrName>
                                        </p:attrNameLst>
                                      </p:cBhvr>
                                      <p:tavLst>
                                        <p:tav tm="0">
                                          <p:val>
                                            <p:fltVal val="0"/>
                                          </p:val>
                                        </p:tav>
                                        <p:tav tm="100000">
                                          <p:val>
                                            <p:strVal val="#ppt_h"/>
                                          </p:val>
                                        </p:tav>
                                      </p:tavLst>
                                    </p:anim>
                                    <p:animEffect transition="in" filter="fade">
                                      <p:cBhvr>
                                        <p:cTn id="54"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x_title" descr="أحسنتن يا عالمات المستقبل">    </p:cNvPr>
          <p:cNvPicPr>
            <a:picLocks noChangeAspect="1"/>
          </p:cNvPicPr>
          <p:nvPr/>
        </p:nvPicPr>
        <p:blipFill>
          <a:blip r:embed="rId2"/>
          <a:stretch>
            <a:fillRect/>
          </a:stretch>
        </p:blipFill>
        <p:spPr>
          <a:xfrm>
            <a:off x="3809848" y="682101"/>
            <a:ext cx="4572000" cy="482885"/>
          </a:xfrm>
          <a:prstGeom prst="rect">
            <a:avLst/>
          </a:prstGeom>
        </p:spPr>
      </p:pic>
      <p:sp>
        <p:nvSpPr>
          <p:cNvPr id="3" name="x_t1"/>
          <p:cNvSpPr txBox="1"/>
          <p:nvPr/>
        </p:nvSpPr>
        <p:spPr>
          <a:xfrm>
            <a:off x="1527048" y="1737360"/>
            <a:ext cx="9144000" cy="548640"/>
          </a:xfrm>
          <a:prstGeom prst="roundRect">
            <a:avLst>
              <a:gd name="adj" fmla="val 50000"/>
            </a:avLst>
          </a:prstGeom>
          <a:solidFill>
            <a:srgbClr val="FFFFFF">
              <a:alpha val="90000"/>
            </a:srgbClr>
          </a:solidFill>
          <a:ln/>
        </p:spPr>
        <p:txBody>
          <a:bodyPr wrap="square" lIns="762" tIns="762" rIns="762" bIns="762" rtlCol="0" anchor="ctr"/>
          <a:lstStyle/>
          <a:p>
            <a:pPr rtl="1" algn="ctr" indent="0" marL="0">
              <a:lnSpc>
                <a:spcPct val="108000"/>
              </a:lnSpc>
              <a:buNone/>
            </a:pPr>
            <a:r>
              <a:rPr lang="ar-SA" altLang="en-US" sz="2000" b="1" dirty="0">
                <a:solidFill>
                  <a:srgbClr val="1B2A4A"/>
                </a:solidFill>
                <a:latin typeface="Tahoma" pitchFamily="34" charset="0"/>
                <a:ea typeface="Tahoma" pitchFamily="34" charset="-122"/>
                <a:cs typeface="Tahoma" pitchFamily="34" charset="-120"/>
              </a:rPr>
              <a:t>لقد أكملتنّ رحلتكنّ العلمية في عالم المخلوقات الحية الدقيقة.</a:t>
            </a:r>
            <a:endParaRPr lang="ar-SA" sz="2000" dirty="0"/>
          </a:p>
        </p:txBody>
      </p:sp>
      <p:sp>
        <p:nvSpPr>
          <p:cNvPr id="4" name="x_t2"/>
          <p:cNvSpPr txBox="1"/>
          <p:nvPr/>
        </p:nvSpPr>
        <p:spPr>
          <a:xfrm>
            <a:off x="3566160" y="5257800"/>
            <a:ext cx="5056632" cy="594360"/>
          </a:xfrm>
          <a:prstGeom prst="roundRect">
            <a:avLst>
              <a:gd name="adj" fmla="val 49231"/>
            </a:avLst>
          </a:prstGeom>
          <a:solidFill>
            <a:srgbClr val="0E8F68"/>
          </a:solidFill>
          <a:ln/>
        </p:spPr>
        <p:txBody>
          <a:bodyPr wrap="square" lIns="762" tIns="762" rIns="762" bIns="762" rtlCol="0" anchor="ctr"/>
          <a:lstStyle/>
          <a:p>
            <a:pPr rtl="1" algn="ctr" indent="0" marL="0">
              <a:lnSpc>
                <a:spcPct val="108000"/>
              </a:lnSpc>
              <a:buNone/>
            </a:pPr>
            <a:r>
              <a:rPr lang="ar-SA" altLang="en-US" sz="2200" b="1" dirty="0">
                <a:solidFill>
                  <a:srgbClr val="FFFFFF"/>
                </a:solidFill>
                <a:latin typeface="Tahoma" pitchFamily="34" charset="0"/>
                <a:ea typeface="Tahoma" pitchFamily="34" charset="-122"/>
                <a:cs typeface="Tahoma" pitchFamily="34" charset="-120"/>
              </a:rPr>
              <a:t>بالعلم نكتشف، وبالتفكير نبدع ✨</a:t>
            </a:r>
            <a:endParaRPr lang="ar-SA" sz="2200" dirty="0"/>
          </a:p>
        </p:txBody>
      </p:sp>
      <p:sp>
        <p:nvSpPr>
          <p:cNvPr id="5" name="x_t3"/>
          <p:cNvSpPr txBox="1"/>
          <p:nvPr/>
        </p:nvSpPr>
        <p:spPr>
          <a:xfrm>
            <a:off x="4041648" y="5943600"/>
            <a:ext cx="4114800" cy="411480"/>
          </a:xfrm>
          <a:prstGeom prst="rect">
            <a:avLst/>
          </a:prstGeom>
          <a:noFill/>
          <a:ln/>
        </p:spPr>
        <p:txBody>
          <a:bodyPr wrap="square" lIns="762" tIns="762" rIns="762" bIns="762" rtlCol="0" anchor="ctr"/>
          <a:lstStyle/>
          <a:p>
            <a:pPr rtl="1" algn="ctr" indent="0" marL="0">
              <a:lnSpc>
                <a:spcPct val="108000"/>
              </a:lnSpc>
              <a:buNone/>
            </a:pPr>
            <a:r>
              <a:rPr lang="ar-SA" altLang="en-US" sz="1700" b="1" dirty="0">
                <a:solidFill>
                  <a:srgbClr val="1B2A4A"/>
                </a:solidFill>
                <a:latin typeface="Tahoma" pitchFamily="34" charset="0"/>
                <a:ea typeface="Tahoma" pitchFamily="34" charset="-122"/>
                <a:cs typeface="Tahoma" pitchFamily="34" charset="-120"/>
              </a:rPr>
              <a:t>إعداد وتنفيذ: أ/ شامه البقمي</a:t>
            </a:r>
            <a:endParaRPr lang="ar-SA" sz="1700" dirty="0"/>
          </a:p>
        </p:txBody>
      </p:sp>
      <p:pic>
        <p:nvPicPr>
          <p:cNvPr id="6" name="s29_pic_1" descr="كأس">    </p:cNvPr>
          <p:cNvPicPr>
            <a:picLocks noChangeAspect="1"/>
          </p:cNvPicPr>
          <p:nvPr/>
        </p:nvPicPr>
        <p:blipFill>
          <a:blip r:embed="rId3"/>
          <a:stretch>
            <a:fillRect/>
          </a:stretch>
        </p:blipFill>
        <p:spPr>
          <a:xfrm>
            <a:off x="5413248" y="3154680"/>
            <a:ext cx="1371600" cy="1371600"/>
          </a:xfrm>
          <a:prstGeom prst="rect">
            <a:avLst/>
          </a:prstGeom>
        </p:spPr>
      </p:pic>
      <p:sp>
        <p:nvSpPr>
          <p:cNvPr id="7" name="s29_t_2">
            <a:hlinkClick r:id="rId4" tooltip="🗺 العودة إلى الخريطة" action="ppaction://hlinksldjump"/>
          </p:cNvPr>
          <p:cNvSpPr txBox="1"/>
          <p:nvPr/>
        </p:nvSpPr>
        <p:spPr>
          <a:xfrm>
            <a:off x="9601200" y="5989320"/>
            <a:ext cx="2286000" cy="411480"/>
          </a:xfrm>
          <a:prstGeom prst="roundRect">
            <a:avLst>
              <a:gd name="adj" fmla="val 50000"/>
            </a:avLst>
          </a:prstGeom>
          <a:solidFill>
            <a:srgbClr val="0FA3B8"/>
          </a:solidFill>
          <a:ln w="254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 العودة إلى الخريطة</a:t>
            </a:r>
            <a:endParaRPr lang="ar-SA" sz="1600" dirty="0"/>
          </a:p>
        </p:txBody>
      </p:sp>
    </p:spTree>
  </p:cSld>
  <p:clrMapOvr>
    <a:masterClrMapping/>
  </p:clrMapOvr>
  <mc:AlternateContent xmlns:mc="http://schemas.openxmlformats.org/markup-compatibility/2006">
    <mc:Choice xmlns:p14="http://schemas.microsoft.com/office/powerpoint/2010/main" Requires="p14">
      <p:transition spd="slow" p14:dur="1400">
        <p14:glitter dir="l" pattern="hexagon"/>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9" presetID="53" presetClass="entr" presetSubtype="16"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 calcmode="lin" valueType="num">
                                      <p:cBhvr>
                                        <p:cTn id="6" dur="500" fill="hold"/>
                                        <p:tgtEl>
                                          <p:spTgt spid="2"/>
                                        </p:tgtEl>
                                        <p:attrNameLst>
                                          <p:attrName>ppt_w</p:attrName>
                                        </p:attrNameLst>
                                      </p:cBhvr>
                                      <p:tavLst>
                                        <p:tav tm="0">
                                          <p:val>
                                            <p:fltVal val="0"/>
                                          </p:val>
                                        </p:tav>
                                        <p:tav tm="100000">
                                          <p:val>
                                            <p:strVal val="#ppt_w"/>
                                          </p:val>
                                        </p:tav>
                                      </p:tavLst>
                                    </p:anim>
                                    <p:anim calcmode="lin" valueType="num">
                                      <p:cBhvr>
                                        <p:cTn id="7" dur="500" fill="hold"/>
                                        <p:tgtEl>
                                          <p:spTgt spid="2"/>
                                        </p:tgtEl>
                                        <p:attrNameLst>
                                          <p:attrName>ppt_h</p:attrName>
                                        </p:attrNameLst>
                                      </p:cBhvr>
                                      <p:tavLst>
                                        <p:tav tm="0">
                                          <p:val>
                                            <p:fltVal val="0"/>
                                          </p:val>
                                        </p:tav>
                                        <p:tav tm="100000">
                                          <p:val>
                                            <p:strVal val="#ppt_h"/>
                                          </p:val>
                                        </p:tav>
                                      </p:tavLst>
                                    </p:anim>
                                    <p:animEffect transition="in" filter="fade">
                                      <p:cBhvr>
                                        <p:cTn id="8" dur="500"/>
                                        <p:tgtEl>
                                          <p:spTgt spid="2"/>
                                        </p:tgtEl>
                                      </p:cBhvr>
                                    </p:animEffect>
                                  </p:childTnLst>
                                </p:cTn>
                              </p:par>
                              <p:par>
                                <p:cTn id="12" presetID="10" presetClass="entr" presetSubtype="0" fill="hold" grpId="0" nodeType="withEffect">
                                  <p:stCondLst>
                                    <p:cond delay="30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3" fill="hold">
                            <p:stCondLst>
                              <p:cond delay="800"/>
                            </p:stCondLst>
                            <p:childTnLst>
                              <p:par>
                                <p:cTn id="18" presetID="53" presetClass="entr" presetSubtype="16"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ppt_w</p:attrName>
                                        </p:attrNameLst>
                                      </p:cBhvr>
                                      <p:tavLst>
                                        <p:tav tm="0">
                                          <p:val>
                                            <p:fltVal val="0"/>
                                          </p:val>
                                        </p:tav>
                                        <p:tav tm="100000">
                                          <p:val>
                                            <p:strVal val="#ppt_w"/>
                                          </p:val>
                                        </p:tav>
                                      </p:tavLst>
                                    </p:anim>
                                    <p:anim calcmode="lin" valueType="num">
                                      <p:cBhvr>
                                        <p:cTn id="16" dur="500" fill="hold"/>
                                        <p:tgtEl>
                                          <p:spTgt spid="4"/>
                                        </p:tgtEl>
                                        <p:attrNameLst>
                                          <p:attrName>ppt_h</p:attrName>
                                        </p:attrNameLst>
                                      </p:cBhvr>
                                      <p:tavLst>
                                        <p:tav tm="0">
                                          <p:val>
                                            <p:fltVal val="0"/>
                                          </p:val>
                                        </p:tav>
                                        <p:tav tm="100000">
                                          <p:val>
                                            <p:strVal val="#ppt_h"/>
                                          </p:val>
                                        </p:tav>
                                      </p:tavLst>
                                    </p:anim>
                                    <p:animEffect transition="in" filter="fade">
                                      <p:cBhvr>
                                        <p:cTn id="17" dur="500"/>
                                        <p:tgtEl>
                                          <p:spTgt spid="4"/>
                                        </p:tgtEl>
                                      </p:cBhvr>
                                    </p:animEffect>
                                  </p:childTnLst>
                                </p:cTn>
                              </p:par>
                              <p:par>
                                <p:cTn id="21" presetID="10" presetClass="entr" presetSubtype="0" fill="hold" grpId="0" nodeType="withEffect">
                                  <p:stCondLst>
                                    <p:cond delay="30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Aquatic Whiteboard">
  <a:themeElements>
    <a:clrScheme name="Aquatic Whiteboard">
      <a:dk1>
        <a:srgbClr val="34405E"/>
      </a:dk1>
      <a:lt1>
        <a:srgbClr val="FFFFFF"/>
      </a:lt1>
      <a:dk2>
        <a:srgbClr val="1F6F8B"/>
      </a:dk2>
      <a:lt2>
        <a:srgbClr val="F2FBFF"/>
      </a:lt2>
      <a:accent1>
        <a:srgbClr val="3CC2B0"/>
      </a:accent1>
      <a:accent2>
        <a:srgbClr val="4FB1E3"/>
      </a:accent2>
      <a:accent3>
        <a:srgbClr val="5DBB63"/>
      </a:accent3>
      <a:accent4>
        <a:srgbClr val="F5C242"/>
      </a:accent4>
      <a:accent5>
        <a:srgbClr val="F28BB0"/>
      </a:accent5>
      <a:accent6>
        <a:srgbClr val="9B83E0"/>
      </a:accent6>
      <a:hlink>
        <a:srgbClr val="1F6F8B"/>
      </a:hlink>
      <a:folHlink>
        <a:srgbClr val="9B83E0"/>
      </a:folHlink>
    </a:clrScheme>
    <a:fontScheme name="Aquatic Whiteboard">
      <a:majorFont>
        <a:latin typeface="Tahom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ahom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متحف المخلوقات الحية الدقيقة</dc:title>
  <dc:subject>العلوم – الصف السادس الابتدائي</dc:subject>
  <dc:creator>أ/ شامه البقمي</dc:creator>
  <cp:lastModifiedBy>أ/ شامه البقمي</cp:lastModifiedBy>
  <cp:revision>1</cp:revision>
  <dcterms:created xsi:type="dcterms:W3CDTF">2026-10-18T20:14:30Z</dcterms:created>
  <dcterms:modified xsi:type="dcterms:W3CDTF">2026-10-18T20:14:30Z</dcterms:modified>
</cp:coreProperties>
</file>