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بوابة المغامرة (دقيقة واحدة) – بداية الدرس ص١٠٤. الاستراتيجية: التهيئة والترحيب.</a:t>
            </a:r>
          </a:p>
          <a:p>
            <a:r>
              <a:t>العناصر تظهر تلقائيًا. رحّبي بالطالبات مع نورة، ثم اضغطي «هيا ننطلق!» أو انتقلي للشريحة التالية.</a:t>
            </a:r>
          </a:p>
          <a:p>
            <a:r>
              <a:t>اكتبي اليوم والتاريخ في الفراغات قبل الحصة.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القوانين الصفية (من تصميم المعلمة). الاستراتيجية: إدارة الصف – التعزيز الإيجابي.</a:t>
            </a:r>
          </a:p>
          <a:p>
            <a:r>
              <a:t>اقرئي القوانين مع الطالبات، وذكّري بالنقاط الذهبية لمن تلتزم.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العلم – ﴿رَبِّ اجْعَلْ هَٰذَا الْبَلَدَ آمِنًا﴾ (من تصميم المعلمة). الاستراتيجية: الانتماء الوطني.</a:t>
            </a:r>
          </a:p>
          <a:p>
            <a:r>
              <a:t>ملاحظة: زر التشغيل جزء من الصورة؛ إذا أردتِ فيديو حقيقيًا للعلم أرسليه ليُضاف مكانه.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خريطة الرحلة واستراتيجيات الدرس. كل نقرة تُظهر نصف المحطات.</a:t>
            </a:r>
          </a:p>
          <a:p>
            <a:r>
              <a:t>اقرئي أسماء المحطات بحماس: «سيمرّ قطارنا اليوم على عشر محطات!»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١ – قطار الذكريات (٣ دقائق). الاستراتيجية: شريط الذكريات (مراجعة درس الصحاري الحارة والباردة).</a:t>
            </a:r>
          </a:p>
          <a:p>
            <a:r>
              <a:t>اقرئي السؤال من اليمين، استمعي للطالبات، ثم انقري لتظهر الإجابة مع «أحسنتِ يا مستكشفة!».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٢ – نافذة الغابة (ص١٠٤). الاستراتيجية: أنظر وأتساءل.</a:t>
            </a:r>
          </a:p>
          <a:p>
            <a:r>
              <a:t>صورة غلاف الدرس من الكتاب مكبّرة. اطرحي سؤال الكتاب كما هو، ولا تذكري الإجابة الآن؛ سنعود إليه في «أفكر وأتحدث وأكتب».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ألاحظ – أتوقع – أفسّر (ص١٠٤). كل نقرة تُظهر سؤالًا ثم الإجابة المتوقعة.</a:t>
            </a:r>
          </a:p>
          <a:p>
            <a:r>
              <a:t>اجمعي توقعات الطالبات قبل إظهار الإجابة، ولا تصححي الآن؛ نتحقق منها في المختبر والقراءة. الإجابات من إعداد المعلمة.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٣ – المختبر الافتراضي (نشاط أستكشف ص١٠٥: ما الغابة؟) في شريحة واحدة. الاستراتيجية: المختبر الافتراضي + الاستقصاء.</a:t>
            </a:r>
          </a:p>
          <a:p>
            <a:r>
              <a:t>تنقر الطالبة على الأدوات بالترتيب من ١ إلى ٨: كل أداة تطير إلى الوعاء، ويظهر أثرها فيه (التربة، الصخور، النبات، الماء، الحشرة، ورق التغليف والثقوب)، ويظهر نص الخطوة من الكتاب في الشريط السفلي، وعلامة ✔ على الأداة.</a:t>
            </a:r>
          </a:p>
          <a:p>
            <a:r>
              <a:t>بعدها: زر «قرب النافذة» يضيء الوعاء بأشعة الشمس، وزر «بعد أيام» يُظهر قطرات الماء على الجدار ونمو النبات.</a:t>
            </a:r>
          </a:p>
          <a:p>
            <a:r>
              <a:t>خطوة الوعاء والملعقة صياغتها من إعداد المعلمة؛ بقية النصوص من الكتاب. يمكن تنفيذ النشاط الحقيقي بعد العرض.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لوحة الملاحظة (ص١٠٥ – الخطوة ٣). الملاحظات المتوقعة من إعداد المعلمة؛ استبدليها بما تسجّله الطالبات فعلًا.</a:t>
            </a:r>
          </a:p>
          <a:p>
            <a:r>
              <a:t>ثم «أستكشف أكثر» (الخطوة ٤ من الكتاب)، والإجابة المتوقعة مستندة إلى نص الكتاب ص١٠٦ (تتغير ألوان الأوراق وتتساقط).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٤ – أقرأ وأتعلم (ص١٠٦). الاستراتيجية: بطاقات المفردات.</a:t>
            </a:r>
          </a:p>
          <a:p>
            <a:r>
              <a:t>اقرئي السؤال الأساسي. ثم انقري على اسم المفردة نفسه ليظهر معناها (من نص الكتاب) ونجمة. يمكن فتحها بأي ترتيب.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كيف تبدو الغابة؟ (ص١٠٦). الاستراتيجية: التعلم البصري – القراءة الموجهة. كل نقرة تُظهر جملة من نص الكتاب.</a:t>
            </a:r>
          </a:p>
          <a:p>
            <a:r>
              <a:t>بعد الجملة الثالثة اسألي: ماذا يحدث للأوراق في الخريف؟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٥ – من يسكن الغابة؟ (الحياة في الغابة ص١٠٦). الاستراتيجية: من أنا؟</a:t>
            </a:r>
          </a:p>
          <a:p>
            <a:r>
              <a:t>اقرئي اللغز (صيغة «أنا» من إعداد المعلمة اعتمادًا على نص الكتاب)، واستمعي للتخمينات، ثم انقري على دائرة «؟» لتظهر صورة الكتاب واسم الحيوان.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أقرأ اللوحة (ص١٠٦). الاستراتيجية: قراءة الصور – التفكير الناقد. انقري على بطاقة السؤال لتظهر الإجابة (من نص الكتاب).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سر التخفي (ص١٠٦). الاستراتيجية: التفكير الناقد. اسألي: لماذا لا يراه المفترس بسهولة؟</a:t>
            </a:r>
          </a:p>
          <a:p>
            <a:r>
              <a:t>سؤال الكتاب ✔: انقري على السؤال لتظهر الإجابة (مبسّطة من نص الكتاب ص١٠٦).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٦ – الغابة المطيرة (ص١٠٧). الاستراتيجية: التعلم البصري. كل نقرة تُظهر جملة من نص الكتاب، ومعها صورة الببغاء ثم النمر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الكتاب ✔ (ص١٠٧). الاستراتيجية: فكّري – زاوجي – شاركي. دقيقة تفكير مع الزميلة، ثم انقري على السؤال لتظهر الإجابة.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الكتاب (ص١٠٧): أقارن بين نباتات الغابة ونباتات الصحراء. الاستراتيجية: السبورة المنظمة – المقارنة.</a:t>
            </a:r>
          </a:p>
          <a:p>
            <a:r>
              <a:t>كل نقرة: الأولى تُظهر عنوان الصف، والثانية تكتب الإجابات. اطلبي الإجابة من الطالبات قبل إظهارها.</a:t>
            </a:r>
          </a:p>
          <a:p>
            <a:r>
              <a:t>عمود الصحراء ربط بالدرس السابق؛ وعمود الغابة المطيرة إضافة للمقارنة من نص ص١٠٧.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٧ – قصة في بلدي (1 من ٤). الاستراتيجية: التعلم بالقصة + الربط الوطني.</a:t>
            </a:r>
          </a:p>
          <a:p>
            <a:r>
              <a:t>القصة من إعداد المعلمة، ومعلوماتها من «قراءة علمية: غابات في المملكة العربية السعودية» ص١٠٨.</a:t>
            </a:r>
          </a:p>
          <a:p>
            <a:r>
              <a:t>اقرئي القصة بصوت قصصي، ودعي الطالبات يقرأن فقاعة نورة.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٧ – قصة في بلدي (2 من ٤). الاستراتيجية: التعلم بالقصة + الربط الوطني.</a:t>
            </a:r>
          </a:p>
          <a:p>
            <a:r>
              <a:t>القصة من إعداد المعلمة، ومعلوماتها من «قراءة علمية: غابات في المملكة العربية السعودية» ص١٠٨.</a:t>
            </a:r>
          </a:p>
          <a:p>
            <a:r>
              <a:t>اقرئي القصة بصوت قصصي، ودعي الطالبات يقرأن فقاعة نورة.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٧ – قصة في بلدي (3 من ٤). الاستراتيجية: التعلم بالقصة + الربط الوطني.</a:t>
            </a:r>
          </a:p>
          <a:p>
            <a:r>
              <a:t>القصة من إعداد المعلمة، ومعلوماتها من «قراءة علمية: غابات في المملكة العربية السعودية» ص١٠٨.</a:t>
            </a:r>
          </a:p>
          <a:p>
            <a:r>
              <a:t>اقرئي القصة بصوت قصصي، ودعي الطالبات يقرأن فقاعة نورة.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قصة في بلدي (٤ من ٤) – أهمية غابات المملكة (ص١٠٨ بنص الكتاب). الاستراتيجية: ربط وطني.</a:t>
            </a:r>
          </a:p>
          <a:p>
            <a:r>
              <a:t>شعار رؤية ٢٠٣٠ في الكتاب: «الربط مع رؤية ٢٠٣٠ – مجتمع حيوي – ٢٫٤٫٣ حماية وتهيئة المناطق الطبيعية».</a:t>
            </a:r>
          </a:p>
          <a:p>
            <a:r>
              <a:t>اسألي: ماذا نفعل نحن لنحافظ على الأشجار؟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«أتحدث عن» من صفحة ١٠٨. الاستراتيجية: المناقشة والحوار. انقري على السؤال لتظهر إجابة مقترحة (من إعداد المعلمة).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٨ – اكتشفي الخطأ (مراجعة ص١٠٤–١٠٨). الاستراتيجية: تصحيح المفاهيم (البطاقات الملونة: أخضر صح، أحمر خطأ).</a:t>
            </a:r>
          </a:p>
          <a:p>
            <a:r>
              <a:t>اقرئي العبارة واسألي: صح أم خطأ؟ ثم انقري على العبارة ليظهر التصحيح. هذه تصورات شائعة وليست أخطاء صدرت من الطالبات.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٨ – تحدي المواطن. الاستراتيجية: التعلم باللعب – التصنيف (تحقق ذاتي).</a:t>
            </a:r>
          </a:p>
          <a:p>
            <a:r>
              <a:t>تقول الطالبة موطن الحيوان، ثم تنقر على صورته فيظهر الموطن الصحيح ونجمة. الصور من الكتاب ص١٠٦–١٠٧.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٩ – أفكر وأتحدث وأكتب، السؤال ١ (ص١٠٧) بنص الكتاب. الاستراتيجية: فكّري – تحدثي – اكتبي.</a:t>
            </a:r>
          </a:p>
          <a:p>
            <a:r>
              <a:t>دقيقة تفكير، ثم تتحدث الطالبة لزميلتها، ثم تكتب في كتابها. انقري على السؤال لتظهر الإجابة.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٩ – أفكر وأتحدث وأكتب، السؤال ٢ (ص١٠٧) بنص الكتاب. الاستراتيجية: فكّري – تحدثي – اكتبي.</a:t>
            </a:r>
          </a:p>
          <a:p>
            <a:r>
              <a:t>دقيقة تفكير، ثم تتحدث الطالبة لزميلتها، ثم تكتب في كتابها. انقري على السؤال لتظهر الإجابة.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٩ – أفكر وأتحدث وأكتب، السؤال ٣ (ص١٠٧) بنص الكتاب. الاستراتيجية: فكّري – تحدثي – اكتبي.</a:t>
            </a:r>
          </a:p>
          <a:p>
            <a:r>
              <a:t>دقيقة تفكير، ثم تتحدث الطالبة لزميلتها، ثم تكتب في كتابها. انقري على السؤال لتظهر الإجابة.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العلوم والفن (ص١٠٧) كما ورد في الكتاب. يمكن تنفيذه في نهاية الحصة أو واجبًا منزليًا. المثال من إعداد المعلمة.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١٠ – كنز المعرفة. الاستراتيجية: تذكرة الخروج.</a:t>
            </a:r>
          </a:p>
          <a:p>
            <a:r>
              <a:t>انقري على كل سؤال لتظهر إجابته، ثم انقري على صندوق الكنز لتظهر رسالة التعزيز.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الختام: خريطة الرحلة من المدرسة إلى الغابة والغابة المطيرة وغابة رغدان. راجعي المحطات على الخريطة، وودّعي الطالبات مع نورة.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Relationship Id="rId6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Relationship Id="rId14" Type="http://schemas.openxmlformats.org/officeDocument/2006/relationships/image" Target="../media/image22.png"/><Relationship Id="rId15" Type="http://schemas.openxmlformats.org/officeDocument/2006/relationships/image" Target="../media/image23.png"/><Relationship Id="rId16" Type="http://schemas.openxmlformats.org/officeDocument/2006/relationships/image" Target="../media/image24.png"/><Relationship Id="rId17" Type="http://schemas.openxmlformats.org/officeDocument/2006/relationships/image" Target="../media/image25.png"/><Relationship Id="rId18" Type="http://schemas.openxmlformats.org/officeDocument/2006/relationships/image" Target="../media/image26.png"/><Relationship Id="rId19" Type="http://schemas.openxmlformats.org/officeDocument/2006/relationships/image" Target="../media/image27.png"/><Relationship Id="rId20" Type="http://schemas.openxmlformats.org/officeDocument/2006/relationships/image" Target="../media/image28.png"/><Relationship Id="rId21" Type="http://schemas.openxmlformats.org/officeDocument/2006/relationships/image" Target="../media/image29.png"/><Relationship Id="rId22" Type="http://schemas.openxmlformats.org/officeDocument/2006/relationships/image" Target="../media/image30.png"/><Relationship Id="rId23" Type="http://schemas.openxmlformats.org/officeDocument/2006/relationships/image" Target="../media/image31.png"/><Relationship Id="rId24" Type="http://schemas.openxmlformats.org/officeDocument/2006/relationships/image" Target="../media/image9.png"/><Relationship Id="rId2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33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3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37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41.jp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3.png"/><Relationship Id="rId4" Type="http://schemas.openxmlformats.org/officeDocument/2006/relationships/image" Target="../media/image43.jp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44.jpg"/><Relationship Id="rId4" Type="http://schemas.openxmlformats.org/officeDocument/2006/relationships/image" Target="../media/image32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34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37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45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6.png"/><Relationship Id="rId4" Type="http://schemas.openxmlformats.org/officeDocument/2006/relationships/image" Target="../media/image32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t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3703320"/>
            <a:ext cx="6035040" cy="165343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011680" y="320040"/>
            <a:ext cx="8138160" cy="914400"/>
          </a:xfrm>
          <a:prstGeom prst="roundRect">
            <a:avLst>
              <a:gd name="adj" fmla="val 18000"/>
            </a:avLst>
          </a:prstGeom>
          <a:solidFill>
            <a:srgbClr val="2E7D32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600" lang="ar-SA">
                <a:solidFill>
                  <a:srgbClr val="FFFFFF"/>
                </a:solidFill>
                <a:latin typeface="Arial"/>
                <a:cs typeface="Arial"/>
              </a:rPr>
              <a:t>رحلة المستكشفات إلى الغابة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463040"/>
            <a:ext cx="5120640" cy="2057400"/>
          </a:xfrm>
          <a:prstGeom prst="roundRect">
            <a:avLst>
              <a:gd name="adj" fmla="val 8000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200" lang="ar-SA">
                <a:solidFill>
                  <a:srgbClr val="E8505B"/>
                </a:solidFill>
                <a:latin typeface="Arial"/>
                <a:cs typeface="Arial"/>
              </a:rPr>
              <a:t>المادة: </a:t>
            </a:r>
            <a:r>
              <a:rPr b="1" sz="2200" lang="ar-SA">
                <a:solidFill>
                  <a:srgbClr val="1E2A3A"/>
                </a:solidFill>
                <a:latin typeface="Arial"/>
                <a:cs typeface="Arial"/>
              </a:rPr>
              <a:t>العلوم</a:t>
            </a:r>
          </a:p>
          <a:p>
            <a:pPr algn="r" rtl="1"/>
            <a:r>
              <a:rPr b="1" sz="2200" lang="ar-SA">
                <a:solidFill>
                  <a:srgbClr val="E8505B"/>
                </a:solidFill>
                <a:latin typeface="Arial"/>
                <a:cs typeface="Arial"/>
              </a:rPr>
              <a:t>الصف: </a:t>
            </a:r>
            <a:r>
              <a:rPr b="1" sz="2200" lang="ar-SA">
                <a:solidFill>
                  <a:srgbClr val="1E2A3A"/>
                </a:solidFill>
                <a:latin typeface="Arial"/>
                <a:cs typeface="Arial"/>
              </a:rPr>
              <a:t>الثاني الابتدائي</a:t>
            </a:r>
          </a:p>
          <a:p>
            <a:pPr algn="r" rtl="1"/>
            <a:r>
              <a:rPr b="1" sz="2200" lang="ar-SA">
                <a:solidFill>
                  <a:srgbClr val="E8505B"/>
                </a:solidFill>
                <a:latin typeface="Arial"/>
                <a:cs typeface="Arial"/>
              </a:rPr>
              <a:t>الدرس الثاني: </a:t>
            </a:r>
            <a:r>
              <a:rPr b="1" sz="2200" lang="ar-SA">
                <a:solidFill>
                  <a:srgbClr val="1E2A3A"/>
                </a:solidFill>
                <a:latin typeface="Arial"/>
                <a:cs typeface="Arial"/>
              </a:rPr>
              <a:t>الغابات</a:t>
            </a:r>
          </a:p>
          <a:p>
            <a:pPr algn="r" rtl="1"/>
            <a:r>
              <a:rPr b="1" sz="2200" lang="ar-SA">
                <a:solidFill>
                  <a:srgbClr val="E8505B"/>
                </a:solidFill>
                <a:latin typeface="Arial"/>
                <a:cs typeface="Arial"/>
              </a:rPr>
              <a:t>اليوم: </a:t>
            </a:r>
            <a:r>
              <a:rPr b="1" sz="2200" lang="ar-SA">
                <a:solidFill>
                  <a:srgbClr val="1E2A3A"/>
                </a:solidFill>
                <a:latin typeface="Arial"/>
                <a:cs typeface="Arial"/>
              </a:rPr>
              <a:t>........   </a:t>
            </a:r>
            <a:r>
              <a:rPr b="1" sz="2200" lang="ar-SA">
                <a:solidFill>
                  <a:srgbClr val="E8505B"/>
                </a:solidFill>
                <a:latin typeface="Arial"/>
                <a:cs typeface="Arial"/>
              </a:rPr>
              <a:t>التاريخ: </a:t>
            </a:r>
            <a:r>
              <a:rPr b="1" sz="2200" lang="ar-SA">
                <a:solidFill>
                  <a:srgbClr val="1E2A3A"/>
                </a:solidFill>
                <a:latin typeface="Arial"/>
                <a:cs typeface="Arial"/>
              </a:rPr>
              <a:t>..../..../١٤٤٨هـ</a:t>
            </a:r>
          </a:p>
        </p:txBody>
      </p:sp>
      <p:pic>
        <p:nvPicPr>
          <p:cNvPr id="6" name="Picture 5" descr="noura_wa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2834640"/>
            <a:ext cx="2171700" cy="3474720"/>
          </a:xfrm>
          <a:prstGeom prst="rect">
            <a:avLst/>
          </a:prstGeom>
        </p:spPr>
      </p:pic>
      <p:sp>
        <p:nvSpPr>
          <p:cNvPr id="7" name="Rounded Rectangular Callout 6"/>
          <p:cNvSpPr/>
          <p:nvPr/>
        </p:nvSpPr>
        <p:spPr>
          <a:xfrm>
            <a:off x="320040" y="1508760"/>
            <a:ext cx="3566160" cy="1417320"/>
          </a:xfrm>
          <a:prstGeom prst="wedgeRoundRectCallout">
            <a:avLst>
              <a:gd name="adj1" fmla="val 62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E85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900" lang="ar-SA">
                <a:solidFill>
                  <a:srgbClr val="E8505B"/>
                </a:solidFill>
                <a:latin typeface="Arial"/>
                <a:cs typeface="Arial"/>
              </a:rPr>
              <a:t>نورة: </a:t>
            </a:r>
            <a:r>
              <a:rPr b="1" sz="1900" lang="ar-SA">
                <a:solidFill>
                  <a:srgbClr val="1E2A3A"/>
                </a:solidFill>
                <a:latin typeface="Arial"/>
                <a:cs typeface="Arial"/>
              </a:rPr>
              <a:t>مرحبًا بمستكشفاتي الصغيرات! اليوم نركب القطار إلى الغابة!</a:t>
            </a:r>
          </a:p>
        </p:txBody>
      </p:sp>
      <p:sp>
        <p:nvSpPr>
          <p:cNvPr id="8" name="Rounded Rectangle 7">
            <a:hlinkClick action="ppaction://hlinksldjump" r:id="rId6"/>
          </p:cNvPr>
          <p:cNvSpPr/>
          <p:nvPr/>
        </p:nvSpPr>
        <p:spPr>
          <a:xfrm>
            <a:off x="548640" y="5120640"/>
            <a:ext cx="2743200" cy="7315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800" lang="ar-SA">
                <a:solidFill>
                  <a:srgbClr val="FFFFFF"/>
                </a:solidFill>
                <a:latin typeface="Arial"/>
                <a:cs typeface="Arial"/>
              </a:rPr>
              <a:t>هيا ننطلق! 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0" y="6400800"/>
            <a:ext cx="32004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إعداد وتنفيذ: أ/ شامه البقمي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u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t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2E7D3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خريطة رحلتنا اليوم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خطة الدرس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44568" y="6400800"/>
            <a:ext cx="310896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صفحات ١٠٤ – ١٠٨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143000"/>
            <a:ext cx="5577840" cy="896112"/>
          </a:xfrm>
          <a:prstGeom prst="roundRect">
            <a:avLst>
              <a:gd name="adj" fmla="val 18367"/>
            </a:avLst>
          </a:prstGeom>
          <a:solidFill>
            <a:srgbClr val="FFFFFF">
              <a:alpha val="94000"/>
            </a:srgbClr>
          </a:solidFill>
          <a:ln w="3175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>
              <a:lnSpc>
                <a:spcPct val="95000"/>
              </a:lnSpc>
            </a:pPr>
            <a:r>
              <a:rPr b="1" sz="2000" lang="ar-SA">
                <a:solidFill>
                  <a:srgbClr val="E8505B"/>
                </a:solidFill>
                <a:latin typeface="Arial"/>
                <a:cs typeface="Arial"/>
              </a:rPr>
              <a:t>المحطة ١: </a:t>
            </a:r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قطار الذكريات</a:t>
            </a:r>
          </a:p>
          <a:p>
            <a:pPr algn="r" rtl="1">
              <a:lnSpc>
                <a:spcPct val="95000"/>
              </a:lnSpc>
            </a:pPr>
            <a:r>
              <a:rPr b="1" sz="1500" lang="ar-SA">
                <a:solidFill>
                  <a:srgbClr val="2471A3"/>
                </a:solidFill>
                <a:latin typeface="Arial"/>
                <a:cs typeface="Arial"/>
              </a:rPr>
              <a:t>شريط الذكريات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67128"/>
            <a:ext cx="5577840" cy="896112"/>
          </a:xfrm>
          <a:prstGeom prst="roundRect">
            <a:avLst>
              <a:gd name="adj" fmla="val 18367"/>
            </a:avLst>
          </a:prstGeom>
          <a:solidFill>
            <a:srgbClr val="FFFFFF">
              <a:alpha val="94000"/>
            </a:srgbClr>
          </a:solidFill>
          <a:ln w="3175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>
              <a:lnSpc>
                <a:spcPct val="95000"/>
              </a:lnSpc>
            </a:pPr>
            <a:r>
              <a:rPr b="1" sz="2000" lang="ar-SA">
                <a:solidFill>
                  <a:srgbClr val="E8505B"/>
                </a:solidFill>
                <a:latin typeface="Arial"/>
                <a:cs typeface="Arial"/>
              </a:rPr>
              <a:t>المحطة ٢: </a:t>
            </a:r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نافذة الغابة</a:t>
            </a:r>
          </a:p>
          <a:p>
            <a:pPr algn="r" rtl="1">
              <a:lnSpc>
                <a:spcPct val="95000"/>
              </a:lnSpc>
            </a:pPr>
            <a:r>
              <a:rPr b="1" sz="1500" lang="ar-SA">
                <a:solidFill>
                  <a:srgbClr val="2471A3"/>
                </a:solidFill>
                <a:latin typeface="Arial"/>
                <a:cs typeface="Arial"/>
              </a:rPr>
              <a:t>أنظر وأتساءل – ألاحظ أتوقع أفسّر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191256"/>
            <a:ext cx="5577840" cy="896112"/>
          </a:xfrm>
          <a:prstGeom prst="roundRect">
            <a:avLst>
              <a:gd name="adj" fmla="val 18367"/>
            </a:avLst>
          </a:prstGeom>
          <a:solidFill>
            <a:srgbClr val="FFFFFF">
              <a:alpha val="94000"/>
            </a:srgbClr>
          </a:solidFill>
          <a:ln w="3175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>
              <a:lnSpc>
                <a:spcPct val="95000"/>
              </a:lnSpc>
            </a:pPr>
            <a:r>
              <a:rPr b="1" sz="2000" lang="ar-SA">
                <a:solidFill>
                  <a:srgbClr val="E8505B"/>
                </a:solidFill>
                <a:latin typeface="Arial"/>
                <a:cs typeface="Arial"/>
              </a:rPr>
              <a:t>المحطة ٣: </a:t>
            </a:r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مختبر المستكشفات</a:t>
            </a:r>
          </a:p>
          <a:p>
            <a:pPr algn="r" rtl="1">
              <a:lnSpc>
                <a:spcPct val="95000"/>
              </a:lnSpc>
            </a:pPr>
            <a:r>
              <a:rPr b="1" sz="1500" lang="ar-SA">
                <a:solidFill>
                  <a:srgbClr val="2471A3"/>
                </a:solidFill>
                <a:latin typeface="Arial"/>
                <a:cs typeface="Arial"/>
              </a:rPr>
              <a:t>الاستقصاء العملي – التعلم التعاوني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4215384"/>
            <a:ext cx="5577840" cy="896112"/>
          </a:xfrm>
          <a:prstGeom prst="roundRect">
            <a:avLst>
              <a:gd name="adj" fmla="val 18367"/>
            </a:avLst>
          </a:prstGeom>
          <a:solidFill>
            <a:srgbClr val="FFFFFF">
              <a:alpha val="94000"/>
            </a:srgbClr>
          </a:solidFill>
          <a:ln w="3175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>
              <a:lnSpc>
                <a:spcPct val="95000"/>
              </a:lnSpc>
            </a:pPr>
            <a:r>
              <a:rPr b="1" sz="2000" lang="ar-SA">
                <a:solidFill>
                  <a:srgbClr val="E8505B"/>
                </a:solidFill>
                <a:latin typeface="Arial"/>
                <a:cs typeface="Arial"/>
              </a:rPr>
              <a:t>المحطة ٤: </a:t>
            </a:r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كلمات الغابة</a:t>
            </a:r>
          </a:p>
          <a:p>
            <a:pPr algn="r" rtl="1">
              <a:lnSpc>
                <a:spcPct val="95000"/>
              </a:lnSpc>
            </a:pPr>
            <a:r>
              <a:rPr b="1" sz="1500" lang="ar-SA">
                <a:solidFill>
                  <a:srgbClr val="2471A3"/>
                </a:solidFill>
                <a:latin typeface="Arial"/>
                <a:cs typeface="Arial"/>
              </a:rPr>
              <a:t>بطاقات المفردات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5239512"/>
            <a:ext cx="5577840" cy="896112"/>
          </a:xfrm>
          <a:prstGeom prst="roundRect">
            <a:avLst>
              <a:gd name="adj" fmla="val 18367"/>
            </a:avLst>
          </a:prstGeom>
          <a:solidFill>
            <a:srgbClr val="FFFFFF">
              <a:alpha val="94000"/>
            </a:srgbClr>
          </a:solidFill>
          <a:ln w="3175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>
              <a:lnSpc>
                <a:spcPct val="95000"/>
              </a:lnSpc>
            </a:pPr>
            <a:r>
              <a:rPr b="1" sz="2000" lang="ar-SA">
                <a:solidFill>
                  <a:srgbClr val="E8505B"/>
                </a:solidFill>
                <a:latin typeface="Arial"/>
                <a:cs typeface="Arial"/>
              </a:rPr>
              <a:t>المحطة ٥: </a:t>
            </a:r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من يسكن الغابة؟</a:t>
            </a:r>
          </a:p>
          <a:p>
            <a:pPr algn="r" rtl="1">
              <a:lnSpc>
                <a:spcPct val="95000"/>
              </a:lnSpc>
            </a:pPr>
            <a:r>
              <a:rPr b="1" sz="1500" lang="ar-SA">
                <a:solidFill>
                  <a:srgbClr val="2471A3"/>
                </a:solidFill>
                <a:latin typeface="Arial"/>
                <a:cs typeface="Arial"/>
              </a:rPr>
              <a:t>من أنا؟ – أقرأ اللوحة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143000"/>
            <a:ext cx="5577840" cy="896112"/>
          </a:xfrm>
          <a:prstGeom prst="roundRect">
            <a:avLst>
              <a:gd name="adj" fmla="val 18367"/>
            </a:avLst>
          </a:prstGeom>
          <a:solidFill>
            <a:srgbClr val="FFFFFF">
              <a:alpha val="94000"/>
            </a:srgbClr>
          </a:solidFill>
          <a:ln w="3175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>
              <a:lnSpc>
                <a:spcPct val="95000"/>
              </a:lnSpc>
            </a:pPr>
            <a:r>
              <a:rPr b="1" sz="2000" lang="ar-SA">
                <a:solidFill>
                  <a:srgbClr val="E8505B"/>
                </a:solidFill>
                <a:latin typeface="Arial"/>
                <a:cs typeface="Arial"/>
              </a:rPr>
              <a:t>المحطة ٦: </a:t>
            </a:r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الغابة المطيرة</a:t>
            </a:r>
          </a:p>
          <a:p>
            <a:pPr algn="r" rtl="1">
              <a:lnSpc>
                <a:spcPct val="95000"/>
              </a:lnSpc>
            </a:pPr>
            <a:r>
              <a:rPr b="1" sz="1500" lang="ar-SA">
                <a:solidFill>
                  <a:srgbClr val="2471A3"/>
                </a:solidFill>
                <a:latin typeface="Arial"/>
                <a:cs typeface="Arial"/>
              </a:rPr>
              <a:t>التعلم البصري – المقارنة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167128"/>
            <a:ext cx="5577840" cy="896112"/>
          </a:xfrm>
          <a:prstGeom prst="roundRect">
            <a:avLst>
              <a:gd name="adj" fmla="val 18367"/>
            </a:avLst>
          </a:prstGeom>
          <a:solidFill>
            <a:srgbClr val="FFFFFF">
              <a:alpha val="94000"/>
            </a:srgbClr>
          </a:solidFill>
          <a:ln w="3175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>
              <a:lnSpc>
                <a:spcPct val="95000"/>
              </a:lnSpc>
            </a:pPr>
            <a:r>
              <a:rPr b="1" sz="2000" lang="ar-SA">
                <a:solidFill>
                  <a:srgbClr val="E8505B"/>
                </a:solidFill>
                <a:latin typeface="Arial"/>
                <a:cs typeface="Arial"/>
              </a:rPr>
              <a:t>المحطة ٧: </a:t>
            </a:r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قصة في بلدي</a:t>
            </a:r>
          </a:p>
          <a:p>
            <a:pPr algn="r" rtl="1">
              <a:lnSpc>
                <a:spcPct val="95000"/>
              </a:lnSpc>
            </a:pPr>
            <a:r>
              <a:rPr b="1" sz="1500" lang="ar-SA">
                <a:solidFill>
                  <a:srgbClr val="2471A3"/>
                </a:solidFill>
                <a:latin typeface="Arial"/>
                <a:cs typeface="Arial"/>
              </a:rPr>
              <a:t>التعلم بالقصة – ربط وطني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191256"/>
            <a:ext cx="5577840" cy="896112"/>
          </a:xfrm>
          <a:prstGeom prst="roundRect">
            <a:avLst>
              <a:gd name="adj" fmla="val 18367"/>
            </a:avLst>
          </a:prstGeom>
          <a:solidFill>
            <a:srgbClr val="FFFFFF">
              <a:alpha val="94000"/>
            </a:srgbClr>
          </a:solidFill>
          <a:ln w="3175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>
              <a:lnSpc>
                <a:spcPct val="95000"/>
              </a:lnSpc>
            </a:pPr>
            <a:r>
              <a:rPr b="1" sz="2000" lang="ar-SA">
                <a:solidFill>
                  <a:srgbClr val="E8505B"/>
                </a:solidFill>
                <a:latin typeface="Arial"/>
                <a:cs typeface="Arial"/>
              </a:rPr>
              <a:t>المحطة ٨: </a:t>
            </a:r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تحديات المستكشفات</a:t>
            </a:r>
          </a:p>
          <a:p>
            <a:pPr algn="r" rtl="1">
              <a:lnSpc>
                <a:spcPct val="95000"/>
              </a:lnSpc>
            </a:pPr>
            <a:r>
              <a:rPr b="1" sz="1500" lang="ar-SA">
                <a:solidFill>
                  <a:srgbClr val="2471A3"/>
                </a:solidFill>
                <a:latin typeface="Arial"/>
                <a:cs typeface="Arial"/>
              </a:rPr>
              <a:t>تصحيح المفاهيم – التعلم باللعب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15384"/>
            <a:ext cx="5577840" cy="896112"/>
          </a:xfrm>
          <a:prstGeom prst="roundRect">
            <a:avLst>
              <a:gd name="adj" fmla="val 18367"/>
            </a:avLst>
          </a:prstGeom>
          <a:solidFill>
            <a:srgbClr val="FFFFFF">
              <a:alpha val="94000"/>
            </a:srgbClr>
          </a:solidFill>
          <a:ln w="3175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>
              <a:lnSpc>
                <a:spcPct val="95000"/>
              </a:lnSpc>
            </a:pPr>
            <a:r>
              <a:rPr b="1" sz="2000" lang="ar-SA">
                <a:solidFill>
                  <a:srgbClr val="E8505B"/>
                </a:solidFill>
                <a:latin typeface="Arial"/>
                <a:cs typeface="Arial"/>
              </a:rPr>
              <a:t>المحطة ٩: </a:t>
            </a:r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أفكر وأتحدث وأكتب</a:t>
            </a:r>
          </a:p>
          <a:p>
            <a:pPr algn="r" rtl="1">
              <a:lnSpc>
                <a:spcPct val="95000"/>
              </a:lnSpc>
            </a:pPr>
            <a:r>
              <a:rPr b="1" sz="1500" lang="ar-SA">
                <a:solidFill>
                  <a:srgbClr val="2471A3"/>
                </a:solidFill>
                <a:latin typeface="Arial"/>
                <a:cs typeface="Arial"/>
              </a:rPr>
              <a:t>فكّري – تحدثي – اكتبي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239512"/>
            <a:ext cx="5577840" cy="896112"/>
          </a:xfrm>
          <a:prstGeom prst="roundRect">
            <a:avLst>
              <a:gd name="adj" fmla="val 18367"/>
            </a:avLst>
          </a:prstGeom>
          <a:solidFill>
            <a:srgbClr val="FFFFFF">
              <a:alpha val="94000"/>
            </a:srgbClr>
          </a:solidFill>
          <a:ln w="3175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>
              <a:lnSpc>
                <a:spcPct val="95000"/>
              </a:lnSpc>
            </a:pPr>
            <a:r>
              <a:rPr b="1" sz="2000" lang="ar-SA">
                <a:solidFill>
                  <a:srgbClr val="E8505B"/>
                </a:solidFill>
                <a:latin typeface="Arial"/>
                <a:cs typeface="Arial"/>
              </a:rPr>
              <a:t>المحطة ١٠: </a:t>
            </a:r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كنز المعرفة</a:t>
            </a:r>
          </a:p>
          <a:p>
            <a:pPr algn="r" rtl="1">
              <a:lnSpc>
                <a:spcPct val="95000"/>
              </a:lnSpc>
            </a:pPr>
            <a:r>
              <a:rPr b="1" sz="1500" lang="ar-SA">
                <a:solidFill>
                  <a:srgbClr val="2471A3"/>
                </a:solidFill>
                <a:latin typeface="Arial"/>
                <a:cs typeface="Arial"/>
              </a:rPr>
              <a:t>تذكرة الخروج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t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2E7D3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قطار الذكريات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شريط الذكريات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44568" y="6400800"/>
            <a:ext cx="310896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الدرس السابق: الصحاري</a:t>
            </a:r>
          </a:p>
        </p:txBody>
      </p:sp>
      <p:pic>
        <p:nvPicPr>
          <p:cNvPr id="8" name="Picture 7" descr="t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4663440"/>
            <a:ext cx="5760720" cy="157827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92440" y="1097280"/>
            <a:ext cx="3703320" cy="1143000"/>
          </a:xfrm>
          <a:prstGeom prst="roundRect">
            <a:avLst>
              <a:gd name="adj" fmla="val 14399"/>
            </a:avLst>
          </a:prstGeom>
          <a:solidFill>
            <a:srgbClr val="FFFFFF">
              <a:alpha val="94000"/>
            </a:srgbClr>
          </a:solidFill>
          <a:ln w="50800">
            <a:solidFill>
              <a:srgbClr val="EF5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600" lang="ar-SA">
                <a:solidFill>
                  <a:srgbClr val="E8505B"/>
                </a:solidFill>
                <a:latin typeface="Arial"/>
                <a:cs typeface="Arial"/>
              </a:rPr>
              <a:t>١  </a:t>
            </a:r>
            <a:r>
              <a:rPr b="1" sz="2100" lang="ar-SA">
                <a:solidFill>
                  <a:srgbClr val="1E2A3A"/>
                </a:solidFill>
                <a:latin typeface="Arial"/>
                <a:cs typeface="Arial"/>
              </a:rPr>
              <a:t>ما خصائص الصحراء الحارة؟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2377440"/>
            <a:ext cx="3703320" cy="1371600"/>
          </a:xfrm>
          <a:prstGeom prst="roundRect">
            <a:avLst>
              <a:gd name="adj" fmla="val 12000"/>
            </a:avLst>
          </a:prstGeom>
          <a:solidFill>
            <a:srgbClr val="27AE60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000" lang="ar-SA">
                <a:solidFill>
                  <a:srgbClr val="FFFFFF"/>
                </a:solidFill>
                <a:latin typeface="Arial"/>
                <a:cs typeface="Arial"/>
              </a:rPr>
              <a:t>جافة، أمطارها قليلة جدًا، حارة نهارًا وباردة ليلًا.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3840480"/>
            <a:ext cx="2788920" cy="502920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700" lang="ar-SA">
                <a:solidFill>
                  <a:srgbClr val="FFFFFF"/>
                </a:solidFill>
                <a:latin typeface="Arial"/>
                <a:cs typeface="Arial"/>
              </a:rPr>
              <a:t>أحسنتِ يا مستكشفة! 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097280"/>
            <a:ext cx="3703320" cy="1143000"/>
          </a:xfrm>
          <a:prstGeom prst="roundRect">
            <a:avLst>
              <a:gd name="adj" fmla="val 14399"/>
            </a:avLst>
          </a:prstGeom>
          <a:solidFill>
            <a:srgbClr val="FFFFFF">
              <a:alpha val="94000"/>
            </a:srgbClr>
          </a:solidFill>
          <a:ln w="50800">
            <a:solidFill>
              <a:srgbClr val="42A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600" lang="ar-SA">
                <a:solidFill>
                  <a:srgbClr val="E8505B"/>
                </a:solidFill>
                <a:latin typeface="Arial"/>
                <a:cs typeface="Arial"/>
              </a:rPr>
              <a:t>٢  </a:t>
            </a:r>
            <a:r>
              <a:rPr b="1" sz="2100" lang="ar-SA">
                <a:solidFill>
                  <a:srgbClr val="1E2A3A"/>
                </a:solidFill>
                <a:latin typeface="Arial"/>
                <a:cs typeface="Arial"/>
              </a:rPr>
              <a:t>كيف تحافظ نباتات الصحراء على الماء؟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2377440"/>
            <a:ext cx="3703320" cy="1371600"/>
          </a:xfrm>
          <a:prstGeom prst="roundRect">
            <a:avLst>
              <a:gd name="adj" fmla="val 12000"/>
            </a:avLst>
          </a:prstGeom>
          <a:solidFill>
            <a:srgbClr val="27AE60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000" lang="ar-SA">
                <a:solidFill>
                  <a:srgbClr val="FFFFFF"/>
                </a:solidFill>
                <a:latin typeface="Arial"/>
                <a:cs typeface="Arial"/>
              </a:rPr>
              <a:t>سيقانها وأوراقها تخزن الماء، وأوراقها صغيرة أو ملفوفة.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840480"/>
            <a:ext cx="2788920" cy="502920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700" lang="ar-SA">
                <a:solidFill>
                  <a:srgbClr val="FFFFFF"/>
                </a:solidFill>
                <a:latin typeface="Arial"/>
                <a:cs typeface="Arial"/>
              </a:rPr>
              <a:t>أحسنتِ يا مستكشفة! 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39" y="1097280"/>
            <a:ext cx="3703320" cy="1143000"/>
          </a:xfrm>
          <a:prstGeom prst="roundRect">
            <a:avLst>
              <a:gd name="adj" fmla="val 14399"/>
            </a:avLst>
          </a:prstGeom>
          <a:solidFill>
            <a:srgbClr val="FFFFFF">
              <a:alpha val="94000"/>
            </a:srgbClr>
          </a:solidFill>
          <a:ln w="50800">
            <a:solidFill>
              <a:srgbClr val="FFC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600" lang="ar-SA">
                <a:solidFill>
                  <a:srgbClr val="E8505B"/>
                </a:solidFill>
                <a:latin typeface="Arial"/>
                <a:cs typeface="Arial"/>
              </a:rPr>
              <a:t>٣  </a:t>
            </a:r>
            <a:r>
              <a:rPr b="1" sz="2100" lang="ar-SA">
                <a:solidFill>
                  <a:srgbClr val="1E2A3A"/>
                </a:solidFill>
                <a:latin typeface="Arial"/>
                <a:cs typeface="Arial"/>
              </a:rPr>
              <a:t>اذكري حيوانًا يعيش في الصحراء الباردة.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39" y="2377440"/>
            <a:ext cx="3703320" cy="1371600"/>
          </a:xfrm>
          <a:prstGeom prst="roundRect">
            <a:avLst>
              <a:gd name="adj" fmla="val 12000"/>
            </a:avLst>
          </a:prstGeom>
          <a:solidFill>
            <a:srgbClr val="27AE60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000" lang="ar-SA">
                <a:solidFill>
                  <a:srgbClr val="FFFFFF"/>
                </a:solidFill>
                <a:latin typeface="Arial"/>
                <a:cs typeface="Arial"/>
              </a:rPr>
              <a:t>الثعلب القطبي، أو الفقمة، أو غزال الرنة، أو الدب القطبي.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39" y="3840480"/>
            <a:ext cx="2788920" cy="502920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700" lang="ar-SA">
                <a:solidFill>
                  <a:srgbClr val="FFFFFF"/>
                </a:solidFill>
                <a:latin typeface="Arial"/>
                <a:cs typeface="Arial"/>
              </a:rPr>
              <a:t>أحسنتِ يا مستكشفة! ⭐</a:t>
            </a:r>
          </a:p>
        </p:txBody>
      </p:sp>
      <p:pic>
        <p:nvPicPr>
          <p:cNvPr id="18" name="Picture 17" descr="noura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4023360"/>
            <a:ext cx="1428750" cy="2286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or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2E7D3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نافذة الغابة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أنظر وأتساءل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١٠٤</a:t>
            </a:r>
          </a:p>
        </p:txBody>
      </p:sp>
      <p:pic>
        <p:nvPicPr>
          <p:cNvPr id="8" name="Picture 7" descr="cover_p1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325880"/>
            <a:ext cx="3714492" cy="4892040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6720840" y="1014983"/>
            <a:ext cx="3714492" cy="292608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 rtl="1"/>
            <a:r>
              <a:rPr b="1" sz="1200" lang="ar-SA">
                <a:solidFill>
                  <a:srgbClr val="FFFFFF"/>
                </a:solidFill>
                <a:latin typeface="Arial"/>
                <a:cs typeface="Arial"/>
              </a:rPr>
              <a:t>صورة من كتابي – صفحة ١٠٤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63040"/>
            <a:ext cx="5669280" cy="1005840"/>
          </a:xfrm>
          <a:prstGeom prst="roundRect">
            <a:avLst>
              <a:gd name="adj" fmla="val 16363"/>
            </a:avLst>
          </a:prstGeom>
          <a:solidFill>
            <a:srgbClr val="1E7FB8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400" lang="ar-SA">
                <a:solidFill>
                  <a:srgbClr val="FFFFFF"/>
                </a:solidFill>
                <a:latin typeface="Arial"/>
                <a:cs typeface="Arial"/>
              </a:rPr>
              <a:t>أَنْظُرُ وَأَتَسَاءَلُ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06040"/>
            <a:ext cx="5669280" cy="1188720"/>
          </a:xfrm>
          <a:prstGeom prst="roundRect">
            <a:avLst>
              <a:gd name="adj" fmla="val 13846"/>
            </a:avLst>
          </a:prstGeom>
          <a:solidFill>
            <a:srgbClr val="FFFFFF">
              <a:alpha val="94000"/>
            </a:srgbClr>
          </a:solidFill>
          <a:ln w="50800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000" lang="ar-SA">
                <a:solidFill>
                  <a:srgbClr val="1E2A3A"/>
                </a:solidFill>
                <a:latin typeface="Arial"/>
                <a:cs typeface="Arial"/>
              </a:rPr>
              <a:t>فِيمَ تَتَشَابَهُ الْغَابَاتُ، وَفِيمَ تَخْتَلِفُ؟</a:t>
            </a:r>
          </a:p>
        </p:txBody>
      </p:sp>
      <p:pic>
        <p:nvPicPr>
          <p:cNvPr id="12" name="Picture 11" descr="noura_po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3886200"/>
            <a:ext cx="1514475" cy="2423160"/>
          </a:xfrm>
          <a:prstGeom prst="rect">
            <a:avLst/>
          </a:prstGeom>
        </p:spPr>
      </p:pic>
      <p:sp>
        <p:nvSpPr>
          <p:cNvPr id="13" name="Rounded Rectangular Callout 12"/>
          <p:cNvSpPr/>
          <p:nvPr/>
        </p:nvSpPr>
        <p:spPr>
          <a:xfrm>
            <a:off x="502920" y="4160520"/>
            <a:ext cx="3291840" cy="1097280"/>
          </a:xfrm>
          <a:prstGeom prst="wedgeRoundRectCallout">
            <a:avLst>
              <a:gd name="adj1" fmla="val 62000"/>
              <a:gd name="adj2" fmla="val 30000"/>
              <a:gd name="adj3" fmla="val 16667"/>
            </a:avLst>
          </a:prstGeom>
          <a:solidFill>
            <a:srgbClr val="FFFFFF"/>
          </a:solidFill>
          <a:ln w="31750">
            <a:solidFill>
              <a:srgbClr val="E85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000" lang="ar-SA">
                <a:solidFill>
                  <a:srgbClr val="E8505B"/>
                </a:solidFill>
                <a:latin typeface="Arial"/>
                <a:cs typeface="Arial"/>
              </a:rPr>
              <a:t>نورة: </a:t>
            </a:r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تأمّلي الصورة… ماذا ترين؟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3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or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2E7D3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نافذة الغابة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ألاحظ – أتوقع – أفسّر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١٠٤</a:t>
            </a:r>
          </a:p>
        </p:txBody>
      </p:sp>
      <p:pic>
        <p:nvPicPr>
          <p:cNvPr id="8" name="Picture 7" descr="cover_p1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71600"/>
            <a:ext cx="3610348" cy="4754880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411480" y="1060704"/>
            <a:ext cx="3610348" cy="292608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 rtl="1"/>
            <a:r>
              <a:rPr b="1" sz="1200" lang="ar-SA">
                <a:solidFill>
                  <a:srgbClr val="FFFFFF"/>
                </a:solidFill>
                <a:latin typeface="Arial"/>
                <a:cs typeface="Arial"/>
              </a:rPr>
              <a:t>من كتابي – ص١٠٤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1188720"/>
            <a:ext cx="2331720" cy="64008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400" lang="ar-SA">
                <a:solidFill>
                  <a:srgbClr val="FFFFFF"/>
                </a:solidFill>
                <a:latin typeface="Arial"/>
                <a:cs typeface="Arial"/>
              </a:rPr>
              <a:t>ألاحظ 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88720"/>
            <a:ext cx="5212080" cy="640080"/>
          </a:xfrm>
          <a:prstGeom prst="roundRect">
            <a:avLst>
              <a:gd name="adj" fmla="val 25714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200" lang="ar-SA">
                <a:solidFill>
                  <a:srgbClr val="1E2A3A"/>
                </a:solidFill>
                <a:latin typeface="Arial"/>
                <a:cs typeface="Arial"/>
              </a:rPr>
              <a:t>ماذا أرى في الصورة؟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920240"/>
            <a:ext cx="7680960" cy="731520"/>
          </a:xfrm>
          <a:prstGeom prst="roundRect">
            <a:avLst>
              <a:gd name="adj" fmla="val 22499"/>
            </a:avLst>
          </a:prstGeom>
          <a:solidFill>
            <a:srgbClr val="FFFFFF">
              <a:alpha val="92000"/>
            </a:srgbClr>
          </a:solidFill>
          <a:ln w="25400">
            <a:solidFill>
              <a:srgbClr val="2E86D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000" lang="ar-SA">
                <a:solidFill>
                  <a:srgbClr val="2E86DE"/>
                </a:solidFill>
                <a:latin typeface="Arial"/>
                <a:cs typeface="Arial"/>
              </a:rPr>
              <a:t>أشجارًا كثيرة عالية، وأعشابًا خضراء.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2880360"/>
            <a:ext cx="2331720" cy="640080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400" lang="ar-SA">
                <a:solidFill>
                  <a:srgbClr val="FFFFFF"/>
                </a:solidFill>
                <a:latin typeface="Arial"/>
                <a:cs typeface="Arial"/>
              </a:rPr>
              <a:t>أتوقع 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2880360"/>
            <a:ext cx="5212080" cy="640080"/>
          </a:xfrm>
          <a:prstGeom prst="roundRect">
            <a:avLst>
              <a:gd name="adj" fmla="val 25714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F39C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200" lang="ar-SA">
                <a:solidFill>
                  <a:srgbClr val="1E2A3A"/>
                </a:solidFill>
                <a:latin typeface="Arial"/>
                <a:cs typeface="Arial"/>
              </a:rPr>
              <a:t>لماذا تنمو أشجار كثيرة هنا؟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611880"/>
            <a:ext cx="7680960" cy="731520"/>
          </a:xfrm>
          <a:prstGeom prst="roundRect">
            <a:avLst>
              <a:gd name="adj" fmla="val 22499"/>
            </a:avLst>
          </a:prstGeom>
          <a:solidFill>
            <a:srgbClr val="FFFFFF">
              <a:alpha val="92000"/>
            </a:srgbClr>
          </a:solidFill>
          <a:ln w="25400">
            <a:solidFill>
              <a:srgbClr val="F39C1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000" lang="ar-SA">
                <a:solidFill>
                  <a:srgbClr val="F39C12"/>
                </a:solidFill>
                <a:latin typeface="Arial"/>
                <a:cs typeface="Arial"/>
              </a:rPr>
              <a:t>لأن الأمطار وضوء الشمس متوافرة.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4572000"/>
            <a:ext cx="2331720" cy="640080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400" lang="ar-SA">
                <a:solidFill>
                  <a:srgbClr val="FFFFFF"/>
                </a:solidFill>
                <a:latin typeface="Arial"/>
                <a:cs typeface="Arial"/>
              </a:rPr>
              <a:t>أفسّر 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4572000"/>
            <a:ext cx="5212080" cy="640080"/>
          </a:xfrm>
          <a:prstGeom prst="roundRect">
            <a:avLst>
              <a:gd name="adj" fmla="val 25714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200" lang="ar-SA">
                <a:solidFill>
                  <a:srgbClr val="1E2A3A"/>
                </a:solidFill>
                <a:latin typeface="Arial"/>
                <a:cs typeface="Arial"/>
              </a:rPr>
              <a:t>من يمكن أن يعيش في هذا المكان؟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5303520"/>
            <a:ext cx="7680960" cy="731520"/>
          </a:xfrm>
          <a:prstGeom prst="roundRect">
            <a:avLst>
              <a:gd name="adj" fmla="val 22499"/>
            </a:avLst>
          </a:prstGeom>
          <a:solidFill>
            <a:srgbClr val="FFFFFF">
              <a:alpha val="92000"/>
            </a:srgbClr>
          </a:solidFill>
          <a:ln w="25400">
            <a:solidFill>
              <a:srgbClr val="8E44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000" lang="ar-SA">
                <a:solidFill>
                  <a:srgbClr val="8E44AD"/>
                </a:solidFill>
                <a:latin typeface="Arial"/>
                <a:cs typeface="Arial"/>
              </a:rPr>
              <a:t>حيوانات تجد فيها غذاءها ومأواها.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2E7D3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المختبر الافتراضي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المختبر الافتراضي – الاستقصاء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١٠٥</a:t>
            </a:r>
          </a:p>
        </p:txBody>
      </p:sp>
      <p:pic>
        <p:nvPicPr>
          <p:cNvPr id="8" name="Picture 7" descr="j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325880"/>
            <a:ext cx="3246120" cy="3785615"/>
          </a:xfrm>
          <a:prstGeom prst="rect">
            <a:avLst/>
          </a:prstGeom>
        </p:spPr>
      </p:pic>
      <p:pic>
        <p:nvPicPr>
          <p:cNvPr id="9" name="Picture 8" descr="l_so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1325880"/>
            <a:ext cx="3246120" cy="3785615"/>
          </a:xfrm>
          <a:prstGeom prst="rect">
            <a:avLst/>
          </a:prstGeom>
        </p:spPr>
      </p:pic>
      <p:pic>
        <p:nvPicPr>
          <p:cNvPr id="10" name="Picture 9" descr="l_w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6200" y="1325880"/>
            <a:ext cx="3246120" cy="3785615"/>
          </a:xfrm>
          <a:prstGeom prst="rect">
            <a:avLst/>
          </a:prstGeom>
        </p:spPr>
      </p:pic>
      <p:pic>
        <p:nvPicPr>
          <p:cNvPr id="11" name="Picture 10" descr="l_he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6200" y="1325880"/>
            <a:ext cx="3246120" cy="3785615"/>
          </a:xfrm>
          <a:prstGeom prst="rect">
            <a:avLst/>
          </a:prstGeom>
        </p:spPr>
      </p:pic>
      <p:pic>
        <p:nvPicPr>
          <p:cNvPr id="12" name="Picture 11" descr="l_rock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86200" y="1325880"/>
            <a:ext cx="3246120" cy="3785615"/>
          </a:xfrm>
          <a:prstGeom prst="rect">
            <a:avLst/>
          </a:prstGeom>
        </p:spPr>
      </p:pic>
      <p:pic>
        <p:nvPicPr>
          <p:cNvPr id="13" name="Picture 12" descr="l_plan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86200" y="1325880"/>
            <a:ext cx="3246120" cy="3785615"/>
          </a:xfrm>
          <a:prstGeom prst="rect">
            <a:avLst/>
          </a:prstGeom>
        </p:spPr>
      </p:pic>
      <p:pic>
        <p:nvPicPr>
          <p:cNvPr id="14" name="Picture 13" descr="l_gro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86200" y="1325880"/>
            <a:ext cx="3246120" cy="3785615"/>
          </a:xfrm>
          <a:prstGeom prst="rect">
            <a:avLst/>
          </a:prstGeom>
        </p:spPr>
      </p:pic>
      <p:pic>
        <p:nvPicPr>
          <p:cNvPr id="15" name="Picture 14" descr="l_an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86200" y="1325880"/>
            <a:ext cx="3246120" cy="3785615"/>
          </a:xfrm>
          <a:prstGeom prst="rect">
            <a:avLst/>
          </a:prstGeom>
        </p:spPr>
      </p:pic>
      <p:pic>
        <p:nvPicPr>
          <p:cNvPr id="16" name="Picture 15" descr="l_wat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86200" y="1325880"/>
            <a:ext cx="3246120" cy="3785615"/>
          </a:xfrm>
          <a:prstGeom prst="rect">
            <a:avLst/>
          </a:prstGeom>
        </p:spPr>
      </p:pic>
      <p:pic>
        <p:nvPicPr>
          <p:cNvPr id="17" name="Picture 16" descr="l_drop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86200" y="1325880"/>
            <a:ext cx="3246120" cy="3785615"/>
          </a:xfrm>
          <a:prstGeom prst="rect">
            <a:avLst/>
          </a:prstGeom>
        </p:spPr>
      </p:pic>
      <p:pic>
        <p:nvPicPr>
          <p:cNvPr id="18" name="Picture 17" descr="l_film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86200" y="1325880"/>
            <a:ext cx="3246120" cy="3785615"/>
          </a:xfrm>
          <a:prstGeom prst="rect">
            <a:avLst/>
          </a:prstGeom>
        </p:spPr>
      </p:pic>
      <p:pic>
        <p:nvPicPr>
          <p:cNvPr id="19" name="Picture 18" descr="l_hole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86200" y="1325880"/>
            <a:ext cx="3246120" cy="3785615"/>
          </a:xfrm>
          <a:prstGeom prst="rect">
            <a:avLst/>
          </a:prstGeom>
        </p:spPr>
      </p:pic>
      <p:pic>
        <p:nvPicPr>
          <p:cNvPr id="20" name="Picture 19" descr="l_sun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86200" y="1325880"/>
            <a:ext cx="3246120" cy="3785615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274320" y="5440680"/>
            <a:ext cx="7178040" cy="868680"/>
          </a:xfrm>
          <a:prstGeom prst="roundRect">
            <a:avLst>
              <a:gd name="adj" fmla="val 18947"/>
            </a:avLst>
          </a:prstGeom>
          <a:solidFill>
            <a:srgbClr val="FFFDF0">
              <a:alpha val="100000"/>
            </a:srgbClr>
          </a:solidFill>
          <a:ln w="381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🔬 </a:t>
            </a:r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اضغطي على الأدوات بالترتيب من ١ إلى ٨ لنصنع نموذج الغابة!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400" y="1097280"/>
            <a:ext cx="1965960" cy="987552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3810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1E2A3A"/>
                </a:solidFill>
                <a:latin typeface="Arial"/>
                <a:cs typeface="Arial"/>
              </a:rPr>
              <a:t>وِعَاء زُجَاجِيّ</a:t>
            </a:r>
          </a:p>
        </p:txBody>
      </p:sp>
      <p:pic>
        <p:nvPicPr>
          <p:cNvPr id="23" name="Picture 22" descr="tool7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5328" y="1152144"/>
            <a:ext cx="822960" cy="64008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11658600" y="987552"/>
            <a:ext cx="411480" cy="411480"/>
          </a:xfrm>
          <a:prstGeom prst="ellipse">
            <a:avLst/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/>
            <a:r>
              <a:rPr b="1" sz="1500" lang="ar-SA">
                <a:solidFill>
                  <a:srgbClr val="FFFFFF"/>
                </a:solidFill>
                <a:latin typeface="Arial"/>
                <a:cs typeface="Arial"/>
              </a:rPr>
              <a:t>١</a:t>
            </a:r>
          </a:p>
        </p:txBody>
      </p:sp>
      <p:sp>
        <p:nvSpPr>
          <p:cNvPr id="25" name="Oval 24"/>
          <p:cNvSpPr/>
          <p:nvPr/>
        </p:nvSpPr>
        <p:spPr>
          <a:xfrm>
            <a:off x="10012680" y="987552"/>
            <a:ext cx="411480" cy="411480"/>
          </a:xfrm>
          <a:prstGeom prst="ellipse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/>
            <a:r>
              <a:rPr b="1" sz="1500" lang="ar-SA">
                <a:solidFill>
                  <a:srgbClr val="FFFFFF"/>
                </a:solidFill>
                <a:latin typeface="Arial"/>
                <a:cs typeface="Arial"/>
              </a:rPr>
              <a:t>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5440680"/>
            <a:ext cx="7178040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38100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نُحْضِرُ الْوِعَاءَ الزُّجَاجِيَّ الْعَمِيقَ الشَّفَّافَ، وَنَضَعُهُ عَلَى الطَّاوِلَةِ.</a:t>
            </a:r>
          </a:p>
        </p:txBody>
      </p:sp>
      <p:pic>
        <p:nvPicPr>
          <p:cNvPr id="27" name="Picture 26" descr="tool7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5328" y="1152144"/>
            <a:ext cx="822960" cy="64008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7955279" y="1097280"/>
            <a:ext cx="1965960" cy="987552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3810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1E2A3A"/>
                </a:solidFill>
                <a:latin typeface="Arial"/>
                <a:cs typeface="Arial"/>
              </a:rPr>
              <a:t>تُرْبَة</a:t>
            </a:r>
          </a:p>
        </p:txBody>
      </p:sp>
      <p:pic>
        <p:nvPicPr>
          <p:cNvPr id="29" name="Picture 28" descr="tool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22207" y="1152144"/>
            <a:ext cx="822960" cy="640080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9555480" y="987552"/>
            <a:ext cx="411480" cy="411480"/>
          </a:xfrm>
          <a:prstGeom prst="ellipse">
            <a:avLst/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/>
            <a:r>
              <a:rPr b="1" sz="1500" lang="ar-SA">
                <a:solidFill>
                  <a:srgbClr val="FFFFFF"/>
                </a:solidFill>
                <a:latin typeface="Arial"/>
                <a:cs typeface="Arial"/>
              </a:rPr>
              <a:t>٢</a:t>
            </a:r>
          </a:p>
        </p:txBody>
      </p:sp>
      <p:sp>
        <p:nvSpPr>
          <p:cNvPr id="31" name="Oval 30"/>
          <p:cNvSpPr/>
          <p:nvPr/>
        </p:nvSpPr>
        <p:spPr>
          <a:xfrm>
            <a:off x="7909559" y="987552"/>
            <a:ext cx="411480" cy="411480"/>
          </a:xfrm>
          <a:prstGeom prst="ellipse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/>
            <a:r>
              <a:rPr b="1" sz="1500" lang="ar-SA">
                <a:solidFill>
                  <a:srgbClr val="FFFFFF"/>
                </a:solidFill>
                <a:latin typeface="Arial"/>
                <a:cs typeface="Arial"/>
              </a:rPr>
              <a:t>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" y="5440680"/>
            <a:ext cx="7178040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38100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أَعْمَلُ نَمُوذَجًا لِلْغَابَةِ. أَضَعُ التُّرْبَةَ فِي الْوِعَاءِ الزُّجَاجِيِّ.</a:t>
            </a:r>
          </a:p>
        </p:txBody>
      </p:sp>
      <p:pic>
        <p:nvPicPr>
          <p:cNvPr id="33" name="Picture 32" descr="tool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22207" y="1152144"/>
            <a:ext cx="822960" cy="64008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10058400" y="2176272"/>
            <a:ext cx="1965960" cy="987552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3810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1E2A3A"/>
                </a:solidFill>
                <a:latin typeface="Arial"/>
                <a:cs typeface="Arial"/>
              </a:rPr>
              <a:t>مِلْعَقَة بِلَاسْتِيكِيَّة</a:t>
            </a:r>
          </a:p>
        </p:txBody>
      </p:sp>
      <p:pic>
        <p:nvPicPr>
          <p:cNvPr id="35" name="Picture 34" descr="tool4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625328" y="2231136"/>
            <a:ext cx="822960" cy="640080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11658600" y="2066543"/>
            <a:ext cx="411480" cy="411480"/>
          </a:xfrm>
          <a:prstGeom prst="ellipse">
            <a:avLst/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/>
            <a:r>
              <a:rPr b="1" sz="1500" lang="ar-SA">
                <a:solidFill>
                  <a:srgbClr val="FFFFFF"/>
                </a:solidFill>
                <a:latin typeface="Arial"/>
                <a:cs typeface="Arial"/>
              </a:rPr>
              <a:t>٣</a:t>
            </a:r>
          </a:p>
        </p:txBody>
      </p:sp>
      <p:sp>
        <p:nvSpPr>
          <p:cNvPr id="37" name="Oval 36"/>
          <p:cNvSpPr/>
          <p:nvPr/>
        </p:nvSpPr>
        <p:spPr>
          <a:xfrm>
            <a:off x="10012680" y="2066543"/>
            <a:ext cx="411480" cy="411480"/>
          </a:xfrm>
          <a:prstGeom prst="ellipse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/>
            <a:r>
              <a:rPr b="1" sz="1500" lang="ar-SA">
                <a:solidFill>
                  <a:srgbClr val="FFFFFF"/>
                </a:solidFill>
                <a:latin typeface="Arial"/>
                <a:cs typeface="Arial"/>
              </a:rPr>
              <a:t>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" y="5440680"/>
            <a:ext cx="7178040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38100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أُضِيفُ التُّرْبَةَ وَأُسَوِّيهَا بِالْمِلْعَقَةِ الْبِلَاسْتِيكِيَّةِ.</a:t>
            </a:r>
          </a:p>
        </p:txBody>
      </p:sp>
      <p:pic>
        <p:nvPicPr>
          <p:cNvPr id="39" name="Picture 38" descr="tool4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625328" y="2231136"/>
            <a:ext cx="822960" cy="640080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7955279" y="2176272"/>
            <a:ext cx="1965960" cy="987552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3810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1E2A3A"/>
                </a:solidFill>
                <a:latin typeface="Arial"/>
                <a:cs typeface="Arial"/>
              </a:rPr>
              <a:t>صُخُور صَغِيرَة</a:t>
            </a:r>
          </a:p>
        </p:txBody>
      </p:sp>
      <p:pic>
        <p:nvPicPr>
          <p:cNvPr id="41" name="Picture 40" descr="tool3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522207" y="2231136"/>
            <a:ext cx="822960" cy="640080"/>
          </a:xfrm>
          <a:prstGeom prst="rect">
            <a:avLst/>
          </a:prstGeom>
        </p:spPr>
      </p:pic>
      <p:sp>
        <p:nvSpPr>
          <p:cNvPr id="42" name="Oval 41"/>
          <p:cNvSpPr/>
          <p:nvPr/>
        </p:nvSpPr>
        <p:spPr>
          <a:xfrm>
            <a:off x="9555480" y="2066543"/>
            <a:ext cx="411480" cy="411480"/>
          </a:xfrm>
          <a:prstGeom prst="ellipse">
            <a:avLst/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/>
            <a:r>
              <a:rPr b="1" sz="1500" lang="ar-SA">
                <a:solidFill>
                  <a:srgbClr val="FFFFFF"/>
                </a:solidFill>
                <a:latin typeface="Arial"/>
                <a:cs typeface="Arial"/>
              </a:rPr>
              <a:t>٤</a:t>
            </a:r>
          </a:p>
        </p:txBody>
      </p:sp>
      <p:sp>
        <p:nvSpPr>
          <p:cNvPr id="43" name="Oval 42"/>
          <p:cNvSpPr/>
          <p:nvPr/>
        </p:nvSpPr>
        <p:spPr>
          <a:xfrm>
            <a:off x="7909559" y="2066543"/>
            <a:ext cx="411480" cy="411480"/>
          </a:xfrm>
          <a:prstGeom prst="ellipse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/>
            <a:r>
              <a:rPr b="1" sz="1500" lang="ar-SA">
                <a:solidFill>
                  <a:srgbClr val="FFFFFF"/>
                </a:solidFill>
                <a:latin typeface="Arial"/>
                <a:cs typeface="Arial"/>
              </a:rPr>
              <a:t>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4320" y="5440680"/>
            <a:ext cx="7178040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38100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أَضَعُ الصُّخُورَ فِي الْوِعَاءِ الزُّجَاجِيِّ.</a:t>
            </a:r>
          </a:p>
        </p:txBody>
      </p:sp>
      <p:pic>
        <p:nvPicPr>
          <p:cNvPr id="45" name="Picture 44" descr="tool3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522207" y="2231136"/>
            <a:ext cx="822960" cy="640080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10058400" y="3255263"/>
            <a:ext cx="1965960" cy="987552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3810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1E2A3A"/>
                </a:solidFill>
                <a:latin typeface="Arial"/>
                <a:cs typeface="Arial"/>
              </a:rPr>
              <a:t>نَبَات</a:t>
            </a:r>
          </a:p>
        </p:txBody>
      </p:sp>
      <p:pic>
        <p:nvPicPr>
          <p:cNvPr id="47" name="Picture 46" descr="tool1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625328" y="3310127"/>
            <a:ext cx="822960" cy="640080"/>
          </a:xfrm>
          <a:prstGeom prst="rect">
            <a:avLst/>
          </a:prstGeom>
        </p:spPr>
      </p:pic>
      <p:sp>
        <p:nvSpPr>
          <p:cNvPr id="48" name="Oval 47"/>
          <p:cNvSpPr/>
          <p:nvPr/>
        </p:nvSpPr>
        <p:spPr>
          <a:xfrm>
            <a:off x="11658600" y="3145535"/>
            <a:ext cx="411480" cy="411480"/>
          </a:xfrm>
          <a:prstGeom prst="ellipse">
            <a:avLst/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/>
            <a:r>
              <a:rPr b="1" sz="1500" lang="ar-SA">
                <a:solidFill>
                  <a:srgbClr val="FFFFFF"/>
                </a:solidFill>
                <a:latin typeface="Arial"/>
                <a:cs typeface="Arial"/>
              </a:rPr>
              <a:t>٥</a:t>
            </a:r>
          </a:p>
        </p:txBody>
      </p:sp>
      <p:sp>
        <p:nvSpPr>
          <p:cNvPr id="49" name="Oval 48"/>
          <p:cNvSpPr/>
          <p:nvPr/>
        </p:nvSpPr>
        <p:spPr>
          <a:xfrm>
            <a:off x="10012680" y="3145535"/>
            <a:ext cx="411480" cy="411480"/>
          </a:xfrm>
          <a:prstGeom prst="ellipse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/>
            <a:r>
              <a:rPr b="1" sz="1500" lang="ar-SA">
                <a:solidFill>
                  <a:srgbClr val="FFFFFF"/>
                </a:solidFill>
                <a:latin typeface="Arial"/>
                <a:cs typeface="Arial"/>
              </a:rPr>
              <a:t>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4320" y="5440680"/>
            <a:ext cx="7178040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38100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أَضَعُ النَّبَاتَ فِي التُّرْبَةِ.</a:t>
            </a:r>
          </a:p>
        </p:txBody>
      </p:sp>
      <p:pic>
        <p:nvPicPr>
          <p:cNvPr id="51" name="Picture 50" descr="tool1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625328" y="3310127"/>
            <a:ext cx="822960" cy="640080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7955279" y="3255263"/>
            <a:ext cx="1965960" cy="987552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3810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1E2A3A"/>
                </a:solidFill>
                <a:latin typeface="Arial"/>
                <a:cs typeface="Arial"/>
              </a:rPr>
              <a:t>مَاء</a:t>
            </a:r>
          </a:p>
        </p:txBody>
      </p:sp>
      <p:pic>
        <p:nvPicPr>
          <p:cNvPr id="53" name="Picture 52" descr="tool6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522207" y="3310127"/>
            <a:ext cx="822960" cy="640080"/>
          </a:xfrm>
          <a:prstGeom prst="rect">
            <a:avLst/>
          </a:prstGeom>
        </p:spPr>
      </p:pic>
      <p:sp>
        <p:nvSpPr>
          <p:cNvPr id="54" name="Oval 53"/>
          <p:cNvSpPr/>
          <p:nvPr/>
        </p:nvSpPr>
        <p:spPr>
          <a:xfrm>
            <a:off x="9555480" y="3145535"/>
            <a:ext cx="411480" cy="411480"/>
          </a:xfrm>
          <a:prstGeom prst="ellipse">
            <a:avLst/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/>
            <a:r>
              <a:rPr b="1" sz="1500" lang="ar-SA">
                <a:solidFill>
                  <a:srgbClr val="FFFFFF"/>
                </a:solidFill>
                <a:latin typeface="Arial"/>
                <a:cs typeface="Arial"/>
              </a:rPr>
              <a:t>٦</a:t>
            </a:r>
          </a:p>
        </p:txBody>
      </p:sp>
      <p:sp>
        <p:nvSpPr>
          <p:cNvPr id="55" name="Oval 54"/>
          <p:cNvSpPr/>
          <p:nvPr/>
        </p:nvSpPr>
        <p:spPr>
          <a:xfrm>
            <a:off x="7909559" y="3145535"/>
            <a:ext cx="411480" cy="411480"/>
          </a:xfrm>
          <a:prstGeom prst="ellipse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/>
            <a:r>
              <a:rPr b="1" sz="1500" lang="ar-SA">
                <a:solidFill>
                  <a:srgbClr val="FFFFFF"/>
                </a:solidFill>
                <a:latin typeface="Arial"/>
                <a:cs typeface="Arial"/>
              </a:rPr>
              <a:t>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4320" y="5440680"/>
            <a:ext cx="7178040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38100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أَرْوِي التُّرْبَةَ بِالْمَاءِ.</a:t>
            </a:r>
          </a:p>
        </p:txBody>
      </p:sp>
      <p:pic>
        <p:nvPicPr>
          <p:cNvPr id="57" name="Picture 56" descr="tool6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522207" y="3310127"/>
            <a:ext cx="822960" cy="640080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10058400" y="4334256"/>
            <a:ext cx="1965960" cy="987552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3810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1E2A3A"/>
                </a:solidFill>
                <a:latin typeface="Arial"/>
                <a:cs typeface="Arial"/>
              </a:rPr>
              <a:t>حَشَرَة صَغِيرَة</a:t>
            </a:r>
          </a:p>
        </p:txBody>
      </p:sp>
      <p:pic>
        <p:nvPicPr>
          <p:cNvPr id="59" name="Picture 58" descr="tool5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625328" y="4389120"/>
            <a:ext cx="822960" cy="640080"/>
          </a:xfrm>
          <a:prstGeom prst="rect">
            <a:avLst/>
          </a:prstGeom>
        </p:spPr>
      </p:pic>
      <p:sp>
        <p:nvSpPr>
          <p:cNvPr id="60" name="Oval 59"/>
          <p:cNvSpPr/>
          <p:nvPr/>
        </p:nvSpPr>
        <p:spPr>
          <a:xfrm>
            <a:off x="11658600" y="4224528"/>
            <a:ext cx="411480" cy="411480"/>
          </a:xfrm>
          <a:prstGeom prst="ellipse">
            <a:avLst/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/>
            <a:r>
              <a:rPr b="1" sz="1500" lang="ar-SA">
                <a:solidFill>
                  <a:srgbClr val="FFFFFF"/>
                </a:solidFill>
                <a:latin typeface="Arial"/>
                <a:cs typeface="Arial"/>
              </a:rPr>
              <a:t>٧</a:t>
            </a:r>
          </a:p>
        </p:txBody>
      </p:sp>
      <p:sp>
        <p:nvSpPr>
          <p:cNvPr id="61" name="Oval 60"/>
          <p:cNvSpPr/>
          <p:nvPr/>
        </p:nvSpPr>
        <p:spPr>
          <a:xfrm>
            <a:off x="10012680" y="4224528"/>
            <a:ext cx="411480" cy="411480"/>
          </a:xfrm>
          <a:prstGeom prst="ellipse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/>
            <a:r>
              <a:rPr b="1" sz="1500" lang="ar-SA">
                <a:solidFill>
                  <a:srgbClr val="FFFFFF"/>
                </a:solidFill>
                <a:latin typeface="Arial"/>
                <a:cs typeface="Arial"/>
              </a:rPr>
              <a:t>✔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74320" y="5440680"/>
            <a:ext cx="7178040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38100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ثُمَّ أَضَعُ فِيهَا الْحَشَرَةَ.</a:t>
            </a:r>
          </a:p>
        </p:txBody>
      </p:sp>
      <p:pic>
        <p:nvPicPr>
          <p:cNvPr id="63" name="Picture 62" descr="tool5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625328" y="4389120"/>
            <a:ext cx="822960" cy="640080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7955279" y="4334256"/>
            <a:ext cx="1965960" cy="987552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3810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1E2A3A"/>
                </a:solidFill>
                <a:latin typeface="Arial"/>
                <a:cs typeface="Arial"/>
              </a:rPr>
              <a:t>وَرَق تَغْلِيف</a:t>
            </a:r>
          </a:p>
        </p:txBody>
      </p:sp>
      <p:pic>
        <p:nvPicPr>
          <p:cNvPr id="65" name="Picture 64" descr="tool2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522207" y="4389120"/>
            <a:ext cx="822960" cy="640080"/>
          </a:xfrm>
          <a:prstGeom prst="rect">
            <a:avLst/>
          </a:prstGeom>
        </p:spPr>
      </p:pic>
      <p:sp>
        <p:nvSpPr>
          <p:cNvPr id="66" name="Oval 65"/>
          <p:cNvSpPr/>
          <p:nvPr/>
        </p:nvSpPr>
        <p:spPr>
          <a:xfrm>
            <a:off x="9555480" y="4224528"/>
            <a:ext cx="411480" cy="411480"/>
          </a:xfrm>
          <a:prstGeom prst="ellipse">
            <a:avLst/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/>
            <a:r>
              <a:rPr b="1" sz="1500" lang="ar-SA">
                <a:solidFill>
                  <a:srgbClr val="FFFFFF"/>
                </a:solidFill>
                <a:latin typeface="Arial"/>
                <a:cs typeface="Arial"/>
              </a:rPr>
              <a:t>٨</a:t>
            </a:r>
          </a:p>
        </p:txBody>
      </p:sp>
      <p:sp>
        <p:nvSpPr>
          <p:cNvPr id="67" name="Oval 66"/>
          <p:cNvSpPr/>
          <p:nvPr/>
        </p:nvSpPr>
        <p:spPr>
          <a:xfrm>
            <a:off x="7909559" y="4224528"/>
            <a:ext cx="411480" cy="411480"/>
          </a:xfrm>
          <a:prstGeom prst="ellipse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rtl="1"/>
            <a:r>
              <a:rPr b="1" sz="1500" lang="ar-SA">
                <a:solidFill>
                  <a:srgbClr val="FFFFFF"/>
                </a:solidFill>
                <a:latin typeface="Arial"/>
                <a:cs typeface="Arial"/>
              </a:rPr>
              <a:t>✔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74320" y="5440680"/>
            <a:ext cx="7178040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38100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أُغَطِّي الْوِعَاءَ بِوَرَقِ التَّغْلِيفِ الْبِلَاسْتِيكِيِّ، ثُمَّ أَعْمَلُ ثُقُوبًا صَغِيرَةً فِيهِ.</a:t>
            </a:r>
          </a:p>
        </p:txBody>
      </p:sp>
      <p:pic>
        <p:nvPicPr>
          <p:cNvPr id="69" name="Picture 68" descr="tool2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522207" y="4389120"/>
            <a:ext cx="822960" cy="640080"/>
          </a:xfrm>
          <a:prstGeom prst="rect">
            <a:avLst/>
          </a:prstGeom>
        </p:spPr>
      </p:pic>
      <p:sp>
        <p:nvSpPr>
          <p:cNvPr id="70" name="Rounded Rectangle 69"/>
          <p:cNvSpPr/>
          <p:nvPr/>
        </p:nvSpPr>
        <p:spPr>
          <a:xfrm>
            <a:off x="8001000" y="5486400"/>
            <a:ext cx="1920240" cy="713232"/>
          </a:xfrm>
          <a:prstGeom prst="roundRect">
            <a:avLst>
              <a:gd name="adj" fmla="val 50000"/>
            </a:avLst>
          </a:prstGeom>
          <a:solidFill>
            <a:srgbClr val="FFE082"/>
          </a:solidFill>
          <a:ln w="381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700" lang="ar-SA">
                <a:solidFill>
                  <a:srgbClr val="7A5A00"/>
                </a:solidFill>
                <a:latin typeface="Arial"/>
                <a:cs typeface="Arial"/>
              </a:rPr>
              <a:t>☀️ قرب النافذة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058400" y="5486400"/>
            <a:ext cx="1965960" cy="713232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700" lang="ar-SA">
                <a:solidFill>
                  <a:srgbClr val="FFFFFF"/>
                </a:solidFill>
                <a:latin typeface="Arial"/>
                <a:cs typeface="Arial"/>
              </a:rPr>
              <a:t>⏩ بعد أيام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74320" y="5440680"/>
            <a:ext cx="7178040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381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أَضَعُ الْوِعَاءَ بِالْقُرْبِ مِنَ النَّافِذَةِ.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74320" y="5440680"/>
            <a:ext cx="7178040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381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000" lang="ar-SA">
                <a:solidFill>
                  <a:srgbClr val="8E44AD"/>
                </a:solidFill>
                <a:latin typeface="Arial"/>
                <a:cs typeface="Arial"/>
              </a:rPr>
              <a:t>أُلَاحِظُ: </a:t>
            </a:r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تَظْهَرُ قَطَرَاتُ مَاءٍ عَلَى جِدَارِ الْوِعَاءِ، وَيَنْمُو النَّبَاتُ وَيَبْقَى أَخْضَرَ.</a:t>
            </a:r>
          </a:p>
        </p:txBody>
      </p:sp>
      <p:pic>
        <p:nvPicPr>
          <p:cNvPr id="74" name="Picture 73" descr="noura_point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11480" y="3246120"/>
            <a:ext cx="1343025" cy="21488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534 0.3209 E" pathEditMode="relative" rAng="0" ptsTypes="AA">
                                      <p:cBhvr>
                                        <p:cTn id="7" dur="9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669" y="1604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3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809 0.3209 E" pathEditMode="relative" rAng="0" ptsTypes="AA">
                                      <p:cBhvr>
                                        <p:cTn id="27" dur="9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044" y="1604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900"/>
                            </p:stCondLst>
                            <p:childTnLst>
                              <p:par>
                                <p:cTn id="29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3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534 0.1636 E" pathEditMode="relative" rAng="0" ptsTypes="AA">
                                      <p:cBhvr>
                                        <p:cTn id="47" dur="9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669" y="817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00"/>
                            </p:stCondLst>
                            <p:childTnLst>
                              <p:par>
                                <p:cTn id="49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9"/>
                  </p:tgtEl>
                </p:cond>
              </p:nextCondLst>
            </p:seq>
            <p:seq concurrent="1" nextAc="seek">
              <p:cTn id="63" restart="whenNotActive" fill="hold" evtFilter="cancelBubble" nodeType="interactiveSeq">
                <p:stCondLst>
                  <p:cond evt="onClick" delay="0">
                    <p:tgtEl>
                      <p:spTgt spid="4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809 0.1636 E" pathEditMode="relative" rAng="0" ptsTypes="AA">
                                      <p:cBhvr>
                                        <p:cTn id="67" dur="9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044" y="817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900"/>
                            </p:stCondLst>
                            <p:childTnLst>
                              <p:par>
                                <p:cTn id="69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5"/>
                  </p:tgtEl>
                </p:cond>
              </p:nextCondLst>
            </p:seq>
            <p:seq concurrent="1" nextAc="seek">
              <p:cTn id="83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4" fill="hold">
                      <p:stCondLst>
                        <p:cond delay="0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534 0.0062 E" pathEditMode="relative" rAng="0" ptsTypes="AA">
                                      <p:cBhvr>
                                        <p:cTn id="87" dur="9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669" y="31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900"/>
                            </p:stCondLst>
                            <p:childTnLst>
                              <p:par>
                                <p:cTn id="89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103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4" fill="hold">
                      <p:stCondLst>
                        <p:cond delay="0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809 0.0062 E" pathEditMode="relative" rAng="0" ptsTypes="AA">
                                      <p:cBhvr>
                                        <p:cTn id="107" dur="9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044" y="31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900"/>
                            </p:stCondLst>
                            <p:childTnLst>
                              <p:par>
                                <p:cTn id="109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126" restart="whenNotActive" fill="hold" evtFilter="cancelBubble" nodeType="interactiveSeq">
                <p:stCondLst>
                  <p:cond evt="onClick" delay="0">
                    <p:tgtEl>
                      <p:spTgt spid="6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7" fill="hold">
                      <p:stCondLst>
                        <p:cond delay="0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534 -0.1511 E" pathEditMode="relative" rAng="0" ptsTypes="AA">
                                      <p:cBhvr>
                                        <p:cTn id="130" dur="9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669" y="-755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900"/>
                            </p:stCondLst>
                            <p:childTnLst>
                              <p:par>
                                <p:cTn id="13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3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3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4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3"/>
                  </p:tgtEl>
                </p:cond>
              </p:nextCondLst>
            </p:seq>
            <p:seq concurrent="1" nextAc="seek">
              <p:cTn id="146" restart="whenNotActive" fill="hold" evtFilter="cancelBubble" nodeType="interactiveSeq">
                <p:stCondLst>
                  <p:cond evt="onClick" delay="0">
                    <p:tgtEl>
                      <p:spTgt spid="6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7" fill="hold">
                      <p:stCondLst>
                        <p:cond delay="0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809 -0.1511 E" pathEditMode="relative" rAng="0" ptsTypes="AA">
                                      <p:cBhvr>
                                        <p:cTn id="150" dur="9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044" y="-755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900"/>
                            </p:stCondLst>
                            <p:childTnLst>
                              <p:par>
                                <p:cTn id="15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6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9"/>
                  </p:tgtEl>
                </p:cond>
              </p:nextCondLst>
            </p:seq>
            <p:seq concurrent="1" nextAc="seek">
              <p:cTn id="169" restart="whenNotActive" fill="hold" evtFilter="cancelBubble" nodeType="interactiveSeq">
                <p:stCondLst>
                  <p:cond evt="onClick" delay="0">
                    <p:tgtEl>
                      <p:spTgt spid="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0" fill="hold">
                      <p:stCondLst>
                        <p:cond delay="0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0"/>
                  </p:tgtEl>
                </p:cond>
              </p:nextCondLst>
            </p:seq>
            <p:seq concurrent="1" nextAc="seek">
              <p:cTn id="178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9" fill="hold">
                      <p:stCondLst>
                        <p:cond delay="0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1"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31" grpId="0" animBg="1"/>
      <p:bldP spid="32" grpId="0" animBg="1"/>
      <p:bldP spid="37" grpId="0" animBg="1"/>
      <p:bldP spid="38" grpId="0" animBg="1"/>
      <p:bldP spid="43" grpId="0" animBg="1"/>
      <p:bldP spid="44" grpId="0" animBg="1"/>
      <p:bldP spid="49" grpId="0" animBg="1"/>
      <p:bldP spid="50" grpId="0" animBg="1"/>
      <p:bldP spid="55" grpId="0" animBg="1"/>
      <p:bldP spid="56" grpId="0" animBg="1"/>
      <p:bldP spid="61" grpId="0" animBg="1"/>
      <p:bldP spid="62" grpId="0" animBg="1"/>
      <p:bldP spid="67" grpId="0" animBg="1"/>
      <p:bldP spid="68" grpId="0" animBg="1"/>
      <p:bldP spid="72" grpId="0" animBg="1"/>
      <p:bldP spid="73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or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2E7D3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ماذا اكتشفنا؟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لاحظي – سجّلي – فسّري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097280"/>
            <a:ext cx="5897880" cy="685800"/>
          </a:xfrm>
          <a:prstGeom prst="roundRect">
            <a:avLst>
              <a:gd name="adj" fmla="val 24000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400" lang="ar-SA">
                <a:solidFill>
                  <a:srgbClr val="1E2A3A"/>
                </a:solidFill>
                <a:latin typeface="Arial"/>
                <a:cs typeface="Arial"/>
              </a:rPr>
              <a:t>لَوْحَةُ مُلَاحَظَاتِ نَمُوذَجِ الْغَابَةِ 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1920240"/>
            <a:ext cx="1965960" cy="731520"/>
          </a:xfrm>
          <a:prstGeom prst="roundRect">
            <a:avLst>
              <a:gd name="adj" fmla="val 22499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اليوم الأول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920240"/>
            <a:ext cx="3840480" cy="731520"/>
          </a:xfrm>
          <a:prstGeom prst="roundRect">
            <a:avLst>
              <a:gd name="adj" fmla="val 22499"/>
            </a:avLst>
          </a:prstGeom>
          <a:solidFill>
            <a:srgbClr val="FFFFFF">
              <a:alpha val="94000"/>
            </a:srgbClr>
          </a:solidFill>
          <a:ln w="254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800" lang="ar-SA">
                <a:solidFill>
                  <a:srgbClr val="1E2A3A"/>
                </a:solidFill>
                <a:latin typeface="Arial"/>
                <a:cs typeface="Arial"/>
              </a:rPr>
              <a:t>التربة رطبة، والنبات أخضر.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66960" y="2788920"/>
            <a:ext cx="1965960" cy="731520"/>
          </a:xfrm>
          <a:prstGeom prst="roundRect">
            <a:avLst>
              <a:gd name="adj" fmla="val 22499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بعد يومين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2788920"/>
            <a:ext cx="3840480" cy="731520"/>
          </a:xfrm>
          <a:prstGeom prst="roundRect">
            <a:avLst>
              <a:gd name="adj" fmla="val 22499"/>
            </a:avLst>
          </a:prstGeom>
          <a:solidFill>
            <a:srgbClr val="FFFFFF">
              <a:alpha val="94000"/>
            </a:srgbClr>
          </a:solidFill>
          <a:ln w="254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800" lang="ar-SA">
                <a:solidFill>
                  <a:srgbClr val="1E2A3A"/>
                </a:solidFill>
                <a:latin typeface="Arial"/>
                <a:cs typeface="Arial"/>
              </a:rPr>
              <a:t>تظهر قطرات ماء على جدار الوعاء.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66960" y="3657600"/>
            <a:ext cx="1965960" cy="731520"/>
          </a:xfrm>
          <a:prstGeom prst="roundRect">
            <a:avLst>
              <a:gd name="adj" fmla="val 22499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بعد أسبوع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3657600"/>
            <a:ext cx="3840480" cy="731520"/>
          </a:xfrm>
          <a:prstGeom prst="roundRect">
            <a:avLst>
              <a:gd name="adj" fmla="val 22499"/>
            </a:avLst>
          </a:prstGeom>
          <a:solidFill>
            <a:srgbClr val="FFFFFF">
              <a:alpha val="94000"/>
            </a:srgbClr>
          </a:solidFill>
          <a:ln w="254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800" lang="ar-SA">
                <a:solidFill>
                  <a:srgbClr val="1E2A3A"/>
                </a:solidFill>
                <a:latin typeface="Arial"/>
                <a:cs typeface="Arial"/>
              </a:rPr>
              <a:t>النبات ما زال أخضر وينمو.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572000"/>
            <a:ext cx="5897880" cy="1051560"/>
          </a:xfrm>
          <a:prstGeom prst="roundRect">
            <a:avLst>
              <a:gd name="adj" fmla="val 15652"/>
            </a:avLst>
          </a:prstGeom>
          <a:solidFill>
            <a:srgbClr val="27AE60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900" lang="ar-SA">
                <a:solidFill>
                  <a:srgbClr val="FFF59D"/>
                </a:solidFill>
                <a:latin typeface="Arial"/>
                <a:cs typeface="Arial"/>
              </a:rPr>
              <a:t>النتيجة: </a:t>
            </a:r>
            <a:r>
              <a:rPr b="1" sz="1900" lang="ar-SA">
                <a:solidFill>
                  <a:srgbClr val="FFFFFF"/>
                </a:solidFill>
                <a:latin typeface="Arial"/>
                <a:cs typeface="Arial"/>
              </a:rPr>
              <a:t>الْغَابَةُ مَوْطِنٌ فِيهِ أَشْجَارٌ وَنَبَاتَاتٌ كَثِيرَةٌ؛ لِتَوَافُرِ الْمَاءِ وَضَوْءِ الشَّمْسِ.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1097280"/>
            <a:ext cx="5394960" cy="685800"/>
          </a:xfrm>
          <a:prstGeom prst="roundRect">
            <a:avLst>
              <a:gd name="adj" fmla="val 24000"/>
            </a:avLst>
          </a:prstGeom>
          <a:solidFill>
            <a:srgbClr val="1E7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600" lang="ar-SA">
                <a:solidFill>
                  <a:srgbClr val="FFFFFF"/>
                </a:solidFill>
                <a:latin typeface="Arial"/>
                <a:cs typeface="Arial"/>
              </a:rPr>
              <a:t>أَسْتَكْشِفُ أَكْثَرَ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1874519"/>
            <a:ext cx="5394960" cy="1691640"/>
          </a:xfrm>
          <a:prstGeom prst="roundRect">
            <a:avLst>
              <a:gd name="adj" fmla="val 9729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400" lang="ar-SA">
                <a:solidFill>
                  <a:srgbClr val="E8505B"/>
                </a:solidFill>
                <a:latin typeface="Arial"/>
                <a:cs typeface="Arial"/>
              </a:rPr>
              <a:t>٤  </a:t>
            </a:r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أَعْمَلُ نَمُوذَجًا لِلْغَابَةِ فِي فَصْلِ الشِّتَاءِ، وَأَرْسُمُ صُورَةً أُوَضِّحُ فِيهَا كَيْفَ سَيَتَغَيَّرُ شَكْلُهَا.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703320"/>
            <a:ext cx="5394960" cy="1005840"/>
          </a:xfrm>
          <a:prstGeom prst="roundRect">
            <a:avLst>
              <a:gd name="adj" fmla="val 16363"/>
            </a:avLst>
          </a:prstGeom>
          <a:solidFill>
            <a:srgbClr val="FFFFFF">
              <a:alpha val="92000"/>
            </a:srgbClr>
          </a:solidFill>
          <a:ln w="25400">
            <a:solidFill>
              <a:srgbClr val="1E7F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800" lang="ar-SA">
                <a:solidFill>
                  <a:srgbClr val="1E7FB8"/>
                </a:solidFill>
                <a:latin typeface="Arial"/>
                <a:cs typeface="Arial"/>
              </a:rPr>
              <a:t>تتغير ألوان أوراق كثير من الأشجار وتتساقط، وتبقى بعض الأشجار خضراء.</a:t>
            </a:r>
          </a:p>
        </p:txBody>
      </p:sp>
      <p:pic>
        <p:nvPicPr>
          <p:cNvPr id="19" name="Picture 18" descr="noura_che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4617720"/>
            <a:ext cx="1114425" cy="17830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or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2E7D3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كلمات الغابة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بطاقات المفردات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1097280"/>
            <a:ext cx="10104120" cy="960120"/>
          </a:xfrm>
          <a:prstGeom prst="roundRect">
            <a:avLst>
              <a:gd name="adj" fmla="val 17142"/>
            </a:avLst>
          </a:prstGeom>
          <a:solidFill>
            <a:srgbClr val="FFF6D6">
              <a:alpha val="94000"/>
            </a:srgbClr>
          </a:solidFill>
          <a:ln w="381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400" lang="ar-SA">
                <a:solidFill>
                  <a:srgbClr val="E8505B"/>
                </a:solidFill>
                <a:latin typeface="Arial"/>
                <a:cs typeface="Arial"/>
              </a:rPr>
              <a:t>السُّؤَالُ الْأَسَاسِيُّ: </a:t>
            </a:r>
            <a:r>
              <a:rPr b="1" sz="2400" lang="ar-SA">
                <a:solidFill>
                  <a:srgbClr val="1E2A3A"/>
                </a:solidFill>
                <a:latin typeface="Arial"/>
                <a:cs typeface="Arial"/>
              </a:rPr>
              <a:t>كَيْفَ تَعِيشُ الْمَخْلُوقَاتُ الْحَيَّةُ فِي مَوْطِنِ الْغَابَةِ؟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2377440"/>
            <a:ext cx="4754880" cy="868680"/>
          </a:xfrm>
          <a:prstGeom prst="roundRect">
            <a:avLst>
              <a:gd name="adj" fmla="val 18947"/>
            </a:avLst>
          </a:prstGeom>
          <a:solidFill>
            <a:srgbClr val="2E7D3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000" lang="ar-SA">
                <a:solidFill>
                  <a:srgbClr val="FFFFFF"/>
                </a:solidFill>
                <a:latin typeface="Arial"/>
                <a:cs typeface="Arial"/>
              </a:rPr>
              <a:t>الْغَابَةُ  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3337560"/>
            <a:ext cx="4754880" cy="1783080"/>
          </a:xfrm>
          <a:prstGeom prst="roundRect">
            <a:avLst>
              <a:gd name="adj" fmla="val 9230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300" lang="ar-SA">
                <a:solidFill>
                  <a:srgbClr val="1E2A3A"/>
                </a:solidFill>
                <a:latin typeface="Arial"/>
                <a:cs typeface="Arial"/>
              </a:rPr>
              <a:t>مَوْطِنٌ تَتَوَافَرُ فِيهِ الْأَمْطَارُ وَضَوْءُ الشَّمْسِ؛ لِذَا تَنْمُو فِيهِ أَشْجَارٌ كَثِيرَةٌ.</a:t>
            </a:r>
          </a:p>
        </p:txBody>
      </p:sp>
      <p:sp>
        <p:nvSpPr>
          <p:cNvPr id="11" name="5-Point Star 10"/>
          <p:cNvSpPr/>
          <p:nvPr/>
        </p:nvSpPr>
        <p:spPr>
          <a:xfrm>
            <a:off x="8732520" y="5212080"/>
            <a:ext cx="731520" cy="685800"/>
          </a:xfrm>
          <a:prstGeom prst="star5">
            <a:avLst/>
          </a:prstGeom>
          <a:solidFill>
            <a:srgbClr val="FFD54F"/>
          </a:solidFill>
          <a:ln w="317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000" lang="ar-SA">
                <a:solidFill>
                  <a:srgbClr val="1E2A3A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45919" y="2377440"/>
            <a:ext cx="4754880" cy="868680"/>
          </a:xfrm>
          <a:prstGeom prst="roundRect">
            <a:avLst>
              <a:gd name="adj" fmla="val 18947"/>
            </a:avLst>
          </a:prstGeom>
          <a:solidFill>
            <a:srgbClr val="16A085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000" lang="ar-SA">
                <a:solidFill>
                  <a:srgbClr val="FFFFFF"/>
                </a:solidFill>
                <a:latin typeface="Arial"/>
                <a:cs typeface="Arial"/>
              </a:rPr>
              <a:t>الْغَابَةُ الْمَطِيرَةُ  🌧️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19" y="3337560"/>
            <a:ext cx="4754880" cy="1783080"/>
          </a:xfrm>
          <a:prstGeom prst="roundRect">
            <a:avLst>
              <a:gd name="adj" fmla="val 9230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300" lang="ar-SA">
                <a:solidFill>
                  <a:srgbClr val="1E2A3A"/>
                </a:solidFill>
                <a:latin typeface="Arial"/>
                <a:cs typeface="Arial"/>
              </a:rPr>
              <a:t>مَوْطِنٌ تَتَسَاقَطُ عَلَيْهِ الْأَمْطَارُ كُلَّ يَوْمٍ تَقْرِيبًا.</a:t>
            </a:r>
          </a:p>
        </p:txBody>
      </p:sp>
      <p:sp>
        <p:nvSpPr>
          <p:cNvPr id="14" name="5-Point Star 13"/>
          <p:cNvSpPr/>
          <p:nvPr/>
        </p:nvSpPr>
        <p:spPr>
          <a:xfrm>
            <a:off x="3657600" y="5212080"/>
            <a:ext cx="731520" cy="685800"/>
          </a:xfrm>
          <a:prstGeom prst="star5">
            <a:avLst/>
          </a:prstGeom>
          <a:solidFill>
            <a:srgbClr val="FFD54F"/>
          </a:solidFill>
          <a:ln w="317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000" lang="ar-SA">
                <a:solidFill>
                  <a:srgbClr val="1E2A3A"/>
                </a:solidFill>
                <a:latin typeface="Arial"/>
                <a:cs typeface="Arial"/>
              </a:rPr>
              <a:t/>
            </a:r>
          </a:p>
        </p:txBody>
      </p:sp>
      <p:pic>
        <p:nvPicPr>
          <p:cNvPr id="15" name="Picture 14" descr="page_p1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297680"/>
            <a:ext cx="1452997" cy="1920240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3" grpId="0" animBg="1"/>
      <p:bldP spid="14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or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2E7D3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كيف تبدو الغابة؟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التعلم البصري – القراءة الموجهة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١٠٦</a:t>
            </a:r>
          </a:p>
        </p:txBody>
      </p:sp>
      <p:sp>
        <p:nvSpPr>
          <p:cNvPr id="8" name="Oval 7"/>
          <p:cNvSpPr/>
          <p:nvPr/>
        </p:nvSpPr>
        <p:spPr>
          <a:xfrm>
            <a:off x="10835640" y="1143000"/>
            <a:ext cx="1097280" cy="1097280"/>
          </a:xfrm>
          <a:prstGeom prst="ellipse">
            <a:avLst/>
          </a:prstGeom>
          <a:solidFill>
            <a:srgbClr val="FFFFFF">
              <a:alpha val="94000"/>
            </a:srgbClr>
          </a:solidFill>
          <a:ln w="3175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 rtl="1"/>
            <a:r>
              <a:rPr b="1" sz="2800" lang="ar-SA">
                <a:solidFill>
                  <a:srgbClr val="1E2A3A"/>
                </a:solidFill>
                <a:latin typeface="Arial"/>
                <a:cs typeface="Arial"/>
              </a:rPr>
              <a:t>🌧️☀️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1143000"/>
            <a:ext cx="7772400" cy="1097280"/>
          </a:xfrm>
          <a:prstGeom prst="roundRect">
            <a:avLst>
              <a:gd name="adj" fmla="val 15000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100" lang="ar-SA">
                <a:solidFill>
                  <a:srgbClr val="1E2A3A"/>
                </a:solidFill>
                <a:latin typeface="Arial"/>
                <a:cs typeface="Arial"/>
              </a:rPr>
              <a:t>الْغَابَةُ مَوْطِنٌ تَتَوَافَرُ فِيهِ الْأَمْطَارُ وَضَوْءُ الشَّمْسِ؛ لِذَا تَنْمُو فِيهِ أَشْجَارٌ كَثِيرَةٌ.</a:t>
            </a:r>
          </a:p>
        </p:txBody>
      </p:sp>
      <p:sp>
        <p:nvSpPr>
          <p:cNvPr id="10" name="Oval 9"/>
          <p:cNvSpPr/>
          <p:nvPr/>
        </p:nvSpPr>
        <p:spPr>
          <a:xfrm>
            <a:off x="10835640" y="2404872"/>
            <a:ext cx="1097280" cy="1097280"/>
          </a:xfrm>
          <a:prstGeom prst="ellipse">
            <a:avLst/>
          </a:prstGeom>
          <a:solidFill>
            <a:srgbClr val="FFFFFF">
              <a:alpha val="94000"/>
            </a:srgbClr>
          </a:solidFill>
          <a:ln w="3175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 rtl="1"/>
            <a:r>
              <a:rPr b="1" sz="2800" lang="ar-SA">
                <a:solidFill>
                  <a:srgbClr val="1E2A3A"/>
                </a:solidFill>
                <a:latin typeface="Arial"/>
                <a:cs typeface="Arial"/>
              </a:rPr>
              <a:t>🦌🦊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2404872"/>
            <a:ext cx="7772400" cy="1097280"/>
          </a:xfrm>
          <a:prstGeom prst="roundRect">
            <a:avLst>
              <a:gd name="adj" fmla="val 15000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100" lang="ar-SA">
                <a:solidFill>
                  <a:srgbClr val="1E2A3A"/>
                </a:solidFill>
                <a:latin typeface="Arial"/>
                <a:cs typeface="Arial"/>
              </a:rPr>
              <a:t>فِي الْغَابَاتِ تَعِيشُ الْغِزْلَانُ وَالدِّبَبَةُ السَّوْدَاءُ وَالثَّعَالِبُ، كَمَا تَعِيشُ فِيهَا الطُّيُورُ وَالْحَشَرَاتُ وَالدِّيدَانُ.</a:t>
            </a:r>
          </a:p>
        </p:txBody>
      </p:sp>
      <p:sp>
        <p:nvSpPr>
          <p:cNvPr id="12" name="Oval 11"/>
          <p:cNvSpPr/>
          <p:nvPr/>
        </p:nvSpPr>
        <p:spPr>
          <a:xfrm>
            <a:off x="10835640" y="3666744"/>
            <a:ext cx="1097280" cy="1097280"/>
          </a:xfrm>
          <a:prstGeom prst="ellipse">
            <a:avLst/>
          </a:prstGeom>
          <a:solidFill>
            <a:srgbClr val="FFFFFF">
              <a:alpha val="94000"/>
            </a:srgbClr>
          </a:solidFill>
          <a:ln w="3175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 rtl="1"/>
            <a:r>
              <a:rPr b="1" sz="2800" lang="ar-SA">
                <a:solidFill>
                  <a:srgbClr val="1E2A3A"/>
                </a:solidFill>
                <a:latin typeface="Arial"/>
                <a:cs typeface="Arial"/>
              </a:rPr>
              <a:t>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666744"/>
            <a:ext cx="7772400" cy="1097280"/>
          </a:xfrm>
          <a:prstGeom prst="roundRect">
            <a:avLst>
              <a:gd name="adj" fmla="val 15000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100" lang="ar-SA">
                <a:solidFill>
                  <a:srgbClr val="1E2A3A"/>
                </a:solidFill>
                <a:latin typeface="Arial"/>
                <a:cs typeface="Arial"/>
              </a:rPr>
              <a:t>مُعْظَمُ الْأَشْجَارِ لَهَا أَوْرَاقٌ يَتَغَيَّرُ لَوْنُهَا، وَتَتَسَاقَطُ فِي فَصْلِ الْخَرِيفِ.</a:t>
            </a:r>
          </a:p>
        </p:txBody>
      </p:sp>
      <p:sp>
        <p:nvSpPr>
          <p:cNvPr id="14" name="Oval 13"/>
          <p:cNvSpPr/>
          <p:nvPr/>
        </p:nvSpPr>
        <p:spPr>
          <a:xfrm>
            <a:off x="10835640" y="4928616"/>
            <a:ext cx="1097280" cy="1097280"/>
          </a:xfrm>
          <a:prstGeom prst="ellipse">
            <a:avLst/>
          </a:prstGeom>
          <a:solidFill>
            <a:srgbClr val="FFFFFF">
              <a:alpha val="94000"/>
            </a:srgbClr>
          </a:solidFill>
          <a:ln w="3175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 rtl="1"/>
            <a:r>
              <a:rPr b="1" sz="2800" lang="ar-SA">
                <a:solidFill>
                  <a:srgbClr val="1E2A3A"/>
                </a:solidFill>
                <a:latin typeface="Arial"/>
                <a:cs typeface="Arial"/>
              </a:rPr>
              <a:t>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4928616"/>
            <a:ext cx="7772400" cy="1097280"/>
          </a:xfrm>
          <a:prstGeom prst="roundRect">
            <a:avLst>
              <a:gd name="adj" fmla="val 15000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100" lang="ar-SA">
                <a:solidFill>
                  <a:srgbClr val="1E2A3A"/>
                </a:solidFill>
                <a:latin typeface="Arial"/>
                <a:cs typeface="Arial"/>
              </a:rPr>
              <a:t>وَهُنَاكَ أَشْجَارٌ تَبْقَى أَوْرَاقُهَا خَضْرَاءَ طَوَالَ السَّنَةِ.</a:t>
            </a:r>
          </a:p>
        </p:txBody>
      </p:sp>
      <p:pic>
        <p:nvPicPr>
          <p:cNvPr id="16" name="Picture 15" descr="noura_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566160"/>
            <a:ext cx="1714500" cy="27432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or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2E7D3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من يسكن الغابة؟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من أنا؟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143000"/>
            <a:ext cx="3657600" cy="2057400"/>
          </a:xfrm>
          <a:prstGeom prst="roundRect">
            <a:avLst>
              <a:gd name="adj" fmla="val 8000"/>
            </a:avLst>
          </a:prstGeom>
          <a:solidFill>
            <a:srgbClr val="FFFDF0">
              <a:alpha val="94000"/>
            </a:srgbClr>
          </a:solidFill>
          <a:ln w="381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900" lang="ar-SA">
                <a:solidFill>
                  <a:srgbClr val="1E2A3A"/>
                </a:solidFill>
                <a:latin typeface="Arial"/>
                <a:cs typeface="Arial"/>
              </a:rPr>
              <a:t>لِي عَيْنَانِ كَبِيرَتَانِ، أَصْطَادُ فِي اللَّيْلِ مُسْتَخْدِمَةً حَاسَّتَيِ السَّمْعِ وَالْبَصَرِ. مَنْ أَنَا؟</a:t>
            </a:r>
          </a:p>
        </p:txBody>
      </p:sp>
      <p:sp>
        <p:nvSpPr>
          <p:cNvPr id="9" name="Oval 8"/>
          <p:cNvSpPr/>
          <p:nvPr/>
        </p:nvSpPr>
        <p:spPr>
          <a:xfrm>
            <a:off x="8915400" y="3337560"/>
            <a:ext cx="2011680" cy="2011680"/>
          </a:xfrm>
          <a:prstGeom prst="ellipse">
            <a:avLst/>
          </a:prstGeom>
          <a:solidFill>
            <a:srgbClr val="F39C12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8000" lang="ar-SA">
                <a:solidFill>
                  <a:srgbClr val="FFFFFF"/>
                </a:solidFill>
                <a:latin typeface="Arial"/>
                <a:cs typeface="Arial"/>
              </a:rPr>
              <a:t>؟</a:t>
            </a:r>
          </a:p>
        </p:txBody>
      </p:sp>
      <p:pic>
        <p:nvPicPr>
          <p:cNvPr id="10" name="Picture 9" descr="ow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3291840"/>
            <a:ext cx="2103120" cy="2103120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8549640" y="5486400"/>
            <a:ext cx="2743200" cy="640080"/>
          </a:xfrm>
          <a:prstGeom prst="roundRect">
            <a:avLst>
              <a:gd name="adj" fmla="val 50000"/>
            </a:avLst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400" lang="ar-SA">
                <a:solidFill>
                  <a:srgbClr val="FFFFFF"/>
                </a:solidFill>
                <a:latin typeface="Arial"/>
                <a:cs typeface="Arial"/>
              </a:rPr>
              <a:t>الْبُومَةُ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143000"/>
            <a:ext cx="3657600" cy="2057400"/>
          </a:xfrm>
          <a:prstGeom prst="roundRect">
            <a:avLst>
              <a:gd name="adj" fmla="val 8000"/>
            </a:avLst>
          </a:prstGeom>
          <a:solidFill>
            <a:srgbClr val="FFFDF0">
              <a:alpha val="94000"/>
            </a:srgbClr>
          </a:solidFill>
          <a:ln w="381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900" lang="ar-SA">
                <a:solidFill>
                  <a:srgbClr val="1E2A3A"/>
                </a:solidFill>
                <a:latin typeface="Arial"/>
                <a:cs typeface="Arial"/>
              </a:rPr>
              <a:t>لِي مِنْقَارٌ طَوِيلٌ حَادٌّ، أَنْقُرُ بِهِ الْأَشْجَارَ بَحْثًا عَنِ الْحَشَرَاتِ. مَنْ أَنَا؟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0" y="3337560"/>
            <a:ext cx="2011680" cy="2011680"/>
          </a:xfrm>
          <a:prstGeom prst="ellipse">
            <a:avLst/>
          </a:prstGeom>
          <a:solidFill>
            <a:srgbClr val="F39C12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8000" lang="ar-SA">
                <a:solidFill>
                  <a:srgbClr val="FFFFFF"/>
                </a:solidFill>
                <a:latin typeface="Arial"/>
                <a:cs typeface="Arial"/>
              </a:rPr>
              <a:t>؟</a:t>
            </a:r>
          </a:p>
        </p:txBody>
      </p:sp>
      <p:pic>
        <p:nvPicPr>
          <p:cNvPr id="14" name="Picture 13" descr="woodpe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79" y="3291840"/>
            <a:ext cx="2103120" cy="2103120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4663440" y="5486400"/>
            <a:ext cx="2743200" cy="640080"/>
          </a:xfrm>
          <a:prstGeom prst="roundRect">
            <a:avLst>
              <a:gd name="adj" fmla="val 50000"/>
            </a:avLst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400" lang="ar-SA">
                <a:solidFill>
                  <a:srgbClr val="FFFFFF"/>
                </a:solidFill>
                <a:latin typeface="Arial"/>
                <a:cs typeface="Arial"/>
              </a:rPr>
              <a:t>نَقَّارُ الْخَشَبِ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39" y="1143000"/>
            <a:ext cx="3657600" cy="2057400"/>
          </a:xfrm>
          <a:prstGeom prst="roundRect">
            <a:avLst>
              <a:gd name="adj" fmla="val 8000"/>
            </a:avLst>
          </a:prstGeom>
          <a:solidFill>
            <a:srgbClr val="FFFDF0">
              <a:alpha val="94000"/>
            </a:srgbClr>
          </a:solidFill>
          <a:ln w="381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900" lang="ar-SA">
                <a:solidFill>
                  <a:srgbClr val="1E2A3A"/>
                </a:solidFill>
                <a:latin typeface="Arial"/>
                <a:cs typeface="Arial"/>
              </a:rPr>
              <a:t>لِي خُدُودٌ كَبِيرَةٌ تُسَاعِدُنِي عَلَى حَمْلِ الْكَثِيرِ مِنَ الْجَوْزِ. مَنْ أَنَا؟</a:t>
            </a:r>
          </a:p>
        </p:txBody>
      </p:sp>
      <p:sp>
        <p:nvSpPr>
          <p:cNvPr id="17" name="Oval 16"/>
          <p:cNvSpPr/>
          <p:nvPr/>
        </p:nvSpPr>
        <p:spPr>
          <a:xfrm>
            <a:off x="1142999" y="3337560"/>
            <a:ext cx="2011680" cy="2011680"/>
          </a:xfrm>
          <a:prstGeom prst="ellipse">
            <a:avLst/>
          </a:prstGeom>
          <a:solidFill>
            <a:srgbClr val="F39C12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8000" lang="ar-SA">
                <a:solidFill>
                  <a:srgbClr val="FFFFFF"/>
                </a:solidFill>
                <a:latin typeface="Arial"/>
                <a:cs typeface="Arial"/>
              </a:rPr>
              <a:t>؟</a:t>
            </a:r>
          </a:p>
        </p:txBody>
      </p:sp>
      <p:pic>
        <p:nvPicPr>
          <p:cNvPr id="18" name="Picture 17" descr="squirr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79" y="3291840"/>
            <a:ext cx="2103120" cy="2103120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19" name="Rounded Rectangle 18"/>
          <p:cNvSpPr/>
          <p:nvPr/>
        </p:nvSpPr>
        <p:spPr>
          <a:xfrm>
            <a:off x="777239" y="5486400"/>
            <a:ext cx="2743200" cy="640080"/>
          </a:xfrm>
          <a:prstGeom prst="roundRect">
            <a:avLst>
              <a:gd name="adj" fmla="val 50000"/>
            </a:avLst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400" lang="ar-SA">
                <a:solidFill>
                  <a:srgbClr val="FFFFFF"/>
                </a:solidFill>
                <a:latin typeface="Arial"/>
                <a:cs typeface="Arial"/>
              </a:rPr>
              <a:t>السِّنْجَابُ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or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2E7D3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أقرأ اللوحة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قراءة الصور – التفكير الناقد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١٠٦</a:t>
            </a:r>
          </a:p>
        </p:txBody>
      </p:sp>
      <p:pic>
        <p:nvPicPr>
          <p:cNvPr id="8" name="Picture 7" descr="woodpec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417320"/>
            <a:ext cx="3931920" cy="4173354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7863840" y="1106424"/>
            <a:ext cx="3931920" cy="292608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 rtl="1"/>
            <a:r>
              <a:rPr b="1" sz="1200" lang="ar-SA">
                <a:solidFill>
                  <a:srgbClr val="FFFFFF"/>
                </a:solidFill>
                <a:latin typeface="Arial"/>
                <a:cs typeface="Arial"/>
              </a:rPr>
              <a:t>نقار الخشب – من كتابي ص١٠٦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71600"/>
            <a:ext cx="7132320" cy="1097280"/>
          </a:xfrm>
          <a:prstGeom prst="roundRect">
            <a:avLst>
              <a:gd name="adj" fmla="val 15000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400" lang="ar-SA">
                <a:solidFill>
                  <a:srgbClr val="1E7FB8"/>
                </a:solidFill>
                <a:latin typeface="Arial"/>
                <a:cs typeface="Arial"/>
              </a:rPr>
              <a:t>أَقْرَأُ اللَّوْحَةَ: </a:t>
            </a:r>
            <a:r>
              <a:rPr b="1" sz="2400" lang="ar-SA">
                <a:solidFill>
                  <a:srgbClr val="1E2A3A"/>
                </a:solidFill>
                <a:latin typeface="Arial"/>
                <a:cs typeface="Arial"/>
              </a:rPr>
              <a:t>كَيْفَ يَحْصُلُ نَقَّارُ الْخَشَبِ عَلَى غِذَائِهِ؟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97480"/>
            <a:ext cx="7132320" cy="1188720"/>
          </a:xfrm>
          <a:prstGeom prst="roundRect">
            <a:avLst>
              <a:gd name="adj" fmla="val 13846"/>
            </a:avLst>
          </a:prstGeom>
          <a:solidFill>
            <a:srgbClr val="27AE60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200" lang="ar-SA">
                <a:solidFill>
                  <a:srgbClr val="FFFFFF"/>
                </a:solidFill>
                <a:latin typeface="Arial"/>
                <a:cs typeface="Arial"/>
              </a:rPr>
              <a:t>يَنْقُرُ الْأَشْجَارَ بِمِنْقَارِهِ الطَّوِيلِ الْحَادِّ؛ بَحْثًا عَنِ الْحَشَرَاتِ لِيَأْكُلَهَا.</a:t>
            </a:r>
          </a:p>
        </p:txBody>
      </p:sp>
      <p:pic>
        <p:nvPicPr>
          <p:cNvPr id="12" name="Picture 11" descr="noura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023360"/>
            <a:ext cx="1428750" cy="2286000"/>
          </a:xfrm>
          <a:prstGeom prst="rect">
            <a:avLst/>
          </a:prstGeom>
        </p:spPr>
      </p:pic>
      <p:sp>
        <p:nvSpPr>
          <p:cNvPr id="13" name="Rounded Rectangular Callout 12"/>
          <p:cNvSpPr/>
          <p:nvPr/>
        </p:nvSpPr>
        <p:spPr>
          <a:xfrm>
            <a:off x="2514600" y="4251960"/>
            <a:ext cx="4206240" cy="1097280"/>
          </a:xfrm>
          <a:prstGeom prst="wedgeRoundRectCallout">
            <a:avLst>
              <a:gd name="adj1" fmla="val -62000"/>
              <a:gd name="adj2" fmla="val 30000"/>
              <a:gd name="adj3" fmla="val 16667"/>
            </a:avLst>
          </a:prstGeom>
          <a:solidFill>
            <a:srgbClr val="FFFFFF"/>
          </a:solidFill>
          <a:ln w="31750">
            <a:solidFill>
              <a:srgbClr val="E85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900" lang="ar-SA">
                <a:solidFill>
                  <a:srgbClr val="E8505B"/>
                </a:solidFill>
                <a:latin typeface="Arial"/>
                <a:cs typeface="Arial"/>
              </a:rPr>
              <a:t>نورة: </a:t>
            </a:r>
            <a:r>
              <a:rPr b="1" sz="1900" lang="ar-SA">
                <a:solidFill>
                  <a:srgbClr val="1E2A3A"/>
                </a:solidFill>
                <a:latin typeface="Arial"/>
                <a:cs typeface="Arial"/>
              </a:rPr>
              <a:t>لاحظي شكل المنقار… لماذا هو طويل وحاد؟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or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2E7D3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سرّ التخفي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التفكير الناقد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١٠٦</a:t>
            </a:r>
          </a:p>
        </p:txBody>
      </p:sp>
      <p:pic>
        <p:nvPicPr>
          <p:cNvPr id="8" name="Picture 7" descr="de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417320"/>
            <a:ext cx="3532580" cy="4754880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8595360" y="1106424"/>
            <a:ext cx="3532580" cy="292608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 rtl="1"/>
            <a:r>
              <a:rPr b="1" sz="1200" lang="ar-SA">
                <a:solidFill>
                  <a:srgbClr val="FFFFFF"/>
                </a:solidFill>
                <a:latin typeface="Arial"/>
                <a:cs typeface="Arial"/>
              </a:rPr>
              <a:t>من كتابي ص١٠٦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7863840" cy="960120"/>
          </a:xfrm>
          <a:prstGeom prst="roundRect">
            <a:avLst>
              <a:gd name="adj" fmla="val 17142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F39C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400" lang="ar-SA">
                <a:solidFill>
                  <a:srgbClr val="1E2A3A"/>
                </a:solidFill>
                <a:latin typeface="Arial"/>
                <a:cs typeface="Arial"/>
              </a:rPr>
              <a:t>جِلْدُ الْغَزَالِ الْمُنَقَّطُ يُسَاعِدُهُ عَلَى التَّخَفِّي فِي الْغَابَةِ.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77440"/>
            <a:ext cx="7863840" cy="960120"/>
          </a:xfrm>
          <a:prstGeom prst="roundRect">
            <a:avLst>
              <a:gd name="adj" fmla="val 17142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E85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800" lang="ar-SA">
                <a:solidFill>
                  <a:srgbClr val="E8505B"/>
                </a:solidFill>
                <a:latin typeface="Arial"/>
                <a:cs typeface="Arial"/>
              </a:rPr>
              <a:t>✔  </a:t>
            </a:r>
            <a:r>
              <a:rPr b="1" sz="2400" lang="ar-SA">
                <a:solidFill>
                  <a:srgbClr val="1E2A3A"/>
                </a:solidFill>
                <a:latin typeface="Arial"/>
                <a:cs typeface="Arial"/>
              </a:rPr>
              <a:t>كَيْفَ تَبْقَى بَعْضُ الْحَيَوَانَاتِ حَيَّةً فِي الْغَابَةِ؟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20440"/>
            <a:ext cx="7863840" cy="1417320"/>
          </a:xfrm>
          <a:prstGeom prst="roundRect">
            <a:avLst>
              <a:gd name="adj" fmla="val 11612"/>
            </a:avLst>
          </a:prstGeom>
          <a:solidFill>
            <a:srgbClr val="27AE60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000" lang="ar-SA">
                <a:solidFill>
                  <a:srgbClr val="FFFFFF"/>
                </a:solidFill>
                <a:latin typeface="Arial"/>
                <a:cs typeface="Arial"/>
              </a:rPr>
              <a:t>بِصِفَاتِ أَجْسَامِهَا: الْغَزَالُ يَتَخَفَّى بِجِلْدِهِ الْمُنَقَّطِ، وَالْبُومَةُ تَصْطَادُ بِعَيْنَيْهَا الْكَبِيرَتَيْنِ، وَالسِّنْجَابُ يَحْمِلُ الْجَوْزَ فِي خُدُودِهِ.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5120640"/>
            <a:ext cx="3017520" cy="548640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أحسنتِ يا مستكشفة! 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ainfor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16A085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الغابة المطيرة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التعلم البصري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1143000"/>
            <a:ext cx="7909560" cy="960120"/>
          </a:xfrm>
          <a:prstGeom prst="roundRect">
            <a:avLst>
              <a:gd name="adj" fmla="val 17142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100" lang="ar-SA">
                <a:solidFill>
                  <a:srgbClr val="1E2A3A"/>
                </a:solidFill>
                <a:latin typeface="Arial"/>
                <a:cs typeface="Arial"/>
              </a:rPr>
              <a:t>الْغَابَةُ الْمَطِيرَةُ مَوْطِنٌ تَتَسَاقَطُ عَلَيْهِ الْأَمْطَارُ كُلَّ يَوْمٍ تَقْرِيبًا.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23360" y="2221991"/>
            <a:ext cx="7909560" cy="960120"/>
          </a:xfrm>
          <a:prstGeom prst="roundRect">
            <a:avLst>
              <a:gd name="adj" fmla="val 17142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100" lang="ar-SA">
                <a:solidFill>
                  <a:srgbClr val="1E2A3A"/>
                </a:solidFill>
                <a:latin typeface="Arial"/>
                <a:cs typeface="Arial"/>
              </a:rPr>
              <a:t>لِذَا تَنْمُو فِيهَا الْأَشْجَارُ عَالِيًا، وَتَكُونُ لَهَا أَوْرَاقٌ ضَخْمَةٌ.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3300984"/>
            <a:ext cx="7909560" cy="960120"/>
          </a:xfrm>
          <a:prstGeom prst="roundRect">
            <a:avLst>
              <a:gd name="adj" fmla="val 17142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100" lang="ar-SA">
                <a:solidFill>
                  <a:srgbClr val="1E2A3A"/>
                </a:solidFill>
                <a:latin typeface="Arial"/>
                <a:cs typeface="Arial"/>
              </a:rPr>
              <a:t>الْخَفَافِيشُ وَالْحَشَرَاتُ وَالطُّيُورُ الْمُلَوَّنَةُ تَعِيشُ عَلَى قِمَمِ الْأَشْجَارِ.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4379976"/>
            <a:ext cx="7909560" cy="960120"/>
          </a:xfrm>
          <a:prstGeom prst="roundRect">
            <a:avLst>
              <a:gd name="adj" fmla="val 17142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100" lang="ar-SA">
                <a:solidFill>
                  <a:srgbClr val="1E2A3A"/>
                </a:solidFill>
                <a:latin typeface="Arial"/>
                <a:cs typeface="Arial"/>
              </a:rPr>
              <a:t>أَمَّا النُّمُورُ وَآكِلَاتُ النَّمْلِ فَتَعِيشُ عَلَى الْأَرْضِ.</a:t>
            </a:r>
          </a:p>
        </p:txBody>
      </p:sp>
      <p:pic>
        <p:nvPicPr>
          <p:cNvPr id="12" name="Picture 11" descr="parr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63040"/>
            <a:ext cx="1354351" cy="2240280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502920" y="1152144"/>
            <a:ext cx="1354351" cy="292608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 rtl="1"/>
            <a:r>
              <a:rPr b="1" sz="1200" lang="ar-SA">
                <a:solidFill>
                  <a:srgbClr val="FFFFFF"/>
                </a:solidFill>
                <a:latin typeface="Arial"/>
                <a:cs typeface="Arial"/>
              </a:rPr>
              <a:t>الببغاء – ص١٠٧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80" y="1463040"/>
            <a:ext cx="1234440" cy="2240280"/>
          </a:xfrm>
          <a:prstGeom prst="roundRect">
            <a:avLst>
              <a:gd name="adj" fmla="val 7346"/>
            </a:avLst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 rtl="1"/>
            <a:r>
              <a:rPr b="1" sz="1300" lang="ar-SA">
                <a:solidFill>
                  <a:srgbClr val="FFFFFF"/>
                </a:solidFill>
                <a:latin typeface="Arial"/>
                <a:cs typeface="Arial"/>
              </a:rPr>
              <a:t>تأكل الثمار والبذور من الأشجار العالية</a:t>
            </a:r>
          </a:p>
        </p:txBody>
      </p:sp>
      <p:pic>
        <p:nvPicPr>
          <p:cNvPr id="15" name="Picture 14" descr="ti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663440"/>
            <a:ext cx="3429000" cy="1516850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16" name="Rounded Rectangle 15"/>
          <p:cNvSpPr/>
          <p:nvPr/>
        </p:nvSpPr>
        <p:spPr>
          <a:xfrm>
            <a:off x="502920" y="416052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النمر يبحث عن غذائه على الأرض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4" grpId="0" animBg="1"/>
      <p:bldP spid="16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ainfor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16A085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الغابة المطيرة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فكّري – زاوجي – شاركي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١٠٧</a:t>
            </a:r>
          </a:p>
        </p:txBody>
      </p:sp>
      <p:pic>
        <p:nvPicPr>
          <p:cNvPr id="8" name="Picture 7" descr="rainforest_p1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63040"/>
            <a:ext cx="6035040" cy="4476514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411480" y="1152144"/>
            <a:ext cx="6035040" cy="292608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 rtl="1"/>
            <a:r>
              <a:rPr b="1" sz="1200" lang="ar-SA">
                <a:solidFill>
                  <a:srgbClr val="FFFFFF"/>
                </a:solidFill>
                <a:latin typeface="Arial"/>
                <a:cs typeface="Arial"/>
              </a:rPr>
              <a:t>من كتابي – ص١٠٧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1371600"/>
            <a:ext cx="5212080" cy="1280160"/>
          </a:xfrm>
          <a:prstGeom prst="roundRect">
            <a:avLst>
              <a:gd name="adj" fmla="val 12857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E85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800" lang="ar-SA">
                <a:solidFill>
                  <a:srgbClr val="E8505B"/>
                </a:solidFill>
                <a:latin typeface="Arial"/>
                <a:cs typeface="Arial"/>
              </a:rPr>
              <a:t>✔  </a:t>
            </a:r>
            <a:r>
              <a:rPr b="1" sz="2400" lang="ar-SA">
                <a:solidFill>
                  <a:srgbClr val="1E2A3A"/>
                </a:solidFill>
                <a:latin typeface="Arial"/>
                <a:cs typeface="Arial"/>
              </a:rPr>
              <a:t>كَيْفَ تَبْدُو الْأَشْجَارُ فِي الْغَابَاتِ الْمَطِيرَةِ؟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2834640"/>
            <a:ext cx="5212080" cy="109728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400" lang="ar-SA">
                <a:solidFill>
                  <a:srgbClr val="FFFFFF"/>
                </a:solidFill>
                <a:latin typeface="Arial"/>
                <a:cs typeface="Arial"/>
              </a:rPr>
              <a:t>عَالِيَةٌ جِدًّا، وَلَهَا أَوْرَاقٌ ضَخْمَةٌ.</a:t>
            </a:r>
          </a:p>
        </p:txBody>
      </p:sp>
      <p:pic>
        <p:nvPicPr>
          <p:cNvPr id="12" name="Picture 11" descr="noura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14800"/>
            <a:ext cx="1371600" cy="2194560"/>
          </a:xfrm>
          <a:prstGeom prst="rect">
            <a:avLst/>
          </a:prstGeom>
        </p:spPr>
      </p:pic>
      <p:sp>
        <p:nvSpPr>
          <p:cNvPr id="13" name="Rounded Rectangular Callout 12"/>
          <p:cNvSpPr/>
          <p:nvPr/>
        </p:nvSpPr>
        <p:spPr>
          <a:xfrm>
            <a:off x="8732520" y="4389120"/>
            <a:ext cx="3200400" cy="1005840"/>
          </a:xfrm>
          <a:prstGeom prst="wedgeRoundRectCallout">
            <a:avLst>
              <a:gd name="adj1" fmla="val -62000"/>
              <a:gd name="adj2" fmla="val 30000"/>
              <a:gd name="adj3" fmla="val 16667"/>
            </a:avLst>
          </a:prstGeom>
          <a:solidFill>
            <a:srgbClr val="FFFFFF"/>
          </a:solidFill>
          <a:ln w="31750">
            <a:solidFill>
              <a:srgbClr val="E85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800" lang="ar-SA">
                <a:solidFill>
                  <a:srgbClr val="E8505B"/>
                </a:solidFill>
                <a:latin typeface="Arial"/>
                <a:cs typeface="Arial"/>
              </a:rPr>
              <a:t>نورة: </a:t>
            </a:r>
            <a:r>
              <a:rPr b="1" sz="1800" lang="ar-SA">
                <a:solidFill>
                  <a:srgbClr val="1E2A3A"/>
                </a:solidFill>
                <a:latin typeface="Arial"/>
                <a:cs typeface="Arial"/>
              </a:rPr>
              <a:t>فكّري مع زميلتك… ثم شاركي!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or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2E7D3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نشاط: أقارن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السبورة المنظمة – المقارنة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051560"/>
            <a:ext cx="11475720" cy="5212080"/>
          </a:xfrm>
          <a:prstGeom prst="roundRect">
            <a:avLst>
              <a:gd name="adj" fmla="val 3157"/>
            </a:avLst>
          </a:prstGeom>
          <a:solidFill>
            <a:srgbClr val="FFFFFF">
              <a:alpha val="96000"/>
            </a:srgbClr>
          </a:solidFill>
          <a:ln w="63500">
            <a:solidFill>
              <a:srgbClr val="90A4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188720"/>
            <a:ext cx="10927080" cy="548640"/>
          </a:xfrm>
          <a:prstGeom prst="roundRect">
            <a:avLst>
              <a:gd name="adj" fmla="val 3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000" lang="ar-SA">
                <a:solidFill>
                  <a:srgbClr val="1E7FB8"/>
                </a:solidFill>
                <a:latin typeface="Arial"/>
                <a:cs typeface="Arial"/>
              </a:rPr>
              <a:t>أُقَارِنُ بَيْنَ نَبَاتَاتِ الْغَابَةِ وَنَبَاتَاتِ الصَّحْرَاءِ – وَالْغَابَةِ الْمَطِيرَةِ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1828800"/>
            <a:ext cx="2743200" cy="54864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000" lang="ar-SA">
                <a:solidFill>
                  <a:srgbClr val="FFFFFF"/>
                </a:solidFill>
                <a:latin typeface="Arial"/>
                <a:cs typeface="Arial"/>
              </a:rPr>
              <a:t>🌳 الغابة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39" y="1828800"/>
            <a:ext cx="2743200" cy="548640"/>
          </a:xfrm>
          <a:prstGeom prst="roundRect">
            <a:avLst>
              <a:gd name="adj" fmla="val 50000"/>
            </a:avLst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000" lang="ar-SA">
                <a:solidFill>
                  <a:srgbClr val="FFFFFF"/>
                </a:solidFill>
                <a:latin typeface="Arial"/>
                <a:cs typeface="Arial"/>
              </a:rPr>
              <a:t>🌧️ الغابة المطيرة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828800"/>
            <a:ext cx="2743200" cy="548640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000" lang="ar-SA">
                <a:solidFill>
                  <a:srgbClr val="FFFFFF"/>
                </a:solidFill>
                <a:latin typeface="Arial"/>
                <a:cs typeface="Arial"/>
              </a:rPr>
              <a:t>🌵 الصحراء الحارة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0" y="2514600"/>
            <a:ext cx="2148840" cy="804672"/>
          </a:xfrm>
          <a:prstGeom prst="roundRect">
            <a:avLst>
              <a:gd name="adj" fmla="val 20454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000" lang="ar-SA">
                <a:solidFill>
                  <a:srgbClr val="FFFFFF"/>
                </a:solidFill>
                <a:latin typeface="Arial"/>
                <a:cs typeface="Arial"/>
              </a:rPr>
              <a:t>الأمطار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2514600"/>
            <a:ext cx="2743200" cy="804672"/>
          </a:xfrm>
          <a:prstGeom prst="roundRect">
            <a:avLst>
              <a:gd name="adj" fmla="val 20454"/>
            </a:avLst>
          </a:prstGeom>
          <a:solidFill>
            <a:srgbClr val="FFFFFF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 rtl="1"/>
            <a:r>
              <a:rPr b="1" sz="1600" lang="ar-SA">
                <a:solidFill>
                  <a:srgbClr val="2E7D32"/>
                </a:solidFill>
                <a:latin typeface="Arial"/>
                <a:cs typeface="Arial"/>
              </a:rPr>
              <a:t>متوافرة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49039" y="2514600"/>
            <a:ext cx="2743200" cy="804672"/>
          </a:xfrm>
          <a:prstGeom prst="roundRect">
            <a:avLst>
              <a:gd name="adj" fmla="val 20454"/>
            </a:avLst>
          </a:prstGeom>
          <a:solidFill>
            <a:srgbClr val="FFFFFF"/>
          </a:solidFill>
          <a:ln w="2540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 rtl="1"/>
            <a:r>
              <a:rPr b="1" sz="1600" lang="ar-SA">
                <a:solidFill>
                  <a:srgbClr val="16A085"/>
                </a:solidFill>
                <a:latin typeface="Arial"/>
                <a:cs typeface="Arial"/>
              </a:rPr>
              <a:t>كل يوم تقريبًا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2514600"/>
            <a:ext cx="2743200" cy="804672"/>
          </a:xfrm>
          <a:prstGeom prst="roundRect">
            <a:avLst>
              <a:gd name="adj" fmla="val 20454"/>
            </a:avLst>
          </a:prstGeom>
          <a:solidFill>
            <a:srgbClr val="FFFFFF"/>
          </a:solidFill>
          <a:ln w="2540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 rtl="1"/>
            <a:r>
              <a:rPr b="1" sz="1600" lang="ar-SA">
                <a:solidFill>
                  <a:srgbClr val="E67E22"/>
                </a:solidFill>
                <a:latin typeface="Arial"/>
                <a:cs typeface="Arial"/>
              </a:rPr>
              <a:t>قليلة جدًا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0" y="3429000"/>
            <a:ext cx="2148840" cy="804672"/>
          </a:xfrm>
          <a:prstGeom prst="roundRect">
            <a:avLst>
              <a:gd name="adj" fmla="val 20454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000" lang="ar-SA">
                <a:solidFill>
                  <a:srgbClr val="FFFFFF"/>
                </a:solidFill>
                <a:latin typeface="Arial"/>
                <a:cs typeface="Arial"/>
              </a:rPr>
              <a:t>الأشجار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3429000"/>
            <a:ext cx="2743200" cy="804672"/>
          </a:xfrm>
          <a:prstGeom prst="roundRect">
            <a:avLst>
              <a:gd name="adj" fmla="val 20454"/>
            </a:avLst>
          </a:prstGeom>
          <a:solidFill>
            <a:srgbClr val="FFFFFF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 rtl="1"/>
            <a:r>
              <a:rPr b="1" sz="1600" lang="ar-SA">
                <a:solidFill>
                  <a:srgbClr val="2E7D32"/>
                </a:solidFill>
                <a:latin typeface="Arial"/>
                <a:cs typeface="Arial"/>
              </a:rPr>
              <a:t>كثيرة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39" y="3429000"/>
            <a:ext cx="2743200" cy="804672"/>
          </a:xfrm>
          <a:prstGeom prst="roundRect">
            <a:avLst>
              <a:gd name="adj" fmla="val 20454"/>
            </a:avLst>
          </a:prstGeom>
          <a:solidFill>
            <a:srgbClr val="FFFFFF"/>
          </a:solidFill>
          <a:ln w="2540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 rtl="1"/>
            <a:r>
              <a:rPr b="1" sz="1600" lang="ar-SA">
                <a:solidFill>
                  <a:srgbClr val="16A085"/>
                </a:solidFill>
                <a:latin typeface="Arial"/>
                <a:cs typeface="Arial"/>
              </a:rPr>
              <a:t>عالية جدًا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3429000"/>
            <a:ext cx="2743200" cy="804672"/>
          </a:xfrm>
          <a:prstGeom prst="roundRect">
            <a:avLst>
              <a:gd name="adj" fmla="val 20454"/>
            </a:avLst>
          </a:prstGeom>
          <a:solidFill>
            <a:srgbClr val="FFFFFF"/>
          </a:solidFill>
          <a:ln w="2540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 rtl="1"/>
            <a:r>
              <a:rPr b="1" sz="1600" lang="ar-SA">
                <a:solidFill>
                  <a:srgbClr val="E67E22"/>
                </a:solidFill>
                <a:latin typeface="Arial"/>
                <a:cs typeface="Arial"/>
              </a:rPr>
              <a:t>قليلة (الصبار والأعشاب)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09760" y="4343400"/>
            <a:ext cx="2148840" cy="804672"/>
          </a:xfrm>
          <a:prstGeom prst="roundRect">
            <a:avLst>
              <a:gd name="adj" fmla="val 20454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000" lang="ar-SA">
                <a:solidFill>
                  <a:srgbClr val="FFFFFF"/>
                </a:solidFill>
                <a:latin typeface="Arial"/>
                <a:cs typeface="Arial"/>
              </a:rPr>
              <a:t>الأوراق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29400" y="4343400"/>
            <a:ext cx="2743200" cy="804672"/>
          </a:xfrm>
          <a:prstGeom prst="roundRect">
            <a:avLst>
              <a:gd name="adj" fmla="val 20454"/>
            </a:avLst>
          </a:prstGeom>
          <a:solidFill>
            <a:srgbClr val="FFFFFF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 rtl="1"/>
            <a:r>
              <a:rPr b="1" sz="1600" lang="ar-SA">
                <a:solidFill>
                  <a:srgbClr val="2E7D32"/>
                </a:solidFill>
                <a:latin typeface="Arial"/>
                <a:cs typeface="Arial"/>
              </a:rPr>
              <a:t>يتغير لونها وتتساقط، أو تبقى خضراء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49039" y="4343400"/>
            <a:ext cx="2743200" cy="804672"/>
          </a:xfrm>
          <a:prstGeom prst="roundRect">
            <a:avLst>
              <a:gd name="adj" fmla="val 20454"/>
            </a:avLst>
          </a:prstGeom>
          <a:solidFill>
            <a:srgbClr val="FFFFFF"/>
          </a:solidFill>
          <a:ln w="2540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 rtl="1"/>
            <a:r>
              <a:rPr b="1" sz="1600" lang="ar-SA">
                <a:solidFill>
                  <a:srgbClr val="16A085"/>
                </a:solidFill>
                <a:latin typeface="Arial"/>
                <a:cs typeface="Arial"/>
              </a:rPr>
              <a:t>ضخمة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343400"/>
            <a:ext cx="2743200" cy="804672"/>
          </a:xfrm>
          <a:prstGeom prst="roundRect">
            <a:avLst>
              <a:gd name="adj" fmla="val 20454"/>
            </a:avLst>
          </a:prstGeom>
          <a:solidFill>
            <a:srgbClr val="FFFFFF"/>
          </a:solidFill>
          <a:ln w="2540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 rtl="1"/>
            <a:r>
              <a:rPr b="1" sz="1600" lang="ar-SA">
                <a:solidFill>
                  <a:srgbClr val="E67E22"/>
                </a:solidFill>
                <a:latin typeface="Arial"/>
                <a:cs typeface="Arial"/>
              </a:rPr>
              <a:t>صغيرة أو ملفوفة أو سميكة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60" y="5257800"/>
            <a:ext cx="2148840" cy="804672"/>
          </a:xfrm>
          <a:prstGeom prst="roundRect">
            <a:avLst>
              <a:gd name="adj" fmla="val 20454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000" lang="ar-SA">
                <a:solidFill>
                  <a:srgbClr val="FFFFFF"/>
                </a:solidFill>
                <a:latin typeface="Arial"/>
                <a:cs typeface="Arial"/>
              </a:rPr>
              <a:t>الحيوانات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29400" y="5257800"/>
            <a:ext cx="2743200" cy="804672"/>
          </a:xfrm>
          <a:prstGeom prst="roundRect">
            <a:avLst>
              <a:gd name="adj" fmla="val 20454"/>
            </a:avLst>
          </a:prstGeom>
          <a:solidFill>
            <a:srgbClr val="FFFFFF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 rtl="1"/>
            <a:r>
              <a:rPr b="1" sz="1600" lang="ar-SA">
                <a:solidFill>
                  <a:srgbClr val="2E7D32"/>
                </a:solidFill>
                <a:latin typeface="Arial"/>
                <a:cs typeface="Arial"/>
              </a:rPr>
              <a:t>الغزال، البومة، السنجاب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49039" y="5257800"/>
            <a:ext cx="2743200" cy="804672"/>
          </a:xfrm>
          <a:prstGeom prst="roundRect">
            <a:avLst>
              <a:gd name="adj" fmla="val 20454"/>
            </a:avLst>
          </a:prstGeom>
          <a:solidFill>
            <a:srgbClr val="FFFFFF"/>
          </a:solidFill>
          <a:ln w="2540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 rtl="1"/>
            <a:r>
              <a:rPr b="1" sz="1600" lang="ar-SA">
                <a:solidFill>
                  <a:srgbClr val="16A085"/>
                </a:solidFill>
                <a:latin typeface="Arial"/>
                <a:cs typeface="Arial"/>
              </a:rPr>
              <a:t>الببغاء، النمر، الخفاش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" y="5257800"/>
            <a:ext cx="2743200" cy="804672"/>
          </a:xfrm>
          <a:prstGeom prst="roundRect">
            <a:avLst>
              <a:gd name="adj" fmla="val 20454"/>
            </a:avLst>
          </a:prstGeom>
          <a:solidFill>
            <a:srgbClr val="FFFFFF"/>
          </a:solidFill>
          <a:ln w="2540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 rtl="1"/>
            <a:r>
              <a:rPr b="1" sz="1600" lang="ar-SA">
                <a:solidFill>
                  <a:srgbClr val="E67E22"/>
                </a:solidFill>
                <a:latin typeface="Arial"/>
                <a:cs typeface="Arial"/>
              </a:rPr>
              <a:t>الضب، الذئب، العقرب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ah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1B7A3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قصة في بلدي (١)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التعلم بالقصة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188720"/>
            <a:ext cx="8275320" cy="1920240"/>
          </a:xfrm>
          <a:prstGeom prst="roundRect">
            <a:avLst>
              <a:gd name="adj" fmla="val 8571"/>
            </a:avLst>
          </a:prstGeom>
          <a:solidFill>
            <a:srgbClr val="FFFDF0">
              <a:alpha val="94000"/>
            </a:srgbClr>
          </a:solidFill>
          <a:ln w="50800">
            <a:solidFill>
              <a:srgbClr val="8D6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300" lang="ar-SA">
                <a:solidFill>
                  <a:srgbClr val="1E2A3A"/>
                </a:solidFill>
                <a:latin typeface="Arial"/>
                <a:cs typeface="Arial"/>
              </a:rPr>
              <a:t>في إجازة نهاية الأسبوع، سافرت نورة مع أسرتها إلى منطقة الباحة. رأت الضباب يعانق الجبال الخضراء، والأشجار في كل مكان!</a:t>
            </a:r>
          </a:p>
        </p:txBody>
      </p:sp>
      <p:pic>
        <p:nvPicPr>
          <p:cNvPr id="9" name="Picture 8" descr="noura_wa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108960"/>
            <a:ext cx="1943100" cy="3108960"/>
          </a:xfrm>
          <a:prstGeom prst="rect">
            <a:avLst/>
          </a:prstGeom>
        </p:spPr>
      </p:pic>
      <p:sp>
        <p:nvSpPr>
          <p:cNvPr id="10" name="Rounded Rectangular Callout 9"/>
          <p:cNvSpPr/>
          <p:nvPr/>
        </p:nvSpPr>
        <p:spPr>
          <a:xfrm>
            <a:off x="2240280" y="3291840"/>
            <a:ext cx="3840480" cy="1097280"/>
          </a:xfrm>
          <a:prstGeom prst="wedgeRoundRectCallout">
            <a:avLst>
              <a:gd name="adj1" fmla="val -60000"/>
              <a:gd name="adj2" fmla="val 40000"/>
              <a:gd name="adj3" fmla="val 16667"/>
            </a:avLst>
          </a:prstGeom>
          <a:solidFill>
            <a:srgbClr val="FFFFFF"/>
          </a:solidFill>
          <a:ln w="31750">
            <a:solidFill>
              <a:srgbClr val="E85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900" lang="ar-SA">
                <a:solidFill>
                  <a:srgbClr val="E8505B"/>
                </a:solidFill>
                <a:latin typeface="Arial"/>
                <a:cs typeface="Arial"/>
              </a:rPr>
              <a:t>نورة: </a:t>
            </a:r>
            <a:r>
              <a:rPr b="1" sz="1900" lang="ar-SA">
                <a:solidFill>
                  <a:srgbClr val="1E2A3A"/>
                </a:solidFill>
                <a:latin typeface="Arial"/>
                <a:cs typeface="Arial"/>
              </a:rPr>
              <a:t>هل في بلدي غابات مثل التي في كتابي؟</a:t>
            </a:r>
          </a:p>
        </p:txBody>
      </p:sp>
      <p:pic>
        <p:nvPicPr>
          <p:cNvPr id="11" name="Picture 10" descr="bah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657600"/>
            <a:ext cx="5394960" cy="2089461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6492240" y="3346704"/>
            <a:ext cx="5394960" cy="292608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 rtl="1"/>
            <a:r>
              <a:rPr b="1" sz="1200" lang="ar-SA">
                <a:solidFill>
                  <a:srgbClr val="FFFFFF"/>
                </a:solidFill>
                <a:latin typeface="Arial"/>
                <a:cs typeface="Arial"/>
              </a:rPr>
              <a:t>غابة رغدان في الباحة – من كتابي ص١٠٨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ah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1B7A3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قصة في بلدي (٢)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التعلم بالقصة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188720"/>
            <a:ext cx="8275320" cy="1920240"/>
          </a:xfrm>
          <a:prstGeom prst="roundRect">
            <a:avLst>
              <a:gd name="adj" fmla="val 8571"/>
            </a:avLst>
          </a:prstGeom>
          <a:solidFill>
            <a:srgbClr val="FFFDF0">
              <a:alpha val="94000"/>
            </a:srgbClr>
          </a:solidFill>
          <a:ln w="50800">
            <a:solidFill>
              <a:srgbClr val="8D6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300" lang="ar-SA">
                <a:solidFill>
                  <a:srgbClr val="1E2A3A"/>
                </a:solidFill>
                <a:latin typeface="Arial"/>
                <a:cs typeface="Arial"/>
              </a:rPr>
              <a:t>قال أبوها: نعم يا نورة! في المملكة العربية السعودية غابات كثيرة في مرتفعات الحجاز وعسير، ومن أشهرها غابة رغدان القريبة من الباحة.</a:t>
            </a:r>
          </a:p>
        </p:txBody>
      </p:sp>
      <p:pic>
        <p:nvPicPr>
          <p:cNvPr id="9" name="Picture 8" descr="noura_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108960"/>
            <a:ext cx="1943100" cy="3108960"/>
          </a:xfrm>
          <a:prstGeom prst="rect">
            <a:avLst/>
          </a:prstGeom>
        </p:spPr>
      </p:pic>
      <p:sp>
        <p:nvSpPr>
          <p:cNvPr id="10" name="Rounded Rectangular Callout 9"/>
          <p:cNvSpPr/>
          <p:nvPr/>
        </p:nvSpPr>
        <p:spPr>
          <a:xfrm>
            <a:off x="2240280" y="3291840"/>
            <a:ext cx="3840480" cy="1097280"/>
          </a:xfrm>
          <a:prstGeom prst="wedgeRoundRectCallout">
            <a:avLst>
              <a:gd name="adj1" fmla="val -60000"/>
              <a:gd name="adj2" fmla="val 40000"/>
              <a:gd name="adj3" fmla="val 16667"/>
            </a:avLst>
          </a:prstGeom>
          <a:solidFill>
            <a:srgbClr val="FFFFFF"/>
          </a:solidFill>
          <a:ln w="31750">
            <a:solidFill>
              <a:srgbClr val="E85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900" lang="ar-SA">
                <a:solidFill>
                  <a:srgbClr val="E8505B"/>
                </a:solidFill>
                <a:latin typeface="Arial"/>
                <a:cs typeface="Arial"/>
              </a:rPr>
              <a:t>نورة: </a:t>
            </a:r>
            <a:r>
              <a:rPr b="1" sz="1900" lang="ar-SA">
                <a:solidFill>
                  <a:srgbClr val="1E2A3A"/>
                </a:solidFill>
                <a:latin typeface="Arial"/>
                <a:cs typeface="Arial"/>
              </a:rPr>
              <a:t>ما هذه الأشجار الجميلة؟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ah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1B7A3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قصة في بلدي (٣)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التعلم بالقصة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188720"/>
            <a:ext cx="8275320" cy="1920240"/>
          </a:xfrm>
          <a:prstGeom prst="roundRect">
            <a:avLst>
              <a:gd name="adj" fmla="val 8571"/>
            </a:avLst>
          </a:prstGeom>
          <a:solidFill>
            <a:srgbClr val="FFFDF0">
              <a:alpha val="94000"/>
            </a:srgbClr>
          </a:solidFill>
          <a:ln w="50800">
            <a:solidFill>
              <a:srgbClr val="8D6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300" lang="ar-SA">
                <a:solidFill>
                  <a:srgbClr val="1E2A3A"/>
                </a:solidFill>
                <a:latin typeface="Arial"/>
                <a:cs typeface="Arial"/>
              </a:rPr>
              <a:t>قالت أمها: تشتهر غابة رغدان بشجر العرعر، وأشجار اللوز والزيتون، وأشجار مثمرة مثل: الخوخ والمشمش والرمان والعنب.</a:t>
            </a:r>
          </a:p>
        </p:txBody>
      </p:sp>
      <p:pic>
        <p:nvPicPr>
          <p:cNvPr id="9" name="Picture 8" descr="noura_che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108960"/>
            <a:ext cx="1943100" cy="3108960"/>
          </a:xfrm>
          <a:prstGeom prst="rect">
            <a:avLst/>
          </a:prstGeom>
        </p:spPr>
      </p:pic>
      <p:sp>
        <p:nvSpPr>
          <p:cNvPr id="10" name="Rounded Rectangular Callout 9"/>
          <p:cNvSpPr/>
          <p:nvPr/>
        </p:nvSpPr>
        <p:spPr>
          <a:xfrm>
            <a:off x="2240280" y="3291840"/>
            <a:ext cx="3840480" cy="1097280"/>
          </a:xfrm>
          <a:prstGeom prst="wedgeRoundRectCallout">
            <a:avLst>
              <a:gd name="adj1" fmla="val -60000"/>
              <a:gd name="adj2" fmla="val 40000"/>
              <a:gd name="adj3" fmla="val 16667"/>
            </a:avLst>
          </a:prstGeom>
          <a:solidFill>
            <a:srgbClr val="FFFFFF"/>
          </a:solidFill>
          <a:ln w="31750">
            <a:solidFill>
              <a:srgbClr val="E85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900" lang="ar-SA">
                <a:solidFill>
                  <a:srgbClr val="E8505B"/>
                </a:solidFill>
                <a:latin typeface="Arial"/>
                <a:cs typeface="Arial"/>
              </a:rPr>
              <a:t>نورة: </a:t>
            </a:r>
            <a:r>
              <a:rPr b="1" sz="1900" lang="ar-SA">
                <a:solidFill>
                  <a:srgbClr val="1E2A3A"/>
                </a:solidFill>
                <a:latin typeface="Arial"/>
                <a:cs typeface="Arial"/>
              </a:rPr>
              <a:t>كم هي جميلة غابات بلادي! 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18520" y="3657600"/>
            <a:ext cx="132588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 rtl="1"/>
            <a:r>
              <a:rPr b="1" sz="1500" lang="ar-SA">
                <a:solidFill>
                  <a:srgbClr val="1B5E20"/>
                </a:solidFill>
                <a:latin typeface="Arial"/>
                <a:cs typeface="Arial"/>
              </a:rPr>
              <a:t>🌲 العرعر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3657600"/>
            <a:ext cx="132588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 rtl="1"/>
            <a:r>
              <a:rPr b="1" sz="1500" lang="ar-SA">
                <a:solidFill>
                  <a:srgbClr val="1B5E20"/>
                </a:solidFill>
                <a:latin typeface="Arial"/>
                <a:cs typeface="Arial"/>
              </a:rPr>
              <a:t>🌰 اللوز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3657600"/>
            <a:ext cx="132588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 rtl="1"/>
            <a:r>
              <a:rPr b="1" sz="1500" lang="ar-SA">
                <a:solidFill>
                  <a:srgbClr val="1B5E20"/>
                </a:solidFill>
                <a:latin typeface="Arial"/>
                <a:cs typeface="Arial"/>
              </a:rPr>
              <a:t>🌿 الزيتون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657600"/>
            <a:ext cx="132588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 rtl="1"/>
            <a:r>
              <a:rPr b="1" sz="1500" lang="ar-SA">
                <a:solidFill>
                  <a:srgbClr val="1B5E20"/>
                </a:solidFill>
                <a:latin typeface="Arial"/>
                <a:cs typeface="Arial"/>
              </a:rPr>
              <a:t>🍑 الخوخ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018520" y="4480560"/>
            <a:ext cx="132588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 rtl="1"/>
            <a:r>
              <a:rPr b="1" sz="1500" lang="ar-SA">
                <a:solidFill>
                  <a:srgbClr val="1B5E20"/>
                </a:solidFill>
                <a:latin typeface="Arial"/>
                <a:cs typeface="Arial"/>
              </a:rPr>
              <a:t>🍊 المشمش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4480560"/>
            <a:ext cx="132588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 rtl="1"/>
            <a:r>
              <a:rPr b="1" sz="1500" lang="ar-SA">
                <a:solidFill>
                  <a:srgbClr val="1B5E20"/>
                </a:solidFill>
                <a:latin typeface="Arial"/>
                <a:cs typeface="Arial"/>
              </a:rPr>
              <a:t>🍎 الرمان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4480560"/>
            <a:ext cx="132588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 rtl="1"/>
            <a:r>
              <a:rPr b="1" sz="1500" lang="ar-SA">
                <a:solidFill>
                  <a:srgbClr val="1B5E20"/>
                </a:solidFill>
                <a:latin typeface="Arial"/>
                <a:cs typeface="Arial"/>
              </a:rPr>
              <a:t>🍇 العنب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ah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1B7A3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لماذا نحافظ عليها؟ (٤)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ربط وطني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1143000"/>
            <a:ext cx="8001000" cy="914400"/>
          </a:xfrm>
          <a:prstGeom prst="roundRect">
            <a:avLst>
              <a:gd name="adj" fmla="val 18000"/>
            </a:avLst>
          </a:prstGeom>
          <a:solidFill>
            <a:srgbClr val="FFFDF0">
              <a:alpha val="94000"/>
            </a:srgbClr>
          </a:solidFill>
          <a:ln w="381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400" lang="ar-SA">
                <a:solidFill>
                  <a:srgbClr val="1E2A3A"/>
                </a:solidFill>
                <a:latin typeface="Arial"/>
                <a:cs typeface="Arial"/>
              </a:rPr>
              <a:t>🌳  </a:t>
            </a:r>
            <a:r>
              <a:rPr b="1" sz="2100" lang="ar-SA">
                <a:solidFill>
                  <a:srgbClr val="1E2A3A"/>
                </a:solidFill>
                <a:latin typeface="Arial"/>
                <a:cs typeface="Arial"/>
              </a:rPr>
              <a:t>تُوَفِّرُ الظِّلَّ لِأَهْلِ الْمَنْطِقَةِ.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194560"/>
            <a:ext cx="8001000" cy="914400"/>
          </a:xfrm>
          <a:prstGeom prst="roundRect">
            <a:avLst>
              <a:gd name="adj" fmla="val 18000"/>
            </a:avLst>
          </a:prstGeom>
          <a:solidFill>
            <a:srgbClr val="FFFDF0">
              <a:alpha val="94000"/>
            </a:srgbClr>
          </a:solidFill>
          <a:ln w="381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400" lang="ar-SA">
                <a:solidFill>
                  <a:srgbClr val="1E2A3A"/>
                </a:solidFill>
                <a:latin typeface="Arial"/>
                <a:cs typeface="Arial"/>
              </a:rPr>
              <a:t>⛰️  </a:t>
            </a:r>
            <a:r>
              <a:rPr b="1" sz="2100" lang="ar-SA">
                <a:solidFill>
                  <a:srgbClr val="1E2A3A"/>
                </a:solidFill>
                <a:latin typeface="Arial"/>
                <a:cs typeface="Arial"/>
              </a:rPr>
              <a:t>تُثَبِّتُ التُّرْبَةَ.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3246120"/>
            <a:ext cx="8001000" cy="914400"/>
          </a:xfrm>
          <a:prstGeom prst="roundRect">
            <a:avLst>
              <a:gd name="adj" fmla="val 18000"/>
            </a:avLst>
          </a:prstGeom>
          <a:solidFill>
            <a:srgbClr val="FFFDF0">
              <a:alpha val="94000"/>
            </a:srgbClr>
          </a:solidFill>
          <a:ln w="381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400" lang="ar-SA">
                <a:solidFill>
                  <a:srgbClr val="1E2A3A"/>
                </a:solidFill>
                <a:latin typeface="Arial"/>
                <a:cs typeface="Arial"/>
              </a:rPr>
              <a:t>🌾  </a:t>
            </a:r>
            <a:r>
              <a:rPr b="1" sz="2100" lang="ar-SA">
                <a:solidFill>
                  <a:srgbClr val="1E2A3A"/>
                </a:solidFill>
                <a:latin typeface="Arial"/>
                <a:cs typeface="Arial"/>
              </a:rPr>
              <a:t>تَحْمِي الْأَرَاضِيَ الزِّرَاعِيَّةَ مِنْ خَطَرِ الِانْجِرَافِ بِفِعْلِ الْأَمْطَارِ.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31920" y="4297679"/>
            <a:ext cx="8001000" cy="914400"/>
          </a:xfrm>
          <a:prstGeom prst="roundRect">
            <a:avLst>
              <a:gd name="adj" fmla="val 18000"/>
            </a:avLst>
          </a:prstGeom>
          <a:solidFill>
            <a:srgbClr val="FFFDF0">
              <a:alpha val="94000"/>
            </a:srgbClr>
          </a:solidFill>
          <a:ln w="381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400" lang="ar-SA">
                <a:solidFill>
                  <a:srgbClr val="1E2A3A"/>
                </a:solidFill>
                <a:latin typeface="Arial"/>
                <a:cs typeface="Arial"/>
              </a:rPr>
              <a:t>🚫  </a:t>
            </a:r>
            <a:r>
              <a:rPr b="1" sz="2100" lang="ar-SA">
                <a:solidFill>
                  <a:srgbClr val="1E2A3A"/>
                </a:solidFill>
                <a:latin typeface="Arial"/>
                <a:cs typeface="Arial"/>
              </a:rPr>
              <a:t>يَحْرِصُ أَهَالِي الْمَنَاطِقِ عَلَى حِمَايَتِهَا مِنَ الِاحْتِطَابِ وَقَطْعِ الْأَشْجَارِ.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440680"/>
            <a:ext cx="8001000" cy="82296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r" rtl="1"/>
            <a:r>
              <a:rPr b="1" sz="1700" lang="ar-SA">
                <a:solidFill>
                  <a:srgbClr val="FFFFFF"/>
                </a:solidFill>
                <a:latin typeface="Arial"/>
                <a:cs typeface="Arial"/>
              </a:rPr>
              <a:t>الربط مع رؤية ٢٠٣٠ – مجتمع حيوي: </a:t>
            </a:r>
          </a:p>
          <a:p>
            <a:pPr algn="r" rtl="1"/>
            <a:r>
              <a:rPr b="1" sz="1500" lang="ar-SA">
                <a:solidFill>
                  <a:srgbClr val="E8F5E9"/>
                </a:solidFill>
                <a:latin typeface="Arial"/>
                <a:cs typeface="Arial"/>
              </a:rPr>
              <a:t>حماية وتهيئة المناطق الطبيعية (مثل الشواطئ والجزر والمحميات الطبيعية)</a:t>
            </a:r>
          </a:p>
        </p:txBody>
      </p:sp>
      <p:pic>
        <p:nvPicPr>
          <p:cNvPr id="13" name="Picture 12" descr="page_p1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17320"/>
            <a:ext cx="2919992" cy="3657600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14" name="Rounded Rectangle 13"/>
          <p:cNvSpPr/>
          <p:nvPr/>
        </p:nvSpPr>
        <p:spPr>
          <a:xfrm>
            <a:off x="365760" y="1106424"/>
            <a:ext cx="2919992" cy="292608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 rtl="1"/>
            <a:r>
              <a:rPr b="1" sz="1200" lang="ar-SA">
                <a:solidFill>
                  <a:srgbClr val="FFFFFF"/>
                </a:solidFill>
                <a:latin typeface="Arial"/>
                <a:cs typeface="Arial"/>
              </a:rPr>
              <a:t>من كتابي – ص١٠٨</a:t>
            </a:r>
          </a:p>
        </p:txBody>
      </p:sp>
      <p:pic>
        <p:nvPicPr>
          <p:cNvPr id="15" name="Picture 14" descr="noura_che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709160"/>
            <a:ext cx="1114425" cy="17830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ah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1B7A3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أتحدّث عن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المناقشة والحوار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280160"/>
            <a:ext cx="8641080" cy="1554480"/>
          </a:xfrm>
          <a:prstGeom prst="roundRect">
            <a:avLst>
              <a:gd name="adj" fmla="val 10588"/>
            </a:avLst>
          </a:prstGeom>
          <a:solidFill>
            <a:srgbClr val="FFFFFF">
              <a:alpha val="94000"/>
            </a:srgbClr>
          </a:solidFill>
          <a:ln w="508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400" lang="ar-SA">
                <a:solidFill>
                  <a:srgbClr val="8E44AD"/>
                </a:solidFill>
                <a:latin typeface="Arial"/>
                <a:cs typeface="Arial"/>
              </a:rPr>
              <a:t>أُقَارِنُ. </a:t>
            </a:r>
            <a:r>
              <a:rPr b="1" sz="2400" lang="ar-SA">
                <a:solidFill>
                  <a:srgbClr val="1E2A3A"/>
                </a:solidFill>
                <a:latin typeface="Arial"/>
                <a:cs typeface="Arial"/>
              </a:rPr>
              <a:t>مَا الْمَوَاطِنُ الْأُخْرَى الَّتِي تَعَلَّمْتُهَا؟ فِيمَ تَتَشَابَهُ، وَفِيمَ تَخْتَلِفُ عَنْ مَوْطِنِ الصَّحْرَاءِ؟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3017520"/>
            <a:ext cx="8641080" cy="1737360"/>
          </a:xfrm>
          <a:prstGeom prst="roundRect">
            <a:avLst>
              <a:gd name="adj" fmla="val 9473"/>
            </a:avLst>
          </a:prstGeom>
          <a:solidFill>
            <a:srgbClr val="27AE60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الصحراء الحارة والصحراء الباردة (المنطقة القطبية) والغابة والغابة المطيرة.</a:t>
            </a:r>
          </a:p>
          <a:p>
            <a:pPr algn="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تتشابه: لكلٍّ منها نباتات وحيوانات تناسبها. تختلف: الغابة أمطارها كثيرة وأشجارها كثيرة، والصحراء أمطارها قليلة جدًا.</a:t>
            </a:r>
          </a:p>
        </p:txBody>
      </p:sp>
      <p:pic>
        <p:nvPicPr>
          <p:cNvPr id="10" name="Picture 9" descr="noura_th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26080"/>
            <a:ext cx="1885950" cy="3017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or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2E7D3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اكتشفي الخطأ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تصحيح المفاهيم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44568" y="6400800"/>
            <a:ext cx="310896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صفحات ١٠٤ – ١٠٨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1143000"/>
            <a:ext cx="9555480" cy="731520"/>
          </a:xfrm>
          <a:prstGeom prst="roundRect">
            <a:avLst>
              <a:gd name="adj" fmla="val 22499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D23B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600" lang="ar-SA">
                <a:solidFill>
                  <a:srgbClr val="D23B3B"/>
                </a:solidFill>
                <a:latin typeface="Arial"/>
                <a:cs typeface="Arial"/>
              </a:rPr>
              <a:t>✘  </a:t>
            </a:r>
            <a:r>
              <a:rPr b="1" sz="2200" lang="ar-SA">
                <a:solidFill>
                  <a:srgbClr val="1E2A3A"/>
                </a:solidFill>
                <a:latin typeface="Arial"/>
                <a:cs typeface="Arial"/>
              </a:rPr>
              <a:t>١. تنمو أشجار قليلة في الغابة؛ لأن أمطارها قليلة.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947672"/>
            <a:ext cx="7726679" cy="731520"/>
          </a:xfrm>
          <a:prstGeom prst="roundRect">
            <a:avLst>
              <a:gd name="adj" fmla="val 22499"/>
            </a:avLst>
          </a:prstGeom>
          <a:solidFill>
            <a:srgbClr val="27AE60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800" lang="ar-SA">
                <a:solidFill>
                  <a:srgbClr val="FFF59D"/>
                </a:solidFill>
                <a:latin typeface="Arial"/>
                <a:cs typeface="Arial"/>
              </a:rPr>
              <a:t>التصحيح: </a:t>
            </a:r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تنمو في الغابة أشجار كثيرة؛ لتوافر الأمطار وضوء الشمس.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2011680"/>
            <a:ext cx="1645920" cy="594360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700" lang="ar-SA">
                <a:solidFill>
                  <a:srgbClr val="FFFFFF"/>
                </a:solidFill>
                <a:latin typeface="Arial"/>
                <a:cs typeface="Arial"/>
              </a:rPr>
              <a:t>أحسنتِ! 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77440" y="2834640"/>
            <a:ext cx="9555480" cy="731520"/>
          </a:xfrm>
          <a:prstGeom prst="roundRect">
            <a:avLst>
              <a:gd name="adj" fmla="val 22499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D23B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600" lang="ar-SA">
                <a:solidFill>
                  <a:srgbClr val="D23B3B"/>
                </a:solidFill>
                <a:latin typeface="Arial"/>
                <a:cs typeface="Arial"/>
              </a:rPr>
              <a:t>✘  </a:t>
            </a:r>
            <a:r>
              <a:rPr b="1" sz="2200" lang="ar-SA">
                <a:solidFill>
                  <a:srgbClr val="1E2A3A"/>
                </a:solidFill>
                <a:latin typeface="Arial"/>
                <a:cs typeface="Arial"/>
              </a:rPr>
              <a:t>٢. يصطاد البوم في النهار فقط.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3639312"/>
            <a:ext cx="7726679" cy="731520"/>
          </a:xfrm>
          <a:prstGeom prst="roundRect">
            <a:avLst>
              <a:gd name="adj" fmla="val 22499"/>
            </a:avLst>
          </a:prstGeom>
          <a:solidFill>
            <a:srgbClr val="27AE60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800" lang="ar-SA">
                <a:solidFill>
                  <a:srgbClr val="FFF59D"/>
                </a:solidFill>
                <a:latin typeface="Arial"/>
                <a:cs typeface="Arial"/>
              </a:rPr>
              <a:t>التصحيح: </a:t>
            </a:r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يصطاد البوم في الليل، مستخدمًا حاستي السمع والبصر.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77440" y="3703320"/>
            <a:ext cx="1645920" cy="594360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700" lang="ar-SA">
                <a:solidFill>
                  <a:srgbClr val="FFFFFF"/>
                </a:solidFill>
                <a:latin typeface="Arial"/>
                <a:cs typeface="Arial"/>
              </a:rPr>
              <a:t>أحسنتِ! 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77440" y="4526280"/>
            <a:ext cx="9555480" cy="731520"/>
          </a:xfrm>
          <a:prstGeom prst="roundRect">
            <a:avLst>
              <a:gd name="adj" fmla="val 22499"/>
            </a:avLst>
          </a:prstGeom>
          <a:solidFill>
            <a:srgbClr val="FFFFFF">
              <a:alpha val="94000"/>
            </a:srgbClr>
          </a:solidFill>
          <a:ln w="38100">
            <a:solidFill>
              <a:srgbClr val="D23B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600" lang="ar-SA">
                <a:solidFill>
                  <a:srgbClr val="D23B3B"/>
                </a:solidFill>
                <a:latin typeface="Arial"/>
                <a:cs typeface="Arial"/>
              </a:rPr>
              <a:t>✘  </a:t>
            </a:r>
            <a:r>
              <a:rPr b="1" sz="2200" lang="ar-SA">
                <a:solidFill>
                  <a:srgbClr val="1E2A3A"/>
                </a:solidFill>
                <a:latin typeface="Arial"/>
                <a:cs typeface="Arial"/>
              </a:rPr>
              <a:t>٣. لا توجد غابات في المملكة العربية السعودية.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5330952"/>
            <a:ext cx="7726679" cy="731520"/>
          </a:xfrm>
          <a:prstGeom prst="roundRect">
            <a:avLst>
              <a:gd name="adj" fmla="val 22499"/>
            </a:avLst>
          </a:prstGeom>
          <a:solidFill>
            <a:srgbClr val="27AE60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800" lang="ar-SA">
                <a:solidFill>
                  <a:srgbClr val="FFF59D"/>
                </a:solidFill>
                <a:latin typeface="Arial"/>
                <a:cs typeface="Arial"/>
              </a:rPr>
              <a:t>التصحيح: </a:t>
            </a:r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في المملكة غابات كثيرة في مرتفعات الحجاز وعسير، مثل غابة رغدان.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77440" y="5394960"/>
            <a:ext cx="1645920" cy="594360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700" lang="ar-SA">
                <a:solidFill>
                  <a:srgbClr val="FFFFFF"/>
                </a:solidFill>
                <a:latin typeface="Arial"/>
                <a:cs typeface="Arial"/>
              </a:rPr>
              <a:t>أحسنتِ! ⭐</a:t>
            </a:r>
          </a:p>
        </p:txBody>
      </p:sp>
      <p:pic>
        <p:nvPicPr>
          <p:cNvPr id="17" name="Picture 16" descr="noura_th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023360"/>
            <a:ext cx="1428750" cy="2286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or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2E7D3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تحدي المواطن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التعلم باللعب – التصنيف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44568" y="6400800"/>
            <a:ext cx="310896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صفحات ١٠٦ – ١٠٧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1051560"/>
            <a:ext cx="7955279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 w="317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أين يعيش؟ قولي الموطن، ثم انقري على الصورة لتتحققي!</a:t>
            </a:r>
          </a:p>
        </p:txBody>
      </p:sp>
      <p:pic>
        <p:nvPicPr>
          <p:cNvPr id="9" name="Picture 8" descr="ow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1920240"/>
            <a:ext cx="2057400" cy="2057400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9829800" y="4069080"/>
            <a:ext cx="2057400" cy="502920"/>
          </a:xfrm>
          <a:prstGeom prst="roundRect">
            <a:avLst>
              <a:gd name="adj" fmla="val 50000"/>
            </a:avLst>
          </a:prstGeom>
          <a:solidFill>
            <a:srgbClr val="FFFFFF">
              <a:alpha val="94000"/>
            </a:srgbClr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البومة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4709160"/>
            <a:ext cx="2057400" cy="685800"/>
          </a:xfrm>
          <a:prstGeom prst="roundRect">
            <a:avLst>
              <a:gd name="adj" fmla="val 24000"/>
            </a:avLst>
          </a:prstGeom>
          <a:solidFill>
            <a:srgbClr val="2E7D32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900" lang="ar-SA">
                <a:solidFill>
                  <a:srgbClr val="FFFFFF"/>
                </a:solidFill>
                <a:latin typeface="Arial"/>
                <a:cs typeface="Arial"/>
              </a:rPr>
              <a:t>الغابة</a:t>
            </a:r>
          </a:p>
        </p:txBody>
      </p:sp>
      <p:sp>
        <p:nvSpPr>
          <p:cNvPr id="12" name="5-Point Star 11"/>
          <p:cNvSpPr/>
          <p:nvPr/>
        </p:nvSpPr>
        <p:spPr>
          <a:xfrm>
            <a:off x="10561320" y="5440680"/>
            <a:ext cx="594360" cy="548640"/>
          </a:xfrm>
          <a:prstGeom prst="star5">
            <a:avLst/>
          </a:prstGeom>
          <a:solidFill>
            <a:srgbClr val="FFD54F"/>
          </a:solidFill>
          <a:ln w="317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000" lang="ar-SA">
                <a:solidFill>
                  <a:srgbClr val="1E2A3A"/>
                </a:solidFill>
                <a:latin typeface="Arial"/>
                <a:cs typeface="Arial"/>
              </a:rPr>
              <a:t/>
            </a:r>
          </a:p>
        </p:txBody>
      </p:sp>
      <p:pic>
        <p:nvPicPr>
          <p:cNvPr id="13" name="Picture 12" descr="squirr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79" y="1920240"/>
            <a:ext cx="2057400" cy="2057400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14" name="Rounded Rectangle 13"/>
          <p:cNvSpPr/>
          <p:nvPr/>
        </p:nvSpPr>
        <p:spPr>
          <a:xfrm>
            <a:off x="7498079" y="4069080"/>
            <a:ext cx="2057400" cy="502920"/>
          </a:xfrm>
          <a:prstGeom prst="roundRect">
            <a:avLst>
              <a:gd name="adj" fmla="val 50000"/>
            </a:avLst>
          </a:prstGeom>
          <a:solidFill>
            <a:srgbClr val="FFFFFF">
              <a:alpha val="94000"/>
            </a:srgbClr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السنجاب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4709160"/>
            <a:ext cx="2057400" cy="685800"/>
          </a:xfrm>
          <a:prstGeom prst="roundRect">
            <a:avLst>
              <a:gd name="adj" fmla="val 24000"/>
            </a:avLst>
          </a:prstGeom>
          <a:solidFill>
            <a:srgbClr val="2E7D32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900" lang="ar-SA">
                <a:solidFill>
                  <a:srgbClr val="FFFFFF"/>
                </a:solidFill>
                <a:latin typeface="Arial"/>
                <a:cs typeface="Arial"/>
              </a:rPr>
              <a:t>الغابة</a:t>
            </a:r>
          </a:p>
        </p:txBody>
      </p:sp>
      <p:sp>
        <p:nvSpPr>
          <p:cNvPr id="16" name="5-Point Star 15"/>
          <p:cNvSpPr/>
          <p:nvPr/>
        </p:nvSpPr>
        <p:spPr>
          <a:xfrm>
            <a:off x="8229600" y="5440680"/>
            <a:ext cx="594360" cy="548640"/>
          </a:xfrm>
          <a:prstGeom prst="star5">
            <a:avLst/>
          </a:prstGeom>
          <a:solidFill>
            <a:srgbClr val="FFD54F"/>
          </a:solidFill>
          <a:ln w="317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000" lang="ar-SA">
                <a:solidFill>
                  <a:srgbClr val="1E2A3A"/>
                </a:solidFill>
                <a:latin typeface="Arial"/>
                <a:cs typeface="Arial"/>
              </a:rPr>
              <a:t/>
            </a:r>
          </a:p>
        </p:txBody>
      </p:sp>
      <p:pic>
        <p:nvPicPr>
          <p:cNvPr id="17" name="Picture 16" descr="de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6360" y="1920240"/>
            <a:ext cx="2057400" cy="2057400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5166360" y="4069080"/>
            <a:ext cx="2057400" cy="502920"/>
          </a:xfrm>
          <a:prstGeom prst="roundRect">
            <a:avLst>
              <a:gd name="adj" fmla="val 50000"/>
            </a:avLst>
          </a:prstGeom>
          <a:solidFill>
            <a:srgbClr val="FFFFFF">
              <a:alpha val="94000"/>
            </a:srgbClr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الغزال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66360" y="4709160"/>
            <a:ext cx="2057400" cy="685800"/>
          </a:xfrm>
          <a:prstGeom prst="roundRect">
            <a:avLst>
              <a:gd name="adj" fmla="val 24000"/>
            </a:avLst>
          </a:prstGeom>
          <a:solidFill>
            <a:srgbClr val="2E7D32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900" lang="ar-SA">
                <a:solidFill>
                  <a:srgbClr val="FFFFFF"/>
                </a:solidFill>
                <a:latin typeface="Arial"/>
                <a:cs typeface="Arial"/>
              </a:rPr>
              <a:t>الغابة</a:t>
            </a:r>
          </a:p>
        </p:txBody>
      </p:sp>
      <p:sp>
        <p:nvSpPr>
          <p:cNvPr id="20" name="5-Point Star 19"/>
          <p:cNvSpPr/>
          <p:nvPr/>
        </p:nvSpPr>
        <p:spPr>
          <a:xfrm>
            <a:off x="5897880" y="5440680"/>
            <a:ext cx="594360" cy="548640"/>
          </a:xfrm>
          <a:prstGeom prst="star5">
            <a:avLst/>
          </a:prstGeom>
          <a:solidFill>
            <a:srgbClr val="FFD54F"/>
          </a:solidFill>
          <a:ln w="317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000" lang="ar-SA">
                <a:solidFill>
                  <a:srgbClr val="1E2A3A"/>
                </a:solidFill>
                <a:latin typeface="Arial"/>
                <a:cs typeface="Arial"/>
              </a:rPr>
              <a:t/>
            </a:r>
          </a:p>
        </p:txBody>
      </p:sp>
      <p:pic>
        <p:nvPicPr>
          <p:cNvPr id="21" name="Picture 20" descr="parr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4640" y="1920240"/>
            <a:ext cx="2057400" cy="2057400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22" name="Rounded Rectangle 21"/>
          <p:cNvSpPr/>
          <p:nvPr/>
        </p:nvSpPr>
        <p:spPr>
          <a:xfrm>
            <a:off x="2834640" y="4069080"/>
            <a:ext cx="2057400" cy="502920"/>
          </a:xfrm>
          <a:prstGeom prst="roundRect">
            <a:avLst>
              <a:gd name="adj" fmla="val 50000"/>
            </a:avLst>
          </a:prstGeom>
          <a:solidFill>
            <a:srgbClr val="FFFFFF">
              <a:alpha val="94000"/>
            </a:srgbClr>
          </a:solidFill>
          <a:ln w="317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الببغاء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40" y="4709160"/>
            <a:ext cx="2057400" cy="685800"/>
          </a:xfrm>
          <a:prstGeom prst="roundRect">
            <a:avLst>
              <a:gd name="adj" fmla="val 24000"/>
            </a:avLst>
          </a:prstGeom>
          <a:solidFill>
            <a:srgbClr val="16A085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900" lang="ar-SA">
                <a:solidFill>
                  <a:srgbClr val="FFFFFF"/>
                </a:solidFill>
                <a:latin typeface="Arial"/>
                <a:cs typeface="Arial"/>
              </a:rPr>
              <a:t>الغابة المطيرة</a:t>
            </a:r>
          </a:p>
        </p:txBody>
      </p:sp>
      <p:sp>
        <p:nvSpPr>
          <p:cNvPr id="24" name="5-Point Star 23"/>
          <p:cNvSpPr/>
          <p:nvPr/>
        </p:nvSpPr>
        <p:spPr>
          <a:xfrm>
            <a:off x="3566160" y="5440680"/>
            <a:ext cx="594360" cy="548640"/>
          </a:xfrm>
          <a:prstGeom prst="star5">
            <a:avLst/>
          </a:prstGeom>
          <a:solidFill>
            <a:srgbClr val="FFD54F"/>
          </a:solidFill>
          <a:ln w="317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000" lang="ar-SA">
                <a:solidFill>
                  <a:srgbClr val="1E2A3A"/>
                </a:solidFill>
                <a:latin typeface="Arial"/>
                <a:cs typeface="Arial"/>
              </a:rPr>
              <a:t/>
            </a:r>
          </a:p>
        </p:txBody>
      </p:sp>
      <p:pic>
        <p:nvPicPr>
          <p:cNvPr id="25" name="Picture 24" descr="tig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1920240"/>
            <a:ext cx="2057400" cy="2057400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26" name="Rounded Rectangle 25"/>
          <p:cNvSpPr/>
          <p:nvPr/>
        </p:nvSpPr>
        <p:spPr>
          <a:xfrm>
            <a:off x="502920" y="4069080"/>
            <a:ext cx="2057400" cy="502920"/>
          </a:xfrm>
          <a:prstGeom prst="roundRect">
            <a:avLst>
              <a:gd name="adj" fmla="val 50000"/>
            </a:avLst>
          </a:prstGeom>
          <a:solidFill>
            <a:srgbClr val="FFFFFF">
              <a:alpha val="94000"/>
            </a:srgbClr>
          </a:solidFill>
          <a:ln w="317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000" lang="ar-SA">
                <a:solidFill>
                  <a:srgbClr val="1E2A3A"/>
                </a:solidFill>
                <a:latin typeface="Arial"/>
                <a:cs typeface="Arial"/>
              </a:rPr>
              <a:t>النمر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709160"/>
            <a:ext cx="2057400" cy="685800"/>
          </a:xfrm>
          <a:prstGeom prst="roundRect">
            <a:avLst>
              <a:gd name="adj" fmla="val 24000"/>
            </a:avLst>
          </a:prstGeom>
          <a:solidFill>
            <a:srgbClr val="16A085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900" lang="ar-SA">
                <a:solidFill>
                  <a:srgbClr val="FFFFFF"/>
                </a:solidFill>
                <a:latin typeface="Arial"/>
                <a:cs typeface="Arial"/>
              </a:rPr>
              <a:t>الغابة المطيرة</a:t>
            </a:r>
          </a:p>
        </p:txBody>
      </p:sp>
      <p:sp>
        <p:nvSpPr>
          <p:cNvPr id="28" name="5-Point Star 27"/>
          <p:cNvSpPr/>
          <p:nvPr/>
        </p:nvSpPr>
        <p:spPr>
          <a:xfrm>
            <a:off x="1234440" y="5440680"/>
            <a:ext cx="594360" cy="548640"/>
          </a:xfrm>
          <a:prstGeom prst="star5">
            <a:avLst/>
          </a:prstGeom>
          <a:solidFill>
            <a:srgbClr val="FFD54F"/>
          </a:solidFill>
          <a:ln w="317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000" lang="ar-SA">
                <a:solidFill>
                  <a:srgbClr val="1E2A3A"/>
                </a:solidFill>
                <a:latin typeface="Arial"/>
                <a:cs typeface="Arial"/>
              </a:rPr>
              <a:t/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seq concurrent="1" nextAc="seek">
              <p:cTn id="16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42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3" grpId="0" animBg="1"/>
      <p:bldP spid="24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ainfor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C0392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أفكر وأتحدث وأكتب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فكّري – تحدثي – اكتبي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1280160"/>
            <a:ext cx="9555480" cy="1371600"/>
          </a:xfrm>
          <a:prstGeom prst="roundRect">
            <a:avLst>
              <a:gd name="adj" fmla="val 12000"/>
            </a:avLst>
          </a:prstGeom>
          <a:solidFill>
            <a:srgbClr val="FFFDF0">
              <a:alpha val="94000"/>
            </a:srgbClr>
          </a:solidFill>
          <a:ln w="508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600" lang="ar-SA">
                <a:solidFill>
                  <a:srgbClr val="1E2A3A"/>
                </a:solidFill>
                <a:latin typeface="Arial"/>
                <a:cs typeface="Arial"/>
              </a:rPr>
              <a:t>١- أُقَارِنُ. فِيمَ تَتَشَابَهُ الْغَابَاتُ، وَفِيمَ تَخْتَلِفُ؟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2880360"/>
            <a:ext cx="9555480" cy="1645920"/>
          </a:xfrm>
          <a:prstGeom prst="roundRect">
            <a:avLst>
              <a:gd name="adj" fmla="val 10000"/>
            </a:avLst>
          </a:prstGeom>
          <a:solidFill>
            <a:srgbClr val="27AE60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100" lang="ar-SA">
                <a:solidFill>
                  <a:srgbClr val="FFFFFF"/>
                </a:solidFill>
                <a:latin typeface="Arial"/>
                <a:cs typeface="Arial"/>
              </a:rPr>
              <a:t>تتشابه: فيها أشجار كثيرة، وتعيش فيها نباتات وحيوانات كثيرة.</a:t>
            </a:r>
          </a:p>
          <a:p>
            <a:pPr algn="r" rtl="1"/>
            <a:r>
              <a:rPr b="1" sz="2100" lang="ar-SA">
                <a:solidFill>
                  <a:srgbClr val="FFFFFF"/>
                </a:solidFill>
                <a:latin typeface="Arial"/>
                <a:cs typeface="Arial"/>
              </a:rPr>
              <a:t>تختلف: الغابة المطيرة تمطر كل يوم تقريبًا، وأشجارها عالية وأوراقها ضخمة.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4754880"/>
            <a:ext cx="3657600" cy="594360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700" lang="ar-SA">
                <a:solidFill>
                  <a:srgbClr val="FFFFFF"/>
                </a:solidFill>
                <a:latin typeface="Arial"/>
                <a:cs typeface="Arial"/>
              </a:rPr>
              <a:t>رائع! أنتِ مستكشفة تفكّر بعمق 🌟</a:t>
            </a:r>
          </a:p>
        </p:txBody>
      </p:sp>
      <p:pic>
        <p:nvPicPr>
          <p:cNvPr id="11" name="Picture 10" descr="noura_th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108960"/>
            <a:ext cx="1885950" cy="30175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or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C0392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أفكر وأتحدث وأكتب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فكّري – تحدثي – اكتبي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1280160"/>
            <a:ext cx="9555480" cy="1371600"/>
          </a:xfrm>
          <a:prstGeom prst="roundRect">
            <a:avLst>
              <a:gd name="adj" fmla="val 12000"/>
            </a:avLst>
          </a:prstGeom>
          <a:solidFill>
            <a:srgbClr val="FFFDF0">
              <a:alpha val="94000"/>
            </a:srgbClr>
          </a:solidFill>
          <a:ln w="508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600" lang="ar-SA">
                <a:solidFill>
                  <a:srgbClr val="1E2A3A"/>
                </a:solidFill>
                <a:latin typeface="Arial"/>
                <a:cs typeface="Arial"/>
              </a:rPr>
              <a:t>٢- أُسَمِّي حَيَوَانَاتٍ تَعِيشُ فِي الْغَابَةِ.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2880360"/>
            <a:ext cx="9555480" cy="1645920"/>
          </a:xfrm>
          <a:prstGeom prst="roundRect">
            <a:avLst>
              <a:gd name="adj" fmla="val 10000"/>
            </a:avLst>
          </a:prstGeom>
          <a:solidFill>
            <a:srgbClr val="27AE60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100" lang="ar-SA">
                <a:solidFill>
                  <a:srgbClr val="FFFFFF"/>
                </a:solidFill>
                <a:latin typeface="Arial"/>
                <a:cs typeface="Arial"/>
              </a:rPr>
              <a:t>الغزال، الدب الأسود، الثعلب، البومة، نقار الخشب، السنجاب.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4754880"/>
            <a:ext cx="3657600" cy="594360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700" lang="ar-SA">
                <a:solidFill>
                  <a:srgbClr val="FFFFFF"/>
                </a:solidFill>
                <a:latin typeface="Arial"/>
                <a:cs typeface="Arial"/>
              </a:rPr>
              <a:t>رائع! أنتِ مستكشفة تفكّر بعمق 🌟</a:t>
            </a:r>
          </a:p>
        </p:txBody>
      </p:sp>
      <p:pic>
        <p:nvPicPr>
          <p:cNvPr id="11" name="Picture 10" descr="noura_th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108960"/>
            <a:ext cx="1885950" cy="30175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or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C0392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أفكر وأتحدث وأكتب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فكّري – تحدثي – اكتبي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1280160"/>
            <a:ext cx="9555480" cy="1371600"/>
          </a:xfrm>
          <a:prstGeom prst="roundRect">
            <a:avLst>
              <a:gd name="adj" fmla="val 12000"/>
            </a:avLst>
          </a:prstGeom>
          <a:solidFill>
            <a:srgbClr val="FFFDF0">
              <a:alpha val="94000"/>
            </a:srgbClr>
          </a:solidFill>
          <a:ln w="508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600" lang="ar-SA">
                <a:solidFill>
                  <a:srgbClr val="1E2A3A"/>
                </a:solidFill>
                <a:latin typeface="Arial"/>
                <a:cs typeface="Arial"/>
              </a:rPr>
              <a:t>٣- السُّؤَالُ الْأَسَاسِيُّ. كَيْفَ تَعِيشُ الْمَخْلُوقَاتُ الْحَيَّةُ فِي مَوْطِنِ الْغَابَةِ؟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2880360"/>
            <a:ext cx="9555480" cy="1645920"/>
          </a:xfrm>
          <a:prstGeom prst="roundRect">
            <a:avLst>
              <a:gd name="adj" fmla="val 10000"/>
            </a:avLst>
          </a:prstGeom>
          <a:solidFill>
            <a:srgbClr val="27AE60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100" lang="ar-SA">
                <a:solidFill>
                  <a:srgbClr val="FFFFFF"/>
                </a:solidFill>
                <a:latin typeface="Arial"/>
                <a:cs typeface="Arial"/>
              </a:rPr>
              <a:t>تجد فيها غذاءها وماءها ومأواها، ولها صفات تساعدها:</a:t>
            </a:r>
          </a:p>
          <a:p>
            <a:pPr algn="r" rtl="1"/>
            <a:r>
              <a:rPr b="1" sz="2100" lang="ar-SA">
                <a:solidFill>
                  <a:srgbClr val="FFFFFF"/>
                </a:solidFill>
                <a:latin typeface="Arial"/>
                <a:cs typeface="Arial"/>
              </a:rPr>
              <a:t>عينا البومة الكبيرتان، ومنقار نقار الخشب الحاد، وجلد الغزال المنقط.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4754880"/>
            <a:ext cx="3657600" cy="594360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700" lang="ar-SA">
                <a:solidFill>
                  <a:srgbClr val="FFFFFF"/>
                </a:solidFill>
                <a:latin typeface="Arial"/>
                <a:cs typeface="Arial"/>
              </a:rPr>
              <a:t>رائع! أنتِ مستكشفة تفكّر بعمق 🌟</a:t>
            </a:r>
          </a:p>
        </p:txBody>
      </p:sp>
      <p:pic>
        <p:nvPicPr>
          <p:cNvPr id="11" name="Picture 10" descr="noura_che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108960"/>
            <a:ext cx="1885950" cy="30175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or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8E44AD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العلوم والفن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التعلم بالرسم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صفحة ١٠٧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1234440"/>
            <a:ext cx="8915400" cy="1463040"/>
          </a:xfrm>
          <a:prstGeom prst="roundRect">
            <a:avLst>
              <a:gd name="adj" fmla="val 11249"/>
            </a:avLst>
          </a:prstGeom>
          <a:solidFill>
            <a:srgbClr val="FFFDF0">
              <a:alpha val="94000"/>
            </a:srgbClr>
          </a:solidFill>
          <a:ln w="508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600" lang="ar-SA">
                <a:solidFill>
                  <a:srgbClr val="1E2A3A"/>
                </a:solidFill>
                <a:latin typeface="Arial"/>
                <a:cs typeface="Arial"/>
              </a:rPr>
              <a:t>أَرْسُمُ صُورَةً لِحَيَوَانٍ فِي الْغَابَةِ، وَأُوَضِّحُ كَيْفَ يَحْمِيهِ لَوْنُهُ أَوْ شَكْلُهُ مِنَ الْمَخَاطِرِ؟</a:t>
            </a:r>
          </a:p>
        </p:txBody>
      </p:sp>
      <p:pic>
        <p:nvPicPr>
          <p:cNvPr id="9" name="Picture 8" descr="de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3154680"/>
            <a:ext cx="2241830" cy="3017520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8778240" y="2843784"/>
            <a:ext cx="2241830" cy="292608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 rtl="1"/>
            <a:r>
              <a:rPr b="1" sz="1200" lang="ar-SA">
                <a:solidFill>
                  <a:srgbClr val="FFFFFF"/>
                </a:solidFill>
                <a:latin typeface="Arial"/>
                <a:cs typeface="Arial"/>
              </a:rPr>
              <a:t>مثال: الغزال المنقط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17520" y="3200400"/>
            <a:ext cx="5486400" cy="1188720"/>
          </a:xfrm>
          <a:prstGeom prst="roundRect">
            <a:avLst>
              <a:gd name="adj" fmla="val 13846"/>
            </a:avLst>
          </a:prstGeom>
          <a:solidFill>
            <a:srgbClr val="FFFFFF">
              <a:alpha val="94000"/>
            </a:srgbClr>
          </a:solidFill>
          <a:ln w="254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900" lang="ar-SA">
                <a:solidFill>
                  <a:srgbClr val="1E2A3A"/>
                </a:solidFill>
                <a:latin typeface="Arial"/>
                <a:cs typeface="Arial"/>
              </a:rPr>
              <a:t>جلد الغزال المنقط يشبه بقع الضوء والظل بين الأشجار، فيختبئ من المفترسات.</a:t>
            </a:r>
          </a:p>
        </p:txBody>
      </p:sp>
      <p:pic>
        <p:nvPicPr>
          <p:cNvPr id="12" name="Picture 11" descr="noura_wa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17520"/>
            <a:ext cx="2000250" cy="3200400"/>
          </a:xfrm>
          <a:prstGeom prst="rect">
            <a:avLst/>
          </a:prstGeom>
        </p:spPr>
      </p:pic>
      <p:sp>
        <p:nvSpPr>
          <p:cNvPr id="13" name="Rounded Rectangular Callout 12"/>
          <p:cNvSpPr/>
          <p:nvPr/>
        </p:nvSpPr>
        <p:spPr>
          <a:xfrm>
            <a:off x="3017520" y="4709160"/>
            <a:ext cx="4754880" cy="914400"/>
          </a:xfrm>
          <a:prstGeom prst="wedgeRoundRectCallout">
            <a:avLst>
              <a:gd name="adj1" fmla="val -62000"/>
              <a:gd name="adj2" fmla="val 20000"/>
              <a:gd name="adj3" fmla="val 16667"/>
            </a:avLst>
          </a:prstGeom>
          <a:solidFill>
            <a:srgbClr val="FFFFFF"/>
          </a:solidFill>
          <a:ln w="31750">
            <a:solidFill>
              <a:srgbClr val="E85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900" lang="ar-SA">
                <a:solidFill>
                  <a:srgbClr val="E8505B"/>
                </a:solidFill>
                <a:latin typeface="Arial"/>
                <a:cs typeface="Arial"/>
              </a:rPr>
              <a:t>نورة: </a:t>
            </a:r>
            <a:r>
              <a:rPr b="1" sz="1900" lang="ar-SA">
                <a:solidFill>
                  <a:srgbClr val="1E2A3A"/>
                </a:solidFill>
                <a:latin typeface="Arial"/>
                <a:cs typeface="Arial"/>
              </a:rPr>
              <a:t>ارسمي حيوانك، واكتبي كيف يحميه لونه!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or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108960" y="164592"/>
            <a:ext cx="5943600" cy="749808"/>
          </a:xfrm>
          <a:prstGeom prst="roundRect">
            <a:avLst>
              <a:gd name="adj" fmla="val 21951"/>
            </a:avLst>
          </a:prstGeom>
          <a:solidFill>
            <a:srgbClr val="8E44AD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200" lang="ar-SA">
                <a:solidFill>
                  <a:srgbClr val="FFFFFF"/>
                </a:solidFill>
                <a:latin typeface="Arial"/>
                <a:cs typeface="Arial"/>
              </a:rPr>
              <a:t>كنز المعرفة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256032"/>
            <a:ext cx="1691640" cy="50292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المحطة ١٠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201168"/>
            <a:ext cx="2926080" cy="676656"/>
          </a:xfrm>
          <a:prstGeom prst="roundRect">
            <a:avLst>
              <a:gd name="adj" fmla="val 24324"/>
            </a:avLst>
          </a:prstGeom>
          <a:solidFill>
            <a:srgbClr val="FFF6D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 rtl="1"/>
            <a:r>
              <a:rPr b="1" sz="1300" lang="ar-SA">
                <a:solidFill>
                  <a:srgbClr val="C2366F"/>
                </a:solidFill>
                <a:latin typeface="Arial"/>
                <a:cs typeface="Arial"/>
              </a:rPr>
              <a:t>الاستراتيجية: </a:t>
            </a:r>
            <a:r>
              <a:rPr b="1" sz="1300" lang="ar-SA">
                <a:solidFill>
                  <a:srgbClr val="34405E"/>
                </a:solidFill>
                <a:latin typeface="Arial"/>
                <a:cs typeface="Arial"/>
              </a:rPr>
              <a:t>تذكرة الخروج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44568" y="6400800"/>
            <a:ext cx="310896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صفحات ١٠٤ – ١٠٨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143000"/>
            <a:ext cx="7726679" cy="640080"/>
          </a:xfrm>
          <a:prstGeom prst="roundRect">
            <a:avLst>
              <a:gd name="adj" fmla="val 25714"/>
            </a:avLst>
          </a:prstGeom>
          <a:solidFill>
            <a:srgbClr val="FFF6D6">
              <a:alpha val="94000"/>
            </a:srgbClr>
          </a:solidFill>
          <a:ln w="381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100" lang="ar-SA">
                <a:solidFill>
                  <a:srgbClr val="1E2A3A"/>
                </a:solidFill>
                <a:latin typeface="Arial"/>
                <a:cs typeface="Arial"/>
              </a:rPr>
              <a:t>١. ما الغابة؟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828800"/>
            <a:ext cx="7726679" cy="640080"/>
          </a:xfrm>
          <a:prstGeom prst="roundRect">
            <a:avLst>
              <a:gd name="adj" fmla="val 25714"/>
            </a:avLst>
          </a:prstGeom>
          <a:solidFill>
            <a:srgbClr val="27AE60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موطن تتوافر فيه الأمطار وضوء الشمس؛ لذا تنمو فيه أشجار كثيرة.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606040"/>
            <a:ext cx="7726679" cy="640080"/>
          </a:xfrm>
          <a:prstGeom prst="roundRect">
            <a:avLst>
              <a:gd name="adj" fmla="val 25714"/>
            </a:avLst>
          </a:prstGeom>
          <a:solidFill>
            <a:srgbClr val="FFF6D6">
              <a:alpha val="94000"/>
            </a:srgbClr>
          </a:solidFill>
          <a:ln w="381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100" lang="ar-SA">
                <a:solidFill>
                  <a:srgbClr val="1E2A3A"/>
                </a:solidFill>
                <a:latin typeface="Arial"/>
                <a:cs typeface="Arial"/>
              </a:rPr>
              <a:t>٢. اذكري حيوانًا يعيش في الغابة المطيرة.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3291840"/>
            <a:ext cx="7726679" cy="640080"/>
          </a:xfrm>
          <a:prstGeom prst="roundRect">
            <a:avLst>
              <a:gd name="adj" fmla="val 25714"/>
            </a:avLst>
          </a:prstGeom>
          <a:solidFill>
            <a:srgbClr val="27AE60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الببغاء، أو النمر، أو الخفاش، أو آكل النمل.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069080"/>
            <a:ext cx="7726679" cy="640080"/>
          </a:xfrm>
          <a:prstGeom prst="roundRect">
            <a:avLst>
              <a:gd name="adj" fmla="val 25714"/>
            </a:avLst>
          </a:prstGeom>
          <a:solidFill>
            <a:srgbClr val="FFF6D6">
              <a:alpha val="94000"/>
            </a:srgbClr>
          </a:solidFill>
          <a:ln w="381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2100" lang="ar-SA">
                <a:solidFill>
                  <a:srgbClr val="1E2A3A"/>
                </a:solidFill>
                <a:latin typeface="Arial"/>
                <a:cs typeface="Arial"/>
              </a:rPr>
              <a:t>٣. لماذا نحافظ على غابات بلدي؟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4754880"/>
            <a:ext cx="7726679" cy="640080"/>
          </a:xfrm>
          <a:prstGeom prst="roundRect">
            <a:avLst>
              <a:gd name="adj" fmla="val 25714"/>
            </a:avLst>
          </a:prstGeom>
          <a:solidFill>
            <a:srgbClr val="27AE60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توفّر الظل، وتثبّت التربة، وتحمي المزارع من الانجراف.</a:t>
            </a:r>
          </a:p>
        </p:txBody>
      </p:sp>
      <p:pic>
        <p:nvPicPr>
          <p:cNvPr id="14" name="Picture 13" descr="ch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3383280" cy="293217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57200" y="5120640"/>
            <a:ext cx="3566160" cy="868680"/>
          </a:xfrm>
          <a:prstGeom prst="roundRect">
            <a:avLst>
              <a:gd name="adj" fmla="val 18947"/>
            </a:avLst>
          </a:prstGeom>
          <a:solidFill>
            <a:srgbClr val="8E44AD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1800" lang="ar-SA">
                <a:solidFill>
                  <a:srgbClr val="FFFFFF"/>
                </a:solidFill>
                <a:latin typeface="Arial"/>
                <a:cs typeface="Arial"/>
              </a:rPr>
              <a:t>أحسنتن يا مستكشفاتي الصغيرات! 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5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t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463040" y="274320"/>
            <a:ext cx="9235440" cy="914400"/>
          </a:xfrm>
          <a:prstGeom prst="roundRect">
            <a:avLst>
              <a:gd name="adj" fmla="val 18000"/>
            </a:avLst>
          </a:prstGeom>
          <a:solidFill>
            <a:srgbClr val="2E7D32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3000" lang="ar-SA">
                <a:solidFill>
                  <a:srgbClr val="FFFFFF"/>
                </a:solidFill>
                <a:latin typeface="Arial"/>
                <a:cs typeface="Arial"/>
              </a:rPr>
              <a:t>رحلتنا انتهت… لكن اكتشافاتنا لا تنتهي!</a:t>
            </a:r>
          </a:p>
        </p:txBody>
      </p:sp>
      <p:pic>
        <p:nvPicPr>
          <p:cNvPr id="4" name="Picture 3" descr="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417320"/>
            <a:ext cx="4937760" cy="28803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40680" y="379476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 rtl="1"/>
            <a:r>
              <a:rPr b="1" sz="1300" lang="ar-SA">
                <a:solidFill>
                  <a:srgbClr val="FFFFFF"/>
                </a:solidFill>
                <a:latin typeface="Arial"/>
                <a:cs typeface="Arial"/>
              </a:rPr>
              <a:t>مدرستي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69480" y="32004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 rtl="1"/>
            <a:r>
              <a:rPr b="1" sz="1300" lang="ar-SA">
                <a:solidFill>
                  <a:srgbClr val="FFFFFF"/>
                </a:solidFill>
                <a:latin typeface="Arial"/>
                <a:cs typeface="Arial"/>
              </a:rPr>
              <a:t>الغابة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233172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 rtl="1"/>
            <a:r>
              <a:rPr b="1" sz="1300" lang="ar-SA">
                <a:solidFill>
                  <a:srgbClr val="FFFFFF"/>
                </a:solidFill>
                <a:latin typeface="Arial"/>
                <a:cs typeface="Arial"/>
              </a:rPr>
              <a:t>الغابة المطيرة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41080" y="123444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 rtl="1"/>
            <a:r>
              <a:rPr b="1" sz="1300" lang="ar-SA">
                <a:solidFill>
                  <a:srgbClr val="FFFFFF"/>
                </a:solidFill>
                <a:latin typeface="Arial"/>
                <a:cs typeface="Arial"/>
              </a:rPr>
              <a:t>غابة رغدان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63040"/>
            <a:ext cx="4480560" cy="914400"/>
          </a:xfrm>
          <a:prstGeom prst="roundRect">
            <a:avLst>
              <a:gd name="adj" fmla="val 18000"/>
            </a:avLst>
          </a:prstGeom>
          <a:solidFill>
            <a:srgbClr val="FFFFFF">
              <a:alpha val="92000"/>
            </a:srgbClr>
          </a:solidFill>
          <a:ln w="38100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 rtl="1"/>
            <a:r>
              <a:rPr b="1" sz="2400" lang="ar-SA">
                <a:solidFill>
                  <a:srgbClr val="1B5E20"/>
                </a:solidFill>
                <a:latin typeface="Arial"/>
                <a:cs typeface="Arial"/>
              </a:rPr>
              <a:t>بالعلم نكتشف أسرار الطبيعة 🌳</a:t>
            </a:r>
          </a:p>
        </p:txBody>
      </p:sp>
      <p:pic>
        <p:nvPicPr>
          <p:cNvPr id="10" name="Picture 9" descr="noura_che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651760"/>
            <a:ext cx="2057400" cy="3291840"/>
          </a:xfrm>
          <a:prstGeom prst="rect">
            <a:avLst/>
          </a:prstGeom>
        </p:spPr>
      </p:pic>
      <p:sp>
        <p:nvSpPr>
          <p:cNvPr id="11" name="Rounded Rectangular Callout 10"/>
          <p:cNvSpPr/>
          <p:nvPr/>
        </p:nvSpPr>
        <p:spPr>
          <a:xfrm>
            <a:off x="2651760" y="2743200"/>
            <a:ext cx="2377440" cy="1188720"/>
          </a:xfrm>
          <a:prstGeom prst="wedgeRoundRectCallout">
            <a:avLst>
              <a:gd name="adj1" fmla="val -60000"/>
              <a:gd name="adj2" fmla="val 40000"/>
              <a:gd name="adj3" fmla="val 16667"/>
            </a:avLst>
          </a:prstGeom>
          <a:solidFill>
            <a:srgbClr val="FFFFFF"/>
          </a:solidFill>
          <a:ln w="31750">
            <a:solidFill>
              <a:srgbClr val="E85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r" rtl="1"/>
            <a:r>
              <a:rPr b="1" sz="1700" lang="ar-SA">
                <a:solidFill>
                  <a:srgbClr val="E8505B"/>
                </a:solidFill>
                <a:latin typeface="Arial"/>
                <a:cs typeface="Arial"/>
              </a:rPr>
              <a:t>نورة: </a:t>
            </a:r>
            <a:r>
              <a:rPr b="1" sz="1700" lang="ar-SA">
                <a:solidFill>
                  <a:srgbClr val="1E2A3A"/>
                </a:solidFill>
                <a:latin typeface="Arial"/>
                <a:cs typeface="Arial"/>
              </a:rPr>
              <a:t>إلى اللقاء في رحلة جديدة!</a:t>
            </a:r>
          </a:p>
        </p:txBody>
      </p:sp>
      <p:pic>
        <p:nvPicPr>
          <p:cNvPr id="12" name="Picture 11" descr="t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4526280"/>
            <a:ext cx="5120640" cy="140291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778240" y="6400800"/>
            <a:ext cx="320040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300" lang="ar-SA">
                <a:solidFill>
                  <a:srgbClr val="6B4FC0"/>
                </a:solidFill>
                <a:latin typeface="Arial"/>
                <a:cs typeface="Arial"/>
              </a:rPr>
              <a:t>إعداد وتنفيذ: أ/ شامه البقمي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84648" y="6400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 rtl="1"/>
            <a:r>
              <a:rPr b="1" sz="1400" lang="ar-SA">
                <a:solidFill>
                  <a:srgbClr val="FFFFFF"/>
                </a:solidFill>
                <a:latin typeface="Arial"/>
                <a:cs typeface="Arial"/>
              </a:rPr>
              <a:t>صفحات ١٠٤ – ١٠٨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