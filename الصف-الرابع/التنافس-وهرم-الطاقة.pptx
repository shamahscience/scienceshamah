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القوانين الصفية (الصورة المعتمدة من المعلمة). يمكن كتابة اليوم والتاريخ في المربعين الفارغين بجانب «اليوم» و«التاريخ».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العلم و﴿رَبِّ اجْعَلْ هَٰذَا الْبَلَدَ آمِنًا﴾ (الصورة المعتمدة من المعلمة). تردد الطالبات الآية مع المعلمة.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الترحيب: رحّبي بالطالبات «أهلًا بعالماتي الصغيرات». اكتبي اليوم والتاريخ في المكان المخصص. موضوع اليوم: التنافس وهرم الطاقة (الكتاب ص١١٥–١١٧).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مراجعة المهارة السابقة (ص١١٤): اضغطي على بطاقة السؤال لتظهر الإجابة ويُظلَّل الدليل في صفحة الكتاب.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فهم قرائي (ص١١٥): تقرأ الطالبات فقرة التنافس، ثم اضغطي على السؤال لتظهر الإجابة ويُظلَّل الدليل. المفردة الجديدة: التنافس.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جولة افتراضية بسيطة في شكل «شبكة غذائية على اليابسة» ص١١٥: مع كل نقرة تتحرك كرة الطاقة ⚡ على سلسلة من الشبكة (وتصغر في كل حلقة) وتظهر السلسلة مكتوبة. النقرة ٤ سؤال التنافس، والنقرة ٥ الإجابة. السلاسل الثلاث من إجابات «التفكير الناقد» في الكتاب.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أختبر نفسي (ص١١٥): السؤالان بنصهما من الكتاب. انقري لإظهار كل إجابة.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فهم قرائي (ص١١٦): اضغطي على السؤال لتظهر الإجابة ويُظلَّل الدليل. تنبيه: غطّينا مربعات الإجابات الجاهزة التي كانت على يسار الهرم في صورة الصفحة.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الفرق بين السلاسل في اليابسة والماء: انقري لإظهار كل صف. السؤال الأخير من «التفكير الناقد» ص١١٦: المنتجات في المحيط (الطحالب والعوالق) وفيرة وسريعة التكاثر، فتكفي طاقتها عددًا أكبر من آكلات اللحوم.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التقويم التكويني: سؤال لكل مستوى. أعطي فرصة للتفكير، ثم انقري لإظهار الإجابة. سؤال «أفكّر» من «أستنتج» ص١١٦.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مراجعة الدرس (ص١١٧) – الأسئلة ١–٣. اضغطي على السؤال لتظهر الإجابة. في السؤال ٢: لا يكون التعداد كاملًا؛ لأن الطاقة تقل في كل مستوى، فيجب أن تكون آكلات الأعشاب أكثر.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مراجعة الدرس (ص١١٧) – السؤالان ٤ و٥ ونشاط العلوم والرياضيات. انقري لإظهار كل إجابة.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التقويم الختامي: تجيب الطالبات في السبورات الصغيرة، ثم تظهر الإجابة بالنقر. التصحيح من «حقيقة» ص١١٦.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استراتيجية المعلمة الصغيرة – خريطة الدرس كاملًا: تختار المعلمة طالبة «معلمة صغيرة» تشرح كل فرع لزميلاتها. النقرة ١: يظهر موضوع الدرس في السحابة ويُرسم السهم. ثم مع كل نقرة يُرسم سهم بالقلم كأنه رسم بالفأرة، ويظهر نص المربع: ١ المفردات، ٢ التنافس، ٣ هرم الطاقة، ٤ ما تعلمناه سابقًا (الشبكة الغذائية)، ٥ الفرق بين اليابسة والماء.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بطاقة الخروج: توزَّع ورقيًا أو تكتبها الطالبة في دفترها، وتسلّمها عند الباب. راجعي الإجابات لتحديد من تحتاج دعمًا في الحصة القادمة.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الختام: أثني على الطالبات ولخّصي الدرس: التنافس، وهرم الطاقة (المنتجات في القاعدة، والطاقة تقل كلما صعدنا).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لعبة الدرس: تمسح الطالبات الرمز بالجوال، أو تضغط المعلمة على «افتحي اللعبة» لعرضها على السبورة. الرابط: https://shamahscience.github.io/Scienceshamah/g4/competition.html . اللعبة ١٢ سؤالًا (اختيار، صح وخطأ، ترتيب هرم الطاقة)، والنجمة للإجابة الصحيحة من أول محاولة، ولا تحفظ أي بيانات عن الطالبات.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4-2.jp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5-2.jp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6-2.jp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4.png"/><Relationship Id="rId6" Type="http://schemas.openxmlformats.org/officeDocument/2006/relationships/image" Target="../media/image-6-4.png"/><Relationship Id="rId7" Type="http://schemas.openxmlformats.org/officeDocument/2006/relationships/image" Target="../media/image-6-4.png"/><Relationship Id="rId8" Type="http://schemas.openxmlformats.org/officeDocument/2006/relationships/image" Target="../media/image-6-4.png"/><Relationship Id="rId9" Type="http://schemas.openxmlformats.org/officeDocument/2006/relationships/image" Target="../media/image-6-4.png"/><Relationship Id="rId10" Type="http://schemas.openxmlformats.org/officeDocument/2006/relationships/image" Target="../media/image-6-4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8-2.jp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1-2.jp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3.png"/><Relationship Id="rId6" Type="http://schemas.openxmlformats.org/officeDocument/2006/relationships/image" Target="../media/image-14-6.png"/><Relationship Id="rId7" Type="http://schemas.openxmlformats.org/officeDocument/2006/relationships/image" Target="../media/image-14-3.png"/><Relationship Id="rId8" Type="http://schemas.openxmlformats.org/officeDocument/2006/relationships/image" Target="../media/image-14-8.png"/><Relationship Id="rId9" Type="http://schemas.openxmlformats.org/officeDocument/2006/relationships/image" Target="../media/image-14-3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3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hyperlink" Target="https://shamahscience.github.io/Scienceshamah/g4/competition.html" TargetMode="External"/><Relationship Id="rId5" Type="http://schemas.openxmlformats.org/officeDocument/2006/relationships/hyperlink" Target="https://shamahscience.github.io/Scienceshamah/g4/competition.html" TargetMode="External"/><Relationship Id="rId1" Type="http://schemas.openxmlformats.org/officeDocument/2006/relationships/image" Target="../media/Slide-10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1_1" descr="القوانين الصف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1_2"/>
          <p:cNvSpPr txBox="1"/>
          <p:nvPr/>
        </p:nvSpPr>
        <p:spPr>
          <a:xfrm>
            <a:off x="5289634" y="1619723"/>
            <a:ext cx="1568650" cy="510723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rtl="1" algn="ctr" indent="0" marL="0">
              <a:buNone/>
            </a:pPr>
            <a:endParaRPr lang="ar-SA" sz="1600" dirty="0"/>
          </a:p>
        </p:txBody>
      </p:sp>
      <p:sp>
        <p:nvSpPr>
          <p:cNvPr id="4" name="s1_3"/>
          <p:cNvSpPr txBox="1"/>
          <p:nvPr/>
        </p:nvSpPr>
        <p:spPr>
          <a:xfrm>
            <a:off x="1459209" y="1619723"/>
            <a:ext cx="1240328" cy="510723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rtl="1" algn="ctr" indent="0" marL="0">
              <a:buNone/>
            </a:pPr>
            <a:endParaRPr lang="ar-SA" sz="16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2_1" descr="العلم: رب اجعل هذا البلد آمنا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3_1"/>
          <p:cNvSpPr txBox="1"/>
          <p:nvPr/>
        </p:nvSpPr>
        <p:spPr>
          <a:xfrm>
            <a:off x="2331720" y="2697480"/>
            <a:ext cx="1444752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5E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الترحيب</a:t>
            </a:r>
            <a:endParaRPr lang="ar-SA" sz="1700" dirty="0"/>
          </a:p>
          <a:p>
            <a:pPr rtl="1" algn="ctr" indent="0" marL="0">
              <a:buNone/>
            </a:pPr>
            <a:endParaRPr lang="ar-SA" sz="1700" dirty="0"/>
          </a:p>
          <a:p>
            <a:pPr rtl="1" algn="ctr" indent="0" marL="0">
              <a:buNone/>
            </a:pPr>
            <a:r>
              <a:rPr lang="ar-SA" altLang="en-US" sz="12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أهلًا بعالماتي الصغيرات! 🌿</a:t>
            </a:r>
            <a:endParaRPr lang="ar-SA" sz="1700" dirty="0"/>
          </a:p>
        </p:txBody>
      </p:sp>
      <p:pic>
        <p:nvPicPr>
          <p:cNvPr id="3" name="s3_2" descr="عنوان الشريح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7466" y="1691640"/>
            <a:ext cx="3949908" cy="566928"/>
          </a:xfrm>
          <a:prstGeom prst="rect">
            <a:avLst/>
          </a:prstGeom>
        </p:spPr>
      </p:pic>
      <p:sp>
        <p:nvSpPr>
          <p:cNvPr id="4" name="s3_3"/>
          <p:cNvSpPr txBox="1"/>
          <p:nvPr/>
        </p:nvSpPr>
        <p:spPr>
          <a:xfrm>
            <a:off x="5029200" y="2514600"/>
            <a:ext cx="5806440" cy="548640"/>
          </a:xfrm>
          <a:prstGeom prst="roundRect">
            <a:avLst>
              <a:gd name="adj" fmla="val 50000"/>
            </a:avLst>
          </a:prstGeom>
          <a:solidFill>
            <a:srgbClr val="FFF3C4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الدرس الثاني (تابع): العلاقات في الأنظمة البيئية</a:t>
            </a:r>
            <a:endParaRPr lang="ar-SA" sz="1700" dirty="0"/>
          </a:p>
        </p:txBody>
      </p:sp>
      <p:sp>
        <p:nvSpPr>
          <p:cNvPr id="5" name="s3_4"/>
          <p:cNvSpPr txBox="1"/>
          <p:nvPr/>
        </p:nvSpPr>
        <p:spPr>
          <a:xfrm>
            <a:off x="5943600" y="3246120"/>
            <a:ext cx="3977640" cy="502920"/>
          </a:xfrm>
          <a:prstGeom prst="roundRect">
            <a:avLst>
              <a:gd name="adj" fmla="val 49091"/>
            </a:avLst>
          </a:prstGeom>
          <a:solidFill>
            <a:srgbClr val="E3F4D7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العلوم – الصف الرابع الابتدائي</a:t>
            </a:r>
            <a:endParaRPr lang="ar-SA" sz="1600" dirty="0"/>
          </a:p>
        </p:txBody>
      </p:sp>
      <p:sp>
        <p:nvSpPr>
          <p:cNvPr id="6" name="s3_5"/>
          <p:cNvSpPr txBox="1"/>
          <p:nvPr/>
        </p:nvSpPr>
        <p:spPr>
          <a:xfrm>
            <a:off x="5486400" y="3931920"/>
            <a:ext cx="4892040" cy="502920"/>
          </a:xfrm>
          <a:prstGeom prst="roundRect">
            <a:avLst>
              <a:gd name="adj" fmla="val 49091"/>
            </a:avLst>
          </a:prstGeom>
          <a:solidFill>
            <a:srgbClr val="DFF1FB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المدرسة الابتدائية العشرون لتحفيظ القرآن</a:t>
            </a:r>
            <a:endParaRPr lang="ar-SA" sz="1500" dirty="0"/>
          </a:p>
        </p:txBody>
      </p:sp>
      <p:sp>
        <p:nvSpPr>
          <p:cNvPr id="7" name="s3_6"/>
          <p:cNvSpPr txBox="1"/>
          <p:nvPr/>
        </p:nvSpPr>
        <p:spPr>
          <a:xfrm>
            <a:off x="5029200" y="4617720"/>
            <a:ext cx="580644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rtl="1" algn="ctr" indent="0" marL="0">
              <a:buNone/>
            </a:pPr>
            <a:r>
              <a:rPr lang="ar-SA" altLang="en-US" sz="150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اليوم: ............     التاريخ: ..../..../١٤٤٨هـ</a:t>
            </a:r>
            <a:endParaRPr lang="ar-SA" sz="1500" dirty="0"/>
          </a:p>
        </p:txBody>
      </p:sp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4_1"/>
          <p:cNvSpPr txBox="1"/>
          <p:nvPr/>
        </p:nvSpPr>
        <p:spPr>
          <a:xfrm>
            <a:off x="2331720" y="2697480"/>
            <a:ext cx="1444752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5E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الاسترجاع – شريط الذكريات</a:t>
            </a:r>
            <a:endParaRPr lang="ar-SA" sz="1700" dirty="0"/>
          </a:p>
          <a:p>
            <a:pPr rtl="1" algn="ctr" indent="0" marL="0">
              <a:buNone/>
            </a:pPr>
            <a:endParaRPr lang="ar-SA" sz="1700" dirty="0"/>
          </a:p>
          <a:p>
            <a:pPr rtl="1" algn="ctr" indent="0" marL="0">
              <a:buNone/>
            </a:pPr>
            <a:r>
              <a:rPr lang="ar-SA" altLang="en-US" sz="12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نتذكر درس الشبكة الغذائية ص١١٤</a:t>
            </a:r>
            <a:endParaRPr lang="ar-SA" sz="1700" dirty="0"/>
          </a:p>
        </p:txBody>
      </p:sp>
      <p:pic>
        <p:nvPicPr>
          <p:cNvPr id="3" name="s4_2" descr="صفحة ١١٤ من كتاب العلوم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691640"/>
            <a:ext cx="3383994" cy="4343400"/>
          </a:xfrm>
          <a:prstGeom prst="rect">
            <a:avLst/>
          </a:prstGeom>
        </p:spPr>
      </p:pic>
      <p:pic>
        <p:nvPicPr>
          <p:cNvPr id="4" name="s4_3" descr="عنوان الشريح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7394" y="1717251"/>
            <a:ext cx="3931206" cy="515707"/>
          </a:xfrm>
          <a:prstGeom prst="rect">
            <a:avLst/>
          </a:prstGeom>
        </p:spPr>
      </p:pic>
      <p:sp>
        <p:nvSpPr>
          <p:cNvPr id="5" name="page114_q0"/>
          <p:cNvSpPr txBox="1"/>
          <p:nvPr/>
        </p:nvSpPr>
        <p:spPr>
          <a:xfrm>
            <a:off x="9614373" y="2377440"/>
            <a:ext cx="2044227" cy="944880"/>
          </a:xfrm>
          <a:prstGeom prst="roundRect">
            <a:avLst>
              <a:gd name="adj" fmla="val 11613"/>
            </a:avLst>
          </a:prstGeom>
          <a:solidFill>
            <a:srgbClr val="E3F4D7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150" b="1" dirty="0">
                <a:solidFill>
                  <a:srgbClr val="6B4F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المفردة
</a:t>
            </a:r>
            <a:r>
              <a:rPr lang="ar-SA" altLang="en-US" sz="135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ما الشبكة الغذائية؟</a:t>
            </a:r>
            <a:r>
              <a:rPr lang="ar-SA" altLang="en-US" sz="110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👆</a:t>
            </a:r>
            <a:endParaRPr lang="ar-SA" sz="1350" dirty="0"/>
          </a:p>
        </p:txBody>
      </p:sp>
      <p:sp>
        <p:nvSpPr>
          <p:cNvPr id="6" name="s4_4@t=page114_q0"/>
          <p:cNvSpPr txBox="1"/>
          <p:nvPr/>
        </p:nvSpPr>
        <p:spPr>
          <a:xfrm>
            <a:off x="7727394" y="2377440"/>
            <a:ext cx="1813827" cy="944880"/>
          </a:xfrm>
          <a:prstGeom prst="roundRect">
            <a:avLst>
              <a:gd name="adj" fmla="val 11613"/>
            </a:avLst>
          </a:prstGeom>
          <a:solidFill>
            <a:srgbClr val="FFFBEF"/>
          </a:solidFill>
          <a:ln w="25400">
            <a:solidFill>
              <a:srgbClr val="2F8A3A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350" b="1" dirty="0">
                <a:solidFill>
                  <a:srgbClr val="2F8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✔ </a:t>
            </a:r>
            <a:r>
              <a:rPr lang="ar-SA" altLang="en-US" sz="13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سلاسل غذائية متداخلة.</a:t>
            </a:r>
            <a:endParaRPr lang="ar-SA" sz="1350" dirty="0"/>
          </a:p>
        </p:txBody>
      </p:sp>
      <p:sp>
        <p:nvSpPr>
          <p:cNvPr id="7" name="s4_5@t=page114_q0"/>
          <p:cNvSpPr/>
          <p:nvPr/>
        </p:nvSpPr>
        <p:spPr>
          <a:xfrm>
            <a:off x="5249073" y="2452908"/>
            <a:ext cx="2028310" cy="391062"/>
          </a:xfrm>
          <a:prstGeom prst="roundRect">
            <a:avLst>
              <a:gd name="adj" fmla="val 9353"/>
            </a:avLst>
          </a:prstGeom>
          <a:solidFill>
            <a:srgbClr val="FFEB3B">
              <a:alpha val="45000"/>
            </a:srgbClr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8" name="page114_q1"/>
          <p:cNvSpPr txBox="1"/>
          <p:nvPr/>
        </p:nvSpPr>
        <p:spPr>
          <a:xfrm>
            <a:off x="9614373" y="3413760"/>
            <a:ext cx="2044227" cy="944880"/>
          </a:xfrm>
          <a:prstGeom prst="roundRect">
            <a:avLst>
              <a:gd name="adj" fmla="val 11613"/>
            </a:avLst>
          </a:prstGeom>
          <a:solidFill>
            <a:srgbClr val="DFF1FB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150" b="1" dirty="0">
                <a:solidFill>
                  <a:srgbClr val="6B4F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سؤال حرفي
</a:t>
            </a:r>
            <a:r>
              <a:rPr lang="ar-SA" altLang="en-US" sz="135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ما الفرق بين المفترس والفريسة؟</a:t>
            </a:r>
            <a:r>
              <a:rPr lang="ar-SA" altLang="en-US" sz="110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👆</a:t>
            </a:r>
            <a:endParaRPr lang="ar-SA" sz="1350" dirty="0"/>
          </a:p>
        </p:txBody>
      </p:sp>
      <p:sp>
        <p:nvSpPr>
          <p:cNvPr id="9" name="s4_6@t=page114_q1"/>
          <p:cNvSpPr txBox="1"/>
          <p:nvPr/>
        </p:nvSpPr>
        <p:spPr>
          <a:xfrm>
            <a:off x="7727394" y="3413760"/>
            <a:ext cx="1813827" cy="944880"/>
          </a:xfrm>
          <a:prstGeom prst="roundRect">
            <a:avLst>
              <a:gd name="adj" fmla="val 11613"/>
            </a:avLst>
          </a:prstGeom>
          <a:solidFill>
            <a:srgbClr val="FFFBEF"/>
          </a:solidFill>
          <a:ln w="25400">
            <a:solidFill>
              <a:srgbClr val="2F8A3A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350" b="1" dirty="0">
                <a:solidFill>
                  <a:srgbClr val="2F8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✔ </a:t>
            </a:r>
            <a:r>
              <a:rPr lang="ar-SA" altLang="en-US" sz="13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المفترس يصطاد، والفريسة تُصطاد.</a:t>
            </a:r>
            <a:endParaRPr lang="ar-SA" sz="1350" dirty="0"/>
          </a:p>
        </p:txBody>
      </p:sp>
      <p:sp>
        <p:nvSpPr>
          <p:cNvPr id="10" name="s4_7@t=page114_q1"/>
          <p:cNvSpPr/>
          <p:nvPr/>
        </p:nvSpPr>
        <p:spPr>
          <a:xfrm>
            <a:off x="4988365" y="2870041"/>
            <a:ext cx="2289019" cy="286779"/>
          </a:xfrm>
          <a:prstGeom prst="roundRect">
            <a:avLst>
              <a:gd name="adj" fmla="val 12754"/>
            </a:avLst>
          </a:prstGeom>
          <a:solidFill>
            <a:srgbClr val="FFEB3B">
              <a:alpha val="45000"/>
            </a:srgbClr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1" name="page114_q2"/>
          <p:cNvSpPr txBox="1"/>
          <p:nvPr/>
        </p:nvSpPr>
        <p:spPr>
          <a:xfrm>
            <a:off x="9614373" y="4450080"/>
            <a:ext cx="2044227" cy="944880"/>
          </a:xfrm>
          <a:prstGeom prst="roundRect">
            <a:avLst>
              <a:gd name="adj" fmla="val 11613"/>
            </a:avLst>
          </a:prstGeom>
          <a:solidFill>
            <a:srgbClr val="FFF3C4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150" b="1" dirty="0">
                <a:solidFill>
                  <a:srgbClr val="6B4F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قراءة الشكل
</a:t>
            </a:r>
            <a:r>
              <a:rPr lang="ar-SA" altLang="en-US" sz="135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أيّ مفترس له أكبر عدد من الفرائس؟</a:t>
            </a:r>
            <a:r>
              <a:rPr lang="ar-SA" altLang="en-US" sz="110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👆</a:t>
            </a:r>
            <a:endParaRPr lang="ar-SA" sz="1350" dirty="0"/>
          </a:p>
        </p:txBody>
      </p:sp>
      <p:sp>
        <p:nvSpPr>
          <p:cNvPr id="12" name="s4_8@t=page114_q2"/>
          <p:cNvSpPr txBox="1"/>
          <p:nvPr/>
        </p:nvSpPr>
        <p:spPr>
          <a:xfrm>
            <a:off x="7727394" y="4450080"/>
            <a:ext cx="1813827" cy="944880"/>
          </a:xfrm>
          <a:prstGeom prst="roundRect">
            <a:avLst>
              <a:gd name="adj" fmla="val 11613"/>
            </a:avLst>
          </a:prstGeom>
          <a:solidFill>
            <a:srgbClr val="FFFBEF"/>
          </a:solidFill>
          <a:ln w="25400">
            <a:solidFill>
              <a:srgbClr val="2F8A3A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350" b="1" dirty="0">
                <a:solidFill>
                  <a:srgbClr val="2F8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✔ </a:t>
            </a:r>
            <a:r>
              <a:rPr lang="ar-SA" altLang="en-US" sz="13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الحوت القاتل.</a:t>
            </a:r>
            <a:endParaRPr lang="ar-SA" sz="1350" dirty="0"/>
          </a:p>
        </p:txBody>
      </p:sp>
      <p:sp>
        <p:nvSpPr>
          <p:cNvPr id="13" name="s4_9@t=page114_q2"/>
          <p:cNvSpPr/>
          <p:nvPr/>
        </p:nvSpPr>
        <p:spPr>
          <a:xfrm>
            <a:off x="6031198" y="4963529"/>
            <a:ext cx="1538179" cy="795160"/>
          </a:xfrm>
          <a:prstGeom prst="roundRect">
            <a:avLst>
              <a:gd name="adj" fmla="val 4600"/>
            </a:avLst>
          </a:prstGeom>
          <a:solidFill>
            <a:srgbClr val="FFEB3B">
              <a:alpha val="45000"/>
            </a:srgbClr>
          </a:solidFill>
          <a:ln w="19050">
            <a:solidFill>
              <a:srgbClr val="F5A623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5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8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5_1"/>
          <p:cNvSpPr txBox="1"/>
          <p:nvPr/>
        </p:nvSpPr>
        <p:spPr>
          <a:xfrm>
            <a:off x="2331720" y="2697480"/>
            <a:ext cx="1444752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5E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الفهم القرائي</a:t>
            </a:r>
            <a:endParaRPr lang="ar-SA" sz="1700" dirty="0"/>
          </a:p>
          <a:p>
            <a:pPr rtl="1" algn="ctr" indent="0" marL="0">
              <a:buNone/>
            </a:pPr>
            <a:endParaRPr lang="ar-SA" sz="1700" dirty="0"/>
          </a:p>
          <a:p>
            <a:pPr rtl="1" algn="ctr" indent="0" marL="0">
              <a:buNone/>
            </a:pPr>
            <a:r>
              <a:rPr lang="ar-SA" altLang="en-US" sz="12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نقرأ ص١١٥ ونبحث عن الدليل 🔍</a:t>
            </a:r>
            <a:endParaRPr lang="ar-SA" sz="1700" dirty="0"/>
          </a:p>
        </p:txBody>
      </p:sp>
      <p:pic>
        <p:nvPicPr>
          <p:cNvPr id="3" name="s5_2" descr="صفحة ١١٥ من كتاب العلوم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691640"/>
            <a:ext cx="3357611" cy="4343400"/>
          </a:xfrm>
          <a:prstGeom prst="rect">
            <a:avLst/>
          </a:prstGeom>
        </p:spPr>
      </p:pic>
      <p:pic>
        <p:nvPicPr>
          <p:cNvPr id="4" name="s5_3" descr="عنوان الشريح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8806" y="1691640"/>
            <a:ext cx="3819794" cy="566928"/>
          </a:xfrm>
          <a:prstGeom prst="rect">
            <a:avLst/>
          </a:prstGeom>
        </p:spPr>
      </p:pic>
      <p:sp>
        <p:nvSpPr>
          <p:cNvPr id="5" name="page115_q0"/>
          <p:cNvSpPr txBox="1"/>
          <p:nvPr/>
        </p:nvSpPr>
        <p:spPr>
          <a:xfrm>
            <a:off x="9600654" y="2377440"/>
            <a:ext cx="2057946" cy="944880"/>
          </a:xfrm>
          <a:prstGeom prst="roundRect">
            <a:avLst>
              <a:gd name="adj" fmla="val 11613"/>
            </a:avLst>
          </a:prstGeom>
          <a:solidFill>
            <a:srgbClr val="E3F4D7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150" b="1" dirty="0">
                <a:solidFill>
                  <a:srgbClr val="6B4F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المفردة
</a:t>
            </a:r>
            <a:r>
              <a:rPr lang="ar-SA" altLang="en-US" sz="135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ما التنافس؟</a:t>
            </a:r>
            <a:r>
              <a:rPr lang="ar-SA" altLang="en-US" sz="110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👆</a:t>
            </a:r>
            <a:endParaRPr lang="ar-SA" sz="1350" dirty="0"/>
          </a:p>
        </p:txBody>
      </p:sp>
      <p:sp>
        <p:nvSpPr>
          <p:cNvPr id="6" name="s5_4@t=page115_q0"/>
          <p:cNvSpPr txBox="1"/>
          <p:nvPr/>
        </p:nvSpPr>
        <p:spPr>
          <a:xfrm>
            <a:off x="7701011" y="2377440"/>
            <a:ext cx="1826491" cy="944880"/>
          </a:xfrm>
          <a:prstGeom prst="roundRect">
            <a:avLst>
              <a:gd name="adj" fmla="val 11613"/>
            </a:avLst>
          </a:prstGeom>
          <a:solidFill>
            <a:srgbClr val="FFFBEF"/>
          </a:solidFill>
          <a:ln w="25400">
            <a:solidFill>
              <a:srgbClr val="2F8A3A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350" b="1" dirty="0">
                <a:solidFill>
                  <a:srgbClr val="2F8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✔ </a:t>
            </a:r>
            <a:r>
              <a:rPr lang="ar-SA" altLang="en-US" sz="13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صراع المخلوقات على الطعام والماء.</a:t>
            </a:r>
            <a:endParaRPr lang="ar-SA" sz="1350" dirty="0"/>
          </a:p>
        </p:txBody>
      </p:sp>
      <p:sp>
        <p:nvSpPr>
          <p:cNvPr id="7" name="s5_5@t=page115_q0"/>
          <p:cNvSpPr/>
          <p:nvPr/>
        </p:nvSpPr>
        <p:spPr>
          <a:xfrm>
            <a:off x="5707159" y="2210476"/>
            <a:ext cx="1834456" cy="518836"/>
          </a:xfrm>
          <a:prstGeom prst="roundRect">
            <a:avLst>
              <a:gd name="adj" fmla="val 7050"/>
            </a:avLst>
          </a:prstGeom>
          <a:solidFill>
            <a:srgbClr val="FFEB3B">
              <a:alpha val="45000"/>
            </a:srgbClr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8" name="page115_q1"/>
          <p:cNvSpPr txBox="1"/>
          <p:nvPr/>
        </p:nvSpPr>
        <p:spPr>
          <a:xfrm>
            <a:off x="9600654" y="3413760"/>
            <a:ext cx="2057946" cy="944880"/>
          </a:xfrm>
          <a:prstGeom prst="roundRect">
            <a:avLst>
              <a:gd name="adj" fmla="val 11613"/>
            </a:avLst>
          </a:prstGeom>
          <a:solidFill>
            <a:srgbClr val="FFF3C4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150" b="1" dirty="0">
                <a:solidFill>
                  <a:srgbClr val="6B4F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سؤال استنتاجي
</a:t>
            </a:r>
            <a:r>
              <a:rPr lang="ar-SA" altLang="en-US" sz="135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ماذا يحدث إذا أكلت الحيوانات النبات نفسه؟</a:t>
            </a:r>
            <a:r>
              <a:rPr lang="ar-SA" altLang="en-US" sz="110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👆</a:t>
            </a:r>
            <a:endParaRPr lang="ar-SA" sz="1350" dirty="0"/>
          </a:p>
        </p:txBody>
      </p:sp>
      <p:sp>
        <p:nvSpPr>
          <p:cNvPr id="9" name="s5_6@t=page115_q1"/>
          <p:cNvSpPr txBox="1"/>
          <p:nvPr/>
        </p:nvSpPr>
        <p:spPr>
          <a:xfrm>
            <a:off x="7701011" y="3413760"/>
            <a:ext cx="1826491" cy="944880"/>
          </a:xfrm>
          <a:prstGeom prst="roundRect">
            <a:avLst>
              <a:gd name="adj" fmla="val 11613"/>
            </a:avLst>
          </a:prstGeom>
          <a:solidFill>
            <a:srgbClr val="FFFBEF"/>
          </a:solidFill>
          <a:ln w="25400">
            <a:solidFill>
              <a:srgbClr val="2F8A3A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350" b="1" dirty="0">
                <a:solidFill>
                  <a:srgbClr val="2F8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✔ </a:t>
            </a:r>
            <a:r>
              <a:rPr lang="ar-SA" altLang="en-US" sz="13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تتنافس على الغذاء.</a:t>
            </a:r>
            <a:endParaRPr lang="ar-SA" sz="1350" dirty="0"/>
          </a:p>
        </p:txBody>
      </p:sp>
      <p:sp>
        <p:nvSpPr>
          <p:cNvPr id="10" name="s5_7@t=page115_q1"/>
          <p:cNvSpPr/>
          <p:nvPr/>
        </p:nvSpPr>
        <p:spPr>
          <a:xfrm>
            <a:off x="5707159" y="2766372"/>
            <a:ext cx="1834456" cy="778254"/>
          </a:xfrm>
          <a:prstGeom prst="roundRect">
            <a:avLst>
              <a:gd name="adj" fmla="val 4700"/>
            </a:avLst>
          </a:prstGeom>
          <a:solidFill>
            <a:srgbClr val="FFEB3B">
              <a:alpha val="45000"/>
            </a:srgbClr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1" name="page115_q2"/>
          <p:cNvSpPr txBox="1"/>
          <p:nvPr/>
        </p:nvSpPr>
        <p:spPr>
          <a:xfrm>
            <a:off x="9600654" y="4450080"/>
            <a:ext cx="2057946" cy="944880"/>
          </a:xfrm>
          <a:prstGeom prst="roundRect">
            <a:avLst>
              <a:gd name="adj" fmla="val 11613"/>
            </a:avLst>
          </a:prstGeom>
          <a:solidFill>
            <a:srgbClr val="DFF1FB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150" b="1" dirty="0">
                <a:solidFill>
                  <a:srgbClr val="6B4F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سؤال حرفي
</a:t>
            </a:r>
            <a:r>
              <a:rPr lang="ar-SA" altLang="en-US" sz="135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على ماذا تتنافس النباتات؟</a:t>
            </a:r>
            <a:r>
              <a:rPr lang="ar-SA" altLang="en-US" sz="110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👆</a:t>
            </a:r>
            <a:endParaRPr lang="ar-SA" sz="1350" dirty="0"/>
          </a:p>
        </p:txBody>
      </p:sp>
      <p:sp>
        <p:nvSpPr>
          <p:cNvPr id="12" name="s5_8@t=page115_q2"/>
          <p:cNvSpPr txBox="1"/>
          <p:nvPr/>
        </p:nvSpPr>
        <p:spPr>
          <a:xfrm>
            <a:off x="7701011" y="4450080"/>
            <a:ext cx="1826491" cy="944880"/>
          </a:xfrm>
          <a:prstGeom prst="roundRect">
            <a:avLst>
              <a:gd name="adj" fmla="val 11613"/>
            </a:avLst>
          </a:prstGeom>
          <a:solidFill>
            <a:srgbClr val="FFFBEF"/>
          </a:solidFill>
          <a:ln w="25400">
            <a:solidFill>
              <a:srgbClr val="2F8A3A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350" b="1" dirty="0">
                <a:solidFill>
                  <a:srgbClr val="2F8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✔ </a:t>
            </a:r>
            <a:r>
              <a:rPr lang="ar-SA" altLang="en-US" sz="13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على ضوء الشمس والمواد المغذية.</a:t>
            </a:r>
            <a:endParaRPr lang="ar-SA" sz="1350" dirty="0"/>
          </a:p>
        </p:txBody>
      </p:sp>
      <p:sp>
        <p:nvSpPr>
          <p:cNvPr id="13" name="s5_9@t=page115_q2"/>
          <p:cNvSpPr/>
          <p:nvPr/>
        </p:nvSpPr>
        <p:spPr>
          <a:xfrm>
            <a:off x="5707159" y="3563156"/>
            <a:ext cx="1834456" cy="426187"/>
          </a:xfrm>
          <a:prstGeom prst="roundRect">
            <a:avLst>
              <a:gd name="adj" fmla="val 8582"/>
            </a:avLst>
          </a:prstGeom>
          <a:solidFill>
            <a:srgbClr val="FFEB3B">
              <a:alpha val="45000"/>
            </a:srgbClr>
          </a:solidFill>
          <a:ln w="19050">
            <a:solidFill>
              <a:srgbClr val="F5A623"/>
            </a:solidFill>
            <a:prstDash val="solid"/>
          </a:ln>
        </p:spPr>
      </p:sp>
    </p:spTree>
  </p:cSld>
  <p:clrMapOvr>
    <a:masterClrMapping/>
  </p:clrMapOvr>
  <p:transition spd="med">
    <p:wheel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5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8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6_1"/>
          <p:cNvSpPr txBox="1"/>
          <p:nvPr/>
        </p:nvSpPr>
        <p:spPr>
          <a:xfrm>
            <a:off x="2331720" y="2697480"/>
            <a:ext cx="1444752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5E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المحاكاة – الواقع الافتراضي</a:t>
            </a:r>
            <a:endParaRPr lang="ar-SA" sz="1700" dirty="0"/>
          </a:p>
          <a:p>
            <a:pPr rtl="1" algn="ctr" indent="0" marL="0">
              <a:buNone/>
            </a:pPr>
            <a:endParaRPr lang="ar-SA" sz="1700" dirty="0"/>
          </a:p>
          <a:p>
            <a:pPr rtl="1" algn="ctr" indent="0" marL="0">
              <a:buNone/>
            </a:pPr>
            <a:r>
              <a:rPr lang="ar-SA" altLang="en-US" sz="12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🥽 تتبّعي كرة الطاقة ⚡ في الشكل</a:t>
            </a:r>
            <a:endParaRPr lang="ar-SA" sz="1700" dirty="0"/>
          </a:p>
        </p:txBody>
      </p:sp>
      <p:pic>
        <p:nvPicPr>
          <p:cNvPr id="3" name="s6_2" descr="شبكة غذائية على اليابسة من الكتاب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691640"/>
            <a:ext cx="1489801" cy="4343400"/>
          </a:xfrm>
          <a:prstGeom prst="rect">
            <a:avLst/>
          </a:prstGeom>
        </p:spPr>
      </p:pic>
      <p:pic>
        <p:nvPicPr>
          <p:cNvPr id="4" name="s6_3" descr="عنوان الشريح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3375" y="1691640"/>
            <a:ext cx="5525225" cy="566928"/>
          </a:xfrm>
          <a:prstGeom prst="rect">
            <a:avLst/>
          </a:prstGeom>
        </p:spPr>
      </p:pic>
      <p:pic>
        <p:nvPicPr>
          <p:cNvPr id="5" name="s6_4" descr="كرة الطاق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5120" y="5149999"/>
            <a:ext cx="384048" cy="384048"/>
          </a:xfrm>
          <a:prstGeom prst="rect">
            <a:avLst/>
          </a:prstGeom>
        </p:spPr>
      </p:pic>
      <p:pic>
        <p:nvPicPr>
          <p:cNvPr id="6" name="s6_5" descr="كرة الطاقة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2116" y="4737286"/>
            <a:ext cx="320040" cy="320040"/>
          </a:xfrm>
          <a:prstGeom prst="rect">
            <a:avLst/>
          </a:prstGeom>
        </p:spPr>
      </p:pic>
      <p:sp>
        <p:nvSpPr>
          <p:cNvPr id="7" name="s6_6"/>
          <p:cNvSpPr txBox="1"/>
          <p:nvPr/>
        </p:nvSpPr>
        <p:spPr>
          <a:xfrm>
            <a:off x="5878921" y="2423160"/>
            <a:ext cx="5779679" cy="566928"/>
          </a:xfrm>
          <a:prstGeom prst="roundRect">
            <a:avLst>
              <a:gd name="adj" fmla="val 19355"/>
            </a:avLst>
          </a:prstGeom>
          <a:solidFill>
            <a:srgbClr val="E3F4D7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55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١) عشب ← أرنب ← ثعلب</a:t>
            </a:r>
            <a:endParaRPr lang="ar-SA" sz="1550" dirty="0"/>
          </a:p>
        </p:txBody>
      </p:sp>
      <p:pic>
        <p:nvPicPr>
          <p:cNvPr id="8" name="s6_7" descr="كرة الطاقة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6008" y="5668835"/>
            <a:ext cx="384048" cy="384048"/>
          </a:xfrm>
          <a:prstGeom prst="rect">
            <a:avLst/>
          </a:prstGeom>
        </p:spPr>
      </p:pic>
      <p:pic>
        <p:nvPicPr>
          <p:cNvPr id="9" name="s6_8" descr="كرة الطاقة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2131" y="5441421"/>
            <a:ext cx="320040" cy="320040"/>
          </a:xfrm>
          <a:prstGeom prst="rect">
            <a:avLst/>
          </a:prstGeom>
        </p:spPr>
      </p:pic>
      <p:pic>
        <p:nvPicPr>
          <p:cNvPr id="10" name="s6_9" descr="كرة الطاقة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11762" y="5417836"/>
            <a:ext cx="256032" cy="256032"/>
          </a:xfrm>
          <a:prstGeom prst="rect">
            <a:avLst/>
          </a:prstGeom>
        </p:spPr>
      </p:pic>
      <p:sp>
        <p:nvSpPr>
          <p:cNvPr id="11" name="s6_10"/>
          <p:cNvSpPr txBox="1"/>
          <p:nvPr/>
        </p:nvSpPr>
        <p:spPr>
          <a:xfrm>
            <a:off x="5878921" y="3081528"/>
            <a:ext cx="5779679" cy="566928"/>
          </a:xfrm>
          <a:prstGeom prst="roundRect">
            <a:avLst>
              <a:gd name="adj" fmla="val 19355"/>
            </a:avLst>
          </a:prstGeom>
          <a:solidFill>
            <a:srgbClr val="DFF1FB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55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٢) عشب ← فأر ← ثعبان ← نسر</a:t>
            </a:r>
            <a:endParaRPr lang="ar-SA" sz="1550" dirty="0"/>
          </a:p>
        </p:txBody>
      </p:sp>
      <p:pic>
        <p:nvPicPr>
          <p:cNvPr id="12" name="s6_11" descr="كرة الطاقة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41015" y="3111714"/>
            <a:ext cx="384048" cy="384048"/>
          </a:xfrm>
          <a:prstGeom prst="rect">
            <a:avLst/>
          </a:prstGeom>
        </p:spPr>
      </p:pic>
      <p:pic>
        <p:nvPicPr>
          <p:cNvPr id="13" name="s6_12" descr="كرة الطاقة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98900" y="2921360"/>
            <a:ext cx="320040" cy="320040"/>
          </a:xfrm>
          <a:prstGeom prst="rect">
            <a:avLst/>
          </a:prstGeom>
        </p:spPr>
      </p:pic>
      <p:sp>
        <p:nvSpPr>
          <p:cNvPr id="14" name="s6_13"/>
          <p:cNvSpPr txBox="1"/>
          <p:nvPr/>
        </p:nvSpPr>
        <p:spPr>
          <a:xfrm>
            <a:off x="5878921" y="3739896"/>
            <a:ext cx="5779679" cy="566928"/>
          </a:xfrm>
          <a:prstGeom prst="roundRect">
            <a:avLst>
              <a:gd name="adj" fmla="val 19355"/>
            </a:avLst>
          </a:prstGeom>
          <a:solidFill>
            <a:srgbClr val="FFF3C4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55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٣) شجيرة ← عصفور ← نسر</a:t>
            </a:r>
            <a:endParaRPr lang="ar-SA" sz="1550" dirty="0"/>
          </a:p>
        </p:txBody>
      </p:sp>
      <p:sp>
        <p:nvSpPr>
          <p:cNvPr id="15" name="s6_14@c4"/>
          <p:cNvSpPr txBox="1"/>
          <p:nvPr/>
        </p:nvSpPr>
        <p:spPr>
          <a:xfrm>
            <a:off x="5878921" y="4434840"/>
            <a:ext cx="3356519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450" b="1" dirty="0">
                <a:solidFill>
                  <a:srgbClr val="C236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سؤال: </a:t>
            </a:r>
            <a:r>
              <a:rPr lang="ar-SA" altLang="en-US" sz="145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الأرنب والفأر يأكلان العشب… ماذا يحدث بينهما؟</a:t>
            </a:r>
            <a:endParaRPr lang="ar-SA" sz="1450" dirty="0"/>
          </a:p>
        </p:txBody>
      </p:sp>
      <p:sp>
        <p:nvSpPr>
          <p:cNvPr id="16" name="s6_15@c5"/>
          <p:cNvSpPr txBox="1"/>
          <p:nvPr/>
        </p:nvSpPr>
        <p:spPr>
          <a:xfrm>
            <a:off x="5878921" y="5212080"/>
            <a:ext cx="3356519" cy="548640"/>
          </a:xfrm>
          <a:prstGeom prst="roundRect">
            <a:avLst>
              <a:gd name="adj" fmla="val 20000"/>
            </a:avLst>
          </a:prstGeom>
          <a:solidFill>
            <a:srgbClr val="FFFBEF"/>
          </a:solidFill>
          <a:ln w="25400">
            <a:solidFill>
              <a:srgbClr val="2F8A3A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2F8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✔ </a:t>
            </a:r>
            <a:r>
              <a:rPr lang="ar-SA" altLang="en-US" sz="150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يتنافسان على العشب.</a:t>
            </a:r>
            <a:endParaRPr lang="ar-SA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0258 -0.0648 E" pathEditMode="relative" ptsTypes="">
                                      <p:cBhvr>
                                        <p:cTn id="11" dur="1000" fill="hold" accel="40000" decel="4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2" nodeType="withEffect">
                                  <p:stCondLst>
                                    <p:cond delay="1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0" presetClass="path" presetSubtype="0" fill="hold" grpId="1" nodeType="withEffect">
                                  <p:stCondLst>
                                    <p:cond delay="1550"/>
                                  </p:stCondLst>
                                  <p:childTnLst>
                                    <p:animMotion origin="layout" path="M 0 0 L 0.0547 -0.0351 E" pathEditMode="relative" ptsTypes="">
                                      <p:cBhvr>
                                        <p:cTn id="21" dur="1000" fill="hold" accel="40000" decel="4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2" nodeType="withEffect">
                                  <p:stCondLst>
                                    <p:cond delay="2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0" presetClass="path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0.0061 -0.0378 E" pathEditMode="relative" ptsTypes="">
                                      <p:cBhvr>
                                        <p:cTn id="36" dur="1000" fill="hold" accel="40000" decel="4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2" nodeType="withEffect">
                                  <p:stCondLst>
                                    <p:cond delay="1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0" presetClass="path" presetSubtype="0" fill="hold" grpId="1" nodeType="withEffect">
                                  <p:stCondLst>
                                    <p:cond delay="1550"/>
                                  </p:stCondLst>
                                  <p:childTnLst>
                                    <p:animMotion origin="layout" path="M 0 0 L -0.0699 -0.0081 E" pathEditMode="relative" ptsTypes="">
                                      <p:cBhvr>
                                        <p:cTn id="46" dur="1000" fill="hold" accel="40000" decel="4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2" nodeType="withEffect">
                                  <p:stCondLst>
                                    <p:cond delay="2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0" presetClass="path" presetSubtype="0" fill="hold" grpId="1" nodeType="withEffect">
                                  <p:stCondLst>
                                    <p:cond delay="2850"/>
                                  </p:stCondLst>
                                  <p:childTnLst>
                                    <p:animMotion origin="layout" path="M 0 0 L 0.0502 -0.4350 E" pathEditMode="relative" ptsTypes="">
                                      <p:cBhvr>
                                        <p:cTn id="56" dur="1000" fill="hold" accel="40000" decel="4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2" nodeType="withEffect">
                                  <p:stCondLst>
                                    <p:cond delay="3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0" presetClass="path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0061 -0.0324 E" pathEditMode="relative" ptsTypes="">
                                      <p:cBhvr>
                                        <p:cTn id="71" dur="1000" fill="hold" accel="40000" decel="4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grpId="2" nodeType="withEffect">
                                  <p:stCondLst>
                                    <p:cond delay="1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0" presetClass="path" presetSubtype="0" fill="hold" grpId="1" nodeType="withEffect">
                                  <p:stCondLst>
                                    <p:cond delay="1550"/>
                                  </p:stCondLst>
                                  <p:childTnLst>
                                    <p:animMotion origin="layout" path="M 0 0 L -0.0334 -0.0757 E" pathEditMode="relative" ptsTypes="">
                                      <p:cBhvr>
                                        <p:cTn id="81" dur="1000" fill="hold" accel="40000" decel="4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2" nodeType="withEffect">
                                  <p:stCondLst>
                                    <p:cond delay="2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4" grpId="0" animBg="1"/>
      <p:bldP spid="15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7_1"/>
          <p:cNvSpPr txBox="1"/>
          <p:nvPr/>
        </p:nvSpPr>
        <p:spPr>
          <a:xfrm>
            <a:off x="2331720" y="2697480"/>
            <a:ext cx="1444752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5E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الاستنتاج – التفكير الناقد</a:t>
            </a:r>
            <a:endParaRPr lang="ar-SA" sz="1700" dirty="0"/>
          </a:p>
          <a:p>
            <a:pPr rtl="1" algn="ctr" indent="0" marL="0">
              <a:buNone/>
            </a:pPr>
            <a:endParaRPr lang="ar-SA" sz="1700" dirty="0"/>
          </a:p>
          <a:p>
            <a:pPr rtl="1" algn="ctr" indent="0" marL="0">
              <a:buNone/>
            </a:pPr>
            <a:r>
              <a:rPr lang="ar-SA" altLang="en-US" sz="12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أسئلة «أختبر نفسي» من الكتاب</a:t>
            </a:r>
            <a:endParaRPr lang="ar-SA" sz="1700" dirty="0"/>
          </a:p>
        </p:txBody>
      </p:sp>
      <p:pic>
        <p:nvPicPr>
          <p:cNvPr id="3" name="s7_2" descr="عنوان الشريح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8873" y="1691640"/>
            <a:ext cx="4149727" cy="566928"/>
          </a:xfrm>
          <a:prstGeom prst="rect">
            <a:avLst/>
          </a:prstGeom>
        </p:spPr>
      </p:pic>
      <p:sp>
        <p:nvSpPr>
          <p:cNvPr id="4" name="s7_3"/>
          <p:cNvSpPr txBox="1"/>
          <p:nvPr/>
        </p:nvSpPr>
        <p:spPr>
          <a:xfrm>
            <a:off x="10332720" y="2423160"/>
            <a:ext cx="1325880" cy="1440180"/>
          </a:xfrm>
          <a:prstGeom prst="roundRect">
            <a:avLst>
              <a:gd name="adj" fmla="val 8276"/>
            </a:avLst>
          </a:prstGeom>
          <a:solidFill>
            <a:srgbClr val="E3F4D7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أستنتج</a:t>
            </a:r>
            <a:endParaRPr lang="ar-SA" sz="1450" dirty="0"/>
          </a:p>
        </p:txBody>
      </p:sp>
      <p:sp>
        <p:nvSpPr>
          <p:cNvPr id="5" name="s7_4"/>
          <p:cNvSpPr txBox="1"/>
          <p:nvPr/>
        </p:nvSpPr>
        <p:spPr>
          <a:xfrm>
            <a:off x="6949440" y="2423160"/>
            <a:ext cx="3291840" cy="144018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45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أيّ الحيوانات في شبكة المحيط يتنافس مع الحوت القاتل على الأسماك؟</a:t>
            </a:r>
            <a:endParaRPr lang="ar-SA" sz="1450" dirty="0"/>
          </a:p>
        </p:txBody>
      </p:sp>
      <p:sp>
        <p:nvSpPr>
          <p:cNvPr id="6" name="s7_5@c1"/>
          <p:cNvSpPr txBox="1"/>
          <p:nvPr/>
        </p:nvSpPr>
        <p:spPr>
          <a:xfrm>
            <a:off x="4206240" y="2423160"/>
            <a:ext cx="2651760" cy="1440180"/>
          </a:xfrm>
          <a:prstGeom prst="roundRect">
            <a:avLst>
              <a:gd name="adj" fmla="val 7619"/>
            </a:avLst>
          </a:prstGeom>
          <a:solidFill>
            <a:srgbClr val="FFFBEF"/>
          </a:solidFill>
          <a:ln w="25400">
            <a:solidFill>
              <a:srgbClr val="2F8A3A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350" b="1" dirty="0">
                <a:solidFill>
                  <a:srgbClr val="2F8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✔ </a:t>
            </a:r>
            <a:r>
              <a:rPr lang="ar-SA" altLang="en-US" sz="13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الدلفين، والتونة، والنورس.</a:t>
            </a:r>
            <a:endParaRPr lang="ar-SA" sz="1350" dirty="0"/>
          </a:p>
        </p:txBody>
      </p:sp>
      <p:sp>
        <p:nvSpPr>
          <p:cNvPr id="7" name="s7_6"/>
          <p:cNvSpPr txBox="1"/>
          <p:nvPr/>
        </p:nvSpPr>
        <p:spPr>
          <a:xfrm>
            <a:off x="10332720" y="3954780"/>
            <a:ext cx="1325880" cy="1440180"/>
          </a:xfrm>
          <a:prstGeom prst="roundRect">
            <a:avLst>
              <a:gd name="adj" fmla="val 8276"/>
            </a:avLst>
          </a:prstGeom>
          <a:solidFill>
            <a:srgbClr val="DFF1FB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التفكير الناقد</a:t>
            </a:r>
            <a:endParaRPr lang="ar-SA" sz="1450" dirty="0"/>
          </a:p>
        </p:txBody>
      </p:sp>
      <p:sp>
        <p:nvSpPr>
          <p:cNvPr id="8" name="s7_7"/>
          <p:cNvSpPr txBox="1"/>
          <p:nvPr/>
        </p:nvSpPr>
        <p:spPr>
          <a:xfrm>
            <a:off x="6949440" y="3954780"/>
            <a:ext cx="3291840" cy="144018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45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أستنتج أربع سلاسل غذائية من شبكة اليابسة.</a:t>
            </a:r>
            <a:endParaRPr lang="ar-SA" sz="1450" dirty="0"/>
          </a:p>
        </p:txBody>
      </p:sp>
      <p:sp>
        <p:nvSpPr>
          <p:cNvPr id="9" name="s7_8@c2"/>
          <p:cNvSpPr txBox="1"/>
          <p:nvPr/>
        </p:nvSpPr>
        <p:spPr>
          <a:xfrm>
            <a:off x="4206240" y="3954780"/>
            <a:ext cx="2651760" cy="1440180"/>
          </a:xfrm>
          <a:prstGeom prst="roundRect">
            <a:avLst>
              <a:gd name="adj" fmla="val 7619"/>
            </a:avLst>
          </a:prstGeom>
          <a:solidFill>
            <a:srgbClr val="FFFBEF"/>
          </a:solidFill>
          <a:ln w="25400">
            <a:solidFill>
              <a:srgbClr val="2F8A3A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350" b="1" dirty="0">
                <a:solidFill>
                  <a:srgbClr val="2F8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✔ </a:t>
            </a:r>
            <a:r>
              <a:rPr lang="ar-SA" altLang="en-US" sz="13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عشب ← أرنب ← ثعلب</a:t>
            </a:r>
            <a:endParaRPr lang="ar-SA" sz="1350" dirty="0"/>
          </a:p>
          <a:p>
            <a:pPr rtl="1" algn="r" indent="0" marL="0">
              <a:buNone/>
            </a:pPr>
            <a:r>
              <a:rPr lang="ar-SA" altLang="en-US" sz="13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عشب ← فأر ← ثعلب</a:t>
            </a:r>
            <a:endParaRPr lang="ar-SA" sz="1350" dirty="0"/>
          </a:p>
          <a:p>
            <a:pPr rtl="1" algn="r" indent="0" marL="0">
              <a:buNone/>
            </a:pPr>
            <a:r>
              <a:rPr lang="ar-SA" altLang="en-US" sz="13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عشب ← فأر ← ثعبان ← نسر</a:t>
            </a:r>
            <a:endParaRPr lang="ar-SA" sz="1350" dirty="0"/>
          </a:p>
          <a:p>
            <a:pPr rtl="1" algn="r" indent="0" marL="0">
              <a:buNone/>
            </a:pPr>
            <a:r>
              <a:rPr lang="ar-SA" altLang="en-US" sz="13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شجيرة ← عصفور ← نسر</a:t>
            </a:r>
            <a:endParaRPr lang="ar-SA" sz="1350" dirty="0"/>
          </a:p>
        </p:txBody>
      </p:sp>
    </p:spTree>
  </p:cSld>
  <p:clrMapOvr>
    <a:masterClrMapping/>
  </p:clrMapOvr>
  <p:transition spd="med"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8_1"/>
          <p:cNvSpPr txBox="1"/>
          <p:nvPr/>
        </p:nvSpPr>
        <p:spPr>
          <a:xfrm>
            <a:off x="2331720" y="2697480"/>
            <a:ext cx="1444752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5E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الفهم القرائي – قراءة الشكل</a:t>
            </a:r>
            <a:endParaRPr lang="ar-SA" sz="1700" dirty="0"/>
          </a:p>
          <a:p>
            <a:pPr rtl="1" algn="ctr" indent="0" marL="0">
              <a:buNone/>
            </a:pPr>
            <a:endParaRPr lang="ar-SA" sz="1700" dirty="0"/>
          </a:p>
          <a:p>
            <a:pPr rtl="1" algn="ctr" indent="0" marL="0">
              <a:buNone/>
            </a:pPr>
            <a:r>
              <a:rPr lang="ar-SA" altLang="en-US" sz="12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نقرأ ص١١٦ وننظر إلى الهرم 🔺</a:t>
            </a:r>
            <a:endParaRPr lang="ar-SA" sz="1700" dirty="0"/>
          </a:p>
        </p:txBody>
      </p:sp>
      <p:pic>
        <p:nvPicPr>
          <p:cNvPr id="3" name="s8_2" descr="صفحة ١١٦ من كتاب العلوم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691640"/>
            <a:ext cx="3090175" cy="4343400"/>
          </a:xfrm>
          <a:prstGeom prst="rect">
            <a:avLst/>
          </a:prstGeom>
        </p:spPr>
      </p:pic>
      <p:pic>
        <p:nvPicPr>
          <p:cNvPr id="4" name="s8_3" descr="عنوان الشريح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1335" y="1691640"/>
            <a:ext cx="3787265" cy="566928"/>
          </a:xfrm>
          <a:prstGeom prst="rect">
            <a:avLst/>
          </a:prstGeom>
        </p:spPr>
      </p:pic>
      <p:sp>
        <p:nvSpPr>
          <p:cNvPr id="5" name="page116_q0"/>
          <p:cNvSpPr txBox="1"/>
          <p:nvPr/>
        </p:nvSpPr>
        <p:spPr>
          <a:xfrm>
            <a:off x="9461587" y="2377440"/>
            <a:ext cx="2197013" cy="944880"/>
          </a:xfrm>
          <a:prstGeom prst="roundRect">
            <a:avLst>
              <a:gd name="adj" fmla="val 11613"/>
            </a:avLst>
          </a:prstGeom>
          <a:solidFill>
            <a:srgbClr val="E3F4D7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150" b="1" dirty="0">
                <a:solidFill>
                  <a:srgbClr val="6B4F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المفردة
</a:t>
            </a:r>
            <a:r>
              <a:rPr lang="ar-SA" altLang="en-US" sz="135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ما هرم الطاقة؟</a:t>
            </a:r>
            <a:r>
              <a:rPr lang="ar-SA" altLang="en-US" sz="110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👆</a:t>
            </a:r>
            <a:endParaRPr lang="ar-SA" sz="1350" dirty="0"/>
          </a:p>
        </p:txBody>
      </p:sp>
      <p:sp>
        <p:nvSpPr>
          <p:cNvPr id="6" name="s8_4@t=page116_q0"/>
          <p:cNvSpPr txBox="1"/>
          <p:nvPr/>
        </p:nvSpPr>
        <p:spPr>
          <a:xfrm>
            <a:off x="7433575" y="2377440"/>
            <a:ext cx="1954860" cy="944880"/>
          </a:xfrm>
          <a:prstGeom prst="roundRect">
            <a:avLst>
              <a:gd name="adj" fmla="val 11613"/>
            </a:avLst>
          </a:prstGeom>
          <a:solidFill>
            <a:srgbClr val="FFFBEF"/>
          </a:solidFill>
          <a:ln w="25400">
            <a:solidFill>
              <a:srgbClr val="2F8A3A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350" b="1" dirty="0">
                <a:solidFill>
                  <a:srgbClr val="2F8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✔ </a:t>
            </a:r>
            <a:r>
              <a:rPr lang="ar-SA" altLang="en-US" sz="13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شكل يبيّن كمية الطاقة في كل مستوى.</a:t>
            </a:r>
            <a:endParaRPr lang="ar-SA" sz="1350" dirty="0"/>
          </a:p>
        </p:txBody>
      </p:sp>
      <p:sp>
        <p:nvSpPr>
          <p:cNvPr id="7" name="s8_5@t=page116_q0"/>
          <p:cNvSpPr/>
          <p:nvPr/>
        </p:nvSpPr>
        <p:spPr>
          <a:xfrm>
            <a:off x="5874029" y="2191977"/>
            <a:ext cx="1143627" cy="243021"/>
          </a:xfrm>
          <a:prstGeom prst="roundRect">
            <a:avLst>
              <a:gd name="adj" fmla="val 15051"/>
            </a:avLst>
          </a:prstGeom>
          <a:solidFill>
            <a:srgbClr val="FFEB3B">
              <a:alpha val="45000"/>
            </a:srgbClr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8" name="page116_q1"/>
          <p:cNvSpPr txBox="1"/>
          <p:nvPr/>
        </p:nvSpPr>
        <p:spPr>
          <a:xfrm>
            <a:off x="9461587" y="3413760"/>
            <a:ext cx="2197013" cy="944880"/>
          </a:xfrm>
          <a:prstGeom prst="roundRect">
            <a:avLst>
              <a:gd name="adj" fmla="val 11613"/>
            </a:avLst>
          </a:prstGeom>
          <a:solidFill>
            <a:srgbClr val="FFF3C4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150" b="1" dirty="0">
                <a:solidFill>
                  <a:srgbClr val="6B4F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قراءة الشكل
</a:t>
            </a:r>
            <a:r>
              <a:rPr lang="ar-SA" altLang="en-US" sz="135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ماذا يوجد في قاعدة الهرم؟ ولماذا؟</a:t>
            </a:r>
            <a:r>
              <a:rPr lang="ar-SA" altLang="en-US" sz="110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👆</a:t>
            </a:r>
            <a:endParaRPr lang="ar-SA" sz="1350" dirty="0"/>
          </a:p>
        </p:txBody>
      </p:sp>
      <p:sp>
        <p:nvSpPr>
          <p:cNvPr id="9" name="s8_6@t=page116_q1"/>
          <p:cNvSpPr txBox="1"/>
          <p:nvPr/>
        </p:nvSpPr>
        <p:spPr>
          <a:xfrm>
            <a:off x="7433575" y="3413760"/>
            <a:ext cx="1954860" cy="944880"/>
          </a:xfrm>
          <a:prstGeom prst="roundRect">
            <a:avLst>
              <a:gd name="adj" fmla="val 11613"/>
            </a:avLst>
          </a:prstGeom>
          <a:solidFill>
            <a:srgbClr val="FFFBEF"/>
          </a:solidFill>
          <a:ln w="25400">
            <a:solidFill>
              <a:srgbClr val="2F8A3A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350" b="1" dirty="0">
                <a:solidFill>
                  <a:srgbClr val="2F8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✔ </a:t>
            </a:r>
            <a:r>
              <a:rPr lang="ar-SA" altLang="en-US" sz="13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المنتجات؛ لأن عندها أكبر طاقة.</a:t>
            </a:r>
            <a:endParaRPr lang="ar-SA" sz="1350" dirty="0"/>
          </a:p>
        </p:txBody>
      </p:sp>
      <p:sp>
        <p:nvSpPr>
          <p:cNvPr id="10" name="s8_7@t=page116_q1"/>
          <p:cNvSpPr/>
          <p:nvPr/>
        </p:nvSpPr>
        <p:spPr>
          <a:xfrm>
            <a:off x="5874029" y="2315870"/>
            <a:ext cx="1143627" cy="662351"/>
          </a:xfrm>
          <a:prstGeom prst="roundRect">
            <a:avLst>
              <a:gd name="adj" fmla="val 5522"/>
            </a:avLst>
          </a:prstGeom>
          <a:solidFill>
            <a:srgbClr val="FFEB3B">
              <a:alpha val="45000"/>
            </a:srgbClr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1" name="s8_8@t=page116_q1"/>
          <p:cNvSpPr/>
          <p:nvPr/>
        </p:nvSpPr>
        <p:spPr>
          <a:xfrm>
            <a:off x="5075873" y="4884265"/>
            <a:ext cx="1751179" cy="762418"/>
          </a:xfrm>
          <a:prstGeom prst="roundRect">
            <a:avLst>
              <a:gd name="adj" fmla="val 4797"/>
            </a:avLst>
          </a:prstGeom>
          <a:solidFill>
            <a:srgbClr val="FFEB3B">
              <a:alpha val="45000"/>
            </a:srgbClr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2" name="page116_q2"/>
          <p:cNvSpPr txBox="1"/>
          <p:nvPr/>
        </p:nvSpPr>
        <p:spPr>
          <a:xfrm>
            <a:off x="9461587" y="4450080"/>
            <a:ext cx="2197013" cy="944880"/>
          </a:xfrm>
          <a:prstGeom prst="roundRect">
            <a:avLst>
              <a:gd name="adj" fmla="val 11613"/>
            </a:avLst>
          </a:prstGeom>
          <a:solidFill>
            <a:srgbClr val="DFF1FB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150" b="1" dirty="0">
                <a:solidFill>
                  <a:srgbClr val="6B4F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سؤال حرفي
</a:t>
            </a:r>
            <a:r>
              <a:rPr lang="ar-SA" altLang="en-US" sz="135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كم ينتقل من طاقة النبات إلى آكلات الأعشاب؟</a:t>
            </a:r>
            <a:r>
              <a:rPr lang="ar-SA" altLang="en-US" sz="110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👆</a:t>
            </a:r>
            <a:endParaRPr lang="ar-SA" sz="1350" dirty="0"/>
          </a:p>
        </p:txBody>
      </p:sp>
      <p:sp>
        <p:nvSpPr>
          <p:cNvPr id="13" name="s8_9@t=page116_q2"/>
          <p:cNvSpPr txBox="1"/>
          <p:nvPr/>
        </p:nvSpPr>
        <p:spPr>
          <a:xfrm>
            <a:off x="7433575" y="4450080"/>
            <a:ext cx="1954860" cy="944880"/>
          </a:xfrm>
          <a:prstGeom prst="roundRect">
            <a:avLst>
              <a:gd name="adj" fmla="val 11613"/>
            </a:avLst>
          </a:prstGeom>
          <a:solidFill>
            <a:srgbClr val="FFFBEF"/>
          </a:solidFill>
          <a:ln w="25400">
            <a:solidFill>
              <a:srgbClr val="2F8A3A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350" b="1" dirty="0">
                <a:solidFill>
                  <a:srgbClr val="2F8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✔ </a:t>
            </a:r>
            <a:r>
              <a:rPr lang="ar-SA" altLang="en-US" sz="13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١٠٪ فقط، والباقي يُفقد حرارة.</a:t>
            </a:r>
            <a:endParaRPr lang="ar-SA" sz="1350" dirty="0"/>
          </a:p>
        </p:txBody>
      </p:sp>
      <p:sp>
        <p:nvSpPr>
          <p:cNvPr id="14" name="s8_10@t=page116_q2"/>
          <p:cNvSpPr/>
          <p:nvPr/>
        </p:nvSpPr>
        <p:spPr>
          <a:xfrm>
            <a:off x="5874029" y="3025871"/>
            <a:ext cx="1143627" cy="476511"/>
          </a:xfrm>
          <a:prstGeom prst="roundRect">
            <a:avLst>
              <a:gd name="adj" fmla="val 7676"/>
            </a:avLst>
          </a:prstGeom>
          <a:solidFill>
            <a:srgbClr val="FFEB3B">
              <a:alpha val="45000"/>
            </a:srgbClr>
          </a:solidFill>
          <a:ln w="19050">
            <a:solidFill>
              <a:srgbClr val="F5A623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5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8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9_1"/>
          <p:cNvSpPr txBox="1"/>
          <p:nvPr/>
        </p:nvSpPr>
        <p:spPr>
          <a:xfrm>
            <a:off x="2331720" y="2697480"/>
            <a:ext cx="1444752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5E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المقارنة</a:t>
            </a:r>
            <a:endParaRPr lang="ar-SA" sz="1700" dirty="0"/>
          </a:p>
          <a:p>
            <a:pPr rtl="1" algn="ctr" indent="0" marL="0">
              <a:buNone/>
            </a:pPr>
            <a:endParaRPr lang="ar-SA" sz="1700" dirty="0"/>
          </a:p>
          <a:p>
            <a:pPr rtl="1" algn="ctr" indent="0" marL="0">
              <a:buNone/>
            </a:pPr>
            <a:r>
              <a:rPr lang="ar-SA" altLang="en-US" sz="12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نقارن بين اليابسة والماء 🌵🌊</a:t>
            </a:r>
            <a:endParaRPr lang="ar-SA" sz="1700" dirty="0"/>
          </a:p>
        </p:txBody>
      </p:sp>
      <p:pic>
        <p:nvPicPr>
          <p:cNvPr id="3" name="s9_2" descr="عنوان الشريح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886" y="1691640"/>
            <a:ext cx="4702714" cy="566928"/>
          </a:xfrm>
          <a:prstGeom prst="rect">
            <a:avLst/>
          </a:prstGeom>
        </p:spPr>
      </p:pic>
      <p:sp>
        <p:nvSpPr>
          <p:cNvPr id="4" name="s9_3"/>
          <p:cNvSpPr txBox="1"/>
          <p:nvPr/>
        </p:nvSpPr>
        <p:spPr>
          <a:xfrm>
            <a:off x="9646920" y="2423160"/>
            <a:ext cx="1938528" cy="457200"/>
          </a:xfrm>
          <a:prstGeom prst="roundRect">
            <a:avLst>
              <a:gd name="adj" fmla="val 24000"/>
            </a:avLst>
          </a:prstGeom>
          <a:solidFill>
            <a:srgbClr val="1B5E20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وجه المقارنة</a:t>
            </a:r>
            <a:endParaRPr lang="ar-SA" sz="1500" dirty="0"/>
          </a:p>
        </p:txBody>
      </p:sp>
      <p:sp>
        <p:nvSpPr>
          <p:cNvPr id="5" name="s9_4"/>
          <p:cNvSpPr txBox="1"/>
          <p:nvPr/>
        </p:nvSpPr>
        <p:spPr>
          <a:xfrm>
            <a:off x="6720840" y="2423160"/>
            <a:ext cx="2532888" cy="457200"/>
          </a:xfrm>
          <a:prstGeom prst="roundRect">
            <a:avLst>
              <a:gd name="adj" fmla="val 24000"/>
            </a:avLst>
          </a:prstGeom>
          <a:solidFill>
            <a:srgbClr val="A87400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اليابسة 🌵</a:t>
            </a:r>
            <a:endParaRPr lang="ar-SA" sz="1500" dirty="0"/>
          </a:p>
        </p:txBody>
      </p:sp>
      <p:sp>
        <p:nvSpPr>
          <p:cNvPr id="6" name="s9_5"/>
          <p:cNvSpPr txBox="1"/>
          <p:nvPr/>
        </p:nvSpPr>
        <p:spPr>
          <a:xfrm>
            <a:off x="4206240" y="2423160"/>
            <a:ext cx="2350008" cy="457200"/>
          </a:xfrm>
          <a:prstGeom prst="roundRect">
            <a:avLst>
              <a:gd name="adj" fmla="val 24000"/>
            </a:avLst>
          </a:prstGeom>
          <a:solidFill>
            <a:srgbClr val="0E6F86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الماء 🌊</a:t>
            </a:r>
            <a:endParaRPr lang="ar-SA" sz="1500" dirty="0"/>
          </a:p>
        </p:txBody>
      </p:sp>
      <p:sp>
        <p:nvSpPr>
          <p:cNvPr id="7" name="s9_6"/>
          <p:cNvSpPr txBox="1"/>
          <p:nvPr/>
        </p:nvSpPr>
        <p:spPr>
          <a:xfrm>
            <a:off x="9646920" y="2971800"/>
            <a:ext cx="1938528" cy="548640"/>
          </a:xfrm>
          <a:prstGeom prst="roundRect">
            <a:avLst>
              <a:gd name="adj" fmla="val 20000"/>
            </a:avLst>
          </a:prstGeom>
          <a:solidFill>
            <a:srgbClr val="FFFBEF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المنتِج</a:t>
            </a:r>
            <a:endParaRPr lang="ar-SA" sz="1450" dirty="0"/>
          </a:p>
        </p:txBody>
      </p:sp>
      <p:sp>
        <p:nvSpPr>
          <p:cNvPr id="8" name="s9_7@c1"/>
          <p:cNvSpPr txBox="1"/>
          <p:nvPr/>
        </p:nvSpPr>
        <p:spPr>
          <a:xfrm>
            <a:off x="6720840" y="2971800"/>
            <a:ext cx="2532888" cy="548640"/>
          </a:xfrm>
          <a:prstGeom prst="roundRect">
            <a:avLst>
              <a:gd name="adj" fmla="val 20000"/>
            </a:avLst>
          </a:prstGeom>
          <a:solidFill>
            <a:srgbClr val="FFF1D6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ctr" indent="0" marL="0">
              <a:buNone/>
            </a:pPr>
            <a:r>
              <a:rPr lang="ar-SA" altLang="en-US" sz="13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العشب والنباتات</a:t>
            </a:r>
            <a:endParaRPr lang="ar-SA" sz="1350" dirty="0"/>
          </a:p>
        </p:txBody>
      </p:sp>
      <p:sp>
        <p:nvSpPr>
          <p:cNvPr id="9" name="s9_8@c1"/>
          <p:cNvSpPr txBox="1"/>
          <p:nvPr/>
        </p:nvSpPr>
        <p:spPr>
          <a:xfrm>
            <a:off x="4206240" y="2971800"/>
            <a:ext cx="2350008" cy="548640"/>
          </a:xfrm>
          <a:prstGeom prst="roundRect">
            <a:avLst>
              <a:gd name="adj" fmla="val 20000"/>
            </a:avLst>
          </a:prstGeom>
          <a:solidFill>
            <a:srgbClr val="DFF1FB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ctr" indent="0" marL="0">
              <a:buNone/>
            </a:pPr>
            <a:r>
              <a:rPr lang="ar-SA" altLang="en-US" sz="13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الطحالب والعوالق</a:t>
            </a:r>
            <a:endParaRPr lang="ar-SA" sz="1350" dirty="0"/>
          </a:p>
        </p:txBody>
      </p:sp>
      <p:sp>
        <p:nvSpPr>
          <p:cNvPr id="10" name="s9_9"/>
          <p:cNvSpPr txBox="1"/>
          <p:nvPr/>
        </p:nvSpPr>
        <p:spPr>
          <a:xfrm>
            <a:off x="9646920" y="3593592"/>
            <a:ext cx="1938528" cy="548640"/>
          </a:xfrm>
          <a:prstGeom prst="roundRect">
            <a:avLst>
              <a:gd name="adj" fmla="val 20000"/>
            </a:avLst>
          </a:prstGeom>
          <a:solidFill>
            <a:srgbClr val="FFFBEF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مثال سلسلة</a:t>
            </a:r>
            <a:endParaRPr lang="ar-SA" sz="1450" dirty="0"/>
          </a:p>
        </p:txBody>
      </p:sp>
      <p:sp>
        <p:nvSpPr>
          <p:cNvPr id="11" name="s9_10@c2"/>
          <p:cNvSpPr txBox="1"/>
          <p:nvPr/>
        </p:nvSpPr>
        <p:spPr>
          <a:xfrm>
            <a:off x="6720840" y="3593592"/>
            <a:ext cx="2532888" cy="548640"/>
          </a:xfrm>
          <a:prstGeom prst="roundRect">
            <a:avLst>
              <a:gd name="adj" fmla="val 20000"/>
            </a:avLst>
          </a:prstGeom>
          <a:solidFill>
            <a:srgbClr val="FFF1D6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ctr" indent="0" marL="0">
              <a:buNone/>
            </a:pPr>
            <a:r>
              <a:rPr lang="ar-SA" altLang="en-US" sz="13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عشب ← فأر ← ثعبان ← نسر</a:t>
            </a:r>
            <a:endParaRPr lang="ar-SA" sz="1350" dirty="0"/>
          </a:p>
        </p:txBody>
      </p:sp>
      <p:sp>
        <p:nvSpPr>
          <p:cNvPr id="12" name="s9_11@c2"/>
          <p:cNvSpPr txBox="1"/>
          <p:nvPr/>
        </p:nvSpPr>
        <p:spPr>
          <a:xfrm>
            <a:off x="4206240" y="3593592"/>
            <a:ext cx="2350008" cy="548640"/>
          </a:xfrm>
          <a:prstGeom prst="roundRect">
            <a:avLst>
              <a:gd name="adj" fmla="val 20000"/>
            </a:avLst>
          </a:prstGeom>
          <a:solidFill>
            <a:srgbClr val="DFF1FB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ctr" indent="0" marL="0">
              <a:buNone/>
            </a:pPr>
            <a:r>
              <a:rPr lang="ar-SA" altLang="en-US" sz="13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عوالق ← سردين ← تونة ← حوت</a:t>
            </a:r>
            <a:endParaRPr lang="ar-SA" sz="1350" dirty="0"/>
          </a:p>
        </p:txBody>
      </p:sp>
      <p:sp>
        <p:nvSpPr>
          <p:cNvPr id="13" name="s9_12"/>
          <p:cNvSpPr txBox="1"/>
          <p:nvPr/>
        </p:nvSpPr>
        <p:spPr>
          <a:xfrm>
            <a:off x="9646920" y="4215384"/>
            <a:ext cx="1938528" cy="548640"/>
          </a:xfrm>
          <a:prstGeom prst="roundRect">
            <a:avLst>
              <a:gd name="adj" fmla="val 20000"/>
            </a:avLst>
          </a:prstGeom>
          <a:solidFill>
            <a:srgbClr val="FFFBEF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آكلات اللحوم</a:t>
            </a:r>
            <a:endParaRPr lang="ar-SA" sz="1450" dirty="0"/>
          </a:p>
        </p:txBody>
      </p:sp>
      <p:sp>
        <p:nvSpPr>
          <p:cNvPr id="14" name="s9_13@c3"/>
          <p:cNvSpPr txBox="1"/>
          <p:nvPr/>
        </p:nvSpPr>
        <p:spPr>
          <a:xfrm>
            <a:off x="6720840" y="4215384"/>
            <a:ext cx="2532888" cy="548640"/>
          </a:xfrm>
          <a:prstGeom prst="roundRect">
            <a:avLst>
              <a:gd name="adj" fmla="val 20000"/>
            </a:avLst>
          </a:prstGeom>
          <a:solidFill>
            <a:srgbClr val="FFF1D6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ctr" indent="0" marL="0">
              <a:buNone/>
            </a:pPr>
            <a:r>
              <a:rPr lang="ar-SA" altLang="en-US" sz="13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أقلّ</a:t>
            </a:r>
            <a:endParaRPr lang="ar-SA" sz="1350" dirty="0"/>
          </a:p>
        </p:txBody>
      </p:sp>
      <p:sp>
        <p:nvSpPr>
          <p:cNvPr id="15" name="s9_14@c3"/>
          <p:cNvSpPr txBox="1"/>
          <p:nvPr/>
        </p:nvSpPr>
        <p:spPr>
          <a:xfrm>
            <a:off x="4206240" y="4215384"/>
            <a:ext cx="2350008" cy="548640"/>
          </a:xfrm>
          <a:prstGeom prst="roundRect">
            <a:avLst>
              <a:gd name="adj" fmla="val 20000"/>
            </a:avLst>
          </a:prstGeom>
          <a:solidFill>
            <a:srgbClr val="DFF1FB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ctr" indent="0" marL="0">
              <a:buNone/>
            </a:pPr>
            <a:r>
              <a:rPr lang="ar-SA" altLang="en-US" sz="13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أكثر</a:t>
            </a:r>
            <a:endParaRPr lang="ar-SA" sz="1350" dirty="0"/>
          </a:p>
        </p:txBody>
      </p:sp>
      <p:sp>
        <p:nvSpPr>
          <p:cNvPr id="16" name="s9_15@c4"/>
          <p:cNvSpPr txBox="1"/>
          <p:nvPr/>
        </p:nvSpPr>
        <p:spPr>
          <a:xfrm>
            <a:off x="4206240" y="4892040"/>
            <a:ext cx="5029200" cy="548640"/>
          </a:xfrm>
          <a:prstGeom prst="roundRect">
            <a:avLst>
              <a:gd name="adj" fmla="val 20000"/>
            </a:avLst>
          </a:prstGeom>
          <a:solidFill>
            <a:srgbClr val="E3F4D7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350" b="1" dirty="0">
                <a:solidFill>
                  <a:srgbClr val="C236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لماذا آكلات اللحوم في الماء أكثر؟ </a:t>
            </a:r>
            <a:r>
              <a:rPr lang="ar-SA" altLang="en-US" sz="1350" b="1" dirty="0">
                <a:solidFill>
                  <a:srgbClr val="2F8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✔ لأن الطحالب والعوالق كثيرة وتتكاثر بسرعة.</a:t>
            </a:r>
            <a:endParaRPr lang="ar-SA" sz="1350" dirty="0"/>
          </a:p>
        </p:txBody>
      </p:sp>
    </p:spTree>
  </p:cSld>
  <p:clrMapOvr>
    <a:masterClrMapping/>
  </p:clrMapOvr>
  <p:transition spd="med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0_1"/>
          <p:cNvSpPr txBox="1"/>
          <p:nvPr/>
        </p:nvSpPr>
        <p:spPr>
          <a:xfrm>
            <a:off x="2331720" y="2697480"/>
            <a:ext cx="1444752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5E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مستويات التفكير الثلاثة</a:t>
            </a:r>
            <a:endParaRPr lang="ar-SA" sz="1700" dirty="0"/>
          </a:p>
          <a:p>
            <a:pPr rtl="1" algn="ctr" indent="0" marL="0">
              <a:buNone/>
            </a:pPr>
            <a:endParaRPr lang="ar-SA" sz="1700" dirty="0"/>
          </a:p>
          <a:p>
            <a:pPr rtl="1" algn="ctr" indent="0" marL="0">
              <a:buNone/>
            </a:pPr>
            <a:r>
              <a:rPr lang="ar-SA" altLang="en-US" sz="12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أكتشف • أفكّر • أتحدّى نفسي</a:t>
            </a:r>
            <a:endParaRPr lang="ar-SA" sz="1700" dirty="0"/>
          </a:p>
        </p:txBody>
      </p:sp>
      <p:pic>
        <p:nvPicPr>
          <p:cNvPr id="3" name="s10_2" descr="عنوان الشريح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2023" y="1691640"/>
            <a:ext cx="3006577" cy="566928"/>
          </a:xfrm>
          <a:prstGeom prst="rect">
            <a:avLst/>
          </a:prstGeom>
        </p:spPr>
      </p:pic>
      <p:sp>
        <p:nvSpPr>
          <p:cNvPr id="4" name="s10_3"/>
          <p:cNvSpPr txBox="1"/>
          <p:nvPr/>
        </p:nvSpPr>
        <p:spPr>
          <a:xfrm>
            <a:off x="10332720" y="2423160"/>
            <a:ext cx="1325880" cy="929640"/>
          </a:xfrm>
          <a:prstGeom prst="roundRect">
            <a:avLst>
              <a:gd name="adj" fmla="val 11803"/>
            </a:avLst>
          </a:prstGeom>
          <a:solidFill>
            <a:srgbClr val="E3F4D7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أكتشف</a:t>
            </a:r>
            <a:endParaRPr lang="ar-SA" sz="1450" dirty="0"/>
          </a:p>
        </p:txBody>
      </p:sp>
      <p:sp>
        <p:nvSpPr>
          <p:cNvPr id="5" name="s10_4"/>
          <p:cNvSpPr txBox="1"/>
          <p:nvPr/>
        </p:nvSpPr>
        <p:spPr>
          <a:xfrm>
            <a:off x="6949440" y="2423160"/>
            <a:ext cx="3291840" cy="929640"/>
          </a:xfrm>
          <a:prstGeom prst="roundRect">
            <a:avLst>
              <a:gd name="adj" fmla="val 11803"/>
            </a:avLst>
          </a:prstGeom>
          <a:solidFill>
            <a:srgbClr val="FFFFFF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45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ما التنافس؟</a:t>
            </a:r>
            <a:endParaRPr lang="ar-SA" sz="1450" dirty="0"/>
          </a:p>
        </p:txBody>
      </p:sp>
      <p:sp>
        <p:nvSpPr>
          <p:cNvPr id="6" name="s10_5@c1"/>
          <p:cNvSpPr txBox="1"/>
          <p:nvPr/>
        </p:nvSpPr>
        <p:spPr>
          <a:xfrm>
            <a:off x="4206240" y="2423160"/>
            <a:ext cx="2651760" cy="929640"/>
          </a:xfrm>
          <a:prstGeom prst="roundRect">
            <a:avLst>
              <a:gd name="adj" fmla="val 11803"/>
            </a:avLst>
          </a:prstGeom>
          <a:solidFill>
            <a:srgbClr val="FFFBEF"/>
          </a:solidFill>
          <a:ln w="25400">
            <a:solidFill>
              <a:srgbClr val="2F8A3A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350" b="1" dirty="0">
                <a:solidFill>
                  <a:srgbClr val="2F8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✔ </a:t>
            </a:r>
            <a:r>
              <a:rPr lang="ar-SA" altLang="en-US" sz="13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صراع على الطعام والماء.</a:t>
            </a:r>
            <a:endParaRPr lang="ar-SA" sz="1350" dirty="0"/>
          </a:p>
        </p:txBody>
      </p:sp>
      <p:sp>
        <p:nvSpPr>
          <p:cNvPr id="7" name="s10_6"/>
          <p:cNvSpPr txBox="1"/>
          <p:nvPr/>
        </p:nvSpPr>
        <p:spPr>
          <a:xfrm>
            <a:off x="10332720" y="3444240"/>
            <a:ext cx="1325880" cy="929640"/>
          </a:xfrm>
          <a:prstGeom prst="roundRect">
            <a:avLst>
              <a:gd name="adj" fmla="val 11803"/>
            </a:avLst>
          </a:prstGeom>
          <a:solidFill>
            <a:srgbClr val="FFF3C4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أفكّر</a:t>
            </a:r>
            <a:endParaRPr lang="ar-SA" sz="1450" dirty="0"/>
          </a:p>
        </p:txBody>
      </p:sp>
      <p:sp>
        <p:nvSpPr>
          <p:cNvPr id="8" name="s10_7"/>
          <p:cNvSpPr txBox="1"/>
          <p:nvPr/>
        </p:nvSpPr>
        <p:spPr>
          <a:xfrm>
            <a:off x="6949440" y="3444240"/>
            <a:ext cx="3291840" cy="929640"/>
          </a:xfrm>
          <a:prstGeom prst="roundRect">
            <a:avLst>
              <a:gd name="adj" fmla="val 11803"/>
            </a:avLst>
          </a:prstGeom>
          <a:solidFill>
            <a:srgbClr val="FFFFFF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45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لماذا تكون المنتجات أكثر من المستهلكات؟</a:t>
            </a:r>
            <a:endParaRPr lang="ar-SA" sz="1450" dirty="0"/>
          </a:p>
        </p:txBody>
      </p:sp>
      <p:sp>
        <p:nvSpPr>
          <p:cNvPr id="9" name="s10_8@c2"/>
          <p:cNvSpPr txBox="1"/>
          <p:nvPr/>
        </p:nvSpPr>
        <p:spPr>
          <a:xfrm>
            <a:off x="4206240" y="3444240"/>
            <a:ext cx="2651760" cy="929640"/>
          </a:xfrm>
          <a:prstGeom prst="roundRect">
            <a:avLst>
              <a:gd name="adj" fmla="val 11803"/>
            </a:avLst>
          </a:prstGeom>
          <a:solidFill>
            <a:srgbClr val="FFFBEF"/>
          </a:solidFill>
          <a:ln w="25400">
            <a:solidFill>
              <a:srgbClr val="2F8A3A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350" b="1" dirty="0">
                <a:solidFill>
                  <a:srgbClr val="2F8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✔ </a:t>
            </a:r>
            <a:r>
              <a:rPr lang="ar-SA" altLang="en-US" sz="13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لأن الطاقة تقلّ في كل مستوى.</a:t>
            </a:r>
            <a:endParaRPr lang="ar-SA" sz="1350" dirty="0"/>
          </a:p>
        </p:txBody>
      </p:sp>
      <p:sp>
        <p:nvSpPr>
          <p:cNvPr id="10" name="s10_9"/>
          <p:cNvSpPr txBox="1"/>
          <p:nvPr/>
        </p:nvSpPr>
        <p:spPr>
          <a:xfrm>
            <a:off x="10332720" y="4465320"/>
            <a:ext cx="1325880" cy="929640"/>
          </a:xfrm>
          <a:prstGeom prst="roundRect">
            <a:avLst>
              <a:gd name="adj" fmla="val 11803"/>
            </a:avLst>
          </a:prstGeom>
          <a:solidFill>
            <a:srgbClr val="FDE4EC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أتحدّى نفسي</a:t>
            </a:r>
            <a:endParaRPr lang="ar-SA" sz="1450" dirty="0"/>
          </a:p>
        </p:txBody>
      </p:sp>
      <p:sp>
        <p:nvSpPr>
          <p:cNvPr id="11" name="s10_10"/>
          <p:cNvSpPr txBox="1"/>
          <p:nvPr/>
        </p:nvSpPr>
        <p:spPr>
          <a:xfrm>
            <a:off x="6949440" y="4465320"/>
            <a:ext cx="3291840" cy="929640"/>
          </a:xfrm>
          <a:prstGeom prst="roundRect">
            <a:avLst>
              <a:gd name="adj" fmla="val 11803"/>
            </a:avLst>
          </a:prstGeom>
          <a:solidFill>
            <a:srgbClr val="FFFFFF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45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لو زادت الأرانب كثيرًا، ماذا يحدث للعشب؟</a:t>
            </a:r>
            <a:endParaRPr lang="ar-SA" sz="1450" dirty="0"/>
          </a:p>
        </p:txBody>
      </p:sp>
      <p:sp>
        <p:nvSpPr>
          <p:cNvPr id="12" name="s10_11@c3"/>
          <p:cNvSpPr txBox="1"/>
          <p:nvPr/>
        </p:nvSpPr>
        <p:spPr>
          <a:xfrm>
            <a:off x="4206240" y="4465320"/>
            <a:ext cx="2651760" cy="929640"/>
          </a:xfrm>
          <a:prstGeom prst="roundRect">
            <a:avLst>
              <a:gd name="adj" fmla="val 11803"/>
            </a:avLst>
          </a:prstGeom>
          <a:solidFill>
            <a:srgbClr val="FFFBEF"/>
          </a:solidFill>
          <a:ln w="25400">
            <a:solidFill>
              <a:srgbClr val="2F8A3A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350" b="1" dirty="0">
                <a:solidFill>
                  <a:srgbClr val="2F8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✔ </a:t>
            </a:r>
            <a:r>
              <a:rPr lang="ar-SA" altLang="en-US" sz="13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يقلّ العشب، ويزيد التنافس.</a:t>
            </a:r>
            <a:endParaRPr lang="ar-SA" sz="13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1_1"/>
          <p:cNvSpPr txBox="1"/>
          <p:nvPr/>
        </p:nvSpPr>
        <p:spPr>
          <a:xfrm>
            <a:off x="2331720" y="2697480"/>
            <a:ext cx="1444752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5E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مراجعة الدرس</a:t>
            </a:r>
            <a:endParaRPr lang="ar-SA" sz="1700" dirty="0"/>
          </a:p>
          <a:p>
            <a:pPr rtl="1" algn="ctr" indent="0" marL="0">
              <a:buNone/>
            </a:pPr>
            <a:endParaRPr lang="ar-SA" sz="1700" dirty="0"/>
          </a:p>
          <a:p>
            <a:pPr rtl="1" algn="ctr" indent="0" marL="0">
              <a:buNone/>
            </a:pPr>
            <a:r>
              <a:rPr lang="ar-SA" altLang="en-US" sz="12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أسئلة «أفكّر وأتحدّث وأكتب» ص١١٧</a:t>
            </a:r>
            <a:endParaRPr lang="ar-SA" sz="1700" dirty="0"/>
          </a:p>
        </p:txBody>
      </p:sp>
      <p:pic>
        <p:nvPicPr>
          <p:cNvPr id="3" name="s11_2" descr="صفحة ١١٧ من كتاب العلوم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691640"/>
            <a:ext cx="3305713" cy="4343400"/>
          </a:xfrm>
          <a:prstGeom prst="rect">
            <a:avLst/>
          </a:prstGeom>
        </p:spPr>
      </p:pic>
      <p:pic>
        <p:nvPicPr>
          <p:cNvPr id="4" name="s11_3" descr="عنوان الشريح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9113" y="1738109"/>
            <a:ext cx="4009487" cy="473990"/>
          </a:xfrm>
          <a:prstGeom prst="rect">
            <a:avLst/>
          </a:prstGeom>
        </p:spPr>
      </p:pic>
      <p:sp>
        <p:nvSpPr>
          <p:cNvPr id="5" name="page117_q0"/>
          <p:cNvSpPr txBox="1"/>
          <p:nvPr/>
        </p:nvSpPr>
        <p:spPr>
          <a:xfrm>
            <a:off x="9573667" y="2377440"/>
            <a:ext cx="2084933" cy="944880"/>
          </a:xfrm>
          <a:prstGeom prst="roundRect">
            <a:avLst>
              <a:gd name="adj" fmla="val 11613"/>
            </a:avLst>
          </a:prstGeom>
          <a:solidFill>
            <a:srgbClr val="E3F4D7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150" b="1" dirty="0">
                <a:solidFill>
                  <a:srgbClr val="6B4F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١ المفردات
</a:t>
            </a:r>
            <a:r>
              <a:rPr lang="ar-SA" altLang="en-US" sz="135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ما المحلِّلات؟ أعطي أمثلة.</a:t>
            </a:r>
            <a:r>
              <a:rPr lang="ar-SA" altLang="en-US" sz="110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👆</a:t>
            </a:r>
            <a:endParaRPr lang="ar-SA" sz="1350" dirty="0"/>
          </a:p>
        </p:txBody>
      </p:sp>
      <p:sp>
        <p:nvSpPr>
          <p:cNvPr id="6" name="s11_4@t=page117_q0"/>
          <p:cNvSpPr txBox="1"/>
          <p:nvPr/>
        </p:nvSpPr>
        <p:spPr>
          <a:xfrm>
            <a:off x="7649113" y="2377440"/>
            <a:ext cx="1851402" cy="944880"/>
          </a:xfrm>
          <a:prstGeom prst="roundRect">
            <a:avLst>
              <a:gd name="adj" fmla="val 11613"/>
            </a:avLst>
          </a:prstGeom>
          <a:solidFill>
            <a:srgbClr val="FFFBEF"/>
          </a:solidFill>
          <a:ln w="25400">
            <a:solidFill>
              <a:srgbClr val="2F8A3A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350" b="1" dirty="0">
                <a:solidFill>
                  <a:srgbClr val="2F8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✔ </a:t>
            </a:r>
            <a:r>
              <a:rPr lang="ar-SA" altLang="en-US" sz="13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تحلّل بقايا المخلوقات الميتة: البكتيريا والفطريات والديدان.</a:t>
            </a:r>
            <a:endParaRPr lang="ar-SA" sz="1350" dirty="0"/>
          </a:p>
        </p:txBody>
      </p:sp>
      <p:sp>
        <p:nvSpPr>
          <p:cNvPr id="7" name="page117_q1"/>
          <p:cNvSpPr txBox="1"/>
          <p:nvPr/>
        </p:nvSpPr>
        <p:spPr>
          <a:xfrm>
            <a:off x="9573667" y="3413760"/>
            <a:ext cx="2084933" cy="944880"/>
          </a:xfrm>
          <a:prstGeom prst="roundRect">
            <a:avLst>
              <a:gd name="adj" fmla="val 11613"/>
            </a:avLst>
          </a:prstGeom>
          <a:solidFill>
            <a:srgbClr val="FFF3C4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150" b="1" dirty="0">
                <a:solidFill>
                  <a:srgbClr val="6B4F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٢ أستنتج
</a:t>
            </a:r>
            <a:r>
              <a:rPr lang="ar-SA" altLang="en-US" sz="135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آكلات اللحوم أكثر من آكلات الأعشاب… هل هذا التعداد كامل؟</a:t>
            </a:r>
            <a:r>
              <a:rPr lang="ar-SA" altLang="en-US" sz="110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👆</a:t>
            </a:r>
            <a:endParaRPr lang="ar-SA" sz="1350" dirty="0"/>
          </a:p>
        </p:txBody>
      </p:sp>
      <p:sp>
        <p:nvSpPr>
          <p:cNvPr id="8" name="s11_5@t=page117_q1"/>
          <p:cNvSpPr txBox="1"/>
          <p:nvPr/>
        </p:nvSpPr>
        <p:spPr>
          <a:xfrm>
            <a:off x="7649113" y="3413760"/>
            <a:ext cx="1851402" cy="944880"/>
          </a:xfrm>
          <a:prstGeom prst="roundRect">
            <a:avLst>
              <a:gd name="adj" fmla="val 11613"/>
            </a:avLst>
          </a:prstGeom>
          <a:solidFill>
            <a:srgbClr val="FFFBEF"/>
          </a:solidFill>
          <a:ln w="25400">
            <a:solidFill>
              <a:srgbClr val="2F8A3A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350" b="1" dirty="0">
                <a:solidFill>
                  <a:srgbClr val="2F8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✔ </a:t>
            </a:r>
            <a:r>
              <a:rPr lang="ar-SA" altLang="en-US" sz="13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لا؛ آكلات الأعشاب يجب أن تكون أكثر.</a:t>
            </a:r>
            <a:endParaRPr lang="ar-SA" sz="1350" dirty="0"/>
          </a:p>
        </p:txBody>
      </p:sp>
      <p:sp>
        <p:nvSpPr>
          <p:cNvPr id="9" name="page117_q2"/>
          <p:cNvSpPr txBox="1"/>
          <p:nvPr/>
        </p:nvSpPr>
        <p:spPr>
          <a:xfrm>
            <a:off x="9573667" y="4450080"/>
            <a:ext cx="2084933" cy="944880"/>
          </a:xfrm>
          <a:prstGeom prst="roundRect">
            <a:avLst>
              <a:gd name="adj" fmla="val 11613"/>
            </a:avLst>
          </a:prstGeom>
          <a:solidFill>
            <a:srgbClr val="DFF1FB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150" b="1" dirty="0">
                <a:solidFill>
                  <a:srgbClr val="6B4F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٣ التفكير الناقد
</a:t>
            </a:r>
            <a:r>
              <a:rPr lang="ar-SA" altLang="en-US" sz="135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لماذا أسنان آكلات اللحوم حادّة؟</a:t>
            </a:r>
            <a:r>
              <a:rPr lang="ar-SA" altLang="en-US" sz="110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👆</a:t>
            </a:r>
            <a:endParaRPr lang="ar-SA" sz="1350" dirty="0"/>
          </a:p>
        </p:txBody>
      </p:sp>
      <p:sp>
        <p:nvSpPr>
          <p:cNvPr id="10" name="s11_6@t=page117_q2"/>
          <p:cNvSpPr txBox="1"/>
          <p:nvPr/>
        </p:nvSpPr>
        <p:spPr>
          <a:xfrm>
            <a:off x="7649113" y="4450080"/>
            <a:ext cx="1851402" cy="944880"/>
          </a:xfrm>
          <a:prstGeom prst="roundRect">
            <a:avLst>
              <a:gd name="adj" fmla="val 11613"/>
            </a:avLst>
          </a:prstGeom>
          <a:solidFill>
            <a:srgbClr val="FFFBEF"/>
          </a:solidFill>
          <a:ln w="25400">
            <a:solidFill>
              <a:srgbClr val="2F8A3A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350" b="1" dirty="0">
                <a:solidFill>
                  <a:srgbClr val="2F8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✔ </a:t>
            </a:r>
            <a:r>
              <a:rPr lang="ar-SA" altLang="en-US" sz="13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لتمسك الفريسة وتقطع اللحم.</a:t>
            </a:r>
            <a:endParaRPr lang="ar-SA" sz="1350" dirty="0"/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2_1"/>
          <p:cNvSpPr txBox="1"/>
          <p:nvPr/>
        </p:nvSpPr>
        <p:spPr>
          <a:xfrm>
            <a:off x="2331720" y="2697480"/>
            <a:ext cx="1444752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5E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مراجعة الدرس</a:t>
            </a:r>
            <a:endParaRPr lang="ar-SA" sz="1700" dirty="0"/>
          </a:p>
          <a:p>
            <a:pPr rtl="1" algn="ctr" indent="0" marL="0">
              <a:buNone/>
            </a:pPr>
            <a:endParaRPr lang="ar-SA" sz="1700" dirty="0"/>
          </a:p>
          <a:p>
            <a:pPr rtl="1" algn="ctr" indent="0" marL="0">
              <a:buNone/>
            </a:pPr>
            <a:r>
              <a:rPr lang="ar-SA" altLang="en-US" sz="12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تكملة أسئلة ص١١٧</a:t>
            </a:r>
            <a:endParaRPr lang="ar-SA" sz="1700" dirty="0"/>
          </a:p>
        </p:txBody>
      </p:sp>
      <p:pic>
        <p:nvPicPr>
          <p:cNvPr id="3" name="s12_2" descr="عنوان الشريح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694" y="1691640"/>
            <a:ext cx="4028906" cy="566928"/>
          </a:xfrm>
          <a:prstGeom prst="rect">
            <a:avLst/>
          </a:prstGeom>
        </p:spPr>
      </p:pic>
      <p:sp>
        <p:nvSpPr>
          <p:cNvPr id="4" name="s12_3"/>
          <p:cNvSpPr txBox="1"/>
          <p:nvPr/>
        </p:nvSpPr>
        <p:spPr>
          <a:xfrm>
            <a:off x="10332720" y="2423160"/>
            <a:ext cx="1325880" cy="929640"/>
          </a:xfrm>
          <a:prstGeom prst="roundRect">
            <a:avLst>
              <a:gd name="adj" fmla="val 11803"/>
            </a:avLst>
          </a:prstGeom>
          <a:solidFill>
            <a:srgbClr val="E3F4D7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٤ أختار</a:t>
            </a:r>
            <a:endParaRPr lang="ar-SA" sz="1450" dirty="0"/>
          </a:p>
        </p:txBody>
      </p:sp>
      <p:sp>
        <p:nvSpPr>
          <p:cNvPr id="5" name="s12_4"/>
          <p:cNvSpPr txBox="1"/>
          <p:nvPr/>
        </p:nvSpPr>
        <p:spPr>
          <a:xfrm>
            <a:off x="6949440" y="2423160"/>
            <a:ext cx="3291840" cy="929640"/>
          </a:xfrm>
          <a:prstGeom prst="roundRect">
            <a:avLst>
              <a:gd name="adj" fmla="val 11803"/>
            </a:avLst>
          </a:prstGeom>
          <a:solidFill>
            <a:srgbClr val="FFFFFF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45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ينشأ عن اتحاد سلسلتي غذاء أو أكثر: (أ) نظام بيئي (ب) شبكة غذاء (ج) مجتمع حيوي (د) هرم غذاء</a:t>
            </a:r>
            <a:endParaRPr lang="ar-SA" sz="1450" dirty="0"/>
          </a:p>
        </p:txBody>
      </p:sp>
      <p:sp>
        <p:nvSpPr>
          <p:cNvPr id="6" name="s12_5@c1"/>
          <p:cNvSpPr txBox="1"/>
          <p:nvPr/>
        </p:nvSpPr>
        <p:spPr>
          <a:xfrm>
            <a:off x="4206240" y="2423160"/>
            <a:ext cx="2651760" cy="929640"/>
          </a:xfrm>
          <a:prstGeom prst="roundRect">
            <a:avLst>
              <a:gd name="adj" fmla="val 11803"/>
            </a:avLst>
          </a:prstGeom>
          <a:solidFill>
            <a:srgbClr val="FFFBEF"/>
          </a:solidFill>
          <a:ln w="25400">
            <a:solidFill>
              <a:srgbClr val="2F8A3A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350" b="1" dirty="0">
                <a:solidFill>
                  <a:srgbClr val="2F8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✔ </a:t>
            </a:r>
            <a:r>
              <a:rPr lang="ar-SA" altLang="en-US" sz="13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(ب) شبكة غذاء.</a:t>
            </a:r>
            <a:endParaRPr lang="ar-SA" sz="1350" dirty="0"/>
          </a:p>
        </p:txBody>
      </p:sp>
      <p:sp>
        <p:nvSpPr>
          <p:cNvPr id="7" name="s12_6"/>
          <p:cNvSpPr txBox="1"/>
          <p:nvPr/>
        </p:nvSpPr>
        <p:spPr>
          <a:xfrm>
            <a:off x="10332720" y="3444240"/>
            <a:ext cx="1325880" cy="929640"/>
          </a:xfrm>
          <a:prstGeom prst="roundRect">
            <a:avLst>
              <a:gd name="adj" fmla="val 11803"/>
            </a:avLst>
          </a:prstGeom>
          <a:solidFill>
            <a:srgbClr val="DFF1FB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٥ السؤال الأساسي</a:t>
            </a:r>
            <a:endParaRPr lang="ar-SA" sz="1450" dirty="0"/>
          </a:p>
        </p:txBody>
      </p:sp>
      <p:sp>
        <p:nvSpPr>
          <p:cNvPr id="8" name="s12_7"/>
          <p:cNvSpPr txBox="1"/>
          <p:nvPr/>
        </p:nvSpPr>
        <p:spPr>
          <a:xfrm>
            <a:off x="6949440" y="3444240"/>
            <a:ext cx="3291840" cy="929640"/>
          </a:xfrm>
          <a:prstGeom prst="roundRect">
            <a:avLst>
              <a:gd name="adj" fmla="val 11803"/>
            </a:avLst>
          </a:prstGeom>
          <a:solidFill>
            <a:srgbClr val="FFFFFF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45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كيف تحصل المخلوقات الحية على الطاقة؟</a:t>
            </a:r>
            <a:endParaRPr lang="ar-SA" sz="1450" dirty="0"/>
          </a:p>
        </p:txBody>
      </p:sp>
      <p:sp>
        <p:nvSpPr>
          <p:cNvPr id="9" name="s12_8@c2"/>
          <p:cNvSpPr txBox="1"/>
          <p:nvPr/>
        </p:nvSpPr>
        <p:spPr>
          <a:xfrm>
            <a:off x="4206240" y="3444240"/>
            <a:ext cx="2651760" cy="929640"/>
          </a:xfrm>
          <a:prstGeom prst="roundRect">
            <a:avLst>
              <a:gd name="adj" fmla="val 11803"/>
            </a:avLst>
          </a:prstGeom>
          <a:solidFill>
            <a:srgbClr val="FFFBEF"/>
          </a:solidFill>
          <a:ln w="25400">
            <a:solidFill>
              <a:srgbClr val="2F8A3A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350" b="1" dirty="0">
                <a:solidFill>
                  <a:srgbClr val="2F8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✔ </a:t>
            </a:r>
            <a:r>
              <a:rPr lang="ar-SA" altLang="en-US" sz="13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المنتجات من الشمس، والمستهلكات بالأكل، والمحللات من البقايا الميتة.</a:t>
            </a:r>
            <a:endParaRPr lang="ar-SA" sz="1350" dirty="0"/>
          </a:p>
        </p:txBody>
      </p:sp>
      <p:sp>
        <p:nvSpPr>
          <p:cNvPr id="10" name="s12_9"/>
          <p:cNvSpPr txBox="1"/>
          <p:nvPr/>
        </p:nvSpPr>
        <p:spPr>
          <a:xfrm>
            <a:off x="10332720" y="4465320"/>
            <a:ext cx="1325880" cy="929640"/>
          </a:xfrm>
          <a:prstGeom prst="roundRect">
            <a:avLst>
              <a:gd name="adj" fmla="val 11803"/>
            </a:avLst>
          </a:prstGeom>
          <a:solidFill>
            <a:srgbClr val="FFF3C4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العلوم والرياضيات</a:t>
            </a:r>
            <a:endParaRPr lang="ar-SA" sz="1450" dirty="0"/>
          </a:p>
        </p:txBody>
      </p:sp>
      <p:sp>
        <p:nvSpPr>
          <p:cNvPr id="11" name="s12_10"/>
          <p:cNvSpPr txBox="1"/>
          <p:nvPr/>
        </p:nvSpPr>
        <p:spPr>
          <a:xfrm>
            <a:off x="6949440" y="4465320"/>
            <a:ext cx="3291840" cy="929640"/>
          </a:xfrm>
          <a:prstGeom prst="roundRect">
            <a:avLst>
              <a:gd name="adj" fmla="val 11803"/>
            </a:avLst>
          </a:prstGeom>
          <a:solidFill>
            <a:srgbClr val="FFFFFF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45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آكلات الأعشاب ٤٢٥٠، وآكلات اللحوم عُشرها. كم عدد آكلات اللحوم؟</a:t>
            </a:r>
            <a:endParaRPr lang="ar-SA" sz="1450" dirty="0"/>
          </a:p>
        </p:txBody>
      </p:sp>
      <p:sp>
        <p:nvSpPr>
          <p:cNvPr id="12" name="s12_11@c3"/>
          <p:cNvSpPr txBox="1"/>
          <p:nvPr/>
        </p:nvSpPr>
        <p:spPr>
          <a:xfrm>
            <a:off x="4206240" y="4465320"/>
            <a:ext cx="2651760" cy="929640"/>
          </a:xfrm>
          <a:prstGeom prst="roundRect">
            <a:avLst>
              <a:gd name="adj" fmla="val 11803"/>
            </a:avLst>
          </a:prstGeom>
          <a:solidFill>
            <a:srgbClr val="FFFBEF"/>
          </a:solidFill>
          <a:ln w="25400">
            <a:solidFill>
              <a:srgbClr val="2F8A3A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350" b="1" dirty="0">
                <a:solidFill>
                  <a:srgbClr val="2F8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✔ </a:t>
            </a:r>
            <a:r>
              <a:rPr lang="ar-SA" altLang="en-US" sz="13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٤٢٥٠ ÷ ١٠ = ٤٢٥</a:t>
            </a:r>
            <a:endParaRPr lang="ar-SA" sz="13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3_1"/>
          <p:cNvSpPr txBox="1"/>
          <p:nvPr/>
        </p:nvSpPr>
        <p:spPr>
          <a:xfrm>
            <a:off x="2331720" y="2697480"/>
            <a:ext cx="1444752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5E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التقويم الختامي</a:t>
            </a:r>
            <a:endParaRPr lang="ar-SA" sz="1700" dirty="0"/>
          </a:p>
          <a:p>
            <a:pPr rtl="1" algn="ctr" indent="0" marL="0">
              <a:buNone/>
            </a:pPr>
            <a:endParaRPr lang="ar-SA" sz="1700" dirty="0"/>
          </a:p>
          <a:p>
            <a:pPr rtl="1" algn="ctr" indent="0" marL="0">
              <a:buNone/>
            </a:pPr>
            <a:r>
              <a:rPr lang="ar-SA" altLang="en-US" sz="12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حصاد المعرفة 🌾</a:t>
            </a:r>
            <a:endParaRPr lang="ar-SA" sz="1700" dirty="0"/>
          </a:p>
        </p:txBody>
      </p:sp>
      <p:pic>
        <p:nvPicPr>
          <p:cNvPr id="3" name="s13_2" descr="عنوان الشريح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3435" y="1691640"/>
            <a:ext cx="3025165" cy="566928"/>
          </a:xfrm>
          <a:prstGeom prst="rect">
            <a:avLst/>
          </a:prstGeom>
        </p:spPr>
      </p:pic>
      <p:sp>
        <p:nvSpPr>
          <p:cNvPr id="4" name="s13_3"/>
          <p:cNvSpPr txBox="1"/>
          <p:nvPr/>
        </p:nvSpPr>
        <p:spPr>
          <a:xfrm>
            <a:off x="10332720" y="2423160"/>
            <a:ext cx="1325880" cy="674370"/>
          </a:xfrm>
          <a:prstGeom prst="roundRect">
            <a:avLst>
              <a:gd name="adj" fmla="val 16271"/>
            </a:avLst>
          </a:prstGeom>
          <a:solidFill>
            <a:srgbClr val="E3F4D7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فهم</a:t>
            </a:r>
            <a:endParaRPr lang="ar-SA" sz="1450" dirty="0"/>
          </a:p>
        </p:txBody>
      </p:sp>
      <p:sp>
        <p:nvSpPr>
          <p:cNvPr id="5" name="s13_4"/>
          <p:cNvSpPr txBox="1"/>
          <p:nvPr/>
        </p:nvSpPr>
        <p:spPr>
          <a:xfrm>
            <a:off x="6949440" y="2423160"/>
            <a:ext cx="3291840" cy="674370"/>
          </a:xfrm>
          <a:prstGeom prst="roundRect">
            <a:avLst>
              <a:gd name="adj" fmla="val 16271"/>
            </a:avLst>
          </a:prstGeom>
          <a:solidFill>
            <a:srgbClr val="FFFFFF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45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التنافس هو…</a:t>
            </a:r>
            <a:endParaRPr lang="ar-SA" sz="1450" dirty="0"/>
          </a:p>
        </p:txBody>
      </p:sp>
      <p:sp>
        <p:nvSpPr>
          <p:cNvPr id="6" name="s13_5@c1"/>
          <p:cNvSpPr txBox="1"/>
          <p:nvPr/>
        </p:nvSpPr>
        <p:spPr>
          <a:xfrm>
            <a:off x="4206240" y="2423160"/>
            <a:ext cx="2651760" cy="674370"/>
          </a:xfrm>
          <a:prstGeom prst="roundRect">
            <a:avLst>
              <a:gd name="adj" fmla="val 16271"/>
            </a:avLst>
          </a:prstGeom>
          <a:solidFill>
            <a:srgbClr val="FFFBEF"/>
          </a:solidFill>
          <a:ln w="25400">
            <a:solidFill>
              <a:srgbClr val="2F8A3A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350" b="1" dirty="0">
                <a:solidFill>
                  <a:srgbClr val="2F8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✔ </a:t>
            </a:r>
            <a:r>
              <a:rPr lang="ar-SA" altLang="en-US" sz="13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صراع على الطعام والماء.</a:t>
            </a:r>
            <a:endParaRPr lang="ar-SA" sz="1350" dirty="0"/>
          </a:p>
        </p:txBody>
      </p:sp>
      <p:sp>
        <p:nvSpPr>
          <p:cNvPr id="7" name="s13_6"/>
          <p:cNvSpPr txBox="1"/>
          <p:nvPr/>
        </p:nvSpPr>
        <p:spPr>
          <a:xfrm>
            <a:off x="10332720" y="3188970"/>
            <a:ext cx="1325880" cy="674370"/>
          </a:xfrm>
          <a:prstGeom prst="roundRect">
            <a:avLst>
              <a:gd name="adj" fmla="val 16271"/>
            </a:avLst>
          </a:prstGeom>
          <a:solidFill>
            <a:srgbClr val="FFF3C4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تطبيق</a:t>
            </a:r>
            <a:endParaRPr lang="ar-SA" sz="1450" dirty="0"/>
          </a:p>
        </p:txBody>
      </p:sp>
      <p:sp>
        <p:nvSpPr>
          <p:cNvPr id="8" name="s13_7"/>
          <p:cNvSpPr txBox="1"/>
          <p:nvPr/>
        </p:nvSpPr>
        <p:spPr>
          <a:xfrm>
            <a:off x="6949440" y="3188970"/>
            <a:ext cx="3291840" cy="674370"/>
          </a:xfrm>
          <a:prstGeom prst="roundRect">
            <a:avLst>
              <a:gd name="adj" fmla="val 16271"/>
            </a:avLst>
          </a:prstGeom>
          <a:solidFill>
            <a:srgbClr val="FFFFFF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45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رتّبي هرم الطاقة من القاعدة: الصقور، العشب، الجراد، العصافير.</a:t>
            </a:r>
            <a:endParaRPr lang="ar-SA" sz="1450" dirty="0"/>
          </a:p>
        </p:txBody>
      </p:sp>
      <p:sp>
        <p:nvSpPr>
          <p:cNvPr id="9" name="s13_8@c2"/>
          <p:cNvSpPr txBox="1"/>
          <p:nvPr/>
        </p:nvSpPr>
        <p:spPr>
          <a:xfrm>
            <a:off x="4206240" y="3188970"/>
            <a:ext cx="2651760" cy="674370"/>
          </a:xfrm>
          <a:prstGeom prst="roundRect">
            <a:avLst>
              <a:gd name="adj" fmla="val 16271"/>
            </a:avLst>
          </a:prstGeom>
          <a:solidFill>
            <a:srgbClr val="FFFBEF"/>
          </a:solidFill>
          <a:ln w="25400">
            <a:solidFill>
              <a:srgbClr val="2F8A3A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350" b="1" dirty="0">
                <a:solidFill>
                  <a:srgbClr val="2F8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✔ </a:t>
            </a:r>
            <a:r>
              <a:rPr lang="ar-SA" altLang="en-US" sz="13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العشب ← الجراد ← العصافير ← الصقور</a:t>
            </a:r>
            <a:endParaRPr lang="ar-SA" sz="1350" dirty="0"/>
          </a:p>
        </p:txBody>
      </p:sp>
      <p:sp>
        <p:nvSpPr>
          <p:cNvPr id="10" name="s13_9"/>
          <p:cNvSpPr txBox="1"/>
          <p:nvPr/>
        </p:nvSpPr>
        <p:spPr>
          <a:xfrm>
            <a:off x="10332720" y="3954780"/>
            <a:ext cx="1325880" cy="674370"/>
          </a:xfrm>
          <a:prstGeom prst="roundRect">
            <a:avLst>
              <a:gd name="adj" fmla="val 16271"/>
            </a:avLst>
          </a:prstGeom>
          <a:solidFill>
            <a:srgbClr val="DFF1FB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تحليل</a:t>
            </a:r>
            <a:endParaRPr lang="ar-SA" sz="1450" dirty="0"/>
          </a:p>
        </p:txBody>
      </p:sp>
      <p:sp>
        <p:nvSpPr>
          <p:cNvPr id="11" name="s13_10"/>
          <p:cNvSpPr txBox="1"/>
          <p:nvPr/>
        </p:nvSpPr>
        <p:spPr>
          <a:xfrm>
            <a:off x="6949440" y="3954780"/>
            <a:ext cx="3291840" cy="674370"/>
          </a:xfrm>
          <a:prstGeom prst="roundRect">
            <a:avLst>
              <a:gd name="adj" fmla="val 16271"/>
            </a:avLst>
          </a:prstGeom>
          <a:solidFill>
            <a:srgbClr val="FFFFFF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45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أين توجد أقلّ طاقة في الهرم؟</a:t>
            </a:r>
            <a:endParaRPr lang="ar-SA" sz="1450" dirty="0"/>
          </a:p>
        </p:txBody>
      </p:sp>
      <p:sp>
        <p:nvSpPr>
          <p:cNvPr id="12" name="s13_11@c3"/>
          <p:cNvSpPr txBox="1"/>
          <p:nvPr/>
        </p:nvSpPr>
        <p:spPr>
          <a:xfrm>
            <a:off x="4206240" y="3954780"/>
            <a:ext cx="2651760" cy="674370"/>
          </a:xfrm>
          <a:prstGeom prst="roundRect">
            <a:avLst>
              <a:gd name="adj" fmla="val 16271"/>
            </a:avLst>
          </a:prstGeom>
          <a:solidFill>
            <a:srgbClr val="FFFBEF"/>
          </a:solidFill>
          <a:ln w="25400">
            <a:solidFill>
              <a:srgbClr val="2F8A3A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350" b="1" dirty="0">
                <a:solidFill>
                  <a:srgbClr val="2F8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✔ </a:t>
            </a:r>
            <a:r>
              <a:rPr lang="ar-SA" altLang="en-US" sz="13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في القمة.</a:t>
            </a:r>
            <a:endParaRPr lang="ar-SA" sz="1350" dirty="0"/>
          </a:p>
        </p:txBody>
      </p:sp>
      <p:sp>
        <p:nvSpPr>
          <p:cNvPr id="13" name="s13_12"/>
          <p:cNvSpPr txBox="1"/>
          <p:nvPr/>
        </p:nvSpPr>
        <p:spPr>
          <a:xfrm>
            <a:off x="10332720" y="4720590"/>
            <a:ext cx="1325880" cy="674370"/>
          </a:xfrm>
          <a:prstGeom prst="roundRect">
            <a:avLst>
              <a:gd name="adj" fmla="val 16271"/>
            </a:avLst>
          </a:prstGeom>
          <a:solidFill>
            <a:srgbClr val="FDE4EC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تصحيح مفهوم</a:t>
            </a:r>
            <a:endParaRPr lang="ar-SA" sz="1450" dirty="0"/>
          </a:p>
        </p:txBody>
      </p:sp>
      <p:sp>
        <p:nvSpPr>
          <p:cNvPr id="14" name="s13_13"/>
          <p:cNvSpPr txBox="1"/>
          <p:nvPr/>
        </p:nvSpPr>
        <p:spPr>
          <a:xfrm>
            <a:off x="6949440" y="4720590"/>
            <a:ext cx="3291840" cy="674370"/>
          </a:xfrm>
          <a:prstGeom prst="roundRect">
            <a:avLst>
              <a:gd name="adj" fmla="val 16271"/>
            </a:avLst>
          </a:prstGeom>
          <a:solidFill>
            <a:srgbClr val="FFFFFF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45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«آكلات اللحوم لديها طاقة أكثر من آكلات الأعشاب».</a:t>
            </a:r>
            <a:endParaRPr lang="ar-SA" sz="1450" dirty="0"/>
          </a:p>
        </p:txBody>
      </p:sp>
      <p:sp>
        <p:nvSpPr>
          <p:cNvPr id="15" name="s13_14@c4"/>
          <p:cNvSpPr txBox="1"/>
          <p:nvPr/>
        </p:nvSpPr>
        <p:spPr>
          <a:xfrm>
            <a:off x="4206240" y="4720590"/>
            <a:ext cx="2651760" cy="674370"/>
          </a:xfrm>
          <a:prstGeom prst="roundRect">
            <a:avLst>
              <a:gd name="adj" fmla="val 16271"/>
            </a:avLst>
          </a:prstGeom>
          <a:solidFill>
            <a:srgbClr val="FFFBEF"/>
          </a:solidFill>
          <a:ln w="25400">
            <a:solidFill>
              <a:srgbClr val="2F8A3A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350" b="1" dirty="0">
                <a:solidFill>
                  <a:srgbClr val="2F8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✔ </a:t>
            </a:r>
            <a:r>
              <a:rPr lang="ar-SA" altLang="en-US" sz="13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الصحيح: لديها طاقة أقل.</a:t>
            </a:r>
            <a:endParaRPr lang="ar-SA" sz="1350" dirty="0"/>
          </a:p>
        </p:txBody>
      </p:sp>
    </p:spTree>
  </p:cSld>
  <p:clrMapOvr>
    <a:masterClrMapping/>
  </p:clrMapOvr>
  <p:transition spd="med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2" grpId="0" animBg="1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14_1" descr="خريطة الدرس – استراتيجية المعلمة الصغير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14_2"/>
          <p:cNvSpPr txBox="1"/>
          <p:nvPr/>
        </p:nvSpPr>
        <p:spPr>
          <a:xfrm>
            <a:off x="5760430" y="3682300"/>
            <a:ext cx="2114588" cy="583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التنافس وهرم الطاقة</a:t>
            </a:r>
            <a:endParaRPr lang="ar-SA" sz="1500" dirty="0"/>
          </a:p>
        </p:txBody>
      </p:sp>
      <p:pic>
        <p:nvPicPr>
          <p:cNvPr id="4" name="s14_3" descr="سهم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2302" y="2202088"/>
            <a:ext cx="1319795" cy="787502"/>
          </a:xfrm>
          <a:prstGeom prst="rect">
            <a:avLst/>
          </a:prstGeom>
        </p:spPr>
      </p:pic>
      <p:pic>
        <p:nvPicPr>
          <p:cNvPr id="5" name="s14_4" descr="قلم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347" y="2503840"/>
            <a:ext cx="502920" cy="502920"/>
          </a:xfrm>
          <a:prstGeom prst="rect">
            <a:avLst/>
          </a:prstGeom>
        </p:spPr>
      </p:pic>
      <p:sp>
        <p:nvSpPr>
          <p:cNvPr id="6" name="s14_5"/>
          <p:cNvSpPr txBox="1"/>
          <p:nvPr/>
        </p:nvSpPr>
        <p:spPr>
          <a:xfrm>
            <a:off x="5651055" y="1567712"/>
            <a:ext cx="2151047" cy="692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المفردات:</a:t>
            </a:r>
            <a:endParaRPr lang="ar-SA" sz="1300" dirty="0"/>
          </a:p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التنافس • هرم الطاقة</a:t>
            </a:r>
            <a:endParaRPr lang="ar-SA" sz="1300" dirty="0"/>
          </a:p>
        </p:txBody>
      </p:sp>
      <p:pic>
        <p:nvPicPr>
          <p:cNvPr id="7" name="s14_6" descr="سهم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9185" y="2129172"/>
            <a:ext cx="1181253" cy="1057294"/>
          </a:xfrm>
          <a:prstGeom prst="rect">
            <a:avLst/>
          </a:prstGeom>
        </p:spPr>
      </p:pic>
      <p:pic>
        <p:nvPicPr>
          <p:cNvPr id="8" name="s14_7" descr="قلم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8435" y="2700716"/>
            <a:ext cx="502920" cy="502920"/>
          </a:xfrm>
          <a:prstGeom prst="rect">
            <a:avLst/>
          </a:prstGeom>
        </p:spPr>
      </p:pic>
      <p:sp>
        <p:nvSpPr>
          <p:cNvPr id="9" name="s14_8"/>
          <p:cNvSpPr txBox="1"/>
          <p:nvPr/>
        </p:nvSpPr>
        <p:spPr>
          <a:xfrm>
            <a:off x="8968771" y="1968755"/>
            <a:ext cx="1822921" cy="91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التنافس: صراع المخلوقات على الطعام والماء والضوء</a:t>
            </a:r>
            <a:endParaRPr lang="ar-SA" sz="1300" dirty="0"/>
          </a:p>
        </p:txBody>
      </p:sp>
      <p:pic>
        <p:nvPicPr>
          <p:cNvPr id="10" name="s14_9" descr="سهم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0852" y="3762509"/>
            <a:ext cx="1071878" cy="576043"/>
          </a:xfrm>
          <a:prstGeom prst="rect">
            <a:avLst/>
          </a:prstGeom>
        </p:spPr>
      </p:pic>
      <p:pic>
        <p:nvPicPr>
          <p:cNvPr id="11" name="s14_10" descr="قلم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0103" y="3451759"/>
            <a:ext cx="502920" cy="502920"/>
          </a:xfrm>
          <a:prstGeom prst="rect">
            <a:avLst/>
          </a:prstGeom>
        </p:spPr>
      </p:pic>
      <p:sp>
        <p:nvSpPr>
          <p:cNvPr id="12" name="s14_11"/>
          <p:cNvSpPr txBox="1"/>
          <p:nvPr/>
        </p:nvSpPr>
        <p:spPr>
          <a:xfrm>
            <a:off x="9114605" y="3682300"/>
            <a:ext cx="1968755" cy="984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هرم الطاقة: المنتجات في القاعدة، والطاقة تقلّ كلما صعدنا</a:t>
            </a:r>
            <a:endParaRPr lang="ar-SA" sz="1300" dirty="0"/>
          </a:p>
        </p:txBody>
      </p:sp>
      <p:pic>
        <p:nvPicPr>
          <p:cNvPr id="13" name="s14_12" descr="سهم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2515" y="4272927"/>
            <a:ext cx="444793" cy="590626"/>
          </a:xfrm>
          <a:prstGeom prst="rect">
            <a:avLst/>
          </a:prstGeom>
        </p:spPr>
      </p:pic>
      <p:pic>
        <p:nvPicPr>
          <p:cNvPr id="14" name="s14_13" descr="قلم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3016" y="4377803"/>
            <a:ext cx="502920" cy="502920"/>
          </a:xfrm>
          <a:prstGeom prst="rect">
            <a:avLst/>
          </a:prstGeom>
        </p:spPr>
      </p:pic>
      <p:sp>
        <p:nvSpPr>
          <p:cNvPr id="15" name="s14_14"/>
          <p:cNvSpPr txBox="1"/>
          <p:nvPr/>
        </p:nvSpPr>
        <p:spPr>
          <a:xfrm>
            <a:off x="5395846" y="5031262"/>
            <a:ext cx="2625006" cy="802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تعلّمت سابقًا:</a:t>
            </a:r>
            <a:endParaRPr lang="ar-SA" sz="1300" dirty="0"/>
          </a:p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الشبكة الغذائية (مفترس وفريسة)</a:t>
            </a:r>
            <a:endParaRPr lang="ar-SA" sz="1300" dirty="0"/>
          </a:p>
        </p:txBody>
      </p:sp>
      <p:pic>
        <p:nvPicPr>
          <p:cNvPr id="16" name="s14_15" descr="سهم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6261" y="3397925"/>
            <a:ext cx="772918" cy="444793"/>
          </a:xfrm>
          <a:prstGeom prst="rect">
            <a:avLst/>
          </a:prstGeom>
        </p:spPr>
      </p:pic>
      <p:pic>
        <p:nvPicPr>
          <p:cNvPr id="17" name="s14_16" descr="قلم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43430" y="3218425"/>
            <a:ext cx="502920" cy="502920"/>
          </a:xfrm>
          <a:prstGeom prst="rect">
            <a:avLst/>
          </a:prstGeom>
        </p:spPr>
      </p:pic>
      <p:sp>
        <p:nvSpPr>
          <p:cNvPr id="18" name="s14_17"/>
          <p:cNvSpPr txBox="1"/>
          <p:nvPr/>
        </p:nvSpPr>
        <p:spPr>
          <a:xfrm>
            <a:off x="3244799" y="3427091"/>
            <a:ext cx="1640629" cy="838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في الماء آكلات لحوم أكثر؛ لأن المنتجات وفيرة</a:t>
            </a:r>
            <a:endParaRPr lang="ar-SA" sz="12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2" presetClass="entr" presetSubtype="2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0" presetClass="path" presetSubtype="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885 -0.0787 E" pathEditMode="relative" ptsTypes="">
                                      <p:cBhvr>
                                        <p:cTn id="14" dur="9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2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0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766 -0.1095 E" pathEditMode="relative" ptsTypes="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2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0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658 0.0393 E" pathEditMode="relative" ptsTypes="">
                                      <p:cBhvr>
                                        <p:cTn id="46" dur="9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2" nodeType="withEffect">
                                  <p:stCondLst>
                                    <p:cond delay="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0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21 E" pathEditMode="relative" ptsTypes="">
                                      <p:cBhvr>
                                        <p:cTn id="61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2" nodeType="withEffect">
                                  <p:stCondLst>
                                    <p:cond delay="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0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443 0.0000 E" pathEditMode="relative" ptsTypes="">
                                      <p:cBhvr>
                                        <p:cTn id="76" dur="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2" nodeType="withEffect">
                                  <p:stCondLst>
                                    <p:cond delay="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9" grpId="0" animBg="1"/>
      <p:bldP spid="12" grpId="0" animBg="1"/>
      <p:bldP spid="15" grpId="0" animBg="1"/>
      <p:bldP spid="1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5_1"/>
          <p:cNvSpPr txBox="1"/>
          <p:nvPr/>
        </p:nvSpPr>
        <p:spPr>
          <a:xfrm>
            <a:off x="2331720" y="2697480"/>
            <a:ext cx="1444752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5E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بطاقة الخروج</a:t>
            </a:r>
            <a:endParaRPr lang="ar-SA" sz="1700" dirty="0"/>
          </a:p>
          <a:p>
            <a:pPr rtl="1" algn="ctr" indent="0" marL="0">
              <a:buNone/>
            </a:pPr>
            <a:endParaRPr lang="ar-SA" sz="1700" dirty="0"/>
          </a:p>
          <a:p>
            <a:pPr rtl="1" algn="ctr" indent="0" marL="0">
              <a:buNone/>
            </a:pPr>
            <a:r>
              <a:rPr lang="ar-SA" altLang="en-US" sz="12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تكتبها كل طالبة قبل الخروج ✍️</a:t>
            </a:r>
            <a:endParaRPr lang="ar-SA" sz="1700" dirty="0"/>
          </a:p>
        </p:txBody>
      </p:sp>
      <p:pic>
        <p:nvPicPr>
          <p:cNvPr id="3" name="s15_2" descr="عنوان الشريح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6308" y="1691640"/>
            <a:ext cx="2602292" cy="566928"/>
          </a:xfrm>
          <a:prstGeom prst="rect">
            <a:avLst/>
          </a:prstGeom>
        </p:spPr>
      </p:pic>
      <p:sp>
        <p:nvSpPr>
          <p:cNvPr id="4" name="s15_3"/>
          <p:cNvSpPr txBox="1"/>
          <p:nvPr/>
        </p:nvSpPr>
        <p:spPr>
          <a:xfrm>
            <a:off x="4480560" y="2377440"/>
            <a:ext cx="6858000" cy="2971800"/>
          </a:xfrm>
          <a:prstGeom prst="roundRect">
            <a:avLst>
              <a:gd name="adj" fmla="val 3692"/>
            </a:avLst>
          </a:prstGeom>
          <a:solidFill>
            <a:srgbClr val="FFFDF3"/>
          </a:solidFill>
          <a:ln w="31750">
            <a:solidFill>
              <a:srgbClr val="1B5E20"/>
            </a:solidFill>
            <a:prstDash val="dash"/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endParaRPr lang="ar-SA" sz="1700" dirty="0"/>
          </a:p>
        </p:txBody>
      </p:sp>
      <p:sp>
        <p:nvSpPr>
          <p:cNvPr id="5" name="s15_4"/>
          <p:cNvSpPr txBox="1"/>
          <p:nvPr/>
        </p:nvSpPr>
        <p:spPr>
          <a:xfrm>
            <a:off x="4663440" y="2468880"/>
            <a:ext cx="649224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5E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🎫 بطاقة الخروج</a:t>
            </a:r>
            <a:endParaRPr lang="ar-SA" sz="1900" dirty="0"/>
          </a:p>
        </p:txBody>
      </p:sp>
      <p:sp>
        <p:nvSpPr>
          <p:cNvPr id="6" name="s15_5"/>
          <p:cNvSpPr txBox="1"/>
          <p:nvPr/>
        </p:nvSpPr>
        <p:spPr>
          <a:xfrm>
            <a:off x="4754880" y="3017520"/>
            <a:ext cx="630936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١) التنافس هو: </a:t>
            </a:r>
            <a:r>
              <a:rPr lang="ar-SA" altLang="en-US" sz="160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.................................</a:t>
            </a:r>
            <a:endParaRPr lang="ar-SA" sz="1600" dirty="0"/>
          </a:p>
        </p:txBody>
      </p:sp>
      <p:sp>
        <p:nvSpPr>
          <p:cNvPr id="7" name="s15_6"/>
          <p:cNvSpPr txBox="1"/>
          <p:nvPr/>
        </p:nvSpPr>
        <p:spPr>
          <a:xfrm>
            <a:off x="4754880" y="3566160"/>
            <a:ext cx="630936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٢) في قاعدة هرم الطاقة توجد: </a:t>
            </a:r>
            <a:r>
              <a:rPr lang="ar-SA" altLang="en-US" sz="160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.......................</a:t>
            </a:r>
            <a:endParaRPr lang="ar-SA" sz="1600" dirty="0"/>
          </a:p>
        </p:txBody>
      </p:sp>
      <p:sp>
        <p:nvSpPr>
          <p:cNvPr id="8" name="s15_7"/>
          <p:cNvSpPr txBox="1"/>
          <p:nvPr/>
        </p:nvSpPr>
        <p:spPr>
          <a:xfrm>
            <a:off x="4754880" y="4114800"/>
            <a:ext cx="630936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٣) سؤال ما زال في ذهني: </a:t>
            </a:r>
            <a:r>
              <a:rPr lang="ar-SA" altLang="en-US" sz="160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..........................</a:t>
            </a:r>
            <a:endParaRPr lang="ar-SA" sz="1600" dirty="0"/>
          </a:p>
        </p:txBody>
      </p:sp>
      <p:sp>
        <p:nvSpPr>
          <p:cNvPr id="9" name="s15_8"/>
          <p:cNvSpPr txBox="1"/>
          <p:nvPr/>
        </p:nvSpPr>
        <p:spPr>
          <a:xfrm>
            <a:off x="4754880" y="4709160"/>
            <a:ext cx="630936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C236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قيّمي فهمك:  ⭐⭐⭐ فهمت تمامًا   ⭐⭐ فهمت   ⭐ أحتاج مساعدة</a:t>
            </a:r>
            <a:endParaRPr lang="ar-SA" sz="1450" dirty="0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6_1"/>
          <p:cNvSpPr txBox="1"/>
          <p:nvPr/>
        </p:nvSpPr>
        <p:spPr>
          <a:xfrm>
            <a:off x="2331720" y="2697480"/>
            <a:ext cx="1444752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5E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الختام</a:t>
            </a:r>
            <a:endParaRPr lang="ar-SA" sz="1700" dirty="0"/>
          </a:p>
          <a:p>
            <a:pPr rtl="1" algn="ctr" indent="0" marL="0">
              <a:buNone/>
            </a:pPr>
            <a:endParaRPr lang="ar-SA" sz="1700" dirty="0"/>
          </a:p>
          <a:p>
            <a:pPr rtl="1" algn="ctr" indent="0" marL="0">
              <a:buNone/>
            </a:pPr>
            <a:r>
              <a:rPr lang="ar-SA" altLang="en-US" sz="12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شكرًا لمشاركتكن 🌿</a:t>
            </a:r>
            <a:endParaRPr lang="ar-SA" sz="1700" dirty="0"/>
          </a:p>
        </p:txBody>
      </p:sp>
      <p:pic>
        <p:nvPicPr>
          <p:cNvPr id="3" name="s16_2" descr="عنوان الشريح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9928" y="1691640"/>
            <a:ext cx="3224984" cy="566928"/>
          </a:xfrm>
          <a:prstGeom prst="rect">
            <a:avLst/>
          </a:prstGeom>
        </p:spPr>
      </p:pic>
      <p:sp>
        <p:nvSpPr>
          <p:cNvPr id="4" name="s16_3"/>
          <p:cNvSpPr txBox="1"/>
          <p:nvPr/>
        </p:nvSpPr>
        <p:spPr>
          <a:xfrm>
            <a:off x="4754880" y="2651760"/>
            <a:ext cx="6400800" cy="1097280"/>
          </a:xfrm>
          <a:prstGeom prst="roundRect">
            <a:avLst>
              <a:gd name="adj" fmla="val 10000"/>
            </a:avLst>
          </a:prstGeom>
          <a:solidFill>
            <a:srgbClr val="E3F4D7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تعلّمنا اليوم أن المخلوقات تتنافس على الغذاء والماء، وأن الطاقة تقلّ كلما صعدنا في هرم الطاقة.</a:t>
            </a:r>
            <a:endParaRPr lang="ar-SA" sz="1700" dirty="0"/>
          </a:p>
        </p:txBody>
      </p:sp>
      <p:sp>
        <p:nvSpPr>
          <p:cNvPr id="5" name="s16_4"/>
          <p:cNvSpPr txBox="1"/>
          <p:nvPr/>
        </p:nvSpPr>
        <p:spPr>
          <a:xfrm>
            <a:off x="5669280" y="3931920"/>
            <a:ext cx="4572000" cy="640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🌾 ← 🦗 ← 🐦 ← 🦅</a:t>
            </a:r>
            <a:endParaRPr lang="ar-SA" sz="2600" dirty="0"/>
          </a:p>
        </p:txBody>
      </p:sp>
    </p:spTree>
  </p:cSld>
  <p:clrMapOvr>
    <a:masterClrMapping/>
  </p:clrMapOvr>
  <p:transition spd="med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7_1"/>
          <p:cNvSpPr txBox="1"/>
          <p:nvPr/>
        </p:nvSpPr>
        <p:spPr>
          <a:xfrm>
            <a:off x="2331720" y="2697480"/>
            <a:ext cx="1444752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5E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التعلم باللعب</a:t>
            </a:r>
            <a:endParaRPr lang="ar-SA" sz="1700" dirty="0"/>
          </a:p>
          <a:p>
            <a:pPr rtl="1" algn="ctr" indent="0" marL="0">
              <a:buNone/>
            </a:pPr>
            <a:endParaRPr lang="ar-SA" sz="1700" dirty="0"/>
          </a:p>
          <a:p>
            <a:pPr rtl="1" algn="ctr" indent="0" marL="0">
              <a:buNone/>
            </a:pPr>
            <a:r>
              <a:rPr lang="ar-SA" altLang="en-US" sz="12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امسحي الرمز بجوالك 📱</a:t>
            </a:r>
            <a:endParaRPr lang="ar-SA" sz="1700" dirty="0"/>
          </a:p>
        </p:txBody>
      </p:sp>
      <p:pic>
        <p:nvPicPr>
          <p:cNvPr id="3" name="s17_2" descr="عنوان الشريح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3434" y="1691640"/>
            <a:ext cx="3777971" cy="566928"/>
          </a:xfrm>
          <a:prstGeom prst="rect">
            <a:avLst/>
          </a:prstGeom>
        </p:spPr>
      </p:pic>
      <p:sp>
        <p:nvSpPr>
          <p:cNvPr id="4" name="s17_3"/>
          <p:cNvSpPr txBox="1"/>
          <p:nvPr/>
        </p:nvSpPr>
        <p:spPr>
          <a:xfrm>
            <a:off x="4709160" y="2377440"/>
            <a:ext cx="301752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381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endParaRPr lang="ar-SA" sz="1700" dirty="0"/>
          </a:p>
        </p:txBody>
      </p:sp>
      <p:pic>
        <p:nvPicPr>
          <p:cNvPr id="5" name="s17_4" descr="رمز QR للعبة الدرس">
            <a:hlinkClick r:id="rId4" tooltip="افتحي اللعبة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514600"/>
            <a:ext cx="2743200" cy="2743200"/>
          </a:xfrm>
          <a:prstGeom prst="rect">
            <a:avLst/>
          </a:prstGeom>
        </p:spPr>
      </p:pic>
      <p:sp>
        <p:nvSpPr>
          <p:cNvPr id="6" name="s17_5"/>
          <p:cNvSpPr txBox="1"/>
          <p:nvPr/>
        </p:nvSpPr>
        <p:spPr>
          <a:xfrm>
            <a:off x="7955280" y="2377440"/>
            <a:ext cx="3611880" cy="2011680"/>
          </a:xfrm>
          <a:prstGeom prst="roundRect">
            <a:avLst>
              <a:gd name="adj" fmla="val 5455"/>
            </a:avLst>
          </a:prstGeom>
          <a:solidFill>
            <a:srgbClr val="E3F4D7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5E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🎮 تحدي التنافس وهرم الطاقة
</a:t>
            </a:r>
            <a:r>
              <a:rPr lang="ar-SA" altLang="en-US" sz="14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١٢ سؤالًا قصيرًا</a:t>
            </a:r>
            <a:endParaRPr lang="ar-SA" sz="1450" dirty="0"/>
          </a:p>
          <a:p>
            <a:pPr rtl="1" algn="r" indent="0" marL="0">
              <a:buNone/>
            </a:pPr>
            <a:r>
              <a:rPr lang="ar-SA" altLang="en-US" sz="14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اجمعي النجوم ⭐</a:t>
            </a:r>
            <a:endParaRPr lang="ar-SA" sz="1450" dirty="0"/>
          </a:p>
          <a:p>
            <a:pPr rtl="1" algn="r" indent="0" marL="0">
              <a:buNone/>
            </a:pPr>
            <a:r>
              <a:rPr lang="ar-SA" altLang="en-US" sz="1450" dirty="0">
                <a:solidFill>
                  <a:srgbClr val="3440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تعمل على الجوال والتابلت والسبورة</a:t>
            </a:r>
            <a:endParaRPr lang="ar-SA" sz="1450" dirty="0"/>
          </a:p>
        </p:txBody>
      </p:sp>
      <p:sp>
        <p:nvSpPr>
          <p:cNvPr id="7" name="s17_6"/>
          <p:cNvSpPr txBox="1"/>
          <p:nvPr/>
        </p:nvSpPr>
        <p:spPr>
          <a:xfrm>
            <a:off x="7955280" y="4572000"/>
            <a:ext cx="3611880" cy="548640"/>
          </a:xfrm>
          <a:prstGeom prst="roundRect">
            <a:avLst>
              <a:gd name="adj" fmla="val 50000"/>
            </a:avLst>
          </a:prstGeom>
          <a:solidFill>
            <a:srgbClr val="1B5E20"/>
          </a:solidFill>
          <a:ln w="25400">
            <a:solidFill>
              <a:srgbClr val="1B5E20"/>
            </a:solidFill>
          </a:ln>
        </p:spPr>
        <p:txBody>
          <a:bodyPr wrap="square" lIns="88900" tIns="88900" rIns="88900" bIns="88900" rtlCol="0" anchor="ctr"/>
          <a:lstStyle/>
          <a:p>
            <a:pPr rtl="1" algn="ctr" indent="0" marL="0">
              <a:buNone/>
            </a:pPr>
            <a:r>
              <a:rPr lang="ar-SA" altLang="en-US" sz="1600" b="1" u="sng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5" invalidUrl="" action="" tgtFrame="" tooltip="افتحي اللعبة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افتحي اللعبة</a:t>
            </a:r>
            <a:endParaRPr lang="ar-SA" sz="16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ah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التنافس وهرم الطاقة – العلوم الصف الرابع</dc:title>
  <dc:subject>PptxGenJS Presentation</dc:subject>
  <dc:creator>أ/ شامه البقمي</dc:creator>
  <cp:lastModifiedBy>أ/ شامه البقمي</cp:lastModifiedBy>
  <cp:revision>1</cp:revision>
  <dcterms:created xsi:type="dcterms:W3CDTF">2026-10-27T18:51:52Z</dcterms:created>
  <dcterms:modified xsi:type="dcterms:W3CDTF">2026-10-27T18:51:52Z</dcterms:modified>
</cp:coreProperties>
</file>