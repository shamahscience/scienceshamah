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الترحيب: رحّبي بالطالبات «أهلًا بعالماتي الصغيرات». اكتبي اليوم والتاريخ في المكان المخصص. موضوع اليوم: التنافس وهرم الطاقة (الكتاب ص١١٥–١١٧).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القوانين الصفية: انقري لإظهار كل قانون، وتردده الطالبات مع الإشارة إليه. امنحي نجمة للمجموعة الملتزمة.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العلم: لحظة انتماء قصيرة قبل الدرس. انقري لإظهار وصف العلم، ثم السؤال والإجابة.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المهارة السابقة (ص١١٤): اضغطي على بطاقة السؤال لتظهر الإجابة ويُظلَّل الدليل في صفحة الكتاب.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فهم قرائي (ص١١٥): تقرأ الطالبات فقرة التنافس، ثم اضغطي على السؤال لتظهر الإجابة ويُظلَّل الدليل. المفردة الجديدة: التنافس.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جولة افتراضية بسيطة في شكل «شبكة غذائية على اليابسة» ص١١٥: مع كل نقرة تتحرك كرة الطاقة ⚡ على سلسلة من الشبكة (وتصغر في كل حلقة) وتظهر السلسلة مكتوبة. النقرة ٤ سؤال التنافس، والنقرة ٥ الإجابة. السلاسل الثلاث من إجابات «التفكير الناقد» في الكتاب.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أختبر نفسي (ص١١٥): السؤالان بنصهما من الكتاب. انقري لإظهار كل إجابة.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فهم قرائي (ص١١٦): اضغطي على السؤال لتظهر الإجابة ويُظلَّل الدليل. تنبيه: غطّينا مربعات الإجابات الجاهزة التي كانت على يسار الهرم في صورة الصفحة.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الفرق بين السلاسل في اليابسة والماء: انقري لإظهار كل صف. السؤال الأخير من «التفكير الناقد» ص١١٦: المنتجات في المحيط (الطحالب والعوالق) وفيرة وسريعة التكاثر، فتكفي طاقتها عددًا أكبر من آكلات اللحوم.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التقويم التكويني: سؤال لكل مستوى. أعطي فرصة للتفكير، ثم انقري لإظهار الإجابة. سؤال «أفكّر» من «أستنتج» ص١١٦.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الدرس (ص١١٧) – الأسئلة ١–٣. اضغطي على السؤال لتظهر الإجابة. في السؤال ٢: لا يكون التعداد كاملًا؛ لأن الطاقة تقل في كل مستوى، فيجب أن تكون آكلات الأعشاب أكثر.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الدرس (ص١١٧) – السؤالان ٤ و٥ ونشاط العلوم والرياضيات. انقري لإظهار كل إجابة.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التقويم الختامي: تجيب الطالبات في السبورات الصغيرة، ثم تظهر الإجابة بالنقر. التصحيح من «حقيقة» ص١١٦.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بطاقة الخروج: توزَّع ورقيًا أو تكتبها الطالبة في دفترها، وتسلّمها عند الباب. راجعي الإجابات لتحديد من تحتاج دعمًا في الحصة القادمة.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الختام: أثني على الطالبات ولخّصي الدرس: التنافس، وهرم الطاقة (المنتجات في القاعدة، والطاقة تقل كلما صعدنا).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4.png"/><Relationship Id="rId6" Type="http://schemas.openxmlformats.org/officeDocument/2006/relationships/image" Target="../media/image-6-4.png"/><Relationship Id="rId7" Type="http://schemas.openxmlformats.org/officeDocument/2006/relationships/image" Target="../media/image-6-4.png"/><Relationship Id="rId8" Type="http://schemas.openxmlformats.org/officeDocument/2006/relationships/image" Target="../media/image-6-4.png"/><Relationship Id="rId9" Type="http://schemas.openxmlformats.org/officeDocument/2006/relationships/image" Target="../media/image-6-4.png"/><Relationship Id="rId10" Type="http://schemas.openxmlformats.org/officeDocument/2006/relationships/image" Target="../media/image-6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الترحيب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أهلًا بعالماتي الصغيرات! 🌿</a:t>
            </a:r>
            <a:endParaRPr lang="ar-SA" sz="1700" dirty="0"/>
          </a:p>
        </p:txBody>
      </p:sp>
      <p:pic>
        <p:nvPicPr>
          <p:cNvPr id="3" name="s1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466" y="1691640"/>
            <a:ext cx="3949908" cy="566928"/>
          </a:xfrm>
          <a:prstGeom prst="rect">
            <a:avLst/>
          </a:prstGeom>
        </p:spPr>
      </p:pic>
      <p:sp>
        <p:nvSpPr>
          <p:cNvPr id="4" name="s1_3"/>
          <p:cNvSpPr txBox="1"/>
          <p:nvPr/>
        </p:nvSpPr>
        <p:spPr>
          <a:xfrm>
            <a:off x="5029200" y="2514600"/>
            <a:ext cx="5806440" cy="548640"/>
          </a:xfrm>
          <a:prstGeom prst="roundRect">
            <a:avLst>
              <a:gd name="adj" fmla="val 50000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الدرس الثاني (تابع): العلاقات في الأنظمة البيئية</a:t>
            </a:r>
            <a:endParaRPr lang="ar-SA" sz="1700" dirty="0"/>
          </a:p>
        </p:txBody>
      </p:sp>
      <p:sp>
        <p:nvSpPr>
          <p:cNvPr id="5" name="s1_4"/>
          <p:cNvSpPr txBox="1"/>
          <p:nvPr/>
        </p:nvSpPr>
        <p:spPr>
          <a:xfrm>
            <a:off x="5943600" y="3246120"/>
            <a:ext cx="3977640" cy="502920"/>
          </a:xfrm>
          <a:prstGeom prst="roundRect">
            <a:avLst>
              <a:gd name="adj" fmla="val 49091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العلوم – الصف الرابع الابتدائي</a:t>
            </a:r>
            <a:endParaRPr lang="ar-SA" sz="1600" dirty="0"/>
          </a:p>
        </p:txBody>
      </p:sp>
      <p:sp>
        <p:nvSpPr>
          <p:cNvPr id="6" name="s1_5"/>
          <p:cNvSpPr txBox="1"/>
          <p:nvPr/>
        </p:nvSpPr>
        <p:spPr>
          <a:xfrm>
            <a:off x="5486400" y="3931920"/>
            <a:ext cx="4892040" cy="502920"/>
          </a:xfrm>
          <a:prstGeom prst="roundRect">
            <a:avLst>
              <a:gd name="adj" fmla="val 49091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المدرسة الابتدائية العشرون لتحفيظ القرآن</a:t>
            </a:r>
            <a:endParaRPr lang="ar-SA" sz="1500" dirty="0"/>
          </a:p>
        </p:txBody>
      </p:sp>
      <p:sp>
        <p:nvSpPr>
          <p:cNvPr id="7" name="s1_6"/>
          <p:cNvSpPr txBox="1"/>
          <p:nvPr/>
        </p:nvSpPr>
        <p:spPr>
          <a:xfrm>
            <a:off x="5029200" y="4617720"/>
            <a:ext cx="580644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اليوم: ............     التاريخ: ..../..../١٤٤٨هـ</a:t>
            </a:r>
            <a:endParaRPr lang="ar-SA" sz="15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التعزيز الإيجابي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نجمة ⭐ للمجموعة الملتزمة</a:t>
            </a:r>
            <a:endParaRPr lang="ar-SA" sz="1700" dirty="0"/>
          </a:p>
        </p:txBody>
      </p:sp>
      <p:pic>
        <p:nvPicPr>
          <p:cNvPr id="3" name="s2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1431" y="1691640"/>
            <a:ext cx="2867169" cy="566928"/>
          </a:xfrm>
          <a:prstGeom prst="rect">
            <a:avLst/>
          </a:prstGeom>
        </p:spPr>
      </p:pic>
      <p:sp>
        <p:nvSpPr>
          <p:cNvPr id="4" name="s2_3@c1"/>
          <p:cNvSpPr txBox="1"/>
          <p:nvPr/>
        </p:nvSpPr>
        <p:spPr>
          <a:xfrm>
            <a:off x="5303520" y="2468880"/>
            <a:ext cx="5394960" cy="502920"/>
          </a:xfrm>
          <a:prstGeom prst="roundRect">
            <a:avLst>
              <a:gd name="adj" fmla="val 21818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✋   أرفع يدي قبل أن أتحدث</a:t>
            </a:r>
            <a:endParaRPr lang="ar-SA" sz="1700" dirty="0"/>
          </a:p>
        </p:txBody>
      </p:sp>
      <p:sp>
        <p:nvSpPr>
          <p:cNvPr id="5" name="s2_4@c2"/>
          <p:cNvSpPr txBox="1"/>
          <p:nvPr/>
        </p:nvSpPr>
        <p:spPr>
          <a:xfrm>
            <a:off x="5303520" y="3072384"/>
            <a:ext cx="5394960" cy="502920"/>
          </a:xfrm>
          <a:prstGeom prst="roundRect">
            <a:avLst>
              <a:gd name="adj" fmla="val 21818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👂   أستمع لزميلتي باهتمام</a:t>
            </a:r>
            <a:endParaRPr lang="ar-SA" sz="1700" dirty="0"/>
          </a:p>
        </p:txBody>
      </p:sp>
      <p:sp>
        <p:nvSpPr>
          <p:cNvPr id="6" name="s2_5@c3"/>
          <p:cNvSpPr txBox="1"/>
          <p:nvPr/>
        </p:nvSpPr>
        <p:spPr>
          <a:xfrm>
            <a:off x="5303520" y="3675888"/>
            <a:ext cx="5394960" cy="502920"/>
          </a:xfrm>
          <a:prstGeom prst="roundRect">
            <a:avLst>
              <a:gd name="adj" fmla="val 21818"/>
            </a:avLst>
          </a:prstGeom>
          <a:solidFill>
            <a:srgbClr val="FDE4EC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🤝   أتعاون مع مجموعتي</a:t>
            </a:r>
            <a:endParaRPr lang="ar-SA" sz="1700" dirty="0"/>
          </a:p>
        </p:txBody>
      </p:sp>
      <p:sp>
        <p:nvSpPr>
          <p:cNvPr id="7" name="s2_6@c4"/>
          <p:cNvSpPr txBox="1"/>
          <p:nvPr/>
        </p:nvSpPr>
        <p:spPr>
          <a:xfrm>
            <a:off x="5303520" y="4279392"/>
            <a:ext cx="5394960" cy="502920"/>
          </a:xfrm>
          <a:prstGeom prst="roundRect">
            <a:avLst>
              <a:gd name="adj" fmla="val 21818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🧪   أستخدم الأدوات بأمان</a:t>
            </a:r>
            <a:endParaRPr lang="ar-SA" sz="1700" dirty="0"/>
          </a:p>
        </p:txBody>
      </p:sp>
      <p:sp>
        <p:nvSpPr>
          <p:cNvPr id="8" name="s2_7@c5"/>
          <p:cNvSpPr txBox="1"/>
          <p:nvPr/>
        </p:nvSpPr>
        <p:spPr>
          <a:xfrm>
            <a:off x="5303520" y="4882896"/>
            <a:ext cx="5394960" cy="502920"/>
          </a:xfrm>
          <a:prstGeom prst="roundRect">
            <a:avLst>
              <a:gd name="adj" fmla="val 21818"/>
            </a:avLst>
          </a:prstGeom>
          <a:solidFill>
            <a:srgbClr val="EEE8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🌟   أحترم آراء زميلاتي</a:t>
            </a:r>
            <a:endParaRPr lang="ar-SA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الانتماء الوطني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نعتزّ بعلمنا ونحترمه 🇸🇦</a:t>
            </a:r>
            <a:endParaRPr lang="ar-SA" sz="1700" dirty="0"/>
          </a:p>
        </p:txBody>
      </p:sp>
      <p:pic>
        <p:nvPicPr>
          <p:cNvPr id="3" name="s3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2958" y="1691640"/>
            <a:ext cx="2755642" cy="566928"/>
          </a:xfrm>
          <a:prstGeom prst="rect">
            <a:avLst/>
          </a:prstGeom>
        </p:spPr>
      </p:pic>
      <p:pic>
        <p:nvPicPr>
          <p:cNvPr id="4" name="s3_3" descr="علم المملكة العربية السعود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514600"/>
            <a:ext cx="2651760" cy="1988820"/>
          </a:xfrm>
          <a:prstGeom prst="rect">
            <a:avLst/>
          </a:prstGeom>
        </p:spPr>
      </p:pic>
      <p:sp>
        <p:nvSpPr>
          <p:cNvPr id="5" name="s3_4@c1"/>
          <p:cNvSpPr txBox="1"/>
          <p:nvPr/>
        </p:nvSpPr>
        <p:spPr>
          <a:xfrm>
            <a:off x="4206240" y="2514600"/>
            <a:ext cx="4526280" cy="1188720"/>
          </a:xfrm>
          <a:prstGeom prst="roundRect">
            <a:avLst>
              <a:gd name="adj" fmla="val 9231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علم المملكة أخضر، تتوسطه كلمة التوحيد: «لا إله إلا الله محمد رسول الله»، وتحتها سيف.</a:t>
            </a:r>
            <a:endParaRPr lang="ar-SA" sz="1600" dirty="0"/>
          </a:p>
        </p:txBody>
      </p:sp>
      <p:sp>
        <p:nvSpPr>
          <p:cNvPr id="6" name="s3_5@c2"/>
          <p:cNvSpPr txBox="1"/>
          <p:nvPr/>
        </p:nvSpPr>
        <p:spPr>
          <a:xfrm>
            <a:off x="4206240" y="3886200"/>
            <a:ext cx="4526280" cy="594360"/>
          </a:xfrm>
          <a:prstGeom prst="roundRect">
            <a:avLst>
              <a:gd name="adj" fmla="val 18462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كيف نحترم علمنا؟</a:t>
            </a:r>
            <a:endParaRPr lang="ar-SA" sz="1600" dirty="0"/>
          </a:p>
        </p:txBody>
      </p:sp>
      <p:sp>
        <p:nvSpPr>
          <p:cNvPr id="7" name="s3_6@c3"/>
          <p:cNvSpPr txBox="1"/>
          <p:nvPr/>
        </p:nvSpPr>
        <p:spPr>
          <a:xfrm>
            <a:off x="4206240" y="4617720"/>
            <a:ext cx="4526280" cy="685800"/>
          </a:xfrm>
          <a:prstGeom prst="roundRect">
            <a:avLst>
              <a:gd name="adj" fmla="val 16000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5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 نرميه، ولا نكتب عليه، ونقف له احترامًا.</a:t>
            </a:r>
            <a:endParaRPr lang="ar-SA" sz="1500" dirty="0"/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الاسترجاع – شريط الذكريات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نتذكر درس الشبكة الغذائية ص١١٤</a:t>
            </a:r>
            <a:endParaRPr lang="ar-SA" sz="1700" dirty="0"/>
          </a:p>
        </p:txBody>
      </p:sp>
      <p:pic>
        <p:nvPicPr>
          <p:cNvPr id="3" name="s4_2" descr="صفحة ١١٤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83994" cy="4343400"/>
          </a:xfrm>
          <a:prstGeom prst="rect">
            <a:avLst/>
          </a:prstGeom>
        </p:spPr>
      </p:pic>
      <p:pic>
        <p:nvPicPr>
          <p:cNvPr id="4" name="s4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394" y="1717251"/>
            <a:ext cx="3931206" cy="515707"/>
          </a:xfrm>
          <a:prstGeom prst="rect">
            <a:avLst/>
          </a:prstGeom>
        </p:spPr>
      </p:pic>
      <p:sp>
        <p:nvSpPr>
          <p:cNvPr id="5" name="page114_q0"/>
          <p:cNvSpPr txBox="1"/>
          <p:nvPr/>
        </p:nvSpPr>
        <p:spPr>
          <a:xfrm>
            <a:off x="9614373" y="237744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الشبكة الغذائية؟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4_4@t=page114_q0"/>
          <p:cNvSpPr txBox="1"/>
          <p:nvPr/>
        </p:nvSpPr>
        <p:spPr>
          <a:xfrm>
            <a:off x="7727394" y="237744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سلاسل غذائية متداخلة.</a:t>
            </a:r>
            <a:endParaRPr lang="ar-SA" sz="1350" dirty="0"/>
          </a:p>
        </p:txBody>
      </p:sp>
      <p:sp>
        <p:nvSpPr>
          <p:cNvPr id="7" name="s4_5@t=page114_q0"/>
          <p:cNvSpPr/>
          <p:nvPr/>
        </p:nvSpPr>
        <p:spPr>
          <a:xfrm>
            <a:off x="5249073" y="2452908"/>
            <a:ext cx="2028310" cy="391062"/>
          </a:xfrm>
          <a:prstGeom prst="roundRect">
            <a:avLst>
              <a:gd name="adj" fmla="val 9353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4_q1"/>
          <p:cNvSpPr txBox="1"/>
          <p:nvPr/>
        </p:nvSpPr>
        <p:spPr>
          <a:xfrm>
            <a:off x="9614373" y="341376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الفرق بين المفترس والفريسة؟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4_6@t=page114_q1"/>
          <p:cNvSpPr txBox="1"/>
          <p:nvPr/>
        </p:nvSpPr>
        <p:spPr>
          <a:xfrm>
            <a:off x="7727394" y="341376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المفترس يصطاد، والفريسة تُصطاد.</a:t>
            </a:r>
            <a:endParaRPr lang="ar-SA" sz="1350" dirty="0"/>
          </a:p>
        </p:txBody>
      </p:sp>
      <p:sp>
        <p:nvSpPr>
          <p:cNvPr id="10" name="s4_7@t=page114_q1"/>
          <p:cNvSpPr/>
          <p:nvPr/>
        </p:nvSpPr>
        <p:spPr>
          <a:xfrm>
            <a:off x="4988365" y="2870041"/>
            <a:ext cx="2289019" cy="286779"/>
          </a:xfrm>
          <a:prstGeom prst="roundRect">
            <a:avLst>
              <a:gd name="adj" fmla="val 12754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page114_q2"/>
          <p:cNvSpPr txBox="1"/>
          <p:nvPr/>
        </p:nvSpPr>
        <p:spPr>
          <a:xfrm>
            <a:off x="9614373" y="445008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قراءة الشكل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أيّ مفترس له أكبر عدد من الفرائس؟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2" name="s4_8@t=page114_q2"/>
          <p:cNvSpPr txBox="1"/>
          <p:nvPr/>
        </p:nvSpPr>
        <p:spPr>
          <a:xfrm>
            <a:off x="7727394" y="445008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الحوت القاتل.</a:t>
            </a:r>
            <a:endParaRPr lang="ar-SA" sz="1350" dirty="0"/>
          </a:p>
        </p:txBody>
      </p:sp>
      <p:sp>
        <p:nvSpPr>
          <p:cNvPr id="13" name="s4_9@t=page114_q2"/>
          <p:cNvSpPr/>
          <p:nvPr/>
        </p:nvSpPr>
        <p:spPr>
          <a:xfrm>
            <a:off x="6031198" y="4963529"/>
            <a:ext cx="1538179" cy="795160"/>
          </a:xfrm>
          <a:prstGeom prst="roundRect">
            <a:avLst>
              <a:gd name="adj" fmla="val 460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5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الفهم القرائي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نقرأ ص١١٥ ونبحث عن الدليل 🔍</a:t>
            </a:r>
            <a:endParaRPr lang="ar-SA" sz="1700" dirty="0"/>
          </a:p>
        </p:txBody>
      </p:sp>
      <p:pic>
        <p:nvPicPr>
          <p:cNvPr id="3" name="s5_2" descr="صفحة ١١٥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57611" cy="4343400"/>
          </a:xfrm>
          <a:prstGeom prst="rect">
            <a:avLst/>
          </a:prstGeom>
        </p:spPr>
      </p:pic>
      <p:pic>
        <p:nvPicPr>
          <p:cNvPr id="4" name="s5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806" y="1691640"/>
            <a:ext cx="3819794" cy="566928"/>
          </a:xfrm>
          <a:prstGeom prst="rect">
            <a:avLst/>
          </a:prstGeom>
        </p:spPr>
      </p:pic>
      <p:sp>
        <p:nvSpPr>
          <p:cNvPr id="5" name="page115_q0"/>
          <p:cNvSpPr txBox="1"/>
          <p:nvPr/>
        </p:nvSpPr>
        <p:spPr>
          <a:xfrm>
            <a:off x="9600654" y="237744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التنافس؟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5_4@t=page115_q0"/>
          <p:cNvSpPr txBox="1"/>
          <p:nvPr/>
        </p:nvSpPr>
        <p:spPr>
          <a:xfrm>
            <a:off x="7701011" y="237744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المخلوقات على الطعام والماء.</a:t>
            </a:r>
            <a:endParaRPr lang="ar-SA" sz="1350" dirty="0"/>
          </a:p>
        </p:txBody>
      </p:sp>
      <p:sp>
        <p:nvSpPr>
          <p:cNvPr id="7" name="s5_5@t=page115_q0"/>
          <p:cNvSpPr/>
          <p:nvPr/>
        </p:nvSpPr>
        <p:spPr>
          <a:xfrm>
            <a:off x="5707159" y="2210476"/>
            <a:ext cx="1834456" cy="518836"/>
          </a:xfrm>
          <a:prstGeom prst="roundRect">
            <a:avLst>
              <a:gd name="adj" fmla="val 705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5_q1"/>
          <p:cNvSpPr txBox="1"/>
          <p:nvPr/>
        </p:nvSpPr>
        <p:spPr>
          <a:xfrm>
            <a:off x="9600654" y="341376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استنتاجي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يحدث إذا أكلت الحيوانات النبات نفسه؟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5_6@t=page115_q1"/>
          <p:cNvSpPr txBox="1"/>
          <p:nvPr/>
        </p:nvSpPr>
        <p:spPr>
          <a:xfrm>
            <a:off x="7701011" y="341376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تتنافس على الغذاء.</a:t>
            </a:r>
            <a:endParaRPr lang="ar-SA" sz="1350" dirty="0"/>
          </a:p>
        </p:txBody>
      </p:sp>
      <p:sp>
        <p:nvSpPr>
          <p:cNvPr id="10" name="s5_7@t=page115_q1"/>
          <p:cNvSpPr/>
          <p:nvPr/>
        </p:nvSpPr>
        <p:spPr>
          <a:xfrm>
            <a:off x="5707159" y="2766372"/>
            <a:ext cx="1834456" cy="778254"/>
          </a:xfrm>
          <a:prstGeom prst="roundRect">
            <a:avLst>
              <a:gd name="adj" fmla="val 470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page115_q2"/>
          <p:cNvSpPr txBox="1"/>
          <p:nvPr/>
        </p:nvSpPr>
        <p:spPr>
          <a:xfrm>
            <a:off x="9600654" y="445008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على ماذا تتنافس النباتات؟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2" name="s5_8@t=page115_q2"/>
          <p:cNvSpPr txBox="1"/>
          <p:nvPr/>
        </p:nvSpPr>
        <p:spPr>
          <a:xfrm>
            <a:off x="7701011" y="445008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على ضوء الشمس والمواد المغذية.</a:t>
            </a:r>
            <a:endParaRPr lang="ar-SA" sz="1350" dirty="0"/>
          </a:p>
        </p:txBody>
      </p:sp>
      <p:sp>
        <p:nvSpPr>
          <p:cNvPr id="13" name="s5_9@t=page115_q2"/>
          <p:cNvSpPr/>
          <p:nvPr/>
        </p:nvSpPr>
        <p:spPr>
          <a:xfrm>
            <a:off x="5707159" y="3563156"/>
            <a:ext cx="1834456" cy="426187"/>
          </a:xfrm>
          <a:prstGeom prst="roundRect">
            <a:avLst>
              <a:gd name="adj" fmla="val 8582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wheel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6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المحاكاة – الواقع الافتراضي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🥽 تتبّعي كرة الطاقة ⚡ في الشكل</a:t>
            </a:r>
            <a:endParaRPr lang="ar-SA" sz="1700" dirty="0"/>
          </a:p>
        </p:txBody>
      </p:sp>
      <p:pic>
        <p:nvPicPr>
          <p:cNvPr id="3" name="s6_2" descr="شبكة غذائية على اليابسة من الكتا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1489801" cy="4343400"/>
          </a:xfrm>
          <a:prstGeom prst="rect">
            <a:avLst/>
          </a:prstGeom>
        </p:spPr>
      </p:pic>
      <p:pic>
        <p:nvPicPr>
          <p:cNvPr id="4" name="s6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3375" y="1691640"/>
            <a:ext cx="5525225" cy="566928"/>
          </a:xfrm>
          <a:prstGeom prst="rect">
            <a:avLst/>
          </a:prstGeom>
        </p:spPr>
      </p:pic>
      <p:pic>
        <p:nvPicPr>
          <p:cNvPr id="5" name="s6_4" descr="كرة الطاق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120" y="5149999"/>
            <a:ext cx="384048" cy="384048"/>
          </a:xfrm>
          <a:prstGeom prst="rect">
            <a:avLst/>
          </a:prstGeom>
        </p:spPr>
      </p:pic>
      <p:pic>
        <p:nvPicPr>
          <p:cNvPr id="6" name="s6_5" descr="كرة الطاقة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2116" y="4737286"/>
            <a:ext cx="320040" cy="320040"/>
          </a:xfrm>
          <a:prstGeom prst="rect">
            <a:avLst/>
          </a:prstGeom>
        </p:spPr>
      </p:pic>
      <p:sp>
        <p:nvSpPr>
          <p:cNvPr id="7" name="s6_6"/>
          <p:cNvSpPr txBox="1"/>
          <p:nvPr/>
        </p:nvSpPr>
        <p:spPr>
          <a:xfrm>
            <a:off x="5878921" y="2423160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١) عشب ← أرنب ← ثعلب</a:t>
            </a:r>
            <a:endParaRPr lang="ar-SA" sz="1550" dirty="0"/>
          </a:p>
        </p:txBody>
      </p:sp>
      <p:pic>
        <p:nvPicPr>
          <p:cNvPr id="8" name="s6_7" descr="كرة الطاقة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6008" y="5668835"/>
            <a:ext cx="384048" cy="384048"/>
          </a:xfrm>
          <a:prstGeom prst="rect">
            <a:avLst/>
          </a:prstGeom>
        </p:spPr>
      </p:pic>
      <p:pic>
        <p:nvPicPr>
          <p:cNvPr id="9" name="s6_8" descr="كرة الطاقة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2131" y="5441421"/>
            <a:ext cx="320040" cy="320040"/>
          </a:xfrm>
          <a:prstGeom prst="rect">
            <a:avLst/>
          </a:prstGeom>
        </p:spPr>
      </p:pic>
      <p:pic>
        <p:nvPicPr>
          <p:cNvPr id="10" name="s6_9" descr="كرة الطاقة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1762" y="5417836"/>
            <a:ext cx="256032" cy="256032"/>
          </a:xfrm>
          <a:prstGeom prst="rect">
            <a:avLst/>
          </a:prstGeom>
        </p:spPr>
      </p:pic>
      <p:sp>
        <p:nvSpPr>
          <p:cNvPr id="11" name="s6_10"/>
          <p:cNvSpPr txBox="1"/>
          <p:nvPr/>
        </p:nvSpPr>
        <p:spPr>
          <a:xfrm>
            <a:off x="5878921" y="3081528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٢) عشب ← فأر ← ثعبان ← نسر</a:t>
            </a:r>
            <a:endParaRPr lang="ar-SA" sz="1550" dirty="0"/>
          </a:p>
        </p:txBody>
      </p:sp>
      <p:pic>
        <p:nvPicPr>
          <p:cNvPr id="12" name="s6_11" descr="كرة الطاقة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1015" y="3111714"/>
            <a:ext cx="384048" cy="384048"/>
          </a:xfrm>
          <a:prstGeom prst="rect">
            <a:avLst/>
          </a:prstGeom>
        </p:spPr>
      </p:pic>
      <p:pic>
        <p:nvPicPr>
          <p:cNvPr id="13" name="s6_12" descr="كرة الطاقة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8900" y="2921360"/>
            <a:ext cx="320040" cy="320040"/>
          </a:xfrm>
          <a:prstGeom prst="rect">
            <a:avLst/>
          </a:prstGeom>
        </p:spPr>
      </p:pic>
      <p:sp>
        <p:nvSpPr>
          <p:cNvPr id="14" name="s6_13"/>
          <p:cNvSpPr txBox="1"/>
          <p:nvPr/>
        </p:nvSpPr>
        <p:spPr>
          <a:xfrm>
            <a:off x="5878921" y="3739896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٣) شجيرة ← عصفور ← نسر</a:t>
            </a:r>
            <a:endParaRPr lang="ar-SA" sz="1550" dirty="0"/>
          </a:p>
        </p:txBody>
      </p:sp>
      <p:sp>
        <p:nvSpPr>
          <p:cNvPr id="15" name="s6_14@c4"/>
          <p:cNvSpPr txBox="1"/>
          <p:nvPr/>
        </p:nvSpPr>
        <p:spPr>
          <a:xfrm>
            <a:off x="5878921" y="4434840"/>
            <a:ext cx="3356519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سؤال: </a:t>
            </a: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الأرنب والفأر يأكلان العشب… ماذا يحدث بينهما؟</a:t>
            </a:r>
            <a:endParaRPr lang="ar-SA" sz="1450" dirty="0"/>
          </a:p>
        </p:txBody>
      </p:sp>
      <p:sp>
        <p:nvSpPr>
          <p:cNvPr id="16" name="s6_15@c5"/>
          <p:cNvSpPr txBox="1"/>
          <p:nvPr/>
        </p:nvSpPr>
        <p:spPr>
          <a:xfrm>
            <a:off x="5878921" y="5212080"/>
            <a:ext cx="3356519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5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يتنافسان على العشب.</a:t>
            </a:r>
            <a:endParaRPr lang="ar-SA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0258 -0.0648 E" pathEditMode="relative" ptsTypes="">
                                      <p:cBhvr>
                                        <p:cTn id="11" dur="1000" fill="hold" accel="40000" decel="4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0.0547 -0.0351 E" pathEditMode="relative" ptsTypes="">
                                      <p:cBhvr>
                                        <p:cTn id="21" dur="1000" fill="hold" accel="40000" decel="4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.0061 -0.0378 E" pathEditMode="relative" ptsTypes="">
                                      <p:cBhvr>
                                        <p:cTn id="36" dur="1000" fill="hold" accel="40000" decel="4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-0.0699 -0.0081 E" pathEditMode="relative" ptsTypes="">
                                      <p:cBhvr>
                                        <p:cTn id="46" dur="1000" fill="hold" accel="40000" decel="4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animMotion origin="layout" path="M 0 0 L 0.0502 -0.4350 E" pathEditMode="relative" ptsTypes="">
                                      <p:cBhvr>
                                        <p:cTn id="56" dur="1000" fill="hold" accel="40000" decel="4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2" nodeType="withEffect">
                                  <p:stCondLst>
                                    <p:cond delay="3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0061 -0.0324 E" pathEditMode="relative" ptsTypes="">
                                      <p:cBhvr>
                                        <p:cTn id="71" dur="1000" fill="hold" accel="40000" decel="4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-0.0334 -0.0757 E" pathEditMode="relative" ptsTypes="">
                                      <p:cBhvr>
                                        <p:cTn id="81" dur="1000" fill="hold" accel="40000" decel="4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4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7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الاستنتاج – التفكير الناقد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أسئلة «أختبر نفسي» من الكتاب</a:t>
            </a:r>
            <a:endParaRPr lang="ar-SA" sz="1700" dirty="0"/>
          </a:p>
        </p:txBody>
      </p:sp>
      <p:pic>
        <p:nvPicPr>
          <p:cNvPr id="3" name="s7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8873" y="1691640"/>
            <a:ext cx="4149727" cy="566928"/>
          </a:xfrm>
          <a:prstGeom prst="rect">
            <a:avLst/>
          </a:prstGeom>
        </p:spPr>
      </p:pic>
      <p:sp>
        <p:nvSpPr>
          <p:cNvPr id="4" name="s7_3"/>
          <p:cNvSpPr txBox="1"/>
          <p:nvPr/>
        </p:nvSpPr>
        <p:spPr>
          <a:xfrm>
            <a:off x="10332720" y="2423160"/>
            <a:ext cx="1325880" cy="1440180"/>
          </a:xfrm>
          <a:prstGeom prst="roundRect">
            <a:avLst>
              <a:gd name="adj" fmla="val 8276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أستنتج</a:t>
            </a:r>
            <a:endParaRPr lang="ar-SA" sz="1450" dirty="0"/>
          </a:p>
        </p:txBody>
      </p:sp>
      <p:sp>
        <p:nvSpPr>
          <p:cNvPr id="5" name="s7_4"/>
          <p:cNvSpPr txBox="1"/>
          <p:nvPr/>
        </p:nvSpPr>
        <p:spPr>
          <a:xfrm>
            <a:off x="6949440" y="2423160"/>
            <a:ext cx="3291840" cy="144018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أيّ الحيوانات في شبكة المحيط يتنافس مع الحوت القاتل على الأسماك؟</a:t>
            </a:r>
            <a:endParaRPr lang="ar-SA" sz="1450" dirty="0"/>
          </a:p>
        </p:txBody>
      </p:sp>
      <p:sp>
        <p:nvSpPr>
          <p:cNvPr id="6" name="s7_5@c1"/>
          <p:cNvSpPr txBox="1"/>
          <p:nvPr/>
        </p:nvSpPr>
        <p:spPr>
          <a:xfrm>
            <a:off x="4206240" y="2423160"/>
            <a:ext cx="2651760" cy="1440180"/>
          </a:xfrm>
          <a:prstGeom prst="roundRect">
            <a:avLst>
              <a:gd name="adj" fmla="val 7619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الدلفين، والتونة، والنورس.</a:t>
            </a:r>
            <a:endParaRPr lang="ar-SA" sz="1350" dirty="0"/>
          </a:p>
        </p:txBody>
      </p:sp>
      <p:sp>
        <p:nvSpPr>
          <p:cNvPr id="7" name="s7_6"/>
          <p:cNvSpPr txBox="1"/>
          <p:nvPr/>
        </p:nvSpPr>
        <p:spPr>
          <a:xfrm>
            <a:off x="10332720" y="3954780"/>
            <a:ext cx="1325880" cy="1440180"/>
          </a:xfrm>
          <a:prstGeom prst="roundRect">
            <a:avLst>
              <a:gd name="adj" fmla="val 8276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التفكير الناقد</a:t>
            </a:r>
            <a:endParaRPr lang="ar-SA" sz="1450" dirty="0"/>
          </a:p>
        </p:txBody>
      </p:sp>
      <p:sp>
        <p:nvSpPr>
          <p:cNvPr id="8" name="s7_7"/>
          <p:cNvSpPr txBox="1"/>
          <p:nvPr/>
        </p:nvSpPr>
        <p:spPr>
          <a:xfrm>
            <a:off x="6949440" y="3954780"/>
            <a:ext cx="3291840" cy="144018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أستنتج أربع سلاسل غذائية من شبكة اليابسة.</a:t>
            </a:r>
            <a:endParaRPr lang="ar-SA" sz="1450" dirty="0"/>
          </a:p>
        </p:txBody>
      </p:sp>
      <p:sp>
        <p:nvSpPr>
          <p:cNvPr id="9" name="s7_8@c2"/>
          <p:cNvSpPr txBox="1"/>
          <p:nvPr/>
        </p:nvSpPr>
        <p:spPr>
          <a:xfrm>
            <a:off x="4206240" y="3954780"/>
            <a:ext cx="2651760" cy="1440180"/>
          </a:xfrm>
          <a:prstGeom prst="roundRect">
            <a:avLst>
              <a:gd name="adj" fmla="val 7619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أرنب ← ثعلب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ثعلب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ثعبان ← نسر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شجيرة ← عصفور ← نسر</a:t>
            </a:r>
            <a:endParaRPr lang="ar-SA" sz="1350" dirty="0"/>
          </a:p>
        </p:txBody>
      </p:sp>
    </p:spTree>
  </p:cSld>
  <p:clrMapOvr>
    <a:masterClrMapping/>
  </p:clrMapOvr>
  <p:transition spd="med">
    <p:spli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8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الفهم القرائي – قراءة الشكل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نقرأ ص١١٦ وننظر إلى الهرم 🔺</a:t>
            </a:r>
            <a:endParaRPr lang="ar-SA" sz="1700" dirty="0"/>
          </a:p>
        </p:txBody>
      </p:sp>
      <p:pic>
        <p:nvPicPr>
          <p:cNvPr id="3" name="s8_2" descr="صفحة ١١٦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090175" cy="4343400"/>
          </a:xfrm>
          <a:prstGeom prst="rect">
            <a:avLst/>
          </a:prstGeom>
        </p:spPr>
      </p:pic>
      <p:pic>
        <p:nvPicPr>
          <p:cNvPr id="4" name="s8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335" y="1691640"/>
            <a:ext cx="3787265" cy="566928"/>
          </a:xfrm>
          <a:prstGeom prst="rect">
            <a:avLst/>
          </a:prstGeom>
        </p:spPr>
      </p:pic>
      <p:sp>
        <p:nvSpPr>
          <p:cNvPr id="5" name="page116_q0"/>
          <p:cNvSpPr txBox="1"/>
          <p:nvPr/>
        </p:nvSpPr>
        <p:spPr>
          <a:xfrm>
            <a:off x="9461587" y="237744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هرم الطاقة؟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8_4@t=page116_q0"/>
          <p:cNvSpPr txBox="1"/>
          <p:nvPr/>
        </p:nvSpPr>
        <p:spPr>
          <a:xfrm>
            <a:off x="7433575" y="237744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شكل يبيّن كمية الطاقة في كل مستوى.</a:t>
            </a:r>
            <a:endParaRPr lang="ar-SA" sz="1350" dirty="0"/>
          </a:p>
        </p:txBody>
      </p:sp>
      <p:sp>
        <p:nvSpPr>
          <p:cNvPr id="7" name="s8_5@t=page116_q0"/>
          <p:cNvSpPr/>
          <p:nvPr/>
        </p:nvSpPr>
        <p:spPr>
          <a:xfrm>
            <a:off x="5874029" y="2191977"/>
            <a:ext cx="1143627" cy="243021"/>
          </a:xfrm>
          <a:prstGeom prst="roundRect">
            <a:avLst>
              <a:gd name="adj" fmla="val 15051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6_q1"/>
          <p:cNvSpPr txBox="1"/>
          <p:nvPr/>
        </p:nvSpPr>
        <p:spPr>
          <a:xfrm>
            <a:off x="9461587" y="341376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قراءة الشكل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يوجد في قاعدة الهرم؟ ولماذا؟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8_6@t=page116_q1"/>
          <p:cNvSpPr txBox="1"/>
          <p:nvPr/>
        </p:nvSpPr>
        <p:spPr>
          <a:xfrm>
            <a:off x="7433575" y="341376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المنتجات؛ لأن عندها أكبر طاقة.</a:t>
            </a:r>
            <a:endParaRPr lang="ar-SA" sz="1350" dirty="0"/>
          </a:p>
        </p:txBody>
      </p:sp>
      <p:sp>
        <p:nvSpPr>
          <p:cNvPr id="10" name="s8_7@t=page116_q1"/>
          <p:cNvSpPr/>
          <p:nvPr/>
        </p:nvSpPr>
        <p:spPr>
          <a:xfrm>
            <a:off x="5874029" y="2315870"/>
            <a:ext cx="1143627" cy="662351"/>
          </a:xfrm>
          <a:prstGeom prst="roundRect">
            <a:avLst>
              <a:gd name="adj" fmla="val 5522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s8_8@t=page116_q1"/>
          <p:cNvSpPr/>
          <p:nvPr/>
        </p:nvSpPr>
        <p:spPr>
          <a:xfrm>
            <a:off x="5075873" y="4884265"/>
            <a:ext cx="1751179" cy="762418"/>
          </a:xfrm>
          <a:prstGeom prst="roundRect">
            <a:avLst>
              <a:gd name="adj" fmla="val 4797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2" name="page116_q2"/>
          <p:cNvSpPr txBox="1"/>
          <p:nvPr/>
        </p:nvSpPr>
        <p:spPr>
          <a:xfrm>
            <a:off x="9461587" y="445008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 ينتقل من طاقة النبات إلى آكلات الأعشاب؟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3" name="s8_9@t=page116_q2"/>
          <p:cNvSpPr txBox="1"/>
          <p:nvPr/>
        </p:nvSpPr>
        <p:spPr>
          <a:xfrm>
            <a:off x="7433575" y="445008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١٠٪ فقط، والباقي يُفقد حرارة.</a:t>
            </a:r>
            <a:endParaRPr lang="ar-SA" sz="1350" dirty="0"/>
          </a:p>
        </p:txBody>
      </p:sp>
      <p:sp>
        <p:nvSpPr>
          <p:cNvPr id="14" name="s8_10@t=page116_q2"/>
          <p:cNvSpPr/>
          <p:nvPr/>
        </p:nvSpPr>
        <p:spPr>
          <a:xfrm>
            <a:off x="5874029" y="3025871"/>
            <a:ext cx="1143627" cy="476511"/>
          </a:xfrm>
          <a:prstGeom prst="roundRect">
            <a:avLst>
              <a:gd name="adj" fmla="val 7676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2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9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المقارنة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نقارن بين اليابسة والماء 🌵🌊</a:t>
            </a:r>
            <a:endParaRPr lang="ar-SA" sz="1700" dirty="0"/>
          </a:p>
        </p:txBody>
      </p:sp>
      <p:pic>
        <p:nvPicPr>
          <p:cNvPr id="3" name="s9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886" y="1691640"/>
            <a:ext cx="4702714" cy="566928"/>
          </a:xfrm>
          <a:prstGeom prst="rect">
            <a:avLst/>
          </a:prstGeom>
        </p:spPr>
      </p:pic>
      <p:sp>
        <p:nvSpPr>
          <p:cNvPr id="4" name="s9_3"/>
          <p:cNvSpPr txBox="1"/>
          <p:nvPr/>
        </p:nvSpPr>
        <p:spPr>
          <a:xfrm>
            <a:off x="9646920" y="2423160"/>
            <a:ext cx="1938528" cy="457200"/>
          </a:xfrm>
          <a:prstGeom prst="roundRect">
            <a:avLst>
              <a:gd name="adj" fmla="val 24000"/>
            </a:avLst>
          </a:prstGeom>
          <a:solidFill>
            <a:srgbClr val="1B5E20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وجه المقارنة</a:t>
            </a:r>
            <a:endParaRPr lang="ar-SA" sz="1500" dirty="0"/>
          </a:p>
        </p:txBody>
      </p:sp>
      <p:sp>
        <p:nvSpPr>
          <p:cNvPr id="5" name="s9_4"/>
          <p:cNvSpPr txBox="1"/>
          <p:nvPr/>
        </p:nvSpPr>
        <p:spPr>
          <a:xfrm>
            <a:off x="6720840" y="2423160"/>
            <a:ext cx="2532888" cy="457200"/>
          </a:xfrm>
          <a:prstGeom prst="roundRect">
            <a:avLst>
              <a:gd name="adj" fmla="val 24000"/>
            </a:avLst>
          </a:prstGeom>
          <a:solidFill>
            <a:srgbClr val="A87400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اليابسة 🌵</a:t>
            </a:r>
            <a:endParaRPr lang="ar-SA" sz="1500" dirty="0"/>
          </a:p>
        </p:txBody>
      </p:sp>
      <p:sp>
        <p:nvSpPr>
          <p:cNvPr id="6" name="s9_5"/>
          <p:cNvSpPr txBox="1"/>
          <p:nvPr/>
        </p:nvSpPr>
        <p:spPr>
          <a:xfrm>
            <a:off x="4206240" y="2423160"/>
            <a:ext cx="2350008" cy="457200"/>
          </a:xfrm>
          <a:prstGeom prst="roundRect">
            <a:avLst>
              <a:gd name="adj" fmla="val 24000"/>
            </a:avLst>
          </a:prstGeom>
          <a:solidFill>
            <a:srgbClr val="0E6F8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الماء 🌊</a:t>
            </a:r>
            <a:endParaRPr lang="ar-SA" sz="1500" dirty="0"/>
          </a:p>
        </p:txBody>
      </p:sp>
      <p:sp>
        <p:nvSpPr>
          <p:cNvPr id="7" name="s9_6"/>
          <p:cNvSpPr txBox="1"/>
          <p:nvPr/>
        </p:nvSpPr>
        <p:spPr>
          <a:xfrm>
            <a:off x="9646920" y="2971800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المنتِج</a:t>
            </a:r>
            <a:endParaRPr lang="ar-SA" sz="1450" dirty="0"/>
          </a:p>
        </p:txBody>
      </p:sp>
      <p:sp>
        <p:nvSpPr>
          <p:cNvPr id="8" name="s9_7@c1"/>
          <p:cNvSpPr txBox="1"/>
          <p:nvPr/>
        </p:nvSpPr>
        <p:spPr>
          <a:xfrm>
            <a:off x="6720840" y="2971800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العشب والنباتات</a:t>
            </a:r>
            <a:endParaRPr lang="ar-SA" sz="1350" dirty="0"/>
          </a:p>
        </p:txBody>
      </p:sp>
      <p:sp>
        <p:nvSpPr>
          <p:cNvPr id="9" name="s9_8@c1"/>
          <p:cNvSpPr txBox="1"/>
          <p:nvPr/>
        </p:nvSpPr>
        <p:spPr>
          <a:xfrm>
            <a:off x="4206240" y="2971800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الطحالب والعوالق</a:t>
            </a:r>
            <a:endParaRPr lang="ar-SA" sz="1350" dirty="0"/>
          </a:p>
        </p:txBody>
      </p:sp>
      <p:sp>
        <p:nvSpPr>
          <p:cNvPr id="10" name="s9_9"/>
          <p:cNvSpPr txBox="1"/>
          <p:nvPr/>
        </p:nvSpPr>
        <p:spPr>
          <a:xfrm>
            <a:off x="9646920" y="3593592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سلسلة</a:t>
            </a:r>
            <a:endParaRPr lang="ar-SA" sz="1450" dirty="0"/>
          </a:p>
        </p:txBody>
      </p:sp>
      <p:sp>
        <p:nvSpPr>
          <p:cNvPr id="11" name="s9_10@c2"/>
          <p:cNvSpPr txBox="1"/>
          <p:nvPr/>
        </p:nvSpPr>
        <p:spPr>
          <a:xfrm>
            <a:off x="6720840" y="3593592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ثعبان ← نسر</a:t>
            </a:r>
            <a:endParaRPr lang="ar-SA" sz="1350" dirty="0"/>
          </a:p>
        </p:txBody>
      </p:sp>
      <p:sp>
        <p:nvSpPr>
          <p:cNvPr id="12" name="s9_11@c2"/>
          <p:cNvSpPr txBox="1"/>
          <p:nvPr/>
        </p:nvSpPr>
        <p:spPr>
          <a:xfrm>
            <a:off x="4206240" y="3593592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عوالق ← سردين ← تونة ← حوت</a:t>
            </a:r>
            <a:endParaRPr lang="ar-SA" sz="1350" dirty="0"/>
          </a:p>
        </p:txBody>
      </p:sp>
      <p:sp>
        <p:nvSpPr>
          <p:cNvPr id="13" name="s9_12"/>
          <p:cNvSpPr txBox="1"/>
          <p:nvPr/>
        </p:nvSpPr>
        <p:spPr>
          <a:xfrm>
            <a:off x="9646920" y="4215384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اللحوم</a:t>
            </a:r>
            <a:endParaRPr lang="ar-SA" sz="1450" dirty="0"/>
          </a:p>
        </p:txBody>
      </p:sp>
      <p:sp>
        <p:nvSpPr>
          <p:cNvPr id="14" name="s9_13@c3"/>
          <p:cNvSpPr txBox="1"/>
          <p:nvPr/>
        </p:nvSpPr>
        <p:spPr>
          <a:xfrm>
            <a:off x="6720840" y="4215384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أقلّ</a:t>
            </a:r>
            <a:endParaRPr lang="ar-SA" sz="1350" dirty="0"/>
          </a:p>
        </p:txBody>
      </p:sp>
      <p:sp>
        <p:nvSpPr>
          <p:cNvPr id="15" name="s9_14@c3"/>
          <p:cNvSpPr txBox="1"/>
          <p:nvPr/>
        </p:nvSpPr>
        <p:spPr>
          <a:xfrm>
            <a:off x="4206240" y="4215384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أكثر</a:t>
            </a:r>
            <a:endParaRPr lang="ar-SA" sz="1350" dirty="0"/>
          </a:p>
        </p:txBody>
      </p:sp>
      <p:sp>
        <p:nvSpPr>
          <p:cNvPr id="16" name="s9_15@c4"/>
          <p:cNvSpPr txBox="1"/>
          <p:nvPr/>
        </p:nvSpPr>
        <p:spPr>
          <a:xfrm>
            <a:off x="4206240" y="4892040"/>
            <a:ext cx="5029200" cy="548640"/>
          </a:xfrm>
          <a:prstGeom prst="roundRect">
            <a:avLst>
              <a:gd name="adj" fmla="val 20000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آكلات اللحوم في الماء أكثر؟ </a:t>
            </a: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لأن الطحالب والعوالق كثيرة وتتكاثر بسرعة.</a:t>
            </a:r>
            <a:endParaRPr lang="ar-SA" sz="1350" dirty="0"/>
          </a:p>
        </p:txBody>
      </p:sp>
    </p:spTree>
  </p:cSld>
  <p:clrMapOvr>
    <a:masterClrMapping/>
  </p:clrMapOvr>
  <p:transition spd="med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مستويات التفكير الثلاثة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أكتشف • أفكّر • أتحدّى نفسي</a:t>
            </a:r>
            <a:endParaRPr lang="ar-SA" sz="1700" dirty="0"/>
          </a:p>
        </p:txBody>
      </p:sp>
      <p:pic>
        <p:nvPicPr>
          <p:cNvPr id="3" name="s10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2023" y="1691640"/>
            <a:ext cx="3006577" cy="566928"/>
          </a:xfrm>
          <a:prstGeom prst="rect">
            <a:avLst/>
          </a:prstGeom>
        </p:spPr>
      </p:pic>
      <p:sp>
        <p:nvSpPr>
          <p:cNvPr id="4" name="s10_3"/>
          <p:cNvSpPr txBox="1"/>
          <p:nvPr/>
        </p:nvSpPr>
        <p:spPr>
          <a:xfrm>
            <a:off x="10332720" y="242316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أكتشف</a:t>
            </a:r>
            <a:endParaRPr lang="ar-SA" sz="1450" dirty="0"/>
          </a:p>
        </p:txBody>
      </p:sp>
      <p:sp>
        <p:nvSpPr>
          <p:cNvPr id="5" name="s10_4"/>
          <p:cNvSpPr txBox="1"/>
          <p:nvPr/>
        </p:nvSpPr>
        <p:spPr>
          <a:xfrm>
            <a:off x="6949440" y="242316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التنافس؟</a:t>
            </a:r>
            <a:endParaRPr lang="ar-SA" sz="1450" dirty="0"/>
          </a:p>
        </p:txBody>
      </p:sp>
      <p:sp>
        <p:nvSpPr>
          <p:cNvPr id="6" name="s10_5@c1"/>
          <p:cNvSpPr txBox="1"/>
          <p:nvPr/>
        </p:nvSpPr>
        <p:spPr>
          <a:xfrm>
            <a:off x="4206240" y="242316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على الطعام والماء.</a:t>
            </a:r>
            <a:endParaRPr lang="ar-SA" sz="1350" dirty="0"/>
          </a:p>
        </p:txBody>
      </p:sp>
      <p:sp>
        <p:nvSpPr>
          <p:cNvPr id="7" name="s10_6"/>
          <p:cNvSpPr txBox="1"/>
          <p:nvPr/>
        </p:nvSpPr>
        <p:spPr>
          <a:xfrm>
            <a:off x="10332720" y="344424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أفكّر</a:t>
            </a:r>
            <a:endParaRPr lang="ar-SA" sz="1450" dirty="0"/>
          </a:p>
        </p:txBody>
      </p:sp>
      <p:sp>
        <p:nvSpPr>
          <p:cNvPr id="8" name="s10_7"/>
          <p:cNvSpPr txBox="1"/>
          <p:nvPr/>
        </p:nvSpPr>
        <p:spPr>
          <a:xfrm>
            <a:off x="6949440" y="344424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تكون المنتجات أكثر من المستهلكات؟</a:t>
            </a:r>
            <a:endParaRPr lang="ar-SA" sz="1450" dirty="0"/>
          </a:p>
        </p:txBody>
      </p:sp>
      <p:sp>
        <p:nvSpPr>
          <p:cNvPr id="9" name="s10_8@c2"/>
          <p:cNvSpPr txBox="1"/>
          <p:nvPr/>
        </p:nvSpPr>
        <p:spPr>
          <a:xfrm>
            <a:off x="4206240" y="344424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لأن الطاقة تقلّ في كل مستوى.</a:t>
            </a:r>
            <a:endParaRPr lang="ar-SA" sz="1350" dirty="0"/>
          </a:p>
        </p:txBody>
      </p:sp>
      <p:sp>
        <p:nvSpPr>
          <p:cNvPr id="10" name="s10_9"/>
          <p:cNvSpPr txBox="1"/>
          <p:nvPr/>
        </p:nvSpPr>
        <p:spPr>
          <a:xfrm>
            <a:off x="10332720" y="446532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DE4EC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أتحدّى نفسي</a:t>
            </a:r>
            <a:endParaRPr lang="ar-SA" sz="1450" dirty="0"/>
          </a:p>
        </p:txBody>
      </p:sp>
      <p:sp>
        <p:nvSpPr>
          <p:cNvPr id="11" name="s10_10"/>
          <p:cNvSpPr txBox="1"/>
          <p:nvPr/>
        </p:nvSpPr>
        <p:spPr>
          <a:xfrm>
            <a:off x="6949440" y="446532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لو زادت الأرانب كثيرًا، ماذا يحدث للعشب؟</a:t>
            </a:r>
            <a:endParaRPr lang="ar-SA" sz="1450" dirty="0"/>
          </a:p>
        </p:txBody>
      </p:sp>
      <p:sp>
        <p:nvSpPr>
          <p:cNvPr id="12" name="s10_11@c3"/>
          <p:cNvSpPr txBox="1"/>
          <p:nvPr/>
        </p:nvSpPr>
        <p:spPr>
          <a:xfrm>
            <a:off x="4206240" y="446532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يقلّ العشب، ويزيد التنافس.</a:t>
            </a:r>
            <a:endParaRPr lang="ar-SA" sz="13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1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مراجعة الدرس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أسئلة «أفكّر وأتحدّث وأكتب» ص١١٧</a:t>
            </a:r>
            <a:endParaRPr lang="ar-SA" sz="1700" dirty="0"/>
          </a:p>
        </p:txBody>
      </p:sp>
      <p:pic>
        <p:nvPicPr>
          <p:cNvPr id="3" name="s11_2" descr="صفحة ١١٧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05713" cy="4343400"/>
          </a:xfrm>
          <a:prstGeom prst="rect">
            <a:avLst/>
          </a:prstGeom>
        </p:spPr>
      </p:pic>
      <p:pic>
        <p:nvPicPr>
          <p:cNvPr id="4" name="s11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113" y="1738109"/>
            <a:ext cx="4009487" cy="473990"/>
          </a:xfrm>
          <a:prstGeom prst="rect">
            <a:avLst/>
          </a:prstGeom>
        </p:spPr>
      </p:pic>
      <p:sp>
        <p:nvSpPr>
          <p:cNvPr id="5" name="page117_q0"/>
          <p:cNvSpPr txBox="1"/>
          <p:nvPr/>
        </p:nvSpPr>
        <p:spPr>
          <a:xfrm>
            <a:off x="9573667" y="237744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 المفردات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المحلِّلات؟ أعطي أمثلة.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11_4@t=page117_q0"/>
          <p:cNvSpPr txBox="1"/>
          <p:nvPr/>
        </p:nvSpPr>
        <p:spPr>
          <a:xfrm>
            <a:off x="7649113" y="237744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تحلّل بقايا المخلوقات الميتة: البكتيريا والفطريات والديدان.</a:t>
            </a:r>
            <a:endParaRPr lang="ar-SA" sz="1350" dirty="0"/>
          </a:p>
        </p:txBody>
      </p:sp>
      <p:sp>
        <p:nvSpPr>
          <p:cNvPr id="7" name="page117_q1"/>
          <p:cNvSpPr txBox="1"/>
          <p:nvPr/>
        </p:nvSpPr>
        <p:spPr>
          <a:xfrm>
            <a:off x="9573667" y="341376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 أستنتج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اللحوم أكثر من آكلات الأعشاب… هل هذا التعداد كامل؟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8" name="s11_5@t=page117_q1"/>
          <p:cNvSpPr txBox="1"/>
          <p:nvPr/>
        </p:nvSpPr>
        <p:spPr>
          <a:xfrm>
            <a:off x="7649113" y="341376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لا؛ آكلات الأعشاب يجب أن تكون أكثر.</a:t>
            </a:r>
            <a:endParaRPr lang="ar-SA" sz="1350" dirty="0"/>
          </a:p>
        </p:txBody>
      </p:sp>
      <p:sp>
        <p:nvSpPr>
          <p:cNvPr id="9" name="page117_q2"/>
          <p:cNvSpPr txBox="1"/>
          <p:nvPr/>
        </p:nvSpPr>
        <p:spPr>
          <a:xfrm>
            <a:off x="9573667" y="445008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 التفكير الناقد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أسنان آكلات اللحوم حادّة؟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0" name="s11_6@t=page117_q2"/>
          <p:cNvSpPr txBox="1"/>
          <p:nvPr/>
        </p:nvSpPr>
        <p:spPr>
          <a:xfrm>
            <a:off x="7649113" y="445008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لتمسك الفريسة وتقطع اللحم.</a:t>
            </a:r>
            <a:endParaRPr lang="ar-SA" sz="1350" dirty="0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7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9"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2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مراجعة الدرس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تكملة أسئلة ص١١٧</a:t>
            </a:r>
            <a:endParaRPr lang="ar-SA" sz="1700" dirty="0"/>
          </a:p>
        </p:txBody>
      </p:sp>
      <p:pic>
        <p:nvPicPr>
          <p:cNvPr id="3" name="s12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694" y="1691640"/>
            <a:ext cx="4028906" cy="566928"/>
          </a:xfrm>
          <a:prstGeom prst="rect">
            <a:avLst/>
          </a:prstGeom>
        </p:spPr>
      </p:pic>
      <p:sp>
        <p:nvSpPr>
          <p:cNvPr id="4" name="s12_3"/>
          <p:cNvSpPr txBox="1"/>
          <p:nvPr/>
        </p:nvSpPr>
        <p:spPr>
          <a:xfrm>
            <a:off x="10332720" y="242316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٤ أختار</a:t>
            </a:r>
            <a:endParaRPr lang="ar-SA" sz="1450" dirty="0"/>
          </a:p>
        </p:txBody>
      </p:sp>
      <p:sp>
        <p:nvSpPr>
          <p:cNvPr id="5" name="s12_4"/>
          <p:cNvSpPr txBox="1"/>
          <p:nvPr/>
        </p:nvSpPr>
        <p:spPr>
          <a:xfrm>
            <a:off x="6949440" y="242316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ينشأ عن اتحاد سلسلتي غذاء أو أكثر: (أ) نظام بيئي (ب) شبكة غذاء (ج) مجتمع حيوي (د) هرم غذاء</a:t>
            </a:r>
            <a:endParaRPr lang="ar-SA" sz="1450" dirty="0"/>
          </a:p>
        </p:txBody>
      </p:sp>
      <p:sp>
        <p:nvSpPr>
          <p:cNvPr id="6" name="s12_5@c1"/>
          <p:cNvSpPr txBox="1"/>
          <p:nvPr/>
        </p:nvSpPr>
        <p:spPr>
          <a:xfrm>
            <a:off x="4206240" y="242316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(ب) شبكة غذاء.</a:t>
            </a:r>
            <a:endParaRPr lang="ar-SA" sz="1350" dirty="0"/>
          </a:p>
        </p:txBody>
      </p:sp>
      <p:sp>
        <p:nvSpPr>
          <p:cNvPr id="7" name="s12_6"/>
          <p:cNvSpPr txBox="1"/>
          <p:nvPr/>
        </p:nvSpPr>
        <p:spPr>
          <a:xfrm>
            <a:off x="10332720" y="344424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٥ السؤال الأساسي</a:t>
            </a:r>
            <a:endParaRPr lang="ar-SA" sz="1450" dirty="0"/>
          </a:p>
        </p:txBody>
      </p:sp>
      <p:sp>
        <p:nvSpPr>
          <p:cNvPr id="8" name="s12_7"/>
          <p:cNvSpPr txBox="1"/>
          <p:nvPr/>
        </p:nvSpPr>
        <p:spPr>
          <a:xfrm>
            <a:off x="6949440" y="344424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كيف تحصل المخلوقات الحية على الطاقة؟</a:t>
            </a:r>
            <a:endParaRPr lang="ar-SA" sz="1450" dirty="0"/>
          </a:p>
        </p:txBody>
      </p:sp>
      <p:sp>
        <p:nvSpPr>
          <p:cNvPr id="9" name="s12_8@c2"/>
          <p:cNvSpPr txBox="1"/>
          <p:nvPr/>
        </p:nvSpPr>
        <p:spPr>
          <a:xfrm>
            <a:off x="4206240" y="344424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المنتجات من الشمس، والمستهلكات بالأكل، والمحللات من البقايا الميتة.</a:t>
            </a:r>
            <a:endParaRPr lang="ar-SA" sz="1350" dirty="0"/>
          </a:p>
        </p:txBody>
      </p:sp>
      <p:sp>
        <p:nvSpPr>
          <p:cNvPr id="10" name="s12_9"/>
          <p:cNvSpPr txBox="1"/>
          <p:nvPr/>
        </p:nvSpPr>
        <p:spPr>
          <a:xfrm>
            <a:off x="10332720" y="446532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العلوم والرياضيات</a:t>
            </a:r>
            <a:endParaRPr lang="ar-SA" sz="1450" dirty="0"/>
          </a:p>
        </p:txBody>
      </p:sp>
      <p:sp>
        <p:nvSpPr>
          <p:cNvPr id="11" name="s12_10"/>
          <p:cNvSpPr txBox="1"/>
          <p:nvPr/>
        </p:nvSpPr>
        <p:spPr>
          <a:xfrm>
            <a:off x="6949440" y="446532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الأعشاب ٤٢٥٠، وآكلات اللحوم عُشرها. كم عدد آكلات اللحوم؟</a:t>
            </a:r>
            <a:endParaRPr lang="ar-SA" sz="1450" dirty="0"/>
          </a:p>
        </p:txBody>
      </p:sp>
      <p:sp>
        <p:nvSpPr>
          <p:cNvPr id="12" name="s12_11@c3"/>
          <p:cNvSpPr txBox="1"/>
          <p:nvPr/>
        </p:nvSpPr>
        <p:spPr>
          <a:xfrm>
            <a:off x="4206240" y="446532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٤٢٥٠ ÷ ١٠ = ٤٢٥</a:t>
            </a:r>
            <a:endParaRPr lang="ar-SA" sz="13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3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التقويم الختامي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حصاد المعرفة 🌾</a:t>
            </a:r>
            <a:endParaRPr lang="ar-SA" sz="1700" dirty="0"/>
          </a:p>
        </p:txBody>
      </p:sp>
      <p:pic>
        <p:nvPicPr>
          <p:cNvPr id="3" name="s13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3435" y="1691640"/>
            <a:ext cx="3025165" cy="566928"/>
          </a:xfrm>
          <a:prstGeom prst="rect">
            <a:avLst/>
          </a:prstGeom>
        </p:spPr>
      </p:pic>
      <p:sp>
        <p:nvSpPr>
          <p:cNvPr id="4" name="s13_3"/>
          <p:cNvSpPr txBox="1"/>
          <p:nvPr/>
        </p:nvSpPr>
        <p:spPr>
          <a:xfrm>
            <a:off x="10332720" y="242316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فهم</a:t>
            </a:r>
            <a:endParaRPr lang="ar-SA" sz="1450" dirty="0"/>
          </a:p>
        </p:txBody>
      </p:sp>
      <p:sp>
        <p:nvSpPr>
          <p:cNvPr id="5" name="s13_4"/>
          <p:cNvSpPr txBox="1"/>
          <p:nvPr/>
        </p:nvSpPr>
        <p:spPr>
          <a:xfrm>
            <a:off x="6949440" y="242316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التنافس هو…</a:t>
            </a:r>
            <a:endParaRPr lang="ar-SA" sz="1450" dirty="0"/>
          </a:p>
        </p:txBody>
      </p:sp>
      <p:sp>
        <p:nvSpPr>
          <p:cNvPr id="6" name="s13_5@c1"/>
          <p:cNvSpPr txBox="1"/>
          <p:nvPr/>
        </p:nvSpPr>
        <p:spPr>
          <a:xfrm>
            <a:off x="4206240" y="242316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على الطعام والماء.</a:t>
            </a:r>
            <a:endParaRPr lang="ar-SA" sz="1350" dirty="0"/>
          </a:p>
        </p:txBody>
      </p:sp>
      <p:sp>
        <p:nvSpPr>
          <p:cNvPr id="7" name="s13_6"/>
          <p:cNvSpPr txBox="1"/>
          <p:nvPr/>
        </p:nvSpPr>
        <p:spPr>
          <a:xfrm>
            <a:off x="10332720" y="318897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</a:t>
            </a:r>
            <a:endParaRPr lang="ar-SA" sz="1450" dirty="0"/>
          </a:p>
        </p:txBody>
      </p:sp>
      <p:sp>
        <p:nvSpPr>
          <p:cNvPr id="8" name="s13_7"/>
          <p:cNvSpPr txBox="1"/>
          <p:nvPr/>
        </p:nvSpPr>
        <p:spPr>
          <a:xfrm>
            <a:off x="6949440" y="318897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رتّبي هرم الطاقة من القاعدة: الصقور، العشب، الجراد، العصافير.</a:t>
            </a:r>
            <a:endParaRPr lang="ar-SA" sz="1450" dirty="0"/>
          </a:p>
        </p:txBody>
      </p:sp>
      <p:sp>
        <p:nvSpPr>
          <p:cNvPr id="9" name="s13_8@c2"/>
          <p:cNvSpPr txBox="1"/>
          <p:nvPr/>
        </p:nvSpPr>
        <p:spPr>
          <a:xfrm>
            <a:off x="4206240" y="318897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العشب ← الجراد ← العصافير ← الصقور</a:t>
            </a:r>
            <a:endParaRPr lang="ar-SA" sz="1350" dirty="0"/>
          </a:p>
        </p:txBody>
      </p:sp>
      <p:sp>
        <p:nvSpPr>
          <p:cNvPr id="10" name="s13_9"/>
          <p:cNvSpPr txBox="1"/>
          <p:nvPr/>
        </p:nvSpPr>
        <p:spPr>
          <a:xfrm>
            <a:off x="10332720" y="395478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تحليل</a:t>
            </a:r>
            <a:endParaRPr lang="ar-SA" sz="1450" dirty="0"/>
          </a:p>
        </p:txBody>
      </p:sp>
      <p:sp>
        <p:nvSpPr>
          <p:cNvPr id="11" name="s13_10"/>
          <p:cNvSpPr txBox="1"/>
          <p:nvPr/>
        </p:nvSpPr>
        <p:spPr>
          <a:xfrm>
            <a:off x="6949440" y="395478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أين توجد أقلّ طاقة في الهرم؟</a:t>
            </a:r>
            <a:endParaRPr lang="ar-SA" sz="1450" dirty="0"/>
          </a:p>
        </p:txBody>
      </p:sp>
      <p:sp>
        <p:nvSpPr>
          <p:cNvPr id="12" name="s13_11@c3"/>
          <p:cNvSpPr txBox="1"/>
          <p:nvPr/>
        </p:nvSpPr>
        <p:spPr>
          <a:xfrm>
            <a:off x="4206240" y="395478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القمة.</a:t>
            </a:r>
            <a:endParaRPr lang="ar-SA" sz="1350" dirty="0"/>
          </a:p>
        </p:txBody>
      </p:sp>
      <p:sp>
        <p:nvSpPr>
          <p:cNvPr id="13" name="s13_12"/>
          <p:cNvSpPr txBox="1"/>
          <p:nvPr/>
        </p:nvSpPr>
        <p:spPr>
          <a:xfrm>
            <a:off x="10332720" y="472059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FDE4EC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تصحيح مفهوم</a:t>
            </a:r>
            <a:endParaRPr lang="ar-SA" sz="1450" dirty="0"/>
          </a:p>
        </p:txBody>
      </p:sp>
      <p:sp>
        <p:nvSpPr>
          <p:cNvPr id="14" name="s13_13"/>
          <p:cNvSpPr txBox="1"/>
          <p:nvPr/>
        </p:nvSpPr>
        <p:spPr>
          <a:xfrm>
            <a:off x="6949440" y="472059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«آكلات اللحوم لديها طاقة أكثر من آكلات الأعشاب».</a:t>
            </a:r>
            <a:endParaRPr lang="ar-SA" sz="1450" dirty="0"/>
          </a:p>
        </p:txBody>
      </p:sp>
      <p:sp>
        <p:nvSpPr>
          <p:cNvPr id="15" name="s13_14@c4"/>
          <p:cNvSpPr txBox="1"/>
          <p:nvPr/>
        </p:nvSpPr>
        <p:spPr>
          <a:xfrm>
            <a:off x="4206240" y="472059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الصحيح: لديها طاقة أقل.</a:t>
            </a:r>
            <a:endParaRPr lang="ar-SA" sz="1350" dirty="0"/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4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بطاقة الخروج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تكتبها كل طالبة قبل الخروج ✍️</a:t>
            </a:r>
            <a:endParaRPr lang="ar-SA" sz="1700" dirty="0"/>
          </a:p>
        </p:txBody>
      </p:sp>
      <p:pic>
        <p:nvPicPr>
          <p:cNvPr id="3" name="s14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308" y="1691640"/>
            <a:ext cx="2602292" cy="566928"/>
          </a:xfrm>
          <a:prstGeom prst="rect">
            <a:avLst/>
          </a:prstGeom>
        </p:spPr>
      </p:pic>
      <p:sp>
        <p:nvSpPr>
          <p:cNvPr id="4" name="s14_3"/>
          <p:cNvSpPr txBox="1"/>
          <p:nvPr/>
        </p:nvSpPr>
        <p:spPr>
          <a:xfrm>
            <a:off x="4480560" y="2377440"/>
            <a:ext cx="6858000" cy="2971800"/>
          </a:xfrm>
          <a:prstGeom prst="roundRect">
            <a:avLst>
              <a:gd name="adj" fmla="val 3692"/>
            </a:avLst>
          </a:prstGeom>
          <a:solidFill>
            <a:srgbClr val="FFFDF3"/>
          </a:solidFill>
          <a:ln w="31750">
            <a:solidFill>
              <a:srgbClr val="1B5E20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endParaRPr lang="ar-SA" sz="1700" dirty="0"/>
          </a:p>
        </p:txBody>
      </p:sp>
      <p:sp>
        <p:nvSpPr>
          <p:cNvPr id="5" name="s14_4"/>
          <p:cNvSpPr txBox="1"/>
          <p:nvPr/>
        </p:nvSpPr>
        <p:spPr>
          <a:xfrm>
            <a:off x="4663440" y="2468880"/>
            <a:ext cx="649224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🎫 بطاقة الخروج</a:t>
            </a:r>
            <a:endParaRPr lang="ar-SA" sz="1900" dirty="0"/>
          </a:p>
        </p:txBody>
      </p:sp>
      <p:sp>
        <p:nvSpPr>
          <p:cNvPr id="6" name="s14_5"/>
          <p:cNvSpPr txBox="1"/>
          <p:nvPr/>
        </p:nvSpPr>
        <p:spPr>
          <a:xfrm>
            <a:off x="4754880" y="301752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١) التنافس هو: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.................................</a:t>
            </a:r>
            <a:endParaRPr lang="ar-SA" sz="1600" dirty="0"/>
          </a:p>
        </p:txBody>
      </p:sp>
      <p:sp>
        <p:nvSpPr>
          <p:cNvPr id="7" name="s14_6"/>
          <p:cNvSpPr txBox="1"/>
          <p:nvPr/>
        </p:nvSpPr>
        <p:spPr>
          <a:xfrm>
            <a:off x="4754880" y="356616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٢) في قاعدة هرم الطاقة توجد: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</a:t>
            </a:r>
            <a:endParaRPr lang="ar-SA" sz="1600" dirty="0"/>
          </a:p>
        </p:txBody>
      </p:sp>
      <p:sp>
        <p:nvSpPr>
          <p:cNvPr id="8" name="s14_7"/>
          <p:cNvSpPr txBox="1"/>
          <p:nvPr/>
        </p:nvSpPr>
        <p:spPr>
          <a:xfrm>
            <a:off x="47548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٣) سؤال ما زال في ذهني: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..........................</a:t>
            </a:r>
            <a:endParaRPr lang="ar-SA" sz="1600" dirty="0"/>
          </a:p>
        </p:txBody>
      </p:sp>
      <p:sp>
        <p:nvSpPr>
          <p:cNvPr id="9" name="s14_8"/>
          <p:cNvSpPr txBox="1"/>
          <p:nvPr/>
        </p:nvSpPr>
        <p:spPr>
          <a:xfrm>
            <a:off x="4754880" y="470916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قيّمي فهمك:  ⭐⭐⭐ فهمت تمامًا   ⭐⭐ فهمت   ⭐ أحتاج مساعدة</a:t>
            </a:r>
            <a:endParaRPr lang="ar-SA" sz="14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5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الختام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شكرًا لمشاركتكن 🌿</a:t>
            </a:r>
            <a:endParaRPr lang="ar-SA" sz="1700" dirty="0"/>
          </a:p>
        </p:txBody>
      </p:sp>
      <p:pic>
        <p:nvPicPr>
          <p:cNvPr id="3" name="s15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928" y="1691640"/>
            <a:ext cx="3224984" cy="566928"/>
          </a:xfrm>
          <a:prstGeom prst="rect">
            <a:avLst/>
          </a:prstGeom>
        </p:spPr>
      </p:pic>
      <p:sp>
        <p:nvSpPr>
          <p:cNvPr id="4" name="s15_3"/>
          <p:cNvSpPr txBox="1"/>
          <p:nvPr/>
        </p:nvSpPr>
        <p:spPr>
          <a:xfrm>
            <a:off x="4754880" y="2651760"/>
            <a:ext cx="6400800" cy="1097280"/>
          </a:xfrm>
          <a:prstGeom prst="roundRect">
            <a:avLst>
              <a:gd name="adj" fmla="val 10000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تعلّمنا اليوم أن المخلوقات تتنافس على الغذاء والماء، وأن الطاقة تقلّ كلما صعدنا في هرم الطاقة.</a:t>
            </a:r>
            <a:endParaRPr lang="ar-SA" sz="1700" dirty="0"/>
          </a:p>
        </p:txBody>
      </p:sp>
      <p:sp>
        <p:nvSpPr>
          <p:cNvPr id="5" name="s15_4"/>
          <p:cNvSpPr txBox="1"/>
          <p:nvPr/>
        </p:nvSpPr>
        <p:spPr>
          <a:xfrm>
            <a:off x="566928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🌾 ← 🦗 ← 🐦 ← 🦅</a:t>
            </a:r>
            <a:endParaRPr lang="ar-SA" sz="26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التنافس وهرم الطاقة – العلوم الصف الرابع</dc:title>
  <dc:subject>PptxGenJS Presentation</dc:subject>
  <dc:creator>أ/ شامه البقمي</dc:creator>
  <cp:lastModifiedBy>أ/ شامه البقمي</cp:lastModifiedBy>
  <cp:revision>1</cp:revision>
  <dcterms:created xsi:type="dcterms:W3CDTF">2026-10-27T15:31:22Z</dcterms:created>
  <dcterms:modified xsi:type="dcterms:W3CDTF">2026-10-27T15:31:22Z</dcterms:modified>
</cp:coreProperties>
</file>