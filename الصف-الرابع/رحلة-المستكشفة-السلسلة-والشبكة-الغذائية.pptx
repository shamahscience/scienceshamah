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 بوابة الرحلة: رحّبي بالطالبات مع المستكشفة: «أهلًا بمستكشفاتي الصغيرات». اكتبي اليوم والتاريخ في المكان المخصص (قابل للتعديل). العناصر تظهر تلقائيًا، ثم اضغطي زر «هيا ننطلق!» للانتقال. فكرة الرحلة: المستكشفة تركب القطار، فتزور اليابسة بملابس المستكشفات، ثم تلبس بدلة الغوص لتزور البركة والمحيط (صفحات الكتاب ١١٢–١١٤ بالترتيب).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دعاء البداية: تردد الطالبات مع المعلمة قوله تعالى ﴿رَّبِّ زِدْنِي عِلْمًا﴾ [طه: ١١٤]، ثم انقري لإظهار الدعاء. بعدها انقري لإظهار «قوانين رحلتنا» قانونًا قانونًا، وتردده الطالبات مع الإشارة إليه. يمكن منح نجمة للمجموعة الملتزمة طوال 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الأولى – قطار الذكريات (مراجعة المحللات ص١١١): اسألي كل سؤال، واستمعي لإجابات الطالبات، ثم اضغطي على بطاقة السؤال نفسها لتظهر الإجابة (يمكن بأي ترتيب). الإجابات من الكتاب: المحللات تحلل المواد الميتة للحصول على الطاقة، ومنها الديدان والبكتيريا والفطريات، وتعيد المواد إلى النظام البيئي بوصفها مواد مغذية. السؤال الثالث من التقويم السابق. اختمي بالنقر لإظهار سؤال الربط: فكيف تنتقل الطاقة بين المخلوقات؟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فكّري بسرعة (تابع المراجعة): تختار الطالبة بطاقة وتصنّفها، ثم تضغط المعلمة على البطاقة نفسها لتظهر الإجابة: الفطر والبكتيريا محللات، العشب والشجرة منتجات، الأرنب والأسد مستهلكات. عززي الإجابة الصحيحة بنجمة للمجموعة.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التمهيد (قياس قبلي): اعرضي اللغز، واطلبي من الطالبات التصويت دون تصحيح، وسجلي عدد الإجابات لكل خيار على السبورة. نعود إليه في شريحة «قياس أثر التعلم». الإجابة الصحيحة: (ج) البومة؛ لأنها في آخر السلسلة، وكل مخلوق يستخدم معظم الطاقة التي يحصل عليها فلا ينتقل إلى التالي إلا جزء صغير (ربط بنموذج شريط الطاقة في الدرس السابق ص١٠٩). الصور من الكتاب ص١١٢.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نواتج التعلم: انقري لإظهار كل ناتج مع النشاط الذي يحققه وأداة تقويمه. الأفعال قابلة للقياس: تعرّف، تحدد، ترتّب، تميّز، تقارن، تستنتج.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الرحلة: انقري لإظهار المحطات بالترتيب. كل دائرة رابط: اضغطي على الرقم للانتقال إلى المحطة مباشرة (١ المراجعة، ٢ اليابسة ص١١٢، ٣ البركة ص١١٣، ٤ المحيط ص١١٤، 🏆 كنز المعرفة: السبورة المنظمة والتقويم). أخبري الطالبات أن المستكشفة ستبدّل ملابسها بين اليابسة والماء.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الثانية – اليابسة (بداية ص١١٢). أنظر وأتساءل: اعرضي صورة البومة من الكتاب، واطرحي السؤال، واجمعي التوقعات دون تصحيح. انقري لإظهار «لنتحقق» بعد المناقشة. السؤال من إعداد المعلمة تمهيدًا لنص الكتاب: «ليس من بينها حيوان يستطيع أخذ الطاقة مباشرة من الشمس».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أقرأ وأتعلم (ص١١٢) – النص كما في الكتاب. تقرأ طالبة الفقرة الأولى، ثم انقري لإظهار الفقرة الثانية وتقرؤها طالبة أخرى. انقري لبناء مسار الطاقة بالتدريج: الشمس ← المنتجات ← المستهلكات ← المحللات. ثم اطرحي السؤال وانقري للإجابة. ملاحظة: الكتاب يقول «أنظر إلى الحيوانات في الصور الواردة في هذا الدرس. ليس من بينها حيوان…» واختُصرت العبارة لتناسب الشريحة. المفردة الجديدة: السلسلة الغذائية.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الآية واردة في الكتاب ص١١٢ (سورة العنكبوت، الآية ٦٠). تتلوها المعلمة وترددها الطالبات. التأمل: الله تعالى تكفّل برزق كل مخلوق، وجعل لكل مخلوق مصدرًا للحصول على الطاقة (كما في نص الكتاب). لا ندّعي أن الآية تثبت تفاصيل علمية. تنبيه: الآية مكتوبة بالرسم الإملائي؛ إن رغبتِ بالرسم العثماني كما في الكتاب فانسخيه من مصحف «تنزيل» إلى هذا المربع.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أقرأ الشكل (ص١١٢) – السؤال والإرشاد بنصهما من الكتاب. اطلبي من الطالبات تتبّع الأسهم بأصابعهن، ثم انقري لبناء السلسلة حلقةً حلقة: نبات الشوك (منتج) ← اليرقة ← السرعوف (المنتس) ← السحلية ← البومة. الإجابة: تنتقل الطاقة من نبات الشوك إلى اليرقة التي تأكله، ثم إلى السرعوف، ثم السحلية، ثم البومة. ثم انقري لإظهار فقرتي الكتاب (السلسلة الغذائية على اليابسة، ودور المحللات). ملاحظة: الكتاب ذكر أن السرعوف والسحلية والبومة مستهلكات، واليرقة كذلك مستهلك (آكلة أعشاب).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رتّبي السلسلة: الصور من الكتاب ص١١٢ معروضة بترتيب عشوائي. تختار الطالبة صورة وتقول ترتيبها، ثم تضغط المعلمة على الصورة نفسها ليظهر رقمها. بعد اكتمال الأرقام انقري لإظهار السلسلة كاملة، ثم سؤال التحدي وإجابته. يمكن تنفيذها في مجموعات: كل مجموعة ترتب بطاقات ورقية بالأسماء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اكتشفي الخطأ (التناقض المعرفي): تظهر كل عبارة غير صحيحة بالنقر، فتحدد الطالبات الخطأ، ثم يظهر سؤال يثير التفكير، ثم التصحيح بالدليل من الكتاب (إرشاد ص١١٢: تشير الأسهم إلى المستهلك التالي؛ النباتات منتجات؛ لا يستطيع حيوان أخذ الطاقة مباشرة من الشمس). ملاحظة: هذه تصورات شائعة وليست أخطاء صدرت من الطالبات.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الثالثة – البركة (ص١١٣): المستكشفة تلبس بدلة الغوص (تظهر تلقائيًا). اطرحي سؤال التوقع، وطبقي «فكّري – زاوجي – شاركي» (دقيقة لكل خطوة). انقري لإظهار التحقق بعد المشاركة، وهو مأخوذ من بداية نص ص١١٣: «تشبه السلسلة الغذائية في البركة السلسلة الغذائية على اليابسة».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السلسلة الغذائية في البركة (ص١١٣) – الفقرات بنص الكتاب. تقرأ ثلاث طالبات الفقرات الثلاث (تظهر كل فقرة بنقرة)، وبعد كل فقرة أشيري إلى الصورة المقابلة في الشكل. ثم انقري لبناء السلسلة: طحالب ← ذبابة مائية ← سمكة الشمس ← مالك الحزين. اختمي بالسؤال وإجابته. مفهوم جديد يمرّ سريعًا: البناء الضوئي (طريقة صنع النبات والطحالب للغذاء).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المقارنة: تملأ الطالبات الجدول شفهيًا صفًّا صفًّا، ثم انقري لإظهار الصف. الأمثلة كلها من شكلي الكتاب ص١١٢ و١١٣. التصنيف (آكل أعشاب / آكل لحوم) مراجعة لما تعلمته الطالبات في ص١١١. اختمي بالاستنتاج.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التكويني بثلاثة مستويات: أكتشف (تذكّر)، أفكّر (فهم من النص)، أتحدّى نفسي (استنتاج). لكل سؤال: أعطي فرصة للإجابة، ثم انقري لإظهار التلميح إن احتجن إليه، ثم انقري لإظهار الإجابة مع التعزيز. سؤال «أتحدّى نفسي»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(ص١١٣) – السؤالان بنصهما من الكتاب. أستنتج: الإجابة المتوقعة: لأن المخلوقات ترتبط ببعضها كحلقات السلسلة، كل حلقة تحصل على الطاقة من التي قبلها. التفكير الناقد: تكتب كل طالبة سلسلتها وتعرضها؛ المثال المقترح من إعداد المعلمة وليس من الكتاب. عززي أطول سلسلة صحيحة بنجمة.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الرابعة – المحيط (ص١١٤): تظهر المستكشفة الغواصة تلقائيًا. اطرحي سؤال التفكير (الأمثلة من شكل الكتاب ص١١٤)، واستقبلي اقتراحات الطالبات (رسم أسهم كثيرة، دمج السلاسل…)، ثم انقري لإظهار المفهوم الجديد: الشبكة الغذائية.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ما الشبكة الغذائية؟ (ص١١٤) – الفقرتان بنص الكتاب. تقرأ طالبة الفقرة الأولى، ثم انقري لإظهار الثانية (المفردة الجديدة: الشبكة الغذائية). التشبيه من إعداد المعلمة ويرتبط بفكرة رحلة القطار (يمكن ذكر قطار الرياض مثالًا من الواقع). اختمي بالسؤال والإجابة.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المفترس والفريسة (ص١١٤): الفقرة بنص الكتاب. اضغطي على بطاقة «المفترس» ثم «الفريسة» لكشف التعريف (التعريفان من نص الكتاب). ثم انقري لإظهار المثال من شكل الكتاب: سمكة السردين مفترسة للعوالق وفريسة للتونة والدلفين والنورس. اطلبي من الطالبات مثالًا آخر من سلسلة اليابسة (السحلية: مفترسة للسرعوف، وفريسة للبومة).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أقرأ الشكل (ص١١٤) – السؤال والإرشاد بنصهما من الكتاب. اطلبي من الطالبات عدّ الأسهم المتجهة إلى كل مفترس. الإجابة: الحوت القاتل، تتجه إليه أسهم من سمكة التونة والدلفين وطائر النورس (تحققي من الأسهم في كتاب الطالبة). ثم تتبّعي سلسلة واحدة داخل الشبكة، واسألي عن مصدر طاقة العوالق النباتية (الشمس؛ يظهر سهم الشمس في الشكل).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من أنا؟ (من شكل شبكة المحيط ص١١٤): تقرأ طالبة الوصف، وتجيب زميلاتها، ثم تضغط المعلمة على زر «من أنا؟» المقابل ليظهر الجواب: ١ العوالق النباتية، ٢ سمكة السردين، ٣ طائر النورس، ٤ الحوت القاتل. الأوصاف من إعداد المعلمة اعتمادًا على أسهم الشكل.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السبورة المنظمة: تُعرض كأن المعلمة تكتبها على السبورة. شكل «فن» للمقارنة بين السلسلة والشبكة: انقري لإظهار خصائص السلسلة، ثم الشبكة، ثم المشترك. المحتوى مستخلص من نص الكتاب ص١١٢–١١٤.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تحدّي العقول (مستويات بلوم العليا: تحليل، تقويم، إبداع). نفّذيها في مجموعات: لكل مجموعة سؤال، ثم تعرض إجابتها، ثم انقري لإظهار الإجابة المتوقعة. الأسئلة والإجابات من إعداد المعلمة؛ في سؤال «أبتكر» تُقبل أي شبكة منطقية (الضب يتغذى على النباتات والحشرات).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بالحياة: مواقف يومية توضح أن الإنسان جزء من السلاسل والشبكات الغذائية. انقري لإظهار كل موقف، واسألي الطالبات عن أمثلة من بيوتهن. ثم تكتب كل طالبة سلسلة لوجبة فطورها. (إثرائي،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(إثرائي، ليس من نص الكتاب): المركز الوطني لتنمية الحياة الفطرية جهة حكومية تُعنى بحماية الحياة الفطرية وتنميتها. الزر يفتح الموقع الرسمي: https://www.ncw.gov.sa/ أثناء العرض. السؤال: لماذا يُمنع الصيد الجائر؟ الإجابة: لأن اختفاء مخلوق من الشبكة يؤثر في بقية المخلوقات.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التكامل: الرياضيات من شكل الكتاب ص١١٢ (٥ حلقات و٤ أسهم). لغتي: إكمال جملة علمية بتعريف الكتاب ص١١٤. المهنة: عالمة الأحياء البحرية، وترتبط بغوص المستكشفة في البركة والمحيط.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حصاد المعرفة (التقويم الختامي): سؤال فهم، وتطبيق، وتحليل، وتصحيح مفهوم. تجيب الطالبات في السبورات الصغيرة أو شفهيًا، ثم تظهر الإجابة بالنقر. يقيس السؤالان الثاني والثالث الناتجين ٢ و٣، والرابع الناتج 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أكملي خريطة المفاهيم: الخانات المنقطة فارغة؛ تشارك الطالبات في تعبئتها، وبعد كل مشاركة انقري لإظهار الإجابة: الشمس، السلسلة الغذائية (مسار واحد)، الشبكة الغذائية (سلاسل متداخلة)، المفترس والفريسة، ثم أمثلة اليابسة والبركة والمحيط من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قياس أثر التعلم: أعيدي لغز البداية واطلبي التصويت مرة أخرى، وقارني عدد الإجابات الصحيحة قبل الدرس وبعده. ثم انقري لإظهار الإجابة وتعليلها (ربط بنموذج شريط الطاقة ص١٠٩). بعدها تكتب كل طالبة بطاقة «أعرف الآن» وتقيم فهمها بالنجوم.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أثني على الطالبات («أبدعتنّ يا مستكشفاتي!») ولخّصي الدرس. تعود المستكشفة بملابسها والغواصة معًا بالقطار. العناصر تظهر تلقائيًا. الدرس التالي في الكتاب: التنافس (ص١١٥).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 Target="slide3.xml"/><Relationship Id="rId4" Type="http://schemas.openxmlformats.org/officeDocument/2006/relationships/slide" Target="slide8.xml"/><Relationship Id="rId5" Type="http://schemas.openxmlformats.org/officeDocument/2006/relationships/slide" Target="slide14.xml"/><Relationship Id="rId6" Type="http://schemas.openxmlformats.org/officeDocument/2006/relationships/slide" Target="slide19.xml"/><Relationship Id="rId7" Type="http://schemas.openxmlformats.org/officeDocument/2006/relationships/slide" Target="slide24.xml"/><Relationship Id="rId1" Type="http://schemas.openxmlformats.org/officeDocument/2006/relationships/image" Target="../media/Slide-7-image-1.jpeg"/><Relationship Id="rId2" Type="http://schemas.openxmlformats.org/officeDocument/2006/relationships/image" Target="../media/image-7-2.png"/><Relationship Id="rId8" Type="http://schemas.openxmlformats.org/officeDocument/2006/relationships/image" Target="../media/image-7-3.png"/><Relationship Id="rId9" Type="http://schemas.openxmlformats.org/officeDocument/2006/relationships/image" Target="../media/image-7-4.png"/><Relationship Id="rId10" Type="http://schemas.openxmlformats.org/officeDocument/2006/relationships/image" Target="../media/image-7-5.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4" Type="http://schemas.openxmlformats.org/officeDocument/2006/relationships/hyperlink" Target="https://www.ncw.gov.sa/" TargetMode="External"/><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5" Type="http://schemas.openxmlformats.org/officeDocument/2006/relationships/image" Target="../media/image-27-4.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1_1"/>
          <p:cNvSpPr txBox="1"/>
          <p:nvPr/>
        </p:nvSpPr>
        <p:spPr>
          <a:xfrm>
            <a:off x="3017520" y="347472"/>
            <a:ext cx="310896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بسم الله الرحمن الرحيم</a:t>
            </a:r>
            <a:endParaRPr lang="ar-SA" sz="1400" dirty="0"/>
          </a:p>
        </p:txBody>
      </p:sp>
      <p:pic>
        <p:nvPicPr>
          <p:cNvPr id="3" name="s1_2@a1" descr="/tmp/claude-0/-home-user/4092b4c5-df81-5a0c-b1b2-79950f0cf3f7/scratchpad/build/img/explorer_wave.png">    </p:cNvPr>
          <p:cNvPicPr>
            <a:picLocks noChangeAspect="1"/>
          </p:cNvPicPr>
          <p:nvPr/>
        </p:nvPicPr>
        <p:blipFill>
          <a:blip r:embed="rId2"/>
          <a:stretch>
            <a:fillRect/>
          </a:stretch>
        </p:blipFill>
        <p:spPr>
          <a:xfrm>
            <a:off x="502920" y="1234440"/>
            <a:ext cx="2485016" cy="4023360"/>
          </a:xfrm>
          <a:prstGeom prst="rect">
            <a:avLst/>
          </a:prstGeom>
        </p:spPr>
      </p:pic>
      <p:sp>
        <p:nvSpPr>
          <p:cNvPr id="4" name="s1_3@a2"/>
          <p:cNvSpPr txBox="1"/>
          <p:nvPr/>
        </p:nvSpPr>
        <p:spPr>
          <a:xfrm>
            <a:off x="2880360" y="960120"/>
            <a:ext cx="3291840" cy="1417320"/>
          </a:xfrm>
          <a:prstGeom prst="roundRect">
            <a:avLst>
              <a:gd name="adj" fmla="val 9032"/>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34405E"/>
                </a:solidFill>
                <a:latin typeface="Tahoma" pitchFamily="34" charset="0"/>
                <a:ea typeface="Tahoma" pitchFamily="34" charset="-122"/>
                <a:cs typeface="Tahoma" pitchFamily="34" charset="-120"/>
              </a:rPr>
              <a:t>أهلًا بمستكشفاتي الصغيرات! 🌿</a:t>
            </a:r>
            <a:endParaRPr lang="ar-SA" sz="1500" dirty="0"/>
          </a:p>
          <a:p>
            <a:pPr rtl="1" algn="r" indent="0" marL="0">
              <a:buNone/>
            </a:pPr>
            <a:r>
              <a:rPr lang="ar-SA" altLang="en-US" sz="1500" b="1" dirty="0">
                <a:solidFill>
                  <a:srgbClr val="34405E"/>
                </a:solidFill>
                <a:latin typeface="Tahoma" pitchFamily="34" charset="0"/>
                <a:ea typeface="Tahoma" pitchFamily="34" charset="-122"/>
                <a:cs typeface="Tahoma" pitchFamily="34" charset="-120"/>
              </a:rPr>
              <a:t>اركبن القطار معي… سنتتبّع رحلة الطاقة من الشمس حتى أعماق المحيط!</a:t>
            </a:r>
            <a:endParaRPr lang="ar-SA" sz="1500" dirty="0"/>
          </a:p>
        </p:txBody>
      </p:sp>
      <p:pic>
        <p:nvPicPr>
          <p:cNvPr id="5" name="s1_4" descr="/tmp/claude-0/-home-user/4092b4c5-df81-5a0c-b1b2-79950f0cf3f7/scratchpad/build/img/t_cover.png">    </p:cNvPr>
          <p:cNvPicPr>
            <a:picLocks noChangeAspect="1"/>
          </p:cNvPicPr>
          <p:nvPr/>
        </p:nvPicPr>
        <p:blipFill>
          <a:blip r:embed="rId3"/>
          <a:stretch>
            <a:fillRect/>
          </a:stretch>
        </p:blipFill>
        <p:spPr>
          <a:xfrm>
            <a:off x="6248095" y="268370"/>
            <a:ext cx="5577840" cy="560541"/>
          </a:xfrm>
          <a:prstGeom prst="rect">
            <a:avLst/>
          </a:prstGeom>
        </p:spPr>
      </p:pic>
      <p:sp>
        <p:nvSpPr>
          <p:cNvPr id="6" name="s1_5@a1"/>
          <p:cNvSpPr txBox="1"/>
          <p:nvPr/>
        </p:nvSpPr>
        <p:spPr>
          <a:xfrm>
            <a:off x="6446520" y="1051560"/>
            <a:ext cx="5349240" cy="502920"/>
          </a:xfrm>
          <a:prstGeom prst="roundRect">
            <a:avLst>
              <a:gd name="adj" fmla="val 4909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الدرس الثاني (تابع): العلاقات في الأنظمة البيئية</a:t>
            </a:r>
            <a:endParaRPr lang="ar-SA" sz="1600" dirty="0"/>
          </a:p>
        </p:txBody>
      </p:sp>
      <p:sp>
        <p:nvSpPr>
          <p:cNvPr id="7" name="s1_6@a1"/>
          <p:cNvSpPr txBox="1"/>
          <p:nvPr/>
        </p:nvSpPr>
        <p:spPr>
          <a:xfrm>
            <a:off x="6446520" y="1691640"/>
            <a:ext cx="5349240" cy="502920"/>
          </a:xfrm>
          <a:prstGeom prst="roundRect">
            <a:avLst>
              <a:gd name="adj" fmla="val 4909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0E5E8A"/>
                </a:solidFill>
                <a:latin typeface="Tahoma" pitchFamily="34" charset="0"/>
                <a:ea typeface="Tahoma" pitchFamily="34" charset="-122"/>
                <a:cs typeface="Tahoma" pitchFamily="34" charset="-120"/>
              </a:rPr>
              <a:t>ما السلسلة الغذائية؟ • ما الشبكة الغذائية؟</a:t>
            </a:r>
            <a:endParaRPr lang="ar-SA" sz="1600" dirty="0"/>
          </a:p>
        </p:txBody>
      </p:sp>
      <p:sp>
        <p:nvSpPr>
          <p:cNvPr id="8" name="s1_7@a2"/>
          <p:cNvSpPr txBox="1"/>
          <p:nvPr/>
        </p:nvSpPr>
        <p:spPr>
          <a:xfrm>
            <a:off x="8412480" y="2331720"/>
            <a:ext cx="3383280" cy="438912"/>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العلوم – الصف الرابع الابتدائي</a:t>
            </a:r>
            <a:endParaRPr lang="ar-SA" sz="1450" dirty="0"/>
          </a:p>
        </p:txBody>
      </p:sp>
      <p:sp>
        <p:nvSpPr>
          <p:cNvPr id="9" name="s1_8@a2"/>
          <p:cNvSpPr txBox="1"/>
          <p:nvPr/>
        </p:nvSpPr>
        <p:spPr>
          <a:xfrm>
            <a:off x="6446520" y="2880360"/>
            <a:ext cx="5349240" cy="438912"/>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المدرسة الابتدائية العشرون لتحفيظ القرآن</a:t>
            </a:r>
            <a:endParaRPr lang="ar-SA" sz="1450" dirty="0"/>
          </a:p>
        </p:txBody>
      </p:sp>
      <p:sp>
        <p:nvSpPr>
          <p:cNvPr id="10" name="s1_9@a2"/>
          <p:cNvSpPr txBox="1"/>
          <p:nvPr/>
        </p:nvSpPr>
        <p:spPr>
          <a:xfrm>
            <a:off x="6446520" y="3429000"/>
            <a:ext cx="5349240" cy="411480"/>
          </a:xfrm>
          <a:prstGeom prst="rect">
            <a:avLst/>
          </a:prstGeom>
          <a:noFill/>
          <a:ln/>
        </p:spPr>
        <p:txBody>
          <a:bodyPr wrap="square" lIns="63500" tIns="63500" rIns="63500" bIns="635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اليوم: ............     التاريخ: ..../..../١٤٤٨هـ</a:t>
            </a:r>
            <a:endParaRPr lang="ar-SA" sz="1500" dirty="0"/>
          </a:p>
        </p:txBody>
      </p:sp>
      <p:pic>
        <p:nvPicPr>
          <p:cNvPr id="11" name="s1_10@a3" descr="/tmp/claude-0/-home-user/4092b4c5-df81-5a0c-b1b2-79950f0cf3f7/scratchpad/build/img/train.png">    </p:cNvPr>
          <p:cNvPicPr>
            <a:picLocks noChangeAspect="1"/>
          </p:cNvPicPr>
          <p:nvPr/>
        </p:nvPicPr>
        <p:blipFill>
          <a:blip r:embed="rId4"/>
          <a:stretch>
            <a:fillRect/>
          </a:stretch>
        </p:blipFill>
        <p:spPr>
          <a:xfrm>
            <a:off x="3017520" y="4224528"/>
            <a:ext cx="6035040" cy="1388059"/>
          </a:xfrm>
          <a:prstGeom prst="rect">
            <a:avLst/>
          </a:prstGeom>
        </p:spPr>
      </p:pic>
      <p:sp>
        <p:nvSpPr>
          <p:cNvPr id="12" name="s1_11@a4"/>
          <p:cNvSpPr txBox="1"/>
          <p:nvPr/>
        </p:nvSpPr>
        <p:spPr>
          <a:xfrm>
            <a:off x="9281160" y="4343400"/>
            <a:ext cx="2514600" cy="640080"/>
          </a:xfrm>
          <a:prstGeom prst="roundRect">
            <a:avLst>
              <a:gd name="adj" fmla="val 50000"/>
            </a:avLst>
          </a:prstGeom>
          <a:solidFill>
            <a:srgbClr val="2F8A3A"/>
          </a:solidFill>
          <a:ln w="31750">
            <a:solidFill>
              <a:srgbClr val="FFFFFF"/>
            </a:solidFill>
          </a:ln>
        </p:spPr>
        <p:txBody>
          <a:bodyPr wrap="square" lIns="101600" tIns="101600" rIns="101600" bIns="101600" rtlCol="0" anchor="ctr"/>
          <a:lstStyle/>
          <a:p>
            <a:pPr rtl="1" algn="ctr" indent="0" marL="0">
              <a:buNone/>
            </a:pPr>
            <a:r>
              <a:rPr lang="ar-SA" altLang="en-US" sz="2000" b="1" u="sng" dirty="0">
                <a:solidFill>
                  <a:srgbClr val="FFFFFF"/>
                </a:solidFill>
                <a:latin typeface="Tahoma" pitchFamily="34" charset="0"/>
                <a:ea typeface="Tahoma" pitchFamily="34" charset="-122"/>
                <a:cs typeface="Tahoma" pitchFamily="34" charset="-120"/>
                <a:hlinkClick r:id="rId5" action="ppaction://hlinksldjump" tooltip="ابدئي الرحلة">
                  <a:extLst>
                    <a:ext uri="{A12FA001-AC4F-418D-AE19-62706E023703}">
                      <ahyp:hlinkClr xmlns:ahyp="http://schemas.microsoft.com/office/drawing/2018/hyperlinkcolor" val="tx"/>
                    </a:ext>
                  </a:extLst>
                </a:hlinkClick>
              </a:rPr>
              <a:t>هيا ننطلق! 🚂</a:t>
            </a:r>
            <a:endParaRPr lang="ar-SA" sz="2000" dirty="0"/>
          </a:p>
        </p:txBody>
      </p:sp>
      <p:sp>
        <p:nvSpPr>
          <p:cNvPr id="13" name="s1_12@a4"/>
          <p:cNvSpPr txBox="1"/>
          <p:nvPr/>
        </p:nvSpPr>
        <p:spPr>
          <a:xfrm>
            <a:off x="9281160" y="5120640"/>
            <a:ext cx="2514600" cy="438912"/>
          </a:xfrm>
          <a:prstGeom prst="roundRect">
            <a:avLst>
              <a:gd name="adj" fmla="val 50000"/>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400" b="1" dirty="0">
                <a:solidFill>
                  <a:srgbClr val="FFFFFF"/>
                </a:solidFill>
                <a:latin typeface="Tahoma" pitchFamily="34" charset="0"/>
                <a:ea typeface="Tahoma" pitchFamily="34" charset="-122"/>
                <a:cs typeface="Tahoma" pitchFamily="34" charset="-120"/>
              </a:rPr>
              <a:t>المعلمة: أ/ شامه البقمي</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7" fill="hold">
                      <p:stCondLst>
                        <p:cond delay="indefinite"/>
                        <p:cond evt="onBegin" delay="0">
                          <p:tgtEl>
                            <p:sldTgt/>
                          </p:tgtEl>
                        </p:cond>
                      </p:stCondLst>
                      <p:childTnLst>
                        <p:par>
                          <p:cTn id="12" fill="hold">
                            <p:stCondLst>
                              <p:cond delay="0"/>
                            </p:stCondLst>
                            <p:childTnLst>
                              <p:par>
                                <p:cTn id="3" presetID="10" presetClass="entr" presetSubtype="0" fill="hold"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500"/>
                                        <p:tgtEl>
                                          <p:spTgt spid="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par>
                          <p:cTn id="25" fill="hold">
                            <p:stCondLst>
                              <p:cond delay="45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childTnLst>
                          </p:cTn>
                        </p:par>
                        <p:par>
                          <p:cTn id="29" fill="hold">
                            <p:stCondLst>
                              <p:cond delay="900"/>
                            </p:stCondLst>
                            <p:childTnLst>
                              <p:par>
                                <p:cTn id="26" presetID="10" presetClass="entr" presetSubtype="0" fill="hold" nodeType="after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par>
                          <p:cTn id="36" fill="hold">
                            <p:stCondLst>
                              <p:cond delay="1350"/>
                            </p:stCondLst>
                            <p:childTnLst>
                              <p:par>
                                <p:cTn id="30" presetID="10" presetClass="entr" presetSubtype="0" fill="hold" grpId="0" nodeType="after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4" grpId="0" animBg="1"/>
      <p:bldP spid="8" grpId="0" animBg="1"/>
      <p:bldP spid="9" grpId="0" animBg="1"/>
      <p:bldP spid="10" grpId="0" animBg="1"/>
      <p:bldP spid="12" grpId="0" animBg="1"/>
      <p:bldP spid="1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1" descr="/tmp/claude-0/-home-user/4092b4c5-df81-5a0c-b1b2-79950f0cf3f7/scratchpad/build/img/t_dua.png">    </p:cNvPr>
          <p:cNvPicPr>
            <a:picLocks noChangeAspect="1"/>
          </p:cNvPicPr>
          <p:nvPr/>
        </p:nvPicPr>
        <p:blipFill>
          <a:blip r:embed="rId2"/>
          <a:stretch>
            <a:fillRect/>
          </a:stretch>
        </p:blipFill>
        <p:spPr>
          <a:xfrm>
            <a:off x="8845891" y="182880"/>
            <a:ext cx="2980045" cy="731520"/>
          </a:xfrm>
          <a:prstGeom prst="rect">
            <a:avLst/>
          </a:prstGeom>
        </p:spPr>
      </p:pic>
      <p:sp>
        <p:nvSpPr>
          <p:cNvPr id="3" name="s2_2"/>
          <p:cNvSpPr txBox="1"/>
          <p:nvPr/>
        </p:nvSpPr>
        <p:spPr>
          <a:xfrm>
            <a:off x="365760" y="292608"/>
            <a:ext cx="3566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التعزيز الإيجابي</a:t>
            </a:r>
            <a:endParaRPr lang="en-US" sz="1600" dirty="0"/>
          </a:p>
        </p:txBody>
      </p:sp>
      <p:sp>
        <p:nvSpPr>
          <p:cNvPr id="4" name="s2_3"/>
          <p:cNvSpPr txBox="1"/>
          <p:nvPr/>
        </p:nvSpPr>
        <p:spPr>
          <a:xfrm>
            <a:off x="3840480" y="1234440"/>
            <a:ext cx="7863840" cy="4480560"/>
          </a:xfrm>
          <a:prstGeom prst="roundRect">
            <a:avLst>
              <a:gd name="adj" fmla="val 2857"/>
            </a:avLst>
          </a:prstGeom>
          <a:solidFill>
            <a:srgbClr val="FFFCF2"/>
          </a:solidFill>
          <a:ln w="38100">
            <a:solidFill>
              <a:srgbClr val="F5C242"/>
            </a:solidFill>
          </a:ln>
        </p:spPr>
        <p:txBody>
          <a:bodyPr wrap="square" lIns="101600" tIns="101600" rIns="101600" bIns="101600" rtlCol="0" anchor="ctr"/>
          <a:lstStyle/>
          <a:p>
            <a:pPr rtl="1" algn="r" indent="0" marL="0">
              <a:buNone/>
            </a:pPr>
            <a:endParaRPr lang="ar-SA" sz="1800" dirty="0"/>
          </a:p>
        </p:txBody>
      </p:sp>
      <p:sp>
        <p:nvSpPr>
          <p:cNvPr id="5" name="s2_4"/>
          <p:cNvSpPr txBox="1"/>
          <p:nvPr/>
        </p:nvSpPr>
        <p:spPr>
          <a:xfrm>
            <a:off x="4114800" y="1463040"/>
            <a:ext cx="7315200" cy="914400"/>
          </a:xfrm>
          <a:prstGeom prst="rect">
            <a:avLst/>
          </a:prstGeom>
          <a:noFill/>
          <a:ln/>
        </p:spPr>
        <p:txBody>
          <a:bodyPr wrap="square" lIns="63500" tIns="63500" rIns="63500" bIns="63500" rtlCol="0" anchor="ctr"/>
          <a:lstStyle/>
          <a:p>
            <a:pPr rtl="1" algn="ctr" indent="0" marL="0">
              <a:buNone/>
            </a:pPr>
            <a:r>
              <a:rPr lang="ar-SA" altLang="en-US" sz="3600" b="1" dirty="0">
                <a:solidFill>
                  <a:srgbClr val="1B5E20"/>
                </a:solidFill>
                <a:latin typeface="Tahoma" pitchFamily="34" charset="0"/>
                <a:ea typeface="Tahoma" pitchFamily="34" charset="-122"/>
                <a:cs typeface="Tahoma" pitchFamily="34" charset="-120"/>
              </a:rPr>
              <a:t>﴿رَّبِّ زِدْنِي عِلْمًا﴾</a:t>
            </a:r>
            <a:endParaRPr lang="ar-SA" sz="3600" dirty="0"/>
          </a:p>
        </p:txBody>
      </p:sp>
      <p:sp>
        <p:nvSpPr>
          <p:cNvPr id="6" name="s2_5"/>
          <p:cNvSpPr txBox="1"/>
          <p:nvPr/>
        </p:nvSpPr>
        <p:spPr>
          <a:xfrm>
            <a:off x="4114800" y="2331720"/>
            <a:ext cx="731520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[طه: ١١٤]</a:t>
            </a:r>
            <a:endParaRPr lang="ar-SA" sz="1400" dirty="0"/>
          </a:p>
        </p:txBody>
      </p:sp>
      <p:sp>
        <p:nvSpPr>
          <p:cNvPr id="7" name="s2_6@c1"/>
          <p:cNvSpPr txBox="1"/>
          <p:nvPr/>
        </p:nvSpPr>
        <p:spPr>
          <a:xfrm>
            <a:off x="4572000" y="2880360"/>
            <a:ext cx="6400800" cy="777240"/>
          </a:xfrm>
          <a:prstGeom prst="roundRect">
            <a:avLst>
              <a:gd name="adj" fmla="val 1647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2100" b="1" dirty="0">
                <a:solidFill>
                  <a:srgbClr val="34405E"/>
                </a:solidFill>
                <a:latin typeface="Tahoma" pitchFamily="34" charset="0"/>
                <a:ea typeface="Tahoma" pitchFamily="34" charset="-122"/>
                <a:cs typeface="Tahoma" pitchFamily="34" charset="-120"/>
              </a:rPr>
              <a:t>اللهم علّمنا ما ينفعنا، وانفعنا بما علّمتنا، وزدنا علمًا.</a:t>
            </a:r>
            <a:endParaRPr lang="ar-SA" sz="2100" dirty="0"/>
          </a:p>
        </p:txBody>
      </p:sp>
      <p:sp>
        <p:nvSpPr>
          <p:cNvPr id="8" name="s2_7@c2"/>
          <p:cNvSpPr txBox="1"/>
          <p:nvPr/>
        </p:nvSpPr>
        <p:spPr>
          <a:xfrm>
            <a:off x="4114800" y="3794760"/>
            <a:ext cx="731520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قوانين رحلتنا 🎫</a:t>
            </a:r>
            <a:endParaRPr lang="ar-SA" sz="1900" dirty="0"/>
          </a:p>
        </p:txBody>
      </p:sp>
      <p:sp>
        <p:nvSpPr>
          <p:cNvPr id="9" name="s2_8@c3"/>
          <p:cNvSpPr txBox="1"/>
          <p:nvPr/>
        </p:nvSpPr>
        <p:spPr>
          <a:xfrm>
            <a:off x="7818120" y="4343400"/>
            <a:ext cx="3520440" cy="502920"/>
          </a:xfrm>
          <a:prstGeom prst="roundRect">
            <a:avLst>
              <a:gd name="adj" fmla="val 25455"/>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أرفع يدي قبل أن أتحدث</a:t>
            </a:r>
            <a:endParaRPr lang="ar-SA" sz="1500" dirty="0"/>
          </a:p>
        </p:txBody>
      </p:sp>
      <p:sp>
        <p:nvSpPr>
          <p:cNvPr id="10" name="s2_9@c4"/>
          <p:cNvSpPr txBox="1"/>
          <p:nvPr/>
        </p:nvSpPr>
        <p:spPr>
          <a:xfrm>
            <a:off x="4160520" y="4343400"/>
            <a:ext cx="3520440" cy="502920"/>
          </a:xfrm>
          <a:prstGeom prst="roundRect">
            <a:avLst>
              <a:gd name="adj" fmla="val 2545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أستمع لزميلتي باهتمام</a:t>
            </a:r>
            <a:endParaRPr lang="ar-SA" sz="1500" dirty="0"/>
          </a:p>
        </p:txBody>
      </p:sp>
      <p:sp>
        <p:nvSpPr>
          <p:cNvPr id="11" name="s2_10@c5"/>
          <p:cNvSpPr txBox="1"/>
          <p:nvPr/>
        </p:nvSpPr>
        <p:spPr>
          <a:xfrm>
            <a:off x="7818120" y="4965192"/>
            <a:ext cx="3520440" cy="502920"/>
          </a:xfrm>
          <a:prstGeom prst="roundRect">
            <a:avLst>
              <a:gd name="adj" fmla="val 2545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أتعاون مع مجموعتي</a:t>
            </a:r>
            <a:endParaRPr lang="ar-SA" sz="1500" dirty="0"/>
          </a:p>
        </p:txBody>
      </p:sp>
      <p:sp>
        <p:nvSpPr>
          <p:cNvPr id="12" name="s2_11@c6"/>
          <p:cNvSpPr txBox="1"/>
          <p:nvPr/>
        </p:nvSpPr>
        <p:spPr>
          <a:xfrm>
            <a:off x="4160520" y="4965192"/>
            <a:ext cx="3520440" cy="502920"/>
          </a:xfrm>
          <a:prstGeom prst="roundRect">
            <a:avLst>
              <a:gd name="adj" fmla="val 25455"/>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أحترم آراء زميلاتي</a:t>
            </a:r>
            <a:endParaRPr lang="ar-SA" sz="1500" dirty="0"/>
          </a:p>
        </p:txBody>
      </p:sp>
      <p:pic>
        <p:nvPicPr>
          <p:cNvPr id="13" name="s2_12" descr="/tmp/claude-0/-home-user/4092b4c5-df81-5a0c-b1b2-79950f0cf3f7/scratchpad/build/img/explorer_think.png">    </p:cNvPr>
          <p:cNvPicPr>
            <a:picLocks noChangeAspect="1"/>
          </p:cNvPicPr>
          <p:nvPr/>
        </p:nvPicPr>
        <p:blipFill>
          <a:blip r:embed="rId3"/>
          <a:stretch>
            <a:fillRect/>
          </a:stretch>
        </p:blipFill>
        <p:spPr>
          <a:xfrm>
            <a:off x="822960" y="1463040"/>
            <a:ext cx="2767405" cy="4480560"/>
          </a:xfrm>
          <a:prstGeom prst="rect">
            <a:avLst/>
          </a:prstGeom>
        </p:spPr>
      </p:pic>
      <p:sp>
        <p:nvSpPr>
          <p:cNvPr id="14" name="s2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8" fill="hold">
                      <p:stCondLst>
                        <p:cond delay="indefinite"/>
                      </p:stCondLst>
                      <p:childTnLst>
                        <p:par>
                          <p:cTn id="22"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childTnLst>
                          </p:cTn>
                        </p:par>
                      </p:childTnLst>
                    </p:cTn>
                  </p:par>
                  <p:par>
                    <p:cTn id="23" fill="hold">
                      <p:stCondLst>
                        <p:cond delay="indefinite"/>
                      </p:stCondLst>
                      <p:childTnLst>
                        <p:par>
                          <p:cTn id="27"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par>
                    <p:cTn id="28" fill="hold">
                      <p:stCondLst>
                        <p:cond delay="indefinite"/>
                      </p:stCondLst>
                      <p:childTnLst>
                        <p:par>
                          <p:cTn id="32"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1" descr="/tmp/claude-0/-home-user/4092b4c5-df81-5a0c-b1b2-79950f0cf3f7/scratchpad/build/img/t_memory.png">    </p:cNvPr>
          <p:cNvPicPr>
            <a:picLocks noChangeAspect="1"/>
          </p:cNvPicPr>
          <p:nvPr/>
        </p:nvPicPr>
        <p:blipFill>
          <a:blip r:embed="rId2"/>
          <a:stretch>
            <a:fillRect/>
          </a:stretch>
        </p:blipFill>
        <p:spPr>
          <a:xfrm>
            <a:off x="8324233" y="182880"/>
            <a:ext cx="3501702" cy="731520"/>
          </a:xfrm>
          <a:prstGeom prst="rect">
            <a:avLst/>
          </a:prstGeom>
        </p:spPr>
      </p:pic>
      <p:sp>
        <p:nvSpPr>
          <p:cNvPr id="3" name="s3_2"/>
          <p:cNvSpPr txBox="1"/>
          <p:nvPr/>
        </p:nvSpPr>
        <p:spPr>
          <a:xfrm>
            <a:off x="365760" y="292608"/>
            <a:ext cx="4594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الاسترجاع – شريط الذكريات</a:t>
            </a:r>
            <a:endParaRPr lang="en-US" sz="1600" dirty="0"/>
          </a:p>
        </p:txBody>
      </p:sp>
      <p:sp>
        <p:nvSpPr>
          <p:cNvPr id="4" name="s3_3"/>
          <p:cNvSpPr txBox="1"/>
          <p:nvPr/>
        </p:nvSpPr>
        <p:spPr>
          <a:xfrm>
            <a:off x="2743200" y="1051560"/>
            <a:ext cx="9006840" cy="457200"/>
          </a:xfrm>
          <a:prstGeom prst="rect">
            <a:avLst/>
          </a:prstGeom>
          <a:noFill/>
          <a:ln/>
        </p:spPr>
        <p:txBody>
          <a:bodyPr wrap="square" lIns="63500" tIns="63500" rIns="63500" bIns="63500" rtlCol="0" anchor="ctr"/>
          <a:lstStyle/>
          <a:p>
            <a:pPr rtl="1" algn="r" indent="0" marL="0">
              <a:buNone/>
            </a:pPr>
            <a:r>
              <a:rPr lang="ar-SA" altLang="en-US" sz="1700" b="1" dirty="0">
                <a:solidFill>
                  <a:srgbClr val="6B4FC0"/>
                </a:solidFill>
                <a:latin typeface="Tahoma" pitchFamily="34" charset="0"/>
                <a:ea typeface="Tahoma" pitchFamily="34" charset="-122"/>
                <a:cs typeface="Tahoma" pitchFamily="34" charset="-120"/>
              </a:rPr>
              <a:t>تذكّري: الدرس السابق «الأدوار في النظام البيئي – المحلِّلات» 🍄</a:t>
            </a:r>
            <a:endParaRPr lang="ar-SA" sz="1700" dirty="0"/>
          </a:p>
        </p:txBody>
      </p:sp>
      <p:sp>
        <p:nvSpPr>
          <p:cNvPr id="5" name="s3_q0"/>
          <p:cNvSpPr txBox="1"/>
          <p:nvPr/>
        </p:nvSpPr>
        <p:spPr>
          <a:xfrm>
            <a:off x="6629400" y="1645920"/>
            <a:ext cx="5120640" cy="1115568"/>
          </a:xfrm>
          <a:prstGeom prst="roundRect">
            <a:avLst>
              <a:gd name="adj" fmla="val 1147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١  </a:t>
            </a:r>
            <a:r>
              <a:rPr lang="ar-SA" altLang="en-US" sz="1700" b="1" dirty="0">
                <a:solidFill>
                  <a:srgbClr val="34405E"/>
                </a:solidFill>
                <a:latin typeface="Tahoma" pitchFamily="34" charset="0"/>
                <a:ea typeface="Tahoma" pitchFamily="34" charset="-122"/>
                <a:cs typeface="Tahoma" pitchFamily="34" charset="-120"/>
              </a:rPr>
              <a:t>مَن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6" name="s3_4@t=s3_q0"/>
          <p:cNvSpPr txBox="1"/>
          <p:nvPr/>
        </p:nvSpPr>
        <p:spPr>
          <a:xfrm>
            <a:off x="2697480" y="1645920"/>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مخلوقات حيّة تحلّل المواد الميتة لتحصل على الطاقة، وتعيد المواد إلى النظام البيئي موادَّ مغذية.</a:t>
            </a:r>
            <a:endParaRPr lang="ar-SA" sz="1500" dirty="0"/>
          </a:p>
        </p:txBody>
      </p:sp>
      <p:sp>
        <p:nvSpPr>
          <p:cNvPr id="7" name="s3_q1"/>
          <p:cNvSpPr txBox="1"/>
          <p:nvPr/>
        </p:nvSpPr>
        <p:spPr>
          <a:xfrm>
            <a:off x="6629400" y="2944368"/>
            <a:ext cx="5120640" cy="1115568"/>
          </a:xfrm>
          <a:prstGeom prst="roundRect">
            <a:avLst>
              <a:gd name="adj" fmla="val 1147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٢  </a:t>
            </a:r>
            <a:r>
              <a:rPr lang="ar-SA" altLang="en-US" sz="1700" b="1" dirty="0">
                <a:solidFill>
                  <a:srgbClr val="34405E"/>
                </a:solidFill>
                <a:latin typeface="Tahoma" pitchFamily="34" charset="0"/>
                <a:ea typeface="Tahoma" pitchFamily="34" charset="-122"/>
                <a:cs typeface="Tahoma" pitchFamily="34" charset="-120"/>
              </a:rPr>
              <a:t>اذكري أمثلة على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8" name="s3_5@t=s3_q1"/>
          <p:cNvSpPr txBox="1"/>
          <p:nvPr/>
        </p:nvSpPr>
        <p:spPr>
          <a:xfrm>
            <a:off x="2697480" y="2944368"/>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الديدان، والبكتيريا، والفطريات.</a:t>
            </a:r>
            <a:endParaRPr lang="ar-SA" sz="1500" dirty="0"/>
          </a:p>
        </p:txBody>
      </p:sp>
      <p:sp>
        <p:nvSpPr>
          <p:cNvPr id="9" name="s3_q2"/>
          <p:cNvSpPr txBox="1"/>
          <p:nvPr/>
        </p:nvSpPr>
        <p:spPr>
          <a:xfrm>
            <a:off x="6629400" y="4242816"/>
            <a:ext cx="5120640" cy="1115568"/>
          </a:xfrm>
          <a:prstGeom prst="roundRect">
            <a:avLst>
              <a:gd name="adj" fmla="val 1147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٣  </a:t>
            </a:r>
            <a:r>
              <a:rPr lang="ar-SA" altLang="en-US" sz="1700" b="1" dirty="0">
                <a:solidFill>
                  <a:srgbClr val="34405E"/>
                </a:solidFill>
                <a:latin typeface="Tahoma" pitchFamily="34" charset="0"/>
                <a:ea typeface="Tahoma" pitchFamily="34" charset="-122"/>
                <a:cs typeface="Tahoma" pitchFamily="34" charset="-120"/>
              </a:rPr>
              <a:t>ماذا يحدث لو اختفت المحلِّلات من الغابة؟</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10" name="s3_6@t=s3_q2"/>
          <p:cNvSpPr txBox="1"/>
          <p:nvPr/>
        </p:nvSpPr>
        <p:spPr>
          <a:xfrm>
            <a:off x="2697480" y="4242816"/>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تتراكم بقايا المخلوقات الميتة، ولا تعود المواد المغذية إلى التربة.</a:t>
            </a:r>
            <a:endParaRPr lang="ar-SA" sz="1500" dirty="0"/>
          </a:p>
        </p:txBody>
      </p:sp>
      <p:sp>
        <p:nvSpPr>
          <p:cNvPr id="11" name="s3_7@c1"/>
          <p:cNvSpPr txBox="1"/>
          <p:nvPr/>
        </p:nvSpPr>
        <p:spPr>
          <a:xfrm>
            <a:off x="2697480" y="5596128"/>
            <a:ext cx="905256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عرفنا أدوار المخلوقات: منتِج، ومستهلِك، ومحلِّل… فكيف تنتقل الطاقة بينها؟ 🤔</a:t>
            </a:r>
            <a:endParaRPr lang="ar-SA" sz="1700" dirty="0"/>
          </a:p>
        </p:txBody>
      </p:sp>
      <p:pic>
        <p:nvPicPr>
          <p:cNvPr id="12" name="s3_8" descr="/tmp/claude-0/-home-user/4092b4c5-df81-5a0c-b1b2-79950f0cf3f7/scratchpad/build/img/explorer_think.png">    </p:cNvPr>
          <p:cNvPicPr>
            <a:picLocks noChangeAspect="1"/>
          </p:cNvPicPr>
          <p:nvPr/>
        </p:nvPicPr>
        <p:blipFill>
          <a:blip r:embed="rId3"/>
          <a:stretch>
            <a:fillRect/>
          </a:stretch>
        </p:blipFill>
        <p:spPr>
          <a:xfrm>
            <a:off x="320040" y="1828800"/>
            <a:ext cx="2428539" cy="3931920"/>
          </a:xfrm>
          <a:prstGeom prst="rect">
            <a:avLst/>
          </a:prstGeom>
        </p:spPr>
      </p:pic>
      <p:sp>
        <p:nvSpPr>
          <p:cNvPr id="13" name="s3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3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animEffect transition="in" filter="fade">
                                      <p:cBhvr>
                                        <p:cTn id="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5"/>
                    </p:tgtEl>
                  </p:cond>
                </p:stCondLst>
                <p:endSync evt="end" delay="0">
                  <p:rtn val="all"/>
                </p:endSync>
                <p:childTnLst>
                  <p:par>
                    <p:cTn id="8" fill="hold">
                      <p:stCondLst>
                        <p:cond delay="0"/>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childTnLst>
              </p:cTn>
              <p:nextCondLst>
                <p:cond evt="onNext" delay="0">
                  <p:tgtEl>
                    <p:spTgt spid="5"/>
                  </p:tgtEl>
                </p:cond>
              </p:nextCondLst>
            </p:seq>
            <p:seq concurrent="1" nextAc="seek">
              <p:cTn id="19" restart="whenNotActive" fill="hold" evtFilter="cancelBubble" nodeType="interactiveSeq">
                <p:stCondLst>
                  <p:cond evt="onClick" delay="0">
                    <p:tgtEl>
                      <p:spTgt spid="7"/>
                    </p:tgtEl>
                  </p:cond>
                </p:stCondLst>
                <p:endSync evt="end" delay="0">
                  <p:rtn val="all"/>
                </p:endSync>
                <p:childTnLst>
                  <p:par>
                    <p:cTn id="14" fill="hold">
                      <p:stCondLst>
                        <p:cond delay="0"/>
                      </p:stCondLst>
                      <p:childTnLst>
                        <p:par>
                          <p:cTn id="18"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nextCondLst>
                <p:cond evt="onNext" delay="0">
                  <p:tgtEl>
                    <p:spTgt spid="7"/>
                  </p:tgtEl>
                </p:cond>
              </p:nextCondLst>
            </p:seq>
            <p:seq concurrent="1" nextAc="seek">
              <p:cTn id="25" restart="whenNotActive" fill="hold" evtFilter="cancelBubble" nodeType="interactiveSeq">
                <p:stCondLst>
                  <p:cond evt="onClick" delay="0">
                    <p:tgtEl>
                      <p:spTgt spid="9"/>
                    </p:tgtEl>
                  </p:cond>
                </p:stCondLst>
                <p:endSync evt="end" delay="0">
                  <p:rtn val="all"/>
                </p:endSync>
                <p:childTnLst>
                  <p:par>
                    <p:cTn id="20" fill="hold">
                      <p:stCondLst>
                        <p:cond delay="0"/>
                      </p:stCondLst>
                      <p:childTnLst>
                        <p:par>
                          <p:cTn id="24"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childTnLst>
              </p:cTn>
              <p:nextCondLst>
                <p:cond evt="onNext" delay="0">
                  <p:tgtEl>
                    <p:spTgt spid="9"/>
                  </p:tgtEl>
                </p:cond>
              </p:nextCondLst>
            </p:seq>
          </p:childTnLst>
        </p:cTn>
      </p:par>
    </p:tnLst>
    <p:bldLst>
      <p:bldP spid="11" grpId="0" animBg="1"/>
      <p:bldP spid="6" grpId="0" animBg="1"/>
      <p:bldP spid="8" grpId="0" animBg="1"/>
      <p:bldP spid="1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1" descr="/tmp/claude-0/-home-user/4092b4c5-df81-5a0c-b1b2-79950f0cf3f7/scratchpad/build/img/t_memory.png">    </p:cNvPr>
          <p:cNvPicPr>
            <a:picLocks noChangeAspect="1"/>
          </p:cNvPicPr>
          <p:nvPr/>
        </p:nvPicPr>
        <p:blipFill>
          <a:blip r:embed="rId2"/>
          <a:stretch>
            <a:fillRect/>
          </a:stretch>
        </p:blipFill>
        <p:spPr>
          <a:xfrm>
            <a:off x="8324233" y="182880"/>
            <a:ext cx="3501702" cy="731520"/>
          </a:xfrm>
          <a:prstGeom prst="rect">
            <a:avLst/>
          </a:prstGeom>
        </p:spPr>
      </p:pic>
      <p:sp>
        <p:nvSpPr>
          <p:cNvPr id="3" name="s4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فكّري بسرعة – التعلم باللعب</a:t>
            </a:r>
            <a:endParaRPr lang="en-US" sz="1600" dirty="0"/>
          </a:p>
        </p:txBody>
      </p:sp>
      <p:sp>
        <p:nvSpPr>
          <p:cNvPr id="4" name="s4_3"/>
          <p:cNvSpPr txBox="1"/>
          <p:nvPr/>
        </p:nvSpPr>
        <p:spPr>
          <a:xfrm>
            <a:off x="548640" y="1097280"/>
            <a:ext cx="11155680" cy="502920"/>
          </a:xfrm>
          <a:prstGeom prst="rect">
            <a:avLst/>
          </a:prstGeom>
          <a:noFill/>
          <a:ln/>
        </p:spPr>
        <p:txBody>
          <a:bodyPr wrap="square" lIns="63500" tIns="63500" rIns="63500" bIns="63500" rtlCol="0" anchor="ctr"/>
          <a:lstStyle/>
          <a:p>
            <a:pPr rtl="1" algn="ctr" indent="0" marL="0">
              <a:buNone/>
            </a:pPr>
            <a:r>
              <a:rPr lang="ar-SA" altLang="en-US" sz="1900" b="1" dirty="0">
                <a:solidFill>
                  <a:srgbClr val="6B4FC0"/>
                </a:solidFill>
                <a:latin typeface="Tahoma" pitchFamily="34" charset="0"/>
                <a:ea typeface="Tahoma" pitchFamily="34" charset="-122"/>
                <a:cs typeface="Tahoma" pitchFamily="34" charset="-120"/>
              </a:rPr>
              <a:t>منتِج 🌱 أم مستهلِك 🐰 أم محلِّل 🍄؟  اضغطي على البطاقة 👆</a:t>
            </a:r>
            <a:endParaRPr lang="ar-SA" sz="1900" dirty="0"/>
          </a:p>
        </p:txBody>
      </p:sp>
      <p:sp>
        <p:nvSpPr>
          <p:cNvPr id="5" name="s4_c0"/>
          <p:cNvSpPr txBox="1"/>
          <p:nvPr/>
        </p:nvSpPr>
        <p:spPr>
          <a:xfrm>
            <a:off x="8366760" y="1783080"/>
            <a:ext cx="3108960" cy="1600200"/>
          </a:xfrm>
          <a:prstGeom prst="roundRect">
            <a:avLst>
              <a:gd name="adj" fmla="val 8000"/>
            </a:avLst>
          </a:prstGeom>
          <a:solidFill>
            <a:srgbClr val="F9D3E3"/>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الفطر</a:t>
            </a:r>
            <a:endParaRPr lang="ar-SA" sz="1800" dirty="0"/>
          </a:p>
        </p:txBody>
      </p:sp>
      <p:sp>
        <p:nvSpPr>
          <p:cNvPr id="6" name="s4_4@t=s4_c0"/>
          <p:cNvSpPr txBox="1"/>
          <p:nvPr/>
        </p:nvSpPr>
        <p:spPr>
          <a:xfrm>
            <a:off x="8869680" y="320040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7" name="s4_c1"/>
          <p:cNvSpPr txBox="1"/>
          <p:nvPr/>
        </p:nvSpPr>
        <p:spPr>
          <a:xfrm>
            <a:off x="4937760" y="1783080"/>
            <a:ext cx="3108960" cy="1600200"/>
          </a:xfrm>
          <a:prstGeom prst="roundRect">
            <a:avLst>
              <a:gd name="adj" fmla="val 8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العشب</a:t>
            </a:r>
            <a:endParaRPr lang="ar-SA" sz="1800" dirty="0"/>
          </a:p>
        </p:txBody>
      </p:sp>
      <p:sp>
        <p:nvSpPr>
          <p:cNvPr id="8" name="s4_5@t=s4_c1"/>
          <p:cNvSpPr txBox="1"/>
          <p:nvPr/>
        </p:nvSpPr>
        <p:spPr>
          <a:xfrm>
            <a:off x="5440680" y="320040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9" name="s4_c2"/>
          <p:cNvSpPr txBox="1"/>
          <p:nvPr/>
        </p:nvSpPr>
        <p:spPr>
          <a:xfrm>
            <a:off x="1508760" y="1783080"/>
            <a:ext cx="310896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الأرنب</a:t>
            </a:r>
            <a:endParaRPr lang="ar-SA" sz="1800" dirty="0"/>
          </a:p>
        </p:txBody>
      </p:sp>
      <p:sp>
        <p:nvSpPr>
          <p:cNvPr id="10" name="s4_6@t=s4_c2"/>
          <p:cNvSpPr txBox="1"/>
          <p:nvPr/>
        </p:nvSpPr>
        <p:spPr>
          <a:xfrm>
            <a:off x="2011680" y="320040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1" name="s4_c3"/>
          <p:cNvSpPr txBox="1"/>
          <p:nvPr/>
        </p:nvSpPr>
        <p:spPr>
          <a:xfrm>
            <a:off x="8366760" y="3931920"/>
            <a:ext cx="3108960" cy="1600200"/>
          </a:xfrm>
          <a:prstGeom prst="roundRect">
            <a:avLst>
              <a:gd name="adj" fmla="val 8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البكتيريا</a:t>
            </a:r>
            <a:endParaRPr lang="ar-SA" sz="1800" dirty="0"/>
          </a:p>
        </p:txBody>
      </p:sp>
      <p:sp>
        <p:nvSpPr>
          <p:cNvPr id="12" name="s4_7@t=s4_c3"/>
          <p:cNvSpPr txBox="1"/>
          <p:nvPr/>
        </p:nvSpPr>
        <p:spPr>
          <a:xfrm>
            <a:off x="8869680" y="534924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13" name="s4_c4"/>
          <p:cNvSpPr txBox="1"/>
          <p:nvPr/>
        </p:nvSpPr>
        <p:spPr>
          <a:xfrm>
            <a:off x="4937760" y="3931920"/>
            <a:ext cx="3108960" cy="1600200"/>
          </a:xfrm>
          <a:prstGeom prst="roundRect">
            <a:avLst>
              <a:gd name="adj" fmla="val 8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الأسد</a:t>
            </a:r>
            <a:endParaRPr lang="ar-SA" sz="1800" dirty="0"/>
          </a:p>
        </p:txBody>
      </p:sp>
      <p:sp>
        <p:nvSpPr>
          <p:cNvPr id="14" name="s4_8@t=s4_c4"/>
          <p:cNvSpPr txBox="1"/>
          <p:nvPr/>
        </p:nvSpPr>
        <p:spPr>
          <a:xfrm>
            <a:off x="5440680" y="534924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5" name="s4_c5"/>
          <p:cNvSpPr txBox="1"/>
          <p:nvPr/>
        </p:nvSpPr>
        <p:spPr>
          <a:xfrm>
            <a:off x="1508760" y="3931920"/>
            <a:ext cx="3108960" cy="1600200"/>
          </a:xfrm>
          <a:prstGeom prst="roundRect">
            <a:avLst>
              <a:gd name="adj" fmla="val 8000"/>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الشجرة</a:t>
            </a:r>
            <a:endParaRPr lang="ar-SA" sz="1800" dirty="0"/>
          </a:p>
        </p:txBody>
      </p:sp>
      <p:sp>
        <p:nvSpPr>
          <p:cNvPr id="16" name="s4_9@t=s4_c5"/>
          <p:cNvSpPr txBox="1"/>
          <p:nvPr/>
        </p:nvSpPr>
        <p:spPr>
          <a:xfrm>
            <a:off x="2011680" y="534924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17" name="s4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4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fade/>
  </p:transition>
  <p:timing>
    <p:tnLst>
      <p:par>
        <p:cTn id="1" dur="indefinite" restart="never" nodeType="tmRoot">
          <p:childTnLst>
            <p:seq concurrent="1" nextAc="seek">
              <p:cTn id="8"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childTnLst>
              </p:cTn>
              <p:nextCondLst>
                <p:cond evt="onNext" delay="0">
                  <p:tgtEl>
                    <p:spTgt spid="5"/>
                  </p:tgtEl>
                </p:cond>
              </p:nextCondLst>
            </p:seq>
            <p:seq concurrent="1" nextAc="seek">
              <p:cTn id="14"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3"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nextCondLst>
                <p:cond evt="onNext" delay="0">
                  <p:tgtEl>
                    <p:spTgt spid="7"/>
                  </p:tgtEl>
                </p:cond>
              </p:nextCondLst>
            </p:seq>
            <p:seq concurrent="1" nextAc="seek">
              <p:cTn id="20" restart="whenNotActive" fill="hold" evtFilter="cancelBubble" nodeType="interactiveSeq">
                <p:stCondLst>
                  <p:cond evt="onClick" delay="0">
                    <p:tgtEl>
                      <p:spTgt spid="9"/>
                    </p:tgtEl>
                  </p:cond>
                </p:stCondLst>
                <p:endSync evt="end" delay="0">
                  <p:rtn val="all"/>
                </p:endSync>
                <p:childTnLst>
                  <p:par>
                    <p:cTn id="15" fill="hold">
                      <p:stCondLst>
                        <p:cond delay="0"/>
                      </p:stCondLst>
                      <p:childTnLst>
                        <p:par>
                          <p:cTn id="19"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childTnLst>
              </p:cTn>
              <p:nextCondLst>
                <p:cond evt="onNext" delay="0">
                  <p:tgtEl>
                    <p:spTgt spid="9"/>
                  </p:tgtEl>
                </p:cond>
              </p:nextCondLst>
            </p:seq>
            <p:seq concurrent="1" nextAc="seek">
              <p:cTn id="26" restart="whenNotActive" fill="hold" evtFilter="cancelBubble" nodeType="interactiveSeq">
                <p:stCondLst>
                  <p:cond evt="onClick" delay="0">
                    <p:tgtEl>
                      <p:spTgt spid="11"/>
                    </p:tgtEl>
                  </p:cond>
                </p:stCondLst>
                <p:endSync evt="end" delay="0">
                  <p:rtn val="all"/>
                </p:endSync>
                <p:childTnLst>
                  <p:par>
                    <p:cTn id="21" fill="hold">
                      <p:stCondLst>
                        <p:cond delay="0"/>
                      </p:stCondLst>
                      <p:childTnLst>
                        <p:par>
                          <p:cTn id="25"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childTnLst>
              </p:cTn>
              <p:nextCondLst>
                <p:cond evt="onNext" delay="0">
                  <p:tgtEl>
                    <p:spTgt spid="11"/>
                  </p:tgtEl>
                </p:cond>
              </p:nextCondLst>
            </p:seq>
            <p:seq concurrent="1" nextAc="seek">
              <p:cTn id="32" restart="whenNotActive" fill="hold" evtFilter="cancelBubble" nodeType="interactiveSeq">
                <p:stCondLst>
                  <p:cond evt="onClick" delay="0">
                    <p:tgtEl>
                      <p:spTgt spid="13"/>
                    </p:tgtEl>
                  </p:cond>
                </p:stCondLst>
                <p:endSync evt="end" delay="0">
                  <p:rtn val="all"/>
                </p:endSync>
                <p:childTnLst>
                  <p:par>
                    <p:cTn id="27" fill="hold">
                      <p:stCondLst>
                        <p:cond delay="0"/>
                      </p:stCondLst>
                      <p:childTnLst>
                        <p:par>
                          <p:cTn id="31"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childTnLst>
                          </p:cTn>
                        </p:par>
                      </p:childTnLst>
                    </p:cTn>
                  </p:par>
                </p:childTnLst>
              </p:cTn>
              <p:nextCondLst>
                <p:cond evt="onNext" delay="0">
                  <p:tgtEl>
                    <p:spTgt spid="13"/>
                  </p:tgtEl>
                </p:cond>
              </p:nextCondLst>
            </p:seq>
            <p:seq concurrent="1" nextAc="seek">
              <p:cTn id="38"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7"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00"/>
                                        <p:tgtEl>
                                          <p:spTgt spid="16"/>
                                        </p:tgtEl>
                                      </p:cBhvr>
                                    </p:animEffect>
                                  </p:childTnLst>
                                </p:cTn>
                              </p:par>
                            </p:childTnLst>
                          </p:cTn>
                        </p:par>
                      </p:childTnLst>
                    </p:cTn>
                  </p:par>
                </p:childTnLst>
              </p:cTn>
              <p:nextCondLst>
                <p:cond evt="onNext" delay="0">
                  <p:tgtEl>
                    <p:spTgt spid="15"/>
                  </p:tgtEl>
                </p:cond>
              </p:nextCondLst>
            </p:seq>
          </p:childTnLst>
        </p:cTn>
      </p:par>
    </p:tnLst>
    <p:bldLst>
      <p:bldP spid="6" grpId="0" animBg="1"/>
      <p:bldP spid="8" grpId="0" animBg="1"/>
      <p:bldP spid="10" grpId="0" animBg="1"/>
      <p:bldP spid="12" grpId="0" animBg="1"/>
      <p:bldP spid="14"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1" descr="/tmp/claude-0/-home-user/4092b4c5-df81-5a0c-b1b2-79950f0cf3f7/scratchpad/build/img/t_puzzle.png">    </p:cNvPr>
          <p:cNvPicPr>
            <a:picLocks noChangeAspect="1"/>
          </p:cNvPicPr>
          <p:nvPr/>
        </p:nvPicPr>
        <p:blipFill>
          <a:blip r:embed="rId2"/>
          <a:stretch>
            <a:fillRect/>
          </a:stretch>
        </p:blipFill>
        <p:spPr>
          <a:xfrm>
            <a:off x="9277607" y="182880"/>
            <a:ext cx="2548328" cy="731520"/>
          </a:xfrm>
          <a:prstGeom prst="rect">
            <a:avLst/>
          </a:prstGeom>
        </p:spPr>
      </p:pic>
      <p:sp>
        <p:nvSpPr>
          <p:cNvPr id="3" name="s5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التنبؤ – قياس قبلي</a:t>
            </a:r>
            <a:endParaRPr lang="en-US" sz="1600" dirty="0"/>
          </a:p>
        </p:txBody>
      </p:sp>
      <p:sp>
        <p:nvSpPr>
          <p:cNvPr id="4" name="s5_3"/>
          <p:cNvSpPr txBox="1"/>
          <p:nvPr/>
        </p:nvSpPr>
        <p:spPr>
          <a:xfrm>
            <a:off x="2697480" y="1188720"/>
            <a:ext cx="90525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2000" b="1" dirty="0">
                <a:solidFill>
                  <a:srgbClr val="C2366F"/>
                </a:solidFill>
                <a:latin typeface="Tahoma" pitchFamily="34" charset="0"/>
                <a:ea typeface="Tahoma" pitchFamily="34" charset="-122"/>
                <a:cs typeface="Tahoma" pitchFamily="34" charset="-120"/>
              </a:rPr>
              <a:t>لغز الرحلة: </a:t>
            </a:r>
            <a:r>
              <a:rPr lang="ar-SA" altLang="en-US" sz="2000" b="1" dirty="0">
                <a:solidFill>
                  <a:srgbClr val="34405E"/>
                </a:solidFill>
                <a:latin typeface="Tahoma" pitchFamily="34" charset="0"/>
                <a:ea typeface="Tahoma" pitchFamily="34" charset="-122"/>
                <a:cs typeface="Tahoma" pitchFamily="34" charset="-120"/>
              </a:rPr>
              <a:t>في سلسلة غذائية على اليابسة… أيّ هذه المخلوقات يصل إليه أقلّ قدرٍ من طاقة الشمس؟</a:t>
            </a:r>
            <a:endParaRPr lang="ar-SA" sz="2000" dirty="0"/>
          </a:p>
        </p:txBody>
      </p:sp>
      <p:pic>
        <p:nvPicPr>
          <p:cNvPr id="5" name="s5_4" descr="/tmp/claude-0/-home-user/4092b4c5-df81-5a0c-b1b2-79950f0cf3f7/scratchpad/build/img/o_thistle.png">    </p:cNvPr>
          <p:cNvPicPr>
            <a:picLocks noChangeAspect="1"/>
          </p:cNvPicPr>
          <p:nvPr/>
        </p:nvPicPr>
        <p:blipFill>
          <a:blip r:embed="rId3"/>
          <a:stretch>
            <a:fillRect/>
          </a:stretch>
        </p:blipFill>
        <p:spPr>
          <a:xfrm>
            <a:off x="9326880" y="2377440"/>
            <a:ext cx="1920240" cy="1920240"/>
          </a:xfrm>
          <a:prstGeom prst="rect">
            <a:avLst/>
          </a:prstGeom>
        </p:spPr>
      </p:pic>
      <p:sp>
        <p:nvSpPr>
          <p:cNvPr id="6" name="s5_5"/>
          <p:cNvSpPr txBox="1"/>
          <p:nvPr/>
        </p:nvSpPr>
        <p:spPr>
          <a:xfrm>
            <a:off x="8823960" y="4389120"/>
            <a:ext cx="2926080" cy="566928"/>
          </a:xfrm>
          <a:prstGeom prst="roundRect">
            <a:avLst>
              <a:gd name="adj" fmla="val 22581"/>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أ) </a:t>
            </a: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pic>
        <p:nvPicPr>
          <p:cNvPr id="7" name="s5_6" descr="/tmp/claude-0/-home-user/4092b4c5-df81-5a0c-b1b2-79950f0cf3f7/scratchpad/build/img/o_caterpillar.png">    </p:cNvPr>
          <p:cNvPicPr>
            <a:picLocks noChangeAspect="1"/>
          </p:cNvPicPr>
          <p:nvPr/>
        </p:nvPicPr>
        <p:blipFill>
          <a:blip r:embed="rId4"/>
          <a:stretch>
            <a:fillRect/>
          </a:stretch>
        </p:blipFill>
        <p:spPr>
          <a:xfrm>
            <a:off x="6309360" y="2377440"/>
            <a:ext cx="1920240" cy="1920240"/>
          </a:xfrm>
          <a:prstGeom prst="rect">
            <a:avLst/>
          </a:prstGeom>
        </p:spPr>
      </p:pic>
      <p:sp>
        <p:nvSpPr>
          <p:cNvPr id="8" name="s5_7"/>
          <p:cNvSpPr txBox="1"/>
          <p:nvPr/>
        </p:nvSpPr>
        <p:spPr>
          <a:xfrm>
            <a:off x="5806440" y="4389120"/>
            <a:ext cx="292608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ب) </a:t>
            </a: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pic>
        <p:nvPicPr>
          <p:cNvPr id="9" name="s5_8" descr="/tmp/claude-0/-home-user/4092b4c5-df81-5a0c-b1b2-79950f0cf3f7/scratchpad/build/img/o_owl.png">    </p:cNvPr>
          <p:cNvPicPr>
            <a:picLocks noChangeAspect="1"/>
          </p:cNvPicPr>
          <p:nvPr/>
        </p:nvPicPr>
        <p:blipFill>
          <a:blip r:embed="rId5"/>
          <a:stretch>
            <a:fillRect/>
          </a:stretch>
        </p:blipFill>
        <p:spPr>
          <a:xfrm>
            <a:off x="3291840" y="2377440"/>
            <a:ext cx="1920240" cy="1920240"/>
          </a:xfrm>
          <a:prstGeom prst="rect">
            <a:avLst/>
          </a:prstGeom>
        </p:spPr>
      </p:pic>
      <p:sp>
        <p:nvSpPr>
          <p:cNvPr id="10" name="s5_9"/>
          <p:cNvSpPr txBox="1"/>
          <p:nvPr/>
        </p:nvSpPr>
        <p:spPr>
          <a:xfrm>
            <a:off x="2788920" y="4389120"/>
            <a:ext cx="2926080" cy="566928"/>
          </a:xfrm>
          <a:prstGeom prst="roundRect">
            <a:avLst>
              <a:gd name="adj" fmla="val 2258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ج) </a:t>
            </a: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sp>
        <p:nvSpPr>
          <p:cNvPr id="11" name="s5_10"/>
          <p:cNvSpPr txBox="1"/>
          <p:nvPr/>
        </p:nvSpPr>
        <p:spPr>
          <a:xfrm>
            <a:off x="2697480" y="5074920"/>
            <a:ext cx="905256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صوّتي بأصابعك (١ أو ٢ أو ٣)، وسجّلي إجابتك في دفترك ✍️</a:t>
            </a:r>
            <a:endParaRPr lang="ar-SA" sz="1700" dirty="0"/>
          </a:p>
        </p:txBody>
      </p:sp>
      <p:sp>
        <p:nvSpPr>
          <p:cNvPr id="12" name="s5_11@c1"/>
          <p:cNvSpPr txBox="1"/>
          <p:nvPr/>
        </p:nvSpPr>
        <p:spPr>
          <a:xfrm>
            <a:off x="4937760" y="5577840"/>
            <a:ext cx="4572000" cy="502920"/>
          </a:xfrm>
          <a:prstGeom prst="roundRect">
            <a:avLst>
              <a:gd name="adj" fmla="val 25455"/>
            </a:avLst>
          </a:prstGeom>
          <a:solidFill>
            <a:srgbClr val="FFF6D6"/>
          </a:solidFill>
          <a:ln w="25400">
            <a:solidFill>
              <a:srgbClr val="F5C242"/>
            </a:solidFill>
            <a:prstDash val="dash"/>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 سنكشف الإجابة في نهاية الرحلة!</a:t>
            </a:r>
            <a:endParaRPr lang="ar-SA" sz="1600" dirty="0"/>
          </a:p>
        </p:txBody>
      </p:sp>
      <p:pic>
        <p:nvPicPr>
          <p:cNvPr id="13" name="s5_12" descr="/tmp/claude-0/-home-user/4092b4c5-df81-5a0c-b1b2-79950f0cf3f7/scratchpad/build/img/explorer_point.png">    </p:cNvPr>
          <p:cNvPicPr>
            <a:picLocks noChangeAspect="1"/>
          </p:cNvPicPr>
          <p:nvPr/>
        </p:nvPicPr>
        <p:blipFill>
          <a:blip r:embed="rId6"/>
          <a:stretch>
            <a:fillRect/>
          </a:stretch>
        </p:blipFill>
        <p:spPr>
          <a:xfrm>
            <a:off x="274320" y="2011680"/>
            <a:ext cx="2428539" cy="3931920"/>
          </a:xfrm>
          <a:prstGeom prst="rect">
            <a:avLst/>
          </a:prstGeom>
        </p:spPr>
      </p:pic>
      <p:sp>
        <p:nvSpPr>
          <p:cNvPr id="14" name="s5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5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12"/>
                                        </p:tgtEl>
                                        <p:attrNameLst>
                                          <p:attrName>style.visibility</p:attrName>
                                        </p:attrNameLst>
                                      </p:cBhvr>
                                      <p:to>
                                        <p:strVal val="visible"/>
                                      </p:to>
                                    </p:set>
                                    <p:animEffect transition="in" filter="fade">
                                      <p:cBhvr>
                                        <p:cTn id="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1" descr="/tmp/claude-0/-home-user/4092b4c5-df81-5a0c-b1b2-79950f0cf3f7/scratchpad/build/img/t_goals.png">    </p:cNvPr>
          <p:cNvPicPr>
            <a:picLocks noChangeAspect="1"/>
          </p:cNvPicPr>
          <p:nvPr/>
        </p:nvPicPr>
        <p:blipFill>
          <a:blip r:embed="rId2"/>
          <a:stretch>
            <a:fillRect/>
          </a:stretch>
        </p:blipFill>
        <p:spPr>
          <a:xfrm>
            <a:off x="8809914" y="182880"/>
            <a:ext cx="3016021" cy="731520"/>
          </a:xfrm>
          <a:prstGeom prst="rect">
            <a:avLst/>
          </a:prstGeom>
        </p:spPr>
      </p:pic>
      <p:sp>
        <p:nvSpPr>
          <p:cNvPr id="3" name="s6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أهدافي اليوم</a:t>
            </a:r>
            <a:endParaRPr lang="en-US" sz="1600" dirty="0"/>
          </a:p>
        </p:txBody>
      </p:sp>
      <p:sp>
        <p:nvSpPr>
          <p:cNvPr id="4" name="s6_3"/>
          <p:cNvSpPr txBox="1"/>
          <p:nvPr/>
        </p:nvSpPr>
        <p:spPr>
          <a:xfrm>
            <a:off x="6537960" y="1143000"/>
            <a:ext cx="5212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ناتج التعلم</a:t>
            </a:r>
            <a:endParaRPr lang="ar-SA" sz="1600" dirty="0"/>
          </a:p>
        </p:txBody>
      </p:sp>
      <p:sp>
        <p:nvSpPr>
          <p:cNvPr id="5" name="s6_4"/>
          <p:cNvSpPr txBox="1"/>
          <p:nvPr/>
        </p:nvSpPr>
        <p:spPr>
          <a:xfrm>
            <a:off x="3520440" y="1143000"/>
            <a:ext cx="2926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النشاط</a:t>
            </a:r>
            <a:endParaRPr lang="ar-SA" sz="1600" dirty="0"/>
          </a:p>
        </p:txBody>
      </p:sp>
      <p:sp>
        <p:nvSpPr>
          <p:cNvPr id="6" name="s6_5"/>
          <p:cNvSpPr txBox="1"/>
          <p:nvPr/>
        </p:nvSpPr>
        <p:spPr>
          <a:xfrm>
            <a:off x="548640" y="1143000"/>
            <a:ext cx="288036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التقويم</a:t>
            </a:r>
            <a:endParaRPr lang="ar-SA" sz="1600" dirty="0"/>
          </a:p>
        </p:txBody>
      </p:sp>
      <p:sp>
        <p:nvSpPr>
          <p:cNvPr id="7" name="s6_6@c1"/>
          <p:cNvSpPr txBox="1"/>
          <p:nvPr/>
        </p:nvSpPr>
        <p:spPr>
          <a:xfrm>
            <a:off x="6537960" y="1737360"/>
            <a:ext cx="5212080" cy="932688"/>
          </a:xfrm>
          <a:prstGeom prst="roundRect">
            <a:avLst>
              <a:gd name="adj" fmla="val 137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١  </a:t>
            </a:r>
            <a:r>
              <a:rPr lang="ar-SA" altLang="en-US" sz="1600" b="1" dirty="0">
                <a:solidFill>
                  <a:srgbClr val="34405E"/>
                </a:solidFill>
                <a:latin typeface="Tahoma" pitchFamily="34" charset="0"/>
                <a:ea typeface="Tahoma" pitchFamily="34" charset="-122"/>
                <a:cs typeface="Tahoma" pitchFamily="34" charset="-120"/>
              </a:rPr>
              <a:t>تعرّف الطالبة السلسلة الغذائية، وتحدّد مصدر الطاقة فيها.</a:t>
            </a:r>
            <a:endParaRPr lang="ar-SA" sz="1600" dirty="0"/>
          </a:p>
        </p:txBody>
      </p:sp>
      <p:sp>
        <p:nvSpPr>
          <p:cNvPr id="8" name="s6_7@c1"/>
          <p:cNvSpPr txBox="1"/>
          <p:nvPr/>
        </p:nvSpPr>
        <p:spPr>
          <a:xfrm>
            <a:off x="3520440" y="1737360"/>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أقرأ وأتعلّم + وقفة تدبّر</a:t>
            </a:r>
            <a:endParaRPr lang="ar-SA" sz="1450" dirty="0"/>
          </a:p>
        </p:txBody>
      </p:sp>
      <p:sp>
        <p:nvSpPr>
          <p:cNvPr id="9" name="s6_8@c1"/>
          <p:cNvSpPr txBox="1"/>
          <p:nvPr/>
        </p:nvSpPr>
        <p:spPr>
          <a:xfrm>
            <a:off x="548640" y="1737360"/>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سؤال: ما مصدر الطاقة؟</a:t>
            </a:r>
            <a:endParaRPr lang="ar-SA" sz="1450" dirty="0"/>
          </a:p>
        </p:txBody>
      </p:sp>
      <p:sp>
        <p:nvSpPr>
          <p:cNvPr id="10" name="s6_9@c2"/>
          <p:cNvSpPr txBox="1"/>
          <p:nvPr/>
        </p:nvSpPr>
        <p:spPr>
          <a:xfrm>
            <a:off x="6537960" y="2816352"/>
            <a:ext cx="5212080" cy="932688"/>
          </a:xfrm>
          <a:prstGeom prst="roundRect">
            <a:avLst>
              <a:gd name="adj" fmla="val 137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٢  </a:t>
            </a:r>
            <a:r>
              <a:rPr lang="ar-SA" altLang="en-US" sz="1600" b="1" dirty="0">
                <a:solidFill>
                  <a:srgbClr val="34405E"/>
                </a:solidFill>
                <a:latin typeface="Tahoma" pitchFamily="34" charset="0"/>
                <a:ea typeface="Tahoma" pitchFamily="34" charset="-122"/>
                <a:cs typeface="Tahoma" pitchFamily="34" charset="-120"/>
              </a:rPr>
              <a:t>ترتّب مخلوقات حيّة في سلسلة غذائية على اليابسة وفي البركة.</a:t>
            </a:r>
            <a:endParaRPr lang="ar-SA" sz="1600" dirty="0"/>
          </a:p>
        </p:txBody>
      </p:sp>
      <p:sp>
        <p:nvSpPr>
          <p:cNvPr id="11" name="s6_10@c2"/>
          <p:cNvSpPr txBox="1"/>
          <p:nvPr/>
        </p:nvSpPr>
        <p:spPr>
          <a:xfrm>
            <a:off x="3520440" y="2816352"/>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أقرأ الشكل + لعبة رتّبي السلسلة</a:t>
            </a:r>
            <a:endParaRPr lang="ar-SA" sz="1450" dirty="0"/>
          </a:p>
        </p:txBody>
      </p:sp>
      <p:sp>
        <p:nvSpPr>
          <p:cNvPr id="12" name="s6_11@c2"/>
          <p:cNvSpPr txBox="1"/>
          <p:nvPr/>
        </p:nvSpPr>
        <p:spPr>
          <a:xfrm>
            <a:off x="548640" y="2816352"/>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التقويم التكويني</a:t>
            </a:r>
            <a:endParaRPr lang="ar-SA" sz="1450" dirty="0"/>
          </a:p>
        </p:txBody>
      </p:sp>
      <p:sp>
        <p:nvSpPr>
          <p:cNvPr id="13" name="s6_12@c3"/>
          <p:cNvSpPr txBox="1"/>
          <p:nvPr/>
        </p:nvSpPr>
        <p:spPr>
          <a:xfrm>
            <a:off x="6537960" y="3895344"/>
            <a:ext cx="5212080" cy="932688"/>
          </a:xfrm>
          <a:prstGeom prst="roundRect">
            <a:avLst>
              <a:gd name="adj" fmla="val 137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٣  </a:t>
            </a:r>
            <a:r>
              <a:rPr lang="ar-SA" altLang="en-US" sz="1600" b="1" dirty="0">
                <a:solidFill>
                  <a:srgbClr val="34405E"/>
                </a:solidFill>
                <a:latin typeface="Tahoma" pitchFamily="34" charset="0"/>
                <a:ea typeface="Tahoma" pitchFamily="34" charset="-122"/>
                <a:cs typeface="Tahoma" pitchFamily="34" charset="-120"/>
              </a:rPr>
              <a:t>تميّز بين المفترس والفريسة في الشبكة الغذائية.</a:t>
            </a:r>
            <a:endParaRPr lang="ar-SA" sz="1600" dirty="0"/>
          </a:p>
        </p:txBody>
      </p:sp>
      <p:sp>
        <p:nvSpPr>
          <p:cNvPr id="14" name="s6_13@c3"/>
          <p:cNvSpPr txBox="1"/>
          <p:nvPr/>
        </p:nvSpPr>
        <p:spPr>
          <a:xfrm>
            <a:off x="3520440" y="3895344"/>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أقرأ الشكل: شبكة المحيط</a:t>
            </a:r>
            <a:endParaRPr lang="ar-SA" sz="1450" dirty="0"/>
          </a:p>
        </p:txBody>
      </p:sp>
      <p:sp>
        <p:nvSpPr>
          <p:cNvPr id="15" name="s6_14@c3"/>
          <p:cNvSpPr txBox="1"/>
          <p:nvPr/>
        </p:nvSpPr>
        <p:spPr>
          <a:xfrm>
            <a:off x="548640" y="3895344"/>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لعبة: من أنا؟</a:t>
            </a:r>
            <a:endParaRPr lang="ar-SA" sz="1450" dirty="0"/>
          </a:p>
        </p:txBody>
      </p:sp>
      <p:sp>
        <p:nvSpPr>
          <p:cNvPr id="16" name="s6_15@c4"/>
          <p:cNvSpPr txBox="1"/>
          <p:nvPr/>
        </p:nvSpPr>
        <p:spPr>
          <a:xfrm>
            <a:off x="6537960" y="4974336"/>
            <a:ext cx="5212080" cy="932688"/>
          </a:xfrm>
          <a:prstGeom prst="roundRect">
            <a:avLst>
              <a:gd name="adj" fmla="val 137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٤  </a:t>
            </a:r>
            <a:r>
              <a:rPr lang="ar-SA" altLang="en-US" sz="1600" b="1" dirty="0">
                <a:solidFill>
                  <a:srgbClr val="34405E"/>
                </a:solidFill>
                <a:latin typeface="Tahoma" pitchFamily="34" charset="0"/>
                <a:ea typeface="Tahoma" pitchFamily="34" charset="-122"/>
                <a:cs typeface="Tahoma" pitchFamily="34" charset="-120"/>
              </a:rPr>
              <a:t>تقارن بين السلسلة والشبكة الغذائية، وتستنتج أثر اختفاء مخلوق منها.</a:t>
            </a:r>
            <a:endParaRPr lang="ar-SA" sz="1600" dirty="0"/>
          </a:p>
        </p:txBody>
      </p:sp>
      <p:sp>
        <p:nvSpPr>
          <p:cNvPr id="17" name="s6_16@c4"/>
          <p:cNvSpPr txBox="1"/>
          <p:nvPr/>
        </p:nvSpPr>
        <p:spPr>
          <a:xfrm>
            <a:off x="3520440" y="4974336"/>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السبورة المنظمة + تحدّي العقول</a:t>
            </a:r>
            <a:endParaRPr lang="ar-SA" sz="1450" dirty="0"/>
          </a:p>
        </p:txBody>
      </p:sp>
      <p:sp>
        <p:nvSpPr>
          <p:cNvPr id="18" name="s6_17@c4"/>
          <p:cNvSpPr txBox="1"/>
          <p:nvPr/>
        </p:nvSpPr>
        <p:spPr>
          <a:xfrm>
            <a:off x="548640" y="4974336"/>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حصاد المعرفة</a:t>
            </a:r>
            <a:endParaRPr lang="ar-SA" sz="1450" dirty="0"/>
          </a:p>
        </p:txBody>
      </p:sp>
      <p:sp>
        <p:nvSpPr>
          <p:cNvPr id="19" name="s6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6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13"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4" fill="hold">
                      <p:stCondLst>
                        <p:cond delay="indefinite"/>
                      </p:stCondLst>
                      <p:childTnLst>
                        <p:par>
                          <p:cTn id="2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5" fill="hold">
                      <p:stCondLst>
                        <p:cond delay="indefinite"/>
                      </p:stCondLst>
                      <p:childTnLst>
                        <p:par>
                          <p:cTn id="3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childTnLst>
                          </p:cTn>
                        </p:par>
                      </p:childTnLst>
                    </p:cTn>
                  </p:par>
                  <p:par>
                    <p:cTn id="36" fill="hold">
                      <p:stCondLst>
                        <p:cond delay="indefinite"/>
                      </p:stCondLst>
                      <p:childTnLst>
                        <p:par>
                          <p:cTn id="4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1" descr="/tmp/claude-0/-home-user/4092b4c5-df81-5a0c-b1b2-79950f0cf3f7/scratchpad/build/img/t_map.png">    </p:cNvPr>
          <p:cNvPicPr>
            <a:picLocks noChangeAspect="1"/>
          </p:cNvPicPr>
          <p:nvPr/>
        </p:nvPicPr>
        <p:blipFill>
          <a:blip r:embed="rId2"/>
          <a:stretch>
            <a:fillRect/>
          </a:stretch>
        </p:blipFill>
        <p:spPr>
          <a:xfrm>
            <a:off x="8498119" y="182880"/>
            <a:ext cx="3327816" cy="731520"/>
          </a:xfrm>
          <a:prstGeom prst="rect">
            <a:avLst/>
          </a:prstGeom>
        </p:spPr>
      </p:pic>
      <p:sp>
        <p:nvSpPr>
          <p:cNvPr id="3" name="s7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خريطة الدرس – المنظّم المتقدّم</a:t>
            </a:r>
            <a:endParaRPr lang="en-US" sz="1600" dirty="0"/>
          </a:p>
        </p:txBody>
      </p:sp>
      <p:sp>
        <p:nvSpPr>
          <p:cNvPr id="4" name="s7_3"/>
          <p:cNvSpPr/>
          <p:nvPr/>
        </p:nvSpPr>
        <p:spPr>
          <a:xfrm>
            <a:off x="1097280" y="3246120"/>
            <a:ext cx="10058400" cy="0"/>
          </a:xfrm>
          <a:prstGeom prst="line">
            <a:avLst/>
          </a:prstGeom>
          <a:noFill/>
          <a:ln w="76200">
            <a:solidFill>
              <a:srgbClr val="8A6A4A"/>
            </a:solidFill>
            <a:prstDash val="dash"/>
          </a:ln>
        </p:spPr>
      </p:sp>
      <p:sp>
        <p:nvSpPr>
          <p:cNvPr id="5" name="s7_4@c1"/>
          <p:cNvSpPr txBox="1"/>
          <p:nvPr/>
        </p:nvSpPr>
        <p:spPr>
          <a:xfrm>
            <a:off x="10012680" y="2514600"/>
            <a:ext cx="1463040" cy="1463040"/>
          </a:xfrm>
          <a:prstGeom prst="ellipse">
            <a:avLst>
              <a:gd name="adj" fmla="val 8750"/>
            </a:avLst>
          </a:prstGeom>
          <a:solidFill>
            <a:srgbClr val="FFD1E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3" action="ppaction://hlinksldjump" tooltip="قطار الذكريات">
                  <a:extLst>
                    <a:ext uri="{A12FA001-AC4F-418D-AE19-62706E023703}">
                      <ahyp:hlinkClr xmlns:ahyp="http://schemas.microsoft.com/office/drawing/2018/hyperlinkcolor" val="tx"/>
                    </a:ext>
                  </a:extLst>
                </a:hlinkClick>
              </a:rPr>
              <a:t>١</a:t>
            </a:r>
            <a:endParaRPr lang="ar-SA" sz="1800" dirty="0"/>
          </a:p>
        </p:txBody>
      </p:sp>
      <p:sp>
        <p:nvSpPr>
          <p:cNvPr id="6" name="s7_5@c1"/>
          <p:cNvSpPr txBox="1"/>
          <p:nvPr/>
        </p:nvSpPr>
        <p:spPr>
          <a:xfrm>
            <a:off x="9555480" y="404164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قطار الذكريات</a:t>
            </a:r>
            <a:endParaRPr lang="ar-SA" sz="1700" dirty="0"/>
          </a:p>
        </p:txBody>
      </p:sp>
      <p:sp>
        <p:nvSpPr>
          <p:cNvPr id="7" name="s7_6@c1"/>
          <p:cNvSpPr txBox="1"/>
          <p:nvPr/>
        </p:nvSpPr>
        <p:spPr>
          <a:xfrm>
            <a:off x="9555480" y="443484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مراجعة المحلِّلات</a:t>
            </a:r>
            <a:endParaRPr lang="ar-SA" sz="1350" dirty="0"/>
          </a:p>
        </p:txBody>
      </p:sp>
      <p:sp>
        <p:nvSpPr>
          <p:cNvPr id="8" name="s7_7@c2"/>
          <p:cNvSpPr txBox="1"/>
          <p:nvPr/>
        </p:nvSpPr>
        <p:spPr>
          <a:xfrm>
            <a:off x="7772400" y="2514600"/>
            <a:ext cx="1463040" cy="1463040"/>
          </a:xfrm>
          <a:prstGeom prst="ellipse">
            <a:avLst>
              <a:gd name="adj" fmla="val 8750"/>
            </a:avLst>
          </a:prstGeom>
          <a:solidFill>
            <a:srgbClr val="FFE08A"/>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4" action="ppaction://hlinksldjump" tooltip="اليابسة">
                  <a:extLst>
                    <a:ext uri="{A12FA001-AC4F-418D-AE19-62706E023703}">
                      <ahyp:hlinkClr xmlns:ahyp="http://schemas.microsoft.com/office/drawing/2018/hyperlinkcolor" val="tx"/>
                    </a:ext>
                  </a:extLst>
                </a:hlinkClick>
              </a:rPr>
              <a:t>٢</a:t>
            </a:r>
            <a:endParaRPr lang="ar-SA" sz="1800" dirty="0"/>
          </a:p>
        </p:txBody>
      </p:sp>
      <p:sp>
        <p:nvSpPr>
          <p:cNvPr id="9" name="s7_8@c2"/>
          <p:cNvSpPr txBox="1"/>
          <p:nvPr/>
        </p:nvSpPr>
        <p:spPr>
          <a:xfrm>
            <a:off x="7315200" y="404164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اليابسة</a:t>
            </a:r>
            <a:endParaRPr lang="ar-SA" sz="1700" dirty="0"/>
          </a:p>
        </p:txBody>
      </p:sp>
      <p:sp>
        <p:nvSpPr>
          <p:cNvPr id="10" name="s7_9@c2"/>
          <p:cNvSpPr txBox="1"/>
          <p:nvPr/>
        </p:nvSpPr>
        <p:spPr>
          <a:xfrm>
            <a:off x="7315200" y="443484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ص١١٢ 🌵</a:t>
            </a:r>
            <a:endParaRPr lang="ar-SA" sz="1350" dirty="0"/>
          </a:p>
        </p:txBody>
      </p:sp>
      <p:sp>
        <p:nvSpPr>
          <p:cNvPr id="11" name="s7_10@c3"/>
          <p:cNvSpPr txBox="1"/>
          <p:nvPr/>
        </p:nvSpPr>
        <p:spPr>
          <a:xfrm>
            <a:off x="5532120" y="2514600"/>
            <a:ext cx="1463040" cy="1463040"/>
          </a:xfrm>
          <a:prstGeom prst="ellipse">
            <a:avLst>
              <a:gd name="adj" fmla="val 8750"/>
            </a:avLst>
          </a:prstGeom>
          <a:solidFill>
            <a:srgbClr val="C9F0C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5" action="ppaction://hlinksldjump" tooltip="البركة">
                  <a:extLst>
                    <a:ext uri="{A12FA001-AC4F-418D-AE19-62706E023703}">
                      <ahyp:hlinkClr xmlns:ahyp="http://schemas.microsoft.com/office/drawing/2018/hyperlinkcolor" val="tx"/>
                    </a:ext>
                  </a:extLst>
                </a:hlinkClick>
              </a:rPr>
              <a:t>٣</a:t>
            </a:r>
            <a:endParaRPr lang="ar-SA" sz="1800" dirty="0"/>
          </a:p>
        </p:txBody>
      </p:sp>
      <p:sp>
        <p:nvSpPr>
          <p:cNvPr id="12" name="s7_11@c3"/>
          <p:cNvSpPr txBox="1"/>
          <p:nvPr/>
        </p:nvSpPr>
        <p:spPr>
          <a:xfrm>
            <a:off x="5074920" y="404164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البركة</a:t>
            </a:r>
            <a:endParaRPr lang="ar-SA" sz="1700" dirty="0"/>
          </a:p>
        </p:txBody>
      </p:sp>
      <p:sp>
        <p:nvSpPr>
          <p:cNvPr id="13" name="s7_12@c3"/>
          <p:cNvSpPr txBox="1"/>
          <p:nvPr/>
        </p:nvSpPr>
        <p:spPr>
          <a:xfrm>
            <a:off x="5074920" y="443484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ص١١٣ 🪷</a:t>
            </a:r>
            <a:endParaRPr lang="ar-SA" sz="1350" dirty="0"/>
          </a:p>
        </p:txBody>
      </p:sp>
      <p:sp>
        <p:nvSpPr>
          <p:cNvPr id="14" name="s7_13@c4"/>
          <p:cNvSpPr txBox="1"/>
          <p:nvPr/>
        </p:nvSpPr>
        <p:spPr>
          <a:xfrm>
            <a:off x="3291840" y="2514600"/>
            <a:ext cx="1463040" cy="1463040"/>
          </a:xfrm>
          <a:prstGeom prst="ellipse">
            <a:avLst>
              <a:gd name="adj" fmla="val 8750"/>
            </a:avLst>
          </a:prstGeom>
          <a:solidFill>
            <a:srgbClr val="CFE8FF"/>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6" action="ppaction://hlinksldjump" tooltip="المحيط">
                  <a:extLst>
                    <a:ext uri="{A12FA001-AC4F-418D-AE19-62706E023703}">
                      <ahyp:hlinkClr xmlns:ahyp="http://schemas.microsoft.com/office/drawing/2018/hyperlinkcolor" val="tx"/>
                    </a:ext>
                  </a:extLst>
                </a:hlinkClick>
              </a:rPr>
              <a:t>٤</a:t>
            </a:r>
            <a:endParaRPr lang="ar-SA" sz="1800" dirty="0"/>
          </a:p>
        </p:txBody>
      </p:sp>
      <p:sp>
        <p:nvSpPr>
          <p:cNvPr id="15" name="s7_14@c4"/>
          <p:cNvSpPr txBox="1"/>
          <p:nvPr/>
        </p:nvSpPr>
        <p:spPr>
          <a:xfrm>
            <a:off x="2834640" y="404164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المحيط</a:t>
            </a:r>
            <a:endParaRPr lang="ar-SA" sz="1700" dirty="0"/>
          </a:p>
        </p:txBody>
      </p:sp>
      <p:sp>
        <p:nvSpPr>
          <p:cNvPr id="16" name="s7_15@c4"/>
          <p:cNvSpPr txBox="1"/>
          <p:nvPr/>
        </p:nvSpPr>
        <p:spPr>
          <a:xfrm>
            <a:off x="2834640" y="443484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ص١١٤ 🌊</a:t>
            </a:r>
            <a:endParaRPr lang="ar-SA" sz="1350" dirty="0"/>
          </a:p>
        </p:txBody>
      </p:sp>
      <p:sp>
        <p:nvSpPr>
          <p:cNvPr id="17" name="s7_16@c5"/>
          <p:cNvSpPr txBox="1"/>
          <p:nvPr/>
        </p:nvSpPr>
        <p:spPr>
          <a:xfrm>
            <a:off x="1051560" y="2514600"/>
            <a:ext cx="1463040" cy="1463040"/>
          </a:xfrm>
          <a:prstGeom prst="ellipse">
            <a:avLst>
              <a:gd name="adj" fmla="val 8750"/>
            </a:avLst>
          </a:prstGeom>
          <a:solidFill>
            <a:srgbClr val="FFC48C"/>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7" action="ppaction://hlinksldjump" tooltip="كنز المعرفة">
                  <a:extLst>
                    <a:ext uri="{A12FA001-AC4F-418D-AE19-62706E023703}">
                      <ahyp:hlinkClr xmlns:ahyp="http://schemas.microsoft.com/office/drawing/2018/hyperlinkcolor" val="tx"/>
                    </a:ext>
                  </a:extLst>
                </a:hlinkClick>
              </a:rPr>
              <a:t>🏆</a:t>
            </a:r>
            <a:endParaRPr lang="ar-SA" sz="1800" dirty="0"/>
          </a:p>
        </p:txBody>
      </p:sp>
      <p:sp>
        <p:nvSpPr>
          <p:cNvPr id="18" name="s7_17@c5"/>
          <p:cNvSpPr txBox="1"/>
          <p:nvPr/>
        </p:nvSpPr>
        <p:spPr>
          <a:xfrm>
            <a:off x="594360" y="404164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كنز المعرفة</a:t>
            </a:r>
            <a:endParaRPr lang="ar-SA" sz="1700" dirty="0"/>
          </a:p>
        </p:txBody>
      </p:sp>
      <p:sp>
        <p:nvSpPr>
          <p:cNvPr id="19" name="s7_18@c5"/>
          <p:cNvSpPr txBox="1"/>
          <p:nvPr/>
        </p:nvSpPr>
        <p:spPr>
          <a:xfrm>
            <a:off x="594360" y="443484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التقويم</a:t>
            </a:r>
            <a:endParaRPr lang="ar-SA" sz="1350" dirty="0"/>
          </a:p>
        </p:txBody>
      </p:sp>
      <p:pic>
        <p:nvPicPr>
          <p:cNvPr id="20" name="s7_19" descr="/tmp/claude-0/-home-user/4092b4c5-df81-5a0c-b1b2-79950f0cf3f7/scratchpad/build/img/train.png">    </p:cNvPr>
          <p:cNvPicPr>
            <a:picLocks noChangeAspect="1"/>
          </p:cNvPicPr>
          <p:nvPr/>
        </p:nvPicPr>
        <p:blipFill>
          <a:blip r:embed="rId8"/>
          <a:stretch>
            <a:fillRect/>
          </a:stretch>
        </p:blipFill>
        <p:spPr>
          <a:xfrm>
            <a:off x="8595360" y="1417320"/>
            <a:ext cx="3108960" cy="715061"/>
          </a:xfrm>
          <a:prstGeom prst="rect">
            <a:avLst/>
          </a:prstGeom>
        </p:spPr>
      </p:pic>
      <p:sp>
        <p:nvSpPr>
          <p:cNvPr id="21" name="s7_20@c6"/>
          <p:cNvSpPr txBox="1"/>
          <p:nvPr/>
        </p:nvSpPr>
        <p:spPr>
          <a:xfrm>
            <a:off x="2651760" y="5074920"/>
            <a:ext cx="6949440" cy="777240"/>
          </a:xfrm>
          <a:prstGeom prst="roundRect">
            <a:avLst>
              <a:gd name="adj" fmla="val 1647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على اليابسة أرتدي ملابس المستكشفة 🧭، وفي البركة والمحيط ألبس بدلة الغوص 🤿!</a:t>
            </a:r>
            <a:endParaRPr lang="ar-SA" sz="1650" dirty="0"/>
          </a:p>
        </p:txBody>
      </p:sp>
      <p:pic>
        <p:nvPicPr>
          <p:cNvPr id="22" name="s7_21@c6" descr="/tmp/claude-0/-home-user/4092b4c5-df81-5a0c-b1b2-79950f0cf3f7/scratchpad/build/img/explorer_wave.png">    </p:cNvPr>
          <p:cNvPicPr>
            <a:picLocks noChangeAspect="1"/>
          </p:cNvPicPr>
          <p:nvPr/>
        </p:nvPicPr>
        <p:blipFill>
          <a:blip r:embed="rId9"/>
          <a:stretch>
            <a:fillRect/>
          </a:stretch>
        </p:blipFill>
        <p:spPr>
          <a:xfrm>
            <a:off x="10561320" y="4846320"/>
            <a:ext cx="931881" cy="1508760"/>
          </a:xfrm>
          <a:prstGeom prst="rect">
            <a:avLst/>
          </a:prstGeom>
        </p:spPr>
      </p:pic>
      <p:pic>
        <p:nvPicPr>
          <p:cNvPr id="23" name="s7_22@c6" descr="/tmp/claude-0/-home-user/4092b4c5-df81-5a0c-b1b2-79950f0cf3f7/scratchpad/build/img/diver.png">    </p:cNvPr>
          <p:cNvPicPr>
            <a:picLocks noChangeAspect="1"/>
          </p:cNvPicPr>
          <p:nvPr/>
        </p:nvPicPr>
        <p:blipFill>
          <a:blip r:embed="rId10"/>
          <a:stretch>
            <a:fillRect/>
          </a:stretch>
        </p:blipFill>
        <p:spPr>
          <a:xfrm>
            <a:off x="685800" y="4846320"/>
            <a:ext cx="931881" cy="1508760"/>
          </a:xfrm>
          <a:prstGeom prst="rect">
            <a:avLst/>
          </a:prstGeom>
        </p:spPr>
      </p:pic>
      <p:sp>
        <p:nvSpPr>
          <p:cNvPr id="24" name="s7_23"/>
          <p:cNvSpPr txBox="1"/>
          <p:nvPr/>
        </p:nvSpPr>
        <p:spPr>
          <a:xfrm>
            <a:off x="457200" y="1097280"/>
            <a:ext cx="4754880" cy="365760"/>
          </a:xfrm>
          <a:prstGeom prst="rect">
            <a:avLst/>
          </a:prstGeom>
          <a:noFill/>
          <a:ln/>
        </p:spPr>
        <p:txBody>
          <a:bodyPr wrap="square" lIns="63500" tIns="63500" rIns="63500" bIns="63500" rtlCol="0" anchor="ctr"/>
          <a:lstStyle/>
          <a:p>
            <a:pPr rtl="1" algn="l" indent="0" marL="0">
              <a:buNone/>
            </a:pPr>
            <a:r>
              <a:rPr lang="ar-SA" altLang="en-US" sz="1300" dirty="0">
                <a:solidFill>
                  <a:srgbClr val="7A869E"/>
                </a:solidFill>
                <a:latin typeface="Tahoma" pitchFamily="34" charset="0"/>
                <a:ea typeface="Tahoma" pitchFamily="34" charset="-122"/>
                <a:cs typeface="Tahoma" pitchFamily="34" charset="-120"/>
              </a:rPr>
              <a:t>👆 اضغطي على رقم المحطة للانتقال إليها</a:t>
            </a:r>
            <a:endParaRPr lang="ar-SA" sz="1300" dirty="0"/>
          </a:p>
        </p:txBody>
      </p:sp>
      <p:sp>
        <p:nvSpPr>
          <p:cNvPr id="25" name="s7_2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7_2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stCondLst>
                      <p:childTnLst>
                        <p:par>
                          <p:cTn id="13"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4" fill="hold">
                      <p:stCondLst>
                        <p:cond delay="indefinite"/>
                      </p:stCondLst>
                      <p:childTnLst>
                        <p:par>
                          <p:cTn id="2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5" fill="hold">
                      <p:stCondLst>
                        <p:cond delay="indefinite"/>
                      </p:stCondLst>
                      <p:childTnLst>
                        <p:par>
                          <p:cTn id="3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childTnLst>
                    </p:cTn>
                  </p:par>
                  <p:par>
                    <p:cTn id="36" fill="hold">
                      <p:stCondLst>
                        <p:cond delay="indefinite"/>
                      </p:stCondLst>
                      <p:childTnLst>
                        <p:par>
                          <p:cTn id="4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childTnLst>
                          </p:cTn>
                        </p:par>
                      </p:childTnLst>
                    </p:cTn>
                  </p:par>
                  <p:par>
                    <p:cTn id="47" fill="hold">
                      <p:stCondLst>
                        <p:cond delay="indefinite"/>
                      </p:stCondLst>
                      <p:childTnLst>
                        <p:par>
                          <p:cTn id="5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childTnLst>
                          </p:cTn>
                        </p:par>
                      </p:childTnLst>
                    </p:cTn>
                  </p:par>
                  <p:par>
                    <p:cTn id="58" fill="hold">
                      <p:stCondLst>
                        <p:cond delay="indefinite"/>
                      </p:stCondLst>
                      <p:childTnLst>
                        <p:par>
                          <p:cTn id="6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1" descr="/tmp/claude-0/-home-user/4092b4c5-df81-5a0c-b1b2-79950f0cf3f7/scratchpad/build/img/t_land.png">    </p:cNvPr>
          <p:cNvPicPr>
            <a:picLocks noChangeAspect="1"/>
          </p:cNvPicPr>
          <p:nvPr/>
        </p:nvPicPr>
        <p:blipFill>
          <a:blip r:embed="rId2"/>
          <a:stretch>
            <a:fillRect/>
          </a:stretch>
        </p:blipFill>
        <p:spPr>
          <a:xfrm>
            <a:off x="8372201" y="182880"/>
            <a:ext cx="3453734" cy="731520"/>
          </a:xfrm>
          <a:prstGeom prst="rect">
            <a:avLst/>
          </a:prstGeom>
        </p:spPr>
      </p:pic>
      <p:sp>
        <p:nvSpPr>
          <p:cNvPr id="3" name="s8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أنظر وأتساءل – التوقّع</a:t>
            </a:r>
            <a:endParaRPr lang="en-US" sz="1600" dirty="0"/>
          </a:p>
        </p:txBody>
      </p:sp>
      <p:pic>
        <p:nvPicPr>
          <p:cNvPr id="4" name="s8_3" descr="/tmp/claude-0/-home-user/4092b4c5-df81-5a0c-b1b2-79950f0cf3f7/scratchpad/build/img/explorer_point.png">    </p:cNvPr>
          <p:cNvPicPr>
            <a:picLocks noChangeAspect="1"/>
          </p:cNvPicPr>
          <p:nvPr/>
        </p:nvPicPr>
        <p:blipFill>
          <a:blip r:embed="rId3"/>
          <a:stretch>
            <a:fillRect/>
          </a:stretch>
        </p:blipFill>
        <p:spPr>
          <a:xfrm>
            <a:off x="411480" y="1143000"/>
            <a:ext cx="3106271" cy="5029200"/>
          </a:xfrm>
          <a:prstGeom prst="rect">
            <a:avLst/>
          </a:prstGeom>
        </p:spPr>
      </p:pic>
      <p:sp>
        <p:nvSpPr>
          <p:cNvPr id="5" name="s8_4"/>
          <p:cNvSpPr txBox="1"/>
          <p:nvPr/>
        </p:nvSpPr>
        <p:spPr>
          <a:xfrm>
            <a:off x="3429000" y="1188720"/>
            <a:ext cx="457200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وصلنا إلى اليابسة! 🌵 انظري إلى هذه البومة في كتابي…</a:t>
            </a:r>
            <a:endParaRPr lang="ar-SA" sz="1800" dirty="0"/>
          </a:p>
        </p:txBody>
      </p:sp>
      <p:pic>
        <p:nvPicPr>
          <p:cNvPr id="6" name="s8_5" descr="/tmp/claude-0/-home-user/4092b4c5-df81-5a0c-b1b2-79950f0cf3f7/scratchpad/build/img/o_owl.png">    </p:cNvPr>
          <p:cNvPicPr>
            <a:picLocks noChangeAspect="1"/>
          </p:cNvPicPr>
          <p:nvPr/>
        </p:nvPicPr>
        <p:blipFill>
          <a:blip r:embed="rId4"/>
          <a:stretch>
            <a:fillRect/>
          </a:stretch>
        </p:blipFill>
        <p:spPr>
          <a:xfrm>
            <a:off x="8458200" y="1143000"/>
            <a:ext cx="3108960" cy="3108960"/>
          </a:xfrm>
          <a:prstGeom prst="rect">
            <a:avLst/>
          </a:prstGeom>
        </p:spPr>
      </p:pic>
      <p:sp>
        <p:nvSpPr>
          <p:cNvPr id="7" name="s8_6"/>
          <p:cNvSpPr txBox="1"/>
          <p:nvPr/>
        </p:nvSpPr>
        <p:spPr>
          <a:xfrm>
            <a:off x="8458200" y="4251960"/>
            <a:ext cx="310896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5A6785"/>
                </a:solidFill>
                <a:latin typeface="Tahoma" pitchFamily="34" charset="0"/>
                <a:ea typeface="Tahoma" pitchFamily="34" charset="-122"/>
                <a:cs typeface="Tahoma" pitchFamily="34" charset="-120"/>
              </a:rPr>
              <a:t>صورة من كتابي – صفحة ١١٢</a:t>
            </a:r>
            <a:endParaRPr lang="ar-SA" sz="1200" dirty="0"/>
          </a:p>
        </p:txBody>
      </p:sp>
      <p:sp>
        <p:nvSpPr>
          <p:cNvPr id="8" name="s8_7"/>
          <p:cNvSpPr txBox="1"/>
          <p:nvPr/>
        </p:nvSpPr>
        <p:spPr>
          <a:xfrm>
            <a:off x="3429000" y="2240280"/>
            <a:ext cx="484632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أتساءل: </a:t>
            </a:r>
            <a:r>
              <a:rPr lang="ar-SA" altLang="en-US" sz="1800" b="1" dirty="0">
                <a:solidFill>
                  <a:srgbClr val="34405E"/>
                </a:solidFill>
                <a:latin typeface="Tahoma" pitchFamily="34" charset="0"/>
                <a:ea typeface="Tahoma" pitchFamily="34" charset="-122"/>
                <a:cs typeface="Tahoma" pitchFamily="34" charset="-120"/>
              </a:rPr>
              <a:t>من أين تحصل البومة على الطاقة التي تحتاج إليها لتعيش وتطير؟ هل تأخذها من الشمس مباشرة؟</a:t>
            </a:r>
            <a:endParaRPr lang="ar-SA" sz="1800" dirty="0"/>
          </a:p>
        </p:txBody>
      </p:sp>
      <p:sp>
        <p:nvSpPr>
          <p:cNvPr id="9" name="s8_8"/>
          <p:cNvSpPr txBox="1"/>
          <p:nvPr/>
        </p:nvSpPr>
        <p:spPr>
          <a:xfrm>
            <a:off x="4206240" y="3931920"/>
            <a:ext cx="3291840" cy="502920"/>
          </a:xfrm>
          <a:prstGeom prst="roundRect">
            <a:avLst>
              <a:gd name="adj" fmla="val 49091"/>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توقّعي… ثم ناقشي زميلتك</a:t>
            </a:r>
            <a:endParaRPr lang="ar-SA" sz="1600" dirty="0"/>
          </a:p>
        </p:txBody>
      </p:sp>
      <p:sp>
        <p:nvSpPr>
          <p:cNvPr id="10" name="s8_9@c1"/>
          <p:cNvSpPr txBox="1"/>
          <p:nvPr/>
        </p:nvSpPr>
        <p:spPr>
          <a:xfrm>
            <a:off x="3429000" y="4663440"/>
            <a:ext cx="8229600" cy="914400"/>
          </a:xfrm>
          <a:prstGeom prst="roundRect">
            <a:avLst>
              <a:gd name="adj" fmla="val 1400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a:t>
            </a:r>
            <a:r>
              <a:rPr lang="ar-SA" altLang="en-US" sz="1650" dirty="0">
                <a:solidFill>
                  <a:srgbClr val="34405E"/>
                </a:solidFill>
                <a:latin typeface="Tahoma" pitchFamily="34" charset="0"/>
                <a:ea typeface="Tahoma" pitchFamily="34" charset="-122"/>
                <a:cs typeface="Tahoma" pitchFamily="34" charset="-120"/>
              </a:rPr>
              <a:t>لا تأخذ البومة طاقتها من الشمس مباشرة، بل من غذائها… وغذاؤها حصل على الطاقة من مخلوق قبله! هيا نقرأ ونكتشف 📖</a:t>
            </a:r>
            <a:endParaRPr lang="ar-SA" sz="1650" dirty="0"/>
          </a:p>
        </p:txBody>
      </p:sp>
      <p:sp>
        <p:nvSpPr>
          <p:cNvPr id="11" name="s8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2" name="s8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10"/>
                                        </p:tgtEl>
                                        <p:attrNameLst>
                                          <p:attrName>style.visibility</p:attrName>
                                        </p:attrNameLst>
                                      </p:cBhvr>
                                      <p:to>
                                        <p:strVal val="visible"/>
                                      </p:to>
                                    </p:set>
                                    <p:animEffect transition="in" filter="fade">
                                      <p:cBhvr>
                                        <p:cTn id="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1" descr="/tmp/claude-0/-home-user/4092b4c5-df81-5a0c-b1b2-79950f0cf3f7/scratchpad/build/img/t_whatchain.png">    </p:cNvPr>
          <p:cNvPicPr>
            <a:picLocks noChangeAspect="1"/>
          </p:cNvPicPr>
          <p:nvPr/>
        </p:nvPicPr>
        <p:blipFill>
          <a:blip r:embed="rId2"/>
          <a:stretch>
            <a:fillRect/>
          </a:stretch>
        </p:blipFill>
        <p:spPr>
          <a:xfrm>
            <a:off x="6831213" y="182880"/>
            <a:ext cx="4994723" cy="731520"/>
          </a:xfrm>
          <a:prstGeom prst="rect">
            <a:avLst/>
          </a:prstGeom>
        </p:spPr>
      </p:pic>
      <p:sp>
        <p:nvSpPr>
          <p:cNvPr id="3" name="s9_2"/>
          <p:cNvSpPr txBox="1"/>
          <p:nvPr/>
        </p:nvSpPr>
        <p:spPr>
          <a:xfrm>
            <a:off x="365760" y="292608"/>
            <a:ext cx="4937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أقرأ وأتعلّم</a:t>
            </a:r>
            <a:endParaRPr lang="en-US" sz="1600" dirty="0"/>
          </a:p>
        </p:txBody>
      </p:sp>
      <p:sp>
        <p:nvSpPr>
          <p:cNvPr id="4" name="s9_3"/>
          <p:cNvSpPr txBox="1"/>
          <p:nvPr/>
        </p:nvSpPr>
        <p:spPr>
          <a:xfrm>
            <a:off x="8686800" y="1024128"/>
            <a:ext cx="3063240" cy="365760"/>
          </a:xfrm>
          <a:prstGeom prst="rect">
            <a:avLst/>
          </a:prstGeom>
          <a:noFill/>
          <a:ln/>
        </p:spPr>
        <p:txBody>
          <a:bodyPr wrap="square" lIns="63500" tIns="63500" rIns="63500" bIns="63500" rtlCol="0" anchor="ctr"/>
          <a:lstStyle/>
          <a:p>
            <a:pPr rtl="1" algn="r" indent="0" marL="0">
              <a:buNone/>
            </a:pPr>
            <a:r>
              <a:rPr lang="ar-SA" altLang="en-US" sz="1300" dirty="0">
                <a:solidFill>
                  <a:srgbClr val="5A6785"/>
                </a:solidFill>
                <a:latin typeface="Tahoma" pitchFamily="34" charset="0"/>
                <a:ea typeface="Tahoma" pitchFamily="34" charset="-122"/>
                <a:cs typeface="Tahoma" pitchFamily="34" charset="-120"/>
              </a:rPr>
              <a:t>📖 من نص كتابي ص١١٢</a:t>
            </a:r>
            <a:endParaRPr lang="ar-SA" sz="1300" dirty="0"/>
          </a:p>
        </p:txBody>
      </p:sp>
      <p:sp>
        <p:nvSpPr>
          <p:cNvPr id="5" name="s9_4"/>
          <p:cNvSpPr txBox="1"/>
          <p:nvPr/>
        </p:nvSpPr>
        <p:spPr>
          <a:xfrm>
            <a:off x="548640" y="1417320"/>
            <a:ext cx="11201400" cy="822960"/>
          </a:xfrm>
          <a:prstGeom prst="roundRect">
            <a:avLst>
              <a:gd name="adj" fmla="val 15556"/>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700" dirty="0">
                <a:solidFill>
                  <a:srgbClr val="34405E"/>
                </a:solidFill>
                <a:latin typeface="Tahoma" pitchFamily="34" charset="0"/>
                <a:ea typeface="Tahoma" pitchFamily="34" charset="-122"/>
                <a:cs typeface="Tahoma" pitchFamily="34" charset="-120"/>
              </a:rPr>
              <a:t>يحتاجُ كلُّ مخلوقٍ حيٍّ إلى طاقةٍ ليعيشَ وينموَ. وقد جعلَ اللهُ تعالى لكلِّ مخلوقٍ مصدرًا للحصولِ على الطاقةِ التي يحتاجُ إليها.</a:t>
            </a:r>
            <a:endParaRPr lang="ar-SA" sz="1700" dirty="0"/>
          </a:p>
        </p:txBody>
      </p:sp>
      <p:sp>
        <p:nvSpPr>
          <p:cNvPr id="6" name="s9_5@c1"/>
          <p:cNvSpPr txBox="1"/>
          <p:nvPr/>
        </p:nvSpPr>
        <p:spPr>
          <a:xfrm>
            <a:off x="548640" y="2377440"/>
            <a:ext cx="11201400" cy="1325880"/>
          </a:xfrm>
          <a:prstGeom prst="roundRect">
            <a:avLst>
              <a:gd name="adj" fmla="val 965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A87400"/>
                </a:solidFill>
                <a:latin typeface="Tahoma" pitchFamily="34" charset="0"/>
                <a:ea typeface="Tahoma" pitchFamily="34" charset="-122"/>
                <a:cs typeface="Tahoma" pitchFamily="34" charset="-120"/>
              </a:rPr>
              <a:t>ومصدرُ الطاقةِ في النظامِ البيئيِّ هو الشمسُ. </a:t>
            </a:r>
            <a:r>
              <a:rPr lang="ar-SA" altLang="en-US" sz="1700" dirty="0">
                <a:solidFill>
                  <a:srgbClr val="34405E"/>
                </a:solidFill>
                <a:latin typeface="Tahoma" pitchFamily="34" charset="0"/>
                <a:ea typeface="Tahoma" pitchFamily="34" charset="-122"/>
                <a:cs typeface="Tahoma" pitchFamily="34" charset="-120"/>
              </a:rPr>
              <a:t>ليسَ من بينِ الحيواناتِ حيوانٌ يستطيعُ أخذَ الطاقةِ مباشرةً من الشمسِ؛ فالشمسُ مصدرُ الطاقةِ التي تُختزَنُ في المنتجاتِ، وتنتقلُ منها إلى المستهلكاتِ، ومنها إلى المحلِّلاتِ، وبذلكَ تنتقلُ الطاقةُ من مخلوقٍ إلى آخرَ فيما نسمّيه </a:t>
            </a:r>
            <a:r>
              <a:rPr lang="ar-SA" altLang="en-US" sz="1700" b="1" dirty="0">
                <a:solidFill>
                  <a:srgbClr val="C2366F"/>
                </a:solidFill>
                <a:highlight>
                  <a:srgbClr val="FFF176"/>
                </a:highlight>
                <a:latin typeface="Tahoma" pitchFamily="34" charset="0"/>
                <a:ea typeface="Tahoma" pitchFamily="34" charset="-122"/>
                <a:cs typeface="Tahoma" pitchFamily="34" charset="-120"/>
              </a:rPr>
              <a:t>السلسلةَ الغذائيةَ.</a:t>
            </a:r>
            <a:endParaRPr lang="ar-SA" sz="1700" dirty="0"/>
          </a:p>
        </p:txBody>
      </p:sp>
      <p:sp>
        <p:nvSpPr>
          <p:cNvPr id="7" name="s9_6@c2"/>
          <p:cNvSpPr txBox="1"/>
          <p:nvPr/>
        </p:nvSpPr>
        <p:spPr>
          <a:xfrm>
            <a:off x="9692640" y="3886200"/>
            <a:ext cx="2057400" cy="685800"/>
          </a:xfrm>
          <a:prstGeom prst="roundRect">
            <a:avLst>
              <a:gd name="adj" fmla="val 49333"/>
            </a:avLst>
          </a:prstGeom>
          <a:solidFill>
            <a:srgbClr val="FFE08A"/>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34405E"/>
                </a:solidFill>
                <a:latin typeface="Tahoma" pitchFamily="34" charset="0"/>
                <a:ea typeface="Tahoma" pitchFamily="34" charset="-122"/>
                <a:cs typeface="Tahoma" pitchFamily="34" charset="-120"/>
              </a:rPr>
              <a:t>☀️  الشمس</a:t>
            </a:r>
            <a:endParaRPr lang="ar-SA" sz="1800" dirty="0"/>
          </a:p>
        </p:txBody>
      </p:sp>
      <p:sp>
        <p:nvSpPr>
          <p:cNvPr id="8" name="s9_7@c3"/>
          <p:cNvSpPr txBox="1"/>
          <p:nvPr/>
        </p:nvSpPr>
        <p:spPr>
          <a:xfrm>
            <a:off x="9006840" y="3886200"/>
            <a:ext cx="640080" cy="685800"/>
          </a:xfrm>
          <a:prstGeom prst="rect">
            <a:avLst/>
          </a:prstGeom>
          <a:noFill/>
          <a:ln/>
        </p:spPr>
        <p:txBody>
          <a:bodyPr wrap="square" lIns="63500" tIns="63500" rIns="63500" bIns="63500" rtlCol="0" anchor="ctr"/>
          <a:lstStyle/>
          <a:p>
            <a:pPr rtl="1" algn="ctr" indent="0" marL="0">
              <a:buNone/>
            </a:pPr>
            <a:r>
              <a:rPr lang="ar-SA" altLang="en-US" sz="3000" b="1" dirty="0">
                <a:solidFill>
                  <a:srgbClr val="E67E22"/>
                </a:solidFill>
                <a:latin typeface="Tahoma" pitchFamily="34" charset="0"/>
                <a:ea typeface="Tahoma" pitchFamily="34" charset="-122"/>
                <a:cs typeface="Tahoma" pitchFamily="34" charset="-120"/>
              </a:rPr>
              <a:t>←</a:t>
            </a:r>
            <a:endParaRPr lang="ar-SA" sz="3000" dirty="0"/>
          </a:p>
        </p:txBody>
      </p:sp>
      <p:sp>
        <p:nvSpPr>
          <p:cNvPr id="9" name="s9_8@c3"/>
          <p:cNvSpPr txBox="1"/>
          <p:nvPr/>
        </p:nvSpPr>
        <p:spPr>
          <a:xfrm>
            <a:off x="6903720" y="3886200"/>
            <a:ext cx="2057400" cy="685800"/>
          </a:xfrm>
          <a:prstGeom prst="roundRect">
            <a:avLst>
              <a:gd name="adj" fmla="val 49333"/>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34405E"/>
                </a:solidFill>
                <a:latin typeface="Tahoma" pitchFamily="34" charset="0"/>
                <a:ea typeface="Tahoma" pitchFamily="34" charset="-122"/>
                <a:cs typeface="Tahoma" pitchFamily="34" charset="-120"/>
              </a:rPr>
              <a:t>🌱  المنتِجات</a:t>
            </a:r>
            <a:endParaRPr lang="ar-SA" sz="1800" dirty="0"/>
          </a:p>
        </p:txBody>
      </p:sp>
      <p:sp>
        <p:nvSpPr>
          <p:cNvPr id="10" name="s9_9@c4"/>
          <p:cNvSpPr txBox="1"/>
          <p:nvPr/>
        </p:nvSpPr>
        <p:spPr>
          <a:xfrm>
            <a:off x="6217920" y="3886200"/>
            <a:ext cx="640080" cy="685800"/>
          </a:xfrm>
          <a:prstGeom prst="rect">
            <a:avLst/>
          </a:prstGeom>
          <a:noFill/>
          <a:ln/>
        </p:spPr>
        <p:txBody>
          <a:bodyPr wrap="square" lIns="63500" tIns="63500" rIns="63500" bIns="63500" rtlCol="0" anchor="ctr"/>
          <a:lstStyle/>
          <a:p>
            <a:pPr rtl="1" algn="ctr" indent="0" marL="0">
              <a:buNone/>
            </a:pPr>
            <a:r>
              <a:rPr lang="ar-SA" altLang="en-US" sz="3000" b="1" dirty="0">
                <a:solidFill>
                  <a:srgbClr val="E67E22"/>
                </a:solidFill>
                <a:latin typeface="Tahoma" pitchFamily="34" charset="0"/>
                <a:ea typeface="Tahoma" pitchFamily="34" charset="-122"/>
                <a:cs typeface="Tahoma" pitchFamily="34" charset="-120"/>
              </a:rPr>
              <a:t>←</a:t>
            </a:r>
            <a:endParaRPr lang="ar-SA" sz="3000" dirty="0"/>
          </a:p>
        </p:txBody>
      </p:sp>
      <p:sp>
        <p:nvSpPr>
          <p:cNvPr id="11" name="s9_10@c4"/>
          <p:cNvSpPr txBox="1"/>
          <p:nvPr/>
        </p:nvSpPr>
        <p:spPr>
          <a:xfrm>
            <a:off x="4114800" y="3886200"/>
            <a:ext cx="2057400" cy="685800"/>
          </a:xfrm>
          <a:prstGeom prst="roundRect">
            <a:avLst>
              <a:gd name="adj" fmla="val 49333"/>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34405E"/>
                </a:solidFill>
                <a:latin typeface="Tahoma" pitchFamily="34" charset="0"/>
                <a:ea typeface="Tahoma" pitchFamily="34" charset="-122"/>
                <a:cs typeface="Tahoma" pitchFamily="34" charset="-120"/>
              </a:rPr>
              <a:t>🐛  المستهلِكات</a:t>
            </a:r>
            <a:endParaRPr lang="ar-SA" sz="1800" dirty="0"/>
          </a:p>
        </p:txBody>
      </p:sp>
      <p:sp>
        <p:nvSpPr>
          <p:cNvPr id="12" name="s9_11@c5"/>
          <p:cNvSpPr txBox="1"/>
          <p:nvPr/>
        </p:nvSpPr>
        <p:spPr>
          <a:xfrm>
            <a:off x="3429000" y="3886200"/>
            <a:ext cx="640080" cy="685800"/>
          </a:xfrm>
          <a:prstGeom prst="rect">
            <a:avLst/>
          </a:prstGeom>
          <a:noFill/>
          <a:ln/>
        </p:spPr>
        <p:txBody>
          <a:bodyPr wrap="square" lIns="63500" tIns="63500" rIns="63500" bIns="63500" rtlCol="0" anchor="ctr"/>
          <a:lstStyle/>
          <a:p>
            <a:pPr rtl="1" algn="ctr" indent="0" marL="0">
              <a:buNone/>
            </a:pPr>
            <a:r>
              <a:rPr lang="ar-SA" altLang="en-US" sz="3000" b="1" dirty="0">
                <a:solidFill>
                  <a:srgbClr val="E67E22"/>
                </a:solidFill>
                <a:latin typeface="Tahoma" pitchFamily="34" charset="0"/>
                <a:ea typeface="Tahoma" pitchFamily="34" charset="-122"/>
                <a:cs typeface="Tahoma" pitchFamily="34" charset="-120"/>
              </a:rPr>
              <a:t>←</a:t>
            </a:r>
            <a:endParaRPr lang="ar-SA" sz="3000" dirty="0"/>
          </a:p>
        </p:txBody>
      </p:sp>
      <p:sp>
        <p:nvSpPr>
          <p:cNvPr id="13" name="s9_12@c5"/>
          <p:cNvSpPr txBox="1"/>
          <p:nvPr/>
        </p:nvSpPr>
        <p:spPr>
          <a:xfrm>
            <a:off x="1325880" y="3886200"/>
            <a:ext cx="2057400" cy="685800"/>
          </a:xfrm>
          <a:prstGeom prst="roundRect">
            <a:avLst>
              <a:gd name="adj" fmla="val 49333"/>
            </a:avLst>
          </a:prstGeom>
          <a:solidFill>
            <a:srgbClr val="F9D3E3"/>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34405E"/>
                </a:solidFill>
                <a:latin typeface="Tahoma" pitchFamily="34" charset="0"/>
                <a:ea typeface="Tahoma" pitchFamily="34" charset="-122"/>
                <a:cs typeface="Tahoma" pitchFamily="34" charset="-120"/>
              </a:rPr>
              <a:t>🍄  المحلِّلات</a:t>
            </a:r>
            <a:endParaRPr lang="ar-SA" sz="1800" dirty="0"/>
          </a:p>
        </p:txBody>
      </p:sp>
      <p:sp>
        <p:nvSpPr>
          <p:cNvPr id="14" name="s9_13"/>
          <p:cNvSpPr txBox="1"/>
          <p:nvPr/>
        </p:nvSpPr>
        <p:spPr>
          <a:xfrm>
            <a:off x="5486400" y="4846320"/>
            <a:ext cx="626364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سؤال: </a:t>
            </a:r>
            <a:r>
              <a:rPr lang="ar-SA" altLang="en-US" sz="1700" b="1" dirty="0">
                <a:solidFill>
                  <a:srgbClr val="34405E"/>
                </a:solidFill>
                <a:latin typeface="Tahoma" pitchFamily="34" charset="0"/>
                <a:ea typeface="Tahoma" pitchFamily="34" charset="-122"/>
                <a:cs typeface="Tahoma" pitchFamily="34" charset="-120"/>
              </a:rPr>
              <a:t>هل يستطيع الحيوان أخذ الطاقة من الشمس مباشرة؟</a:t>
            </a:r>
            <a:endParaRPr lang="ar-SA" sz="1700" dirty="0"/>
          </a:p>
        </p:txBody>
      </p:sp>
      <p:sp>
        <p:nvSpPr>
          <p:cNvPr id="15" name="s9_14@c6"/>
          <p:cNvSpPr txBox="1"/>
          <p:nvPr/>
        </p:nvSpPr>
        <p:spPr>
          <a:xfrm>
            <a:off x="548640" y="4846320"/>
            <a:ext cx="4800600" cy="685800"/>
          </a:xfrm>
          <a:prstGeom prst="roundRect">
            <a:avLst>
              <a:gd name="adj" fmla="val 18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2F8A3A"/>
                </a:solidFill>
                <a:latin typeface="Tahoma" pitchFamily="34" charset="0"/>
                <a:ea typeface="Tahoma" pitchFamily="34" charset="-122"/>
                <a:cs typeface="Tahoma" pitchFamily="34" charset="-120"/>
              </a:rPr>
              <a:t>✔ </a:t>
            </a:r>
            <a:r>
              <a:rPr lang="ar-SA" altLang="en-US" sz="1600" dirty="0">
                <a:solidFill>
                  <a:srgbClr val="34405E"/>
                </a:solidFill>
                <a:latin typeface="Tahoma" pitchFamily="34" charset="0"/>
                <a:ea typeface="Tahoma" pitchFamily="34" charset="-122"/>
                <a:cs typeface="Tahoma" pitchFamily="34" charset="-120"/>
              </a:rPr>
              <a:t>لا؛ يحصل عليها من الغذاء الذي يأكله.</a:t>
            </a:r>
            <a:r>
              <a:rPr lang="ar-SA" altLang="en-US" sz="1600" b="1" dirty="0">
                <a:solidFill>
                  <a:srgbClr val="C2366F"/>
                </a:solidFill>
                <a:latin typeface="Tahoma" pitchFamily="34" charset="0"/>
                <a:ea typeface="Tahoma" pitchFamily="34" charset="-122"/>
                <a:cs typeface="Tahoma" pitchFamily="34" charset="-120"/>
              </a:rPr>
              <a:t> أحسنتِ! 🌟</a:t>
            </a:r>
            <a:endParaRPr lang="ar-SA" sz="1600" dirty="0"/>
          </a:p>
        </p:txBody>
      </p:sp>
      <p:sp>
        <p:nvSpPr>
          <p:cNvPr id="16" name="s9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9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13" fill="hold">
                      <p:stCondLst>
                        <p:cond delay="indefinite"/>
                      </p:stCondLst>
                      <p:childTnLst>
                        <p:par>
                          <p:cTn id="2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par>
                    <p:cTn id="21" fill="hold">
                      <p:stCondLst>
                        <p:cond delay="indefinite"/>
                      </p:stCondLst>
                      <p:childTnLst>
                        <p:par>
                          <p:cTn id="28"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9" fill="hold">
                      <p:stCondLst>
                        <p:cond delay="indefinite"/>
                      </p:stCondLst>
                      <p:childTnLst>
                        <p:par>
                          <p:cTn id="36"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childTnLst>
                    </p:cTn>
                  </p:par>
                  <p:par>
                    <p:cTn id="37" fill="hold">
                      <p:stCondLst>
                        <p:cond delay="indefinite"/>
                      </p:stCondLst>
                      <p:childTnLst>
                        <p:par>
                          <p:cTn id="41"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1" descr="/tmp/claude-0/-home-user/4092b4c5-df81-5a0c-b1b2-79950f0cf3f7/scratchpad/build/img/t_tadabbur.png">    </p:cNvPr>
          <p:cNvPicPr>
            <a:picLocks noChangeAspect="1"/>
          </p:cNvPicPr>
          <p:nvPr/>
        </p:nvPicPr>
        <p:blipFill>
          <a:blip r:embed="rId2"/>
          <a:stretch>
            <a:fillRect/>
          </a:stretch>
        </p:blipFill>
        <p:spPr>
          <a:xfrm>
            <a:off x="9325576" y="182880"/>
            <a:ext cx="2500359" cy="731520"/>
          </a:xfrm>
          <a:prstGeom prst="rect">
            <a:avLst/>
          </a:prstGeom>
        </p:spPr>
      </p:pic>
      <p:sp>
        <p:nvSpPr>
          <p:cNvPr id="3" name="s10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التأمل والتدبّر</a:t>
            </a:r>
            <a:endParaRPr lang="en-US" sz="1600" dirty="0"/>
          </a:p>
        </p:txBody>
      </p:sp>
      <p:sp>
        <p:nvSpPr>
          <p:cNvPr id="4" name="s10_3"/>
          <p:cNvSpPr txBox="1"/>
          <p:nvPr/>
        </p:nvSpPr>
        <p:spPr>
          <a:xfrm>
            <a:off x="1828800" y="1325880"/>
            <a:ext cx="850392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قال تعالى:</a:t>
            </a:r>
            <a:endParaRPr lang="ar-SA" sz="1900" dirty="0"/>
          </a:p>
        </p:txBody>
      </p:sp>
      <p:sp>
        <p:nvSpPr>
          <p:cNvPr id="5" name="s10_4"/>
          <p:cNvSpPr txBox="1"/>
          <p:nvPr/>
        </p:nvSpPr>
        <p:spPr>
          <a:xfrm>
            <a:off x="1463040" y="1828800"/>
            <a:ext cx="9235440" cy="1371600"/>
          </a:xfrm>
          <a:prstGeom prst="rect">
            <a:avLst/>
          </a:prstGeom>
          <a:noFill/>
          <a:ln/>
        </p:spPr>
        <p:txBody>
          <a:bodyPr wrap="square" lIns="63500" tIns="63500" rIns="63500" bIns="63500" rtlCol="0" anchor="ctr"/>
          <a:lstStyle/>
          <a:p>
            <a:pPr rtl="1" algn="ctr" indent="0" marL="0">
              <a:buNone/>
            </a:pPr>
            <a:r>
              <a:rPr lang="ar-SA" altLang="en-US" sz="3000" b="1" dirty="0">
                <a:solidFill>
                  <a:srgbClr val="1B5E20"/>
                </a:solidFill>
                <a:latin typeface="Tahoma" pitchFamily="34" charset="0"/>
                <a:ea typeface="Tahoma" pitchFamily="34" charset="-122"/>
                <a:cs typeface="Tahoma" pitchFamily="34" charset="-120"/>
              </a:rPr>
              <a:t>﴿وَكَأَيِّن مِّن دَابَّةٍ لَّا تَحْمِلُ رِزْقَهَا اللَّهُ يَرْزُقُهَا وَإِيَّاكُمْ ۚ وَهُوَ السَّمِيعُ الْعَلِيمُ﴾</a:t>
            </a:r>
            <a:endParaRPr lang="ar-SA" sz="3000" dirty="0"/>
          </a:p>
        </p:txBody>
      </p:sp>
      <p:sp>
        <p:nvSpPr>
          <p:cNvPr id="6" name="s10_5"/>
          <p:cNvSpPr txBox="1"/>
          <p:nvPr/>
        </p:nvSpPr>
        <p:spPr>
          <a:xfrm>
            <a:off x="1828800" y="3154680"/>
            <a:ext cx="850392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[العنكبوت: ٦٠]</a:t>
            </a:r>
            <a:endParaRPr lang="ar-SA" sz="1400" dirty="0"/>
          </a:p>
        </p:txBody>
      </p:sp>
      <p:sp>
        <p:nvSpPr>
          <p:cNvPr id="7" name="s10_6@c1"/>
          <p:cNvSpPr txBox="1"/>
          <p:nvPr/>
        </p:nvSpPr>
        <p:spPr>
          <a:xfrm>
            <a:off x="1828800" y="3794760"/>
            <a:ext cx="8503920" cy="1051560"/>
          </a:xfrm>
          <a:prstGeom prst="roundRect">
            <a:avLst>
              <a:gd name="adj" fmla="val 12174"/>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كم من مخلوقٍ لا يحمل رزقه ولا يدّخره، والله تعالى يرزقه ويرزقنا؛ فجعل لكل مخلوق مصدرًا يحصل منه على طاقته، فسبحان الرزّاق.</a:t>
            </a:r>
            <a:endParaRPr lang="ar-SA" sz="1700" dirty="0"/>
          </a:p>
        </p:txBody>
      </p:sp>
      <p:sp>
        <p:nvSpPr>
          <p:cNvPr id="8" name="s10_7@c2"/>
          <p:cNvSpPr txBox="1"/>
          <p:nvPr/>
        </p:nvSpPr>
        <p:spPr>
          <a:xfrm>
            <a:off x="2377440" y="5029200"/>
            <a:ext cx="7406640" cy="594360"/>
          </a:xfrm>
          <a:prstGeom prst="roundRect">
            <a:avLst>
              <a:gd name="adj" fmla="val 21538"/>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سؤال للتأمل: ممّن تحصل البومة على رزقها؟ وممّن حصل رزقُها على رزقه؟</a:t>
            </a:r>
            <a:endParaRPr lang="ar-SA" sz="1600" dirty="0"/>
          </a:p>
        </p:txBody>
      </p:sp>
      <p:sp>
        <p:nvSpPr>
          <p:cNvPr id="9" name="s10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10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1_1" descr="/tmp/claude-0/-home-user/4092b4c5-df81-5a0c-b1b2-79950f0cf3f7/scratchpad/build/img/t_readfig.png">    </p:cNvPr>
          <p:cNvPicPr>
            <a:picLocks noChangeAspect="1"/>
          </p:cNvPicPr>
          <p:nvPr/>
        </p:nvPicPr>
        <p:blipFill>
          <a:blip r:embed="rId2"/>
          <a:stretch>
            <a:fillRect/>
          </a:stretch>
        </p:blipFill>
        <p:spPr>
          <a:xfrm>
            <a:off x="9133702" y="182880"/>
            <a:ext cx="2692233" cy="731520"/>
          </a:xfrm>
          <a:prstGeom prst="rect">
            <a:avLst/>
          </a:prstGeom>
        </p:spPr>
      </p:pic>
      <p:sp>
        <p:nvSpPr>
          <p:cNvPr id="3" name="s11_2"/>
          <p:cNvSpPr txBox="1"/>
          <p:nvPr/>
        </p:nvSpPr>
        <p:spPr>
          <a:xfrm>
            <a:off x="365760" y="292608"/>
            <a:ext cx="4937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أقرئي الصور – التعلّم البصري</a:t>
            </a:r>
            <a:endParaRPr lang="en-US" sz="1600" dirty="0"/>
          </a:p>
        </p:txBody>
      </p:sp>
      <p:pic>
        <p:nvPicPr>
          <p:cNvPr id="4" name="s11_3" descr="/tmp/claude-0/-home-user/4092b4c5-df81-5a0c-b1b2-79950f0cf3f7/scratchpad/build/img/p112_land_chain.png">    </p:cNvPr>
          <p:cNvPicPr>
            <a:picLocks noChangeAspect="1"/>
          </p:cNvPicPr>
          <p:nvPr/>
        </p:nvPicPr>
        <p:blipFill>
          <a:blip r:embed="rId3"/>
          <a:stretch>
            <a:fillRect/>
          </a:stretch>
        </p:blipFill>
        <p:spPr>
          <a:xfrm>
            <a:off x="502920" y="960120"/>
            <a:ext cx="2733379" cy="5349240"/>
          </a:xfrm>
          <a:prstGeom prst="rect">
            <a:avLst/>
          </a:prstGeom>
        </p:spPr>
      </p:pic>
      <p:sp>
        <p:nvSpPr>
          <p:cNvPr id="5" name="s11_4"/>
          <p:cNvSpPr txBox="1"/>
          <p:nvPr/>
        </p:nvSpPr>
        <p:spPr>
          <a:xfrm>
            <a:off x="3291840" y="5989320"/>
            <a:ext cx="2377440" cy="320040"/>
          </a:xfrm>
          <a:prstGeom prst="rect">
            <a:avLst/>
          </a:prstGeom>
          <a:noFill/>
          <a:ln/>
        </p:spPr>
        <p:txBody>
          <a:bodyPr wrap="square" lIns="63500" tIns="63500" rIns="63500" bIns="63500" rtlCol="0" anchor="ctr"/>
          <a:lstStyle/>
          <a:p>
            <a:pPr rtl="1" algn="l" indent="0" marL="0">
              <a:buNone/>
            </a:pPr>
            <a:r>
              <a:rPr lang="ar-SA" altLang="en-US" sz="1150" dirty="0">
                <a:solidFill>
                  <a:srgbClr val="5A6785"/>
                </a:solidFill>
                <a:latin typeface="Tahoma" pitchFamily="34" charset="0"/>
                <a:ea typeface="Tahoma" pitchFamily="34" charset="-122"/>
                <a:cs typeface="Tahoma" pitchFamily="34" charset="-120"/>
              </a:rPr>
              <a:t>شكل من كتابي – صفحة ١١٢</a:t>
            </a:r>
            <a:endParaRPr lang="ar-SA" sz="1150" dirty="0"/>
          </a:p>
        </p:txBody>
      </p:sp>
      <p:sp>
        <p:nvSpPr>
          <p:cNvPr id="6" name="s11_5"/>
          <p:cNvSpPr txBox="1"/>
          <p:nvPr/>
        </p:nvSpPr>
        <p:spPr>
          <a:xfrm>
            <a:off x="3703320" y="1097280"/>
            <a:ext cx="8046720" cy="1051560"/>
          </a:xfrm>
          <a:prstGeom prst="roundRect">
            <a:avLst>
              <a:gd name="adj" fmla="val 12174"/>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أقرأ الشكل: </a:t>
            </a:r>
            <a:r>
              <a:rPr lang="ar-SA" altLang="en-US" sz="1800" b="1" dirty="0">
                <a:solidFill>
                  <a:srgbClr val="34405E"/>
                </a:solidFill>
                <a:latin typeface="Tahoma" pitchFamily="34" charset="0"/>
                <a:ea typeface="Tahoma" pitchFamily="34" charset="-122"/>
                <a:cs typeface="Tahoma" pitchFamily="34" charset="-120"/>
              </a:rPr>
              <a:t>كيف تنتقل الطاقة في هذه السلسلة؟
</a:t>
            </a:r>
            <a:r>
              <a:rPr lang="ar-SA" altLang="en-US" sz="1500" dirty="0">
                <a:solidFill>
                  <a:srgbClr val="1E7FB8"/>
                </a:solidFill>
                <a:latin typeface="Tahoma" pitchFamily="34" charset="0"/>
                <a:ea typeface="Tahoma" pitchFamily="34" charset="-122"/>
                <a:cs typeface="Tahoma" pitchFamily="34" charset="-120"/>
              </a:rPr>
              <a:t>إرشاد: تشير الأسهم إلى المستهلك التالي.</a:t>
            </a:r>
            <a:endParaRPr lang="ar-SA" sz="1800" dirty="0"/>
          </a:p>
        </p:txBody>
      </p:sp>
      <p:sp>
        <p:nvSpPr>
          <p:cNvPr id="7" name="s11_6@c1"/>
          <p:cNvSpPr txBox="1"/>
          <p:nvPr/>
        </p:nvSpPr>
        <p:spPr>
          <a:xfrm>
            <a:off x="10287000" y="2377440"/>
            <a:ext cx="1417320" cy="868680"/>
          </a:xfrm>
          <a:prstGeom prst="roundRect">
            <a:avLst>
              <a:gd name="adj" fmla="val 14737"/>
            </a:avLst>
          </a:prstGeom>
          <a:solidFill>
            <a:srgbClr val="DDF5C8"/>
          </a:solidFill>
          <a:ln w="28575">
            <a:solidFill>
              <a:srgbClr val="34405E"/>
            </a:solidFill>
          </a:ln>
        </p:spPr>
        <p:txBody>
          <a:bodyPr wrap="square" lIns="25400" tIns="25400" rIns="25400" bIns="254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نبات الشوك
</a:t>
            </a:r>
            <a:r>
              <a:rPr lang="ar-SA" altLang="en-US" sz="1250" b="1" dirty="0">
                <a:solidFill>
                  <a:srgbClr val="2F8A3A"/>
                </a:solidFill>
                <a:latin typeface="Tahoma" pitchFamily="34" charset="0"/>
                <a:ea typeface="Tahoma" pitchFamily="34" charset="-122"/>
                <a:cs typeface="Tahoma" pitchFamily="34" charset="-120"/>
              </a:rPr>
              <a:t>منتِج</a:t>
            </a:r>
            <a:endParaRPr lang="ar-SA" sz="1800" dirty="0"/>
          </a:p>
        </p:txBody>
      </p:sp>
      <p:sp>
        <p:nvSpPr>
          <p:cNvPr id="8" name="s11_7@c2"/>
          <p:cNvSpPr txBox="1"/>
          <p:nvPr/>
        </p:nvSpPr>
        <p:spPr>
          <a:xfrm>
            <a:off x="10040112" y="2377440"/>
            <a:ext cx="274320" cy="868680"/>
          </a:xfrm>
          <a:prstGeom prst="rect">
            <a:avLst/>
          </a:prstGeom>
          <a:noFill/>
          <a:ln/>
        </p:spPr>
        <p:txBody>
          <a:bodyPr wrap="square" lIns="0" tIns="0" rIns="0" bIns="0" rtlCol="0" anchor="ctr"/>
          <a:lstStyle/>
          <a:p>
            <a:pPr rtl="1" algn="ctr" indent="0" marL="0">
              <a:buNone/>
            </a:pPr>
            <a:r>
              <a:rPr lang="ar-SA" altLang="en-US" sz="2200" b="1" dirty="0">
                <a:solidFill>
                  <a:srgbClr val="E67E22"/>
                </a:solidFill>
                <a:latin typeface="Tahoma" pitchFamily="34" charset="0"/>
                <a:ea typeface="Tahoma" pitchFamily="34" charset="-122"/>
                <a:cs typeface="Tahoma" pitchFamily="34" charset="-120"/>
              </a:rPr>
              <a:t>←</a:t>
            </a:r>
            <a:endParaRPr lang="ar-SA" sz="2200" dirty="0"/>
          </a:p>
        </p:txBody>
      </p:sp>
      <p:sp>
        <p:nvSpPr>
          <p:cNvPr id="9" name="s11_8@c2"/>
          <p:cNvSpPr txBox="1"/>
          <p:nvPr/>
        </p:nvSpPr>
        <p:spPr>
          <a:xfrm>
            <a:off x="8659368" y="2377440"/>
            <a:ext cx="1417320" cy="868680"/>
          </a:xfrm>
          <a:prstGeom prst="roundRect">
            <a:avLst>
              <a:gd name="adj" fmla="val 14737"/>
            </a:avLst>
          </a:prstGeom>
          <a:solidFill>
            <a:srgbClr val="DDF1FC"/>
          </a:solidFill>
          <a:ln w="28575">
            <a:solidFill>
              <a:srgbClr val="34405E"/>
            </a:solidFill>
          </a:ln>
        </p:spPr>
        <p:txBody>
          <a:bodyPr wrap="square" lIns="25400" tIns="25400" rIns="25400" bIns="254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اليرقة
</a:t>
            </a:r>
            <a:r>
              <a:rPr lang="ar-SA" altLang="en-US" sz="1250" b="1" dirty="0">
                <a:solidFill>
                  <a:srgbClr val="1E7FB8"/>
                </a:solidFill>
                <a:latin typeface="Tahoma" pitchFamily="34" charset="0"/>
                <a:ea typeface="Tahoma" pitchFamily="34" charset="-122"/>
                <a:cs typeface="Tahoma" pitchFamily="34" charset="-120"/>
              </a:rPr>
              <a:t>مستهلِك</a:t>
            </a:r>
            <a:endParaRPr lang="ar-SA" sz="1800" dirty="0"/>
          </a:p>
        </p:txBody>
      </p:sp>
      <p:sp>
        <p:nvSpPr>
          <p:cNvPr id="10" name="s11_9@c3"/>
          <p:cNvSpPr txBox="1"/>
          <p:nvPr/>
        </p:nvSpPr>
        <p:spPr>
          <a:xfrm>
            <a:off x="8412480" y="2377440"/>
            <a:ext cx="274320" cy="868680"/>
          </a:xfrm>
          <a:prstGeom prst="rect">
            <a:avLst/>
          </a:prstGeom>
          <a:noFill/>
          <a:ln/>
        </p:spPr>
        <p:txBody>
          <a:bodyPr wrap="square" lIns="0" tIns="0" rIns="0" bIns="0" rtlCol="0" anchor="ctr"/>
          <a:lstStyle/>
          <a:p>
            <a:pPr rtl="1" algn="ctr" indent="0" marL="0">
              <a:buNone/>
            </a:pPr>
            <a:r>
              <a:rPr lang="ar-SA" altLang="en-US" sz="2200" b="1" dirty="0">
                <a:solidFill>
                  <a:srgbClr val="E67E22"/>
                </a:solidFill>
                <a:latin typeface="Tahoma" pitchFamily="34" charset="0"/>
                <a:ea typeface="Tahoma" pitchFamily="34" charset="-122"/>
                <a:cs typeface="Tahoma" pitchFamily="34" charset="-120"/>
              </a:rPr>
              <a:t>←</a:t>
            </a:r>
            <a:endParaRPr lang="ar-SA" sz="2200" dirty="0"/>
          </a:p>
        </p:txBody>
      </p:sp>
      <p:sp>
        <p:nvSpPr>
          <p:cNvPr id="11" name="s11_10@c3"/>
          <p:cNvSpPr txBox="1"/>
          <p:nvPr/>
        </p:nvSpPr>
        <p:spPr>
          <a:xfrm>
            <a:off x="7031736" y="2377440"/>
            <a:ext cx="1417320" cy="868680"/>
          </a:xfrm>
          <a:prstGeom prst="roundRect">
            <a:avLst>
              <a:gd name="adj" fmla="val 14737"/>
            </a:avLst>
          </a:prstGeom>
          <a:solidFill>
            <a:srgbClr val="DDF1FC"/>
          </a:solidFill>
          <a:ln w="28575">
            <a:solidFill>
              <a:srgbClr val="34405E"/>
            </a:solidFill>
          </a:ln>
        </p:spPr>
        <p:txBody>
          <a:bodyPr wrap="square" lIns="25400" tIns="25400" rIns="25400" bIns="254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السرعوف
</a:t>
            </a:r>
            <a:r>
              <a:rPr lang="ar-SA" altLang="en-US" sz="1250" b="1" dirty="0">
                <a:solidFill>
                  <a:srgbClr val="1E7FB8"/>
                </a:solidFill>
                <a:latin typeface="Tahoma" pitchFamily="34" charset="0"/>
                <a:ea typeface="Tahoma" pitchFamily="34" charset="-122"/>
                <a:cs typeface="Tahoma" pitchFamily="34" charset="-120"/>
              </a:rPr>
              <a:t>مستهلِك</a:t>
            </a:r>
            <a:endParaRPr lang="ar-SA" sz="1800" dirty="0"/>
          </a:p>
        </p:txBody>
      </p:sp>
      <p:sp>
        <p:nvSpPr>
          <p:cNvPr id="12" name="s11_11@c4"/>
          <p:cNvSpPr txBox="1"/>
          <p:nvPr/>
        </p:nvSpPr>
        <p:spPr>
          <a:xfrm>
            <a:off x="6784848" y="2377440"/>
            <a:ext cx="274320" cy="868680"/>
          </a:xfrm>
          <a:prstGeom prst="rect">
            <a:avLst/>
          </a:prstGeom>
          <a:noFill/>
          <a:ln/>
        </p:spPr>
        <p:txBody>
          <a:bodyPr wrap="square" lIns="0" tIns="0" rIns="0" bIns="0" rtlCol="0" anchor="ctr"/>
          <a:lstStyle/>
          <a:p>
            <a:pPr rtl="1" algn="ctr" indent="0" marL="0">
              <a:buNone/>
            </a:pPr>
            <a:r>
              <a:rPr lang="ar-SA" altLang="en-US" sz="2200" b="1" dirty="0">
                <a:solidFill>
                  <a:srgbClr val="E67E22"/>
                </a:solidFill>
                <a:latin typeface="Tahoma" pitchFamily="34" charset="0"/>
                <a:ea typeface="Tahoma" pitchFamily="34" charset="-122"/>
                <a:cs typeface="Tahoma" pitchFamily="34" charset="-120"/>
              </a:rPr>
              <a:t>←</a:t>
            </a:r>
            <a:endParaRPr lang="ar-SA" sz="2200" dirty="0"/>
          </a:p>
        </p:txBody>
      </p:sp>
      <p:sp>
        <p:nvSpPr>
          <p:cNvPr id="13" name="s11_12@c4"/>
          <p:cNvSpPr txBox="1"/>
          <p:nvPr/>
        </p:nvSpPr>
        <p:spPr>
          <a:xfrm>
            <a:off x="5404104" y="2377440"/>
            <a:ext cx="1417320" cy="868680"/>
          </a:xfrm>
          <a:prstGeom prst="roundRect">
            <a:avLst>
              <a:gd name="adj" fmla="val 14737"/>
            </a:avLst>
          </a:prstGeom>
          <a:solidFill>
            <a:srgbClr val="DDF1FC"/>
          </a:solidFill>
          <a:ln w="28575">
            <a:solidFill>
              <a:srgbClr val="34405E"/>
            </a:solidFill>
          </a:ln>
        </p:spPr>
        <p:txBody>
          <a:bodyPr wrap="square" lIns="25400" tIns="25400" rIns="25400" bIns="254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السحلية
</a:t>
            </a:r>
            <a:r>
              <a:rPr lang="ar-SA" altLang="en-US" sz="1250" b="1" dirty="0">
                <a:solidFill>
                  <a:srgbClr val="1E7FB8"/>
                </a:solidFill>
                <a:latin typeface="Tahoma" pitchFamily="34" charset="0"/>
                <a:ea typeface="Tahoma" pitchFamily="34" charset="-122"/>
                <a:cs typeface="Tahoma" pitchFamily="34" charset="-120"/>
              </a:rPr>
              <a:t>مستهلِك</a:t>
            </a:r>
            <a:endParaRPr lang="ar-SA" sz="1800" dirty="0"/>
          </a:p>
        </p:txBody>
      </p:sp>
      <p:sp>
        <p:nvSpPr>
          <p:cNvPr id="14" name="s11_13@c5"/>
          <p:cNvSpPr txBox="1"/>
          <p:nvPr/>
        </p:nvSpPr>
        <p:spPr>
          <a:xfrm>
            <a:off x="5157216" y="2377440"/>
            <a:ext cx="274320" cy="868680"/>
          </a:xfrm>
          <a:prstGeom prst="rect">
            <a:avLst/>
          </a:prstGeom>
          <a:noFill/>
          <a:ln/>
        </p:spPr>
        <p:txBody>
          <a:bodyPr wrap="square" lIns="0" tIns="0" rIns="0" bIns="0" rtlCol="0" anchor="ctr"/>
          <a:lstStyle/>
          <a:p>
            <a:pPr rtl="1" algn="ctr" indent="0" marL="0">
              <a:buNone/>
            </a:pPr>
            <a:r>
              <a:rPr lang="ar-SA" altLang="en-US" sz="2200" b="1" dirty="0">
                <a:solidFill>
                  <a:srgbClr val="E67E22"/>
                </a:solidFill>
                <a:latin typeface="Tahoma" pitchFamily="34" charset="0"/>
                <a:ea typeface="Tahoma" pitchFamily="34" charset="-122"/>
                <a:cs typeface="Tahoma" pitchFamily="34" charset="-120"/>
              </a:rPr>
              <a:t>←</a:t>
            </a:r>
            <a:endParaRPr lang="ar-SA" sz="2200" dirty="0"/>
          </a:p>
        </p:txBody>
      </p:sp>
      <p:sp>
        <p:nvSpPr>
          <p:cNvPr id="15" name="s11_14@c5"/>
          <p:cNvSpPr txBox="1"/>
          <p:nvPr/>
        </p:nvSpPr>
        <p:spPr>
          <a:xfrm>
            <a:off x="3776472" y="2377440"/>
            <a:ext cx="1417320" cy="868680"/>
          </a:xfrm>
          <a:prstGeom prst="roundRect">
            <a:avLst>
              <a:gd name="adj" fmla="val 14737"/>
            </a:avLst>
          </a:prstGeom>
          <a:solidFill>
            <a:srgbClr val="DDF1FC"/>
          </a:solidFill>
          <a:ln w="28575">
            <a:solidFill>
              <a:srgbClr val="34405E"/>
            </a:solidFill>
          </a:ln>
        </p:spPr>
        <p:txBody>
          <a:bodyPr wrap="square" lIns="25400" tIns="25400" rIns="25400" bIns="254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البومة
</a:t>
            </a:r>
            <a:r>
              <a:rPr lang="ar-SA" altLang="en-US" sz="1250" b="1" dirty="0">
                <a:solidFill>
                  <a:srgbClr val="1E7FB8"/>
                </a:solidFill>
                <a:latin typeface="Tahoma" pitchFamily="34" charset="0"/>
                <a:ea typeface="Tahoma" pitchFamily="34" charset="-122"/>
                <a:cs typeface="Tahoma" pitchFamily="34" charset="-120"/>
              </a:rPr>
              <a:t>مستهلِك</a:t>
            </a:r>
            <a:endParaRPr lang="ar-SA" sz="1800" dirty="0"/>
          </a:p>
        </p:txBody>
      </p:sp>
      <p:sp>
        <p:nvSpPr>
          <p:cNvPr id="16" name="s11_15@c6"/>
          <p:cNvSpPr txBox="1"/>
          <p:nvPr/>
        </p:nvSpPr>
        <p:spPr>
          <a:xfrm>
            <a:off x="3703320" y="3474720"/>
            <a:ext cx="8046720" cy="1143000"/>
          </a:xfrm>
          <a:prstGeom prst="roundRect">
            <a:avLst>
              <a:gd name="adj" fmla="val 11200"/>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dirty="0">
                <a:solidFill>
                  <a:srgbClr val="34405E"/>
                </a:solidFill>
                <a:latin typeface="Tahoma" pitchFamily="34" charset="0"/>
                <a:ea typeface="Tahoma" pitchFamily="34" charset="-122"/>
                <a:cs typeface="Tahoma" pitchFamily="34" charset="-120"/>
              </a:rPr>
              <a:t>📖 </a:t>
            </a:r>
            <a:r>
              <a:rPr lang="ar-SA" altLang="en-US" sz="1600" dirty="0">
                <a:solidFill>
                  <a:srgbClr val="34405E"/>
                </a:solidFill>
                <a:latin typeface="Tahoma" pitchFamily="34" charset="0"/>
                <a:ea typeface="Tahoma" pitchFamily="34" charset="-122"/>
                <a:cs typeface="Tahoma" pitchFamily="34" charset="-120"/>
              </a:rPr>
              <a:t>تبدأ السلسلةُ الغذائيةُ على اليابسةِ عادةً بالأعشابِ والأشجارِ وغيرِها من النباتاتِ الخضراء. فنباتُ الشوكِ في الصورةِ منتِجٌ، أمّا السرعوفُ والسحليةُ والبومةُ فجميعُها مستهلكاتٌ.</a:t>
            </a:r>
            <a:endParaRPr lang="ar-SA" sz="1600" dirty="0"/>
          </a:p>
        </p:txBody>
      </p:sp>
      <p:sp>
        <p:nvSpPr>
          <p:cNvPr id="17" name="s11_16@c7"/>
          <p:cNvSpPr txBox="1"/>
          <p:nvPr/>
        </p:nvSpPr>
        <p:spPr>
          <a:xfrm>
            <a:off x="3703320" y="4754880"/>
            <a:ext cx="8046720" cy="960120"/>
          </a:xfrm>
          <a:prstGeom prst="roundRect">
            <a:avLst>
              <a:gd name="adj" fmla="val 13333"/>
            </a:avLst>
          </a:prstGeom>
          <a:solidFill>
            <a:srgbClr val="F9E3EC"/>
          </a:solidFill>
          <a:ln w="28575">
            <a:solidFill>
              <a:srgbClr val="34405E"/>
            </a:solidFill>
          </a:ln>
        </p:spPr>
        <p:txBody>
          <a:bodyPr wrap="square" lIns="101600" tIns="101600" rIns="101600" bIns="101600" rtlCol="0" anchor="ctr"/>
          <a:lstStyle/>
          <a:p>
            <a:pPr rtl="1" algn="r" indent="0" marL="0">
              <a:buNone/>
            </a:pPr>
            <a:r>
              <a:rPr lang="ar-SA" altLang="en-US" sz="1600" dirty="0">
                <a:solidFill>
                  <a:srgbClr val="34405E"/>
                </a:solidFill>
                <a:latin typeface="Tahoma" pitchFamily="34" charset="0"/>
                <a:ea typeface="Tahoma" pitchFamily="34" charset="-122"/>
                <a:cs typeface="Tahoma" pitchFamily="34" charset="-120"/>
              </a:rPr>
              <a:t>🍄 </a:t>
            </a:r>
            <a:r>
              <a:rPr lang="ar-SA" altLang="en-US" sz="1600" dirty="0">
                <a:solidFill>
                  <a:srgbClr val="34405E"/>
                </a:solidFill>
                <a:latin typeface="Tahoma" pitchFamily="34" charset="0"/>
                <a:ea typeface="Tahoma" pitchFamily="34" charset="-122"/>
                <a:cs typeface="Tahoma" pitchFamily="34" charset="-120"/>
              </a:rPr>
              <a:t>وعندما تموتُ هذه المستهلكاتُ تقومُ المحلِّلاتُ بتحليلِ أنسجتِها الميتةِ إلى موادَّ أساسيةٍ تستعملُها المخلوقاتُ الحيةُ من جديد.</a:t>
            </a:r>
            <a:endParaRPr lang="ar-SA" sz="1600" dirty="0"/>
          </a:p>
        </p:txBody>
      </p:sp>
      <p:sp>
        <p:nvSpPr>
          <p:cNvPr id="18" name="s11_17"/>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11_18"/>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15"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par>
                    <p:cTn id="16" fill="hold">
                      <p:stCondLst>
                        <p:cond delay="indefinite"/>
                      </p:stCondLst>
                      <p:childTnLst>
                        <p:par>
                          <p:cTn id="23"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par>
                    <p:cTn id="24" fill="hold">
                      <p:stCondLst>
                        <p:cond delay="indefinite"/>
                      </p:stCondLst>
                      <p:childTnLst>
                        <p:par>
                          <p:cTn id="31"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childTnLst>
                          </p:cTn>
                        </p:par>
                      </p:childTnLst>
                    </p:cTn>
                  </p:par>
                  <p:par>
                    <p:cTn id="32" fill="hold">
                      <p:stCondLst>
                        <p:cond delay="indefinite"/>
                      </p:stCondLst>
                      <p:childTnLst>
                        <p:par>
                          <p:cTn id="39"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childTnLst>
                                </p:cTn>
                              </p:par>
                            </p:childTnLst>
                          </p:cTn>
                        </p:par>
                      </p:childTnLst>
                    </p:cTn>
                  </p:par>
                  <p:par>
                    <p:cTn id="40" fill="hold">
                      <p:stCondLst>
                        <p:cond delay="indefinite"/>
                      </p:stCondLst>
                      <p:childTnLst>
                        <p:par>
                          <p:cTn id="4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childTnLst>
                          </p:cTn>
                        </p:par>
                      </p:childTnLst>
                    </p:cTn>
                  </p:par>
                  <p:par>
                    <p:cTn id="45" fill="hold">
                      <p:stCondLst>
                        <p:cond delay="indefinite"/>
                      </p:stCondLst>
                      <p:childTnLst>
                        <p:par>
                          <p:cTn id="49"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2_1" descr="/tmp/claude-0/-home-user/4092b4c5-df81-5a0c-b1b2-79950f0cf3f7/scratchpad/build/img/t_order.png">    </p:cNvPr>
          <p:cNvPicPr>
            <a:picLocks noChangeAspect="1"/>
          </p:cNvPicPr>
          <p:nvPr/>
        </p:nvPicPr>
        <p:blipFill>
          <a:blip r:embed="rId2"/>
          <a:stretch>
            <a:fillRect/>
          </a:stretch>
        </p:blipFill>
        <p:spPr>
          <a:xfrm>
            <a:off x="7334882" y="182880"/>
            <a:ext cx="4491053" cy="731520"/>
          </a:xfrm>
          <a:prstGeom prst="rect">
            <a:avLst/>
          </a:prstGeom>
        </p:spPr>
      </p:pic>
      <p:sp>
        <p:nvSpPr>
          <p:cNvPr id="3" name="s12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التتابع</a:t>
            </a:r>
            <a:endParaRPr lang="en-US" sz="1600" dirty="0"/>
          </a:p>
        </p:txBody>
      </p:sp>
      <p:sp>
        <p:nvSpPr>
          <p:cNvPr id="4" name="s12_3"/>
          <p:cNvSpPr txBox="1"/>
          <p:nvPr/>
        </p:nvSpPr>
        <p:spPr>
          <a:xfrm>
            <a:off x="548640" y="1051560"/>
            <a:ext cx="112014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6B4FC0"/>
                </a:solidFill>
                <a:latin typeface="Tahoma" pitchFamily="34" charset="0"/>
                <a:ea typeface="Tahoma" pitchFamily="34" charset="-122"/>
                <a:cs typeface="Tahoma" pitchFamily="34" charset="-120"/>
              </a:rPr>
              <a:t>رتّبي السلسلة الغذائية من الأول إلى الأخير 👆 اضغطي على الصورة ليظهر ترتيبها</a:t>
            </a:r>
            <a:endParaRPr lang="ar-SA" sz="1700" dirty="0"/>
          </a:p>
        </p:txBody>
      </p:sp>
      <p:pic>
        <p:nvPicPr>
          <p:cNvPr id="5" name="s12_p0" descr="/tmp/claude-0/-home-user/4092b4c5-df81-5a0c-b1b2-79950f0cf3f7/scratchpad/build/img/o_lizard.png">    </p:cNvPr>
          <p:cNvPicPr>
            <a:picLocks noChangeAspect="1"/>
          </p:cNvPicPr>
          <p:nvPr/>
        </p:nvPicPr>
        <p:blipFill>
          <a:blip r:embed="rId3"/>
          <a:stretch>
            <a:fillRect/>
          </a:stretch>
        </p:blipFill>
        <p:spPr>
          <a:xfrm>
            <a:off x="9646920" y="1783080"/>
            <a:ext cx="1965960" cy="1965960"/>
          </a:xfrm>
          <a:prstGeom prst="rect">
            <a:avLst/>
          </a:prstGeom>
        </p:spPr>
      </p:pic>
      <p:sp>
        <p:nvSpPr>
          <p:cNvPr id="6" name="s12_4"/>
          <p:cNvSpPr txBox="1"/>
          <p:nvPr/>
        </p:nvSpPr>
        <p:spPr>
          <a:xfrm>
            <a:off x="973836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السحلية</a:t>
            </a:r>
            <a:endParaRPr lang="ar-SA" sz="1700" dirty="0"/>
          </a:p>
        </p:txBody>
      </p:sp>
      <p:sp>
        <p:nvSpPr>
          <p:cNvPr id="7" name="s12_5@t=s12_p0"/>
          <p:cNvSpPr txBox="1"/>
          <p:nvPr/>
        </p:nvSpPr>
        <p:spPr>
          <a:xfrm>
            <a:off x="1097280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٤</a:t>
            </a:r>
            <a:endParaRPr lang="ar-SA" sz="2400" dirty="0"/>
          </a:p>
        </p:txBody>
      </p:sp>
      <p:pic>
        <p:nvPicPr>
          <p:cNvPr id="8" name="s12_p1" descr="/tmp/claude-0/-home-user/4092b4c5-df81-5a0c-b1b2-79950f0cf3f7/scratchpad/build/img/o_thistle.png">    </p:cNvPr>
          <p:cNvPicPr>
            <a:picLocks noChangeAspect="1"/>
          </p:cNvPicPr>
          <p:nvPr/>
        </p:nvPicPr>
        <p:blipFill>
          <a:blip r:embed="rId4"/>
          <a:stretch>
            <a:fillRect/>
          </a:stretch>
        </p:blipFill>
        <p:spPr>
          <a:xfrm>
            <a:off x="7406640" y="1783080"/>
            <a:ext cx="1965960" cy="1965960"/>
          </a:xfrm>
          <a:prstGeom prst="rect">
            <a:avLst/>
          </a:prstGeom>
        </p:spPr>
      </p:pic>
      <p:sp>
        <p:nvSpPr>
          <p:cNvPr id="9" name="s12_6"/>
          <p:cNvSpPr txBox="1"/>
          <p:nvPr/>
        </p:nvSpPr>
        <p:spPr>
          <a:xfrm>
            <a:off x="749808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نبات الشوك</a:t>
            </a:r>
            <a:endParaRPr lang="ar-SA" sz="1700" dirty="0"/>
          </a:p>
        </p:txBody>
      </p:sp>
      <p:sp>
        <p:nvSpPr>
          <p:cNvPr id="10" name="s12_7@t=s12_p1"/>
          <p:cNvSpPr txBox="1"/>
          <p:nvPr/>
        </p:nvSpPr>
        <p:spPr>
          <a:xfrm>
            <a:off x="873252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١</a:t>
            </a:r>
            <a:endParaRPr lang="ar-SA" sz="2400" dirty="0"/>
          </a:p>
        </p:txBody>
      </p:sp>
      <p:pic>
        <p:nvPicPr>
          <p:cNvPr id="11" name="s12_p2" descr="/tmp/claude-0/-home-user/4092b4c5-df81-5a0c-b1b2-79950f0cf3f7/scratchpad/build/img/o_owl.png">    </p:cNvPr>
          <p:cNvPicPr>
            <a:picLocks noChangeAspect="1"/>
          </p:cNvPicPr>
          <p:nvPr/>
        </p:nvPicPr>
        <p:blipFill>
          <a:blip r:embed="rId5"/>
          <a:stretch>
            <a:fillRect/>
          </a:stretch>
        </p:blipFill>
        <p:spPr>
          <a:xfrm>
            <a:off x="5166360" y="1783080"/>
            <a:ext cx="1965960" cy="1965960"/>
          </a:xfrm>
          <a:prstGeom prst="rect">
            <a:avLst/>
          </a:prstGeom>
        </p:spPr>
      </p:pic>
      <p:sp>
        <p:nvSpPr>
          <p:cNvPr id="12" name="s12_8"/>
          <p:cNvSpPr txBox="1"/>
          <p:nvPr/>
        </p:nvSpPr>
        <p:spPr>
          <a:xfrm>
            <a:off x="525780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البومة</a:t>
            </a:r>
            <a:endParaRPr lang="ar-SA" sz="1700" dirty="0"/>
          </a:p>
        </p:txBody>
      </p:sp>
      <p:sp>
        <p:nvSpPr>
          <p:cNvPr id="13" name="s12_9@t=s12_p2"/>
          <p:cNvSpPr txBox="1"/>
          <p:nvPr/>
        </p:nvSpPr>
        <p:spPr>
          <a:xfrm>
            <a:off x="649224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٥</a:t>
            </a:r>
            <a:endParaRPr lang="ar-SA" sz="2400" dirty="0"/>
          </a:p>
        </p:txBody>
      </p:sp>
      <p:pic>
        <p:nvPicPr>
          <p:cNvPr id="14" name="s12_p3" descr="/tmp/claude-0/-home-user/4092b4c5-df81-5a0c-b1b2-79950f0cf3f7/scratchpad/build/img/o_caterpillar.png">    </p:cNvPr>
          <p:cNvPicPr>
            <a:picLocks noChangeAspect="1"/>
          </p:cNvPicPr>
          <p:nvPr/>
        </p:nvPicPr>
        <p:blipFill>
          <a:blip r:embed="rId6"/>
          <a:stretch>
            <a:fillRect/>
          </a:stretch>
        </p:blipFill>
        <p:spPr>
          <a:xfrm>
            <a:off x="2926080" y="1783080"/>
            <a:ext cx="1965960" cy="1965960"/>
          </a:xfrm>
          <a:prstGeom prst="rect">
            <a:avLst/>
          </a:prstGeom>
        </p:spPr>
      </p:pic>
      <p:sp>
        <p:nvSpPr>
          <p:cNvPr id="15" name="s12_10"/>
          <p:cNvSpPr txBox="1"/>
          <p:nvPr/>
        </p:nvSpPr>
        <p:spPr>
          <a:xfrm>
            <a:off x="301752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اليرقة</a:t>
            </a:r>
            <a:endParaRPr lang="ar-SA" sz="1700" dirty="0"/>
          </a:p>
        </p:txBody>
      </p:sp>
      <p:sp>
        <p:nvSpPr>
          <p:cNvPr id="16" name="s12_11@t=s12_p3"/>
          <p:cNvSpPr txBox="1"/>
          <p:nvPr/>
        </p:nvSpPr>
        <p:spPr>
          <a:xfrm>
            <a:off x="425196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٢</a:t>
            </a:r>
            <a:endParaRPr lang="ar-SA" sz="2400" dirty="0"/>
          </a:p>
        </p:txBody>
      </p:sp>
      <p:pic>
        <p:nvPicPr>
          <p:cNvPr id="17" name="s12_p4" descr="/tmp/claude-0/-home-user/4092b4c5-df81-5a0c-b1b2-79950f0cf3f7/scratchpad/build/img/o_mantis.png">    </p:cNvPr>
          <p:cNvPicPr>
            <a:picLocks noChangeAspect="1"/>
          </p:cNvPicPr>
          <p:nvPr/>
        </p:nvPicPr>
        <p:blipFill>
          <a:blip r:embed="rId7"/>
          <a:stretch>
            <a:fillRect/>
          </a:stretch>
        </p:blipFill>
        <p:spPr>
          <a:xfrm>
            <a:off x="685800" y="1783080"/>
            <a:ext cx="1965960" cy="1965960"/>
          </a:xfrm>
          <a:prstGeom prst="rect">
            <a:avLst/>
          </a:prstGeom>
        </p:spPr>
      </p:pic>
      <p:sp>
        <p:nvSpPr>
          <p:cNvPr id="18" name="s12_12"/>
          <p:cNvSpPr txBox="1"/>
          <p:nvPr/>
        </p:nvSpPr>
        <p:spPr>
          <a:xfrm>
            <a:off x="77724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السرعوف</a:t>
            </a:r>
            <a:endParaRPr lang="ar-SA" sz="1700" dirty="0"/>
          </a:p>
        </p:txBody>
      </p:sp>
      <p:sp>
        <p:nvSpPr>
          <p:cNvPr id="19" name="s12_13@t=s12_p4"/>
          <p:cNvSpPr txBox="1"/>
          <p:nvPr/>
        </p:nvSpPr>
        <p:spPr>
          <a:xfrm>
            <a:off x="2011680" y="1691640"/>
            <a:ext cx="685800" cy="685800"/>
          </a:xfrm>
          <a:prstGeom prst="ellipse">
            <a:avLst>
              <a:gd name="adj" fmla="val 18667"/>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٣</a:t>
            </a:r>
            <a:endParaRPr lang="ar-SA" sz="2400" dirty="0"/>
          </a:p>
        </p:txBody>
      </p:sp>
      <p:sp>
        <p:nvSpPr>
          <p:cNvPr id="20" name="s12_14@c1"/>
          <p:cNvSpPr txBox="1"/>
          <p:nvPr/>
        </p:nvSpPr>
        <p:spPr>
          <a:xfrm>
            <a:off x="1737360" y="4617720"/>
            <a:ext cx="8778240" cy="594360"/>
          </a:xfrm>
          <a:prstGeom prst="roundRect">
            <a:avLst>
              <a:gd name="adj" fmla="val 21538"/>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السلسلة: </a:t>
            </a:r>
            <a:r>
              <a:rPr lang="ar-SA" altLang="en-US" sz="1800" b="1"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800" dirty="0"/>
          </a:p>
        </p:txBody>
      </p:sp>
      <p:sp>
        <p:nvSpPr>
          <p:cNvPr id="21" name="s12_15@c2"/>
          <p:cNvSpPr txBox="1"/>
          <p:nvPr/>
        </p:nvSpPr>
        <p:spPr>
          <a:xfrm>
            <a:off x="1737360" y="5349240"/>
            <a:ext cx="877824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C2366F"/>
                </a:solidFill>
                <a:latin typeface="Tahoma" pitchFamily="34" charset="0"/>
                <a:ea typeface="Tahoma" pitchFamily="34" charset="-122"/>
                <a:cs typeface="Tahoma" pitchFamily="34" charset="-120"/>
              </a:rPr>
              <a:t>سؤال تحدٍّ: </a:t>
            </a:r>
            <a:r>
              <a:rPr lang="ar-SA" altLang="en-US" sz="1550" dirty="0">
                <a:solidFill>
                  <a:srgbClr val="34405E"/>
                </a:solidFill>
                <a:latin typeface="Tahoma" pitchFamily="34" charset="0"/>
                <a:ea typeface="Tahoma" pitchFamily="34" charset="-122"/>
                <a:cs typeface="Tahoma" pitchFamily="34" charset="-120"/>
              </a:rPr>
              <a:t>أيّ مخلوق في السلسلة منتِج؟ ولماذا؟  </a:t>
            </a:r>
            <a:r>
              <a:rPr lang="ar-SA" altLang="en-US" sz="1550" b="1" dirty="0">
                <a:solidFill>
                  <a:srgbClr val="2F8A3A"/>
                </a:solidFill>
                <a:latin typeface="Tahoma" pitchFamily="34" charset="0"/>
                <a:ea typeface="Tahoma" pitchFamily="34" charset="-122"/>
                <a:cs typeface="Tahoma" pitchFamily="34" charset="-120"/>
              </a:rPr>
              <a:t>✔ نبات الشوك؛ لأنه يصنع غذاءه بنفسه مستخدمًا طاقة الشمس.</a:t>
            </a:r>
            <a:endParaRPr lang="ar-SA" sz="1550" dirty="0"/>
          </a:p>
        </p:txBody>
      </p:sp>
      <p:sp>
        <p:nvSpPr>
          <p:cNvPr id="22" name="s12_16"/>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3" name="s12_17"/>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00"/>
                                        <p:tgtEl>
                                          <p:spTgt spid="20"/>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5"/>
                    </p:tgtEl>
                  </p:cond>
                </p:stCondLst>
                <p:endSync evt="end" delay="0">
                  <p:rtn val="all"/>
                </p:endSync>
                <p:childTnLst>
                  <p:par>
                    <p:cTn id="13" fill="hold">
                      <p:stCondLst>
                        <p:cond delay="0"/>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nextCondLst>
                <p:cond evt="onNext" delay="0">
                  <p:tgtEl>
                    <p:spTgt spid="5"/>
                  </p:tgtEl>
                </p:cond>
              </p:nextCondLst>
            </p:seq>
            <p:seq concurrent="1" nextAc="seek">
              <p:cTn id="24" restart="whenNotActive" fill="hold" evtFilter="cancelBubble" nodeType="interactiveSeq">
                <p:stCondLst>
                  <p:cond evt="onClick" delay="0">
                    <p:tgtEl>
                      <p:spTgt spid="8"/>
                    </p:tgtEl>
                  </p:cond>
                </p:stCondLst>
                <p:endSync evt="end" delay="0">
                  <p:rtn val="all"/>
                </p:endSync>
                <p:childTnLst>
                  <p:par>
                    <p:cTn id="19" fill="hold">
                      <p:stCondLst>
                        <p:cond delay="0"/>
                      </p:stCondLst>
                      <p:childTnLst>
                        <p:par>
                          <p:cTn id="23"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childTnLst>
              </p:cTn>
              <p:nextCondLst>
                <p:cond evt="onNext" delay="0">
                  <p:tgtEl>
                    <p:spTgt spid="8"/>
                  </p:tgtEl>
                </p:cond>
              </p:nextCondLst>
            </p:seq>
            <p:seq concurrent="1" nextAc="seek">
              <p:cTn id="30" restart="whenNotActive" fill="hold" evtFilter="cancelBubble" nodeType="interactiveSeq">
                <p:stCondLst>
                  <p:cond evt="onClick" delay="0">
                    <p:tgtEl>
                      <p:spTgt spid="11"/>
                    </p:tgtEl>
                  </p:cond>
                </p:stCondLst>
                <p:endSync evt="end" delay="0">
                  <p:rtn val="all"/>
                </p:endSync>
                <p:childTnLst>
                  <p:par>
                    <p:cTn id="25" fill="hold">
                      <p:stCondLst>
                        <p:cond delay="0"/>
                      </p:stCondLst>
                      <p:childTnLst>
                        <p:par>
                          <p:cTn id="29"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childTnLst>
              </p:cTn>
              <p:nextCondLst>
                <p:cond evt="onNext" delay="0">
                  <p:tgtEl>
                    <p:spTgt spid="11"/>
                  </p:tgtEl>
                </p:cond>
              </p:nextCondLst>
            </p:seq>
            <p:seq concurrent="1" nextAc="seek">
              <p:cTn id="36" restart="whenNotActive" fill="hold" evtFilter="cancelBubble" nodeType="interactiveSeq">
                <p:stCondLst>
                  <p:cond evt="onClick" delay="0">
                    <p:tgtEl>
                      <p:spTgt spid="14"/>
                    </p:tgtEl>
                  </p:cond>
                </p:stCondLst>
                <p:endSync evt="end" delay="0">
                  <p:rtn val="all"/>
                </p:endSync>
                <p:childTnLst>
                  <p:par>
                    <p:cTn id="31" fill="hold">
                      <p:stCondLst>
                        <p:cond delay="0"/>
                      </p:stCondLst>
                      <p:childTnLst>
                        <p:par>
                          <p:cTn id="35"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childTnLst>
                          </p:cTn>
                        </p:par>
                      </p:childTnLst>
                    </p:cTn>
                  </p:par>
                </p:childTnLst>
              </p:cTn>
              <p:nextCondLst>
                <p:cond evt="onNext" delay="0">
                  <p:tgtEl>
                    <p:spTgt spid="14"/>
                  </p:tgtEl>
                </p:cond>
              </p:nextCondLst>
            </p:seq>
            <p:seq concurrent="1" nextAc="seek">
              <p:cTn id="42" restart="whenNotActive" fill="hold" evtFilter="cancelBubble" nodeType="interactiveSeq">
                <p:stCondLst>
                  <p:cond evt="onClick" delay="0">
                    <p:tgtEl>
                      <p:spTgt spid="17"/>
                    </p:tgtEl>
                  </p:cond>
                </p:stCondLst>
                <p:endSync evt="end" delay="0">
                  <p:rtn val="all"/>
                </p:endSync>
                <p:childTnLst>
                  <p:par>
                    <p:cTn id="37" fill="hold">
                      <p:stCondLst>
                        <p:cond delay="0"/>
                      </p:stCondLst>
                      <p:childTnLst>
                        <p:par>
                          <p:cTn id="41"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childTnLst>
                          </p:cTn>
                        </p:par>
                      </p:childTnLst>
                    </p:cTn>
                  </p:par>
                </p:childTnLst>
              </p:cTn>
              <p:nextCondLst>
                <p:cond evt="onNext" delay="0">
                  <p:tgtEl>
                    <p:spTgt spid="17"/>
                  </p:tgtEl>
                </p:cond>
              </p:nextCondLst>
            </p:seq>
          </p:childTnLst>
        </p:cTn>
      </p:par>
    </p:tnLst>
    <p:bldLst>
      <p:bldP spid="20" grpId="0" animBg="1"/>
      <p:bldP spid="21" grpId="0" animBg="1"/>
      <p:bldP spid="7" grpId="0" animBg="1"/>
      <p:bldP spid="10" grpId="0" animBg="1"/>
      <p:bldP spid="13" grpId="0" animBg="1"/>
      <p:bldP spid="16" grpId="0" animBg="1"/>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3_1" descr="/tmp/claude-0/-home-user/4092b4c5-df81-5a0c-b1b2-79950f0cf3f7/scratchpad/build/img/t_mistake.png">    </p:cNvPr>
          <p:cNvPicPr>
            <a:picLocks noChangeAspect="1"/>
          </p:cNvPicPr>
          <p:nvPr/>
        </p:nvPicPr>
        <p:blipFill>
          <a:blip r:embed="rId2"/>
          <a:stretch>
            <a:fillRect/>
          </a:stretch>
        </p:blipFill>
        <p:spPr>
          <a:xfrm>
            <a:off x="5059375" y="219747"/>
            <a:ext cx="6766560" cy="657785"/>
          </a:xfrm>
          <a:prstGeom prst="rect">
            <a:avLst/>
          </a:prstGeom>
        </p:spPr>
      </p:pic>
      <p:sp>
        <p:nvSpPr>
          <p:cNvPr id="3" name="s13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التناقض المعرفي</a:t>
            </a:r>
            <a:endParaRPr lang="en-US" sz="1600" dirty="0"/>
          </a:p>
        </p:txBody>
      </p:sp>
      <p:sp>
        <p:nvSpPr>
          <p:cNvPr id="4" name="s13_3@c1"/>
          <p:cNvSpPr txBox="1"/>
          <p:nvPr/>
        </p:nvSpPr>
        <p:spPr>
          <a:xfrm>
            <a:off x="7909560" y="1143000"/>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السهم في السلسلة الغذائية يشير إلى المخلوق الذي يُؤكَل.</a:t>
            </a:r>
            <a:endParaRPr lang="ar-SA" sz="1550" dirty="0"/>
          </a:p>
        </p:txBody>
      </p:sp>
      <p:sp>
        <p:nvSpPr>
          <p:cNvPr id="5" name="s13_4@c2"/>
          <p:cNvSpPr txBox="1"/>
          <p:nvPr/>
        </p:nvSpPr>
        <p:spPr>
          <a:xfrm>
            <a:off x="4343400" y="1143000"/>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إلى أين يشير السهم بين اليرقة والسرعوف؟</a:t>
            </a:r>
            <a:endParaRPr lang="ar-SA" sz="1500" dirty="0"/>
          </a:p>
        </p:txBody>
      </p:sp>
      <p:sp>
        <p:nvSpPr>
          <p:cNvPr id="6" name="s13_5@c3"/>
          <p:cNvSpPr txBox="1"/>
          <p:nvPr/>
        </p:nvSpPr>
        <p:spPr>
          <a:xfrm>
            <a:off x="548640" y="1143000"/>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السهم يشير إلى المستهلك التالي؛ أي اتجاه انتقال الطاقة من الغذاء إلى آكله.</a:t>
            </a:r>
            <a:endParaRPr lang="ar-SA" sz="1500" dirty="0"/>
          </a:p>
        </p:txBody>
      </p:sp>
      <p:sp>
        <p:nvSpPr>
          <p:cNvPr id="7" name="s13_6@c4"/>
          <p:cNvSpPr txBox="1"/>
          <p:nvPr/>
        </p:nvSpPr>
        <p:spPr>
          <a:xfrm>
            <a:off x="7909560" y="2807208"/>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تبدأ السلسلة الغذائية بأقوى حيوان.</a:t>
            </a:r>
            <a:endParaRPr lang="ar-SA" sz="1550" dirty="0"/>
          </a:p>
        </p:txBody>
      </p:sp>
      <p:sp>
        <p:nvSpPr>
          <p:cNvPr id="8" name="s13_7@c5"/>
          <p:cNvSpPr txBox="1"/>
          <p:nvPr/>
        </p:nvSpPr>
        <p:spPr>
          <a:xfrm>
            <a:off x="4343400" y="2807208"/>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بماذا بدأت سلسلة اليابسة في كتابي؟</a:t>
            </a:r>
            <a:endParaRPr lang="ar-SA" sz="1500" dirty="0"/>
          </a:p>
        </p:txBody>
      </p:sp>
      <p:sp>
        <p:nvSpPr>
          <p:cNvPr id="9" name="s13_8@c6"/>
          <p:cNvSpPr txBox="1"/>
          <p:nvPr/>
        </p:nvSpPr>
        <p:spPr>
          <a:xfrm>
            <a:off x="548640" y="2807208"/>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تبدأ بمنتِج يصنع غذاءه بطاقة الشمس، مثل نبات الشوك.</a:t>
            </a:r>
            <a:endParaRPr lang="ar-SA" sz="1500" dirty="0"/>
          </a:p>
        </p:txBody>
      </p:sp>
      <p:sp>
        <p:nvSpPr>
          <p:cNvPr id="10" name="s13_9@c7"/>
          <p:cNvSpPr txBox="1"/>
          <p:nvPr/>
        </p:nvSpPr>
        <p:spPr>
          <a:xfrm>
            <a:off x="7909560" y="4471416"/>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البومة تأخذ طاقتها من الشمس مباشرة؛ لأنها تطير عاليًا.</a:t>
            </a:r>
            <a:endParaRPr lang="ar-SA" sz="1550" dirty="0"/>
          </a:p>
        </p:txBody>
      </p:sp>
      <p:sp>
        <p:nvSpPr>
          <p:cNvPr id="11" name="s13_10@c8"/>
          <p:cNvSpPr txBox="1"/>
          <p:nvPr/>
        </p:nvSpPr>
        <p:spPr>
          <a:xfrm>
            <a:off x="4343400" y="4471416"/>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هل يستطيع أيّ حيوان أخذ الطاقة من الشمس؟</a:t>
            </a:r>
            <a:endParaRPr lang="ar-SA" sz="1500" dirty="0"/>
          </a:p>
        </p:txBody>
      </p:sp>
      <p:sp>
        <p:nvSpPr>
          <p:cNvPr id="12" name="s13_11@c9"/>
          <p:cNvSpPr txBox="1"/>
          <p:nvPr/>
        </p:nvSpPr>
        <p:spPr>
          <a:xfrm>
            <a:off x="548640" y="4471416"/>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لا يستطيع؛ تحصل البومة على الطاقة من السحلية التي تأكلها.</a:t>
            </a:r>
            <a:endParaRPr lang="ar-SA" sz="1500" dirty="0"/>
          </a:p>
        </p:txBody>
      </p:sp>
      <p:sp>
        <p:nvSpPr>
          <p:cNvPr id="13" name="s13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13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circl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8" fill="hold">
                      <p:stCondLst>
                        <p:cond delay="indefinite"/>
                      </p:stCondLst>
                      <p:childTnLst>
                        <p:par>
                          <p:cTn id="22"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3" fill="hold">
                      <p:stCondLst>
                        <p:cond delay="indefinite"/>
                      </p:stCondLst>
                      <p:childTnLst>
                        <p:par>
                          <p:cTn id="27"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8" fill="hold">
                      <p:stCondLst>
                        <p:cond delay="indefinite"/>
                      </p:stCondLst>
                      <p:childTnLst>
                        <p:par>
                          <p:cTn id="32"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childTnLst>
                          </p:cTn>
                        </p:par>
                      </p:childTnLst>
                    </p:cTn>
                  </p:par>
                  <p:par>
                    <p:cTn id="33" fill="hold">
                      <p:stCondLst>
                        <p:cond delay="indefinite"/>
                      </p:stCondLst>
                      <p:childTnLst>
                        <p:par>
                          <p:cTn id="37"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8" fill="hold">
                      <p:stCondLst>
                        <p:cond delay="indefinite"/>
                      </p:stCondLst>
                      <p:childTnLst>
                        <p:par>
                          <p:cTn id="42"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par>
                    <p:cTn id="43" fill="hold">
                      <p:stCondLst>
                        <p:cond delay="indefinite"/>
                      </p:stCondLst>
                      <p:childTnLst>
                        <p:par>
                          <p:cTn id="47"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4_1" descr="/tmp/claude-0/-home-user/4092b4c5-df81-5a0c-b1b2-79950f0cf3f7/scratchpad/build/img/t_pond.png">    </p:cNvPr>
          <p:cNvPicPr>
            <a:picLocks noChangeAspect="1"/>
          </p:cNvPicPr>
          <p:nvPr/>
        </p:nvPicPr>
        <p:blipFill>
          <a:blip r:embed="rId2"/>
          <a:stretch>
            <a:fillRect/>
          </a:stretch>
        </p:blipFill>
        <p:spPr>
          <a:xfrm>
            <a:off x="8731965" y="182880"/>
            <a:ext cx="3093970" cy="731520"/>
          </a:xfrm>
          <a:prstGeom prst="rect">
            <a:avLst/>
          </a:prstGeom>
        </p:spPr>
      </p:pic>
      <p:sp>
        <p:nvSpPr>
          <p:cNvPr id="3" name="s14_2"/>
          <p:cNvSpPr txBox="1"/>
          <p:nvPr/>
        </p:nvSpPr>
        <p:spPr>
          <a:xfrm>
            <a:off x="365760" y="292608"/>
            <a:ext cx="50520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التوقّع – فكّري، زاوجي، شاركي</a:t>
            </a:r>
            <a:endParaRPr lang="en-US" sz="1600" dirty="0"/>
          </a:p>
        </p:txBody>
      </p:sp>
      <p:pic>
        <p:nvPicPr>
          <p:cNvPr id="4" name="s14_3@a1" descr="/tmp/claude-0/-home-user/4092b4c5-df81-5a0c-b1b2-79950f0cf3f7/scratchpad/build/img/diver.png">    </p:cNvPr>
          <p:cNvPicPr>
            <a:picLocks noChangeAspect="1"/>
          </p:cNvPicPr>
          <p:nvPr/>
        </p:nvPicPr>
        <p:blipFill>
          <a:blip r:embed="rId3"/>
          <a:stretch>
            <a:fillRect/>
          </a:stretch>
        </p:blipFill>
        <p:spPr>
          <a:xfrm>
            <a:off x="502920" y="1051560"/>
            <a:ext cx="3162748" cy="5120640"/>
          </a:xfrm>
          <a:prstGeom prst="rect">
            <a:avLst/>
          </a:prstGeom>
        </p:spPr>
      </p:pic>
      <p:sp>
        <p:nvSpPr>
          <p:cNvPr id="5" name="s14_4@a2"/>
          <p:cNvSpPr txBox="1"/>
          <p:nvPr/>
        </p:nvSpPr>
        <p:spPr>
          <a:xfrm>
            <a:off x="3657600" y="1188720"/>
            <a:ext cx="809244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استعدّي للغوص! 🤿 لبست المستكشفة بدلة الغوص لتكتشف الحياة في البركة.</a:t>
            </a:r>
            <a:endParaRPr lang="ar-SA" sz="1800" dirty="0"/>
          </a:p>
        </p:txBody>
      </p:sp>
      <p:pic>
        <p:nvPicPr>
          <p:cNvPr id="6" name="s14_5" descr="/tmp/claude-0/-home-user/4092b4c5-df81-5a0c-b1b2-79950f0cf3f7/scratchpad/build/img/o_algae.png">    </p:cNvPr>
          <p:cNvPicPr>
            <a:picLocks noChangeAspect="1"/>
          </p:cNvPicPr>
          <p:nvPr/>
        </p:nvPicPr>
        <p:blipFill>
          <a:blip r:embed="rId4"/>
          <a:stretch>
            <a:fillRect/>
          </a:stretch>
        </p:blipFill>
        <p:spPr>
          <a:xfrm>
            <a:off x="9235440" y="2286000"/>
            <a:ext cx="2377440" cy="2377440"/>
          </a:xfrm>
          <a:prstGeom prst="rect">
            <a:avLst/>
          </a:prstGeom>
        </p:spPr>
      </p:pic>
      <p:sp>
        <p:nvSpPr>
          <p:cNvPr id="7" name="s14_6"/>
          <p:cNvSpPr txBox="1"/>
          <p:nvPr/>
        </p:nvSpPr>
        <p:spPr>
          <a:xfrm>
            <a:off x="8915400" y="4663440"/>
            <a:ext cx="301752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1E5A4E"/>
                </a:solidFill>
                <a:latin typeface="Tahoma" pitchFamily="34" charset="0"/>
                <a:ea typeface="Tahoma" pitchFamily="34" charset="-122"/>
                <a:cs typeface="Tahoma" pitchFamily="34" charset="-120"/>
              </a:rPr>
              <a:t>طحالب – صورة من كتابي ص١١٣</a:t>
            </a:r>
            <a:endParaRPr lang="ar-SA" sz="1200" dirty="0"/>
          </a:p>
        </p:txBody>
      </p:sp>
      <p:sp>
        <p:nvSpPr>
          <p:cNvPr id="8" name="s14_7"/>
          <p:cNvSpPr txBox="1"/>
          <p:nvPr/>
        </p:nvSpPr>
        <p:spPr>
          <a:xfrm>
            <a:off x="3657600" y="2286000"/>
            <a:ext cx="5349240" cy="1417320"/>
          </a:xfrm>
          <a:prstGeom prst="roundRect">
            <a:avLst>
              <a:gd name="adj" fmla="val 9032"/>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توقّعي: </a:t>
            </a:r>
            <a:r>
              <a:rPr lang="ar-SA" altLang="en-US" sz="1800" b="1" dirty="0">
                <a:solidFill>
                  <a:srgbClr val="34405E"/>
                </a:solidFill>
                <a:latin typeface="Tahoma" pitchFamily="34" charset="0"/>
                <a:ea typeface="Tahoma" pitchFamily="34" charset="-122"/>
                <a:cs typeface="Tahoma" pitchFamily="34" charset="-120"/>
              </a:rPr>
              <a:t>هل تشبه السلسلة الغذائية في البركة السلسلةَ الغذائية على اليابسة؟ بماذا تبدأ في رأيك؟</a:t>
            </a:r>
            <a:endParaRPr lang="ar-SA" sz="1800" dirty="0"/>
          </a:p>
        </p:txBody>
      </p:sp>
      <p:sp>
        <p:nvSpPr>
          <p:cNvPr id="9" name="s14_8"/>
          <p:cNvSpPr txBox="1"/>
          <p:nvPr/>
        </p:nvSpPr>
        <p:spPr>
          <a:xfrm>
            <a:off x="3657600" y="3886200"/>
            <a:ext cx="5349240" cy="548640"/>
          </a:xfrm>
          <a:prstGeom prst="roundRect">
            <a:avLst>
              <a:gd name="adj" fmla="val 50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فكّري وحدكِ… ثم زاوجي زميلتك… ثم شاركي</a:t>
            </a:r>
            <a:endParaRPr lang="ar-SA" sz="1550" dirty="0"/>
          </a:p>
        </p:txBody>
      </p:sp>
      <p:sp>
        <p:nvSpPr>
          <p:cNvPr id="10" name="s14_9@c1"/>
          <p:cNvSpPr txBox="1"/>
          <p:nvPr/>
        </p:nvSpPr>
        <p:spPr>
          <a:xfrm>
            <a:off x="3657600" y="51206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من كتابي: </a:t>
            </a:r>
            <a:r>
              <a:rPr lang="ar-SA" altLang="en-US" sz="1650" dirty="0">
                <a:solidFill>
                  <a:srgbClr val="34405E"/>
                </a:solidFill>
                <a:latin typeface="Tahoma" pitchFamily="34" charset="0"/>
                <a:ea typeface="Tahoma" pitchFamily="34" charset="-122"/>
                <a:cs typeface="Tahoma" pitchFamily="34" charset="-120"/>
              </a:rPr>
              <a:t>نعم، تتشابهان؛ فالسلسلة في البركة تبدأ أيضًا بمخلوقات تلتقط طاقة الشمس، مثل الطحالب 🌿</a:t>
            </a:r>
            <a:endParaRPr lang="ar-SA" sz="1650" dirty="0"/>
          </a:p>
        </p:txBody>
      </p:sp>
      <p:sp>
        <p:nvSpPr>
          <p:cNvPr id="11" name="s14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2" name="s14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 fill="hold">
                      <p:stCondLst>
                        <p:cond delay="indefinite"/>
                        <p:cond evt="onBegin" delay="0">
                          <p:tgtEl>
                            <p:sldTgt/>
                          </p:tgtEl>
                        </p:cond>
                      </p:stCondLst>
                      <p:childTnLst>
                        <p:par>
                          <p:cTn id="6" fill="hold">
                            <p:stCondLst>
                              <p:cond delay="0"/>
                            </p:stCondLst>
                            <p:childTnLst>
                              <p:par>
                                <p:cTn id="3" presetID="10" presetClass="entr" presetSubtype="0" fill="hold"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childTnLst>
                          </p:cTn>
                        </p:par>
                        <p:par>
                          <p:cTn id="10" fill="hold">
                            <p:stCondLst>
                              <p:cond delay="45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childTnLst>
                    </p:cTn>
                  </p:par>
                  <p:par>
                    <p:cTn id="12" fill="hold">
                      <p:stCondLst>
                        <p:cond delay="indefinite"/>
                      </p:stCondLst>
                      <p:childTnLst>
                        <p:par>
                          <p:cTn id="16"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5_1" descr="/tmp/claude-0/-home-user/4092b4c5-df81-5a0c-b1b2-79950f0cf3f7/scratchpad/build/img/t_pondchain.png">    </p:cNvPr>
          <p:cNvPicPr>
            <a:picLocks noChangeAspect="1"/>
          </p:cNvPicPr>
          <p:nvPr/>
        </p:nvPicPr>
        <p:blipFill>
          <a:blip r:embed="rId2"/>
          <a:stretch>
            <a:fillRect/>
          </a:stretch>
        </p:blipFill>
        <p:spPr>
          <a:xfrm>
            <a:off x="5805885" y="182880"/>
            <a:ext cx="6020050" cy="731520"/>
          </a:xfrm>
          <a:prstGeom prst="rect">
            <a:avLst/>
          </a:prstGeom>
        </p:spPr>
      </p:pic>
      <p:sp>
        <p:nvSpPr>
          <p:cNvPr id="3" name="s15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أقرئي الصور</a:t>
            </a:r>
            <a:endParaRPr lang="en-US" sz="1600" dirty="0"/>
          </a:p>
        </p:txBody>
      </p:sp>
      <p:pic>
        <p:nvPicPr>
          <p:cNvPr id="4" name="s15_3" descr="/tmp/claude-0/-home-user/4092b4c5-df81-5a0c-b1b2-79950f0cf3f7/scratchpad/build/img/p113_pond_chain.png">    </p:cNvPr>
          <p:cNvPicPr>
            <a:picLocks noChangeAspect="1"/>
          </p:cNvPicPr>
          <p:nvPr/>
        </p:nvPicPr>
        <p:blipFill>
          <a:blip r:embed="rId3"/>
          <a:stretch>
            <a:fillRect/>
          </a:stretch>
        </p:blipFill>
        <p:spPr>
          <a:xfrm>
            <a:off x="502920" y="960120"/>
            <a:ext cx="1981577" cy="5303520"/>
          </a:xfrm>
          <a:prstGeom prst="rect">
            <a:avLst/>
          </a:prstGeom>
        </p:spPr>
      </p:pic>
      <p:sp>
        <p:nvSpPr>
          <p:cNvPr id="5" name="s15_4"/>
          <p:cNvSpPr txBox="1"/>
          <p:nvPr/>
        </p:nvSpPr>
        <p:spPr>
          <a:xfrm>
            <a:off x="411480" y="6053328"/>
            <a:ext cx="2194560" cy="292608"/>
          </a:xfrm>
          <a:prstGeom prst="rect">
            <a:avLst/>
          </a:prstGeom>
          <a:noFill/>
          <a:ln/>
        </p:spPr>
        <p:txBody>
          <a:bodyPr wrap="square" lIns="63500" tIns="63500" rIns="63500" bIns="63500" rtlCol="0" anchor="ctr"/>
          <a:lstStyle/>
          <a:p>
            <a:pPr rtl="1" algn="ctr" indent="0" marL="0">
              <a:buNone/>
            </a:pPr>
            <a:r>
              <a:rPr lang="ar-SA" altLang="en-US" sz="1100" dirty="0">
                <a:solidFill>
                  <a:srgbClr val="1E5A4E"/>
                </a:solidFill>
                <a:latin typeface="Tahoma" pitchFamily="34" charset="0"/>
                <a:ea typeface="Tahoma" pitchFamily="34" charset="-122"/>
                <a:cs typeface="Tahoma" pitchFamily="34" charset="-120"/>
              </a:rPr>
              <a:t>شكل من كتابي – صفحة ١١٣</a:t>
            </a:r>
            <a:endParaRPr lang="ar-SA" sz="1100" dirty="0"/>
          </a:p>
        </p:txBody>
      </p:sp>
      <p:sp>
        <p:nvSpPr>
          <p:cNvPr id="6" name="s15_5@c1"/>
          <p:cNvSpPr txBox="1"/>
          <p:nvPr/>
        </p:nvSpPr>
        <p:spPr>
          <a:xfrm>
            <a:off x="3291840" y="1051560"/>
            <a:ext cx="8458200" cy="1097280"/>
          </a:xfrm>
          <a:prstGeom prst="roundRect">
            <a:avLst>
              <a:gd name="adj" fmla="val 1166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C2366F"/>
                </a:solidFill>
                <a:latin typeface="Tahoma" pitchFamily="34" charset="0"/>
                <a:ea typeface="Tahoma" pitchFamily="34" charset="-122"/>
                <a:cs typeface="Tahoma" pitchFamily="34" charset="-120"/>
              </a:rPr>
              <a:t>١  </a:t>
            </a:r>
            <a:r>
              <a:rPr lang="ar-SA" altLang="en-US" sz="1450" dirty="0">
                <a:solidFill>
                  <a:srgbClr val="34405E"/>
                </a:solidFill>
                <a:latin typeface="Tahoma" pitchFamily="34" charset="0"/>
                <a:ea typeface="Tahoma" pitchFamily="34" charset="-122"/>
                <a:cs typeface="Tahoma" pitchFamily="34" charset="-120"/>
              </a:rPr>
              <a:t>تشبهُ السلسلةُ الغذائيةُ في البركةِ السلسلةَ الغذائيةَ على اليابسةِ؛ إذ تبدأُ بالطحالبِ والنباتاتِ الخضراءِ التي تلتقطُ طاقةَ الشمسِ خلالَ عمليةِ البناءِ الضوئيِّ، وتُخزّنُ الطاقةَ في الخلايا على شكلِ سُكَّر.</a:t>
            </a:r>
            <a:endParaRPr lang="ar-SA" sz="1450" dirty="0"/>
          </a:p>
        </p:txBody>
      </p:sp>
      <p:sp>
        <p:nvSpPr>
          <p:cNvPr id="7" name="s15_6@c2"/>
          <p:cNvSpPr txBox="1"/>
          <p:nvPr/>
        </p:nvSpPr>
        <p:spPr>
          <a:xfrm>
            <a:off x="3291840" y="2258568"/>
            <a:ext cx="8458200" cy="1097280"/>
          </a:xfrm>
          <a:prstGeom prst="roundRect">
            <a:avLst>
              <a:gd name="adj" fmla="val 11667"/>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C2366F"/>
                </a:solidFill>
                <a:latin typeface="Tahoma" pitchFamily="34" charset="0"/>
                <a:ea typeface="Tahoma" pitchFamily="34" charset="-122"/>
                <a:cs typeface="Tahoma" pitchFamily="34" charset="-120"/>
              </a:rPr>
              <a:t>٢  </a:t>
            </a:r>
            <a:r>
              <a:rPr lang="ar-SA" altLang="en-US" sz="1450" dirty="0">
                <a:solidFill>
                  <a:srgbClr val="34405E"/>
                </a:solidFill>
                <a:latin typeface="Tahoma" pitchFamily="34" charset="0"/>
                <a:ea typeface="Tahoma" pitchFamily="34" charset="-122"/>
                <a:cs typeface="Tahoma" pitchFamily="34" charset="-120"/>
              </a:rPr>
              <a:t>تتغذّى آكلاتُ الأعشابِ كبعضِ الحشراتِ (الذبابةِ المائيةِ مثلًا) على الطحالبِ. وتستخدمُ الحشراتُ الأكسجينَ لإطلاقِ الطاقةِ المخزونةِ في الطحالبِ؛ للقيامِ بوظائفِ الحياةِ الأساسيةِ، ومنها الحركةُ.</a:t>
            </a:r>
            <a:endParaRPr lang="ar-SA" sz="1450" dirty="0"/>
          </a:p>
        </p:txBody>
      </p:sp>
      <p:sp>
        <p:nvSpPr>
          <p:cNvPr id="8" name="s15_7@c3"/>
          <p:cNvSpPr txBox="1"/>
          <p:nvPr/>
        </p:nvSpPr>
        <p:spPr>
          <a:xfrm>
            <a:off x="3291840" y="3465576"/>
            <a:ext cx="8458200" cy="1097280"/>
          </a:xfrm>
          <a:prstGeom prst="roundRect">
            <a:avLst>
              <a:gd name="adj" fmla="val 1166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C2366F"/>
                </a:solidFill>
                <a:latin typeface="Tahoma" pitchFamily="34" charset="0"/>
                <a:ea typeface="Tahoma" pitchFamily="34" charset="-122"/>
                <a:cs typeface="Tahoma" pitchFamily="34" charset="-120"/>
              </a:rPr>
              <a:t>٣  </a:t>
            </a:r>
            <a:r>
              <a:rPr lang="ar-SA" altLang="en-US" sz="1450" dirty="0">
                <a:solidFill>
                  <a:srgbClr val="34405E"/>
                </a:solidFill>
                <a:latin typeface="Tahoma" pitchFamily="34" charset="0"/>
                <a:ea typeface="Tahoma" pitchFamily="34" charset="-122"/>
                <a:cs typeface="Tahoma" pitchFamily="34" charset="-120"/>
              </a:rPr>
              <a:t>وهناكَ آكلاتُ لحومٍ كالأسماكِ تستطيعُ القفزَ لالتقاطِ الحشراتِ، وتصطادُ بعضُ الطيورِ – ومنها مالكُ الحزينِ – هذه الأسماكَ للحصولِ على الطاقةِ.</a:t>
            </a:r>
            <a:endParaRPr lang="ar-SA" sz="1450" dirty="0"/>
          </a:p>
        </p:txBody>
      </p:sp>
      <p:sp>
        <p:nvSpPr>
          <p:cNvPr id="9" name="s15_8@c4"/>
          <p:cNvSpPr txBox="1"/>
          <p:nvPr/>
        </p:nvSpPr>
        <p:spPr>
          <a:xfrm>
            <a:off x="9966960" y="4754880"/>
            <a:ext cx="1783080" cy="566928"/>
          </a:xfrm>
          <a:prstGeom prst="roundRect">
            <a:avLst>
              <a:gd name="adj" fmla="val 50000"/>
            </a:avLst>
          </a:prstGeom>
          <a:solidFill>
            <a:srgbClr val="C9F0C0"/>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طحالب</a:t>
            </a:r>
            <a:endParaRPr lang="ar-SA" sz="1550" dirty="0"/>
          </a:p>
        </p:txBody>
      </p:sp>
      <p:sp>
        <p:nvSpPr>
          <p:cNvPr id="10" name="s15_9@c5"/>
          <p:cNvSpPr txBox="1"/>
          <p:nvPr/>
        </p:nvSpPr>
        <p:spPr>
          <a:xfrm>
            <a:off x="9601200" y="4754880"/>
            <a:ext cx="365760" cy="566928"/>
          </a:xfrm>
          <a:prstGeom prst="rect">
            <a:avLst/>
          </a:prstGeom>
          <a:noFill/>
          <a:ln/>
        </p:spPr>
        <p:txBody>
          <a:bodyPr wrap="square" lIns="0" tIns="0" rIns="0" bIns="0" rtlCol="0" anchor="ctr"/>
          <a:lstStyle/>
          <a:p>
            <a:pPr rtl="1" algn="ctr" indent="0" marL="0">
              <a:buNone/>
            </a:pPr>
            <a:r>
              <a:rPr lang="ar-SA" altLang="en-US" sz="2200" b="1" dirty="0">
                <a:solidFill>
                  <a:srgbClr val="2F8A3A"/>
                </a:solidFill>
                <a:latin typeface="Tahoma" pitchFamily="34" charset="0"/>
                <a:ea typeface="Tahoma" pitchFamily="34" charset="-122"/>
                <a:cs typeface="Tahoma" pitchFamily="34" charset="-120"/>
              </a:rPr>
              <a:t>←</a:t>
            </a:r>
            <a:endParaRPr lang="ar-SA" sz="2200" dirty="0"/>
          </a:p>
        </p:txBody>
      </p:sp>
      <p:sp>
        <p:nvSpPr>
          <p:cNvPr id="11" name="s15_10@c5"/>
          <p:cNvSpPr txBox="1"/>
          <p:nvPr/>
        </p:nvSpPr>
        <p:spPr>
          <a:xfrm>
            <a:off x="7818120" y="4754880"/>
            <a:ext cx="1783080" cy="566928"/>
          </a:xfrm>
          <a:prstGeom prst="roundRect">
            <a:avLst>
              <a:gd name="adj" fmla="val 50000"/>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ذبابة مائية</a:t>
            </a:r>
            <a:endParaRPr lang="ar-SA" sz="1550" dirty="0"/>
          </a:p>
        </p:txBody>
      </p:sp>
      <p:sp>
        <p:nvSpPr>
          <p:cNvPr id="12" name="s15_11@c6"/>
          <p:cNvSpPr txBox="1"/>
          <p:nvPr/>
        </p:nvSpPr>
        <p:spPr>
          <a:xfrm>
            <a:off x="7452360" y="4754880"/>
            <a:ext cx="365760" cy="566928"/>
          </a:xfrm>
          <a:prstGeom prst="rect">
            <a:avLst/>
          </a:prstGeom>
          <a:noFill/>
          <a:ln/>
        </p:spPr>
        <p:txBody>
          <a:bodyPr wrap="square" lIns="0" tIns="0" rIns="0" bIns="0" rtlCol="0" anchor="ctr"/>
          <a:lstStyle/>
          <a:p>
            <a:pPr rtl="1" algn="ctr" indent="0" marL="0">
              <a:buNone/>
            </a:pPr>
            <a:r>
              <a:rPr lang="ar-SA" altLang="en-US" sz="2200" b="1" dirty="0">
                <a:solidFill>
                  <a:srgbClr val="2F8A3A"/>
                </a:solidFill>
                <a:latin typeface="Tahoma" pitchFamily="34" charset="0"/>
                <a:ea typeface="Tahoma" pitchFamily="34" charset="-122"/>
                <a:cs typeface="Tahoma" pitchFamily="34" charset="-120"/>
              </a:rPr>
              <a:t>←</a:t>
            </a:r>
            <a:endParaRPr lang="ar-SA" sz="2200" dirty="0"/>
          </a:p>
        </p:txBody>
      </p:sp>
      <p:sp>
        <p:nvSpPr>
          <p:cNvPr id="13" name="s15_12@c6"/>
          <p:cNvSpPr txBox="1"/>
          <p:nvPr/>
        </p:nvSpPr>
        <p:spPr>
          <a:xfrm>
            <a:off x="5669280" y="4754880"/>
            <a:ext cx="1783080" cy="566928"/>
          </a:xfrm>
          <a:prstGeom prst="roundRect">
            <a:avLst>
              <a:gd name="adj" fmla="val 50000"/>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سمكة الشمس</a:t>
            </a:r>
            <a:endParaRPr lang="ar-SA" sz="1550" dirty="0"/>
          </a:p>
        </p:txBody>
      </p:sp>
      <p:sp>
        <p:nvSpPr>
          <p:cNvPr id="14" name="s15_13@c7"/>
          <p:cNvSpPr txBox="1"/>
          <p:nvPr/>
        </p:nvSpPr>
        <p:spPr>
          <a:xfrm>
            <a:off x="5303520" y="4754880"/>
            <a:ext cx="365760" cy="566928"/>
          </a:xfrm>
          <a:prstGeom prst="rect">
            <a:avLst/>
          </a:prstGeom>
          <a:noFill/>
          <a:ln/>
        </p:spPr>
        <p:txBody>
          <a:bodyPr wrap="square" lIns="0" tIns="0" rIns="0" bIns="0" rtlCol="0" anchor="ctr"/>
          <a:lstStyle/>
          <a:p>
            <a:pPr rtl="1" algn="ctr" indent="0" marL="0">
              <a:buNone/>
            </a:pPr>
            <a:r>
              <a:rPr lang="ar-SA" altLang="en-US" sz="2200" b="1" dirty="0">
                <a:solidFill>
                  <a:srgbClr val="2F8A3A"/>
                </a:solidFill>
                <a:latin typeface="Tahoma" pitchFamily="34" charset="0"/>
                <a:ea typeface="Tahoma" pitchFamily="34" charset="-122"/>
                <a:cs typeface="Tahoma" pitchFamily="34" charset="-120"/>
              </a:rPr>
              <a:t>←</a:t>
            </a:r>
            <a:endParaRPr lang="ar-SA" sz="2200" dirty="0"/>
          </a:p>
        </p:txBody>
      </p:sp>
      <p:sp>
        <p:nvSpPr>
          <p:cNvPr id="15" name="s15_14@c7"/>
          <p:cNvSpPr txBox="1"/>
          <p:nvPr/>
        </p:nvSpPr>
        <p:spPr>
          <a:xfrm>
            <a:off x="3520440" y="4754880"/>
            <a:ext cx="1783080" cy="566928"/>
          </a:xfrm>
          <a:prstGeom prst="roundRect">
            <a:avLst>
              <a:gd name="adj" fmla="val 50000"/>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مالك الحزين</a:t>
            </a:r>
            <a:endParaRPr lang="ar-SA" sz="1550" dirty="0"/>
          </a:p>
        </p:txBody>
      </p:sp>
      <p:sp>
        <p:nvSpPr>
          <p:cNvPr id="16" name="s15_15@c8"/>
          <p:cNvSpPr txBox="1"/>
          <p:nvPr/>
        </p:nvSpPr>
        <p:spPr>
          <a:xfrm>
            <a:off x="3291840" y="5486400"/>
            <a:ext cx="8458200" cy="566928"/>
          </a:xfrm>
          <a:prstGeom prst="roundRect">
            <a:avLst>
              <a:gd name="adj" fmla="val 22581"/>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سؤال: </a:t>
            </a:r>
            <a:r>
              <a:rPr lang="ar-SA" altLang="en-US" sz="1550" dirty="0">
                <a:solidFill>
                  <a:srgbClr val="34405E"/>
                </a:solidFill>
                <a:latin typeface="Tahoma" pitchFamily="34" charset="0"/>
                <a:ea typeface="Tahoma" pitchFamily="34" charset="-122"/>
                <a:cs typeface="Tahoma" pitchFamily="34" charset="-120"/>
              </a:rPr>
              <a:t>أين تخزّن الطحالب الطاقة؟ وبأيّ شكل؟  </a:t>
            </a:r>
            <a:r>
              <a:rPr lang="ar-SA" altLang="en-US" sz="1550" b="1" dirty="0">
                <a:solidFill>
                  <a:srgbClr val="2F8A3A"/>
                </a:solidFill>
                <a:latin typeface="Tahoma" pitchFamily="34" charset="0"/>
                <a:ea typeface="Tahoma" pitchFamily="34" charset="-122"/>
                <a:cs typeface="Tahoma" pitchFamily="34" charset="-120"/>
              </a:rPr>
              <a:t>✔ في خلاياها على شكل سكر.</a:t>
            </a:r>
            <a:endParaRPr lang="ar-SA" sz="1550" dirty="0"/>
          </a:p>
        </p:txBody>
      </p:sp>
      <p:sp>
        <p:nvSpPr>
          <p:cNvPr id="17" name="s15_16"/>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15_17"/>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8" fill="hold">
                      <p:stCondLst>
                        <p:cond delay="indefinite"/>
                      </p:stCondLst>
                      <p:childTnLst>
                        <p:par>
                          <p:cTn id="22"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childTnLst>
                          </p:cTn>
                        </p:par>
                      </p:childTnLst>
                    </p:cTn>
                  </p:par>
                  <p:par>
                    <p:cTn id="23" fill="hold">
                      <p:stCondLst>
                        <p:cond delay="indefinite"/>
                      </p:stCondLst>
                      <p:childTnLst>
                        <p:par>
                          <p:cTn id="30"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childTnLst>
                          </p:cTn>
                        </p:par>
                      </p:childTnLst>
                    </p:cTn>
                  </p:par>
                  <p:par>
                    <p:cTn id="31" fill="hold">
                      <p:stCondLst>
                        <p:cond delay="indefinite"/>
                      </p:stCondLst>
                      <p:childTnLst>
                        <p:par>
                          <p:cTn id="38"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par>
                    <p:cTn id="39" fill="hold">
                      <p:stCondLst>
                        <p:cond delay="indefinite"/>
                      </p:stCondLst>
                      <p:childTnLst>
                        <p:par>
                          <p:cTn id="46"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childTnLst>
                          </p:cTn>
                        </p:par>
                      </p:childTnLst>
                    </p:cTn>
                  </p:par>
                  <p:par>
                    <p:cTn id="47" fill="hold">
                      <p:stCondLst>
                        <p:cond delay="indefinite"/>
                      </p:stCondLst>
                      <p:childTnLst>
                        <p:par>
                          <p:cTn id="51"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6_1" descr="/tmp/claude-0/-home-user/4092b4c5-df81-5a0c-b1b2-79950f0cf3f7/scratchpad/build/img/t_compare.png">    </p:cNvPr>
          <p:cNvPicPr>
            <a:picLocks noChangeAspect="1"/>
          </p:cNvPicPr>
          <p:nvPr/>
        </p:nvPicPr>
        <p:blipFill>
          <a:blip r:embed="rId2"/>
          <a:stretch>
            <a:fillRect/>
          </a:stretch>
        </p:blipFill>
        <p:spPr>
          <a:xfrm>
            <a:off x="6987110" y="182880"/>
            <a:ext cx="4838825" cy="731520"/>
          </a:xfrm>
          <a:prstGeom prst="rect">
            <a:avLst/>
          </a:prstGeom>
        </p:spPr>
      </p:pic>
      <p:sp>
        <p:nvSpPr>
          <p:cNvPr id="3" name="s16_2"/>
          <p:cNvSpPr txBox="1"/>
          <p:nvPr/>
        </p:nvSpPr>
        <p:spPr>
          <a:xfrm>
            <a:off x="365760" y="292608"/>
            <a:ext cx="3680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المقارنة والتصنيف</a:t>
            </a:r>
            <a:endParaRPr lang="en-US" sz="1600" dirty="0"/>
          </a:p>
        </p:txBody>
      </p:sp>
      <p:sp>
        <p:nvSpPr>
          <p:cNvPr id="4" name="s16_3"/>
          <p:cNvSpPr txBox="1"/>
          <p:nvPr/>
        </p:nvSpPr>
        <p:spPr>
          <a:xfrm>
            <a:off x="7863840" y="1143000"/>
            <a:ext cx="3886200" cy="548640"/>
          </a:xfrm>
          <a:prstGeom prst="roundRect">
            <a:avLst>
              <a:gd name="adj" fmla="val 23333"/>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وجه المقارنة</a:t>
            </a:r>
            <a:endParaRPr lang="ar-SA" sz="1700" dirty="0"/>
          </a:p>
        </p:txBody>
      </p:sp>
      <p:sp>
        <p:nvSpPr>
          <p:cNvPr id="5" name="s16_4"/>
          <p:cNvSpPr txBox="1"/>
          <p:nvPr/>
        </p:nvSpPr>
        <p:spPr>
          <a:xfrm>
            <a:off x="4251960" y="1143000"/>
            <a:ext cx="3474720" cy="548640"/>
          </a:xfrm>
          <a:prstGeom prst="roundRect">
            <a:avLst>
              <a:gd name="adj" fmla="val 23333"/>
            </a:avLst>
          </a:prstGeom>
          <a:solidFill>
            <a:srgbClr val="A87400"/>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اليابسة 🌵</a:t>
            </a:r>
            <a:endParaRPr lang="ar-SA" sz="1700" dirty="0"/>
          </a:p>
        </p:txBody>
      </p:sp>
      <p:sp>
        <p:nvSpPr>
          <p:cNvPr id="6" name="s16_5"/>
          <p:cNvSpPr txBox="1"/>
          <p:nvPr/>
        </p:nvSpPr>
        <p:spPr>
          <a:xfrm>
            <a:off x="640080" y="1143000"/>
            <a:ext cx="3474720" cy="548640"/>
          </a:xfrm>
          <a:prstGeom prst="roundRect">
            <a:avLst>
              <a:gd name="adj" fmla="val 23333"/>
            </a:avLst>
          </a:prstGeom>
          <a:solidFill>
            <a:srgbClr val="0E6F86"/>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البركة 🪷</a:t>
            </a:r>
            <a:endParaRPr lang="ar-SA" sz="1700" dirty="0"/>
          </a:p>
        </p:txBody>
      </p:sp>
      <p:sp>
        <p:nvSpPr>
          <p:cNvPr id="7" name="s16_6"/>
          <p:cNvSpPr txBox="1"/>
          <p:nvPr/>
        </p:nvSpPr>
        <p:spPr>
          <a:xfrm>
            <a:off x="7863840" y="1810512"/>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مصدر الطاقة</a:t>
            </a:r>
            <a:endParaRPr lang="ar-SA" sz="1600" dirty="0"/>
          </a:p>
        </p:txBody>
      </p:sp>
      <p:sp>
        <p:nvSpPr>
          <p:cNvPr id="8" name="s16_7@c1"/>
          <p:cNvSpPr txBox="1"/>
          <p:nvPr/>
        </p:nvSpPr>
        <p:spPr>
          <a:xfrm>
            <a:off x="4251960" y="1810512"/>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9" name="s16_8@c1"/>
          <p:cNvSpPr txBox="1"/>
          <p:nvPr/>
        </p:nvSpPr>
        <p:spPr>
          <a:xfrm>
            <a:off x="640080" y="1810512"/>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10" name="s16_9"/>
          <p:cNvSpPr txBox="1"/>
          <p:nvPr/>
        </p:nvSpPr>
        <p:spPr>
          <a:xfrm>
            <a:off x="7863840" y="2596896"/>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المنتِج (أول حلقة)</a:t>
            </a:r>
            <a:endParaRPr lang="ar-SA" sz="1600" dirty="0"/>
          </a:p>
        </p:txBody>
      </p:sp>
      <p:sp>
        <p:nvSpPr>
          <p:cNvPr id="11" name="s16_10@c2"/>
          <p:cNvSpPr txBox="1"/>
          <p:nvPr/>
        </p:nvSpPr>
        <p:spPr>
          <a:xfrm>
            <a:off x="4251960" y="2596896"/>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نبات الشوك</a:t>
            </a:r>
            <a:endParaRPr lang="ar-SA" sz="1600" dirty="0"/>
          </a:p>
        </p:txBody>
      </p:sp>
      <p:sp>
        <p:nvSpPr>
          <p:cNvPr id="12" name="s16_11@c2"/>
          <p:cNvSpPr txBox="1"/>
          <p:nvPr/>
        </p:nvSpPr>
        <p:spPr>
          <a:xfrm>
            <a:off x="640080" y="2596896"/>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الطحالب</a:t>
            </a:r>
            <a:endParaRPr lang="ar-SA" sz="1600" dirty="0"/>
          </a:p>
        </p:txBody>
      </p:sp>
      <p:sp>
        <p:nvSpPr>
          <p:cNvPr id="13" name="s16_12"/>
          <p:cNvSpPr txBox="1"/>
          <p:nvPr/>
        </p:nvSpPr>
        <p:spPr>
          <a:xfrm>
            <a:off x="7863840" y="3383280"/>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الأعشاب</a:t>
            </a:r>
            <a:endParaRPr lang="ar-SA" sz="1600" dirty="0"/>
          </a:p>
        </p:txBody>
      </p:sp>
      <p:sp>
        <p:nvSpPr>
          <p:cNvPr id="14" name="s16_13@c3"/>
          <p:cNvSpPr txBox="1"/>
          <p:nvPr/>
        </p:nvSpPr>
        <p:spPr>
          <a:xfrm>
            <a:off x="4251960" y="3383280"/>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اليرقة</a:t>
            </a:r>
            <a:endParaRPr lang="ar-SA" sz="1600" dirty="0"/>
          </a:p>
        </p:txBody>
      </p:sp>
      <p:sp>
        <p:nvSpPr>
          <p:cNvPr id="15" name="s16_14@c3"/>
          <p:cNvSpPr txBox="1"/>
          <p:nvPr/>
        </p:nvSpPr>
        <p:spPr>
          <a:xfrm>
            <a:off x="640080" y="3383280"/>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الذبابة المائية</a:t>
            </a:r>
            <a:endParaRPr lang="ar-SA" sz="1600" dirty="0"/>
          </a:p>
        </p:txBody>
      </p:sp>
      <p:sp>
        <p:nvSpPr>
          <p:cNvPr id="16" name="s16_15"/>
          <p:cNvSpPr txBox="1"/>
          <p:nvPr/>
        </p:nvSpPr>
        <p:spPr>
          <a:xfrm>
            <a:off x="7863840" y="4169664"/>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اللحوم</a:t>
            </a:r>
            <a:endParaRPr lang="ar-SA" sz="1600" dirty="0"/>
          </a:p>
        </p:txBody>
      </p:sp>
      <p:sp>
        <p:nvSpPr>
          <p:cNvPr id="17" name="s16_16@c4"/>
          <p:cNvSpPr txBox="1"/>
          <p:nvPr/>
        </p:nvSpPr>
        <p:spPr>
          <a:xfrm>
            <a:off x="4251960" y="4169664"/>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السرعوف، السحلية</a:t>
            </a:r>
            <a:endParaRPr lang="ar-SA" sz="1600" dirty="0"/>
          </a:p>
        </p:txBody>
      </p:sp>
      <p:sp>
        <p:nvSpPr>
          <p:cNvPr id="18" name="s16_17@c4"/>
          <p:cNvSpPr txBox="1"/>
          <p:nvPr/>
        </p:nvSpPr>
        <p:spPr>
          <a:xfrm>
            <a:off x="640080" y="4169664"/>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سمكة الشمس</a:t>
            </a:r>
            <a:endParaRPr lang="ar-SA" sz="1600" dirty="0"/>
          </a:p>
        </p:txBody>
      </p:sp>
      <p:sp>
        <p:nvSpPr>
          <p:cNvPr id="19" name="s16_18"/>
          <p:cNvSpPr txBox="1"/>
          <p:nvPr/>
        </p:nvSpPr>
        <p:spPr>
          <a:xfrm>
            <a:off x="7863840" y="4956048"/>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آخر حلقة</a:t>
            </a:r>
            <a:endParaRPr lang="ar-SA" sz="1600" dirty="0"/>
          </a:p>
        </p:txBody>
      </p:sp>
      <p:sp>
        <p:nvSpPr>
          <p:cNvPr id="20" name="s16_19@c5"/>
          <p:cNvSpPr txBox="1"/>
          <p:nvPr/>
        </p:nvSpPr>
        <p:spPr>
          <a:xfrm>
            <a:off x="4251960" y="4956048"/>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البومة</a:t>
            </a:r>
            <a:endParaRPr lang="ar-SA" sz="1600" dirty="0"/>
          </a:p>
        </p:txBody>
      </p:sp>
      <p:sp>
        <p:nvSpPr>
          <p:cNvPr id="21" name="s16_20@c5"/>
          <p:cNvSpPr txBox="1"/>
          <p:nvPr/>
        </p:nvSpPr>
        <p:spPr>
          <a:xfrm>
            <a:off x="640080" y="4956048"/>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مالك الحزين</a:t>
            </a:r>
            <a:endParaRPr lang="ar-SA" sz="1600" dirty="0"/>
          </a:p>
        </p:txBody>
      </p:sp>
      <p:sp>
        <p:nvSpPr>
          <p:cNvPr id="22" name="s16_21@c6"/>
          <p:cNvSpPr txBox="1"/>
          <p:nvPr/>
        </p:nvSpPr>
        <p:spPr>
          <a:xfrm>
            <a:off x="640080" y="5779008"/>
            <a:ext cx="11109960" cy="548640"/>
          </a:xfrm>
          <a:prstGeom prst="roundRect">
            <a:avLst>
              <a:gd name="adj" fmla="val 23333"/>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أستنتج: </a:t>
            </a:r>
            <a:r>
              <a:rPr lang="ar-SA" altLang="en-US" sz="1550" b="1" dirty="0">
                <a:solidFill>
                  <a:srgbClr val="34405E"/>
                </a:solidFill>
                <a:latin typeface="Tahoma" pitchFamily="34" charset="0"/>
                <a:ea typeface="Tahoma" pitchFamily="34" charset="-122"/>
                <a:cs typeface="Tahoma" pitchFamily="34" charset="-120"/>
              </a:rPr>
              <a:t>تبدأ كلتا السلسلتين بمنتِج يلتقط طاقة الشمس، ثم تنتقل الطاقة إلى المستهلكات حلقةً بعد حلقة.</a:t>
            </a:r>
            <a:endParaRPr lang="ar-SA" sz="1550" dirty="0"/>
          </a:p>
        </p:txBody>
      </p:sp>
      <p:sp>
        <p:nvSpPr>
          <p:cNvPr id="23" name="s16_2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4" name="s16_2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10"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childTnLst>
                                </p:cTn>
                              </p:par>
                            </p:childTnLst>
                          </p:cTn>
                        </p:par>
                      </p:childTnLst>
                    </p:cTn>
                  </p:par>
                  <p:par>
                    <p:cTn id="11" fill="hold">
                      <p:stCondLst>
                        <p:cond delay="indefinite"/>
                      </p:stCondLst>
                      <p:childTnLst>
                        <p:par>
                          <p:cTn id="18"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9" fill="hold">
                      <p:stCondLst>
                        <p:cond delay="indefinite"/>
                      </p:stCondLst>
                      <p:childTnLst>
                        <p:par>
                          <p:cTn id="2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cTn>
                              </p:par>
                            </p:childTnLst>
                          </p:cTn>
                        </p:par>
                      </p:childTnLst>
                    </p:cTn>
                  </p:par>
                  <p:par>
                    <p:cTn id="27" fill="hold">
                      <p:stCondLst>
                        <p:cond delay="indefinite"/>
                      </p:stCondLst>
                      <p:childTnLst>
                        <p:par>
                          <p:cTn id="34"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childTnLst>
                          </p:cTn>
                        </p:par>
                      </p:childTnLst>
                    </p:cTn>
                  </p:par>
                  <p:par>
                    <p:cTn id="35" fill="hold">
                      <p:stCondLst>
                        <p:cond delay="indefinite"/>
                      </p:stCondLst>
                      <p:childTnLst>
                        <p:par>
                          <p:cTn id="42"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childTnLst>
                          </p:cTn>
                        </p:par>
                      </p:childTnLst>
                    </p:cTn>
                  </p:par>
                  <p:par>
                    <p:cTn id="43" fill="hold">
                      <p:stCondLst>
                        <p:cond delay="indefinite"/>
                      </p:stCondLst>
                      <p:childTnLst>
                        <p:par>
                          <p:cTn id="47"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4" grpId="0" animBg="1"/>
      <p:bldP spid="15" grpId="0" animBg="1"/>
      <p:bldP spid="17" grpId="0" animBg="1"/>
      <p:bldP spid="18" grpId="0" animBg="1"/>
      <p:bldP spid="20" grpId="0" animBg="1"/>
      <p:bldP spid="21" grpId="0" animBg="1"/>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7_1" descr="/tmp/claude-0/-home-user/4092b4c5-df81-5a0c-b1b2-79950f0cf3f7/scratchpad/build/img/t_formative.png">    </p:cNvPr>
          <p:cNvPicPr>
            <a:picLocks noChangeAspect="1"/>
          </p:cNvPicPr>
          <p:nvPr/>
        </p:nvPicPr>
        <p:blipFill>
          <a:blip r:embed="rId2"/>
          <a:stretch>
            <a:fillRect/>
          </a:stretch>
        </p:blipFill>
        <p:spPr>
          <a:xfrm>
            <a:off x="7946481" y="182880"/>
            <a:ext cx="3879454" cy="731520"/>
          </a:xfrm>
          <a:prstGeom prst="rect">
            <a:avLst/>
          </a:prstGeom>
        </p:spPr>
      </p:pic>
      <p:sp>
        <p:nvSpPr>
          <p:cNvPr id="3" name="s17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مستويات التفكير الثلاثة</a:t>
            </a:r>
            <a:endParaRPr lang="en-US" sz="1600" dirty="0"/>
          </a:p>
        </p:txBody>
      </p:sp>
      <p:sp>
        <p:nvSpPr>
          <p:cNvPr id="4" name="s17_3"/>
          <p:cNvSpPr txBox="1"/>
          <p:nvPr/>
        </p:nvSpPr>
        <p:spPr>
          <a:xfrm>
            <a:off x="502920" y="1097280"/>
            <a:ext cx="11201400" cy="1554480"/>
          </a:xfrm>
          <a:prstGeom prst="roundRect">
            <a:avLst>
              <a:gd name="adj" fmla="val 8235"/>
            </a:avLst>
          </a:prstGeom>
          <a:solidFill>
            <a:srgbClr val="EAF8DD"/>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5" name="s17_4"/>
          <p:cNvSpPr txBox="1"/>
          <p:nvPr/>
        </p:nvSpPr>
        <p:spPr>
          <a:xfrm>
            <a:off x="9784080" y="1207008"/>
            <a:ext cx="1828800" cy="457200"/>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أكتشف</a:t>
            </a:r>
            <a:endParaRPr lang="ar-SA" sz="1550" dirty="0"/>
          </a:p>
        </p:txBody>
      </p:sp>
      <p:sp>
        <p:nvSpPr>
          <p:cNvPr id="6" name="s17_5"/>
          <p:cNvSpPr txBox="1"/>
          <p:nvPr/>
        </p:nvSpPr>
        <p:spPr>
          <a:xfrm>
            <a:off x="4572000" y="120700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بماذا تبدأ السلسلة الغذائية في البركة؟</a:t>
            </a:r>
            <a:endParaRPr lang="ar-SA" sz="1700" dirty="0"/>
          </a:p>
        </p:txBody>
      </p:sp>
      <p:sp>
        <p:nvSpPr>
          <p:cNvPr id="7" name="s17_6@c1"/>
          <p:cNvSpPr txBox="1"/>
          <p:nvPr/>
        </p:nvSpPr>
        <p:spPr>
          <a:xfrm>
            <a:off x="5349240" y="2194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من يلتقط طاقة الشمس؟</a:t>
            </a:r>
            <a:endParaRPr lang="ar-SA" sz="1350" dirty="0"/>
          </a:p>
        </p:txBody>
      </p:sp>
      <p:sp>
        <p:nvSpPr>
          <p:cNvPr id="8" name="s17_7@c2"/>
          <p:cNvSpPr txBox="1"/>
          <p:nvPr/>
        </p:nvSpPr>
        <p:spPr>
          <a:xfrm>
            <a:off x="640080" y="118872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بالطحالب والنباتات الخضراء.</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9" name="s17_8"/>
          <p:cNvSpPr txBox="1"/>
          <p:nvPr/>
        </p:nvSpPr>
        <p:spPr>
          <a:xfrm>
            <a:off x="502920" y="2743200"/>
            <a:ext cx="11201400" cy="1554480"/>
          </a:xfrm>
          <a:prstGeom prst="roundRect">
            <a:avLst>
              <a:gd name="adj" fmla="val 8235"/>
            </a:avLst>
          </a:prstGeom>
          <a:solidFill>
            <a:srgbClr val="FFF7D6"/>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0" name="s17_9"/>
          <p:cNvSpPr txBox="1"/>
          <p:nvPr/>
        </p:nvSpPr>
        <p:spPr>
          <a:xfrm>
            <a:off x="9784080" y="2852928"/>
            <a:ext cx="1828800" cy="457200"/>
          </a:xfrm>
          <a:prstGeom prst="roundRect">
            <a:avLst>
              <a:gd name="adj" fmla="val 50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أفكّر</a:t>
            </a:r>
            <a:endParaRPr lang="ar-SA" sz="1550" dirty="0"/>
          </a:p>
        </p:txBody>
      </p:sp>
      <p:sp>
        <p:nvSpPr>
          <p:cNvPr id="11" name="s17_10"/>
          <p:cNvSpPr txBox="1"/>
          <p:nvPr/>
        </p:nvSpPr>
        <p:spPr>
          <a:xfrm>
            <a:off x="4572000" y="285292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لماذا تحتاج الذبابة المائية إلى الأكسجين؟</a:t>
            </a:r>
            <a:endParaRPr lang="ar-SA" sz="1700" dirty="0"/>
          </a:p>
        </p:txBody>
      </p:sp>
      <p:sp>
        <p:nvSpPr>
          <p:cNvPr id="12" name="s17_11@c3"/>
          <p:cNvSpPr txBox="1"/>
          <p:nvPr/>
        </p:nvSpPr>
        <p:spPr>
          <a:xfrm>
            <a:off x="5349240" y="384048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ارجعي إلى الفقرة الثانية في كتابي ص١١٣.</a:t>
            </a:r>
            <a:endParaRPr lang="ar-SA" sz="1350" dirty="0"/>
          </a:p>
        </p:txBody>
      </p:sp>
      <p:sp>
        <p:nvSpPr>
          <p:cNvPr id="13" name="s17_12@c4"/>
          <p:cNvSpPr txBox="1"/>
          <p:nvPr/>
        </p:nvSpPr>
        <p:spPr>
          <a:xfrm>
            <a:off x="640080" y="283464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لإطلاق الطاقة المخزونة في الطحالب التي أكلتها؛ لتقوم بوظائف الحياة كالحركة.</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4" name="s17_13"/>
          <p:cNvSpPr txBox="1"/>
          <p:nvPr/>
        </p:nvSpPr>
        <p:spPr>
          <a:xfrm>
            <a:off x="502920" y="4389120"/>
            <a:ext cx="11201400" cy="1691640"/>
          </a:xfrm>
          <a:prstGeom prst="roundRect">
            <a:avLst>
              <a:gd name="adj" fmla="val 7568"/>
            </a:avLst>
          </a:prstGeom>
          <a:solidFill>
            <a:srgbClr val="FDE8F0"/>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5" name="s17_14"/>
          <p:cNvSpPr txBox="1"/>
          <p:nvPr/>
        </p:nvSpPr>
        <p:spPr>
          <a:xfrm>
            <a:off x="9784080" y="4498848"/>
            <a:ext cx="1828800" cy="457200"/>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أتحدّى نفسي</a:t>
            </a:r>
            <a:endParaRPr lang="ar-SA" sz="1550" dirty="0"/>
          </a:p>
        </p:txBody>
      </p:sp>
      <p:sp>
        <p:nvSpPr>
          <p:cNvPr id="16" name="s17_15"/>
          <p:cNvSpPr txBox="1"/>
          <p:nvPr/>
        </p:nvSpPr>
        <p:spPr>
          <a:xfrm>
            <a:off x="4572000" y="4498848"/>
            <a:ext cx="5120640" cy="147218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تلوّثت البركة فماتت الطحالب؛ ماذا يحدث لمالك الحزين؟</a:t>
            </a:r>
            <a:endParaRPr lang="ar-SA" sz="1700" dirty="0"/>
          </a:p>
        </p:txBody>
      </p:sp>
      <p:sp>
        <p:nvSpPr>
          <p:cNvPr id="17" name="s17_16@c5"/>
          <p:cNvSpPr txBox="1"/>
          <p:nvPr/>
        </p:nvSpPr>
        <p:spPr>
          <a:xfrm>
            <a:off x="5349240" y="5623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تتبّعي الأسهم من الطحالب حتى مالك الحزين.</a:t>
            </a:r>
            <a:endParaRPr lang="ar-SA" sz="1350" dirty="0"/>
          </a:p>
        </p:txBody>
      </p:sp>
      <p:sp>
        <p:nvSpPr>
          <p:cNvPr id="18" name="s17_17@c6"/>
          <p:cNvSpPr txBox="1"/>
          <p:nvPr/>
        </p:nvSpPr>
        <p:spPr>
          <a:xfrm>
            <a:off x="640080" y="4480560"/>
            <a:ext cx="3886200" cy="1508760"/>
          </a:xfrm>
          <a:prstGeom prst="roundRect">
            <a:avLst>
              <a:gd name="adj" fmla="val 848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يقلّ الذباب المائي ثم سمك الشمس، فلا يجد مالك الحزين غذاءً كافيًا؛ لأن كل حلقة تعتمد على ما قبلها.</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9" name="s17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17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8" fill="hold">
                      <p:stCondLst>
                        <p:cond delay="indefinite"/>
                      </p:stCondLst>
                      <p:childTnLst>
                        <p:par>
                          <p:cTn id="22"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childTnLst>
                          </p:cTn>
                        </p:par>
                      </p:childTnLst>
                    </p:cTn>
                  </p:par>
                  <p:par>
                    <p:cTn id="23" fill="hold">
                      <p:stCondLst>
                        <p:cond delay="indefinite"/>
                      </p:stCondLst>
                      <p:childTnLst>
                        <p:par>
                          <p:cTn id="27"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childTnLst>
                                </p:cTn>
                              </p:par>
                            </p:childTnLst>
                          </p:cTn>
                        </p:par>
                      </p:childTnLst>
                    </p:cTn>
                  </p:par>
                  <p:par>
                    <p:cTn id="28" fill="hold">
                      <p:stCondLst>
                        <p:cond delay="indefinite"/>
                      </p:stCondLst>
                      <p:childTnLst>
                        <p:par>
                          <p:cTn id="32"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1" descr="/tmp/claude-0/-home-user/4092b4c5-df81-5a0c-b1b2-79950f0cf3f7/scratchpad/build/img/t_selftest.png">    </p:cNvPr>
          <p:cNvPicPr>
            <a:picLocks noChangeAspect="1"/>
          </p:cNvPicPr>
          <p:nvPr/>
        </p:nvPicPr>
        <p:blipFill>
          <a:blip r:embed="rId2"/>
          <a:stretch>
            <a:fillRect/>
          </a:stretch>
        </p:blipFill>
        <p:spPr>
          <a:xfrm>
            <a:off x="8947824" y="182880"/>
            <a:ext cx="2878111" cy="731520"/>
          </a:xfrm>
          <a:prstGeom prst="rect">
            <a:avLst/>
          </a:prstGeom>
        </p:spPr>
      </p:pic>
      <p:sp>
        <p:nvSpPr>
          <p:cNvPr id="3" name="s18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الاستنتاج – التفكير الناقد</a:t>
            </a:r>
            <a:endParaRPr lang="en-US" sz="1600" dirty="0"/>
          </a:p>
        </p:txBody>
      </p:sp>
      <p:sp>
        <p:nvSpPr>
          <p:cNvPr id="4" name="s18_3"/>
          <p:cNvSpPr txBox="1"/>
          <p:nvPr/>
        </p:nvSpPr>
        <p:spPr>
          <a:xfrm>
            <a:off x="6309360" y="1143000"/>
            <a:ext cx="5440680" cy="1463040"/>
          </a:xfrm>
          <a:prstGeom prst="roundRect">
            <a:avLst>
              <a:gd name="adj" fmla="val 875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أستنتج. </a:t>
            </a:r>
            <a:r>
              <a:rPr lang="ar-SA" altLang="en-US" sz="1800" b="1" dirty="0">
                <a:solidFill>
                  <a:srgbClr val="34405E"/>
                </a:solidFill>
                <a:latin typeface="Tahoma" pitchFamily="34" charset="0"/>
                <a:ea typeface="Tahoma" pitchFamily="34" charset="-122"/>
                <a:cs typeface="Tahoma" pitchFamily="34" charset="-120"/>
              </a:rPr>
              <a:t>لماذا يُعدّ مصطلحُ السلسلة الغذائية وصفًا جيدًا لتوضيح العلاقات بين المخلوقات الحية؟</a:t>
            </a:r>
            <a:endParaRPr lang="ar-SA" sz="1800" dirty="0"/>
          </a:p>
        </p:txBody>
      </p:sp>
      <p:sp>
        <p:nvSpPr>
          <p:cNvPr id="5" name="s18_4@c1"/>
          <p:cNvSpPr txBox="1"/>
          <p:nvPr/>
        </p:nvSpPr>
        <p:spPr>
          <a:xfrm>
            <a:off x="548640" y="1143000"/>
            <a:ext cx="5623560" cy="1463040"/>
          </a:xfrm>
          <a:prstGeom prst="roundRect">
            <a:avLst>
              <a:gd name="adj" fmla="val 8750"/>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2F8A3A"/>
                </a:solidFill>
                <a:latin typeface="Tahoma" pitchFamily="34" charset="0"/>
                <a:ea typeface="Tahoma" pitchFamily="34" charset="-122"/>
                <a:cs typeface="Tahoma" pitchFamily="34" charset="-120"/>
              </a:rPr>
              <a:t>✔ </a:t>
            </a:r>
            <a:r>
              <a:rPr lang="ar-SA" altLang="en-US" sz="1550" dirty="0">
                <a:solidFill>
                  <a:srgbClr val="34405E"/>
                </a:solidFill>
                <a:latin typeface="Tahoma" pitchFamily="34" charset="0"/>
                <a:ea typeface="Tahoma" pitchFamily="34" charset="-122"/>
                <a:cs typeface="Tahoma" pitchFamily="34" charset="-120"/>
              </a:rPr>
              <a:t>لأن المخلوقات الحية ترتبط بعضها ببعض كحلقات السلسلة؛ فكل حلقة تحصل على الطاقة من الحلقة التي قبلها، وإذا انقطعت حلقة تأثرت الحلقات التي بعدها.</a:t>
            </a:r>
            <a:endParaRPr lang="ar-SA" sz="1550" dirty="0"/>
          </a:p>
        </p:txBody>
      </p:sp>
      <p:sp>
        <p:nvSpPr>
          <p:cNvPr id="6" name="s18_5"/>
          <p:cNvSpPr txBox="1"/>
          <p:nvPr/>
        </p:nvSpPr>
        <p:spPr>
          <a:xfrm>
            <a:off x="6309360" y="2788920"/>
            <a:ext cx="5440680" cy="1371600"/>
          </a:xfrm>
          <a:prstGeom prst="roundRect">
            <a:avLst>
              <a:gd name="adj" fmla="val 9333"/>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التفكير الناقد. </a:t>
            </a:r>
            <a:r>
              <a:rPr lang="ar-SA" altLang="en-US" sz="1800" b="1" dirty="0">
                <a:solidFill>
                  <a:srgbClr val="34405E"/>
                </a:solidFill>
                <a:latin typeface="Tahoma" pitchFamily="34" charset="0"/>
                <a:ea typeface="Tahoma" pitchFamily="34" charset="-122"/>
                <a:cs typeface="Tahoma" pitchFamily="34" charset="-120"/>
              </a:rPr>
              <a:t>ما أكبر سلسلة غذائية يمكن أن تضعها؟ ارسم مخططًا توضّح فيه سلسلتك الغذائية.</a:t>
            </a:r>
            <a:endParaRPr lang="ar-SA" sz="1800" dirty="0"/>
          </a:p>
        </p:txBody>
      </p:sp>
      <p:sp>
        <p:nvSpPr>
          <p:cNvPr id="7" name="s18_6"/>
          <p:cNvSpPr txBox="1"/>
          <p:nvPr/>
        </p:nvSpPr>
        <p:spPr>
          <a:xfrm>
            <a:off x="548640" y="2788920"/>
            <a:ext cx="562356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ارسمي سلسلتك في دفترك… ثم شاركي بها!</a:t>
            </a:r>
            <a:endParaRPr lang="ar-SA" sz="1600" dirty="0"/>
          </a:p>
        </p:txBody>
      </p:sp>
      <p:sp>
        <p:nvSpPr>
          <p:cNvPr id="8" name="s18_7@c2"/>
          <p:cNvSpPr txBox="1"/>
          <p:nvPr/>
        </p:nvSpPr>
        <p:spPr>
          <a:xfrm>
            <a:off x="548640" y="3520440"/>
            <a:ext cx="5623560" cy="640080"/>
          </a:xfrm>
          <a:prstGeom prst="roundRect">
            <a:avLst>
              <a:gd name="adj" fmla="val 2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مثال مقترح: </a:t>
            </a:r>
            <a:r>
              <a:rPr lang="ar-SA" altLang="en-US" sz="1500" b="1" dirty="0">
                <a:solidFill>
                  <a:srgbClr val="34405E"/>
                </a:solidFill>
                <a:latin typeface="Tahoma" pitchFamily="34" charset="0"/>
                <a:ea typeface="Tahoma" pitchFamily="34" charset="-122"/>
                <a:cs typeface="Tahoma" pitchFamily="34" charset="-120"/>
              </a:rPr>
              <a:t>الشمس ← العشب ← الجرادة ← الضفدع ← الثعبان ← الصقر</a:t>
            </a:r>
            <a:endParaRPr lang="ar-SA" sz="1500" dirty="0"/>
          </a:p>
        </p:txBody>
      </p:sp>
      <p:sp>
        <p:nvSpPr>
          <p:cNvPr id="9" name="s18_8@c3"/>
          <p:cNvSpPr txBox="1"/>
          <p:nvPr/>
        </p:nvSpPr>
        <p:spPr>
          <a:xfrm>
            <a:off x="3566160" y="4434840"/>
            <a:ext cx="5029200" cy="594360"/>
          </a:xfrm>
          <a:prstGeom prst="roundRect">
            <a:avLst>
              <a:gd name="adj" fmla="val 49231"/>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رائع! أنتِ عالمة تفكّر بعمق 🌟</a:t>
            </a:r>
            <a:endParaRPr lang="ar-SA" sz="1800" dirty="0"/>
          </a:p>
        </p:txBody>
      </p:sp>
      <p:pic>
        <p:nvPicPr>
          <p:cNvPr id="10" name="s18_9" descr="/tmp/claude-0/-home-user/4092b4c5-df81-5a0c-b1b2-79950f0cf3f7/scratchpad/build/img/diver.png">    </p:cNvPr>
          <p:cNvPicPr>
            <a:picLocks noChangeAspect="1"/>
          </p:cNvPicPr>
          <p:nvPr/>
        </p:nvPicPr>
        <p:blipFill>
          <a:blip r:embed="rId3"/>
          <a:stretch>
            <a:fillRect/>
          </a:stretch>
        </p:blipFill>
        <p:spPr>
          <a:xfrm>
            <a:off x="9966960" y="4251960"/>
            <a:ext cx="1270747" cy="2057400"/>
          </a:xfrm>
          <a:prstGeom prst="rect">
            <a:avLst/>
          </a:prstGeom>
        </p:spPr>
      </p:pic>
      <p:sp>
        <p:nvSpPr>
          <p:cNvPr id="11" name="s18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2" name="s18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1" descr="/tmp/claude-0/-home-user/4092b4c5-df81-5a0c-b1b2-79950f0cf3f7/scratchpad/build/img/t_ocean.png">    </p:cNvPr>
          <p:cNvPicPr>
            <a:picLocks noChangeAspect="1"/>
          </p:cNvPicPr>
          <p:nvPr/>
        </p:nvPicPr>
        <p:blipFill>
          <a:blip r:embed="rId2"/>
          <a:stretch>
            <a:fillRect/>
          </a:stretch>
        </p:blipFill>
        <p:spPr>
          <a:xfrm>
            <a:off x="8300249" y="182880"/>
            <a:ext cx="3525687" cy="731520"/>
          </a:xfrm>
          <a:prstGeom prst="rect">
            <a:avLst/>
          </a:prstGeom>
        </p:spPr>
      </p:pic>
      <p:sp>
        <p:nvSpPr>
          <p:cNvPr id="3" name="s19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العصف الذهني – التوقّع</a:t>
            </a:r>
            <a:endParaRPr lang="en-US" sz="1600" dirty="0"/>
          </a:p>
        </p:txBody>
      </p:sp>
      <p:pic>
        <p:nvPicPr>
          <p:cNvPr id="4" name="s19_3@a1" descr="/tmp/claude-0/-home-user/4092b4c5-df81-5a0c-b1b2-79950f0cf3f7/scratchpad/build/img/diver.png">    </p:cNvPr>
          <p:cNvPicPr>
            <a:picLocks noChangeAspect="1"/>
          </p:cNvPicPr>
          <p:nvPr/>
        </p:nvPicPr>
        <p:blipFill>
          <a:blip r:embed="rId3"/>
          <a:stretch>
            <a:fillRect/>
          </a:stretch>
        </p:blipFill>
        <p:spPr>
          <a:xfrm>
            <a:off x="502920" y="1051560"/>
            <a:ext cx="3162748" cy="5120640"/>
          </a:xfrm>
          <a:prstGeom prst="rect">
            <a:avLst/>
          </a:prstGeom>
        </p:spPr>
      </p:pic>
      <p:sp>
        <p:nvSpPr>
          <p:cNvPr id="5" name="s19_4@a2"/>
          <p:cNvSpPr txBox="1"/>
          <p:nvPr/>
        </p:nvSpPr>
        <p:spPr>
          <a:xfrm>
            <a:off x="3657600" y="1188720"/>
            <a:ext cx="8092440" cy="731520"/>
          </a:xfrm>
          <a:prstGeom prst="roundRect">
            <a:avLst>
              <a:gd name="adj" fmla="val 17500"/>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2000" b="1" dirty="0">
                <a:solidFill>
                  <a:srgbClr val="34405E"/>
                </a:solidFill>
                <a:latin typeface="Tahoma" pitchFamily="34" charset="0"/>
                <a:ea typeface="Tahoma" pitchFamily="34" charset="-122"/>
                <a:cs typeface="Tahoma" pitchFamily="34" charset="-120"/>
              </a:rPr>
              <a:t>نغوص أعمق… إلى المحيط! 🌊🐟</a:t>
            </a:r>
            <a:endParaRPr lang="ar-SA" sz="2000" dirty="0"/>
          </a:p>
        </p:txBody>
      </p:sp>
      <p:sp>
        <p:nvSpPr>
          <p:cNvPr id="6" name="s19_5"/>
          <p:cNvSpPr txBox="1"/>
          <p:nvPr/>
        </p:nvSpPr>
        <p:spPr>
          <a:xfrm>
            <a:off x="3657600" y="2148840"/>
            <a:ext cx="809244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فكّري: </a:t>
            </a:r>
            <a:r>
              <a:rPr lang="ar-SA" altLang="en-US" sz="1800" b="1" dirty="0">
                <a:solidFill>
                  <a:srgbClr val="34405E"/>
                </a:solidFill>
                <a:latin typeface="Tahoma" pitchFamily="34" charset="0"/>
                <a:ea typeface="Tahoma" pitchFamily="34" charset="-122"/>
                <a:cs typeface="Tahoma" pitchFamily="34" charset="-120"/>
              </a:rPr>
              <a:t>في المحيط تأكل سمكةُ السردين العوالقَ، ثم يأكلها أكثرُ من حيوان: التونة، والدلفين، وطائر النورس… هل تكفي سلسلة غذائية واحدة لتوضيح ذلك؟</a:t>
            </a:r>
            <a:endParaRPr lang="ar-SA" sz="1800" dirty="0"/>
          </a:p>
        </p:txBody>
      </p:sp>
      <p:sp>
        <p:nvSpPr>
          <p:cNvPr id="7" name="s19_6"/>
          <p:cNvSpPr txBox="1"/>
          <p:nvPr/>
        </p:nvSpPr>
        <p:spPr>
          <a:xfrm>
            <a:off x="3657600" y="3840480"/>
            <a:ext cx="809244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 عصف ذهني: اقترحي طريقة لرسم كل هذه العلاقات معًا!</a:t>
            </a:r>
            <a:endParaRPr lang="ar-SA" sz="1650" dirty="0"/>
          </a:p>
        </p:txBody>
      </p:sp>
      <p:sp>
        <p:nvSpPr>
          <p:cNvPr id="8" name="s19_7@c1"/>
          <p:cNvSpPr txBox="1"/>
          <p:nvPr/>
        </p:nvSpPr>
        <p:spPr>
          <a:xfrm>
            <a:off x="3657600" y="46634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2F8A3A"/>
                </a:solidFill>
                <a:latin typeface="Tahoma" pitchFamily="34" charset="0"/>
                <a:ea typeface="Tahoma" pitchFamily="34" charset="-122"/>
                <a:cs typeface="Tahoma" pitchFamily="34" charset="-120"/>
              </a:rPr>
              <a:t>لنكتشف: </a:t>
            </a:r>
            <a:r>
              <a:rPr lang="ar-SA" altLang="en-US" sz="1700" dirty="0">
                <a:solidFill>
                  <a:srgbClr val="34405E"/>
                </a:solidFill>
                <a:latin typeface="Tahoma" pitchFamily="34" charset="0"/>
                <a:ea typeface="Tahoma" pitchFamily="34" charset="-122"/>
                <a:cs typeface="Tahoma" pitchFamily="34" charset="-120"/>
              </a:rPr>
              <a:t>لا تكفي سلسلة واحدة؛ نحتاج إلى نموذج يجمع عدة سلاسل متداخلة… إنها </a:t>
            </a:r>
            <a:r>
              <a:rPr lang="ar-SA" altLang="en-US" sz="1700" b="1" dirty="0">
                <a:solidFill>
                  <a:srgbClr val="C2366F"/>
                </a:solidFill>
                <a:latin typeface="Tahoma" pitchFamily="34" charset="0"/>
                <a:ea typeface="Tahoma" pitchFamily="34" charset="-122"/>
                <a:cs typeface="Tahoma" pitchFamily="34" charset="-120"/>
              </a:rPr>
              <a:t>الشبكة الغذائية! 🕸️</a:t>
            </a:r>
            <a:endParaRPr lang="ar-SA" sz="1700" dirty="0"/>
          </a:p>
        </p:txBody>
      </p:sp>
      <p:sp>
        <p:nvSpPr>
          <p:cNvPr id="9" name="s19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19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 fill="hold">
                      <p:stCondLst>
                        <p:cond delay="indefinite"/>
                        <p:cond evt="onBegin" delay="0">
                          <p:tgtEl>
                            <p:sldTgt/>
                          </p:tgtEl>
                        </p:cond>
                      </p:stCondLst>
                      <p:childTnLst>
                        <p:par>
                          <p:cTn id="6" fill="hold">
                            <p:stCondLst>
                              <p:cond delay="0"/>
                            </p:stCondLst>
                            <p:childTnLst>
                              <p:par>
                                <p:cTn id="3" presetID="10" presetClass="entr" presetSubtype="0" fill="hold"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childTnLst>
                          </p:cTn>
                        </p:par>
                        <p:par>
                          <p:cTn id="10" fill="hold">
                            <p:stCondLst>
                              <p:cond delay="45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childTnLst>
                    </p:cTn>
                  </p:par>
                  <p:par>
                    <p:cTn id="12" fill="hold">
                      <p:stCondLst>
                        <p:cond delay="indefinite"/>
                      </p:stCondLst>
                      <p:childTnLst>
                        <p:par>
                          <p:cTn id="16"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0_1" descr="/tmp/claude-0/-home-user/4092b4c5-df81-5a0c-b1b2-79950f0cf3f7/scratchpad/build/img/t_web.png">    </p:cNvPr>
          <p:cNvPicPr>
            <a:picLocks noChangeAspect="1"/>
          </p:cNvPicPr>
          <p:nvPr/>
        </p:nvPicPr>
        <p:blipFill>
          <a:blip r:embed="rId2"/>
          <a:stretch>
            <a:fillRect/>
          </a:stretch>
        </p:blipFill>
        <p:spPr>
          <a:xfrm>
            <a:off x="7184980" y="182880"/>
            <a:ext cx="4640955" cy="731520"/>
          </a:xfrm>
          <a:prstGeom prst="rect">
            <a:avLst/>
          </a:prstGeom>
        </p:spPr>
      </p:pic>
      <p:sp>
        <p:nvSpPr>
          <p:cNvPr id="3" name="s20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التشبيه</a:t>
            </a:r>
            <a:endParaRPr lang="en-US" sz="1600" dirty="0"/>
          </a:p>
        </p:txBody>
      </p:sp>
      <p:sp>
        <p:nvSpPr>
          <p:cNvPr id="4" name="s20_3"/>
          <p:cNvSpPr txBox="1"/>
          <p:nvPr/>
        </p:nvSpPr>
        <p:spPr>
          <a:xfrm>
            <a:off x="8686800" y="1024128"/>
            <a:ext cx="3063240" cy="365760"/>
          </a:xfrm>
          <a:prstGeom prst="rect">
            <a:avLst/>
          </a:prstGeom>
          <a:noFill/>
          <a:ln/>
        </p:spPr>
        <p:txBody>
          <a:bodyPr wrap="square" lIns="63500" tIns="63500" rIns="63500" bIns="63500" rtlCol="0" anchor="ctr"/>
          <a:lstStyle/>
          <a:p>
            <a:pPr rtl="1" algn="r" indent="0" marL="0">
              <a:buNone/>
            </a:pPr>
            <a:r>
              <a:rPr lang="ar-SA" altLang="en-US" sz="1300" dirty="0">
                <a:solidFill>
                  <a:srgbClr val="0E5E8A"/>
                </a:solidFill>
                <a:latin typeface="Tahoma" pitchFamily="34" charset="0"/>
                <a:ea typeface="Tahoma" pitchFamily="34" charset="-122"/>
                <a:cs typeface="Tahoma" pitchFamily="34" charset="-120"/>
              </a:rPr>
              <a:t>📖 من نص كتابي ص١١٤</a:t>
            </a:r>
            <a:endParaRPr lang="ar-SA" sz="1300" dirty="0"/>
          </a:p>
        </p:txBody>
      </p:sp>
      <p:sp>
        <p:nvSpPr>
          <p:cNvPr id="5" name="s20_4"/>
          <p:cNvSpPr txBox="1"/>
          <p:nvPr/>
        </p:nvSpPr>
        <p:spPr>
          <a:xfrm>
            <a:off x="548640" y="1417320"/>
            <a:ext cx="1120140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dirty="0">
                <a:solidFill>
                  <a:srgbClr val="34405E"/>
                </a:solidFill>
                <a:latin typeface="Tahoma" pitchFamily="34" charset="0"/>
                <a:ea typeface="Tahoma" pitchFamily="34" charset="-122"/>
                <a:cs typeface="Tahoma" pitchFamily="34" charset="-120"/>
              </a:rPr>
              <a:t>تُعدّ سلاسلُ الغذاءِ نموذجًا جيدًا لتمثيلِ كيفيةِ انتقالِ الطاقةِ على شكلِ غذاءٍ، ولكنّ هذا النموذجَ يبيّنُ مسارًا واحدًا لنقلِ الطاقةِ. ومعظمُ الأنظمةِ البيئيةِ لها سلاسلُ غذاءٍ متداخلةٌ.</a:t>
            </a:r>
            <a:endParaRPr lang="ar-SA" sz="1650" dirty="0"/>
          </a:p>
        </p:txBody>
      </p:sp>
      <p:sp>
        <p:nvSpPr>
          <p:cNvPr id="6" name="s20_5@c1"/>
          <p:cNvSpPr txBox="1"/>
          <p:nvPr/>
        </p:nvSpPr>
        <p:spPr>
          <a:xfrm>
            <a:off x="548640" y="2651760"/>
            <a:ext cx="1120140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dirty="0">
                <a:solidFill>
                  <a:srgbClr val="34405E"/>
                </a:solidFill>
                <a:latin typeface="Tahoma" pitchFamily="34" charset="0"/>
                <a:ea typeface="Tahoma" pitchFamily="34" charset="-122"/>
                <a:cs typeface="Tahoma" pitchFamily="34" charset="-120"/>
              </a:rPr>
              <a:t>وينتجُ عن تداخلِ السلاسلِ الغذائيةِ معًا </a:t>
            </a:r>
            <a:r>
              <a:rPr lang="ar-SA" altLang="en-US" sz="1650" b="1" dirty="0">
                <a:solidFill>
                  <a:srgbClr val="C2366F"/>
                </a:solidFill>
                <a:highlight>
                  <a:srgbClr val="FFF176"/>
                </a:highlight>
                <a:latin typeface="Tahoma" pitchFamily="34" charset="0"/>
                <a:ea typeface="Tahoma" pitchFamily="34" charset="-122"/>
                <a:cs typeface="Tahoma" pitchFamily="34" charset="-120"/>
              </a:rPr>
              <a:t>الشبكةُ الغذائيةُ</a:t>
            </a:r>
            <a:r>
              <a:rPr lang="ar-SA" altLang="en-US" sz="1650" dirty="0">
                <a:solidFill>
                  <a:srgbClr val="34405E"/>
                </a:solidFill>
                <a:latin typeface="Tahoma" pitchFamily="34" charset="0"/>
                <a:ea typeface="Tahoma" pitchFamily="34" charset="-122"/>
                <a:cs typeface="Tahoma" pitchFamily="34" charset="-120"/>
              </a:rPr>
              <a:t>، وهي توضّحُ ترابطَ سلاسلِ الغذاءِ في النظامِ البيئيِّ، وتوضّحُ أيضًا تصنيفَ المخلوقاتِ الحيةِ بحسبِ العلاقاتِ الغذائيةِ بينها.</a:t>
            </a:r>
            <a:endParaRPr lang="ar-SA" sz="1650" dirty="0"/>
          </a:p>
        </p:txBody>
      </p:sp>
      <p:sp>
        <p:nvSpPr>
          <p:cNvPr id="7" name="s20_6@c2"/>
          <p:cNvSpPr txBox="1"/>
          <p:nvPr/>
        </p:nvSpPr>
        <p:spPr>
          <a:xfrm>
            <a:off x="3749040" y="3931920"/>
            <a:ext cx="8001000" cy="1234440"/>
          </a:xfrm>
          <a:prstGeom prst="roundRect">
            <a:avLst>
              <a:gd name="adj" fmla="val 10370"/>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1E7FB8"/>
                </a:solidFill>
                <a:latin typeface="Tahoma" pitchFamily="34" charset="0"/>
                <a:ea typeface="Tahoma" pitchFamily="34" charset="-122"/>
                <a:cs typeface="Tahoma" pitchFamily="34" charset="-120"/>
              </a:rPr>
              <a:t>🚆 تشبيه من رحلتنا: </a:t>
            </a:r>
            <a:r>
              <a:rPr lang="ar-SA" altLang="en-US" sz="1600" dirty="0">
                <a:solidFill>
                  <a:srgbClr val="34405E"/>
                </a:solidFill>
                <a:latin typeface="Tahoma" pitchFamily="34" charset="0"/>
                <a:ea typeface="Tahoma" pitchFamily="34" charset="-122"/>
                <a:cs typeface="Tahoma" pitchFamily="34" charset="-120"/>
              </a:rPr>
              <a:t>السلسلة الغذائية مثل خطّ قطار واحد له طريق واحد، أما الشبكة الغذائية فمثل خريطة قطارات المدينة؛ تتقاطع فيها الخطوط، وتصل إلى المحطة الواحدة من أكثر من طريق.</a:t>
            </a:r>
            <a:endParaRPr lang="ar-SA" sz="1600" dirty="0"/>
          </a:p>
        </p:txBody>
      </p:sp>
      <p:sp>
        <p:nvSpPr>
          <p:cNvPr id="8" name="s20_7@c3"/>
          <p:cNvSpPr txBox="1"/>
          <p:nvPr/>
        </p:nvSpPr>
        <p:spPr>
          <a:xfrm>
            <a:off x="548640" y="5349240"/>
            <a:ext cx="11201400" cy="640080"/>
          </a:xfrm>
          <a:prstGeom prst="roundRect">
            <a:avLst>
              <a:gd name="adj" fmla="val 2000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dirty="0">
                <a:solidFill>
                  <a:srgbClr val="34405E"/>
                </a:solidFill>
                <a:latin typeface="Tahoma" pitchFamily="34" charset="0"/>
                <a:ea typeface="Tahoma" pitchFamily="34" charset="-122"/>
                <a:cs typeface="Tahoma" pitchFamily="34" charset="-120"/>
              </a:rPr>
              <a:t>ما الفرق بين السلسلة والشبكة؟  </a:t>
            </a:r>
            <a:r>
              <a:rPr lang="ar-SA" altLang="en-US" sz="1600" b="1" dirty="0">
                <a:solidFill>
                  <a:srgbClr val="2F8A3A"/>
                </a:solidFill>
                <a:latin typeface="Tahoma" pitchFamily="34" charset="0"/>
                <a:ea typeface="Tahoma" pitchFamily="34" charset="-122"/>
                <a:cs typeface="Tahoma" pitchFamily="34" charset="-120"/>
              </a:rPr>
              <a:t>✔ السلسلة مسار واحد لانتقال الطاقة، والشبكة سلاسل متداخلة.</a:t>
            </a:r>
            <a:endParaRPr lang="ar-SA" sz="1600" dirty="0"/>
          </a:p>
        </p:txBody>
      </p:sp>
      <p:pic>
        <p:nvPicPr>
          <p:cNvPr id="9" name="s20_8@c2" descr="/tmp/claude-0/-home-user/4092b4c5-df81-5a0c-b1b2-79950f0cf3f7/scratchpad/build/img/train.png">    </p:cNvPr>
          <p:cNvPicPr>
            <a:picLocks noChangeAspect="1"/>
          </p:cNvPicPr>
          <p:nvPr/>
        </p:nvPicPr>
        <p:blipFill>
          <a:blip r:embed="rId3"/>
          <a:stretch>
            <a:fillRect/>
          </a:stretch>
        </p:blipFill>
        <p:spPr>
          <a:xfrm>
            <a:off x="594360" y="4114800"/>
            <a:ext cx="2971800" cy="683514"/>
          </a:xfrm>
          <a:prstGeom prst="rect">
            <a:avLst/>
          </a:prstGeom>
        </p:spPr>
      </p:pic>
      <p:sp>
        <p:nvSpPr>
          <p:cNvPr id="10" name="s20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20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par>
                    <p:cTn id="8" fill="hold">
                      <p:stCondLst>
                        <p:cond delay="indefinite"/>
                      </p:stCondLst>
                      <p:childTnLst>
                        <p:par>
                          <p:cTn id="15"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par>
                    <p:cTn id="16" fill="hold">
                      <p:stCondLst>
                        <p:cond delay="indefinite"/>
                      </p:stCondLst>
                      <p:childTnLst>
                        <p:par>
                          <p:cTn id="20"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1_1" descr="/tmp/claude-0/-home-user/4092b4c5-df81-5a0c-b1b2-79950f0cf3f7/scratchpad/build/img/t_predator.png">    </p:cNvPr>
          <p:cNvPicPr>
            <a:picLocks noChangeAspect="1"/>
          </p:cNvPicPr>
          <p:nvPr/>
        </p:nvPicPr>
        <p:blipFill>
          <a:blip r:embed="rId2"/>
          <a:stretch>
            <a:fillRect/>
          </a:stretch>
        </p:blipFill>
        <p:spPr>
          <a:xfrm>
            <a:off x="7238945" y="182880"/>
            <a:ext cx="4586990" cy="731520"/>
          </a:xfrm>
          <a:prstGeom prst="rect">
            <a:avLst/>
          </a:prstGeom>
        </p:spPr>
      </p:pic>
      <p:sp>
        <p:nvSpPr>
          <p:cNvPr id="3" name="s21_2"/>
          <p:cNvSpPr txBox="1"/>
          <p:nvPr/>
        </p:nvSpPr>
        <p:spPr>
          <a:xfrm>
            <a:off x="365760" y="292608"/>
            <a:ext cx="5394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بطاقات المفردات – التعلّم باللعب</a:t>
            </a:r>
            <a:endParaRPr lang="en-US" sz="1600" dirty="0"/>
          </a:p>
        </p:txBody>
      </p:sp>
      <p:sp>
        <p:nvSpPr>
          <p:cNvPr id="4" name="s21_3"/>
          <p:cNvSpPr txBox="1"/>
          <p:nvPr/>
        </p:nvSpPr>
        <p:spPr>
          <a:xfrm>
            <a:off x="548640" y="1097280"/>
            <a:ext cx="11201400" cy="960120"/>
          </a:xfrm>
          <a:prstGeom prst="roundRect">
            <a:avLst>
              <a:gd name="adj" fmla="val 13333"/>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dirty="0">
                <a:solidFill>
                  <a:srgbClr val="34405E"/>
                </a:solidFill>
                <a:latin typeface="Tahoma" pitchFamily="34" charset="0"/>
                <a:ea typeface="Tahoma" pitchFamily="34" charset="-122"/>
                <a:cs typeface="Tahoma" pitchFamily="34" charset="-120"/>
              </a:rPr>
              <a:t>توضّحُ شبكاتُ الغذاءِ العلاقةَ بينَ المفترسِ والفريسةِ. وفي معظمِ الشبكاتِ الغذائيةِ تكونُ المخلوقاتُ الحيةُ مفترسةً لمخلوقاتٍ معيّنةٍ، وفريسةً لمخلوقاتٍ أخرى.</a:t>
            </a:r>
            <a:endParaRPr lang="ar-SA" sz="1650" dirty="0"/>
          </a:p>
        </p:txBody>
      </p:sp>
      <p:sp>
        <p:nvSpPr>
          <p:cNvPr id="5" name="s21_v0"/>
          <p:cNvSpPr txBox="1"/>
          <p:nvPr/>
        </p:nvSpPr>
        <p:spPr>
          <a:xfrm>
            <a:off x="6263640" y="2286000"/>
            <a:ext cx="5486400" cy="1188720"/>
          </a:xfrm>
          <a:prstGeom prst="roundRect">
            <a:avLst>
              <a:gd name="adj" fmla="val 10769"/>
            </a:avLst>
          </a:prstGeom>
          <a:solidFill>
            <a:srgbClr val="FFD9C2"/>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المفترس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6" name="s21_4@t=s21_v0"/>
          <p:cNvSpPr txBox="1"/>
          <p:nvPr/>
        </p:nvSpPr>
        <p:spPr>
          <a:xfrm>
            <a:off x="6263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آكلُ اللحومِ الذي يصطادُ ليحصلَ على طعامِه.</a:t>
            </a:r>
            <a:endParaRPr lang="ar-SA" sz="1700" dirty="0"/>
          </a:p>
        </p:txBody>
      </p:sp>
      <p:sp>
        <p:nvSpPr>
          <p:cNvPr id="7" name="s21_v1"/>
          <p:cNvSpPr txBox="1"/>
          <p:nvPr/>
        </p:nvSpPr>
        <p:spPr>
          <a:xfrm>
            <a:off x="548640" y="2286000"/>
            <a:ext cx="5486400" cy="1188720"/>
          </a:xfrm>
          <a:prstGeom prst="roundRect">
            <a:avLst>
              <a:gd name="adj" fmla="val 10769"/>
            </a:avLst>
          </a:prstGeom>
          <a:solidFill>
            <a:srgbClr val="CFE8FF"/>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الفريسة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8" name="s21_5@t=s21_v1"/>
          <p:cNvSpPr txBox="1"/>
          <p:nvPr/>
        </p:nvSpPr>
        <p:spPr>
          <a:xfrm>
            <a:off x="548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المخلوقُ الحيُّ الذي تمّ اصطيادُه.</a:t>
            </a:r>
            <a:endParaRPr lang="ar-SA" sz="1700" dirty="0"/>
          </a:p>
        </p:txBody>
      </p:sp>
      <p:sp>
        <p:nvSpPr>
          <p:cNvPr id="9" name="s21_6@c1"/>
          <p:cNvSpPr txBox="1"/>
          <p:nvPr/>
        </p:nvSpPr>
        <p:spPr>
          <a:xfrm>
            <a:off x="548640" y="4617720"/>
            <a:ext cx="112014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مثال من شبكة المحيط: </a:t>
            </a:r>
            <a:r>
              <a:rPr lang="ar-SA" altLang="en-US" sz="1650" b="1" dirty="0">
                <a:solidFill>
                  <a:srgbClr val="34405E"/>
                </a:solidFill>
                <a:latin typeface="Tahoma" pitchFamily="34" charset="0"/>
                <a:ea typeface="Tahoma" pitchFamily="34" charset="-122"/>
                <a:cs typeface="Tahoma" pitchFamily="34" charset="-120"/>
              </a:rPr>
              <a:t>سمكة السردين </a:t>
            </a:r>
            <a:r>
              <a:rPr lang="ar-SA" altLang="en-US" sz="1650" b="1" dirty="0">
                <a:solidFill>
                  <a:srgbClr val="C0392B"/>
                </a:solidFill>
                <a:latin typeface="Tahoma" pitchFamily="34" charset="0"/>
                <a:ea typeface="Tahoma" pitchFamily="34" charset="-122"/>
                <a:cs typeface="Tahoma" pitchFamily="34" charset="-120"/>
              </a:rPr>
              <a:t>مفترسة</a:t>
            </a:r>
            <a:r>
              <a:rPr lang="ar-SA" altLang="en-US" sz="1650" dirty="0">
                <a:solidFill>
                  <a:srgbClr val="34405E"/>
                </a:solidFill>
                <a:latin typeface="Tahoma" pitchFamily="34" charset="0"/>
                <a:ea typeface="Tahoma" pitchFamily="34" charset="-122"/>
                <a:cs typeface="Tahoma" pitchFamily="34" charset="-120"/>
              </a:rPr>
              <a:t> للعوالق، و</a:t>
            </a:r>
            <a:r>
              <a:rPr lang="ar-SA" altLang="en-US" sz="1650" b="1" dirty="0">
                <a:solidFill>
                  <a:srgbClr val="1E7FB8"/>
                </a:solidFill>
                <a:latin typeface="Tahoma" pitchFamily="34" charset="0"/>
                <a:ea typeface="Tahoma" pitchFamily="34" charset="-122"/>
                <a:cs typeface="Tahoma" pitchFamily="34" charset="-120"/>
              </a:rPr>
              <a:t>فريسة</a:t>
            </a:r>
            <a:r>
              <a:rPr lang="ar-SA" altLang="en-US" sz="1650" dirty="0">
                <a:solidFill>
                  <a:srgbClr val="34405E"/>
                </a:solidFill>
                <a:latin typeface="Tahoma" pitchFamily="34" charset="0"/>
                <a:ea typeface="Tahoma" pitchFamily="34" charset="-122"/>
                <a:cs typeface="Tahoma" pitchFamily="34" charset="-120"/>
              </a:rPr>
              <a:t> للتونة والدلفين وطائر النورس… فهي مفترسة وفريسة في الوقت نفسه!</a:t>
            </a:r>
            <a:endParaRPr lang="ar-SA" sz="1650" dirty="0"/>
          </a:p>
        </p:txBody>
      </p:sp>
      <p:sp>
        <p:nvSpPr>
          <p:cNvPr id="10" name="s21_7"/>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21_8"/>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5"/>
                    </p:tgtEl>
                  </p:cond>
                </p:stCondLst>
                <p:endSync evt="end" delay="0">
                  <p:rtn val="all"/>
                </p:endSync>
                <p:childTnLst>
                  <p:par>
                    <p:cTn id="8" fill="hold">
                      <p:stCondLst>
                        <p:cond delay="0"/>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childTnLst>
              </p:cTn>
              <p:nextCondLst>
                <p:cond evt="onNext" delay="0">
                  <p:tgtEl>
                    <p:spTgt spid="5"/>
                  </p:tgtEl>
                </p:cond>
              </p:nextCondLst>
            </p:seq>
            <p:seq concurrent="1" nextAc="seek">
              <p:cTn id="19" restart="whenNotActive" fill="hold" evtFilter="cancelBubble" nodeType="interactiveSeq">
                <p:stCondLst>
                  <p:cond evt="onClick" delay="0">
                    <p:tgtEl>
                      <p:spTgt spid="7"/>
                    </p:tgtEl>
                  </p:cond>
                </p:stCondLst>
                <p:endSync evt="end" delay="0">
                  <p:rtn val="all"/>
                </p:endSync>
                <p:childTnLst>
                  <p:par>
                    <p:cTn id="14" fill="hold">
                      <p:stCondLst>
                        <p:cond delay="0"/>
                      </p:stCondLst>
                      <p:childTnLst>
                        <p:par>
                          <p:cTn id="18"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nextCondLst>
                <p:cond evt="onNext" delay="0">
                  <p:tgtEl>
                    <p:spTgt spid="7"/>
                  </p:tgtEl>
                </p:cond>
              </p:nextCondLst>
            </p:seq>
          </p:childTnLst>
        </p:cTn>
      </p:par>
    </p:tnLst>
    <p:bldLst>
      <p:bldP spid="9" grpId="0" animBg="1"/>
      <p:bldP spid="6" grpId="0" animBg="1"/>
      <p:bldP spid="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2_1" descr="/tmp/claude-0/-home-user/4092b4c5-df81-5a0c-b1b2-79950f0cf3f7/scratchpad/build/img/t_webfig.png">    </p:cNvPr>
          <p:cNvPicPr>
            <a:picLocks noChangeAspect="1"/>
          </p:cNvPicPr>
          <p:nvPr/>
        </p:nvPicPr>
        <p:blipFill>
          <a:blip r:embed="rId2"/>
          <a:stretch>
            <a:fillRect/>
          </a:stretch>
        </p:blipFill>
        <p:spPr>
          <a:xfrm>
            <a:off x="5871842" y="182880"/>
            <a:ext cx="5954093" cy="731520"/>
          </a:xfrm>
          <a:prstGeom prst="rect">
            <a:avLst/>
          </a:prstGeom>
        </p:spPr>
      </p:pic>
      <p:sp>
        <p:nvSpPr>
          <p:cNvPr id="3" name="s22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أقرئي الصور – تتبّع الأسهم</a:t>
            </a:r>
            <a:endParaRPr lang="en-US" sz="1600" dirty="0"/>
          </a:p>
        </p:txBody>
      </p:sp>
      <p:pic>
        <p:nvPicPr>
          <p:cNvPr id="4" name="s22_3" descr="/tmp/claude-0/-home-user/4092b4c5-df81-5a0c-b1b2-79950f0cf3f7/scratchpad/build/img/p114_ocean_web.png">    </p:cNvPr>
          <p:cNvPicPr>
            <a:picLocks noChangeAspect="1"/>
          </p:cNvPicPr>
          <p:nvPr/>
        </p:nvPicPr>
        <p:blipFill>
          <a:blip r:embed="rId3"/>
          <a:stretch>
            <a:fillRect/>
          </a:stretch>
        </p:blipFill>
        <p:spPr>
          <a:xfrm>
            <a:off x="457200" y="1005840"/>
            <a:ext cx="6492240" cy="5197967"/>
          </a:xfrm>
          <a:prstGeom prst="rect">
            <a:avLst/>
          </a:prstGeom>
        </p:spPr>
      </p:pic>
      <p:sp>
        <p:nvSpPr>
          <p:cNvPr id="5" name="s22_4"/>
          <p:cNvSpPr txBox="1"/>
          <p:nvPr/>
        </p:nvSpPr>
        <p:spPr>
          <a:xfrm>
            <a:off x="457200" y="6236208"/>
            <a:ext cx="2743200" cy="274320"/>
          </a:xfrm>
          <a:prstGeom prst="rect">
            <a:avLst/>
          </a:prstGeom>
          <a:noFill/>
          <a:ln/>
        </p:spPr>
        <p:txBody>
          <a:bodyPr wrap="square" lIns="63500" tIns="63500" rIns="63500" bIns="63500" rtlCol="0" anchor="ctr"/>
          <a:lstStyle/>
          <a:p>
            <a:pPr rtl="1" algn="l" indent="0" marL="0">
              <a:buNone/>
            </a:pPr>
            <a:r>
              <a:rPr lang="ar-SA" altLang="en-US" sz="1100" dirty="0">
                <a:solidFill>
                  <a:srgbClr val="0E5E8A"/>
                </a:solidFill>
                <a:latin typeface="Tahoma" pitchFamily="34" charset="0"/>
                <a:ea typeface="Tahoma" pitchFamily="34" charset="-122"/>
                <a:cs typeface="Tahoma" pitchFamily="34" charset="-120"/>
              </a:rPr>
              <a:t>شكل من كتابي – صفحة ١١٤</a:t>
            </a:r>
            <a:endParaRPr lang="ar-SA" sz="1100" dirty="0"/>
          </a:p>
        </p:txBody>
      </p:sp>
      <p:sp>
        <p:nvSpPr>
          <p:cNvPr id="6" name="s22_5"/>
          <p:cNvSpPr txBox="1"/>
          <p:nvPr/>
        </p:nvSpPr>
        <p:spPr>
          <a:xfrm>
            <a:off x="7132320" y="1097280"/>
            <a:ext cx="4617720" cy="1554480"/>
          </a:xfrm>
          <a:prstGeom prst="roundRect">
            <a:avLst>
              <a:gd name="adj" fmla="val 823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أقرأ الشكل: </a:t>
            </a:r>
            <a:r>
              <a:rPr lang="ar-SA" altLang="en-US" sz="1700" b="1" dirty="0">
                <a:solidFill>
                  <a:srgbClr val="34405E"/>
                </a:solidFill>
                <a:latin typeface="Tahoma" pitchFamily="34" charset="0"/>
                <a:ea typeface="Tahoma" pitchFamily="34" charset="-122"/>
                <a:cs typeface="Tahoma" pitchFamily="34" charset="-120"/>
              </a:rPr>
              <a:t>أيُّ مفترسٍ في الشبكةِ الغذائيةِ له أكبرُ عددٍ من الفرائس؟
</a:t>
            </a:r>
            <a:r>
              <a:rPr lang="ar-SA" altLang="en-US" sz="1450" dirty="0">
                <a:solidFill>
                  <a:srgbClr val="1E7FB8"/>
                </a:solidFill>
                <a:latin typeface="Tahoma" pitchFamily="34" charset="0"/>
                <a:ea typeface="Tahoma" pitchFamily="34" charset="-122"/>
                <a:cs typeface="Tahoma" pitchFamily="34" charset="-120"/>
              </a:rPr>
              <a:t>إرشاد: تتجهُ الأسهمُ من الفريسةِ إلى المفترس.</a:t>
            </a:r>
            <a:endParaRPr lang="ar-SA" sz="1700" dirty="0"/>
          </a:p>
        </p:txBody>
      </p:sp>
      <p:sp>
        <p:nvSpPr>
          <p:cNvPr id="7" name="s22_6@c1"/>
          <p:cNvSpPr txBox="1"/>
          <p:nvPr/>
        </p:nvSpPr>
        <p:spPr>
          <a:xfrm>
            <a:off x="7132320" y="2788920"/>
            <a:ext cx="4617720" cy="1051560"/>
          </a:xfrm>
          <a:prstGeom prst="roundRect">
            <a:avLst>
              <a:gd name="adj" fmla="val 12174"/>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2F8A3A"/>
                </a:solidFill>
                <a:latin typeface="Tahoma" pitchFamily="34" charset="0"/>
                <a:ea typeface="Tahoma" pitchFamily="34" charset="-122"/>
                <a:cs typeface="Tahoma" pitchFamily="34" charset="-120"/>
              </a:rPr>
              <a:t>✔ الحوت القاتل؛ </a:t>
            </a:r>
            <a:r>
              <a:rPr lang="ar-SA" altLang="en-US" sz="1550" dirty="0">
                <a:solidFill>
                  <a:srgbClr val="34405E"/>
                </a:solidFill>
                <a:latin typeface="Tahoma" pitchFamily="34" charset="0"/>
                <a:ea typeface="Tahoma" pitchFamily="34" charset="-122"/>
                <a:cs typeface="Tahoma" pitchFamily="34" charset="-120"/>
              </a:rPr>
              <a:t>تتجه إليه ثلاثة أسهم: من سمكة التونة، والدلفين، وطائر النورس.</a:t>
            </a:r>
            <a:endParaRPr lang="ar-SA" sz="1550" dirty="0"/>
          </a:p>
        </p:txBody>
      </p:sp>
      <p:sp>
        <p:nvSpPr>
          <p:cNvPr id="8" name="s22_7@c2"/>
          <p:cNvSpPr txBox="1"/>
          <p:nvPr/>
        </p:nvSpPr>
        <p:spPr>
          <a:xfrm>
            <a:off x="7132320" y="4023360"/>
            <a:ext cx="4617720" cy="502920"/>
          </a:xfrm>
          <a:prstGeom prst="roundRect">
            <a:avLst>
              <a:gd name="adj" fmla="val 25455"/>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6B4FC0"/>
                </a:solidFill>
                <a:latin typeface="Tahoma" pitchFamily="34" charset="0"/>
                <a:ea typeface="Tahoma" pitchFamily="34" charset="-122"/>
                <a:cs typeface="Tahoma" pitchFamily="34" charset="-120"/>
              </a:rPr>
              <a:t>تتبّعي سلسلة واحدة من الشبكة: </a:t>
            </a:r>
            <a:endParaRPr lang="ar-SA" sz="1550" dirty="0"/>
          </a:p>
        </p:txBody>
      </p:sp>
      <p:sp>
        <p:nvSpPr>
          <p:cNvPr id="9" name="s22_8@c3"/>
          <p:cNvSpPr txBox="1"/>
          <p:nvPr/>
        </p:nvSpPr>
        <p:spPr>
          <a:xfrm>
            <a:off x="7132320" y="4617720"/>
            <a:ext cx="461772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العوالق ← السردين ← التونة ← الحوت القاتل</a:t>
            </a:r>
            <a:endParaRPr lang="ar-SA" sz="1550" dirty="0"/>
          </a:p>
        </p:txBody>
      </p:sp>
      <p:sp>
        <p:nvSpPr>
          <p:cNvPr id="10" name="s22_9@c4"/>
          <p:cNvSpPr txBox="1"/>
          <p:nvPr/>
        </p:nvSpPr>
        <p:spPr>
          <a:xfrm>
            <a:off x="7132320" y="5349240"/>
            <a:ext cx="461772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450" dirty="0">
                <a:solidFill>
                  <a:srgbClr val="34405E"/>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ومن أين حصلت العوالق النباتية على طاقتها؟  </a:t>
            </a:r>
            <a:r>
              <a:rPr lang="ar-SA" altLang="en-US" sz="1450" b="1" dirty="0">
                <a:solidFill>
                  <a:srgbClr val="2F8A3A"/>
                </a:solidFill>
                <a:latin typeface="Tahoma" pitchFamily="34" charset="0"/>
                <a:ea typeface="Tahoma" pitchFamily="34" charset="-122"/>
                <a:cs typeface="Tahoma" pitchFamily="34" charset="-120"/>
              </a:rPr>
              <a:t>✔ من الشمس.</a:t>
            </a:r>
            <a:endParaRPr lang="ar-SA" sz="1450" dirty="0"/>
          </a:p>
        </p:txBody>
      </p:sp>
      <p:sp>
        <p:nvSpPr>
          <p:cNvPr id="11" name="s22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2" name="s22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8" fill="hold">
                      <p:stCondLst>
                        <p:cond delay="indefinite"/>
                      </p:stCondLst>
                      <p:childTnLst>
                        <p:par>
                          <p:cTn id="22"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3_1" descr="/tmp/claude-0/-home-user/4092b4c5-df81-5a0c-b1b2-79950f0cf3f7/scratchpad/build/img/t_who.png">    </p:cNvPr>
          <p:cNvPicPr>
            <a:picLocks noChangeAspect="1"/>
          </p:cNvPicPr>
          <p:nvPr/>
        </p:nvPicPr>
        <p:blipFill>
          <a:blip r:embed="rId2"/>
          <a:stretch>
            <a:fillRect/>
          </a:stretch>
        </p:blipFill>
        <p:spPr>
          <a:xfrm>
            <a:off x="8636028" y="182880"/>
            <a:ext cx="3189907" cy="731520"/>
          </a:xfrm>
          <a:prstGeom prst="rect">
            <a:avLst/>
          </a:prstGeom>
        </p:spPr>
      </p:pic>
      <p:sp>
        <p:nvSpPr>
          <p:cNvPr id="3" name="s23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من أنا؟</a:t>
            </a:r>
            <a:endParaRPr lang="en-US" sz="1600" dirty="0"/>
          </a:p>
        </p:txBody>
      </p:sp>
      <p:sp>
        <p:nvSpPr>
          <p:cNvPr id="4" name="s23_3"/>
          <p:cNvSpPr txBox="1"/>
          <p:nvPr/>
        </p:nvSpPr>
        <p:spPr>
          <a:xfrm>
            <a:off x="4160520" y="1097280"/>
            <a:ext cx="7589520" cy="1033272"/>
          </a:xfrm>
          <a:prstGeom prst="roundRect">
            <a:avLst>
              <a:gd name="adj" fmla="val 12389"/>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١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ألتقطُ طاقةَ الشمس وأطفو في مياه المحيط، وأنا بداية الشبكة.</a:t>
            </a:r>
            <a:endParaRPr lang="ar-SA" sz="1650" dirty="0"/>
          </a:p>
        </p:txBody>
      </p:sp>
      <p:sp>
        <p:nvSpPr>
          <p:cNvPr id="5" name="s23_w0"/>
          <p:cNvSpPr txBox="1"/>
          <p:nvPr/>
        </p:nvSpPr>
        <p:spPr>
          <a:xfrm>
            <a:off x="2057400" y="1234440"/>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6" name="s23_4@t=s23_w0"/>
          <p:cNvSpPr txBox="1"/>
          <p:nvPr/>
        </p:nvSpPr>
        <p:spPr>
          <a:xfrm>
            <a:off x="2057400" y="1234440"/>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العوالق النباتية 🌿</a:t>
            </a:r>
            <a:endParaRPr lang="ar-SA" sz="1500" dirty="0"/>
          </a:p>
        </p:txBody>
      </p:sp>
      <p:sp>
        <p:nvSpPr>
          <p:cNvPr id="7" name="s23_5"/>
          <p:cNvSpPr txBox="1"/>
          <p:nvPr/>
        </p:nvSpPr>
        <p:spPr>
          <a:xfrm>
            <a:off x="4160520" y="2313432"/>
            <a:ext cx="7589520" cy="1033272"/>
          </a:xfrm>
          <a:prstGeom prst="roundRect">
            <a:avLst>
              <a:gd name="adj" fmla="val 1238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٢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آكلُ العوالق، وتأكلني التونة والدلفين والنورس؛ فأنا مفترسة وفريسة!</a:t>
            </a:r>
            <a:endParaRPr lang="ar-SA" sz="1650" dirty="0"/>
          </a:p>
        </p:txBody>
      </p:sp>
      <p:sp>
        <p:nvSpPr>
          <p:cNvPr id="8" name="s23_w1"/>
          <p:cNvSpPr txBox="1"/>
          <p:nvPr/>
        </p:nvSpPr>
        <p:spPr>
          <a:xfrm>
            <a:off x="2057400" y="2450592"/>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9" name="s23_6@t=s23_w1"/>
          <p:cNvSpPr txBox="1"/>
          <p:nvPr/>
        </p:nvSpPr>
        <p:spPr>
          <a:xfrm>
            <a:off x="2057400" y="2450592"/>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سمكة السردين 🐟</a:t>
            </a:r>
            <a:endParaRPr lang="ar-SA" sz="1500" dirty="0"/>
          </a:p>
        </p:txBody>
      </p:sp>
      <p:sp>
        <p:nvSpPr>
          <p:cNvPr id="10" name="s23_7"/>
          <p:cNvSpPr txBox="1"/>
          <p:nvPr/>
        </p:nvSpPr>
        <p:spPr>
          <a:xfrm>
            <a:off x="4160520" y="3529584"/>
            <a:ext cx="7589520" cy="1033272"/>
          </a:xfrm>
          <a:prstGeom prst="roundRect">
            <a:avLst>
              <a:gd name="adj" fmla="val 12389"/>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٣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طائرٌ أصطاد الأسماك من سطح البحر، لكنني فريسة للحوت القاتل.</a:t>
            </a:r>
            <a:endParaRPr lang="ar-SA" sz="1650" dirty="0"/>
          </a:p>
        </p:txBody>
      </p:sp>
      <p:sp>
        <p:nvSpPr>
          <p:cNvPr id="11" name="s23_w2"/>
          <p:cNvSpPr txBox="1"/>
          <p:nvPr/>
        </p:nvSpPr>
        <p:spPr>
          <a:xfrm>
            <a:off x="2057400" y="3666744"/>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2" name="s23_8@t=s23_w2"/>
          <p:cNvSpPr txBox="1"/>
          <p:nvPr/>
        </p:nvSpPr>
        <p:spPr>
          <a:xfrm>
            <a:off x="2057400" y="3666744"/>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طائر النورس 🕊️</a:t>
            </a:r>
            <a:endParaRPr lang="ar-SA" sz="1500" dirty="0"/>
          </a:p>
        </p:txBody>
      </p:sp>
      <p:sp>
        <p:nvSpPr>
          <p:cNvPr id="13" name="s23_9"/>
          <p:cNvSpPr txBox="1"/>
          <p:nvPr/>
        </p:nvSpPr>
        <p:spPr>
          <a:xfrm>
            <a:off x="4160520" y="4745736"/>
            <a:ext cx="7589520" cy="1033272"/>
          </a:xfrm>
          <a:prstGeom prst="roundRect">
            <a:avLst>
              <a:gd name="adj" fmla="val 1238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٤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أنا في قمة الشبكة؛ لا يفترسني أحد فيها، ولي أكبر عدد من الفرائس.</a:t>
            </a:r>
            <a:endParaRPr lang="ar-SA" sz="1650" dirty="0"/>
          </a:p>
        </p:txBody>
      </p:sp>
      <p:sp>
        <p:nvSpPr>
          <p:cNvPr id="14" name="s23_w3"/>
          <p:cNvSpPr txBox="1"/>
          <p:nvPr/>
        </p:nvSpPr>
        <p:spPr>
          <a:xfrm>
            <a:off x="2057400" y="4882896"/>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5" name="s23_10@t=s23_w3"/>
          <p:cNvSpPr txBox="1"/>
          <p:nvPr/>
        </p:nvSpPr>
        <p:spPr>
          <a:xfrm>
            <a:off x="2057400" y="4882896"/>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الحوت القاتل 🐋</a:t>
            </a:r>
            <a:endParaRPr lang="ar-SA" sz="1500" dirty="0"/>
          </a:p>
        </p:txBody>
      </p:sp>
      <p:pic>
        <p:nvPicPr>
          <p:cNvPr id="16" name="s23_11" descr="/tmp/claude-0/-home-user/4092b4c5-df81-5a0c-b1b2-79950f0cf3f7/scratchpad/build/img/diver.png">    </p:cNvPr>
          <p:cNvPicPr>
            <a:picLocks noChangeAspect="1"/>
          </p:cNvPicPr>
          <p:nvPr/>
        </p:nvPicPr>
        <p:blipFill>
          <a:blip r:embed="rId3"/>
          <a:stretch>
            <a:fillRect/>
          </a:stretch>
        </p:blipFill>
        <p:spPr>
          <a:xfrm>
            <a:off x="182880" y="3520440"/>
            <a:ext cx="1666091" cy="2697480"/>
          </a:xfrm>
          <a:prstGeom prst="rect">
            <a:avLst/>
          </a:prstGeom>
        </p:spPr>
      </p:pic>
      <p:sp>
        <p:nvSpPr>
          <p:cNvPr id="17" name="s23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23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8"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childTnLst>
              </p:cTn>
              <p:nextCondLst>
                <p:cond evt="onNext" delay="0">
                  <p:tgtEl>
                    <p:spTgt spid="5"/>
                  </p:tgtEl>
                </p:cond>
              </p:nextCondLst>
            </p:seq>
            <p:seq concurrent="1" nextAc="seek">
              <p:cTn id="14"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3"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nextCondLst>
                <p:cond evt="onNext" delay="0">
                  <p:tgtEl>
                    <p:spTgt spid="8"/>
                  </p:tgtEl>
                </p:cond>
              </p:nextCondLst>
            </p:seq>
            <p:seq concurrent="1" nextAc="seek">
              <p:cTn id="20" restart="whenNotActive" fill="hold" evtFilter="cancelBubble" nodeType="interactiveSeq">
                <p:stCondLst>
                  <p:cond evt="onClick" delay="0">
                    <p:tgtEl>
                      <p:spTgt spid="11"/>
                    </p:tgtEl>
                  </p:cond>
                </p:stCondLst>
                <p:endSync evt="end" delay="0">
                  <p:rtn val="all"/>
                </p:endSync>
                <p:childTnLst>
                  <p:par>
                    <p:cTn id="15" fill="hold">
                      <p:stCondLst>
                        <p:cond delay="0"/>
                      </p:stCondLst>
                      <p:childTnLst>
                        <p:par>
                          <p:cTn id="19"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childTnLst>
              </p:cTn>
              <p:nextCondLst>
                <p:cond evt="onNext" delay="0">
                  <p:tgtEl>
                    <p:spTgt spid="11"/>
                  </p:tgtEl>
                </p:cond>
              </p:nextCondLst>
            </p:seq>
            <p:seq concurrent="1" nextAc="seek">
              <p:cTn id="26" restart="whenNotActive" fill="hold" evtFilter="cancelBubble" nodeType="interactiveSeq">
                <p:stCondLst>
                  <p:cond evt="onClick" delay="0">
                    <p:tgtEl>
                      <p:spTgt spid="14"/>
                    </p:tgtEl>
                  </p:cond>
                </p:stCondLst>
                <p:endSync evt="end" delay="0">
                  <p:rtn val="all"/>
                </p:endSync>
                <p:childTnLst>
                  <p:par>
                    <p:cTn id="21" fill="hold">
                      <p:stCondLst>
                        <p:cond delay="0"/>
                      </p:stCondLst>
                      <p:childTnLst>
                        <p:par>
                          <p:cTn id="25"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childTnLst>
                          </p:cTn>
                        </p:par>
                      </p:childTnLst>
                    </p:cTn>
                  </p:par>
                </p:childTnLst>
              </p:cTn>
              <p:nextCondLst>
                <p:cond evt="onNext" delay="0">
                  <p:tgtEl>
                    <p:spTgt spid="14"/>
                  </p:tgtEl>
                </p:cond>
              </p:nextCondLst>
            </p:seq>
          </p:childTnLst>
        </p:cTn>
      </p:par>
    </p:tnLst>
    <p:bldLst>
      <p:bldP spid="6" grpId="0" animBg="1"/>
      <p:bldP spid="9" grpId="0" animBg="1"/>
      <p:bldP spid="12" grpId="0" animBg="1"/>
      <p:bldP spid="15"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4_1" descr="/tmp/claude-0/-home-user/4092b4c5-df81-5a0c-b1b2-79950f0cf3f7/scratchpad/build/img/t_board.png">    </p:cNvPr>
          <p:cNvPicPr>
            <a:picLocks noChangeAspect="1"/>
          </p:cNvPicPr>
          <p:nvPr/>
        </p:nvPicPr>
        <p:blipFill>
          <a:blip r:embed="rId2"/>
          <a:stretch>
            <a:fillRect/>
          </a:stretch>
        </p:blipFill>
        <p:spPr>
          <a:xfrm>
            <a:off x="7706638" y="182880"/>
            <a:ext cx="4119297" cy="731520"/>
          </a:xfrm>
          <a:prstGeom prst="rect">
            <a:avLst/>
          </a:prstGeom>
        </p:spPr>
      </p:pic>
      <p:sp>
        <p:nvSpPr>
          <p:cNvPr id="3" name="s24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السبورة المنظمة – المقارنة</a:t>
            </a:r>
            <a:endParaRPr lang="en-US" sz="1600" dirty="0"/>
          </a:p>
        </p:txBody>
      </p:sp>
      <p:sp>
        <p:nvSpPr>
          <p:cNvPr id="4" name="s24_3"/>
          <p:cNvSpPr txBox="1"/>
          <p:nvPr/>
        </p:nvSpPr>
        <p:spPr>
          <a:xfrm>
            <a:off x="548640" y="1051560"/>
            <a:ext cx="11201400" cy="5074920"/>
          </a:xfrm>
          <a:prstGeom prst="roundRect">
            <a:avLst>
              <a:gd name="adj" fmla="val 2523"/>
            </a:avLst>
          </a:prstGeom>
          <a:solidFill>
            <a:srgbClr val="FFFFFF"/>
          </a:solidFill>
          <a:ln w="38100">
            <a:solidFill>
              <a:srgbClr val="9AA5B8"/>
            </a:solidFill>
          </a:ln>
        </p:spPr>
        <p:txBody>
          <a:bodyPr wrap="square" lIns="101600" tIns="101600" rIns="101600" bIns="101600" rtlCol="0" anchor="ctr"/>
          <a:lstStyle/>
          <a:p>
            <a:pPr rtl="1" algn="r" indent="0" marL="0">
              <a:buNone/>
            </a:pPr>
            <a:endParaRPr lang="ar-SA" sz="1800" dirty="0"/>
          </a:p>
        </p:txBody>
      </p:sp>
      <p:sp>
        <p:nvSpPr>
          <p:cNvPr id="5" name="s24_4"/>
          <p:cNvSpPr/>
          <p:nvPr/>
        </p:nvSpPr>
        <p:spPr>
          <a:xfrm>
            <a:off x="5029200" y="1417320"/>
            <a:ext cx="6309360" cy="4069080"/>
          </a:xfrm>
          <a:prstGeom prst="ellipse">
            <a:avLst/>
          </a:prstGeom>
          <a:solidFill>
            <a:srgbClr val="FFE8A3">
              <a:alpha val="65000"/>
            </a:srgbClr>
          </a:solidFill>
          <a:ln w="31750">
            <a:solidFill>
              <a:srgbClr val="A87400"/>
            </a:solidFill>
            <a:prstDash val="solid"/>
          </a:ln>
        </p:spPr>
      </p:sp>
      <p:sp>
        <p:nvSpPr>
          <p:cNvPr id="6" name="s24_5"/>
          <p:cNvSpPr/>
          <p:nvPr/>
        </p:nvSpPr>
        <p:spPr>
          <a:xfrm>
            <a:off x="868680" y="1417320"/>
            <a:ext cx="6309360" cy="4069080"/>
          </a:xfrm>
          <a:prstGeom prst="ellipse">
            <a:avLst/>
          </a:prstGeom>
          <a:solidFill>
            <a:srgbClr val="BDE6FA">
              <a:alpha val="65000"/>
            </a:srgbClr>
          </a:solidFill>
          <a:ln w="31750">
            <a:solidFill>
              <a:srgbClr val="0E6F86"/>
            </a:solidFill>
            <a:prstDash val="solid"/>
          </a:ln>
        </p:spPr>
      </p:sp>
      <p:sp>
        <p:nvSpPr>
          <p:cNvPr id="7" name="s24_6"/>
          <p:cNvSpPr txBox="1"/>
          <p:nvPr/>
        </p:nvSpPr>
        <p:spPr>
          <a:xfrm>
            <a:off x="77266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السلسلة الغذائية</a:t>
            </a:r>
            <a:endParaRPr lang="ar-SA" sz="1900" dirty="0"/>
          </a:p>
        </p:txBody>
      </p:sp>
      <p:sp>
        <p:nvSpPr>
          <p:cNvPr id="8" name="s24_7"/>
          <p:cNvSpPr txBox="1"/>
          <p:nvPr/>
        </p:nvSpPr>
        <p:spPr>
          <a:xfrm>
            <a:off x="15544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0E6F86"/>
                </a:solidFill>
                <a:latin typeface="Tahoma" pitchFamily="34" charset="0"/>
                <a:ea typeface="Tahoma" pitchFamily="34" charset="-122"/>
                <a:cs typeface="Tahoma" pitchFamily="34" charset="-120"/>
              </a:rPr>
              <a:t>الشبكة الغذائية</a:t>
            </a:r>
            <a:endParaRPr lang="ar-SA" sz="1900" dirty="0"/>
          </a:p>
        </p:txBody>
      </p:sp>
      <p:sp>
        <p:nvSpPr>
          <p:cNvPr id="9" name="s24_8"/>
          <p:cNvSpPr txBox="1"/>
          <p:nvPr/>
        </p:nvSpPr>
        <p:spPr>
          <a:xfrm>
            <a:off x="5166360" y="2057400"/>
            <a:ext cx="18288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مشتركة</a:t>
            </a:r>
            <a:endParaRPr lang="ar-SA" sz="1700" dirty="0"/>
          </a:p>
        </p:txBody>
      </p:sp>
      <p:sp>
        <p:nvSpPr>
          <p:cNvPr id="10" name="s24_9@c1"/>
          <p:cNvSpPr txBox="1"/>
          <p:nvPr/>
        </p:nvSpPr>
        <p:spPr>
          <a:xfrm>
            <a:off x="7315200" y="2331720"/>
            <a:ext cx="356616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 واحد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كل مخلوق يأكل نوعًا واحدًا فيها.</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نبات الشوك ← اليرقة ← … ← البومة</a:t>
            </a:r>
            <a:endParaRPr lang="ar-SA" sz="1500" dirty="0"/>
          </a:p>
        </p:txBody>
      </p:sp>
      <p:sp>
        <p:nvSpPr>
          <p:cNvPr id="11" name="s24_10@c2"/>
          <p:cNvSpPr txBox="1"/>
          <p:nvPr/>
        </p:nvSpPr>
        <p:spPr>
          <a:xfrm>
            <a:off x="1280160" y="2331720"/>
            <a:ext cx="361188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سلاسل غذائية متداخلة.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مسارات متعددة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توضّح علاقة المفترس والفريسة.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شبكة المحيط</a:t>
            </a:r>
            <a:endParaRPr lang="ar-SA" sz="1500" dirty="0"/>
          </a:p>
        </p:txBody>
      </p:sp>
      <p:sp>
        <p:nvSpPr>
          <p:cNvPr id="12" name="s24_11@c3"/>
          <p:cNvSpPr txBox="1"/>
          <p:nvPr/>
        </p:nvSpPr>
        <p:spPr>
          <a:xfrm>
            <a:off x="5074920" y="2606040"/>
            <a:ext cx="2011680" cy="2194560"/>
          </a:xfrm>
          <a:prstGeom prst="rect">
            <a:avLst/>
          </a:prstGeom>
          <a:noFill/>
          <a:ln/>
        </p:spPr>
        <p:txBody>
          <a:bodyPr wrap="square" lIns="63500" tIns="63500" rIns="63500" bIns="635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 تبدأ بالشمس والمنتِجات.</a:t>
            </a:r>
            <a:endParaRPr lang="ar-SA" sz="1400" dirty="0"/>
          </a:p>
          <a:p>
            <a:pPr rtl="1" algn="ctr" indent="0" marL="0">
              <a:buNone/>
            </a:pPr>
            <a:r>
              <a:rPr lang="ar-SA" altLang="en-US" sz="1400" b="1" dirty="0">
                <a:solidFill>
                  <a:srgbClr val="34405E"/>
                </a:solidFill>
                <a:latin typeface="Tahoma" pitchFamily="34" charset="0"/>
                <a:ea typeface="Tahoma" pitchFamily="34" charset="-122"/>
                <a:cs typeface="Tahoma" pitchFamily="34" charset="-120"/>
              </a:rPr>
              <a:t>• الأسهم تبيّن اتجاه انتقال الطاقة.</a:t>
            </a:r>
            <a:endParaRPr lang="ar-SA" sz="1400" dirty="0"/>
          </a:p>
        </p:txBody>
      </p:sp>
      <p:sp>
        <p:nvSpPr>
          <p:cNvPr id="13" name="s24_12@c4"/>
          <p:cNvSpPr txBox="1"/>
          <p:nvPr/>
        </p:nvSpPr>
        <p:spPr>
          <a:xfrm>
            <a:off x="3840480" y="5486400"/>
            <a:ext cx="4526280" cy="548640"/>
          </a:xfrm>
          <a:prstGeom prst="rect">
            <a:avLst/>
          </a:prstGeom>
          <a:noFill/>
          <a:ln/>
        </p:spPr>
        <p:txBody>
          <a:bodyPr wrap="square" lIns="63500" tIns="63500" rIns="63500" bIns="63500" rtlCol="0" anchor="ctr"/>
          <a:lstStyle/>
          <a:p>
            <a:pPr rtl="1" algn="ctr" indent="0" marL="0">
              <a:buNone/>
            </a:pPr>
            <a:r>
              <a:rPr lang="ar-SA" altLang="en-US" sz="2200" dirty="0">
                <a:solidFill>
                  <a:srgbClr val="34405E"/>
                </a:solidFill>
                <a:latin typeface="Tahoma" pitchFamily="34" charset="0"/>
                <a:ea typeface="Tahoma" pitchFamily="34" charset="-122"/>
                <a:cs typeface="Tahoma" pitchFamily="34" charset="-120"/>
              </a:rPr>
              <a:t>☀️ ← 🌿 ← 🐛 ← 🦎 ← 🦉</a:t>
            </a:r>
            <a:endParaRPr lang="ar-SA" sz="2200" dirty="0"/>
          </a:p>
        </p:txBody>
      </p:sp>
      <p:sp>
        <p:nvSpPr>
          <p:cNvPr id="14" name="s24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4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10"/>
                                        </p:tgtEl>
                                        <p:attrNameLst>
                                          <p:attrName>style.visibility</p:attrName>
                                        </p:attrNameLst>
                                      </p:cBhvr>
                                      <p:to>
                                        <p:strVal val="visible"/>
                                      </p:to>
                                    </p:set>
                                    <p:animEffect transition="in" filter="fade">
                                      <p:cBhvr>
                                        <p:cTn id="6" dur="500"/>
                                        <p:tgtEl>
                                          <p:spTgt spid="10"/>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8" fill="hold">
                      <p:stCondLst>
                        <p:cond delay="indefinite"/>
                      </p:stCondLst>
                      <p:childTnLst>
                        <p:par>
                          <p:cTn id="22"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5_1" descr="/tmp/claude-0/-home-user/4092b4c5-df81-5a0c-b1b2-79950f0cf3f7/scratchpad/build/img/t_hots.png">    </p:cNvPr>
          <p:cNvPicPr>
            <a:picLocks noChangeAspect="1"/>
          </p:cNvPicPr>
          <p:nvPr/>
        </p:nvPicPr>
        <p:blipFill>
          <a:blip r:embed="rId2"/>
          <a:stretch>
            <a:fillRect/>
          </a:stretch>
        </p:blipFill>
        <p:spPr>
          <a:xfrm>
            <a:off x="8462142" y="182880"/>
            <a:ext cx="3363793" cy="731520"/>
          </a:xfrm>
          <a:prstGeom prst="rect">
            <a:avLst/>
          </a:prstGeom>
        </p:spPr>
      </p:pic>
      <p:sp>
        <p:nvSpPr>
          <p:cNvPr id="3" name="s25_2"/>
          <p:cNvSpPr txBox="1"/>
          <p:nvPr/>
        </p:nvSpPr>
        <p:spPr>
          <a:xfrm>
            <a:off x="365760" y="292608"/>
            <a:ext cx="41376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مهارات التفكير العليا</a:t>
            </a:r>
            <a:endParaRPr lang="en-US" sz="1600" dirty="0"/>
          </a:p>
        </p:txBody>
      </p:sp>
      <p:sp>
        <p:nvSpPr>
          <p:cNvPr id="4" name="s25_3"/>
          <p:cNvSpPr txBox="1"/>
          <p:nvPr/>
        </p:nvSpPr>
        <p:spPr>
          <a:xfrm>
            <a:off x="10241280" y="1097280"/>
            <a:ext cx="150876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أحلّل</a:t>
            </a:r>
            <a:endParaRPr lang="ar-SA" sz="1700" dirty="0"/>
          </a:p>
        </p:txBody>
      </p:sp>
      <p:sp>
        <p:nvSpPr>
          <p:cNvPr id="5" name="s25_4"/>
          <p:cNvSpPr txBox="1"/>
          <p:nvPr/>
        </p:nvSpPr>
        <p:spPr>
          <a:xfrm>
            <a:off x="5074920" y="109728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لو اختفت سمكة السردين من شبكة المحيط، فأيّ المخلوقات تتأثر أولًا؟ ولماذا؟</a:t>
            </a:r>
            <a:endParaRPr lang="ar-SA" sz="1600" dirty="0"/>
          </a:p>
        </p:txBody>
      </p:sp>
      <p:sp>
        <p:nvSpPr>
          <p:cNvPr id="6" name="s25_5@c1"/>
          <p:cNvSpPr txBox="1"/>
          <p:nvPr/>
        </p:nvSpPr>
        <p:spPr>
          <a:xfrm>
            <a:off x="548640" y="109728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التونة والدلفين وطائر النورس؛ لأنها تتغذى عليها، ثم يتأثر الحوت القاتل. وقد تزداد العوالق لقلّة من يأكلها.</a:t>
            </a:r>
            <a:endParaRPr lang="ar-SA" sz="1450" dirty="0"/>
          </a:p>
        </p:txBody>
      </p:sp>
      <p:sp>
        <p:nvSpPr>
          <p:cNvPr id="7" name="s25_6"/>
          <p:cNvSpPr txBox="1"/>
          <p:nvPr/>
        </p:nvSpPr>
        <p:spPr>
          <a:xfrm>
            <a:off x="10241280" y="2788920"/>
            <a:ext cx="150876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أقيّم</a:t>
            </a:r>
            <a:endParaRPr lang="ar-SA" sz="1700" dirty="0"/>
          </a:p>
        </p:txBody>
      </p:sp>
      <p:sp>
        <p:nvSpPr>
          <p:cNvPr id="8" name="s25_7"/>
          <p:cNvSpPr txBox="1"/>
          <p:nvPr/>
        </p:nvSpPr>
        <p:spPr>
          <a:xfrm>
            <a:off x="5074920" y="278892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أيّهما يتأثر أكثر باختفاء مخلوق واحد: سلسلة غذائية منفردة أم شبكة غذائية؟ دافعي عن رأيك.</a:t>
            </a:r>
            <a:endParaRPr lang="ar-SA" sz="1600" dirty="0"/>
          </a:p>
        </p:txBody>
      </p:sp>
      <p:sp>
        <p:nvSpPr>
          <p:cNvPr id="9" name="s25_8@c2"/>
          <p:cNvSpPr txBox="1"/>
          <p:nvPr/>
        </p:nvSpPr>
        <p:spPr>
          <a:xfrm>
            <a:off x="548640" y="278892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السلسلة المنفردة؛ لأن لها مسارًا واحدًا، أما في الشبكة فقد يجد المفترس غذاءً بديلًا.</a:t>
            </a:r>
            <a:endParaRPr lang="ar-SA" sz="1450" dirty="0"/>
          </a:p>
        </p:txBody>
      </p:sp>
      <p:sp>
        <p:nvSpPr>
          <p:cNvPr id="10" name="s25_9"/>
          <p:cNvSpPr txBox="1"/>
          <p:nvPr/>
        </p:nvSpPr>
        <p:spPr>
          <a:xfrm>
            <a:off x="10241280" y="4480560"/>
            <a:ext cx="1508760" cy="1508760"/>
          </a:xfrm>
          <a:prstGeom prst="roundRect">
            <a:avLst>
              <a:gd name="adj" fmla="val 848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أبتكر</a:t>
            </a:r>
            <a:endParaRPr lang="ar-SA" sz="1700" dirty="0"/>
          </a:p>
        </p:txBody>
      </p:sp>
      <p:sp>
        <p:nvSpPr>
          <p:cNvPr id="11" name="s25_10"/>
          <p:cNvSpPr txBox="1"/>
          <p:nvPr/>
        </p:nvSpPr>
        <p:spPr>
          <a:xfrm>
            <a:off x="5074920" y="448056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صمّمي شبكة غذائية صغيرة لصحراء وطني من: العشب، الجرادة، الضب، الثعبان، الصقر.</a:t>
            </a:r>
            <a:endParaRPr lang="ar-SA" sz="1600" dirty="0"/>
          </a:p>
        </p:txBody>
      </p:sp>
      <p:sp>
        <p:nvSpPr>
          <p:cNvPr id="12" name="s25_11@c3"/>
          <p:cNvSpPr txBox="1"/>
          <p:nvPr/>
        </p:nvSpPr>
        <p:spPr>
          <a:xfrm>
            <a:off x="548640" y="448056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مثال: العشب ← الجرادة ← الضب ← الثعبان ← الصقر، والعشب ← الضب، والضب ← الصقر.</a:t>
            </a:r>
            <a:endParaRPr lang="ar-SA" sz="1450" dirty="0"/>
          </a:p>
        </p:txBody>
      </p:sp>
      <p:sp>
        <p:nvSpPr>
          <p:cNvPr id="13" name="s25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25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6_1" descr="/tmp/claude-0/-home-user/4092b4c5-df81-5a0c-b1b2-79950f0cf3f7/scratchpad/build/img/t_life.png">    </p:cNvPr>
          <p:cNvPicPr>
            <a:picLocks noChangeAspect="1"/>
          </p:cNvPicPr>
          <p:nvPr/>
        </p:nvPicPr>
        <p:blipFill>
          <a:blip r:embed="rId2"/>
          <a:stretch>
            <a:fillRect/>
          </a:stretch>
        </p:blipFill>
        <p:spPr>
          <a:xfrm>
            <a:off x="8642024" y="182880"/>
            <a:ext cx="3183911" cy="731520"/>
          </a:xfrm>
          <a:prstGeom prst="rect">
            <a:avLst/>
          </a:prstGeom>
        </p:spPr>
      </p:pic>
      <p:sp>
        <p:nvSpPr>
          <p:cNvPr id="3" name="s26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من المواقف الحياتية</a:t>
            </a:r>
            <a:endParaRPr lang="en-US" sz="1600" dirty="0"/>
          </a:p>
        </p:txBody>
      </p:sp>
      <p:sp>
        <p:nvSpPr>
          <p:cNvPr id="4" name="s26_3@c1"/>
          <p:cNvSpPr txBox="1"/>
          <p:nvPr/>
        </p:nvSpPr>
        <p:spPr>
          <a:xfrm>
            <a:off x="3108960" y="1143000"/>
            <a:ext cx="8641080" cy="1188720"/>
          </a:xfrm>
          <a:prstGeom prst="roundRect">
            <a:avLst>
              <a:gd name="adj" fmla="val 10769"/>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وجبتي: </a:t>
            </a:r>
            <a:r>
              <a:rPr lang="ar-SA" altLang="en-US" sz="1700" dirty="0">
                <a:solidFill>
                  <a:srgbClr val="34405E"/>
                </a:solidFill>
                <a:latin typeface="Tahoma" pitchFamily="34" charset="0"/>
                <a:ea typeface="Tahoma" pitchFamily="34" charset="-122"/>
                <a:cs typeface="Tahoma" pitchFamily="34" charset="-120"/>
              </a:rPr>
              <a:t>الشمس ← العشب ← الخروف ← أنا! فأنا حلقة في سلسلة غذائية عندما آكل الكبسة.</a:t>
            </a:r>
            <a:endParaRPr lang="ar-SA" sz="1700" dirty="0"/>
          </a:p>
        </p:txBody>
      </p:sp>
      <p:sp>
        <p:nvSpPr>
          <p:cNvPr id="5" name="s26_4@c2"/>
          <p:cNvSpPr txBox="1"/>
          <p:nvPr/>
        </p:nvSpPr>
        <p:spPr>
          <a:xfrm>
            <a:off x="3108960" y="2514600"/>
            <a:ext cx="8641080" cy="1188720"/>
          </a:xfrm>
          <a:prstGeom prst="roundRect">
            <a:avLst>
              <a:gd name="adj" fmla="val 1076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سوق السمك: </a:t>
            </a:r>
            <a:r>
              <a:rPr lang="ar-SA" altLang="en-US" sz="1700" dirty="0">
                <a:solidFill>
                  <a:srgbClr val="34405E"/>
                </a:solidFill>
                <a:latin typeface="Tahoma" pitchFamily="34" charset="0"/>
                <a:ea typeface="Tahoma" pitchFamily="34" charset="-122"/>
                <a:cs typeface="Tahoma" pitchFamily="34" charset="-120"/>
              </a:rPr>
              <a:t>الأسماك التي نشتريها كانت جزءًا من شبكة غذائية في البحر، ونحن نشارك فيها حين نأكلها.</a:t>
            </a:r>
            <a:endParaRPr lang="ar-SA" sz="1700" dirty="0"/>
          </a:p>
        </p:txBody>
      </p:sp>
      <p:sp>
        <p:nvSpPr>
          <p:cNvPr id="6" name="s26_5@c3"/>
          <p:cNvSpPr txBox="1"/>
          <p:nvPr/>
        </p:nvSpPr>
        <p:spPr>
          <a:xfrm>
            <a:off x="3108960" y="3886200"/>
            <a:ext cx="8641080" cy="1188720"/>
          </a:xfrm>
          <a:prstGeom prst="roundRect">
            <a:avLst>
              <a:gd name="adj" fmla="val 1076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على الشاطئ: </a:t>
            </a:r>
            <a:r>
              <a:rPr lang="ar-SA" altLang="en-US" sz="1700" dirty="0">
                <a:solidFill>
                  <a:srgbClr val="34405E"/>
                </a:solidFill>
                <a:latin typeface="Tahoma" pitchFamily="34" charset="0"/>
                <a:ea typeface="Tahoma" pitchFamily="34" charset="-122"/>
                <a:cs typeface="Tahoma" pitchFamily="34" charset="-120"/>
              </a:rPr>
              <a:t>النفايات البلاستيكية في البحر تضرّ العوالق والأسماك، فتتأثر الشبكة الغذائية كلها.</a:t>
            </a:r>
            <a:endParaRPr lang="ar-SA" sz="1700" dirty="0"/>
          </a:p>
        </p:txBody>
      </p:sp>
      <p:sp>
        <p:nvSpPr>
          <p:cNvPr id="7" name="s26_6@c4"/>
          <p:cNvSpPr txBox="1"/>
          <p:nvPr/>
        </p:nvSpPr>
        <p:spPr>
          <a:xfrm>
            <a:off x="3108960" y="5349240"/>
            <a:ext cx="864108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b="1" dirty="0">
                <a:solidFill>
                  <a:srgbClr val="34405E"/>
                </a:solidFill>
                <a:latin typeface="Tahoma" pitchFamily="34" charset="0"/>
                <a:ea typeface="Tahoma" pitchFamily="34" charset="-122"/>
                <a:cs typeface="Tahoma" pitchFamily="34" charset="-120"/>
              </a:rPr>
              <a:t>اكتبي سلسلة غذائية لوجبة فطورك اليوم ✍️  (مثل: الشمس ← القمح ← الخبز ← أنا)</a:t>
            </a:r>
            <a:endParaRPr lang="ar-SA" sz="1600" dirty="0"/>
          </a:p>
        </p:txBody>
      </p:sp>
      <p:pic>
        <p:nvPicPr>
          <p:cNvPr id="8" name="s26_7" descr="/tmp/claude-0/-home-user/4092b4c5-df81-5a0c-b1b2-79950f0cf3f7/scratchpad/build/img/explorer_wave.png">    </p:cNvPr>
          <p:cNvPicPr>
            <a:picLocks noChangeAspect="1"/>
          </p:cNvPicPr>
          <p:nvPr/>
        </p:nvPicPr>
        <p:blipFill>
          <a:blip r:embed="rId3"/>
          <a:stretch>
            <a:fillRect/>
          </a:stretch>
        </p:blipFill>
        <p:spPr>
          <a:xfrm>
            <a:off x="411480" y="1463040"/>
            <a:ext cx="2767405" cy="4480560"/>
          </a:xfrm>
          <a:prstGeom prst="rect">
            <a:avLst/>
          </a:prstGeom>
        </p:spPr>
      </p:pic>
      <p:sp>
        <p:nvSpPr>
          <p:cNvPr id="9" name="s26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26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circl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8" fill="hold">
                      <p:stCondLst>
                        <p:cond delay="indefinite"/>
                      </p:stCondLst>
                      <p:childTnLst>
                        <p:par>
                          <p:cTn id="22"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7_1" descr="/tmp/claude-0/-home-user/4092b4c5-df81-5a0c-b1b2-79950f0cf3f7/scratchpad/build/img/t_nation.png">    </p:cNvPr>
          <p:cNvPicPr>
            <a:picLocks noChangeAspect="1"/>
          </p:cNvPicPr>
          <p:nvPr/>
        </p:nvPicPr>
        <p:blipFill>
          <a:blip r:embed="rId2"/>
          <a:stretch>
            <a:fillRect/>
          </a:stretch>
        </p:blipFill>
        <p:spPr>
          <a:xfrm>
            <a:off x="8630032" y="182880"/>
            <a:ext cx="3195903" cy="731520"/>
          </a:xfrm>
          <a:prstGeom prst="rect">
            <a:avLst/>
          </a:prstGeom>
        </p:spPr>
      </p:pic>
      <p:sp>
        <p:nvSpPr>
          <p:cNvPr id="3" name="s27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ربط وطني</a:t>
            </a:r>
            <a:endParaRPr lang="en-US" sz="1600" dirty="0"/>
          </a:p>
        </p:txBody>
      </p:sp>
      <p:pic>
        <p:nvPicPr>
          <p:cNvPr id="4" name="s27_3" descr="/tmp/claude-0/-home-user/4092b4c5-df81-5a0c-b1b2-79950f0cf3f7/scratchpad/build/img/flag.png">    </p:cNvPr>
          <p:cNvPicPr>
            <a:picLocks noChangeAspect="1"/>
          </p:cNvPicPr>
          <p:nvPr/>
        </p:nvPicPr>
        <p:blipFill>
          <a:blip r:embed="rId3"/>
          <a:stretch>
            <a:fillRect/>
          </a:stretch>
        </p:blipFill>
        <p:spPr>
          <a:xfrm>
            <a:off x="9921240" y="1143000"/>
            <a:ext cx="1783080" cy="1337310"/>
          </a:xfrm>
          <a:prstGeom prst="rect">
            <a:avLst/>
          </a:prstGeom>
        </p:spPr>
      </p:pic>
      <p:sp>
        <p:nvSpPr>
          <p:cNvPr id="5" name="s27_4@c1"/>
          <p:cNvSpPr txBox="1"/>
          <p:nvPr/>
        </p:nvSpPr>
        <p:spPr>
          <a:xfrm>
            <a:off x="2377440" y="1143000"/>
            <a:ext cx="736092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1B5E20"/>
                </a:solidFill>
                <a:latin typeface="Tahoma" pitchFamily="34" charset="0"/>
                <a:ea typeface="Tahoma" pitchFamily="34" charset="-122"/>
                <a:cs typeface="Tahoma" pitchFamily="34" charset="-120"/>
              </a:rPr>
              <a:t>🇸🇦 في وطني… </a:t>
            </a:r>
            <a:r>
              <a:rPr lang="ar-SA" altLang="en-US" sz="1650" dirty="0">
                <a:solidFill>
                  <a:srgbClr val="34405E"/>
                </a:solidFill>
                <a:latin typeface="Tahoma" pitchFamily="34" charset="0"/>
                <a:ea typeface="Tahoma" pitchFamily="34" charset="-122"/>
                <a:cs typeface="Tahoma" pitchFamily="34" charset="-120"/>
              </a:rPr>
              <a:t>يعمل المركز الوطني لتنمية الحياة الفطرية على حماية الحياة الفطرية في المملكة وتنميتها؛ في البرّ والبحر، ومنها المخلوقات البحرية في البحر الأحمر والخليج العربي.</a:t>
            </a:r>
            <a:endParaRPr lang="ar-SA" sz="1650" dirty="0"/>
          </a:p>
        </p:txBody>
      </p:sp>
      <p:sp>
        <p:nvSpPr>
          <p:cNvPr id="6" name="s27_5@c2"/>
          <p:cNvSpPr txBox="1"/>
          <p:nvPr/>
        </p:nvSpPr>
        <p:spPr>
          <a:xfrm>
            <a:off x="2377440" y="2834640"/>
            <a:ext cx="93726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الربط بالدرس: </a:t>
            </a:r>
            <a:r>
              <a:rPr lang="ar-SA" altLang="en-US" sz="1650" dirty="0">
                <a:solidFill>
                  <a:srgbClr val="34405E"/>
                </a:solidFill>
                <a:latin typeface="Tahoma" pitchFamily="34" charset="0"/>
                <a:ea typeface="Tahoma" pitchFamily="34" charset="-122"/>
                <a:cs typeface="Tahoma" pitchFamily="34" charset="-120"/>
              </a:rPr>
              <a:t>حماية مخلوق واحد تحمي الشبكة الغذائية كلها؛ لأن المخلوقات مترابطة بالطاقة والغذاء.</a:t>
            </a:r>
            <a:endParaRPr lang="ar-SA" sz="1650" dirty="0"/>
          </a:p>
        </p:txBody>
      </p:sp>
      <p:sp>
        <p:nvSpPr>
          <p:cNvPr id="7" name="s27_6@c2"/>
          <p:cNvSpPr txBox="1"/>
          <p:nvPr/>
        </p:nvSpPr>
        <p:spPr>
          <a:xfrm>
            <a:off x="8229600" y="3931920"/>
            <a:ext cx="3520440" cy="594360"/>
          </a:xfrm>
          <a:prstGeom prst="roundRect">
            <a:avLst>
              <a:gd name="adj" fmla="val 49231"/>
            </a:avLst>
          </a:prstGeom>
          <a:solidFill>
            <a:srgbClr val="1B5E20"/>
          </a:solidFill>
          <a:ln w="25400">
            <a:solidFill>
              <a:srgbClr val="FFFFFF"/>
            </a:solidFill>
          </a:ln>
        </p:spPr>
        <p:txBody>
          <a:bodyPr wrap="square" lIns="101600" tIns="101600" rIns="101600" bIns="101600" rtlCol="0" anchor="ctr"/>
          <a:lstStyle/>
          <a:p>
            <a:pPr rtl="1" algn="ctr" indent="0" marL="0">
              <a:buNone/>
            </a:pPr>
            <a:r>
              <a:rPr lang="ar-SA" altLang="en-US" sz="1700" b="1" u="sng" dirty="0">
                <a:solidFill>
                  <a:srgbClr val="FFFFFF"/>
                </a:solidFill>
                <a:latin typeface="Tahoma" pitchFamily="34" charset="0"/>
                <a:ea typeface="Tahoma" pitchFamily="34" charset="-122"/>
                <a:cs typeface="Tahoma" pitchFamily="34" charset="-120"/>
                <a:hlinkClick r:id="rId4" invalidUrl="" action="" tgtFrame="" tooltip="المركز الوطني لتنمية الحياة الفطرية" history="1" highlightClick="0" endSnd="0">
                  <a:extLst>
                    <a:ext uri="{A12FA001-AC4F-418D-AE19-62706E023703}">
                      <ahyp:hlinkClr xmlns:ahyp="http://schemas.microsoft.com/office/drawing/2018/hyperlinkcolor" val="tx"/>
                    </a:ext>
                  </a:extLst>
                </a:hlinkClick>
              </a:rPr>
              <a:t>🔗 تعرّفي على المركز</a:t>
            </a:r>
            <a:endParaRPr lang="ar-SA" sz="1700" dirty="0"/>
          </a:p>
        </p:txBody>
      </p:sp>
      <p:sp>
        <p:nvSpPr>
          <p:cNvPr id="8" name="s27_7@c3"/>
          <p:cNvSpPr txBox="1"/>
          <p:nvPr/>
        </p:nvSpPr>
        <p:spPr>
          <a:xfrm>
            <a:off x="2377440" y="4754880"/>
            <a:ext cx="937260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dirty="0">
                <a:solidFill>
                  <a:srgbClr val="34405E"/>
                </a:solidFill>
                <a:latin typeface="Tahoma" pitchFamily="34" charset="0"/>
                <a:ea typeface="Tahoma" pitchFamily="34" charset="-122"/>
                <a:cs typeface="Tahoma" pitchFamily="34" charset="-120"/>
              </a:rPr>
              <a:t>لماذا يُمنع الصيد الجائر؟  </a:t>
            </a:r>
            <a:r>
              <a:rPr lang="ar-SA" altLang="en-US" sz="1600" b="1" dirty="0">
                <a:solidFill>
                  <a:srgbClr val="2F8A3A"/>
                </a:solidFill>
                <a:latin typeface="Tahoma" pitchFamily="34" charset="0"/>
                <a:ea typeface="Tahoma" pitchFamily="34" charset="-122"/>
                <a:cs typeface="Tahoma" pitchFamily="34" charset="-120"/>
              </a:rPr>
              <a:t>✔ لأن اختفاء مخلوق من الشبكة الغذائية يؤثر في بقية المخلوقات.</a:t>
            </a:r>
            <a:endParaRPr lang="ar-SA" sz="1600" dirty="0"/>
          </a:p>
        </p:txBody>
      </p:sp>
      <p:pic>
        <p:nvPicPr>
          <p:cNvPr id="9" name="s27_8" descr="/tmp/claude-0/-home-user/4092b4c5-df81-5a0c-b1b2-79950f0cf3f7/scratchpad/build/img/diver.png">    </p:cNvPr>
          <p:cNvPicPr>
            <a:picLocks noChangeAspect="1"/>
          </p:cNvPicPr>
          <p:nvPr/>
        </p:nvPicPr>
        <p:blipFill>
          <a:blip r:embed="rId5"/>
          <a:stretch>
            <a:fillRect/>
          </a:stretch>
        </p:blipFill>
        <p:spPr>
          <a:xfrm>
            <a:off x="320040" y="3200400"/>
            <a:ext cx="1863762" cy="3017520"/>
          </a:xfrm>
          <a:prstGeom prst="rect">
            <a:avLst/>
          </a:prstGeom>
        </p:spPr>
      </p:pic>
      <p:sp>
        <p:nvSpPr>
          <p:cNvPr id="10" name="s27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27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ar>
                  <p:par>
                    <p:cTn id="8" fill="hold">
                      <p:stCondLst>
                        <p:cond delay="indefinite"/>
                      </p:stCondLst>
                      <p:childTnLst>
                        <p:par>
                          <p:cTn id="15"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childTnLst>
                          </p:cTn>
                        </p:par>
                      </p:childTnLst>
                    </p:cTn>
                  </p:par>
                  <p:par>
                    <p:cTn id="16" fill="hold">
                      <p:stCondLst>
                        <p:cond delay="indefinite"/>
                      </p:stCondLst>
                      <p:childTnLst>
                        <p:par>
                          <p:cTn id="20"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8_1" descr="/tmp/claude-0/-home-user/4092b4c5-df81-5a0c-b1b2-79950f0cf3f7/scratchpad/build/img/t_integr.png">    </p:cNvPr>
          <p:cNvPicPr>
            <a:picLocks noChangeAspect="1"/>
          </p:cNvPicPr>
          <p:nvPr/>
        </p:nvPicPr>
        <p:blipFill>
          <a:blip r:embed="rId2"/>
          <a:stretch>
            <a:fillRect/>
          </a:stretch>
        </p:blipFill>
        <p:spPr>
          <a:xfrm>
            <a:off x="5425135" y="216908"/>
            <a:ext cx="6400800" cy="663464"/>
          </a:xfrm>
          <a:prstGeom prst="rect">
            <a:avLst/>
          </a:prstGeom>
        </p:spPr>
      </p:pic>
      <p:sp>
        <p:nvSpPr>
          <p:cNvPr id="3" name="s28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التكامل بين المواد</a:t>
            </a:r>
            <a:endParaRPr lang="en-US" sz="1600" dirty="0"/>
          </a:p>
        </p:txBody>
      </p:sp>
      <p:sp>
        <p:nvSpPr>
          <p:cNvPr id="4" name="s28_3"/>
          <p:cNvSpPr txBox="1"/>
          <p:nvPr/>
        </p:nvSpPr>
        <p:spPr>
          <a:xfrm>
            <a:off x="6263640" y="1143000"/>
            <a:ext cx="548640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 الرياضيات
</a:t>
            </a:r>
            <a:r>
              <a:rPr lang="ar-SA" altLang="en-US" sz="1550" dirty="0">
                <a:solidFill>
                  <a:srgbClr val="34405E"/>
                </a:solidFill>
                <a:latin typeface="Tahoma" pitchFamily="34" charset="0"/>
                <a:ea typeface="Tahoma" pitchFamily="34" charset="-122"/>
                <a:cs typeface="Tahoma" pitchFamily="34" charset="-120"/>
              </a:rPr>
              <a:t>سلسلة اليابسة: نبات الشوك ← اليرقة ← السرعوف ← السحلية ← البومة. كم حلقة فيها؟ وكم سهمًا؟</a:t>
            </a:r>
            <a:endParaRPr lang="ar-SA" sz="1550" dirty="0"/>
          </a:p>
        </p:txBody>
      </p:sp>
      <p:sp>
        <p:nvSpPr>
          <p:cNvPr id="5" name="s28_4@c1"/>
          <p:cNvSpPr txBox="1"/>
          <p:nvPr/>
        </p:nvSpPr>
        <p:spPr>
          <a:xfrm>
            <a:off x="6263640" y="2834640"/>
            <a:ext cx="548640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٥ حلقات، و٤ أسهم (عدد الأسهم = عدد الحلقات − ١).</a:t>
            </a:r>
            <a:endParaRPr lang="ar-SA" sz="1500" dirty="0"/>
          </a:p>
        </p:txBody>
      </p:sp>
      <p:sp>
        <p:nvSpPr>
          <p:cNvPr id="6" name="s28_5"/>
          <p:cNvSpPr txBox="1"/>
          <p:nvPr/>
        </p:nvSpPr>
        <p:spPr>
          <a:xfrm>
            <a:off x="548640" y="1143000"/>
            <a:ext cx="5532120" cy="1600200"/>
          </a:xfrm>
          <a:prstGeom prst="roundRect">
            <a:avLst>
              <a:gd name="adj" fmla="val 8000"/>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لغتي
</a:t>
            </a:r>
            <a:r>
              <a:rPr lang="ar-SA" altLang="en-US" sz="1550" dirty="0">
                <a:solidFill>
                  <a:srgbClr val="34405E"/>
                </a:solidFill>
                <a:latin typeface="Tahoma" pitchFamily="34" charset="0"/>
                <a:ea typeface="Tahoma" pitchFamily="34" charset="-122"/>
                <a:cs typeface="Tahoma" pitchFamily="34" charset="-120"/>
              </a:rPr>
              <a:t>أكملي الجملة العلمية: «الشبكة الغذائية هي ..........................»</a:t>
            </a:r>
            <a:endParaRPr lang="ar-SA" sz="1550" dirty="0"/>
          </a:p>
        </p:txBody>
      </p:sp>
      <p:sp>
        <p:nvSpPr>
          <p:cNvPr id="7" name="s28_6@c2"/>
          <p:cNvSpPr txBox="1"/>
          <p:nvPr/>
        </p:nvSpPr>
        <p:spPr>
          <a:xfrm>
            <a:off x="548640" y="2834640"/>
            <a:ext cx="553212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سلاسل غذائية متداخلة توضّح ترابط سلاسل الغذاء في النظام البيئي.</a:t>
            </a:r>
            <a:endParaRPr lang="ar-SA" sz="1450" dirty="0"/>
          </a:p>
        </p:txBody>
      </p:sp>
      <p:sp>
        <p:nvSpPr>
          <p:cNvPr id="8" name="s28_7@c3"/>
          <p:cNvSpPr txBox="1"/>
          <p:nvPr/>
        </p:nvSpPr>
        <p:spPr>
          <a:xfrm>
            <a:off x="3017520" y="3657600"/>
            <a:ext cx="8732520" cy="1463040"/>
          </a:xfrm>
          <a:prstGeom prst="roundRect">
            <a:avLst>
              <a:gd name="adj" fmla="val 8750"/>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0E6F86"/>
                </a:solidFill>
                <a:latin typeface="Tahoma" pitchFamily="34" charset="0"/>
                <a:ea typeface="Tahoma" pitchFamily="34" charset="-122"/>
                <a:cs typeface="Tahoma" pitchFamily="34" charset="-120"/>
              </a:rPr>
              <a:t>👩‍🔬 مهنتي في المستقبل: عالمة الأحياء البحرية
</a:t>
            </a:r>
            <a:r>
              <a:rPr lang="ar-SA" altLang="en-US" sz="1550" dirty="0">
                <a:solidFill>
                  <a:srgbClr val="34405E"/>
                </a:solidFill>
                <a:latin typeface="Tahoma" pitchFamily="34" charset="0"/>
                <a:ea typeface="Tahoma" pitchFamily="34" charset="-122"/>
                <a:cs typeface="Tahoma" pitchFamily="34" charset="-120"/>
              </a:rPr>
              <a:t>تغوص لتدرس المخلوقات البحرية والعلاقات الغذائية بينها، وتساعد على حماية الشعاب المرجانية والأسماك في بحار وطني.</a:t>
            </a:r>
            <a:endParaRPr lang="ar-SA" sz="1550" dirty="0"/>
          </a:p>
        </p:txBody>
      </p:sp>
      <p:pic>
        <p:nvPicPr>
          <p:cNvPr id="9" name="s28_8@c3" descr="/tmp/claude-0/-home-user/4092b4c5-df81-5a0c-b1b2-79950f0cf3f7/scratchpad/build/img/diver.png">    </p:cNvPr>
          <p:cNvPicPr>
            <a:picLocks noChangeAspect="1"/>
          </p:cNvPicPr>
          <p:nvPr/>
        </p:nvPicPr>
        <p:blipFill>
          <a:blip r:embed="rId3"/>
          <a:stretch>
            <a:fillRect/>
          </a:stretch>
        </p:blipFill>
        <p:spPr>
          <a:xfrm>
            <a:off x="822960" y="3611880"/>
            <a:ext cx="1637852" cy="2651760"/>
          </a:xfrm>
          <a:prstGeom prst="rect">
            <a:avLst/>
          </a:prstGeom>
        </p:spPr>
      </p:pic>
      <p:sp>
        <p:nvSpPr>
          <p:cNvPr id="10" name="s28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28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13" fill="hold">
                      <p:stCondLst>
                        <p:cond delay="indefinite"/>
                      </p:stCondLst>
                      <p:childTnLst>
                        <p:par>
                          <p:cTn id="2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9_1" descr="/tmp/claude-0/-home-user/4092b4c5-df81-5a0c-b1b2-79950f0cf3f7/scratchpad/build/img/t_final.png">    </p:cNvPr>
          <p:cNvPicPr>
            <a:picLocks noChangeAspect="1"/>
          </p:cNvPicPr>
          <p:nvPr/>
        </p:nvPicPr>
        <p:blipFill>
          <a:blip r:embed="rId2"/>
          <a:stretch>
            <a:fillRect/>
          </a:stretch>
        </p:blipFill>
        <p:spPr>
          <a:xfrm>
            <a:off x="8246284" y="182880"/>
            <a:ext cx="3579651" cy="731520"/>
          </a:xfrm>
          <a:prstGeom prst="rect">
            <a:avLst/>
          </a:prstGeom>
        </p:spPr>
      </p:pic>
      <p:sp>
        <p:nvSpPr>
          <p:cNvPr id="3" name="s29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التقويم الختامي</a:t>
            </a:r>
            <a:endParaRPr lang="en-US" sz="1600" dirty="0"/>
          </a:p>
        </p:txBody>
      </p:sp>
      <p:sp>
        <p:nvSpPr>
          <p:cNvPr id="4" name="s29_3"/>
          <p:cNvSpPr txBox="1"/>
          <p:nvPr/>
        </p:nvSpPr>
        <p:spPr>
          <a:xfrm>
            <a:off x="10104120" y="1234440"/>
            <a:ext cx="1645920" cy="822960"/>
          </a:xfrm>
          <a:prstGeom prst="roundRect">
            <a:avLst>
              <a:gd name="adj" fmla="val 15556"/>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فهم</a:t>
            </a:r>
            <a:endParaRPr lang="ar-SA" sz="1600" dirty="0"/>
          </a:p>
        </p:txBody>
      </p:sp>
      <p:sp>
        <p:nvSpPr>
          <p:cNvPr id="5" name="s29_4"/>
          <p:cNvSpPr txBox="1"/>
          <p:nvPr/>
        </p:nvSpPr>
        <p:spPr>
          <a:xfrm>
            <a:off x="5074920" y="1097280"/>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ما مصدر الطاقة في السلسلة الغذائية؟</a:t>
            </a:r>
            <a:endParaRPr lang="ar-SA" sz="1600" dirty="0"/>
          </a:p>
        </p:txBody>
      </p:sp>
      <p:sp>
        <p:nvSpPr>
          <p:cNvPr id="6" name="s29_5@c1"/>
          <p:cNvSpPr txBox="1"/>
          <p:nvPr/>
        </p:nvSpPr>
        <p:spPr>
          <a:xfrm>
            <a:off x="548640" y="1097280"/>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الشمس.</a:t>
            </a:r>
            <a:endParaRPr lang="ar-SA" sz="1500" dirty="0"/>
          </a:p>
        </p:txBody>
      </p:sp>
      <p:sp>
        <p:nvSpPr>
          <p:cNvPr id="7" name="s29_6"/>
          <p:cNvSpPr txBox="1"/>
          <p:nvPr/>
        </p:nvSpPr>
        <p:spPr>
          <a:xfrm>
            <a:off x="10104120" y="2496312"/>
            <a:ext cx="1645920" cy="822960"/>
          </a:xfrm>
          <a:prstGeom prst="roundRect">
            <a:avLst>
              <a:gd name="adj" fmla="val 15556"/>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تطبيق</a:t>
            </a:r>
            <a:endParaRPr lang="ar-SA" sz="1600" dirty="0"/>
          </a:p>
        </p:txBody>
      </p:sp>
      <p:sp>
        <p:nvSpPr>
          <p:cNvPr id="8" name="s29_7"/>
          <p:cNvSpPr txBox="1"/>
          <p:nvPr/>
        </p:nvSpPr>
        <p:spPr>
          <a:xfrm>
            <a:off x="5074920" y="2359152"/>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رتّبي: سمكة الشمس، طحالب، مالك الحزين، ذبابة مائية.</a:t>
            </a:r>
            <a:endParaRPr lang="ar-SA" sz="1600" dirty="0"/>
          </a:p>
        </p:txBody>
      </p:sp>
      <p:sp>
        <p:nvSpPr>
          <p:cNvPr id="9" name="s29_8@c2"/>
          <p:cNvSpPr txBox="1"/>
          <p:nvPr/>
        </p:nvSpPr>
        <p:spPr>
          <a:xfrm>
            <a:off x="548640" y="2359152"/>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10" name="s29_9"/>
          <p:cNvSpPr txBox="1"/>
          <p:nvPr/>
        </p:nvSpPr>
        <p:spPr>
          <a:xfrm>
            <a:off x="10104120" y="3758184"/>
            <a:ext cx="1645920" cy="822960"/>
          </a:xfrm>
          <a:prstGeom prst="roundRect">
            <a:avLst>
              <a:gd name="adj" fmla="val 15556"/>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تحليل</a:t>
            </a:r>
            <a:endParaRPr lang="ar-SA" sz="1600" dirty="0"/>
          </a:p>
        </p:txBody>
      </p:sp>
      <p:sp>
        <p:nvSpPr>
          <p:cNvPr id="11" name="s29_10"/>
          <p:cNvSpPr txBox="1"/>
          <p:nvPr/>
        </p:nvSpPr>
        <p:spPr>
          <a:xfrm>
            <a:off x="5074920" y="3621024"/>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من شبكة المحيط: اذكري مخلوقًا مفترسًا وفريسةً في الوقت نفسه.</a:t>
            </a:r>
            <a:endParaRPr lang="ar-SA" sz="1600" dirty="0"/>
          </a:p>
        </p:txBody>
      </p:sp>
      <p:sp>
        <p:nvSpPr>
          <p:cNvPr id="12" name="s29_11@c3"/>
          <p:cNvSpPr txBox="1"/>
          <p:nvPr/>
        </p:nvSpPr>
        <p:spPr>
          <a:xfrm>
            <a:off x="548640" y="3621024"/>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سمكة السردين (أو التونة، أو الدلفين، أو طائر النورس).</a:t>
            </a:r>
            <a:endParaRPr lang="ar-SA" sz="1500" dirty="0"/>
          </a:p>
        </p:txBody>
      </p:sp>
      <p:sp>
        <p:nvSpPr>
          <p:cNvPr id="13" name="s29_12"/>
          <p:cNvSpPr txBox="1"/>
          <p:nvPr/>
        </p:nvSpPr>
        <p:spPr>
          <a:xfrm>
            <a:off x="10104120" y="5020056"/>
            <a:ext cx="1645920" cy="822960"/>
          </a:xfrm>
          <a:prstGeom prst="roundRect">
            <a:avLst>
              <a:gd name="adj" fmla="val 15556"/>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تصحيح مفهوم</a:t>
            </a:r>
            <a:endParaRPr lang="ar-SA" sz="1600" dirty="0"/>
          </a:p>
        </p:txBody>
      </p:sp>
      <p:sp>
        <p:nvSpPr>
          <p:cNvPr id="14" name="s29_13"/>
          <p:cNvSpPr txBox="1"/>
          <p:nvPr/>
        </p:nvSpPr>
        <p:spPr>
          <a:xfrm>
            <a:off x="5074920" y="4882896"/>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صحّحي: «الشبكة الغذائية سلسلة غذائية واحدة طويلة».</a:t>
            </a:r>
            <a:endParaRPr lang="ar-SA" sz="1600" dirty="0"/>
          </a:p>
        </p:txBody>
      </p:sp>
      <p:sp>
        <p:nvSpPr>
          <p:cNvPr id="15" name="s29_14@c4"/>
          <p:cNvSpPr txBox="1"/>
          <p:nvPr/>
        </p:nvSpPr>
        <p:spPr>
          <a:xfrm>
            <a:off x="548640" y="4882896"/>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الشبكة الغذائية سلاسل غذائية متداخلة.</a:t>
            </a:r>
            <a:endParaRPr lang="ar-SA" sz="1500" dirty="0"/>
          </a:p>
        </p:txBody>
      </p:sp>
      <p:sp>
        <p:nvSpPr>
          <p:cNvPr id="16" name="s29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29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8" fill="hold">
                      <p:stCondLst>
                        <p:cond delay="indefinite"/>
                      </p:stCondLst>
                      <p:childTnLst>
                        <p:par>
                          <p:cTn id="22"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P spid="1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0_1" descr="/tmp/claude-0/-home-user/4092b4c5-df81-5a0c-b1b2-79950f0cf3f7/scratchpad/build/img/t_cmap.png">    </p:cNvPr>
          <p:cNvPicPr>
            <a:picLocks noChangeAspect="1"/>
          </p:cNvPicPr>
          <p:nvPr/>
        </p:nvPicPr>
        <p:blipFill>
          <a:blip r:embed="rId2"/>
          <a:stretch>
            <a:fillRect/>
          </a:stretch>
        </p:blipFill>
        <p:spPr>
          <a:xfrm>
            <a:off x="6417484" y="182880"/>
            <a:ext cx="5408451" cy="731520"/>
          </a:xfrm>
          <a:prstGeom prst="rect">
            <a:avLst/>
          </a:prstGeom>
        </p:spPr>
      </p:pic>
      <p:sp>
        <p:nvSpPr>
          <p:cNvPr id="3" name="s30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الخرائط المفاهيمية</a:t>
            </a:r>
            <a:endParaRPr lang="en-US" sz="1600" dirty="0"/>
          </a:p>
        </p:txBody>
      </p:sp>
      <p:sp>
        <p:nvSpPr>
          <p:cNvPr id="4" name="s30_3"/>
          <p:cNvSpPr txBox="1"/>
          <p:nvPr/>
        </p:nvSpPr>
        <p:spPr>
          <a:xfrm>
            <a:off x="3794760" y="1097280"/>
            <a:ext cx="4572000" cy="566928"/>
          </a:xfrm>
          <a:prstGeom prst="roundRect">
            <a:avLst>
              <a:gd name="adj" fmla="val 22581"/>
            </a:avLst>
          </a:prstGeom>
          <a:solidFill>
            <a:srgbClr val="FFF1B8"/>
          </a:solidFill>
          <a:ln w="25400">
            <a:solidFill>
              <a:srgbClr val="34405E"/>
            </a:solidFill>
            <a:prstDash val="solid"/>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انتقال الطاقة في النظام البيئي</a:t>
            </a:r>
            <a:endParaRPr lang="ar-SA" sz="1550" dirty="0"/>
          </a:p>
        </p:txBody>
      </p:sp>
      <p:sp>
        <p:nvSpPr>
          <p:cNvPr id="5" name="s30_4"/>
          <p:cNvSpPr txBox="1"/>
          <p:nvPr/>
        </p:nvSpPr>
        <p:spPr>
          <a:xfrm>
            <a:off x="8595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يبدأ من ↓</a:t>
            </a:r>
            <a:endParaRPr lang="ar-SA" sz="1350" dirty="0"/>
          </a:p>
        </p:txBody>
      </p:sp>
      <p:sp>
        <p:nvSpPr>
          <p:cNvPr id="6" name="s30_5"/>
          <p:cNvSpPr txBox="1"/>
          <p:nvPr/>
        </p:nvSpPr>
        <p:spPr>
          <a:xfrm>
            <a:off x="8595360" y="2194560"/>
            <a:ext cx="29260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7" name="s30_6@c1"/>
          <p:cNvSpPr txBox="1"/>
          <p:nvPr/>
        </p:nvSpPr>
        <p:spPr>
          <a:xfrm>
            <a:off x="8595360" y="2194560"/>
            <a:ext cx="2926080" cy="566928"/>
          </a:xfrm>
          <a:prstGeom prst="roundRect">
            <a:avLst>
              <a:gd name="adj" fmla="val 22581"/>
            </a:avLst>
          </a:prstGeom>
          <a:solidFill>
            <a:srgbClr val="FFE08A"/>
          </a:solidFill>
          <a:ln w="25400">
            <a:solidFill>
              <a:srgbClr val="34405E"/>
            </a:solidFill>
            <a:prstDash val="solid"/>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الشمس</a:t>
            </a:r>
            <a:endParaRPr lang="ar-SA" sz="1550" dirty="0"/>
          </a:p>
        </p:txBody>
      </p:sp>
      <p:sp>
        <p:nvSpPr>
          <p:cNvPr id="8" name="s30_7"/>
          <p:cNvSpPr txBox="1"/>
          <p:nvPr/>
        </p:nvSpPr>
        <p:spPr>
          <a:xfrm>
            <a:off x="5166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يُمثَّل بـ ↓</a:t>
            </a:r>
            <a:endParaRPr lang="ar-SA" sz="1350" dirty="0"/>
          </a:p>
        </p:txBody>
      </p:sp>
      <p:sp>
        <p:nvSpPr>
          <p:cNvPr id="9" name="s30_8"/>
          <p:cNvSpPr txBox="1"/>
          <p:nvPr/>
        </p:nvSpPr>
        <p:spPr>
          <a:xfrm>
            <a:off x="617220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0" name="s30_9@c2"/>
          <p:cNvSpPr txBox="1"/>
          <p:nvPr/>
        </p:nvSpPr>
        <p:spPr>
          <a:xfrm>
            <a:off x="6172200" y="2194560"/>
            <a:ext cx="2194560" cy="566928"/>
          </a:xfrm>
          <a:prstGeom prst="roundRect">
            <a:avLst>
              <a:gd name="adj" fmla="val 22581"/>
            </a:avLst>
          </a:prstGeom>
          <a:solidFill>
            <a:srgbClr val="DDF5C8"/>
          </a:solidFill>
          <a:ln w="25400">
            <a:solidFill>
              <a:srgbClr val="34405E"/>
            </a:solidFill>
            <a:prstDash val="solid"/>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السلسلة الغذائية</a:t>
            </a:r>
            <a:endParaRPr lang="ar-SA" sz="1550" dirty="0"/>
          </a:p>
        </p:txBody>
      </p:sp>
      <p:sp>
        <p:nvSpPr>
          <p:cNvPr id="11" name="s30_10"/>
          <p:cNvSpPr txBox="1"/>
          <p:nvPr/>
        </p:nvSpPr>
        <p:spPr>
          <a:xfrm>
            <a:off x="379476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2" name="s30_11@c3"/>
          <p:cNvSpPr txBox="1"/>
          <p:nvPr/>
        </p:nvSpPr>
        <p:spPr>
          <a:xfrm>
            <a:off x="3794760" y="2194560"/>
            <a:ext cx="2194560" cy="566928"/>
          </a:xfrm>
          <a:prstGeom prst="roundRect">
            <a:avLst>
              <a:gd name="adj" fmla="val 22581"/>
            </a:avLst>
          </a:prstGeom>
          <a:solidFill>
            <a:srgbClr val="DDF1FC"/>
          </a:solidFill>
          <a:ln w="25400">
            <a:solidFill>
              <a:srgbClr val="34405E"/>
            </a:solidFill>
            <a:prstDash val="solid"/>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الشبكة الغذائية</a:t>
            </a:r>
            <a:endParaRPr lang="ar-SA" sz="1550" dirty="0"/>
          </a:p>
        </p:txBody>
      </p:sp>
      <p:sp>
        <p:nvSpPr>
          <p:cNvPr id="13" name="s30_12@c2"/>
          <p:cNvSpPr txBox="1"/>
          <p:nvPr/>
        </p:nvSpPr>
        <p:spPr>
          <a:xfrm>
            <a:off x="617220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مسار واحد</a:t>
            </a:r>
            <a:endParaRPr lang="ar-SA" sz="1350" dirty="0"/>
          </a:p>
        </p:txBody>
      </p:sp>
      <p:sp>
        <p:nvSpPr>
          <p:cNvPr id="14" name="s30_13@c3"/>
          <p:cNvSpPr txBox="1"/>
          <p:nvPr/>
        </p:nvSpPr>
        <p:spPr>
          <a:xfrm>
            <a:off x="379476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سلاسل متداخلة</a:t>
            </a:r>
            <a:endParaRPr lang="ar-SA" sz="1350" dirty="0"/>
          </a:p>
        </p:txBody>
      </p:sp>
      <p:sp>
        <p:nvSpPr>
          <p:cNvPr id="15" name="s30_14"/>
          <p:cNvSpPr txBox="1"/>
          <p:nvPr/>
        </p:nvSpPr>
        <p:spPr>
          <a:xfrm>
            <a:off x="685800" y="1783080"/>
            <a:ext cx="27432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العلاقات فيها ↓</a:t>
            </a:r>
            <a:endParaRPr lang="ar-SA" sz="1350" dirty="0"/>
          </a:p>
        </p:txBody>
      </p:sp>
      <p:sp>
        <p:nvSpPr>
          <p:cNvPr id="16" name="s30_15"/>
          <p:cNvSpPr txBox="1"/>
          <p:nvPr/>
        </p:nvSpPr>
        <p:spPr>
          <a:xfrm>
            <a:off x="210312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7" name="s30_16@c4"/>
          <p:cNvSpPr txBox="1"/>
          <p:nvPr/>
        </p:nvSpPr>
        <p:spPr>
          <a:xfrm>
            <a:off x="2103120" y="2194560"/>
            <a:ext cx="1463040" cy="566928"/>
          </a:xfrm>
          <a:prstGeom prst="roundRect">
            <a:avLst>
              <a:gd name="adj" fmla="val 22581"/>
            </a:avLst>
          </a:prstGeom>
          <a:solidFill>
            <a:srgbClr val="FFD9C2"/>
          </a:solidFill>
          <a:ln w="25400">
            <a:solidFill>
              <a:srgbClr val="34405E"/>
            </a:solidFill>
            <a:prstDash val="solid"/>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المفترس</a:t>
            </a:r>
            <a:endParaRPr lang="ar-SA" sz="1550" dirty="0"/>
          </a:p>
        </p:txBody>
      </p:sp>
      <p:sp>
        <p:nvSpPr>
          <p:cNvPr id="18" name="s30_17"/>
          <p:cNvSpPr txBox="1"/>
          <p:nvPr/>
        </p:nvSpPr>
        <p:spPr>
          <a:xfrm>
            <a:off x="54864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9" name="s30_18@c4"/>
          <p:cNvSpPr txBox="1"/>
          <p:nvPr/>
        </p:nvSpPr>
        <p:spPr>
          <a:xfrm>
            <a:off x="548640" y="2194560"/>
            <a:ext cx="1463040" cy="566928"/>
          </a:xfrm>
          <a:prstGeom prst="roundRect">
            <a:avLst>
              <a:gd name="adj" fmla="val 22581"/>
            </a:avLst>
          </a:prstGeom>
          <a:solidFill>
            <a:srgbClr val="CFE8FF"/>
          </a:solidFill>
          <a:ln w="25400">
            <a:solidFill>
              <a:srgbClr val="34405E"/>
            </a:solidFill>
            <a:prstDash val="solid"/>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الفريسة</a:t>
            </a:r>
            <a:endParaRPr lang="ar-SA" sz="1550" dirty="0"/>
          </a:p>
        </p:txBody>
      </p:sp>
      <p:sp>
        <p:nvSpPr>
          <p:cNvPr id="20" name="s30_19"/>
          <p:cNvSpPr txBox="1"/>
          <p:nvPr/>
        </p:nvSpPr>
        <p:spPr>
          <a:xfrm>
            <a:off x="3794760" y="3429000"/>
            <a:ext cx="4572000" cy="411480"/>
          </a:xfrm>
          <a:prstGeom prst="rect">
            <a:avLst/>
          </a:prstGeom>
          <a:noFill/>
          <a:ln/>
        </p:spPr>
        <p:txBody>
          <a:bodyPr wrap="square" lIns="63500" tIns="63500" rIns="63500" bIns="635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أمثلة من رحلتنا:</a:t>
            </a:r>
            <a:endParaRPr lang="ar-SA" sz="1500" dirty="0"/>
          </a:p>
        </p:txBody>
      </p:sp>
      <p:sp>
        <p:nvSpPr>
          <p:cNvPr id="21" name="s30_20"/>
          <p:cNvSpPr txBox="1"/>
          <p:nvPr/>
        </p:nvSpPr>
        <p:spPr>
          <a:xfrm>
            <a:off x="9555480" y="3931920"/>
            <a:ext cx="219456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اليابسة</a:t>
            </a:r>
            <a:endParaRPr lang="ar-SA" sz="1500" dirty="0"/>
          </a:p>
        </p:txBody>
      </p:sp>
      <p:sp>
        <p:nvSpPr>
          <p:cNvPr id="22" name="s30_21"/>
          <p:cNvSpPr txBox="1"/>
          <p:nvPr/>
        </p:nvSpPr>
        <p:spPr>
          <a:xfrm>
            <a:off x="548640" y="3931920"/>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3" name="s30_22@c5"/>
          <p:cNvSpPr txBox="1"/>
          <p:nvPr/>
        </p:nvSpPr>
        <p:spPr>
          <a:xfrm>
            <a:off x="548640" y="3931920"/>
            <a:ext cx="886968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500" dirty="0"/>
          </a:p>
        </p:txBody>
      </p:sp>
      <p:sp>
        <p:nvSpPr>
          <p:cNvPr id="24" name="s30_23"/>
          <p:cNvSpPr txBox="1"/>
          <p:nvPr/>
        </p:nvSpPr>
        <p:spPr>
          <a:xfrm>
            <a:off x="9555480" y="4645152"/>
            <a:ext cx="219456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البركة</a:t>
            </a:r>
            <a:endParaRPr lang="ar-SA" sz="1500" dirty="0"/>
          </a:p>
        </p:txBody>
      </p:sp>
      <p:sp>
        <p:nvSpPr>
          <p:cNvPr id="25" name="s30_24"/>
          <p:cNvSpPr txBox="1"/>
          <p:nvPr/>
        </p:nvSpPr>
        <p:spPr>
          <a:xfrm>
            <a:off x="548640" y="4645152"/>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6" name="s30_25@c6"/>
          <p:cNvSpPr txBox="1"/>
          <p:nvPr/>
        </p:nvSpPr>
        <p:spPr>
          <a:xfrm>
            <a:off x="548640" y="4645152"/>
            <a:ext cx="886968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27" name="s30_26"/>
          <p:cNvSpPr txBox="1"/>
          <p:nvPr/>
        </p:nvSpPr>
        <p:spPr>
          <a:xfrm>
            <a:off x="9555480" y="5358384"/>
            <a:ext cx="219456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المحيط</a:t>
            </a:r>
            <a:endParaRPr lang="ar-SA" sz="1500" dirty="0"/>
          </a:p>
        </p:txBody>
      </p:sp>
      <p:sp>
        <p:nvSpPr>
          <p:cNvPr id="28" name="s30_27"/>
          <p:cNvSpPr txBox="1"/>
          <p:nvPr/>
        </p:nvSpPr>
        <p:spPr>
          <a:xfrm>
            <a:off x="548640" y="5358384"/>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9" name="s30_28@c7"/>
          <p:cNvSpPr txBox="1"/>
          <p:nvPr/>
        </p:nvSpPr>
        <p:spPr>
          <a:xfrm>
            <a:off x="548640" y="5358384"/>
            <a:ext cx="886968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شبكة: العوالق، السردين، التونة، الدلفين، النورس، الحوت القاتل</a:t>
            </a:r>
            <a:endParaRPr lang="ar-SA" sz="1500" dirty="0"/>
          </a:p>
        </p:txBody>
      </p:sp>
      <p:sp>
        <p:nvSpPr>
          <p:cNvPr id="30" name="s30_2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31" name="s30_3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15"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500"/>
                                        <p:tgtEl>
                                          <p:spTgt spid="13"/>
                                        </p:tgtEl>
                                      </p:cBhvr>
                                    </p:animEffect>
                                  </p:childTnLst>
                                </p:cTn>
                              </p:par>
                            </p:childTnLst>
                          </p:cTn>
                        </p:par>
                      </p:childTnLst>
                    </p:cTn>
                  </p:par>
                  <p:par>
                    <p:cTn id="16" fill="hold">
                      <p:stCondLst>
                        <p:cond delay="indefinite"/>
                      </p:stCondLst>
                      <p:childTnLst>
                        <p:par>
                          <p:cTn id="23"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par>
                    <p:cTn id="24" fill="hold">
                      <p:stCondLst>
                        <p:cond delay="indefinite"/>
                      </p:stCondLst>
                      <p:childTnLst>
                        <p:par>
                          <p:cTn id="31"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500"/>
                                        <p:tgtEl>
                                          <p:spTgt spid="19"/>
                                        </p:tgtEl>
                                      </p:cBhvr>
                                    </p:animEffect>
                                  </p:childTnLst>
                                </p:cTn>
                              </p:par>
                            </p:childTnLst>
                          </p:cTn>
                        </p:par>
                      </p:childTnLst>
                    </p:cTn>
                  </p:par>
                  <p:par>
                    <p:cTn id="32" fill="hold">
                      <p:stCondLst>
                        <p:cond delay="indefinite"/>
                      </p:stCondLst>
                      <p:childTnLst>
                        <p:par>
                          <p:cTn id="36"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500"/>
                                        <p:tgtEl>
                                          <p:spTgt spid="23"/>
                                        </p:tgtEl>
                                      </p:cBhvr>
                                    </p:animEffect>
                                  </p:childTnLst>
                                </p:cTn>
                              </p:par>
                            </p:childTnLst>
                          </p:cTn>
                        </p:par>
                      </p:childTnLst>
                    </p:cTn>
                  </p:par>
                  <p:par>
                    <p:cTn id="37" fill="hold">
                      <p:stCondLst>
                        <p:cond delay="indefinite"/>
                      </p:stCondLst>
                      <p:childTnLst>
                        <p:par>
                          <p:cTn id="41"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500"/>
                                        <p:tgtEl>
                                          <p:spTgt spid="26"/>
                                        </p:tgtEl>
                                      </p:cBhvr>
                                    </p:animEffect>
                                  </p:childTnLst>
                                </p:cTn>
                              </p:par>
                            </p:childTnLst>
                          </p:cTn>
                        </p:par>
                      </p:childTnLst>
                    </p:cTn>
                  </p:par>
                  <p:par>
                    <p:cTn id="42" fill="hold">
                      <p:stCondLst>
                        <p:cond delay="indefinite"/>
                      </p:stCondLst>
                      <p:childTnLst>
                        <p:par>
                          <p:cTn id="46"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3" grpId="0" animBg="1"/>
      <p:bldP spid="12" grpId="0" animBg="1"/>
      <p:bldP spid="14" grpId="0" animBg="1"/>
      <p:bldP spid="17" grpId="0" animBg="1"/>
      <p:bldP spid="19" grpId="0" animBg="1"/>
      <p:bldP spid="23" grpId="0" animBg="1"/>
      <p:bldP spid="26" grpId="0" animBg="1"/>
      <p:bldP spid="2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1_1" descr="/tmp/claude-0/-home-user/4092b4c5-df81-5a0c-b1b2-79950f0cf3f7/scratchpad/build/img/t_impact.png">    </p:cNvPr>
          <p:cNvPicPr>
            <a:picLocks noChangeAspect="1"/>
          </p:cNvPicPr>
          <p:nvPr/>
        </p:nvPicPr>
        <p:blipFill>
          <a:blip r:embed="rId2"/>
          <a:stretch>
            <a:fillRect/>
          </a:stretch>
        </p:blipFill>
        <p:spPr>
          <a:xfrm>
            <a:off x="7958473" y="182880"/>
            <a:ext cx="3867462" cy="731520"/>
          </a:xfrm>
          <a:prstGeom prst="rect">
            <a:avLst/>
          </a:prstGeom>
        </p:spPr>
      </p:pic>
      <p:sp>
        <p:nvSpPr>
          <p:cNvPr id="3" name="s31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قبلي – بعدي: أعرف الآن</a:t>
            </a:r>
            <a:endParaRPr lang="en-US" sz="1600" dirty="0"/>
          </a:p>
        </p:txBody>
      </p:sp>
      <p:sp>
        <p:nvSpPr>
          <p:cNvPr id="4" name="s31_3"/>
          <p:cNvSpPr txBox="1"/>
          <p:nvPr/>
        </p:nvSpPr>
        <p:spPr>
          <a:xfrm>
            <a:off x="2926080" y="1097280"/>
            <a:ext cx="88239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تذكّرن لغز الرحلة: </a:t>
            </a:r>
            <a:r>
              <a:rPr lang="ar-SA" altLang="en-US" sz="1700" b="1" dirty="0">
                <a:solidFill>
                  <a:srgbClr val="34405E"/>
                </a:solidFill>
                <a:latin typeface="Tahoma" pitchFamily="34" charset="0"/>
                <a:ea typeface="Tahoma" pitchFamily="34" charset="-122"/>
                <a:cs typeface="Tahoma" pitchFamily="34" charset="-120"/>
              </a:rPr>
              <a:t>أيّ المخلوقات يصل إليه أقلّ قدر من طاقة الشمس؟  (أ) نبات الشوك  (ب) اليرقة  (ج) البومة</a:t>
            </a:r>
            <a:endParaRPr lang="ar-SA" sz="1700" dirty="0"/>
          </a:p>
        </p:txBody>
      </p:sp>
      <p:sp>
        <p:nvSpPr>
          <p:cNvPr id="5" name="s31_4@c1"/>
          <p:cNvSpPr txBox="1"/>
          <p:nvPr/>
        </p:nvSpPr>
        <p:spPr>
          <a:xfrm>
            <a:off x="2926080" y="2194560"/>
            <a:ext cx="8823960" cy="1417320"/>
          </a:xfrm>
          <a:prstGeom prst="roundRect">
            <a:avLst>
              <a:gd name="adj" fmla="val 9032"/>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900" b="1" dirty="0">
                <a:solidFill>
                  <a:srgbClr val="2F8A3A"/>
                </a:solidFill>
                <a:latin typeface="Tahoma" pitchFamily="34" charset="0"/>
                <a:ea typeface="Tahoma" pitchFamily="34" charset="-122"/>
                <a:cs typeface="Tahoma" pitchFamily="34" charset="-120"/>
              </a:rPr>
              <a:t>✔ (ج) البومة 🦉
</a:t>
            </a:r>
            <a:r>
              <a:rPr lang="ar-SA" altLang="en-US" sz="1550" dirty="0">
                <a:solidFill>
                  <a:srgbClr val="34405E"/>
                </a:solidFill>
                <a:latin typeface="Tahoma" pitchFamily="34" charset="0"/>
                <a:ea typeface="Tahoma" pitchFamily="34" charset="-122"/>
                <a:cs typeface="Tahoma" pitchFamily="34" charset="-120"/>
              </a:rPr>
              <a:t>لأنها في آخر السلسلة؛ وكل مخلوق يستخدم معظم الطاقة التي يحصل عليها، فلا ينتقل إلى المخلوق التالي إلا جزء صغير: الشمس ← نبات الشوك ← اليرقة ← السرعوف ← السحلية ← البومة.</a:t>
            </a:r>
            <a:endParaRPr lang="ar-SA" sz="1550" dirty="0"/>
          </a:p>
        </p:txBody>
      </p:sp>
      <p:sp>
        <p:nvSpPr>
          <p:cNvPr id="6" name="s31_5@c2"/>
          <p:cNvSpPr txBox="1"/>
          <p:nvPr/>
        </p:nvSpPr>
        <p:spPr>
          <a:xfrm>
            <a:off x="2926080" y="3794760"/>
            <a:ext cx="8823960" cy="914400"/>
          </a:xfrm>
          <a:prstGeom prst="roundRect">
            <a:avLst>
              <a:gd name="adj" fmla="val 1400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6B4FC0"/>
                </a:solidFill>
                <a:latin typeface="Tahoma" pitchFamily="34" charset="0"/>
                <a:ea typeface="Tahoma" pitchFamily="34" charset="-122"/>
                <a:cs typeface="Tahoma" pitchFamily="34" charset="-120"/>
              </a:rPr>
              <a:t>✍️ بطاقة «أعرف الآن»: </a:t>
            </a:r>
            <a:r>
              <a:rPr lang="ar-SA" altLang="en-US" sz="1600" dirty="0">
                <a:solidFill>
                  <a:srgbClr val="34405E"/>
                </a:solidFill>
                <a:latin typeface="Tahoma" pitchFamily="34" charset="0"/>
                <a:ea typeface="Tahoma" pitchFamily="34" charset="-122"/>
                <a:cs typeface="Tahoma" pitchFamily="34" charset="-120"/>
              </a:rPr>
              <a:t>قبل الرحلة كنت أظن أن .................... ، والآن أعرف أن .................... .</a:t>
            </a:r>
            <a:endParaRPr lang="ar-SA" sz="1600" dirty="0"/>
          </a:p>
        </p:txBody>
      </p:sp>
      <p:sp>
        <p:nvSpPr>
          <p:cNvPr id="7" name="s31_6@c3"/>
          <p:cNvSpPr txBox="1"/>
          <p:nvPr/>
        </p:nvSpPr>
        <p:spPr>
          <a:xfrm>
            <a:off x="2926080" y="4892040"/>
            <a:ext cx="882396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قيّمي فهمك: </a:t>
            </a:r>
            <a:r>
              <a:rPr lang="ar-SA" altLang="en-US" sz="1600" dirty="0">
                <a:solidFill>
                  <a:srgbClr val="34405E"/>
                </a:solidFill>
                <a:latin typeface="Tahoma" pitchFamily="34" charset="0"/>
                <a:ea typeface="Tahoma" pitchFamily="34" charset="-122"/>
                <a:cs typeface="Tahoma" pitchFamily="34" charset="-120"/>
              </a:rPr>
              <a:t>⭐⭐⭐ فهمت تمامًا  •  ⭐⭐ فهمت  •  ⭐ أحتاج مساعدة</a:t>
            </a:r>
            <a:endParaRPr lang="ar-SA" sz="1600" dirty="0"/>
          </a:p>
        </p:txBody>
      </p:sp>
      <p:pic>
        <p:nvPicPr>
          <p:cNvPr id="8" name="s31_7" descr="/tmp/claude-0/-home-user/4092b4c5-df81-5a0c-b1b2-79950f0cf3f7/scratchpad/build/img/explorer_point.png">    </p:cNvPr>
          <p:cNvPicPr>
            <a:picLocks noChangeAspect="1"/>
          </p:cNvPicPr>
          <p:nvPr/>
        </p:nvPicPr>
        <p:blipFill>
          <a:blip r:embed="rId3"/>
          <a:stretch>
            <a:fillRect/>
          </a:stretch>
        </p:blipFill>
        <p:spPr>
          <a:xfrm>
            <a:off x="320040" y="1463040"/>
            <a:ext cx="2767405" cy="4480560"/>
          </a:xfrm>
          <a:prstGeom prst="rect">
            <a:avLst/>
          </a:prstGeom>
        </p:spPr>
      </p:pic>
      <p:sp>
        <p:nvSpPr>
          <p:cNvPr id="9" name="s31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31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7"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ar>
                  <p:par>
                    <p:cTn id="8" fill="hold">
                      <p:stCondLst>
                        <p:cond delay="indefinite"/>
                      </p:stCondLst>
                      <p:childTnLst>
                        <p:par>
                          <p:cTn id="12"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13" fill="hold">
                      <p:stCondLst>
                        <p:cond delay="indefinite"/>
                      </p:stCondLst>
                      <p:childTnLst>
                        <p:par>
                          <p:cTn id="1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2_1" descr="/tmp/claude-0/-home-user/4092b4c5-df81-5a0c-b1b2-79950f0cf3f7/scratchpad/build/img/t_end.png">    </p:cNvPr>
          <p:cNvPicPr>
            <a:picLocks noChangeAspect="1"/>
          </p:cNvPicPr>
          <p:nvPr/>
        </p:nvPicPr>
        <p:blipFill>
          <a:blip r:embed="rId2"/>
          <a:stretch>
            <a:fillRect/>
          </a:stretch>
        </p:blipFill>
        <p:spPr>
          <a:xfrm>
            <a:off x="3523535" y="274320"/>
            <a:ext cx="5144624" cy="731520"/>
          </a:xfrm>
          <a:prstGeom prst="rect">
            <a:avLst/>
          </a:prstGeom>
        </p:spPr>
      </p:pic>
      <p:sp>
        <p:nvSpPr>
          <p:cNvPr id="3" name="s32_2@a1"/>
          <p:cNvSpPr txBox="1"/>
          <p:nvPr/>
        </p:nvSpPr>
        <p:spPr>
          <a:xfrm>
            <a:off x="2834640" y="1234440"/>
            <a:ext cx="6537960" cy="1371600"/>
          </a:xfrm>
          <a:prstGeom prst="roundRect">
            <a:avLst>
              <a:gd name="adj" fmla="val 9333"/>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تعلّمنا اليوم أن الطاقة تنتقل من الشمس إلى المنتِجات ثم إلى المستهلِكات في سلسلة غذائية، وأن السلاسل المتداخلة تكوّن شبكة غذائية فيها مفترس وفريسة.</a:t>
            </a:r>
            <a:endParaRPr lang="ar-SA" sz="1700" dirty="0"/>
          </a:p>
        </p:txBody>
      </p:sp>
      <p:sp>
        <p:nvSpPr>
          <p:cNvPr id="4" name="s32_3@a2"/>
          <p:cNvSpPr txBox="1"/>
          <p:nvPr/>
        </p:nvSpPr>
        <p:spPr>
          <a:xfrm>
            <a:off x="3291840" y="2743200"/>
            <a:ext cx="5577840" cy="594360"/>
          </a:xfrm>
          <a:prstGeom prst="rect">
            <a:avLst/>
          </a:prstGeom>
          <a:noFill/>
          <a:ln/>
        </p:spPr>
        <p:txBody>
          <a:bodyPr wrap="square" lIns="63500" tIns="63500" rIns="63500" bIns="63500" rtlCol="0" anchor="ctr"/>
          <a:lstStyle/>
          <a:p>
            <a:pPr rtl="1" algn="ctr" indent="0" marL="0">
              <a:buNone/>
            </a:pPr>
            <a:r>
              <a:rPr lang="ar-SA" altLang="en-US" sz="2400" dirty="0">
                <a:solidFill>
                  <a:srgbClr val="34405E"/>
                </a:solidFill>
                <a:latin typeface="Tahoma" pitchFamily="34" charset="0"/>
                <a:ea typeface="Tahoma" pitchFamily="34" charset="-122"/>
                <a:cs typeface="Tahoma" pitchFamily="34" charset="-120"/>
              </a:rPr>
              <a:t>☀️ ← 🌿 ← 🐛 ← 🦎 ← 🦉</a:t>
            </a:r>
            <a:endParaRPr lang="ar-SA" sz="2400" dirty="0"/>
          </a:p>
        </p:txBody>
      </p:sp>
      <p:sp>
        <p:nvSpPr>
          <p:cNvPr id="5" name="s32_4@a2"/>
          <p:cNvSpPr txBox="1"/>
          <p:nvPr/>
        </p:nvSpPr>
        <p:spPr>
          <a:xfrm>
            <a:off x="3794760" y="3474720"/>
            <a:ext cx="4617720" cy="548640"/>
          </a:xfrm>
          <a:prstGeom prst="roundRect">
            <a:avLst>
              <a:gd name="adj" fmla="val 50000"/>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بالعلم نرتقي، وبالإبداع نتميّز ✨</a:t>
            </a:r>
            <a:endParaRPr lang="ar-SA" sz="1700" dirty="0"/>
          </a:p>
        </p:txBody>
      </p:sp>
      <p:sp>
        <p:nvSpPr>
          <p:cNvPr id="6" name="s32_5@a3"/>
          <p:cNvSpPr txBox="1"/>
          <p:nvPr/>
        </p:nvSpPr>
        <p:spPr>
          <a:xfrm>
            <a:off x="4251960" y="4160520"/>
            <a:ext cx="3703320" cy="502920"/>
          </a:xfrm>
          <a:prstGeom prst="roundRect">
            <a:avLst>
              <a:gd name="adj" fmla="val 49091"/>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معلمة العلوم: أ/ شامه البقمي</a:t>
            </a:r>
            <a:endParaRPr lang="ar-SA" sz="1600" dirty="0"/>
          </a:p>
        </p:txBody>
      </p:sp>
      <p:pic>
        <p:nvPicPr>
          <p:cNvPr id="7" name="s32_6@a1" descr="/tmp/claude-0/-home-user/4092b4c5-df81-5a0c-b1b2-79950f0cf3f7/scratchpad/build/img/explorer_wave.png">    </p:cNvPr>
          <p:cNvPicPr>
            <a:picLocks noChangeAspect="1"/>
          </p:cNvPicPr>
          <p:nvPr/>
        </p:nvPicPr>
        <p:blipFill>
          <a:blip r:embed="rId3"/>
          <a:stretch>
            <a:fillRect/>
          </a:stretch>
        </p:blipFill>
        <p:spPr>
          <a:xfrm>
            <a:off x="9555480" y="1188720"/>
            <a:ext cx="2400300" cy="3886200"/>
          </a:xfrm>
          <a:prstGeom prst="rect">
            <a:avLst/>
          </a:prstGeom>
        </p:spPr>
      </p:pic>
      <p:pic>
        <p:nvPicPr>
          <p:cNvPr id="8" name="s32_7@a1" descr="/tmp/claude-0/-home-user/4092b4c5-df81-5a0c-b1b2-79950f0cf3f7/scratchpad/build/img/diver.png">    </p:cNvPr>
          <p:cNvPicPr>
            <a:picLocks noChangeAspect="1"/>
          </p:cNvPicPr>
          <p:nvPr/>
        </p:nvPicPr>
        <p:blipFill>
          <a:blip r:embed="rId4"/>
          <a:stretch>
            <a:fillRect/>
          </a:stretch>
        </p:blipFill>
        <p:spPr>
          <a:xfrm>
            <a:off x="411480" y="1188720"/>
            <a:ext cx="2400300" cy="3886200"/>
          </a:xfrm>
          <a:prstGeom prst="rect">
            <a:avLst/>
          </a:prstGeom>
        </p:spPr>
      </p:pic>
      <p:pic>
        <p:nvPicPr>
          <p:cNvPr id="9" name="s32_8@a3" descr="/tmp/claude-0/-home-user/4092b4c5-df81-5a0c-b1b2-79950f0cf3f7/scratchpad/build/img/train.png">    </p:cNvPr>
          <p:cNvPicPr>
            <a:picLocks noChangeAspect="1"/>
          </p:cNvPicPr>
          <p:nvPr/>
        </p:nvPicPr>
        <p:blipFill>
          <a:blip r:embed="rId5"/>
          <a:stretch>
            <a:fillRect/>
          </a:stretch>
        </p:blipFill>
        <p:spPr>
          <a:xfrm>
            <a:off x="3429000" y="4754880"/>
            <a:ext cx="5349240" cy="123032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gtEl>
                            <p:sldTgt/>
                          </p:tgtEl>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500"/>
                                        <p:tgtEl>
                                          <p:spTgt spid="7"/>
                                        </p:tgtEl>
                                      </p:cBhvr>
                                    </p:animEffect>
                                  </p:childTnLst>
                                </p:cTn>
                              </p:par>
                              <p:par>
                                <p:cTn id="9" presetID="10"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par>
                          <p:cTn id="19" fill="hold">
                            <p:stCondLst>
                              <p:cond delay="45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26" fill="hold">
                            <p:stCondLst>
                              <p:cond delay="9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رحلة المستكشفة في عالم الطاقة – السلسلة الغذائية والشبكة الغذائية</dc:title>
  <dc:subject>PptxGenJS Presentation</dc:subject>
  <dc:creator>أ/ شامه البقمي</dc:creator>
  <cp:lastModifiedBy>أ/ شامه البقمي</cp:lastModifiedBy>
  <cp:revision>1</cp:revision>
  <dcterms:created xsi:type="dcterms:W3CDTF">2026-10-25T12:15:16Z</dcterms:created>
  <dcterms:modified xsi:type="dcterms:W3CDTF">2026-10-25T12:15:16Z</dcterms:modified>
</cp:coreProperties>
</file>