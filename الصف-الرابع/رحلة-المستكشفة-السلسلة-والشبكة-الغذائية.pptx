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 بوابة الرحلة: رحّبي بالطالبات مع المستكشفة. اكتبي اليوم والتاريخ (قابل للتعديل). العناصر تظهر تلقائيًا، ويدخل القطار مع صوته 🔊، ثم اضغطي «هيا ننطلق!». فكرة الرحلة: المستكشفة تركب القطار، فتزور اليابسة بملابس المستكشفات، ثم تلبس بدلة الغوص لتزور البركة والمحيط (صفحات الكتاب ١١٢–١١٤ بالترتيب). تأكدي من تشغيل سماعات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دعاء البداية: تردد الطالبات مع المعلمة قوله تعالى ﴿رَّبِّ زِدْنِي عِلْمًا﴾ [طه: ١١٤]، ثم انقري لإظهار الدعاء. بعدها انقري لإظهار «قوانين رحلتنا» قانونًا قانونًا. يمكن منح نجمة للمجموعة الملتزمة طوال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الأولى – قطار الذكريات (مراجعة المحللات ص١١١): اسألي كل سؤال، ثم اضغطي على بطاقة السؤال نفسها لتظهر الإجابة مع صوت التعزيز 🔔 (يمكن بأي ترتيب). اختمي بالنقر لإظهار سؤال الربط: فكيف تنتقل الطاقة بين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فكّري بسرعة: تختار الطالبة بطاقة وتصنّفها، ثم تضغط المعلمة على البطاقة نفسها لتظهر الإجابة: الفطر والبكتيريا محللات، العشب والشجرة منتجات، الأرنب والأسد 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التصويت دون تصحيح، وسجلي عدد الإجابات لكل خيار. نعود إليه في «قياس أثر التعلم». الإجابة: (ج) البومة؛ لأنها في آخر السلسلة، وكل مخلوق يستخدم معظم الطاقة التي يحصل عليها (ربط بنموذج شريط الطاقة ص١٠٩). الصور من الكتاب ص١١٢.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انقري لإظهار كل ناتج مع النشاط الذي يحققه وأداة تقويمه. الأفعال قابلة للقياس: تعرّف، تحدد، تتتبّع، تميّز، تقارن،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الرحلة (لعبة القطار): مع كل نقرة يتحرك القطار إلى المحطة التالية مع صوت القطار 🔊 وتنبض دائرة المحطة. النقرة الخامسة تُظهر تبديل الملابس. كل رقم رابط: اضغطي عليه للانتقال إلى المحطة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الثانية – اليابسة: يدخل القطار مع صوته 🔊 وتظهر لافتة المحطة، ثم يغادر وتظهر الشريحة. أنظر وأتساءل: اعرضي صورة البومة من الكتاب ص١١٢، واجمعي التوقعات دون تصحيح، ثم انقري لإظهار «لنتحقق».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(ص١١٢) بصورة صفحة الكتاب: تقرأ الطالبات الصفحة، ثم تختار طالبة سؤالًا، وتضغط المعلمة على بطاقة السؤال لتظهر الإجابة مع تظليل الدليل في صفحة الكتاب 🟨 وصوت التعزيز. الأسئلة: حرفي (مصدر الطاقة)، استنتاجي (لماذا لا يأخذ الحيوان الطاقة من الشمس)، المفردة المظللة (السلسلة الغذائية)، قراءة الشكل (السؤال من مربع «أقرأ الشكل»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واردة في الكتاب ص١١٢ (العنكبوت: ٦٠). تتلوها المعلمة وترددها الطالبات. لا ندّعي أن الآية تثبت تفاصيل علمية. تنبيه: الآية مكتوبة بالرسم الإملائي؛ إن رغبتِ بالرسم العثماني كما في الكتاب فانسخيه من مصحف «تنزيل».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جولة الواقع الافتراضي (انتقال Morph): «ارتدين نظارة الواقع الافتراضي بخيالكن». كرة الطاقة ⚡ عند الشمس. مع كل انتقال تطير الكاميرا داخل المشهد إلى المخلوق التالي، وتنتقل كرة الطاقة وتصغر. تحتاج PowerPoint 2019 أو 365 لظهور حركة Morph؛ في النسخ الأقدم يظهر تلاشٍ عادي.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نبات الشوك – منتج: الكاميرا تطير إليه، والطاقة تصل من الشمس (السهم المتقطع). اسألي السؤال ثم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اليرقة – مستهلك آكل أعشاب: تأكل نبات الشوك. لاحظي مع الطالبات أن كرة الطاقة صغرت.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السرعوف (المنتس) – مستهلك: يصطاد اليرقة. ربط بالمفترس والفريسة (تمهيد لص١١٤).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السحلية – مستهلك: تأكل السرعوف. سؤال الملاحظة: لماذا تصغر كرة الطاقة؟ (ربط بنموذج شريط الطاقة ص١٠٩). عدد ⚡ تمثيل تقريبي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البومة – آخر حلقة في السلسلة: يصل إليها أقل قدر من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العودة إلى المشهد كاملًا: تظهر السلسلة بأسهمها، والمحللات (الفطر) تحلل المخلوقات بعد موتها كما في نص الكتاب ص١١٢. انقري لإظهار السلسلة كتابةً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رتّبي السلسلة: الصور من الكتاب ص١١٢ بترتيب عشوائي. تقول الطالبة ترتيب الصورة، ثم تضغط المعلمة على الصورة نفسها ليظهر رقمها مع صوت. بعد اكتمال الأرقام انقري لإظهار السلسلة، ثم سؤال التحدي.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بالنقر، ثم سؤال يثير التفكير، ثم التصحيح بالدليل من الكتاب (إرشاد ص١١٢: تشير الأسهم إلى المستهلك التالي).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الثالثة – البركة: يدخل القطار مع صوته 🔊 ثم تظهر الشريحة. النقرة الأولى: تبدّل المستكشفة ملابسها وتظهر ببدلة الغوص ✨. اطرحي سؤال التوقع وطبّقي «فكّري – زاوجي – شاركي»، ثم النقرة الثانية لإظهار التحقق (من بداية نص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(ص١١٣) بصورة صفحة الكتاب: تقرأ الطالبات الفقرات، ثم تضغط المعلمة على بطاقة السؤال لتظهر الإجابة ويُظلَّل الدليل في الصفحة. السؤال الأخير يربط النص بالشكل (مالك الحزين في الشكل والنص).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تتحرك في البركة (محاكاة): مع كل نقرة تنطلق كرة الطاقة ⚡ إلى المخلوق التالي، ويُرسم السهم، وينبض المخلوق مع صوت، ويظهر شرح الخطوة (من نص الكتاب ص١١٣). لاحظي مع الطالبات أن كرة الطاقة تصغر في كل حلقة. النقرة الخامسة تعرض السلسلة كاملة. الفقاعات تتحرك تلقائيًا. الصور من شكل الكتاب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المقارنة: تملأ الطالبات الجدول شفهيًا صفًّا صفًّا، ثم انقري لإظهار الصف. الأمثلة من شكلي الكتاب ص١١٢ و١١٣.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أفكّر (فهم من النص)، أتحدّى نفسي (استنتاج). لكل سؤال: فرصة للإجابة، ثم نقرة للتلميح، ثم نقرة للإجابة مع صوت التعزيز. سؤال «أتحدّى نفسي»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(ص١١٣) – السؤالان بنصهما من الكتاب. المثال المقترح في التفكير الناقد من إعداد المعلمة. عززي أطول سلسلة صحيحة بنجمة.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الرابعة – المحيط: يصل القطار (صوت الانتقال 🔊) وتغوص المستكشفة مع صوت الفقاعات. اطرحي سؤال التفكير (الأمثلة من شكل الكتاب ص١١٤)، واستقبلي الاقتراحات، ثم انقري لإظهار المفهوم الجديد: الشبكة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(ص١١٤) بصورة صفحة الكتاب: تضغط المعلمة على بطاقة السؤال لتظهر الإجابة ويُظلَّل الدليل في الصفحة. سؤال قراءة الشكل بنصه من مربع «أقرأ الشكل» في الكتاب؛ الإرشاد: تتجه الأسهم من الفريسة إلى المفترس (تحققي من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المفترس والفريسة (ص١١٤): اضغطي على بطاقة «المفترس» ثم «الفريسة» لكشف التعريف (من نص الكتاب). ثم انقري لإظهار المثال من شكل الكتاب. اطلبي مثالًا من سلسلة اليابسة (السحلية: مفترسة للسرعوف، وفريسة للبومة).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في شبكة المحيط (محاكاة فوق شكل الكتاب ص١١٤): النقرة ١: كرة الطاقة من الشمس إلى العوالق. النقرة ٢: إلى السردين. النقرة ٣: تتفرّع الطاقة إلى التونة والدلفين والنورس (هذا ما يجعلها شبكة لا سلسلة). النقرة ٤: ثلاث كرات تصل إلى الحوت القاتل، وهو المفترس صاحب أكبر عدد من الفرائس. تحققي من اتجاه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(من شكل شبكة المحيط ص١١٤): تقرأ طالبة الوصف، وتجيب زميلاتها، ثم تضغط المعلمة على زر «من أنا؟» ليظهر الجواب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محطة كنز المعرفة: يصل القطار مع صوته 🔊. السبورة المنظمة بشكل «فن»: انقري لإظهار خصائص السلسلة، ثم الشبكة، ثم المشترك. المحتوى مستخلص من نص الكتاب ص١١٢–١١٤.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العقول (تحليل، تقويم، إبداع): لكل مجموعة سؤال، ثم تعرض إجابتها، ثم انقري لإظهار الإجابة المتوقعة. الأسئلة من إعداد المعلمة؛ في «أبتكر» تُقبل أي شبكة منطقية.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(إثرائي، من إعداد المعلمة): انقري لإظهار كل موقف، واسألي عن أمثلة من البيت. ثم تكتب كل طالبة سلسلة لوجبة فطورها.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الزر يفتح الموقع الرسمي للمركز الوطني لتنمية الحياة الفطرية https://www.ncw.gov.sa/ أثناء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شكل الكتاب ص١١٢ (٥ حلقات و٤ أسهم). لغتي: تعريف الكتاب ص١١٤. المهنة: عالمة الأحياء البحرية.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(التقويم الختامي): فهم، تطبيق، تحليل، تصحيح مفهوم. تجيب الطالبات في السبورات الصغيرة أو شفهيًا، ثم تظهر الإجابة بالنقر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أكملي خريطة المفاهيم: الخانات المنقطة فارغة؛ تشارك الطالبات في تعبئتها، وبعد كل مشاركة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لغز البداية واطلبي التصويت مرة أخرى، وقارني عدد الإجابات الصحيحة قبل الدرس وبعده. ثم بطاقة «أعرف الآن» والتقييم الذاتي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(«أبدعتنّ يا مستكشفاتي!») ولخّصي الدرس. العناصر تظهر تلقائيًا، وعند النقر يغادر القطار مع صوته 🔊 معلنًا نهاية الرحلة. الدرس التالي في الكتاب: التنافس (ص١١٥).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audio" Target="../media/snd_train.wav"/><Relationship Id="rId9" Type="http://schemas.openxmlformats.org/officeDocument/2006/relationships/audio" Target="../media/snd_chime.wav"/></Relationships>
</file>

<file path=ppt/slides/_rels/slide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audio" Target="../media/snd_chime.wav"/></Relationships>
</file>

<file path=ppt/slides/_rels/slide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5-2.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8.png"/><Relationship Id="rId6" Type="http://schemas.openxmlformats.org/officeDocument/2006/relationships/image" Target="../media/image-38-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20.xml"/><Relationship Id="rId6" Type="http://schemas.openxmlformats.org/officeDocument/2006/relationships/slide" Target="slide26.xml"/><Relationship Id="rId7" Type="http://schemas.openxmlformats.org/officeDocument/2006/relationships/slide" Target="slide31.xml"/><Relationship Id="rId1" Type="http://schemas.openxmlformats.org/officeDocument/2006/relationships/image" Target="../media/Slide-11-image-1.jpeg"/><Relationship Id="rId2" Type="http://schemas.openxmlformats.org/officeDocument/2006/relationships/image" Target="../media/image-7-2.png"/><Relationship Id="rId8" Type="http://schemas.openxmlformats.org/officeDocument/2006/relationships/image" Target="../media/image-1-4.png"/><Relationship Id="rId9" Type="http://schemas.openxmlformats.org/officeDocument/2006/relationships/image" Target="../media/image-1-2.png"/><Relationship Id="rId10" Type="http://schemas.openxmlformats.org/officeDocument/2006/relationships/image" Target="../media/image-20-5.png"/><Relationship Id="rId11" Type="http://schemas.openxmlformats.org/officeDocument/2006/relationships/slideLayout" Target="../slideLayouts/slideLayout1.xml"/><Relationship Id="rId12" Type="http://schemas.openxmlformats.org/officeDocument/2006/relationships/notesSlide" Target="../notesSlides/notesSlide7.xml"/><Relationship Id="rId13" Type="http://schemas.openxmlformats.org/officeDocument/2006/relationships/audio" Target="../media/snd_chime.wav"/><Relationship Id="rId14" Type="http://schemas.openxmlformats.org/officeDocument/2006/relationships/audio" Target="../media/snd_train.wav"/></Relationships>
</file>

<file path=ppt/slides/_rels/slide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8-2.png"/><Relationship Id="rId3" Type="http://schemas.openxmlformats.org/officeDocument/2006/relationships/image" Target="../media/image-1-4.png"/><Relationship Id="rId4" Type="http://schemas.openxmlformats.org/officeDocument/2006/relationships/image" Target="../media/image-38-3.png"/><Relationship Id="rId5" Type="http://schemas.openxmlformats.org/officeDocument/2006/relationships/image" Target="../media/image-11-8.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audio" Target="../media/snd_train.wav"/><Relationship Id="rId9" Type="http://schemas.openxmlformats.org/officeDocument/2006/relationships/audio" Target="../media/snd_chime.wav"/></Relationships>
</file>

<file path=ppt/slides/_rels/slide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audio" Target="../media/snd_chime.wav"/></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2.xml"/><Relationship Id="rId12" Type="http://schemas.openxmlformats.org/officeDocument/2006/relationships/audio" Target="../media/snd_chime.wav"/></Relationships>
</file>

<file path=ppt/slides/_rels/slide1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3.xml"/><Relationship Id="rId12" Type="http://schemas.openxmlformats.org/officeDocument/2006/relationships/audio" Target="../media/snd_chime.wav"/></Relationships>
</file>

<file path=ppt/slides/_rels/slide1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4.xml"/><Relationship Id="rId12" Type="http://schemas.openxmlformats.org/officeDocument/2006/relationships/audio" Target="../media/snd_chime.wav"/></Relationships>
</file>

<file path=ppt/slides/_rels/slide1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5.xml"/><Relationship Id="rId12" Type="http://schemas.openxmlformats.org/officeDocument/2006/relationships/audio" Target="../media/snd_chime.wav"/></Relationships>
</file>

<file path=ppt/slides/_rels/slide1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6.xml"/><Relationship Id="rId12" Type="http://schemas.openxmlformats.org/officeDocument/2006/relationships/audio" Target="../media/snd_chime.wav"/></Relationships>
</file>

<file path=ppt/slides/_rels/slide1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7-9.png"/><Relationship Id="rId10" Type="http://schemas.openxmlformats.org/officeDocument/2006/relationships/image" Target="../media/image-11-9.png"/><Relationship Id="rId11" Type="http://schemas.openxmlformats.org/officeDocument/2006/relationships/slideLayout" Target="../slideLayouts/slideLayout1.xml"/><Relationship Id="rId12" Type="http://schemas.openxmlformats.org/officeDocument/2006/relationships/notesSlide" Target="../notesSlides/notesSlide17.xml"/><Relationship Id="rId13" Type="http://schemas.openxmlformats.org/officeDocument/2006/relationships/audio" Target="../media/snd_chime.wav"/></Relationships>
</file>

<file path=ppt/slides/_rels/slide1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8-2.png"/><Relationship Id="rId3" Type="http://schemas.openxmlformats.org/officeDocument/2006/relationships/image" Target="../media/image-11-7.png"/><Relationship Id="rId4" Type="http://schemas.openxmlformats.org/officeDocument/2006/relationships/image" Target="../media/image-11-4.png"/><Relationship Id="rId5" Type="http://schemas.openxmlformats.org/officeDocument/2006/relationships/image" Target="../media/image-11-8.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8.xml"/><Relationship Id="rId10" Type="http://schemas.openxmlformats.org/officeDocument/2006/relationships/audio" Target="../media/snd_chime.wav"/></Relationships>
</file>

<file path=ppt/slides/_rels/slide1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 Id="rId5" Type="http://schemas.openxmlformats.org/officeDocument/2006/relationships/audio" Target="../media/snd_chime.wav"/></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 Id="rId9" Type="http://schemas.openxmlformats.org/officeDocument/2006/relationships/audio" Target="../media/snd_train.wav"/><Relationship Id="rId10" Type="http://schemas.openxmlformats.org/officeDocument/2006/relationships/audio" Target="../media/snd_chime.wav"/></Relationships>
</file>

<file path=ppt/slides/_rels/slide21.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audio" Target="../media/snd_chime.wav"/></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11-3.png"/><Relationship Id="rId4" Type="http://schemas.openxmlformats.org/officeDocument/2006/relationships/image" Target="../media/image-20-6.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image" Target="../media/image-22-12.png"/><Relationship Id="rId13" Type="http://schemas.openxmlformats.org/officeDocument/2006/relationships/image" Target="../media/image-22-12.png"/><Relationship Id="rId14" Type="http://schemas.openxmlformats.org/officeDocument/2006/relationships/image" Target="../media/image-22-12.png"/><Relationship Id="rId15" Type="http://schemas.openxmlformats.org/officeDocument/2006/relationships/image" Target="../media/image-22-12.png"/><Relationship Id="rId16" Type="http://schemas.openxmlformats.org/officeDocument/2006/relationships/image" Target="../media/image-22-12.png"/><Relationship Id="rId17" Type="http://schemas.openxmlformats.org/officeDocument/2006/relationships/image" Target="../media/image-22-12.png"/><Relationship Id="rId18" Type="http://schemas.openxmlformats.org/officeDocument/2006/relationships/slideLayout" Target="../slideLayouts/slideLayout1.xml"/><Relationship Id="rId19" Type="http://schemas.openxmlformats.org/officeDocument/2006/relationships/notesSlide" Target="../notesSlides/notesSlide22.xml"/><Relationship Id="rId20" Type="http://schemas.openxmlformats.org/officeDocument/2006/relationships/audio" Target="../media/snd_bubbles.wav"/><Relationship Id="rId21" Type="http://schemas.openxmlformats.org/officeDocument/2006/relationships/audio" Target="../media/snd_chime.wav"/></Relationships>
</file>

<file path=ppt/slides/_rels/slide23.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 Id="rId5" Type="http://schemas.openxmlformats.org/officeDocument/2006/relationships/audio" Target="../media/snd_chime.wav"/></Relationships>
</file>

<file path=ppt/slides/_rels/slide24.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audio" Target="../media/snd_chime.wav"/></Relationships>
</file>

<file path=ppt/slides/_rels/slide25.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5.xml"/><Relationship Id="rId6" Type="http://schemas.openxmlformats.org/officeDocument/2006/relationships/audio" Target="../media/snd_chime.wav"/></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audio" Target="../media/snd_train.wav"/><Relationship Id="rId7" Type="http://schemas.openxmlformats.org/officeDocument/2006/relationships/audio" Target="../media/snd_bubbles.wav"/><Relationship Id="rId8" Type="http://schemas.openxmlformats.org/officeDocument/2006/relationships/audio" Target="../media/snd_chime.wav"/></Relationships>
</file>

<file path=ppt/slides/_rels/slide27.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audio" Target="../media/snd_chime.wav"/></Relationships>
</file>

<file path=ppt/slides/_rels/slide28.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 Id="rId5" Type="http://schemas.openxmlformats.org/officeDocument/2006/relationships/audio" Target="../media/snd_chime.wav"/></Relationships>
</file>

<file path=ppt/slides/_rels/slide29.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9-2.png"/><Relationship Id="rId3" Type="http://schemas.openxmlformats.org/officeDocument/2006/relationships/image" Target="../media/image-29-3.jpg"/><Relationship Id="rId4" Type="http://schemas.openxmlformats.org/officeDocument/2006/relationships/image" Target="../media/image-11-9.png"/><Relationship Id="rId5" Type="http://schemas.openxmlformats.org/officeDocument/2006/relationships/image" Target="../media/image-11-9.png"/><Relationship Id="rId6" Type="http://schemas.openxmlformats.org/officeDocument/2006/relationships/image" Target="../media/image-11-9.png"/><Relationship Id="rId7" Type="http://schemas.openxmlformats.org/officeDocument/2006/relationships/image" Target="../media/image-11-9.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slideLayout" Target="../slideLayouts/slideLayout1.xml"/><Relationship Id="rId13" Type="http://schemas.openxmlformats.org/officeDocument/2006/relationships/notesSlide" Target="../notesSlides/notesSlide29.xml"/><Relationship Id="rId14" Type="http://schemas.openxmlformats.org/officeDocument/2006/relationships/audio" Target="../media/snd_chime.wav"/></Relationships>
</file>

<file path=ppt/slides/_rels/slide30.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30-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0.xml"/><Relationship Id="rId6" Type="http://schemas.openxmlformats.org/officeDocument/2006/relationships/audio" Target="../media/snd_chime.wav"/></Relationships>
</file>

<file path=ppt/slides/_rels/slide3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1-2.png"/><Relationship Id="rId3" Type="http://schemas.openxmlformats.org/officeDocument/2006/relationships/image" Target="../media/image-1-4.png"/><Relationship Id="rId4" Type="http://schemas.openxmlformats.org/officeDocument/2006/relationships/slideLayout" Target="../slideLayouts/slideLayout1.xml"/><Relationship Id="rId5" Type="http://schemas.openxmlformats.org/officeDocument/2006/relationships/notesSlide" Target="../notesSlides/notesSlide31.xml"/><Relationship Id="rId6" Type="http://schemas.openxmlformats.org/officeDocument/2006/relationships/audio" Target="../media/snd_train.wav"/><Relationship Id="rId7" Type="http://schemas.openxmlformats.org/officeDocument/2006/relationships/audio" Target="../media/snd_chime.wav"/></Relationships>
</file>

<file path=ppt/slides/_rels/slide3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audio" Target="../media/snd_chime.wav"/></Relationships>
</file>

<file path=ppt/slides/_rels/slide3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3-2.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4" Type="http://schemas.openxmlformats.org/officeDocument/2006/relationships/hyperlink" Target="https://www.ncw.gov.sa/" TargetMode="External"/><Relationship Id="rId1" Type="http://schemas.openxmlformats.org/officeDocument/2006/relationships/image" Target="../media/Slide-26-image-1.png"/><Relationship Id="rId2" Type="http://schemas.openxmlformats.org/officeDocument/2006/relationships/image" Target="../media/image-34-2.png"/><Relationship Id="rId3" Type="http://schemas.openxmlformats.org/officeDocument/2006/relationships/image" Target="../media/image-34-3.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34.xml"/><Relationship Id="rId8" Type="http://schemas.openxmlformats.org/officeDocument/2006/relationships/audio" Target="../media/snd_chime.wav"/></Relationships>
</file>

<file path=ppt/slides/_rels/slide3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audio" Target="../media/snd_chime.wav"/></Relationships>
</file>

<file path=ppt/slides/_rels/slide3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audio" Target="../media/snd_chime.wav"/></Relationships>
</file>

<file path=ppt/slides/_rels/slide3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9-2.png"/><Relationship Id="rId3" Type="http://schemas.openxmlformats.org/officeDocument/2006/relationships/image" Target="../media/image-1-2.png"/><Relationship Id="rId4" Type="http://schemas.openxmlformats.org/officeDocument/2006/relationships/image" Target="../media/image-20-5.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39.xml"/><Relationship Id="rId8" Type="http://schemas.openxmlformats.org/officeDocument/2006/relationships/audio" Target="../media/snd_train.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_1"/>
          <p:cNvSpPr txBox="1"/>
          <p:nvPr/>
        </p:nvSpPr>
        <p:spPr>
          <a:xfrm>
            <a:off x="3017520" y="347472"/>
            <a:ext cx="310896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بسم الله الرحمن الرحيم</a:t>
            </a:r>
            <a:endParaRPr lang="ar-SA" sz="1400" dirty="0"/>
          </a:p>
        </p:txBody>
      </p:sp>
      <p:pic>
        <p:nvPicPr>
          <p:cNvPr id="3" name="s1_2@a1" descr="المستكشفة تلوّح">    </p:cNvPr>
          <p:cNvPicPr>
            <a:picLocks noChangeAspect="1"/>
          </p:cNvPicPr>
          <p:nvPr/>
        </p:nvPicPr>
        <p:blipFill>
          <a:blip r:embed="rId2"/>
          <a:stretch>
            <a:fillRect/>
          </a:stretch>
        </p:blipFill>
        <p:spPr>
          <a:xfrm>
            <a:off x="502920" y="1234440"/>
            <a:ext cx="2485016" cy="4023360"/>
          </a:xfrm>
          <a:prstGeom prst="rect">
            <a:avLst/>
          </a:prstGeom>
        </p:spPr>
      </p:pic>
      <p:sp>
        <p:nvSpPr>
          <p:cNvPr id="4" name="s1_3@a2"/>
          <p:cNvSpPr txBox="1"/>
          <p:nvPr/>
        </p:nvSpPr>
        <p:spPr>
          <a:xfrm>
            <a:off x="2880360" y="960120"/>
            <a:ext cx="3291840" cy="1417320"/>
          </a:xfrm>
          <a:prstGeom prst="roundRect">
            <a:avLst>
              <a:gd name="adj" fmla="val 9032"/>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34405E"/>
                </a:solidFill>
                <a:latin typeface="Tahoma" pitchFamily="34" charset="0"/>
                <a:ea typeface="Tahoma" pitchFamily="34" charset="-122"/>
                <a:cs typeface="Tahoma" pitchFamily="34" charset="-120"/>
              </a:rPr>
              <a:t>أهلًا بمستكشفاتي الصغيرات! 🌿</a:t>
            </a:r>
            <a:endParaRPr lang="ar-SA" sz="1500" dirty="0"/>
          </a:p>
          <a:p>
            <a:pPr rtl="1" algn="r" indent="0" marL="0">
              <a:buNone/>
            </a:pPr>
            <a:r>
              <a:rPr lang="ar-SA" altLang="en-US" sz="1500" b="1" dirty="0">
                <a:solidFill>
                  <a:srgbClr val="34405E"/>
                </a:solidFill>
                <a:latin typeface="Tahoma" pitchFamily="34" charset="0"/>
                <a:ea typeface="Tahoma" pitchFamily="34" charset="-122"/>
                <a:cs typeface="Tahoma" pitchFamily="34" charset="-120"/>
              </a:rPr>
              <a:t>اركبن القطار معي… سنتتبّع رحلة الطاقة من الشمس حتى أعماق المحيط!</a:t>
            </a:r>
            <a:endParaRPr lang="ar-SA" sz="1500" dirty="0"/>
          </a:p>
        </p:txBody>
      </p:sp>
      <p:pic>
        <p:nvPicPr>
          <p:cNvPr id="5" name="s1_4" descr="عنوان الشريحة">    </p:cNvPr>
          <p:cNvPicPr>
            <a:picLocks noChangeAspect="1"/>
          </p:cNvPicPr>
          <p:nvPr/>
        </p:nvPicPr>
        <p:blipFill>
          <a:blip r:embed="rId3"/>
          <a:stretch>
            <a:fillRect/>
          </a:stretch>
        </p:blipFill>
        <p:spPr>
          <a:xfrm>
            <a:off x="6248095" y="268370"/>
            <a:ext cx="5577840" cy="560541"/>
          </a:xfrm>
          <a:prstGeom prst="rect">
            <a:avLst/>
          </a:prstGeom>
        </p:spPr>
      </p:pic>
      <p:sp>
        <p:nvSpPr>
          <p:cNvPr id="6" name="s1_5@a1"/>
          <p:cNvSpPr txBox="1"/>
          <p:nvPr/>
        </p:nvSpPr>
        <p:spPr>
          <a:xfrm>
            <a:off x="6446520" y="1051560"/>
            <a:ext cx="5349240" cy="502920"/>
          </a:xfrm>
          <a:prstGeom prst="roundRect">
            <a:avLst>
              <a:gd name="adj" fmla="val 4909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الدرس الثاني (تابع): العلاقات في الأنظمة البيئية</a:t>
            </a:r>
            <a:endParaRPr lang="ar-SA" sz="1600" dirty="0"/>
          </a:p>
        </p:txBody>
      </p:sp>
      <p:sp>
        <p:nvSpPr>
          <p:cNvPr id="7" name="s1_6@a1"/>
          <p:cNvSpPr txBox="1"/>
          <p:nvPr/>
        </p:nvSpPr>
        <p:spPr>
          <a:xfrm>
            <a:off x="6446520" y="1691640"/>
            <a:ext cx="5349240" cy="502920"/>
          </a:xfrm>
          <a:prstGeom prst="roundRect">
            <a:avLst>
              <a:gd name="adj" fmla="val 4909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0E5E8A"/>
                </a:solidFill>
                <a:latin typeface="Tahoma" pitchFamily="34" charset="0"/>
                <a:ea typeface="Tahoma" pitchFamily="34" charset="-122"/>
                <a:cs typeface="Tahoma" pitchFamily="34" charset="-120"/>
              </a:rPr>
              <a:t>ما السلسلة الغذائية؟ • ما الشبكة الغذائية؟</a:t>
            </a:r>
            <a:endParaRPr lang="ar-SA" sz="1600" dirty="0"/>
          </a:p>
        </p:txBody>
      </p:sp>
      <p:sp>
        <p:nvSpPr>
          <p:cNvPr id="8" name="s1_7@a2"/>
          <p:cNvSpPr txBox="1"/>
          <p:nvPr/>
        </p:nvSpPr>
        <p:spPr>
          <a:xfrm>
            <a:off x="8412480" y="2331720"/>
            <a:ext cx="3383280" cy="438912"/>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العلوم – الصف الرابع الابتدائي</a:t>
            </a:r>
            <a:endParaRPr lang="ar-SA" sz="1450" dirty="0"/>
          </a:p>
        </p:txBody>
      </p:sp>
      <p:sp>
        <p:nvSpPr>
          <p:cNvPr id="9" name="s1_8@a2"/>
          <p:cNvSpPr txBox="1"/>
          <p:nvPr/>
        </p:nvSpPr>
        <p:spPr>
          <a:xfrm>
            <a:off x="6446520" y="2880360"/>
            <a:ext cx="5349240" cy="438912"/>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450" dirty="0"/>
          </a:p>
        </p:txBody>
      </p:sp>
      <p:sp>
        <p:nvSpPr>
          <p:cNvPr id="10" name="s1_9@a2"/>
          <p:cNvSpPr txBox="1"/>
          <p:nvPr/>
        </p:nvSpPr>
        <p:spPr>
          <a:xfrm>
            <a:off x="6446520" y="3429000"/>
            <a:ext cx="5349240" cy="411480"/>
          </a:xfrm>
          <a:prstGeom prst="rect">
            <a:avLst/>
          </a:prstGeom>
          <a:noFill/>
          <a:ln/>
        </p:spPr>
        <p:txBody>
          <a:bodyPr wrap="square" lIns="63500" tIns="63500" rIns="63500" bIns="635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اليوم: ............     التاريخ: ..../..../١٤٤٨هـ</a:t>
            </a:r>
            <a:endParaRPr lang="ar-SA" sz="1500" dirty="0"/>
          </a:p>
        </p:txBody>
      </p:sp>
      <p:pic>
        <p:nvPicPr>
          <p:cNvPr id="11" name="s1_10" descr="قطار الرحلة">    </p:cNvPr>
          <p:cNvPicPr>
            <a:picLocks noChangeAspect="1"/>
          </p:cNvPicPr>
          <p:nvPr/>
        </p:nvPicPr>
        <p:blipFill>
          <a:blip r:embed="rId4"/>
          <a:stretch>
            <a:fillRect/>
          </a:stretch>
        </p:blipFill>
        <p:spPr>
          <a:xfrm>
            <a:off x="3017520" y="4224528"/>
            <a:ext cx="6035040" cy="1388059"/>
          </a:xfrm>
          <a:prstGeom prst="rect">
            <a:avLst/>
          </a:prstGeom>
        </p:spPr>
      </p:pic>
      <p:sp>
        <p:nvSpPr>
          <p:cNvPr id="12" name="s1_11@a4%chime"/>
          <p:cNvSpPr txBox="1"/>
          <p:nvPr/>
        </p:nvSpPr>
        <p:spPr>
          <a:xfrm>
            <a:off x="9281160" y="4343400"/>
            <a:ext cx="2514600" cy="640080"/>
          </a:xfrm>
          <a:prstGeom prst="roundRect">
            <a:avLst>
              <a:gd name="adj" fmla="val 50000"/>
            </a:avLst>
          </a:prstGeom>
          <a:solidFill>
            <a:srgbClr val="2F8A3A"/>
          </a:solidFill>
          <a:ln w="31750">
            <a:solidFill>
              <a:srgbClr val="FFFFFF"/>
            </a:solidFill>
          </a:ln>
        </p:spPr>
        <p:txBody>
          <a:bodyPr wrap="square" lIns="101600" tIns="101600" rIns="101600" bIns="101600" rtlCol="0" anchor="ctr"/>
          <a:lstStyle/>
          <a:p>
            <a:pPr rtl="1" algn="ctr" indent="0" marL="0">
              <a:buNone/>
            </a:pPr>
            <a:r>
              <a:rPr lang="ar-SA" altLang="en-US" sz="2000" b="1" u="sng" dirty="0">
                <a:solidFill>
                  <a:srgbClr val="FFFFFF"/>
                </a:solidFill>
                <a:latin typeface="Tahoma" pitchFamily="34" charset="0"/>
                <a:ea typeface="Tahoma" pitchFamily="34" charset="-122"/>
                <a:cs typeface="Tahoma" pitchFamily="34" charset="-120"/>
                <a:hlinkClick r:id="rId5" action="ppaction://hlinksldjump" tooltip="ابدئي الرحلة">
                  <a:extLst>
                    <a:ext uri="{A12FA001-AC4F-418D-AE19-62706E023703}">
                      <ahyp:hlinkClr xmlns:ahyp="http://schemas.microsoft.com/office/drawing/2018/hyperlinkcolor" val="tx"/>
                    </a:ext>
                  </a:extLst>
                </a:hlinkClick>
              </a:rPr>
              <a:t>هيا ننطلق! 🚂</a:t>
            </a:r>
            <a:endParaRPr lang="ar-SA" sz="2000" dirty="0"/>
          </a:p>
        </p:txBody>
      </p:sp>
      <p:sp>
        <p:nvSpPr>
          <p:cNvPr id="13" name="s1_12@a4"/>
          <p:cNvSpPr txBox="1"/>
          <p:nvPr/>
        </p:nvSpPr>
        <p:spPr>
          <a:xfrm>
            <a:off x="9281160" y="5120640"/>
            <a:ext cx="2514600" cy="438912"/>
          </a:xfrm>
          <a:prstGeom prst="roundRect">
            <a:avLst>
              <a:gd name="adj" fmla="val 50000"/>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400" b="1" dirty="0">
                <a:solidFill>
                  <a:srgbClr val="FFFFFF"/>
                </a:solidFill>
                <a:latin typeface="Tahoma" pitchFamily="34" charset="0"/>
                <a:ea typeface="Tahoma" pitchFamily="34" charset="-122"/>
                <a:cs typeface="Tahoma" pitchFamily="34" charset="-120"/>
              </a:rPr>
              <a:t>المعلمة: أ/ شامه البقمي</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par>
                                <p:cTn id="30" presetID="0" presetClass="path" presetSubtype="0" fill="hold" grpId="1" nodeType="withEffect">
                                  <p:stCondLst>
                                    <p:cond delay="0"/>
                                  </p:stCondLst>
                                  <p:childTnLst>
                                    <p:animMotion origin="layout" path="M 0.8 0 L 0 0 E" pathEditMode="relative" ptsTypes="">
                                      <p:cBhvr>
                                        <p:cTn id="31" dur="2600" fill="hold" accel="40000" decel="40000"/>
                                        <p:tgtEl>
                                          <p:spTgt spid="11"/>
                                        </p:tgtEl>
                                        <p:attrNameLst>
                                          <p:attrName>ppt_x</p:attrName>
                                          <p:attrName>ppt_y</p:attrName>
                                        </p:attrNameLst>
                                      </p:cBhvr>
                                      <p:rCtr x="0" y="0"/>
                                    </p:animMotion>
                                  </p:childTnLst>
                                  <p:subTnLst>
                                    <p:audio>
                                      <p:cMediaNode vol="50000" showWhenStopped="0">
                                        <p:cTn id="32" display="0" masterRel="sameClick">
                                          <p:stCondLst>
                                            <p:cond evt="onBegin" delay="0">
                                              <p:tn val="30"/>
                                            </p:cond>
                                          </p:stCondLst>
                                        </p:cTn>
                                        <p:tgtEl>
                                          <p:sndTgt r:embed="rId8" name="train.wav"/>
                                        </p:tgtEl>
                                      </p:cMediaNode>
                                    </p:audio>
                                  </p:subTnLst>
                                </p:cTn>
                              </p:par>
                            </p:childTnLst>
                          </p:cTn>
                        </p:par>
                        <p:par>
                          <p:cTn id="33" fill="hold">
                            <p:stCondLst>
                              <p:cond delay="36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subTnLst>
                                    <p:audio>
                                      <p:cMediaNode vol="50000" showWhenStopped="0">
                                        <p:cTn id="37" display="0" masterRel="sameClick">
                                          <p:stCondLst>
                                            <p:cond evt="onBegin" delay="0">
                                              <p:tn val="34"/>
                                            </p:cond>
                                          </p:stCondLst>
                                        </p:cTn>
                                        <p:tgtEl>
                                          <p:sndTgt r:embed="rId9" name="chime.wav"/>
                                        </p:tgtEl>
                                      </p:cMediaNode>
                                    </p:audio>
                                  </p:sub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1" descr="عنوان الشريحة">    </p:cNvPr>
          <p:cNvPicPr>
            <a:picLocks noChangeAspect="1"/>
          </p:cNvPicPr>
          <p:nvPr/>
        </p:nvPicPr>
        <p:blipFill>
          <a:blip r:embed="rId2"/>
          <a:stretch>
            <a:fillRect/>
          </a:stretch>
        </p:blipFill>
        <p:spPr>
          <a:xfrm>
            <a:off x="8845891" y="182880"/>
            <a:ext cx="2980045" cy="731520"/>
          </a:xfrm>
          <a:prstGeom prst="rect">
            <a:avLst/>
          </a:prstGeom>
        </p:spPr>
      </p:pic>
      <p:sp>
        <p:nvSpPr>
          <p:cNvPr id="3" name="s2_2"/>
          <p:cNvSpPr txBox="1"/>
          <p:nvPr/>
        </p:nvSpPr>
        <p:spPr>
          <a:xfrm>
            <a:off x="365760" y="292608"/>
            <a:ext cx="3566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التعزيز الإيجابي</a:t>
            </a:r>
            <a:endParaRPr lang="en-US" sz="1600" dirty="0"/>
          </a:p>
        </p:txBody>
      </p:sp>
      <p:sp>
        <p:nvSpPr>
          <p:cNvPr id="4" name="s2_3"/>
          <p:cNvSpPr txBox="1"/>
          <p:nvPr/>
        </p:nvSpPr>
        <p:spPr>
          <a:xfrm>
            <a:off x="3840480" y="1234440"/>
            <a:ext cx="7863840" cy="4480560"/>
          </a:xfrm>
          <a:prstGeom prst="roundRect">
            <a:avLst>
              <a:gd name="adj" fmla="val 2857"/>
            </a:avLst>
          </a:prstGeom>
          <a:solidFill>
            <a:srgbClr val="FFFCF2"/>
          </a:solidFill>
          <a:ln w="38100">
            <a:solidFill>
              <a:srgbClr val="F5C242"/>
            </a:solidFill>
          </a:ln>
        </p:spPr>
        <p:txBody>
          <a:bodyPr wrap="square" lIns="101600" tIns="101600" rIns="101600" bIns="101600" rtlCol="0" anchor="ctr"/>
          <a:lstStyle/>
          <a:p>
            <a:pPr rtl="1" algn="r" indent="0" marL="0">
              <a:buNone/>
            </a:pPr>
            <a:endParaRPr lang="ar-SA" sz="1800" dirty="0"/>
          </a:p>
        </p:txBody>
      </p:sp>
      <p:sp>
        <p:nvSpPr>
          <p:cNvPr id="5" name="s2_4"/>
          <p:cNvSpPr txBox="1"/>
          <p:nvPr/>
        </p:nvSpPr>
        <p:spPr>
          <a:xfrm>
            <a:off x="4114800" y="1463040"/>
            <a:ext cx="7315200" cy="914400"/>
          </a:xfrm>
          <a:prstGeom prst="rect">
            <a:avLst/>
          </a:prstGeom>
          <a:noFill/>
          <a:ln/>
        </p:spPr>
        <p:txBody>
          <a:bodyPr wrap="square" lIns="63500" tIns="63500" rIns="63500" bIns="63500" rtlCol="0" anchor="ctr"/>
          <a:lstStyle/>
          <a:p>
            <a:pPr rtl="1" algn="ctr" indent="0" marL="0">
              <a:buNone/>
            </a:pPr>
            <a:r>
              <a:rPr lang="ar-SA" altLang="en-US" sz="3600" b="1" dirty="0">
                <a:solidFill>
                  <a:srgbClr val="1B5E20"/>
                </a:solidFill>
                <a:latin typeface="Tahoma" pitchFamily="34" charset="0"/>
                <a:ea typeface="Tahoma" pitchFamily="34" charset="-122"/>
                <a:cs typeface="Tahoma" pitchFamily="34" charset="-120"/>
              </a:rPr>
              <a:t>﴿رَّبِّ زِدْنِي عِلْمًا﴾</a:t>
            </a:r>
            <a:endParaRPr lang="ar-SA" sz="3600" dirty="0"/>
          </a:p>
        </p:txBody>
      </p:sp>
      <p:sp>
        <p:nvSpPr>
          <p:cNvPr id="6" name="s2_5"/>
          <p:cNvSpPr txBox="1"/>
          <p:nvPr/>
        </p:nvSpPr>
        <p:spPr>
          <a:xfrm>
            <a:off x="4114800" y="2331720"/>
            <a:ext cx="731520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[طه: ١١٤]</a:t>
            </a:r>
            <a:endParaRPr lang="ar-SA" sz="1400" dirty="0"/>
          </a:p>
        </p:txBody>
      </p:sp>
      <p:sp>
        <p:nvSpPr>
          <p:cNvPr id="7" name="s2_6@c1"/>
          <p:cNvSpPr txBox="1"/>
          <p:nvPr/>
        </p:nvSpPr>
        <p:spPr>
          <a:xfrm>
            <a:off x="4572000" y="2880360"/>
            <a:ext cx="6400800" cy="777240"/>
          </a:xfrm>
          <a:prstGeom prst="roundRect">
            <a:avLst>
              <a:gd name="adj" fmla="val 1647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2100" b="1" dirty="0">
                <a:solidFill>
                  <a:srgbClr val="34405E"/>
                </a:solidFill>
                <a:latin typeface="Tahoma" pitchFamily="34" charset="0"/>
                <a:ea typeface="Tahoma" pitchFamily="34" charset="-122"/>
                <a:cs typeface="Tahoma" pitchFamily="34" charset="-120"/>
              </a:rPr>
              <a:t>اللهم علّمنا ما ينفعنا، وانفعنا بما علّمتنا، وزدنا علمًا.</a:t>
            </a:r>
            <a:endParaRPr lang="ar-SA" sz="2100" dirty="0"/>
          </a:p>
        </p:txBody>
      </p:sp>
      <p:sp>
        <p:nvSpPr>
          <p:cNvPr id="8" name="s2_7@c2"/>
          <p:cNvSpPr txBox="1"/>
          <p:nvPr/>
        </p:nvSpPr>
        <p:spPr>
          <a:xfrm>
            <a:off x="4114800" y="3794760"/>
            <a:ext cx="731520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قوانين رحلتنا 🎫</a:t>
            </a:r>
            <a:endParaRPr lang="ar-SA" sz="1900" dirty="0"/>
          </a:p>
        </p:txBody>
      </p:sp>
      <p:sp>
        <p:nvSpPr>
          <p:cNvPr id="9" name="s2_8@c3%pop"/>
          <p:cNvSpPr txBox="1"/>
          <p:nvPr/>
        </p:nvSpPr>
        <p:spPr>
          <a:xfrm>
            <a:off x="7818120" y="4343400"/>
            <a:ext cx="3520440" cy="502920"/>
          </a:xfrm>
          <a:prstGeom prst="roundRect">
            <a:avLst>
              <a:gd name="adj" fmla="val 25455"/>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أرفع يدي قبل أن أتحدث</a:t>
            </a:r>
            <a:endParaRPr lang="ar-SA" sz="1500" dirty="0"/>
          </a:p>
        </p:txBody>
      </p:sp>
      <p:sp>
        <p:nvSpPr>
          <p:cNvPr id="10" name="s2_9@c4%pop"/>
          <p:cNvSpPr txBox="1"/>
          <p:nvPr/>
        </p:nvSpPr>
        <p:spPr>
          <a:xfrm>
            <a:off x="4160520" y="4343400"/>
            <a:ext cx="3520440" cy="502920"/>
          </a:xfrm>
          <a:prstGeom prst="roundRect">
            <a:avLst>
              <a:gd name="adj" fmla="val 2545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أستمع لزميلتي باهتمام</a:t>
            </a:r>
            <a:endParaRPr lang="ar-SA" sz="1500" dirty="0"/>
          </a:p>
        </p:txBody>
      </p:sp>
      <p:sp>
        <p:nvSpPr>
          <p:cNvPr id="11" name="s2_10@c5%pop"/>
          <p:cNvSpPr txBox="1"/>
          <p:nvPr/>
        </p:nvSpPr>
        <p:spPr>
          <a:xfrm>
            <a:off x="7818120" y="4965192"/>
            <a:ext cx="3520440" cy="502920"/>
          </a:xfrm>
          <a:prstGeom prst="roundRect">
            <a:avLst>
              <a:gd name="adj" fmla="val 2545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أتعاون مع مجموعتي</a:t>
            </a:r>
            <a:endParaRPr lang="ar-SA" sz="1500" dirty="0"/>
          </a:p>
        </p:txBody>
      </p:sp>
      <p:sp>
        <p:nvSpPr>
          <p:cNvPr id="12" name="s2_11@c6%pop"/>
          <p:cNvSpPr txBox="1"/>
          <p:nvPr/>
        </p:nvSpPr>
        <p:spPr>
          <a:xfrm>
            <a:off x="4160520" y="4965192"/>
            <a:ext cx="352044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أحترم آراء زميلاتي</a:t>
            </a:r>
            <a:endParaRPr lang="ar-SA" sz="1500" dirty="0"/>
          </a:p>
        </p:txBody>
      </p:sp>
      <p:pic>
        <p:nvPicPr>
          <p:cNvPr id="13" name="s2_12" descr="المستكشفة تفكّر">    </p:cNvPr>
          <p:cNvPicPr>
            <a:picLocks noChangeAspect="1"/>
          </p:cNvPicPr>
          <p:nvPr/>
        </p:nvPicPr>
        <p:blipFill>
          <a:blip r:embed="rId3"/>
          <a:stretch>
            <a:fillRect/>
          </a:stretch>
        </p:blipFill>
        <p:spPr>
          <a:xfrm>
            <a:off x="822960" y="1463040"/>
            <a:ext cx="2767405" cy="4480560"/>
          </a:xfrm>
          <a:prstGeom prst="rect">
            <a:avLst/>
          </a:prstGeom>
        </p:spPr>
      </p:pic>
      <p:sp>
        <p:nvSpPr>
          <p:cNvPr id="14" name="s2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3_2"/>
          <p:cNvSpPr txBox="1"/>
          <p:nvPr/>
        </p:nvSpPr>
        <p:spPr>
          <a:xfrm>
            <a:off x="365760" y="292608"/>
            <a:ext cx="4594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الاسترجاع – شريط الذكريات</a:t>
            </a:r>
            <a:endParaRPr lang="en-US" sz="1600" dirty="0"/>
          </a:p>
        </p:txBody>
      </p:sp>
      <p:sp>
        <p:nvSpPr>
          <p:cNvPr id="4" name="s3_3"/>
          <p:cNvSpPr txBox="1"/>
          <p:nvPr/>
        </p:nvSpPr>
        <p:spPr>
          <a:xfrm>
            <a:off x="2743200" y="1051560"/>
            <a:ext cx="9006840" cy="457200"/>
          </a:xfrm>
          <a:prstGeom prst="rect">
            <a:avLst/>
          </a:prstGeom>
          <a:noFill/>
          <a:ln/>
        </p:spPr>
        <p:txBody>
          <a:bodyPr wrap="square" lIns="63500" tIns="63500" rIns="63500" bIns="63500" rtlCol="0" anchor="ctr"/>
          <a:lstStyle/>
          <a:p>
            <a:pPr rtl="1" algn="r" indent="0" marL="0">
              <a:buNone/>
            </a:pPr>
            <a:r>
              <a:rPr lang="ar-SA" altLang="en-US" sz="1700" b="1" dirty="0">
                <a:solidFill>
                  <a:srgbClr val="6B4FC0"/>
                </a:solidFill>
                <a:latin typeface="Tahoma" pitchFamily="34" charset="0"/>
                <a:ea typeface="Tahoma" pitchFamily="34" charset="-122"/>
                <a:cs typeface="Tahoma" pitchFamily="34" charset="-120"/>
              </a:rPr>
              <a:t>تذكّري: الدرس السابق «الأدوار في النظام البيئي – المحلِّلات» 🍄</a:t>
            </a:r>
            <a:endParaRPr lang="ar-SA" sz="1700" dirty="0"/>
          </a:p>
        </p:txBody>
      </p:sp>
      <p:sp>
        <p:nvSpPr>
          <p:cNvPr id="5" name="s3_q0"/>
          <p:cNvSpPr txBox="1"/>
          <p:nvPr/>
        </p:nvSpPr>
        <p:spPr>
          <a:xfrm>
            <a:off x="6629400" y="1645920"/>
            <a:ext cx="5120640" cy="1115568"/>
          </a:xfrm>
          <a:prstGeom prst="roundRect">
            <a:avLst>
              <a:gd name="adj" fmla="val 1147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١  </a:t>
            </a:r>
            <a:r>
              <a:rPr lang="ar-SA" altLang="en-US" sz="1700" b="1" dirty="0">
                <a:solidFill>
                  <a:srgbClr val="34405E"/>
                </a:solidFill>
                <a:latin typeface="Tahoma" pitchFamily="34" charset="0"/>
                <a:ea typeface="Tahoma" pitchFamily="34" charset="-122"/>
                <a:cs typeface="Tahoma" pitchFamily="34" charset="-120"/>
              </a:rPr>
              <a:t>مَن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6" name="s3_4@t=s3_q0%chime"/>
          <p:cNvSpPr txBox="1"/>
          <p:nvPr/>
        </p:nvSpPr>
        <p:spPr>
          <a:xfrm>
            <a:off x="2697480" y="1645920"/>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مخلوقات حيّة تحلّل المواد الميتة لتحصل على الطاقة، وتعيد المواد إلى النظام البيئي موادَّ مغذية.</a:t>
            </a:r>
            <a:endParaRPr lang="ar-SA" sz="1500" dirty="0"/>
          </a:p>
        </p:txBody>
      </p:sp>
      <p:sp>
        <p:nvSpPr>
          <p:cNvPr id="7" name="s3_q1"/>
          <p:cNvSpPr txBox="1"/>
          <p:nvPr/>
        </p:nvSpPr>
        <p:spPr>
          <a:xfrm>
            <a:off x="6629400" y="2944368"/>
            <a:ext cx="5120640" cy="1115568"/>
          </a:xfrm>
          <a:prstGeom prst="roundRect">
            <a:avLst>
              <a:gd name="adj" fmla="val 1147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٢  </a:t>
            </a:r>
            <a:r>
              <a:rPr lang="ar-SA" altLang="en-US" sz="1700" b="1" dirty="0">
                <a:solidFill>
                  <a:srgbClr val="34405E"/>
                </a:solidFill>
                <a:latin typeface="Tahoma" pitchFamily="34" charset="0"/>
                <a:ea typeface="Tahoma" pitchFamily="34" charset="-122"/>
                <a:cs typeface="Tahoma" pitchFamily="34" charset="-120"/>
              </a:rPr>
              <a:t>اذكري أمثلة على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8" name="s3_5@t=s3_q1%chime"/>
          <p:cNvSpPr txBox="1"/>
          <p:nvPr/>
        </p:nvSpPr>
        <p:spPr>
          <a:xfrm>
            <a:off x="2697480" y="2944368"/>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الديدان، والبكتيريا، والفطريات.</a:t>
            </a:r>
            <a:endParaRPr lang="ar-SA" sz="1500" dirty="0"/>
          </a:p>
        </p:txBody>
      </p:sp>
      <p:sp>
        <p:nvSpPr>
          <p:cNvPr id="9" name="s3_q2"/>
          <p:cNvSpPr txBox="1"/>
          <p:nvPr/>
        </p:nvSpPr>
        <p:spPr>
          <a:xfrm>
            <a:off x="6629400" y="4242816"/>
            <a:ext cx="5120640" cy="1115568"/>
          </a:xfrm>
          <a:prstGeom prst="roundRect">
            <a:avLst>
              <a:gd name="adj" fmla="val 1147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٣  </a:t>
            </a:r>
            <a:r>
              <a:rPr lang="ar-SA" altLang="en-US" sz="17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10" name="s3_6@t=s3_q2%chime"/>
          <p:cNvSpPr txBox="1"/>
          <p:nvPr/>
        </p:nvSpPr>
        <p:spPr>
          <a:xfrm>
            <a:off x="2697480" y="4242816"/>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تتراكم بقايا المخلوقات الميتة، ولا تعود المواد المغذية إلى التربة.</a:t>
            </a:r>
            <a:endParaRPr lang="ar-SA" sz="1500" dirty="0"/>
          </a:p>
        </p:txBody>
      </p:sp>
      <p:sp>
        <p:nvSpPr>
          <p:cNvPr id="11" name="s3_7@c1"/>
          <p:cNvSpPr txBox="1"/>
          <p:nvPr/>
        </p:nvSpPr>
        <p:spPr>
          <a:xfrm>
            <a:off x="2697480" y="5596128"/>
            <a:ext cx="905256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عرفنا أدوار المخلوقات: منتِج، ومستهلِك، ومحلِّل… فكيف تنتقل الطاقة بينها؟ 🤔</a:t>
            </a:r>
            <a:endParaRPr lang="ar-SA" sz="1700" dirty="0"/>
          </a:p>
        </p:txBody>
      </p:sp>
      <p:pic>
        <p:nvPicPr>
          <p:cNvPr id="12" name="s3_8" descr="المستكشفة تفكّر">    </p:cNvPr>
          <p:cNvPicPr>
            <a:picLocks noChangeAspect="1"/>
          </p:cNvPicPr>
          <p:nvPr/>
        </p:nvPicPr>
        <p:blipFill>
          <a:blip r:embed="rId3"/>
          <a:stretch>
            <a:fillRect/>
          </a:stretch>
        </p:blipFill>
        <p:spPr>
          <a:xfrm>
            <a:off x="320040" y="1828800"/>
            <a:ext cx="2428539" cy="3931920"/>
          </a:xfrm>
          <a:prstGeom prst="rect">
            <a:avLst/>
          </a:prstGeom>
        </p:spPr>
      </p:pic>
      <p:sp>
        <p:nvSpPr>
          <p:cNvPr id="13" name="s3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subTnLst>
                                    <p:audio>
                                      <p:cMediaNode vol="50000" showWhenStopped="0">
                                        <p:cTn id="14" display="0" masterRel="sameClick">
                                          <p:stCondLst>
                                            <p:cond evt="onBegin" delay="0">
                                              <p:tn val="11"/>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15" restart="whenNotActive" fill="hold" evtFilter="cancelBubble" nodeType="interactiveSeq">
                <p:stCondLst>
                  <p:cond evt="onClick" delay="0">
                    <p:tgtEl>
                      <p:spTgt spid="7"/>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6" name="chime.wav"/>
                                        </p:tgtEl>
                                      </p:cMediaNode>
                                    </p:audio>
                                  </p:subTnLst>
                                </p:cTn>
                              </p:par>
                            </p:childTnLst>
                          </p:cTn>
                        </p:par>
                      </p:childTnLst>
                    </p:cTn>
                  </p:par>
                </p:childTnLst>
              </p:cTn>
              <p:nextCondLst>
                <p:cond evt="onNext" delay="0">
                  <p:tgtEl>
                    <p:spTgt spid="7"/>
                  </p:tgtEl>
                </p:cond>
              </p:nextCondLst>
            </p:seq>
            <p:seq concurrent="1" nextAc="seek">
              <p:cTn id="22" restart="whenNotActive" fill="hold" evtFilter="cancelBubble" nodeType="interactiveSeq">
                <p:stCondLst>
                  <p:cond evt="onClick" delay="0">
                    <p:tgtEl>
                      <p:spTgt spid="9"/>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childTnLst>
                          </p:cTn>
                        </p:par>
                      </p:childTnLst>
                    </p:cTn>
                  </p:par>
                </p:childTnLst>
              </p:cTn>
              <p:nextCondLst>
                <p:cond evt="onNext" delay="0">
                  <p:tgtEl>
                    <p:spTgt spid="9"/>
                  </p:tgtEl>
                </p:cond>
              </p:nextCondLst>
            </p:seq>
          </p:childTnLst>
        </p:cTn>
      </p:par>
    </p:tnLst>
    <p:bldLst>
      <p:bldP spid="6" grpId="0" animBg="1"/>
      <p:bldP spid="8"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4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فكّري بسرعة – التعلم باللعب</a:t>
            </a:r>
            <a:endParaRPr lang="en-US" sz="1600" dirty="0"/>
          </a:p>
        </p:txBody>
      </p:sp>
      <p:sp>
        <p:nvSpPr>
          <p:cNvPr id="4" name="s4_3"/>
          <p:cNvSpPr txBox="1"/>
          <p:nvPr/>
        </p:nvSpPr>
        <p:spPr>
          <a:xfrm>
            <a:off x="548640" y="1097280"/>
            <a:ext cx="11155680" cy="502920"/>
          </a:xfrm>
          <a:prstGeom prst="rect">
            <a:avLst/>
          </a:prstGeom>
          <a:noFill/>
          <a:ln/>
        </p:spPr>
        <p:txBody>
          <a:bodyPr wrap="square" lIns="63500" tIns="63500" rIns="63500" bIns="63500" rtlCol="0" anchor="ctr"/>
          <a:lstStyle/>
          <a:p>
            <a:pPr rtl="1" algn="ctr" indent="0" marL="0">
              <a:buNone/>
            </a:pPr>
            <a:r>
              <a:rPr lang="ar-SA" altLang="en-US" sz="1900" b="1" dirty="0">
                <a:solidFill>
                  <a:srgbClr val="6B4FC0"/>
                </a:solidFill>
                <a:latin typeface="Tahoma" pitchFamily="34" charset="0"/>
                <a:ea typeface="Tahoma" pitchFamily="34" charset="-122"/>
                <a:cs typeface="Tahoma" pitchFamily="34" charset="-120"/>
              </a:rPr>
              <a:t>منتِج 🌱 أم مستهلِك 🐰 أم محلِّل 🍄؟  اضغطي على البطاقة 👆</a:t>
            </a:r>
            <a:endParaRPr lang="ar-SA" sz="1900" dirty="0"/>
          </a:p>
        </p:txBody>
      </p:sp>
      <p:sp>
        <p:nvSpPr>
          <p:cNvPr id="5" name="s4_c0"/>
          <p:cNvSpPr txBox="1"/>
          <p:nvPr/>
        </p:nvSpPr>
        <p:spPr>
          <a:xfrm>
            <a:off x="8366760" y="1783080"/>
            <a:ext cx="3108960" cy="1600200"/>
          </a:xfrm>
          <a:prstGeom prst="roundRect">
            <a:avLst>
              <a:gd name="adj" fmla="val 8000"/>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الفطر</a:t>
            </a:r>
            <a:endParaRPr lang="ar-SA" sz="1800" dirty="0"/>
          </a:p>
        </p:txBody>
      </p:sp>
      <p:sp>
        <p:nvSpPr>
          <p:cNvPr id="6" name="s4_4@t=s4_c0%pop"/>
          <p:cNvSpPr txBox="1"/>
          <p:nvPr/>
        </p:nvSpPr>
        <p:spPr>
          <a:xfrm>
            <a:off x="8869680" y="320040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7" name="s4_c1"/>
          <p:cNvSpPr txBox="1"/>
          <p:nvPr/>
        </p:nvSpPr>
        <p:spPr>
          <a:xfrm>
            <a:off x="4937760" y="1783080"/>
            <a:ext cx="3108960" cy="1600200"/>
          </a:xfrm>
          <a:prstGeom prst="roundRect">
            <a:avLst>
              <a:gd name="adj" fmla="val 8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العشب</a:t>
            </a:r>
            <a:endParaRPr lang="ar-SA" sz="1800" dirty="0"/>
          </a:p>
        </p:txBody>
      </p:sp>
      <p:sp>
        <p:nvSpPr>
          <p:cNvPr id="8" name="s4_5@t=s4_c1%pop"/>
          <p:cNvSpPr txBox="1"/>
          <p:nvPr/>
        </p:nvSpPr>
        <p:spPr>
          <a:xfrm>
            <a:off x="5440680" y="320040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9" name="s4_c2"/>
          <p:cNvSpPr txBox="1"/>
          <p:nvPr/>
        </p:nvSpPr>
        <p:spPr>
          <a:xfrm>
            <a:off x="1508760" y="1783080"/>
            <a:ext cx="310896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الأرنب</a:t>
            </a:r>
            <a:endParaRPr lang="ar-SA" sz="1800" dirty="0"/>
          </a:p>
        </p:txBody>
      </p:sp>
      <p:sp>
        <p:nvSpPr>
          <p:cNvPr id="10" name="s4_6@t=s4_c2%pop"/>
          <p:cNvSpPr txBox="1"/>
          <p:nvPr/>
        </p:nvSpPr>
        <p:spPr>
          <a:xfrm>
            <a:off x="2011680" y="320040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1" name="s4_c3"/>
          <p:cNvSpPr txBox="1"/>
          <p:nvPr/>
        </p:nvSpPr>
        <p:spPr>
          <a:xfrm>
            <a:off x="8366760" y="3931920"/>
            <a:ext cx="3108960" cy="1600200"/>
          </a:xfrm>
          <a:prstGeom prst="roundRect">
            <a:avLst>
              <a:gd name="adj" fmla="val 8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البكتيريا</a:t>
            </a:r>
            <a:endParaRPr lang="ar-SA" sz="1800" dirty="0"/>
          </a:p>
        </p:txBody>
      </p:sp>
      <p:sp>
        <p:nvSpPr>
          <p:cNvPr id="12" name="s4_7@t=s4_c3%pop"/>
          <p:cNvSpPr txBox="1"/>
          <p:nvPr/>
        </p:nvSpPr>
        <p:spPr>
          <a:xfrm>
            <a:off x="8869680" y="534924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13" name="s4_c4"/>
          <p:cNvSpPr txBox="1"/>
          <p:nvPr/>
        </p:nvSpPr>
        <p:spPr>
          <a:xfrm>
            <a:off x="4937760" y="3931920"/>
            <a:ext cx="3108960" cy="1600200"/>
          </a:xfrm>
          <a:prstGeom prst="roundRect">
            <a:avLst>
              <a:gd name="adj" fmla="val 8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الأسد</a:t>
            </a:r>
            <a:endParaRPr lang="ar-SA" sz="1800" dirty="0"/>
          </a:p>
        </p:txBody>
      </p:sp>
      <p:sp>
        <p:nvSpPr>
          <p:cNvPr id="14" name="s4_8@t=s4_c4%pop"/>
          <p:cNvSpPr txBox="1"/>
          <p:nvPr/>
        </p:nvSpPr>
        <p:spPr>
          <a:xfrm>
            <a:off x="5440680" y="534924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5" name="s4_c5"/>
          <p:cNvSpPr txBox="1"/>
          <p:nvPr/>
        </p:nvSpPr>
        <p:spPr>
          <a:xfrm>
            <a:off x="1508760" y="3931920"/>
            <a:ext cx="3108960" cy="1600200"/>
          </a:xfrm>
          <a:prstGeom prst="roundRect">
            <a:avLst>
              <a:gd name="adj" fmla="val 8000"/>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الشجرة</a:t>
            </a:r>
            <a:endParaRPr lang="ar-SA" sz="1800" dirty="0"/>
          </a:p>
        </p:txBody>
      </p:sp>
      <p:sp>
        <p:nvSpPr>
          <p:cNvPr id="16" name="s4_9@t=s4_c5%pop"/>
          <p:cNvSpPr txBox="1"/>
          <p:nvPr/>
        </p:nvSpPr>
        <p:spPr>
          <a:xfrm>
            <a:off x="2011680" y="534924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17" name="s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nextCondLst>
                <p:cond evt="onNext" delay="0">
                  <p:tgtEl>
                    <p:spTgt spid="5"/>
                  </p:tgtEl>
                </p:cond>
              </p:nextCondLst>
            </p:seq>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nextCondLst>
                <p:cond evt="onNext" delay="0">
                  <p:tgtEl>
                    <p:spTgt spid="7"/>
                  </p:tgtEl>
                </p:cond>
              </p:nextCondLst>
            </p:seq>
            <p:seq concurrent="1" nextAc="seek">
              <p:cTn id="14" restart="whenNotActive" fill="hold" evtFilter="cancelBubble" nodeType="interactiveSeq">
                <p:stCondLst>
                  <p:cond evt="onClick" delay="0">
                    <p:tgtEl>
                      <p:spTgt spid="9"/>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nextCondLst>
                <p:cond evt="onNext" delay="0">
                  <p:tgtEl>
                    <p:spTgt spid="11"/>
                  </p:tgtEl>
                </p:cond>
              </p:nextCondLst>
            </p:seq>
            <p:seq concurrent="1" nextAc="seek">
              <p:cTn id="26" restart="whenNotActive" fill="hold" evtFilter="cancelBubble" nodeType="interactiveSeq">
                <p:stCondLst>
                  <p:cond evt="onClick" delay="0">
                    <p:tgtEl>
                      <p:spTgt spid="13"/>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3"/>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nextCondLst>
                <p:cond evt="onNext" delay="0">
                  <p:tgtEl>
                    <p:spTgt spid="15"/>
                  </p:tgtEl>
                </p:cond>
              </p:nextCondLst>
            </p:seq>
          </p:childTnLst>
        </p:cTn>
      </p:par>
    </p:tnLst>
    <p:bldLst>
      <p:bldP spid="6" grpId="0" animBg="1"/>
      <p:bldP spid="8" grpId="0" animBg="1"/>
      <p:bldP spid="10" grpId="0" animBg="1"/>
      <p:bldP spid="12"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1" descr="عنوان الشريحة">    </p:cNvPr>
          <p:cNvPicPr>
            <a:picLocks noChangeAspect="1"/>
          </p:cNvPicPr>
          <p:nvPr/>
        </p:nvPicPr>
        <p:blipFill>
          <a:blip r:embed="rId2"/>
          <a:stretch>
            <a:fillRect/>
          </a:stretch>
        </p:blipFill>
        <p:spPr>
          <a:xfrm>
            <a:off x="9277607" y="182880"/>
            <a:ext cx="2548328" cy="731520"/>
          </a:xfrm>
          <a:prstGeom prst="rect">
            <a:avLst/>
          </a:prstGeom>
        </p:spPr>
      </p:pic>
      <p:sp>
        <p:nvSpPr>
          <p:cNvPr id="3" name="s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التنبؤ – قياس قبلي</a:t>
            </a:r>
            <a:endParaRPr lang="en-US" sz="1600" dirty="0"/>
          </a:p>
        </p:txBody>
      </p:sp>
      <p:sp>
        <p:nvSpPr>
          <p:cNvPr id="4" name="s5_3"/>
          <p:cNvSpPr txBox="1"/>
          <p:nvPr/>
        </p:nvSpPr>
        <p:spPr>
          <a:xfrm>
            <a:off x="2697480" y="1188720"/>
            <a:ext cx="90525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2000" b="1" dirty="0">
                <a:solidFill>
                  <a:srgbClr val="C2366F"/>
                </a:solidFill>
                <a:latin typeface="Tahoma" pitchFamily="34" charset="0"/>
                <a:ea typeface="Tahoma" pitchFamily="34" charset="-122"/>
                <a:cs typeface="Tahoma" pitchFamily="34" charset="-120"/>
              </a:rPr>
              <a:t>لغز الرحلة: </a:t>
            </a:r>
            <a:r>
              <a:rPr lang="ar-SA" altLang="en-US" sz="2000" b="1" dirty="0">
                <a:solidFill>
                  <a:srgbClr val="34405E"/>
                </a:solidFill>
                <a:latin typeface="Tahoma" pitchFamily="34" charset="0"/>
                <a:ea typeface="Tahoma" pitchFamily="34" charset="-122"/>
                <a:cs typeface="Tahoma" pitchFamily="34" charset="-120"/>
              </a:rPr>
              <a:t>في سلسلة غذائية على اليابسة… أيّ هذه المخلوقات يصل إليه أقلّ قدرٍ من طاقة الشمس؟</a:t>
            </a:r>
            <a:endParaRPr lang="ar-SA" sz="2000" dirty="0"/>
          </a:p>
        </p:txBody>
      </p:sp>
      <p:pic>
        <p:nvPicPr>
          <p:cNvPr id="5" name="s5_4" descr="نبات الشوك">    </p:cNvPr>
          <p:cNvPicPr>
            <a:picLocks noChangeAspect="1"/>
          </p:cNvPicPr>
          <p:nvPr/>
        </p:nvPicPr>
        <p:blipFill>
          <a:blip r:embed="rId3"/>
          <a:stretch>
            <a:fillRect/>
          </a:stretch>
        </p:blipFill>
        <p:spPr>
          <a:xfrm>
            <a:off x="9326880" y="2377440"/>
            <a:ext cx="1920240" cy="1920240"/>
          </a:xfrm>
          <a:prstGeom prst="rect">
            <a:avLst/>
          </a:prstGeom>
        </p:spPr>
      </p:pic>
      <p:sp>
        <p:nvSpPr>
          <p:cNvPr id="6" name="s5_5"/>
          <p:cNvSpPr txBox="1"/>
          <p:nvPr/>
        </p:nvSpPr>
        <p:spPr>
          <a:xfrm>
            <a:off x="8823960" y="4389120"/>
            <a:ext cx="292608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أ) </a:t>
            </a: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pic>
        <p:nvPicPr>
          <p:cNvPr id="7" name="s5_6" descr="يرقة">    </p:cNvPr>
          <p:cNvPicPr>
            <a:picLocks noChangeAspect="1"/>
          </p:cNvPicPr>
          <p:nvPr/>
        </p:nvPicPr>
        <p:blipFill>
          <a:blip r:embed="rId4"/>
          <a:stretch>
            <a:fillRect/>
          </a:stretch>
        </p:blipFill>
        <p:spPr>
          <a:xfrm>
            <a:off x="6309360" y="2377440"/>
            <a:ext cx="1920240" cy="1920240"/>
          </a:xfrm>
          <a:prstGeom prst="rect">
            <a:avLst/>
          </a:prstGeom>
        </p:spPr>
      </p:pic>
      <p:sp>
        <p:nvSpPr>
          <p:cNvPr id="8" name="s5_7"/>
          <p:cNvSpPr txBox="1"/>
          <p:nvPr/>
        </p:nvSpPr>
        <p:spPr>
          <a:xfrm>
            <a:off x="5806440" y="4389120"/>
            <a:ext cx="292608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ب) </a:t>
            </a: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9" name="s5_8" descr="بومة">    </p:cNvPr>
          <p:cNvPicPr>
            <a:picLocks noChangeAspect="1"/>
          </p:cNvPicPr>
          <p:nvPr/>
        </p:nvPicPr>
        <p:blipFill>
          <a:blip r:embed="rId5"/>
          <a:stretch>
            <a:fillRect/>
          </a:stretch>
        </p:blipFill>
        <p:spPr>
          <a:xfrm>
            <a:off x="3291840" y="2377440"/>
            <a:ext cx="1920240" cy="1920240"/>
          </a:xfrm>
          <a:prstGeom prst="rect">
            <a:avLst/>
          </a:prstGeom>
        </p:spPr>
      </p:pic>
      <p:sp>
        <p:nvSpPr>
          <p:cNvPr id="10" name="s5_9"/>
          <p:cNvSpPr txBox="1"/>
          <p:nvPr/>
        </p:nvSpPr>
        <p:spPr>
          <a:xfrm>
            <a:off x="2788920" y="4389120"/>
            <a:ext cx="292608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ج) </a:t>
            </a: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sp>
        <p:nvSpPr>
          <p:cNvPr id="11" name="s5_10"/>
          <p:cNvSpPr txBox="1"/>
          <p:nvPr/>
        </p:nvSpPr>
        <p:spPr>
          <a:xfrm>
            <a:off x="2697480" y="5074920"/>
            <a:ext cx="905256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صوّتي بأصابعك (١ أو ٢ أو ٣)، وسجّلي إجابتك في دفترك ✍️</a:t>
            </a:r>
            <a:endParaRPr lang="ar-SA" sz="1700" dirty="0"/>
          </a:p>
        </p:txBody>
      </p:sp>
      <p:sp>
        <p:nvSpPr>
          <p:cNvPr id="12" name="s5_11@c1%pop"/>
          <p:cNvSpPr txBox="1"/>
          <p:nvPr/>
        </p:nvSpPr>
        <p:spPr>
          <a:xfrm>
            <a:off x="4937760" y="5577840"/>
            <a:ext cx="4572000" cy="502920"/>
          </a:xfrm>
          <a:prstGeom prst="roundRect">
            <a:avLst>
              <a:gd name="adj" fmla="val 25455"/>
            </a:avLst>
          </a:prstGeom>
          <a:solidFill>
            <a:srgbClr val="FFF6D6"/>
          </a:solidFill>
          <a:ln w="25400">
            <a:solidFill>
              <a:srgbClr val="F5C242"/>
            </a:solidFill>
            <a:prstDash val="dash"/>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 سنكشف الإجابة في نهاية الرحلة!</a:t>
            </a:r>
            <a:endParaRPr lang="ar-SA" sz="1600" dirty="0"/>
          </a:p>
        </p:txBody>
      </p:sp>
      <p:pic>
        <p:nvPicPr>
          <p:cNvPr id="13" name="s5_12" descr="المستكشفة تشير">    </p:cNvPr>
          <p:cNvPicPr>
            <a:picLocks noChangeAspect="1"/>
          </p:cNvPicPr>
          <p:nvPr/>
        </p:nvPicPr>
        <p:blipFill>
          <a:blip r:embed="rId6"/>
          <a:stretch>
            <a:fillRect/>
          </a:stretch>
        </p:blipFill>
        <p:spPr>
          <a:xfrm>
            <a:off x="274320" y="2011680"/>
            <a:ext cx="2428539" cy="3931920"/>
          </a:xfrm>
          <a:prstGeom prst="rect">
            <a:avLst/>
          </a:prstGeom>
        </p:spPr>
      </p:pic>
      <p:sp>
        <p:nvSpPr>
          <p:cNvPr id="14" name="s5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5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1" descr="عنوان الشريحة">    </p:cNvPr>
          <p:cNvPicPr>
            <a:picLocks noChangeAspect="1"/>
          </p:cNvPicPr>
          <p:nvPr/>
        </p:nvPicPr>
        <p:blipFill>
          <a:blip r:embed="rId2"/>
          <a:stretch>
            <a:fillRect/>
          </a:stretch>
        </p:blipFill>
        <p:spPr>
          <a:xfrm>
            <a:off x="8809914" y="182880"/>
            <a:ext cx="3016021" cy="731520"/>
          </a:xfrm>
          <a:prstGeom prst="rect">
            <a:avLst/>
          </a:prstGeom>
        </p:spPr>
      </p:pic>
      <p:sp>
        <p:nvSpPr>
          <p:cNvPr id="3" name="s6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أهدافي اليوم</a:t>
            </a:r>
            <a:endParaRPr lang="en-US" sz="1600" dirty="0"/>
          </a:p>
        </p:txBody>
      </p:sp>
      <p:sp>
        <p:nvSpPr>
          <p:cNvPr id="4" name="s6_3"/>
          <p:cNvSpPr txBox="1"/>
          <p:nvPr/>
        </p:nvSpPr>
        <p:spPr>
          <a:xfrm>
            <a:off x="6537960" y="1143000"/>
            <a:ext cx="5212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ناتج التعلم</a:t>
            </a:r>
            <a:endParaRPr lang="ar-SA" sz="1600" dirty="0"/>
          </a:p>
        </p:txBody>
      </p:sp>
      <p:sp>
        <p:nvSpPr>
          <p:cNvPr id="5" name="s6_4"/>
          <p:cNvSpPr txBox="1"/>
          <p:nvPr/>
        </p:nvSpPr>
        <p:spPr>
          <a:xfrm>
            <a:off x="3520440" y="1143000"/>
            <a:ext cx="2926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النشاط</a:t>
            </a:r>
            <a:endParaRPr lang="ar-SA" sz="1600" dirty="0"/>
          </a:p>
        </p:txBody>
      </p:sp>
      <p:sp>
        <p:nvSpPr>
          <p:cNvPr id="6" name="s6_5"/>
          <p:cNvSpPr txBox="1"/>
          <p:nvPr/>
        </p:nvSpPr>
        <p:spPr>
          <a:xfrm>
            <a:off x="548640" y="1143000"/>
            <a:ext cx="288036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التقويم</a:t>
            </a:r>
            <a:endParaRPr lang="ar-SA" sz="1600" dirty="0"/>
          </a:p>
        </p:txBody>
      </p:sp>
      <p:sp>
        <p:nvSpPr>
          <p:cNvPr id="7" name="s6_6@c1"/>
          <p:cNvSpPr txBox="1"/>
          <p:nvPr/>
        </p:nvSpPr>
        <p:spPr>
          <a:xfrm>
            <a:off x="6537960" y="1737360"/>
            <a:ext cx="5212080" cy="932688"/>
          </a:xfrm>
          <a:prstGeom prst="roundRect">
            <a:avLst>
              <a:gd name="adj" fmla="val 137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١  </a:t>
            </a:r>
            <a:r>
              <a:rPr lang="ar-SA" altLang="en-US" sz="1600" b="1" dirty="0">
                <a:solidFill>
                  <a:srgbClr val="34405E"/>
                </a:solidFill>
                <a:latin typeface="Tahoma" pitchFamily="34" charset="0"/>
                <a:ea typeface="Tahoma" pitchFamily="34" charset="-122"/>
                <a:cs typeface="Tahoma" pitchFamily="34" charset="-120"/>
              </a:rPr>
              <a:t>تعرّف الطالبة السلسلة الغذائية، وتحدّد مصدر الطاقة فيها.</a:t>
            </a:r>
            <a:endParaRPr lang="ar-SA" sz="1600" dirty="0"/>
          </a:p>
        </p:txBody>
      </p:sp>
      <p:sp>
        <p:nvSpPr>
          <p:cNvPr id="8" name="s6_7@c1"/>
          <p:cNvSpPr txBox="1"/>
          <p:nvPr/>
        </p:nvSpPr>
        <p:spPr>
          <a:xfrm>
            <a:off x="3520440" y="1737360"/>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ص١١٢ + وقفة تدبّر</a:t>
            </a:r>
            <a:endParaRPr lang="ar-SA" sz="1400" dirty="0"/>
          </a:p>
        </p:txBody>
      </p:sp>
      <p:sp>
        <p:nvSpPr>
          <p:cNvPr id="9" name="s6_8@c1"/>
          <p:cNvSpPr txBox="1"/>
          <p:nvPr/>
        </p:nvSpPr>
        <p:spPr>
          <a:xfrm>
            <a:off x="548640" y="1737360"/>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أسئلة الفهم القرائي</a:t>
            </a:r>
            <a:endParaRPr lang="ar-SA" sz="1450" dirty="0"/>
          </a:p>
        </p:txBody>
      </p:sp>
      <p:sp>
        <p:nvSpPr>
          <p:cNvPr id="10" name="s6_9@c2"/>
          <p:cNvSpPr txBox="1"/>
          <p:nvPr/>
        </p:nvSpPr>
        <p:spPr>
          <a:xfrm>
            <a:off x="6537960" y="2816352"/>
            <a:ext cx="5212080" cy="932688"/>
          </a:xfrm>
          <a:prstGeom prst="roundRect">
            <a:avLst>
              <a:gd name="adj" fmla="val 137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٢  </a:t>
            </a:r>
            <a:r>
              <a:rPr lang="ar-SA" altLang="en-US" sz="1600" b="1" dirty="0">
                <a:solidFill>
                  <a:srgbClr val="34405E"/>
                </a:solidFill>
                <a:latin typeface="Tahoma" pitchFamily="34" charset="0"/>
                <a:ea typeface="Tahoma" pitchFamily="34" charset="-122"/>
                <a:cs typeface="Tahoma" pitchFamily="34" charset="-120"/>
              </a:rPr>
              <a:t>تتتبّع انتقال الطاقة في سلسلة غذائية على اليابسة وفي البركة.</a:t>
            </a:r>
            <a:endParaRPr lang="ar-SA" sz="1600" dirty="0"/>
          </a:p>
        </p:txBody>
      </p:sp>
      <p:sp>
        <p:nvSpPr>
          <p:cNvPr id="11" name="s6_10@c2"/>
          <p:cNvSpPr txBox="1"/>
          <p:nvPr/>
        </p:nvSpPr>
        <p:spPr>
          <a:xfrm>
            <a:off x="3520440" y="2816352"/>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جولة الواقع الافتراضي + لعبة رتّبي السلسلة</a:t>
            </a:r>
            <a:endParaRPr lang="ar-SA" sz="1400" dirty="0"/>
          </a:p>
        </p:txBody>
      </p:sp>
      <p:sp>
        <p:nvSpPr>
          <p:cNvPr id="12" name="s6_11@c2"/>
          <p:cNvSpPr txBox="1"/>
          <p:nvPr/>
        </p:nvSpPr>
        <p:spPr>
          <a:xfrm>
            <a:off x="548640" y="2816352"/>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التقويم التكويني</a:t>
            </a:r>
            <a:endParaRPr lang="ar-SA" sz="1450" dirty="0"/>
          </a:p>
        </p:txBody>
      </p:sp>
      <p:sp>
        <p:nvSpPr>
          <p:cNvPr id="13" name="s6_12@c3"/>
          <p:cNvSpPr txBox="1"/>
          <p:nvPr/>
        </p:nvSpPr>
        <p:spPr>
          <a:xfrm>
            <a:off x="6537960" y="3895344"/>
            <a:ext cx="5212080" cy="932688"/>
          </a:xfrm>
          <a:prstGeom prst="roundRect">
            <a:avLst>
              <a:gd name="adj" fmla="val 137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٣  </a:t>
            </a:r>
            <a:r>
              <a:rPr lang="ar-SA" altLang="en-US" sz="1600" b="1" dirty="0">
                <a:solidFill>
                  <a:srgbClr val="34405E"/>
                </a:solidFill>
                <a:latin typeface="Tahoma" pitchFamily="34" charset="0"/>
                <a:ea typeface="Tahoma" pitchFamily="34" charset="-122"/>
                <a:cs typeface="Tahoma" pitchFamily="34" charset="-120"/>
              </a:rPr>
              <a:t>تميّز بين المفترس والفريسة في الشبكة الغذائية.</a:t>
            </a:r>
            <a:endParaRPr lang="ar-SA" sz="1600" dirty="0"/>
          </a:p>
        </p:txBody>
      </p:sp>
      <p:sp>
        <p:nvSpPr>
          <p:cNvPr id="14" name="s6_13@c3"/>
          <p:cNvSpPr txBox="1"/>
          <p:nvPr/>
        </p:nvSpPr>
        <p:spPr>
          <a:xfrm>
            <a:off x="3520440" y="3895344"/>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ص١١٤ + الطاقة في شبكة المحيط</a:t>
            </a:r>
            <a:endParaRPr lang="ar-SA" sz="1400" dirty="0"/>
          </a:p>
        </p:txBody>
      </p:sp>
      <p:sp>
        <p:nvSpPr>
          <p:cNvPr id="15" name="s6_14@c3"/>
          <p:cNvSpPr txBox="1"/>
          <p:nvPr/>
        </p:nvSpPr>
        <p:spPr>
          <a:xfrm>
            <a:off x="548640" y="3895344"/>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لعبة: من أنا؟</a:t>
            </a:r>
            <a:endParaRPr lang="ar-SA" sz="1450" dirty="0"/>
          </a:p>
        </p:txBody>
      </p:sp>
      <p:sp>
        <p:nvSpPr>
          <p:cNvPr id="16" name="s6_15@c4"/>
          <p:cNvSpPr txBox="1"/>
          <p:nvPr/>
        </p:nvSpPr>
        <p:spPr>
          <a:xfrm>
            <a:off x="6537960" y="4974336"/>
            <a:ext cx="5212080" cy="932688"/>
          </a:xfrm>
          <a:prstGeom prst="roundRect">
            <a:avLst>
              <a:gd name="adj" fmla="val 137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٤  </a:t>
            </a:r>
            <a:r>
              <a:rPr lang="ar-SA" altLang="en-US" sz="1600" b="1" dirty="0">
                <a:solidFill>
                  <a:srgbClr val="34405E"/>
                </a:solidFill>
                <a:latin typeface="Tahoma" pitchFamily="34" charset="0"/>
                <a:ea typeface="Tahoma" pitchFamily="34" charset="-122"/>
                <a:cs typeface="Tahoma" pitchFamily="34" charset="-120"/>
              </a:rPr>
              <a:t>تقارن بين السلسلة والشبكة الغذائية، وتستنتج أثر اختفاء مخلوق منها.</a:t>
            </a:r>
            <a:endParaRPr lang="ar-SA" sz="1600" dirty="0"/>
          </a:p>
        </p:txBody>
      </p:sp>
      <p:sp>
        <p:nvSpPr>
          <p:cNvPr id="17" name="s6_16@c4"/>
          <p:cNvSpPr txBox="1"/>
          <p:nvPr/>
        </p:nvSpPr>
        <p:spPr>
          <a:xfrm>
            <a:off x="3520440" y="4974336"/>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السبورة المنظمة + تحدّي العقول</a:t>
            </a:r>
            <a:endParaRPr lang="ar-SA" sz="1400" dirty="0"/>
          </a:p>
        </p:txBody>
      </p:sp>
      <p:sp>
        <p:nvSpPr>
          <p:cNvPr id="18" name="s6_17@c4"/>
          <p:cNvSpPr txBox="1"/>
          <p:nvPr/>
        </p:nvSpPr>
        <p:spPr>
          <a:xfrm>
            <a:off x="548640" y="4974336"/>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حصاد المعرفة</a:t>
            </a:r>
            <a:endParaRPr lang="ar-SA" sz="1450" dirty="0"/>
          </a:p>
        </p:txBody>
      </p:sp>
      <p:sp>
        <p:nvSpPr>
          <p:cNvPr id="19" name="s6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6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1" descr="عنوان الشريحة">    </p:cNvPr>
          <p:cNvPicPr>
            <a:picLocks noChangeAspect="1"/>
          </p:cNvPicPr>
          <p:nvPr/>
        </p:nvPicPr>
        <p:blipFill>
          <a:blip r:embed="rId2"/>
          <a:stretch>
            <a:fillRect/>
          </a:stretch>
        </p:blipFill>
        <p:spPr>
          <a:xfrm>
            <a:off x="8498119" y="182880"/>
            <a:ext cx="3327816" cy="731520"/>
          </a:xfrm>
          <a:prstGeom prst="rect">
            <a:avLst/>
          </a:prstGeom>
        </p:spPr>
      </p:pic>
      <p:sp>
        <p:nvSpPr>
          <p:cNvPr id="3" name="s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خريطة الدرس – المنظّم المتقدّم</a:t>
            </a:r>
            <a:endParaRPr lang="en-US" sz="1600" dirty="0"/>
          </a:p>
        </p:txBody>
      </p:sp>
      <p:sp>
        <p:nvSpPr>
          <p:cNvPr id="4" name="s7_3"/>
          <p:cNvSpPr/>
          <p:nvPr/>
        </p:nvSpPr>
        <p:spPr>
          <a:xfrm>
            <a:off x="1097280" y="3429000"/>
            <a:ext cx="10058400" cy="0"/>
          </a:xfrm>
          <a:prstGeom prst="line">
            <a:avLst/>
          </a:prstGeom>
          <a:noFill/>
          <a:ln w="76200">
            <a:solidFill>
              <a:srgbClr val="8A6A4A"/>
            </a:solidFill>
            <a:prstDash val="dash"/>
          </a:ln>
        </p:spPr>
      </p:sp>
      <p:sp>
        <p:nvSpPr>
          <p:cNvPr id="5" name="s7_4"/>
          <p:cNvSpPr txBox="1"/>
          <p:nvPr/>
        </p:nvSpPr>
        <p:spPr>
          <a:xfrm>
            <a:off x="10012680" y="2697480"/>
            <a:ext cx="1463040" cy="1463040"/>
          </a:xfrm>
          <a:prstGeom prst="ellipse">
            <a:avLst/>
          </a:prstGeom>
          <a:solidFill>
            <a:srgbClr val="FFD1E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3" action="ppaction://hlinksldjump" tooltip="قطار الذكريات">
                  <a:extLst>
                    <a:ext uri="{A12FA001-AC4F-418D-AE19-62706E023703}">
                      <ahyp:hlinkClr xmlns:ahyp="http://schemas.microsoft.com/office/drawing/2018/hyperlinkcolor" val="tx"/>
                    </a:ext>
                  </a:extLst>
                </a:hlinkClick>
              </a:rPr>
              <a:t>١</a:t>
            </a:r>
            <a:endParaRPr lang="ar-SA" sz="1800" dirty="0"/>
          </a:p>
        </p:txBody>
      </p:sp>
      <p:sp>
        <p:nvSpPr>
          <p:cNvPr id="6" name="s7_5"/>
          <p:cNvSpPr txBox="1"/>
          <p:nvPr/>
        </p:nvSpPr>
        <p:spPr>
          <a:xfrm>
            <a:off x="955548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قطار الذكريات</a:t>
            </a:r>
            <a:endParaRPr lang="ar-SA" sz="1700" dirty="0"/>
          </a:p>
        </p:txBody>
      </p:sp>
      <p:sp>
        <p:nvSpPr>
          <p:cNvPr id="7" name="s7_6"/>
          <p:cNvSpPr txBox="1"/>
          <p:nvPr/>
        </p:nvSpPr>
        <p:spPr>
          <a:xfrm>
            <a:off x="955548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مراجعة المحلِّلات</a:t>
            </a:r>
            <a:endParaRPr lang="ar-SA" sz="1350" dirty="0"/>
          </a:p>
        </p:txBody>
      </p:sp>
      <p:sp>
        <p:nvSpPr>
          <p:cNvPr id="8" name="s7_7"/>
          <p:cNvSpPr txBox="1"/>
          <p:nvPr/>
        </p:nvSpPr>
        <p:spPr>
          <a:xfrm>
            <a:off x="7772400" y="2697480"/>
            <a:ext cx="1463040" cy="1463040"/>
          </a:xfrm>
          <a:prstGeom prst="ellipse">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4" action="ppaction://hlinksldjump" tooltip="اليابسة">
                  <a:extLst>
                    <a:ext uri="{A12FA001-AC4F-418D-AE19-62706E023703}">
                      <ahyp:hlinkClr xmlns:ahyp="http://schemas.microsoft.com/office/drawing/2018/hyperlinkcolor" val="tx"/>
                    </a:ext>
                  </a:extLst>
                </a:hlinkClick>
              </a:rPr>
              <a:t>٢</a:t>
            </a:r>
            <a:endParaRPr lang="ar-SA" sz="1800" dirty="0"/>
          </a:p>
        </p:txBody>
      </p:sp>
      <p:sp>
        <p:nvSpPr>
          <p:cNvPr id="9" name="s7_8"/>
          <p:cNvSpPr txBox="1"/>
          <p:nvPr/>
        </p:nvSpPr>
        <p:spPr>
          <a:xfrm>
            <a:off x="731520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اليابسة</a:t>
            </a:r>
            <a:endParaRPr lang="ar-SA" sz="1700" dirty="0"/>
          </a:p>
        </p:txBody>
      </p:sp>
      <p:sp>
        <p:nvSpPr>
          <p:cNvPr id="10" name="s7_9"/>
          <p:cNvSpPr txBox="1"/>
          <p:nvPr/>
        </p:nvSpPr>
        <p:spPr>
          <a:xfrm>
            <a:off x="731520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ص١١٢ 🌵</a:t>
            </a:r>
            <a:endParaRPr lang="ar-SA" sz="1350" dirty="0"/>
          </a:p>
        </p:txBody>
      </p:sp>
      <p:sp>
        <p:nvSpPr>
          <p:cNvPr id="11" name="s7_10"/>
          <p:cNvSpPr txBox="1"/>
          <p:nvPr/>
        </p:nvSpPr>
        <p:spPr>
          <a:xfrm>
            <a:off x="5532120" y="2697480"/>
            <a:ext cx="1463040" cy="1463040"/>
          </a:xfrm>
          <a:prstGeom prst="ellipse">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5" action="ppaction://hlinksldjump" tooltip="البركة">
                  <a:extLst>
                    <a:ext uri="{A12FA001-AC4F-418D-AE19-62706E023703}">
                      <ahyp:hlinkClr xmlns:ahyp="http://schemas.microsoft.com/office/drawing/2018/hyperlinkcolor" val="tx"/>
                    </a:ext>
                  </a:extLst>
                </a:hlinkClick>
              </a:rPr>
              <a:t>٣</a:t>
            </a:r>
            <a:endParaRPr lang="ar-SA" sz="1800" dirty="0"/>
          </a:p>
        </p:txBody>
      </p:sp>
      <p:sp>
        <p:nvSpPr>
          <p:cNvPr id="12" name="s7_11"/>
          <p:cNvSpPr txBox="1"/>
          <p:nvPr/>
        </p:nvSpPr>
        <p:spPr>
          <a:xfrm>
            <a:off x="507492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البركة</a:t>
            </a:r>
            <a:endParaRPr lang="ar-SA" sz="1700" dirty="0"/>
          </a:p>
        </p:txBody>
      </p:sp>
      <p:sp>
        <p:nvSpPr>
          <p:cNvPr id="13" name="s7_12"/>
          <p:cNvSpPr txBox="1"/>
          <p:nvPr/>
        </p:nvSpPr>
        <p:spPr>
          <a:xfrm>
            <a:off x="507492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ص١١٣ 🪷</a:t>
            </a:r>
            <a:endParaRPr lang="ar-SA" sz="1350" dirty="0"/>
          </a:p>
        </p:txBody>
      </p:sp>
      <p:sp>
        <p:nvSpPr>
          <p:cNvPr id="14" name="s7_13"/>
          <p:cNvSpPr txBox="1"/>
          <p:nvPr/>
        </p:nvSpPr>
        <p:spPr>
          <a:xfrm>
            <a:off x="3291840" y="2697480"/>
            <a:ext cx="1463040" cy="1463040"/>
          </a:xfrm>
          <a:prstGeom prst="ellipse">
            <a:avLst/>
          </a:prstGeom>
          <a:solidFill>
            <a:srgbClr val="CFE8FF"/>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6" action="ppaction://hlinksldjump" tooltip="المحيط">
                  <a:extLst>
                    <a:ext uri="{A12FA001-AC4F-418D-AE19-62706E023703}">
                      <ahyp:hlinkClr xmlns:ahyp="http://schemas.microsoft.com/office/drawing/2018/hyperlinkcolor" val="tx"/>
                    </a:ext>
                  </a:extLst>
                </a:hlinkClick>
              </a:rPr>
              <a:t>٤</a:t>
            </a:r>
            <a:endParaRPr lang="ar-SA" sz="1800" dirty="0"/>
          </a:p>
        </p:txBody>
      </p:sp>
      <p:sp>
        <p:nvSpPr>
          <p:cNvPr id="15" name="s7_14"/>
          <p:cNvSpPr txBox="1"/>
          <p:nvPr/>
        </p:nvSpPr>
        <p:spPr>
          <a:xfrm>
            <a:off x="283464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المحيط</a:t>
            </a:r>
            <a:endParaRPr lang="ar-SA" sz="1700" dirty="0"/>
          </a:p>
        </p:txBody>
      </p:sp>
      <p:sp>
        <p:nvSpPr>
          <p:cNvPr id="16" name="s7_15"/>
          <p:cNvSpPr txBox="1"/>
          <p:nvPr/>
        </p:nvSpPr>
        <p:spPr>
          <a:xfrm>
            <a:off x="283464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ص١١٤ 🌊</a:t>
            </a:r>
            <a:endParaRPr lang="ar-SA" sz="1350" dirty="0"/>
          </a:p>
        </p:txBody>
      </p:sp>
      <p:sp>
        <p:nvSpPr>
          <p:cNvPr id="17" name="s7_16"/>
          <p:cNvSpPr txBox="1"/>
          <p:nvPr/>
        </p:nvSpPr>
        <p:spPr>
          <a:xfrm>
            <a:off x="1051560" y="2697480"/>
            <a:ext cx="1463040" cy="1463040"/>
          </a:xfrm>
          <a:prstGeom prst="ellipse">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7" action="ppaction://hlinksldjump" tooltip="كنز المعرفة">
                  <a:extLst>
                    <a:ext uri="{A12FA001-AC4F-418D-AE19-62706E023703}">
                      <ahyp:hlinkClr xmlns:ahyp="http://schemas.microsoft.com/office/drawing/2018/hyperlinkcolor" val="tx"/>
                    </a:ext>
                  </a:extLst>
                </a:hlinkClick>
              </a:rPr>
              <a:t>🏆</a:t>
            </a:r>
            <a:endParaRPr lang="ar-SA" sz="1800" dirty="0"/>
          </a:p>
        </p:txBody>
      </p:sp>
      <p:sp>
        <p:nvSpPr>
          <p:cNvPr id="18" name="s7_17"/>
          <p:cNvSpPr txBox="1"/>
          <p:nvPr/>
        </p:nvSpPr>
        <p:spPr>
          <a:xfrm>
            <a:off x="59436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كنز المعرفة</a:t>
            </a:r>
            <a:endParaRPr lang="ar-SA" sz="1700" dirty="0"/>
          </a:p>
        </p:txBody>
      </p:sp>
      <p:sp>
        <p:nvSpPr>
          <p:cNvPr id="19" name="s7_18"/>
          <p:cNvSpPr txBox="1"/>
          <p:nvPr/>
        </p:nvSpPr>
        <p:spPr>
          <a:xfrm>
            <a:off x="59436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التقويم</a:t>
            </a:r>
            <a:endParaRPr lang="ar-SA" sz="1350" dirty="0"/>
          </a:p>
        </p:txBody>
      </p:sp>
      <p:pic>
        <p:nvPicPr>
          <p:cNvPr id="20" name="s7_19" descr="قطار الرحلة">    </p:cNvPr>
          <p:cNvPicPr>
            <a:picLocks noChangeAspect="1"/>
          </p:cNvPicPr>
          <p:nvPr/>
        </p:nvPicPr>
        <p:blipFill>
          <a:blip r:embed="rId8"/>
          <a:stretch>
            <a:fillRect/>
          </a:stretch>
        </p:blipFill>
        <p:spPr>
          <a:xfrm>
            <a:off x="9646920" y="2011680"/>
            <a:ext cx="2103120" cy="483718"/>
          </a:xfrm>
          <a:prstGeom prst="rect">
            <a:avLst/>
          </a:prstGeom>
        </p:spPr>
      </p:pic>
      <p:sp>
        <p:nvSpPr>
          <p:cNvPr id="21" name="s7_20@c5%sparkle"/>
          <p:cNvSpPr txBox="1"/>
          <p:nvPr/>
        </p:nvSpPr>
        <p:spPr>
          <a:xfrm>
            <a:off x="2651760" y="5166360"/>
            <a:ext cx="6949440" cy="777240"/>
          </a:xfrm>
          <a:prstGeom prst="roundRect">
            <a:avLst>
              <a:gd name="adj" fmla="val 1647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على اليابسة أرتدي ملابس المستكشفة 🧭، وفي البركة والمحيط ألبس بدلة الغوص 🤿!</a:t>
            </a:r>
            <a:endParaRPr lang="ar-SA" sz="1650" dirty="0"/>
          </a:p>
        </p:txBody>
      </p:sp>
      <p:pic>
        <p:nvPicPr>
          <p:cNvPr id="22" name="s7_21@c5" descr="المستكشفة تلوّح">    </p:cNvPr>
          <p:cNvPicPr>
            <a:picLocks noChangeAspect="1"/>
          </p:cNvPicPr>
          <p:nvPr/>
        </p:nvPicPr>
        <p:blipFill>
          <a:blip r:embed="rId9"/>
          <a:stretch>
            <a:fillRect/>
          </a:stretch>
        </p:blipFill>
        <p:spPr>
          <a:xfrm>
            <a:off x="10561320" y="4846320"/>
            <a:ext cx="931881" cy="1508760"/>
          </a:xfrm>
          <a:prstGeom prst="rect">
            <a:avLst/>
          </a:prstGeom>
        </p:spPr>
      </p:pic>
      <p:pic>
        <p:nvPicPr>
          <p:cNvPr id="23" name="s7_22@c5" descr="المستكشفة ببدلة الغوص">    </p:cNvPr>
          <p:cNvPicPr>
            <a:picLocks noChangeAspect="1"/>
          </p:cNvPicPr>
          <p:nvPr/>
        </p:nvPicPr>
        <p:blipFill>
          <a:blip r:embed="rId10"/>
          <a:stretch>
            <a:fillRect/>
          </a:stretch>
        </p:blipFill>
        <p:spPr>
          <a:xfrm>
            <a:off x="685800" y="4846320"/>
            <a:ext cx="931881" cy="1508760"/>
          </a:xfrm>
          <a:prstGeom prst="rect">
            <a:avLst/>
          </a:prstGeom>
        </p:spPr>
      </p:pic>
      <p:sp>
        <p:nvSpPr>
          <p:cNvPr id="24" name="s7_23"/>
          <p:cNvSpPr txBox="1"/>
          <p:nvPr/>
        </p:nvSpPr>
        <p:spPr>
          <a:xfrm>
            <a:off x="457200" y="1097280"/>
            <a:ext cx="4754880" cy="365760"/>
          </a:xfrm>
          <a:prstGeom prst="rect">
            <a:avLst/>
          </a:prstGeom>
          <a:noFill/>
          <a:ln/>
        </p:spPr>
        <p:txBody>
          <a:bodyPr wrap="square" lIns="63500" tIns="63500" rIns="63500" bIns="63500" rtlCol="0" anchor="ctr"/>
          <a:lstStyle/>
          <a:p>
            <a:pPr rtl="1" algn="l" indent="0" marL="0">
              <a:buNone/>
            </a:pPr>
            <a:r>
              <a:rPr lang="ar-SA" altLang="en-US" sz="1300" dirty="0">
                <a:solidFill>
                  <a:srgbClr val="7A869E"/>
                </a:solidFill>
                <a:latin typeface="Tahoma" pitchFamily="34" charset="0"/>
                <a:ea typeface="Tahoma" pitchFamily="34" charset="-122"/>
                <a:cs typeface="Tahoma" pitchFamily="34" charset="-120"/>
              </a:rPr>
              <a:t>👆 اضغطي على رقم المحطة للانتقال إليها</a:t>
            </a:r>
            <a:endParaRPr lang="ar-SA" sz="1300" dirty="0"/>
          </a:p>
        </p:txBody>
      </p:sp>
      <p:sp>
        <p:nvSpPr>
          <p:cNvPr id="25" name="s7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7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p:stCondLst>
                                    <p:cond delay="0"/>
                                  </p:stCondLst>
                                  <p:childTnLst>
                                    <p:animScale>
                                      <p:cBhvr>
                                        <p:cTn id="6" dur="450" autoRev="1" fill="hold"/>
                                        <p:tgtEl>
                                          <p:spTgt spid="5"/>
                                        </p:tgtEl>
                                      </p:cBhvr>
                                      <p:by x="118000" y="118000"/>
                                    </p:animScale>
                                  </p:childTnLst>
                                  <p:subTnLst>
                                    <p:audio>
                                      <p:cMediaNode vol="50000" showWhenStopped="0">
                                        <p:cTn id="7" display="0" masterRel="sameClick">
                                          <p:stCondLst>
                                            <p:cond evt="onBegin" delay="0">
                                              <p:tn val="5"/>
                                            </p:cond>
                                          </p:stCondLst>
                                        </p:cTn>
                                        <p:tgtEl>
                                          <p:sndTgt r:embed="rId13" name="chime.wav"/>
                                        </p:tgtEl>
                                      </p:cMediaNode>
                                    </p:audio>
                                  </p:subTnLst>
                                </p:cTn>
                              </p:par>
                            </p:childTnLst>
                          </p:cTn>
                        </p:par>
                      </p:childTnLst>
                    </p:cTn>
                  </p:par>
                  <p:par>
                    <p:cTn id="8" fill="hold">
                      <p:stCondLst>
                        <p:cond delay="indefinite"/>
                      </p:stCondLst>
                      <p:childTnLst>
                        <p:par>
                          <p:cTn id="9" fill="hold">
                            <p:stCondLst>
                              <p:cond delay="0"/>
                            </p:stCondLst>
                            <p:childTnLst>
                              <p:par>
                                <p:cTn id="10" presetID="0" presetClass="path" presetSubtype="0" fill="hold" grpId="0" nodeType="clickEffect">
                                  <p:stCondLst>
                                    <p:cond delay="0"/>
                                  </p:stCondLst>
                                  <p:childTnLst>
                                    <p:animMotion origin="layout" path="M 0.0000 0 L -0.1838 0 E" pathEditMode="relative" ptsTypes="">
                                      <p:cBhvr>
                                        <p:cTn id="11" dur="1800" fill="hold" accel="40000" decel="40000"/>
                                        <p:tgtEl>
                                          <p:spTgt spid="20"/>
                                        </p:tgtEl>
                                        <p:attrNameLst>
                                          <p:attrName>ppt_x</p:attrName>
                                          <p:attrName>ppt_y</p:attrName>
                                        </p:attrNameLst>
                                      </p:cBhvr>
                                      <p:rCtr x="0" y="0"/>
                                    </p:animMotion>
                                  </p:childTnLst>
                                  <p:subTnLst>
                                    <p:audio>
                                      <p:cMediaNode vol="50000" showWhenStopped="0">
                                        <p:cTn id="12" display="0" masterRel="sameClick">
                                          <p:stCondLst>
                                            <p:cond evt="onBegin" delay="0">
                                              <p:tn val="10"/>
                                            </p:cond>
                                          </p:stCondLst>
                                        </p:cTn>
                                        <p:tgtEl>
                                          <p:sndTgt r:embed="rId14" name="train.wav"/>
                                        </p:tgtEl>
                                      </p:cMediaNode>
                                    </p:audio>
                                  </p:subTnLst>
                                </p:cTn>
                              </p:par>
                              <p:par>
                                <p:cTn id="13" presetID="6" presetClass="emph" presetSubtype="0" fill="hold" grpId="0" nodeType="withEffect">
                                  <p:stCondLst>
                                    <p:cond delay="1700"/>
                                  </p:stCondLst>
                                  <p:childTnLst>
                                    <p:animScale>
                                      <p:cBhvr>
                                        <p:cTn id="14" dur="450" autoRev="1" fill="hold"/>
                                        <p:tgtEl>
                                          <p:spTgt spid="8"/>
                                        </p:tgtEl>
                                      </p:cBhvr>
                                      <p:by x="118000" y="118000"/>
                                    </p:animScale>
                                  </p:childTnLst>
                                </p:cTn>
                              </p:par>
                            </p:childTnLst>
                          </p:cTn>
                        </p:par>
                      </p:childTnLst>
                    </p:cTn>
                  </p:par>
                  <p:par>
                    <p:cTn id="15" fill="hold">
                      <p:stCondLst>
                        <p:cond delay="indefinite"/>
                      </p:stCondLst>
                      <p:childTnLst>
                        <p:par>
                          <p:cTn id="16" fill="hold">
                            <p:stCondLst>
                              <p:cond delay="0"/>
                            </p:stCondLst>
                            <p:childTnLst>
                              <p:par>
                                <p:cTn id="17" presetID="0" presetClass="path" presetSubtype="0" fill="hold" grpId="1" nodeType="clickEffect">
                                  <p:stCondLst>
                                    <p:cond delay="0"/>
                                  </p:stCondLst>
                                  <p:childTnLst>
                                    <p:animMotion origin="layout" path="M -0.1838 0 L -0.3675 0 E" pathEditMode="relative" ptsTypes="">
                                      <p:cBhvr>
                                        <p:cTn id="18" dur="1800" fill="hold" accel="40000" decel="40000"/>
                                        <p:tgtEl>
                                          <p:spTgt spid="20"/>
                                        </p:tgtEl>
                                        <p:attrNameLst>
                                          <p:attrName>ppt_x</p:attrName>
                                          <p:attrName>ppt_y</p:attrName>
                                        </p:attrNameLst>
                                      </p:cBhvr>
                                      <p:rCtr x="0" y="0"/>
                                    </p:animMotion>
                                  </p:childTnLst>
                                  <p:subTnLst>
                                    <p:audio>
                                      <p:cMediaNode vol="50000" showWhenStopped="0">
                                        <p:cTn id="19" display="0" masterRel="sameClick">
                                          <p:stCondLst>
                                            <p:cond evt="onBegin" delay="0">
                                              <p:tn val="17"/>
                                            </p:cond>
                                          </p:stCondLst>
                                        </p:cTn>
                                        <p:tgtEl>
                                          <p:sndTgt r:embed="rId14" name="train.wav"/>
                                        </p:tgtEl>
                                      </p:cMediaNode>
                                    </p:audio>
                                  </p:subTnLst>
                                </p:cTn>
                              </p:par>
                              <p:par>
                                <p:cTn id="20" presetID="6" presetClass="emph" presetSubtype="0" fill="hold" grpId="0" nodeType="withEffect">
                                  <p:stCondLst>
                                    <p:cond delay="1700"/>
                                  </p:stCondLst>
                                  <p:childTnLst>
                                    <p:animScale>
                                      <p:cBhvr>
                                        <p:cTn id="21" dur="450" autoRev="1" fill="hold"/>
                                        <p:tgtEl>
                                          <p:spTgt spid="11"/>
                                        </p:tgtEl>
                                      </p:cBhvr>
                                      <p:by x="118000" y="118000"/>
                                    </p:animScale>
                                  </p:childTnLst>
                                </p:cTn>
                              </p:par>
                            </p:childTnLst>
                          </p:cTn>
                        </p:par>
                      </p:childTnLst>
                    </p:cTn>
                  </p:par>
                  <p:par>
                    <p:cTn id="22" fill="hold">
                      <p:stCondLst>
                        <p:cond delay="indefinite"/>
                      </p:stCondLst>
                      <p:childTnLst>
                        <p:par>
                          <p:cTn id="23" fill="hold">
                            <p:stCondLst>
                              <p:cond delay="0"/>
                            </p:stCondLst>
                            <p:childTnLst>
                              <p:par>
                                <p:cTn id="24" presetID="0" presetClass="path" presetSubtype="0" fill="hold" grpId="2" nodeType="clickEffect">
                                  <p:stCondLst>
                                    <p:cond delay="0"/>
                                  </p:stCondLst>
                                  <p:childTnLst>
                                    <p:animMotion origin="layout" path="M -0.3675 0 L -0.5513 0 E" pathEditMode="relative" ptsTypes="">
                                      <p:cBhvr>
                                        <p:cTn id="25" dur="1800" fill="hold" accel="40000" decel="40000"/>
                                        <p:tgtEl>
                                          <p:spTgt spid="20"/>
                                        </p:tgtEl>
                                        <p:attrNameLst>
                                          <p:attrName>ppt_x</p:attrName>
                                          <p:attrName>ppt_y</p:attrName>
                                        </p:attrNameLst>
                                      </p:cBhvr>
                                      <p:rCtr x="0" y="0"/>
                                    </p:animMotion>
                                  </p:childTnLst>
                                  <p:subTnLst>
                                    <p:audio>
                                      <p:cMediaNode vol="50000" showWhenStopped="0">
                                        <p:cTn id="26" display="0" masterRel="sameClick">
                                          <p:stCondLst>
                                            <p:cond evt="onBegin" delay="0">
                                              <p:tn val="24"/>
                                            </p:cond>
                                          </p:stCondLst>
                                        </p:cTn>
                                        <p:tgtEl>
                                          <p:sndTgt r:embed="rId14" name="train.wav"/>
                                        </p:tgtEl>
                                      </p:cMediaNode>
                                    </p:audio>
                                  </p:subTnLst>
                                </p:cTn>
                              </p:par>
                              <p:par>
                                <p:cTn id="27" presetID="6" presetClass="emph" presetSubtype="0" fill="hold" grpId="0" nodeType="withEffect">
                                  <p:stCondLst>
                                    <p:cond delay="1700"/>
                                  </p:stCondLst>
                                  <p:childTnLst>
                                    <p:animScale>
                                      <p:cBhvr>
                                        <p:cTn id="28" dur="450" autoRev="1" fill="hold"/>
                                        <p:tgtEl>
                                          <p:spTgt spid="14"/>
                                        </p:tgtEl>
                                      </p:cBhvr>
                                      <p:by x="118000" y="118000"/>
                                    </p:animScale>
                                  </p:childTnLst>
                                </p:cTn>
                              </p:par>
                            </p:childTnLst>
                          </p:cTn>
                        </p:par>
                      </p:childTnLst>
                    </p:cTn>
                  </p:par>
                  <p:par>
                    <p:cTn id="29" fill="hold">
                      <p:stCondLst>
                        <p:cond delay="indefinite"/>
                      </p:stCondLst>
                      <p:childTnLst>
                        <p:par>
                          <p:cTn id="30" fill="hold">
                            <p:stCondLst>
                              <p:cond delay="0"/>
                            </p:stCondLst>
                            <p:childTnLst>
                              <p:par>
                                <p:cTn id="31" presetID="0" presetClass="path" presetSubtype="0" fill="hold" grpId="3" nodeType="clickEffect">
                                  <p:stCondLst>
                                    <p:cond delay="0"/>
                                  </p:stCondLst>
                                  <p:childTnLst>
                                    <p:animMotion origin="layout" path="M -0.5513 0 L -0.7350 0 E" pathEditMode="relative" ptsTypes="">
                                      <p:cBhvr>
                                        <p:cTn id="32" dur="1800" fill="hold" accel="40000" decel="40000"/>
                                        <p:tgtEl>
                                          <p:spTgt spid="20"/>
                                        </p:tgtEl>
                                        <p:attrNameLst>
                                          <p:attrName>ppt_x</p:attrName>
                                          <p:attrName>ppt_y</p:attrName>
                                        </p:attrNameLst>
                                      </p:cBhvr>
                                      <p:rCtr x="0" y="0"/>
                                    </p:animMotion>
                                  </p:childTnLst>
                                  <p:subTnLst>
                                    <p:audio>
                                      <p:cMediaNode vol="50000" showWhenStopped="0">
                                        <p:cTn id="33" display="0" masterRel="sameClick">
                                          <p:stCondLst>
                                            <p:cond evt="onBegin" delay="0">
                                              <p:tn val="31"/>
                                            </p:cond>
                                          </p:stCondLst>
                                        </p:cTn>
                                        <p:tgtEl>
                                          <p:sndTgt r:embed="rId14" name="train.wav"/>
                                        </p:tgtEl>
                                      </p:cMediaNode>
                                    </p:audio>
                                  </p:subTnLst>
                                </p:cTn>
                              </p:par>
                              <p:par>
                                <p:cTn id="34" presetID="6" presetClass="emph" presetSubtype="0" fill="hold" grpId="0" nodeType="withEffect">
                                  <p:stCondLst>
                                    <p:cond delay="1700"/>
                                  </p:stCondLst>
                                  <p:childTnLst>
                                    <p:animScale>
                                      <p:cBhvr>
                                        <p:cTn id="35" dur="450" autoRev="1" fill="hold"/>
                                        <p:tgtEl>
                                          <p:spTgt spid="17"/>
                                        </p:tgtEl>
                                      </p:cBhvr>
                                      <p:by x="118000" y="118000"/>
                                    </p:animScale>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500"/>
                                        <p:tgtEl>
                                          <p:spTgt spid="2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1" grpId="0" animBg="1"/>
      <p:bldP spid="14" grpId="0" animBg="1"/>
      <p:bldP spid="17"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1" descr="عنوان الشريحة">    </p:cNvPr>
          <p:cNvPicPr>
            <a:picLocks noChangeAspect="1"/>
          </p:cNvPicPr>
          <p:nvPr/>
        </p:nvPicPr>
        <p:blipFill>
          <a:blip r:embed="rId2"/>
          <a:stretch>
            <a:fillRect/>
          </a:stretch>
        </p:blipFill>
        <p:spPr>
          <a:xfrm>
            <a:off x="8372201" y="182880"/>
            <a:ext cx="3453734" cy="731520"/>
          </a:xfrm>
          <a:prstGeom prst="rect">
            <a:avLst/>
          </a:prstGeom>
        </p:spPr>
      </p:pic>
      <p:sp>
        <p:nvSpPr>
          <p:cNvPr id="3" name="s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أنظر وأتساءل – التوقّع</a:t>
            </a:r>
            <a:endParaRPr lang="en-US" sz="1600" dirty="0"/>
          </a:p>
        </p:txBody>
      </p:sp>
      <p:pic>
        <p:nvPicPr>
          <p:cNvPr id="4" name="s8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8_4"/>
          <p:cNvSpPr txBox="1"/>
          <p:nvPr/>
        </p:nvSpPr>
        <p:spPr>
          <a:xfrm>
            <a:off x="3566160" y="1417320"/>
            <a:ext cx="5029200" cy="914400"/>
          </a:xfrm>
          <a:prstGeom prst="roundRect">
            <a:avLst>
              <a:gd name="adj" fmla="val 3000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اليابسة 🌵</a:t>
            </a:r>
            <a:endParaRPr lang="ar-SA" sz="2600" dirty="0"/>
          </a:p>
        </p:txBody>
      </p:sp>
      <p:pic>
        <p:nvPicPr>
          <p:cNvPr id="6" name="s8_5@a4" descr="المستكشفة تشير">    </p:cNvPr>
          <p:cNvPicPr>
            <a:picLocks noChangeAspect="1"/>
          </p:cNvPicPr>
          <p:nvPr/>
        </p:nvPicPr>
        <p:blipFill>
          <a:blip r:embed="rId4"/>
          <a:stretch>
            <a:fillRect/>
          </a:stretch>
        </p:blipFill>
        <p:spPr>
          <a:xfrm>
            <a:off x="411480" y="1143000"/>
            <a:ext cx="3106271" cy="5029200"/>
          </a:xfrm>
          <a:prstGeom prst="rect">
            <a:avLst/>
          </a:prstGeom>
        </p:spPr>
      </p:pic>
      <p:sp>
        <p:nvSpPr>
          <p:cNvPr id="7" name="s8_6@a4"/>
          <p:cNvSpPr txBox="1"/>
          <p:nvPr/>
        </p:nvSpPr>
        <p:spPr>
          <a:xfrm>
            <a:off x="3429000" y="1188720"/>
            <a:ext cx="457200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وصلنا إلى اليابسة! 🌵 انظري إلى هذه البومة في كتابي…</a:t>
            </a:r>
            <a:endParaRPr lang="ar-SA" sz="1800" dirty="0"/>
          </a:p>
        </p:txBody>
      </p:sp>
      <p:pic>
        <p:nvPicPr>
          <p:cNvPr id="8" name="s8_7@a4" descr="بومة">    </p:cNvPr>
          <p:cNvPicPr>
            <a:picLocks noChangeAspect="1"/>
          </p:cNvPicPr>
          <p:nvPr/>
        </p:nvPicPr>
        <p:blipFill>
          <a:blip r:embed="rId5"/>
          <a:stretch>
            <a:fillRect/>
          </a:stretch>
        </p:blipFill>
        <p:spPr>
          <a:xfrm>
            <a:off x="8458200" y="1143000"/>
            <a:ext cx="3108960" cy="3108960"/>
          </a:xfrm>
          <a:prstGeom prst="rect">
            <a:avLst/>
          </a:prstGeom>
        </p:spPr>
      </p:pic>
      <p:sp>
        <p:nvSpPr>
          <p:cNvPr id="9" name="s8_8@a4"/>
          <p:cNvSpPr txBox="1"/>
          <p:nvPr/>
        </p:nvSpPr>
        <p:spPr>
          <a:xfrm>
            <a:off x="8458200" y="4251960"/>
            <a:ext cx="310896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5A6785"/>
                </a:solidFill>
                <a:latin typeface="Tahoma" pitchFamily="34" charset="0"/>
                <a:ea typeface="Tahoma" pitchFamily="34" charset="-122"/>
                <a:cs typeface="Tahoma" pitchFamily="34" charset="-120"/>
              </a:rPr>
              <a:t>صورة من كتابي – صفحة ١١٢</a:t>
            </a:r>
            <a:endParaRPr lang="ar-SA" sz="1200" dirty="0"/>
          </a:p>
        </p:txBody>
      </p:sp>
      <p:sp>
        <p:nvSpPr>
          <p:cNvPr id="10" name="s8_9@a4"/>
          <p:cNvSpPr txBox="1"/>
          <p:nvPr/>
        </p:nvSpPr>
        <p:spPr>
          <a:xfrm>
            <a:off x="3429000" y="2240280"/>
            <a:ext cx="484632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أتساءل: </a:t>
            </a:r>
            <a:r>
              <a:rPr lang="ar-SA" altLang="en-US" sz="1800" b="1" dirty="0">
                <a:solidFill>
                  <a:srgbClr val="34405E"/>
                </a:solidFill>
                <a:latin typeface="Tahoma" pitchFamily="34" charset="0"/>
                <a:ea typeface="Tahoma" pitchFamily="34" charset="-122"/>
                <a:cs typeface="Tahoma" pitchFamily="34" charset="-120"/>
              </a:rPr>
              <a:t>من أين تحصل البومة على الطاقة التي تحتاج إليها لتعيش وتطير؟ هل تأخذها من الشمس مباشرة؟</a:t>
            </a:r>
            <a:endParaRPr lang="ar-SA" sz="1800" dirty="0"/>
          </a:p>
        </p:txBody>
      </p:sp>
      <p:sp>
        <p:nvSpPr>
          <p:cNvPr id="11" name="s8_10@a4"/>
          <p:cNvSpPr txBox="1"/>
          <p:nvPr/>
        </p:nvSpPr>
        <p:spPr>
          <a:xfrm>
            <a:off x="4206240" y="3931920"/>
            <a:ext cx="3291840" cy="502920"/>
          </a:xfrm>
          <a:prstGeom prst="roundRect">
            <a:avLst>
              <a:gd name="adj" fmla="val 49091"/>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توقّعي… ثم ناقشي زميلتك</a:t>
            </a:r>
            <a:endParaRPr lang="ar-SA" sz="1600" dirty="0"/>
          </a:p>
        </p:txBody>
      </p:sp>
      <p:sp>
        <p:nvSpPr>
          <p:cNvPr id="12" name="s8_11@c1%chime"/>
          <p:cNvSpPr txBox="1"/>
          <p:nvPr/>
        </p:nvSpPr>
        <p:spPr>
          <a:xfrm>
            <a:off x="3429000" y="4663440"/>
            <a:ext cx="8229600" cy="914400"/>
          </a:xfrm>
          <a:prstGeom prst="roundRect">
            <a:avLst>
              <a:gd name="adj" fmla="val 14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a:t>
            </a:r>
            <a:r>
              <a:rPr lang="ar-SA" altLang="en-US" sz="1650" dirty="0">
                <a:solidFill>
                  <a:srgbClr val="34405E"/>
                </a:solidFill>
                <a:latin typeface="Tahoma" pitchFamily="34" charset="0"/>
                <a:ea typeface="Tahoma" pitchFamily="34" charset="-122"/>
                <a:cs typeface="Tahoma" pitchFamily="34" charset="-120"/>
              </a:rPr>
              <a:t>لا تأخذ البومة طاقتها من الشمس مباشرة، بل من غذائها… وغذاؤها حصل على الطاقة من مخلوق قبله! هيا نقرأ ونكتشف 📖</a:t>
            </a:r>
            <a:endParaRPr lang="ar-SA" sz="1650" dirty="0"/>
          </a:p>
        </p:txBody>
      </p:sp>
      <p:sp>
        <p:nvSpPr>
          <p:cNvPr id="13" name="s8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8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8"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9"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subTnLst>
                                    <p:audio>
                                      <p:cMediaNode vol="50000" showWhenStopped="0">
                                        <p:cTn id="47" display="0" masterRel="sameClick">
                                          <p:stCondLst>
                                            <p:cond evt="onBegin" delay="0">
                                              <p:tn val="44"/>
                                            </p:cond>
                                          </p:stCondLst>
                                        </p:cTn>
                                        <p:tgtEl>
                                          <p:sndTgt r:embed="rId9"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7" grpId="0" animBg="1"/>
      <p:bldP spid="9" grpId="0" animBg="1"/>
      <p:bldP spid="10" grpId="0" animBg="1"/>
      <p:bldP spid="11" grpId="0" animBg="1"/>
      <p:bldP spid="1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1" descr="عنوان الشريحة">    </p:cNvPr>
          <p:cNvPicPr>
            <a:picLocks noChangeAspect="1"/>
          </p:cNvPicPr>
          <p:nvPr/>
        </p:nvPicPr>
        <p:blipFill>
          <a:blip r:embed="rId2"/>
          <a:stretch>
            <a:fillRect/>
          </a:stretch>
        </p:blipFill>
        <p:spPr>
          <a:xfrm>
            <a:off x="6909161" y="182880"/>
            <a:ext cx="4916774" cy="731520"/>
          </a:xfrm>
          <a:prstGeom prst="rect">
            <a:avLst/>
          </a:prstGeom>
        </p:spPr>
      </p:pic>
      <p:sp>
        <p:nvSpPr>
          <p:cNvPr id="3" name="s9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9_3" descr="صفحة ١١٢ من كتاب العلوم">    </p:cNvPr>
          <p:cNvPicPr>
            <a:picLocks noChangeAspect="1"/>
          </p:cNvPicPr>
          <p:nvPr/>
        </p:nvPicPr>
        <p:blipFill>
          <a:blip r:embed="rId3"/>
          <a:stretch>
            <a:fillRect/>
          </a:stretch>
        </p:blipFill>
        <p:spPr>
          <a:xfrm>
            <a:off x="365760" y="896112"/>
            <a:ext cx="4269393" cy="5486400"/>
          </a:xfrm>
          <a:prstGeom prst="rect">
            <a:avLst/>
          </a:prstGeom>
        </p:spPr>
      </p:pic>
      <p:sp>
        <p:nvSpPr>
          <p:cNvPr id="5" name="s9_4"/>
          <p:cNvSpPr txBox="1"/>
          <p:nvPr/>
        </p:nvSpPr>
        <p:spPr>
          <a:xfrm>
            <a:off x="365760" y="6364224"/>
            <a:ext cx="4269393"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١١٢ من كتابي</a:t>
            </a:r>
            <a:endParaRPr lang="ar-SA" sz="1100" dirty="0"/>
          </a:p>
        </p:txBody>
      </p:sp>
      <p:sp>
        <p:nvSpPr>
          <p:cNvPr id="6" name="page112_q0"/>
          <p:cNvSpPr txBox="1"/>
          <p:nvPr/>
        </p:nvSpPr>
        <p:spPr>
          <a:xfrm>
            <a:off x="8321984" y="914400"/>
            <a:ext cx="3458231"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مصدر الطاقة في النظام البيئي؟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9_5@t=page112_q0%chime"/>
          <p:cNvSpPr txBox="1"/>
          <p:nvPr/>
        </p:nvSpPr>
        <p:spPr>
          <a:xfrm>
            <a:off x="4863753" y="91440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الشمس.</a:t>
            </a:r>
            <a:endParaRPr lang="ar-SA" sz="1400" dirty="0"/>
          </a:p>
        </p:txBody>
      </p:sp>
      <p:sp>
        <p:nvSpPr>
          <p:cNvPr id="8" name="s9_6@t=page112_q0"/>
          <p:cNvSpPr/>
          <p:nvPr/>
        </p:nvSpPr>
        <p:spPr>
          <a:xfrm>
            <a:off x="1105832" y="2415726"/>
            <a:ext cx="1414360" cy="164460"/>
          </a:xfrm>
          <a:prstGeom prst="roundRect">
            <a:avLst>
              <a:gd name="adj" fmla="val 27800"/>
            </a:avLst>
          </a:prstGeom>
          <a:solidFill>
            <a:srgbClr val="FFEB3B">
              <a:alpha val="45000"/>
            </a:srgbClr>
          </a:solidFill>
          <a:ln w="25400">
            <a:solidFill>
              <a:srgbClr val="F5A623"/>
            </a:solidFill>
            <a:prstDash val="solid"/>
          </a:ln>
        </p:spPr>
      </p:sp>
      <p:sp>
        <p:nvSpPr>
          <p:cNvPr id="9" name="page112_q1"/>
          <p:cNvSpPr txBox="1"/>
          <p:nvPr/>
        </p:nvSpPr>
        <p:spPr>
          <a:xfrm>
            <a:off x="8321984" y="2308860"/>
            <a:ext cx="3458231"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يستطيع الحيوان أخذ الطاقة من الشمس مباشرة؟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9_7@t=page112_q1%chime"/>
          <p:cNvSpPr txBox="1"/>
          <p:nvPr/>
        </p:nvSpPr>
        <p:spPr>
          <a:xfrm>
            <a:off x="4863753" y="230886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 الطاقة تُختزَن في المنتجات، ثم تنتقل منها إلى المستهلكات عن طريق الغذاء.</a:t>
            </a:r>
            <a:endParaRPr lang="ar-SA" sz="1400" dirty="0"/>
          </a:p>
        </p:txBody>
      </p:sp>
      <p:sp>
        <p:nvSpPr>
          <p:cNvPr id="11" name="s9_8@t=page112_q1"/>
          <p:cNvSpPr/>
          <p:nvPr/>
        </p:nvSpPr>
        <p:spPr>
          <a:xfrm>
            <a:off x="859141" y="2754515"/>
            <a:ext cx="1661050" cy="493381"/>
          </a:xfrm>
          <a:prstGeom prst="roundRect">
            <a:avLst>
              <a:gd name="adj" fmla="val 9267"/>
            </a:avLst>
          </a:prstGeom>
          <a:solidFill>
            <a:srgbClr val="FFEB3B">
              <a:alpha val="45000"/>
            </a:srgbClr>
          </a:solidFill>
          <a:ln w="25400">
            <a:solidFill>
              <a:srgbClr val="F5A623"/>
            </a:solidFill>
            <a:prstDash val="solid"/>
          </a:ln>
        </p:spPr>
      </p:sp>
      <p:sp>
        <p:nvSpPr>
          <p:cNvPr id="12" name="page112_q2"/>
          <p:cNvSpPr txBox="1"/>
          <p:nvPr/>
        </p:nvSpPr>
        <p:spPr>
          <a:xfrm>
            <a:off x="8321984" y="3703320"/>
            <a:ext cx="3458231"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في النص؟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9_9@t=page112_q2%chime"/>
          <p:cNvSpPr txBox="1"/>
          <p:nvPr/>
        </p:nvSpPr>
        <p:spPr>
          <a:xfrm>
            <a:off x="4863753" y="370332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السلسلة الغذائية: انتقال الطاقة من مخلوق حي إلى آخر عن طريق الغذاء.</a:t>
            </a:r>
            <a:endParaRPr lang="ar-SA" sz="1400" dirty="0"/>
          </a:p>
        </p:txBody>
      </p:sp>
      <p:sp>
        <p:nvSpPr>
          <p:cNvPr id="14" name="s9_10@t=page112_q2"/>
          <p:cNvSpPr/>
          <p:nvPr/>
        </p:nvSpPr>
        <p:spPr>
          <a:xfrm>
            <a:off x="859141" y="3257764"/>
            <a:ext cx="1661050" cy="328921"/>
          </a:xfrm>
          <a:prstGeom prst="roundRect">
            <a:avLst>
              <a:gd name="adj" fmla="val 13900"/>
            </a:avLst>
          </a:prstGeom>
          <a:solidFill>
            <a:srgbClr val="FFEB3B">
              <a:alpha val="45000"/>
            </a:srgbClr>
          </a:solidFill>
          <a:ln w="25400">
            <a:solidFill>
              <a:srgbClr val="F5A623"/>
            </a:solidFill>
            <a:prstDash val="solid"/>
          </a:ln>
        </p:spPr>
      </p:sp>
      <p:sp>
        <p:nvSpPr>
          <p:cNvPr id="15" name="page112_q3"/>
          <p:cNvSpPr txBox="1"/>
          <p:nvPr/>
        </p:nvSpPr>
        <p:spPr>
          <a:xfrm>
            <a:off x="8321984" y="5097780"/>
            <a:ext cx="3458231"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كيف تنتقل الطاقة في سلسلة اليابسة؟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9_11@t=page112_q3%chime"/>
          <p:cNvSpPr txBox="1"/>
          <p:nvPr/>
        </p:nvSpPr>
        <p:spPr>
          <a:xfrm>
            <a:off x="4863753" y="509778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من نبات الشوك (منتِج) إلى اليرقة ثم السرعوف ثم السحلية ثم البومة.</a:t>
            </a:r>
            <a:endParaRPr lang="ar-SA" sz="1400" dirty="0"/>
          </a:p>
        </p:txBody>
      </p:sp>
      <p:sp>
        <p:nvSpPr>
          <p:cNvPr id="17" name="s9_12@t=page112_q3"/>
          <p:cNvSpPr/>
          <p:nvPr/>
        </p:nvSpPr>
        <p:spPr>
          <a:xfrm>
            <a:off x="2543216" y="1198719"/>
            <a:ext cx="2065623" cy="4466745"/>
          </a:xfrm>
          <a:prstGeom prst="roundRect">
            <a:avLst>
              <a:gd name="adj" fmla="val 2213"/>
            </a:avLst>
          </a:prstGeom>
          <a:solidFill>
            <a:srgbClr val="BDE6FA">
              <a:alpha val="45000"/>
            </a:srgbClr>
          </a:solidFill>
          <a:ln w="25400">
            <a:solidFill>
              <a:srgbClr val="1E7FB8"/>
            </a:solidFill>
            <a:prstDash val="solid"/>
          </a:ln>
        </p:spPr>
      </p:sp>
      <p:sp>
        <p:nvSpPr>
          <p:cNvPr id="18" name="s9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9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over/>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1" descr="عنوان الشريحة">    </p:cNvPr>
          <p:cNvPicPr>
            <a:picLocks noChangeAspect="1"/>
          </p:cNvPicPr>
          <p:nvPr/>
        </p:nvPicPr>
        <p:blipFill>
          <a:blip r:embed="rId2"/>
          <a:stretch>
            <a:fillRect/>
          </a:stretch>
        </p:blipFill>
        <p:spPr>
          <a:xfrm>
            <a:off x="9325576" y="182880"/>
            <a:ext cx="2500359" cy="731520"/>
          </a:xfrm>
          <a:prstGeom prst="rect">
            <a:avLst/>
          </a:prstGeom>
        </p:spPr>
      </p:pic>
      <p:sp>
        <p:nvSpPr>
          <p:cNvPr id="3" name="s10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التأمل والتدبّر</a:t>
            </a:r>
            <a:endParaRPr lang="en-US" sz="1600" dirty="0"/>
          </a:p>
        </p:txBody>
      </p:sp>
      <p:sp>
        <p:nvSpPr>
          <p:cNvPr id="4" name="s10_3"/>
          <p:cNvSpPr txBox="1"/>
          <p:nvPr/>
        </p:nvSpPr>
        <p:spPr>
          <a:xfrm>
            <a:off x="1828800" y="1325880"/>
            <a:ext cx="850392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قال تعالى:</a:t>
            </a:r>
            <a:endParaRPr lang="ar-SA" sz="1900" dirty="0"/>
          </a:p>
        </p:txBody>
      </p:sp>
      <p:sp>
        <p:nvSpPr>
          <p:cNvPr id="5" name="s10_4"/>
          <p:cNvSpPr txBox="1"/>
          <p:nvPr/>
        </p:nvSpPr>
        <p:spPr>
          <a:xfrm>
            <a:off x="1463040" y="1828800"/>
            <a:ext cx="9235440" cy="1371600"/>
          </a:xfrm>
          <a:prstGeom prst="rect">
            <a:avLst/>
          </a:prstGeom>
          <a:noFill/>
          <a:ln/>
        </p:spPr>
        <p:txBody>
          <a:bodyPr wrap="square" lIns="63500" tIns="63500" rIns="63500" bIns="63500" rtlCol="0" anchor="ctr"/>
          <a:lstStyle/>
          <a:p>
            <a:pPr rtl="1" algn="ctr" indent="0" marL="0">
              <a:buNone/>
            </a:pPr>
            <a:r>
              <a:rPr lang="ar-SA" altLang="en-US" sz="3000" b="1" dirty="0">
                <a:solidFill>
                  <a:srgbClr val="1B5E20"/>
                </a:solidFill>
                <a:latin typeface="Tahoma" pitchFamily="34" charset="0"/>
                <a:ea typeface="Tahoma" pitchFamily="34" charset="-122"/>
                <a:cs typeface="Tahoma" pitchFamily="34" charset="-120"/>
              </a:rPr>
              <a:t>﴿وَكَأَيِّن مِّن دَابَّةٍ لَّا تَحْمِلُ رِزْقَهَا اللَّهُ يَرْزُقُهَا وَإِيَّاكُمْ ۚ وَهُوَ السَّمِيعُ الْعَلِيمُ﴾</a:t>
            </a:r>
            <a:endParaRPr lang="ar-SA" sz="3000" dirty="0"/>
          </a:p>
        </p:txBody>
      </p:sp>
      <p:sp>
        <p:nvSpPr>
          <p:cNvPr id="6" name="s10_5"/>
          <p:cNvSpPr txBox="1"/>
          <p:nvPr/>
        </p:nvSpPr>
        <p:spPr>
          <a:xfrm>
            <a:off x="1828800" y="3154680"/>
            <a:ext cx="850392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[العنكبوت: ٦٠]</a:t>
            </a:r>
            <a:endParaRPr lang="ar-SA" sz="1400" dirty="0"/>
          </a:p>
        </p:txBody>
      </p:sp>
      <p:sp>
        <p:nvSpPr>
          <p:cNvPr id="7" name="s10_6@c1"/>
          <p:cNvSpPr txBox="1"/>
          <p:nvPr/>
        </p:nvSpPr>
        <p:spPr>
          <a:xfrm>
            <a:off x="1828800" y="3794760"/>
            <a:ext cx="8503920" cy="1051560"/>
          </a:xfrm>
          <a:prstGeom prst="roundRect">
            <a:avLst>
              <a:gd name="adj" fmla="val 12174"/>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كم من مخلوقٍ لا يحمل رزقه ولا يدّخره، والله تعالى يرزقه ويرزقنا؛ فجعل لكل مخلوق مصدرًا يحصل منه على طاقته، فسبحان الرزّاق.</a:t>
            </a:r>
            <a:endParaRPr lang="ar-SA" sz="1700" dirty="0"/>
          </a:p>
        </p:txBody>
      </p:sp>
      <p:sp>
        <p:nvSpPr>
          <p:cNvPr id="8" name="s10_7@c2"/>
          <p:cNvSpPr txBox="1"/>
          <p:nvPr/>
        </p:nvSpPr>
        <p:spPr>
          <a:xfrm>
            <a:off x="2377440" y="5029200"/>
            <a:ext cx="740664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سؤال للتأمل: ممّن تحصل البومة على رزقها؟ وممّن حصل رزقُها على رزقه؟</a:t>
            </a:r>
            <a:endParaRPr lang="ar-SA" sz="1600" dirty="0"/>
          </a:p>
        </p:txBody>
      </p:sp>
      <p:sp>
        <p:nvSpPr>
          <p:cNvPr id="9" name="s10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0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pic>
        <p:nvPicPr>
          <p:cNvPr id="4"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5" name="!!l_thistle"/>
          <p:cNvSpPr txBox="1"/>
          <p:nvPr/>
        </p:nvSpPr>
        <p:spPr>
          <a:xfrm>
            <a:off x="8112166" y="5603491"/>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pic>
        <p:nvPicPr>
          <p:cNvPr id="6"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7" name="!!l_caterpillar"/>
          <p:cNvSpPr txBox="1"/>
          <p:nvPr/>
        </p:nvSpPr>
        <p:spPr>
          <a:xfrm>
            <a:off x="6377194" y="4712559"/>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pic>
        <p:nvPicPr>
          <p:cNvPr id="8"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9" name="!!l_mantis"/>
          <p:cNvSpPr txBox="1"/>
          <p:nvPr/>
        </p:nvSpPr>
        <p:spPr>
          <a:xfrm>
            <a:off x="4595331" y="5556600"/>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pic>
        <p:nvPicPr>
          <p:cNvPr id="10"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1" name="!!l_lizard"/>
          <p:cNvSpPr txBox="1"/>
          <p:nvPr/>
        </p:nvSpPr>
        <p:spPr>
          <a:xfrm>
            <a:off x="2813468" y="4618777"/>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pic>
        <p:nvPicPr>
          <p:cNvPr id="12"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3" name="!!l_owl"/>
          <p:cNvSpPr txBox="1"/>
          <p:nvPr/>
        </p:nvSpPr>
        <p:spPr>
          <a:xfrm>
            <a:off x="1031605" y="3587172"/>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4" name="!!orb" descr="كرة الطاقة">    </p:cNvPr>
          <p:cNvPicPr>
            <a:picLocks noChangeAspect="1"/>
          </p:cNvPicPr>
          <p:nvPr/>
        </p:nvPicPr>
        <p:blipFill>
          <a:blip r:embed="rId9"/>
          <a:stretch>
            <a:fillRect/>
          </a:stretch>
        </p:blipFill>
        <p:spPr>
          <a:xfrm>
            <a:off x="9870584" y="1523962"/>
            <a:ext cx="890932" cy="890932"/>
          </a:xfrm>
          <a:prstGeom prst="rect">
            <a:avLst/>
          </a:prstGeom>
        </p:spPr>
      </p:pic>
      <p:pic>
        <p:nvPicPr>
          <p:cNvPr id="15" name="!!title" descr="عنوان الشريحة">    </p:cNvPr>
          <p:cNvPicPr>
            <a:picLocks noChangeAspect="1"/>
          </p:cNvPicPr>
          <p:nvPr/>
        </p:nvPicPr>
        <p:blipFill>
          <a:blip r:embed="rId10"/>
          <a:stretch>
            <a:fillRect/>
          </a:stretch>
        </p:blipFill>
        <p:spPr>
          <a:xfrm>
            <a:off x="6561390" y="182880"/>
            <a:ext cx="5264546" cy="731520"/>
          </a:xfrm>
          <a:prstGeom prst="rect">
            <a:avLst/>
          </a:prstGeom>
        </p:spPr>
      </p:pic>
      <p:sp>
        <p:nvSpPr>
          <p:cNvPr id="16" name="!!strat"/>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الواقع الافتراضي – التعلّم البصري</a:t>
            </a:r>
            <a:endParaRPr lang="en-US" sz="1600" dirty="0"/>
          </a:p>
        </p:txBody>
      </p:sp>
      <p:sp>
        <p:nvSpPr>
          <p:cNvPr id="17"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ضعي نظارة الواقع الافتراضي… سندخل إلى صورة السلسلة الغذائية ونطير مع كرة الطاقة ⚡ من الشمس حتى البومة!</a:t>
            </a:r>
            <a:endParaRPr lang="ar-SA" sz="1700" dirty="0"/>
          </a:p>
        </p:txBody>
      </p:sp>
      <p:sp>
        <p:nvSpPr>
          <p:cNvPr id="18"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0"/>
                                  </p:stCondLst>
                                  <p:childTnLst>
                                    <p:animScale>
                                      <p:cBhvr>
                                        <p:cTn id="6" dur="600" autoRev="1" fill="hold"/>
                                        <p:tgtEl>
                                          <p:spTgt spid="14"/>
                                        </p:tgtEl>
                                      </p:cBhvr>
                                      <p:by x="118000" y="11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6670548" y="-2807208"/>
            <a:ext cx="20208240" cy="11368689"/>
          </a:xfrm>
          <a:prstGeom prst="rect">
            <a:avLst/>
          </a:prstGeom>
        </p:spPr>
      </p:pic>
      <p:pic>
        <p:nvPicPr>
          <p:cNvPr id="3" name="!!sun" descr="الشمس">    </p:cNvPr>
          <p:cNvPicPr>
            <a:picLocks noChangeAspect="1"/>
          </p:cNvPicPr>
          <p:nvPr/>
        </p:nvPicPr>
        <p:blipFill>
          <a:blip r:embed="rId3"/>
          <a:stretch>
            <a:fillRect/>
          </a:stretch>
        </p:blipFill>
        <p:spPr>
          <a:xfrm>
            <a:off x="9496044" y="-475488"/>
            <a:ext cx="1865376" cy="1865376"/>
          </a:xfrm>
          <a:prstGeom prst="rect">
            <a:avLst/>
          </a:prstGeom>
        </p:spPr>
      </p:pic>
      <p:sp>
        <p:nvSpPr>
          <p:cNvPr id="4" name="!!beam"/>
          <p:cNvSpPr/>
          <p:nvPr/>
        </p:nvSpPr>
        <p:spPr>
          <a:xfrm flipH="1">
            <a:off x="8563356" y="1156716"/>
            <a:ext cx="1165860" cy="3342132"/>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775704" y="4265676"/>
            <a:ext cx="2176272" cy="2176272"/>
          </a:xfrm>
          <a:prstGeom prst="rect">
            <a:avLst/>
          </a:prstGeom>
        </p:spPr>
      </p:pic>
      <p:sp>
        <p:nvSpPr>
          <p:cNvPr id="6" name="!!l_thistle"/>
          <p:cNvSpPr txBox="1"/>
          <p:nvPr/>
        </p:nvSpPr>
        <p:spPr>
          <a:xfrm>
            <a:off x="6775704" y="6480810"/>
            <a:ext cx="2176272" cy="481889"/>
          </a:xfrm>
          <a:prstGeom prst="roundRect">
            <a:avLst>
              <a:gd name="adj" fmla="val 18975"/>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نبات الشوك</a:t>
            </a:r>
            <a:endParaRPr lang="ar-SA" sz="1500" dirty="0"/>
          </a:p>
        </p:txBody>
      </p:sp>
      <p:pic>
        <p:nvPicPr>
          <p:cNvPr id="7" name="!!c_caterpillar" descr="يرقة">    </p:cNvPr>
          <p:cNvPicPr>
            <a:picLocks noChangeAspect="1"/>
          </p:cNvPicPr>
          <p:nvPr/>
        </p:nvPicPr>
        <p:blipFill>
          <a:blip r:embed="rId5"/>
          <a:stretch>
            <a:fillRect/>
          </a:stretch>
        </p:blipFill>
        <p:spPr>
          <a:xfrm>
            <a:off x="3899916" y="2788920"/>
            <a:ext cx="2176272" cy="2176272"/>
          </a:xfrm>
          <a:prstGeom prst="rect">
            <a:avLst/>
          </a:prstGeom>
        </p:spPr>
      </p:pic>
      <p:sp>
        <p:nvSpPr>
          <p:cNvPr id="8" name="!!l_caterpillar"/>
          <p:cNvSpPr txBox="1"/>
          <p:nvPr/>
        </p:nvSpPr>
        <p:spPr>
          <a:xfrm>
            <a:off x="3899916" y="5004054"/>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اليرقة</a:t>
            </a:r>
            <a:endParaRPr lang="ar-SA" sz="1500" dirty="0"/>
          </a:p>
        </p:txBody>
      </p:sp>
      <p:pic>
        <p:nvPicPr>
          <p:cNvPr id="9" name="!!c_mantis" descr="سرعوف">    </p:cNvPr>
          <p:cNvPicPr>
            <a:picLocks noChangeAspect="1"/>
          </p:cNvPicPr>
          <p:nvPr/>
        </p:nvPicPr>
        <p:blipFill>
          <a:blip r:embed="rId6"/>
          <a:stretch>
            <a:fillRect/>
          </a:stretch>
        </p:blipFill>
        <p:spPr>
          <a:xfrm>
            <a:off x="946404" y="4187952"/>
            <a:ext cx="2176272" cy="2176272"/>
          </a:xfrm>
          <a:prstGeom prst="rect">
            <a:avLst/>
          </a:prstGeom>
        </p:spPr>
      </p:pic>
      <p:sp>
        <p:nvSpPr>
          <p:cNvPr id="10" name="!!l_mantis"/>
          <p:cNvSpPr txBox="1"/>
          <p:nvPr/>
        </p:nvSpPr>
        <p:spPr>
          <a:xfrm>
            <a:off x="946404" y="640308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السرعوف</a:t>
            </a:r>
            <a:endParaRPr lang="ar-SA" sz="1500" dirty="0"/>
          </a:p>
        </p:txBody>
      </p:sp>
      <p:pic>
        <p:nvPicPr>
          <p:cNvPr id="11" name="!!c_lizard" descr="سحلية">    </p:cNvPr>
          <p:cNvPicPr>
            <a:picLocks noChangeAspect="1"/>
          </p:cNvPicPr>
          <p:nvPr/>
        </p:nvPicPr>
        <p:blipFill>
          <a:blip r:embed="rId7"/>
          <a:stretch>
            <a:fillRect/>
          </a:stretch>
        </p:blipFill>
        <p:spPr>
          <a:xfrm>
            <a:off x="-2007108" y="2633472"/>
            <a:ext cx="2176272" cy="2176272"/>
          </a:xfrm>
          <a:prstGeom prst="rect">
            <a:avLst/>
          </a:prstGeom>
        </p:spPr>
      </p:pic>
      <p:sp>
        <p:nvSpPr>
          <p:cNvPr id="12" name="!!l_lizard"/>
          <p:cNvSpPr txBox="1"/>
          <p:nvPr/>
        </p:nvSpPr>
        <p:spPr>
          <a:xfrm>
            <a:off x="-2007108" y="484860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السحلية</a:t>
            </a:r>
            <a:endParaRPr lang="ar-SA" sz="1500" dirty="0"/>
          </a:p>
        </p:txBody>
      </p:sp>
      <p:pic>
        <p:nvPicPr>
          <p:cNvPr id="13" name="!!c_owl" descr="بومة">    </p:cNvPr>
          <p:cNvPicPr>
            <a:picLocks noChangeAspect="1"/>
          </p:cNvPicPr>
          <p:nvPr/>
        </p:nvPicPr>
        <p:blipFill>
          <a:blip r:embed="rId8"/>
          <a:stretch>
            <a:fillRect/>
          </a:stretch>
        </p:blipFill>
        <p:spPr>
          <a:xfrm>
            <a:off x="-4960620" y="923544"/>
            <a:ext cx="2176272" cy="2176272"/>
          </a:xfrm>
          <a:prstGeom prst="rect">
            <a:avLst/>
          </a:prstGeom>
        </p:spPr>
      </p:pic>
      <p:sp>
        <p:nvSpPr>
          <p:cNvPr id="14" name="!!l_owl"/>
          <p:cNvSpPr txBox="1"/>
          <p:nvPr/>
        </p:nvSpPr>
        <p:spPr>
          <a:xfrm>
            <a:off x="-4960620" y="3138678"/>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البومة</a:t>
            </a:r>
            <a:endParaRPr lang="ar-SA" sz="1500" dirty="0"/>
          </a:p>
        </p:txBody>
      </p:sp>
      <p:pic>
        <p:nvPicPr>
          <p:cNvPr id="15" name="!!orb" descr="كرة الطاقة">    </p:cNvPr>
          <p:cNvPicPr>
            <a:picLocks noChangeAspect="1"/>
          </p:cNvPicPr>
          <p:nvPr/>
        </p:nvPicPr>
        <p:blipFill>
          <a:blip r:embed="rId9"/>
          <a:stretch>
            <a:fillRect/>
          </a:stretch>
        </p:blipFill>
        <p:spPr>
          <a:xfrm>
            <a:off x="8252460" y="3799332"/>
            <a:ext cx="1165860" cy="1165860"/>
          </a:xfrm>
          <a:prstGeom prst="rect">
            <a:avLst/>
          </a:prstGeom>
        </p:spPr>
      </p:pic>
      <p:sp>
        <p:nvSpPr>
          <p:cNvPr id="16" name="!!cap"/>
          <p:cNvSpPr txBox="1"/>
          <p:nvPr/>
        </p:nvSpPr>
        <p:spPr>
          <a:xfrm>
            <a:off x="41148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 🌿 نبات الشوك (منتِج)
</a:t>
            </a:r>
            <a:r>
              <a:rPr lang="ar-SA" altLang="en-US" sz="1600" dirty="0">
                <a:solidFill>
                  <a:srgbClr val="34405E"/>
                </a:solidFill>
                <a:latin typeface="Tahoma" pitchFamily="34" charset="0"/>
                <a:ea typeface="Tahoma" pitchFamily="34" charset="-122"/>
                <a:cs typeface="Tahoma" pitchFamily="34" charset="-120"/>
              </a:rPr>
              <a:t>يلتقط طاقة الشمس، ويصنع غذاءه بنفسه.</a:t>
            </a:r>
            <a:endParaRPr lang="ar-SA" sz="1600" dirty="0"/>
          </a:p>
        </p:txBody>
      </p:sp>
      <p:sp>
        <p:nvSpPr>
          <p:cNvPr id="17" name="!!meter"/>
          <p:cNvSpPr txBox="1"/>
          <p:nvPr/>
        </p:nvSpPr>
        <p:spPr>
          <a:xfrm>
            <a:off x="41148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8" name="s12_1"/>
          <p:cNvSpPr txBox="1"/>
          <p:nvPr/>
        </p:nvSpPr>
        <p:spPr>
          <a:xfrm>
            <a:off x="41148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من أين يحصل نبات الشوك على طاقته؟</a:t>
            </a:r>
            <a:endParaRPr lang="ar-SA" sz="1550" dirty="0"/>
          </a:p>
        </p:txBody>
      </p:sp>
      <p:sp>
        <p:nvSpPr>
          <p:cNvPr id="19" name="s12_2@c1%chime"/>
          <p:cNvSpPr txBox="1"/>
          <p:nvPr/>
        </p:nvSpPr>
        <p:spPr>
          <a:xfrm>
            <a:off x="41148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من الشمس ☀️</a:t>
            </a:r>
            <a:endParaRPr lang="ar-SA" sz="1500" dirty="0"/>
          </a:p>
        </p:txBody>
      </p:sp>
      <p:sp>
        <p:nvSpPr>
          <p:cNvPr id="20"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1"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5"/>
                                        </p:tgtEl>
                                      </p:cBhvr>
                                      <p:by x="118000" y="118000"/>
                                    </p:animScale>
                                  </p:childTnLst>
                                </p:cTn>
                              </p:par>
                              <p:par>
                                <p:cTn id="7" presetID="6" presetClass="emph" presetSubtype="0" fill="hold" grpId="0" nodeType="withEffect">
                                  <p:stCondLst>
                                    <p:cond delay="200"/>
                                  </p:stCondLst>
                                  <p:childTnLst>
                                    <p:animScale>
                                      <p:cBhvr>
                                        <p:cTn id="8" dur="500" autoRev="1" fill="hold"/>
                                        <p:tgtEl>
                                          <p:spTgt spid="15"/>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3213080" y="-62636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0561320" y="-2834640"/>
            <a:ext cx="2743200" cy="2743200"/>
          </a:xfrm>
          <a:prstGeom prst="rect">
            <a:avLst/>
          </a:prstGeom>
        </p:spPr>
      </p:pic>
      <p:sp>
        <p:nvSpPr>
          <p:cNvPr id="4" name="!!beam"/>
          <p:cNvSpPr/>
          <p:nvPr/>
        </p:nvSpPr>
        <p:spPr>
          <a:xfrm flipH="1">
            <a:off x="9189720" y="-4343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560820" y="4137660"/>
            <a:ext cx="3200400" cy="3200400"/>
          </a:xfrm>
          <a:prstGeom prst="rect">
            <a:avLst/>
          </a:prstGeom>
        </p:spPr>
      </p:pic>
      <p:sp>
        <p:nvSpPr>
          <p:cNvPr id="6" name="!!l_thistle"/>
          <p:cNvSpPr txBox="1"/>
          <p:nvPr/>
        </p:nvSpPr>
        <p:spPr>
          <a:xfrm>
            <a:off x="6560820" y="73952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5457083" y="43493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2331720" y="1965960"/>
            <a:ext cx="3200400" cy="3200400"/>
          </a:xfrm>
          <a:prstGeom prst="rect">
            <a:avLst/>
          </a:prstGeom>
        </p:spPr>
      </p:pic>
      <p:sp>
        <p:nvSpPr>
          <p:cNvPr id="9" name="!!l_caterpillar"/>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10" name="!!c_mantis" descr="سرعوف">    </p:cNvPr>
          <p:cNvPicPr>
            <a:picLocks noChangeAspect="1"/>
          </p:cNvPicPr>
          <p:nvPr/>
        </p:nvPicPr>
        <p:blipFill>
          <a:blip r:embed="rId6"/>
          <a:stretch>
            <a:fillRect/>
          </a:stretch>
        </p:blipFill>
        <p:spPr>
          <a:xfrm>
            <a:off x="-2011680" y="4023360"/>
            <a:ext cx="3200400" cy="3200400"/>
          </a:xfrm>
          <a:prstGeom prst="rect">
            <a:avLst/>
          </a:prstGeom>
        </p:spPr>
      </p:pic>
      <p:sp>
        <p:nvSpPr>
          <p:cNvPr id="11" name="!!l_mantis"/>
          <p:cNvSpPr txBox="1"/>
          <p:nvPr/>
        </p:nvSpPr>
        <p:spPr>
          <a:xfrm>
            <a:off x="-2011680" y="7280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2" name="!!c_lizard" descr="سحلية">    </p:cNvPr>
          <p:cNvPicPr>
            <a:picLocks noChangeAspect="1"/>
          </p:cNvPicPr>
          <p:nvPr/>
        </p:nvPicPr>
        <p:blipFill>
          <a:blip r:embed="rId7"/>
          <a:stretch>
            <a:fillRect/>
          </a:stretch>
        </p:blipFill>
        <p:spPr>
          <a:xfrm>
            <a:off x="-6355080" y="1737360"/>
            <a:ext cx="3200400" cy="3200400"/>
          </a:xfrm>
          <a:prstGeom prst="rect">
            <a:avLst/>
          </a:prstGeom>
        </p:spPr>
      </p:pic>
      <p:sp>
        <p:nvSpPr>
          <p:cNvPr id="13" name="!!l_lizard"/>
          <p:cNvSpPr txBox="1"/>
          <p:nvPr/>
        </p:nvSpPr>
        <p:spPr>
          <a:xfrm>
            <a:off x="-6355080" y="4994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4" name="!!c_owl" descr="بومة">    </p:cNvPr>
          <p:cNvPicPr>
            <a:picLocks noChangeAspect="1"/>
          </p:cNvPicPr>
          <p:nvPr/>
        </p:nvPicPr>
        <p:blipFill>
          <a:blip r:embed="rId8"/>
          <a:stretch>
            <a:fillRect/>
          </a:stretch>
        </p:blipFill>
        <p:spPr>
          <a:xfrm>
            <a:off x="-10698480" y="-777240"/>
            <a:ext cx="3200400" cy="3200400"/>
          </a:xfrm>
          <a:prstGeom prst="rect">
            <a:avLst/>
          </a:prstGeom>
        </p:spPr>
      </p:pic>
      <p:sp>
        <p:nvSpPr>
          <p:cNvPr id="15" name="!!l_owl"/>
          <p:cNvSpPr txBox="1"/>
          <p:nvPr/>
        </p:nvSpPr>
        <p:spPr>
          <a:xfrm>
            <a:off x="-10698480" y="24803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6" name="!!orb" descr="كرة الطاقة">    </p:cNvPr>
          <p:cNvPicPr>
            <a:picLocks noChangeAspect="1"/>
          </p:cNvPicPr>
          <p:nvPr/>
        </p:nvPicPr>
        <p:blipFill>
          <a:blip r:embed="rId9"/>
          <a:stretch>
            <a:fillRect/>
          </a:stretch>
        </p:blipFill>
        <p:spPr>
          <a:xfrm>
            <a:off x="4732020" y="1508760"/>
            <a:ext cx="1257300" cy="1257300"/>
          </a:xfrm>
          <a:prstGeom prst="rect">
            <a:avLst/>
          </a:prstGeom>
        </p:spPr>
      </p:pic>
      <p:sp>
        <p:nvSpPr>
          <p:cNvPr id="17"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اليرقة (مستهلِك – آكلة أعشاب)
</a:t>
            </a:r>
            <a:r>
              <a:rPr lang="ar-SA" altLang="en-US" sz="1600" dirty="0">
                <a:solidFill>
                  <a:srgbClr val="34405E"/>
                </a:solidFill>
                <a:latin typeface="Tahoma" pitchFamily="34" charset="0"/>
                <a:ea typeface="Tahoma" pitchFamily="34" charset="-122"/>
                <a:cs typeface="Tahoma" pitchFamily="34" charset="-120"/>
              </a:rPr>
              <a:t>تأكل نبات الشوك، فتنتقل إليها الطاقة.</a:t>
            </a:r>
            <a:endParaRPr lang="ar-SA" sz="1600" dirty="0"/>
          </a:p>
        </p:txBody>
      </p:sp>
      <p:sp>
        <p:nvSpPr>
          <p:cNvPr id="18"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9" name="s13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ماذا يحدث لليرقة لو اختفى نبات الشوك؟</a:t>
            </a:r>
            <a:endParaRPr lang="ar-SA" sz="1550" dirty="0"/>
          </a:p>
        </p:txBody>
      </p:sp>
      <p:sp>
        <p:nvSpPr>
          <p:cNvPr id="20" name="s13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تجد غذاءً، فلا تصل إليها الطاقة.</a:t>
            </a:r>
            <a:endParaRPr lang="ar-SA" sz="1500" dirty="0"/>
          </a:p>
        </p:txBody>
      </p:sp>
      <p:sp>
        <p:nvSpPr>
          <p:cNvPr id="21"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2"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8"/>
                                        </p:tgtEl>
                                      </p:cBhvr>
                                      <p:by x="118000" y="118000"/>
                                    </p:animScale>
                                  </p:childTnLst>
                                </p:cTn>
                              </p:par>
                              <p:par>
                                <p:cTn id="7" presetID="6" presetClass="emph" presetSubtype="0" fill="hold" grpId="0" nodeType="withEffect">
                                  <p:stCondLst>
                                    <p:cond delay="200"/>
                                  </p:stCondLst>
                                  <p:childTnLst>
                                    <p:animScale>
                                      <p:cBhvr>
                                        <p:cTn id="8" dur="500" autoRev="1" fill="hold"/>
                                        <p:tgtEl>
                                          <p:spTgt spid="16"/>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8869680" y="-8321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4904720" y="-4892040"/>
            <a:ext cx="2743200" cy="2743200"/>
          </a:xfrm>
          <a:prstGeom prst="rect">
            <a:avLst/>
          </a:prstGeom>
        </p:spPr>
      </p:pic>
      <p:sp>
        <p:nvSpPr>
          <p:cNvPr id="4" name="!!beam"/>
          <p:cNvSpPr/>
          <p:nvPr/>
        </p:nvSpPr>
        <p:spPr>
          <a:xfrm flipH="1">
            <a:off x="13533120" y="-2491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0904220" y="2080260"/>
            <a:ext cx="3200400" cy="3200400"/>
          </a:xfrm>
          <a:prstGeom prst="rect">
            <a:avLst/>
          </a:prstGeom>
        </p:spPr>
      </p:pic>
      <p:sp>
        <p:nvSpPr>
          <p:cNvPr id="6" name="!!l_thistle"/>
          <p:cNvSpPr txBox="1"/>
          <p:nvPr/>
        </p:nvSpPr>
        <p:spPr>
          <a:xfrm>
            <a:off x="10904220" y="5337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9800483" y="2291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675120" y="-91440"/>
            <a:ext cx="3200400" cy="3200400"/>
          </a:xfrm>
          <a:prstGeom prst="rect">
            <a:avLst/>
          </a:prstGeom>
        </p:spPr>
      </p:pic>
      <p:sp>
        <p:nvSpPr>
          <p:cNvPr id="9" name="!!l_caterpillar"/>
          <p:cNvSpPr txBox="1"/>
          <p:nvPr/>
        </p:nvSpPr>
        <p:spPr>
          <a:xfrm>
            <a:off x="6675120" y="3166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5481379" y="2242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2331720" y="1965960"/>
            <a:ext cx="3200400" cy="3200400"/>
          </a:xfrm>
          <a:prstGeom prst="rect">
            <a:avLst/>
          </a:prstGeom>
        </p:spPr>
      </p:pic>
      <p:sp>
        <p:nvSpPr>
          <p:cNvPr id="12" name="!!l_mantis"/>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3" name="!!c_lizard" descr="سحلية">    </p:cNvPr>
          <p:cNvPicPr>
            <a:picLocks noChangeAspect="1"/>
          </p:cNvPicPr>
          <p:nvPr/>
        </p:nvPicPr>
        <p:blipFill>
          <a:blip r:embed="rId7"/>
          <a:stretch>
            <a:fillRect/>
          </a:stretch>
        </p:blipFill>
        <p:spPr>
          <a:xfrm>
            <a:off x="-2011680" y="-320040"/>
            <a:ext cx="3200400" cy="3200400"/>
          </a:xfrm>
          <a:prstGeom prst="rect">
            <a:avLst/>
          </a:prstGeom>
        </p:spPr>
      </p:pic>
      <p:sp>
        <p:nvSpPr>
          <p:cNvPr id="14" name="!!l_lizard"/>
          <p:cNvSpPr txBox="1"/>
          <p:nvPr/>
        </p:nvSpPr>
        <p:spPr>
          <a:xfrm>
            <a:off x="-2011680" y="29375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5" name="!!c_owl" descr="بومة">    </p:cNvPr>
          <p:cNvPicPr>
            <a:picLocks noChangeAspect="1"/>
          </p:cNvPicPr>
          <p:nvPr/>
        </p:nvPicPr>
        <p:blipFill>
          <a:blip r:embed="rId8"/>
          <a:stretch>
            <a:fillRect/>
          </a:stretch>
        </p:blipFill>
        <p:spPr>
          <a:xfrm>
            <a:off x="-6355080" y="-2834640"/>
            <a:ext cx="3200400" cy="3200400"/>
          </a:xfrm>
          <a:prstGeom prst="rect">
            <a:avLst/>
          </a:prstGeom>
        </p:spPr>
      </p:pic>
      <p:sp>
        <p:nvSpPr>
          <p:cNvPr id="16" name="!!l_owl"/>
          <p:cNvSpPr txBox="1"/>
          <p:nvPr/>
        </p:nvSpPr>
        <p:spPr>
          <a:xfrm>
            <a:off x="-6355080" y="422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7" name="!!orb" descr="كرة الطاقة">    </p:cNvPr>
          <p:cNvPicPr>
            <a:picLocks noChangeAspect="1"/>
          </p:cNvPicPr>
          <p:nvPr/>
        </p:nvPicPr>
        <p:blipFill>
          <a:blip r:embed="rId9"/>
          <a:stretch>
            <a:fillRect/>
          </a:stretch>
        </p:blipFill>
        <p:spPr>
          <a:xfrm>
            <a:off x="4892040" y="1668780"/>
            <a:ext cx="937260" cy="937260"/>
          </a:xfrm>
          <a:prstGeom prst="rect">
            <a:avLst/>
          </a:prstGeom>
        </p:spPr>
      </p:pic>
      <p:sp>
        <p:nvSpPr>
          <p:cNvPr id="18"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السرعوف «المنتس» (مستهلِك)
</a:t>
            </a:r>
            <a:r>
              <a:rPr lang="ar-SA" altLang="en-US" sz="1600" dirty="0">
                <a:solidFill>
                  <a:srgbClr val="34405E"/>
                </a:solidFill>
                <a:latin typeface="Tahoma" pitchFamily="34" charset="0"/>
                <a:ea typeface="Tahoma" pitchFamily="34" charset="-122"/>
                <a:cs typeface="Tahoma" pitchFamily="34" charset="-120"/>
              </a:rPr>
              <a:t>يصطاد اليرقة، فتنتقل الطاقة إليه.</a:t>
            </a:r>
            <a:endParaRPr lang="ar-SA" sz="1600" dirty="0"/>
          </a:p>
        </p:txBody>
      </p:sp>
      <p:sp>
        <p:nvSpPr>
          <p:cNvPr id="19"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0" name="s14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السرعوف مفترس أم فريسة؟</a:t>
            </a:r>
            <a:endParaRPr lang="ar-SA" sz="1550" dirty="0"/>
          </a:p>
        </p:txBody>
      </p:sp>
      <p:sp>
        <p:nvSpPr>
          <p:cNvPr id="21" name="s14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مفترس لليرقة، وفريسة للسحلية.</a:t>
            </a:r>
            <a:endParaRPr lang="ar-SA" sz="1500" dirty="0"/>
          </a:p>
        </p:txBody>
      </p:sp>
      <p:sp>
        <p:nvSpPr>
          <p:cNvPr id="22"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1"/>
                                        </p:tgtEl>
                                      </p:cBhvr>
                                      <p:by x="118000" y="118000"/>
                                    </p:animScale>
                                  </p:childTnLst>
                                </p:cTn>
                              </p:par>
                              <p:par>
                                <p:cTn id="7" presetID="6" presetClass="emph" presetSubtype="0" fill="hold" grpId="0" nodeType="withEffect">
                                  <p:stCondLst>
                                    <p:cond delay="200"/>
                                  </p:stCondLst>
                                  <p:childTnLst>
                                    <p:animScale>
                                      <p:cBhvr>
                                        <p:cTn id="8" dur="500" autoRev="1" fill="hold"/>
                                        <p:tgtEl>
                                          <p:spTgt spid="17"/>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4526280" y="-6035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9248120" y="-2606040"/>
            <a:ext cx="2743200" cy="2743200"/>
          </a:xfrm>
          <a:prstGeom prst="rect">
            <a:avLst/>
          </a:prstGeom>
        </p:spPr>
      </p:pic>
      <p:sp>
        <p:nvSpPr>
          <p:cNvPr id="4" name="!!beam"/>
          <p:cNvSpPr/>
          <p:nvPr/>
        </p:nvSpPr>
        <p:spPr>
          <a:xfrm flipH="1">
            <a:off x="17876520" y="-205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5247620" y="4366260"/>
            <a:ext cx="3200400" cy="3200400"/>
          </a:xfrm>
          <a:prstGeom prst="rect">
            <a:avLst/>
          </a:prstGeom>
        </p:spPr>
      </p:pic>
      <p:sp>
        <p:nvSpPr>
          <p:cNvPr id="6" name="!!l_thistle"/>
          <p:cNvSpPr txBox="1"/>
          <p:nvPr/>
        </p:nvSpPr>
        <p:spPr>
          <a:xfrm>
            <a:off x="15247620" y="7623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4143883" y="4577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1018520" y="2194560"/>
            <a:ext cx="3200400" cy="3200400"/>
          </a:xfrm>
          <a:prstGeom prst="rect">
            <a:avLst/>
          </a:prstGeom>
        </p:spPr>
      </p:pic>
      <p:sp>
        <p:nvSpPr>
          <p:cNvPr id="9" name="!!l_caterpillar"/>
          <p:cNvSpPr txBox="1"/>
          <p:nvPr/>
        </p:nvSpPr>
        <p:spPr>
          <a:xfrm>
            <a:off x="11018520" y="5452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9824779" y="4528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6675120" y="4251960"/>
            <a:ext cx="3200400" cy="3200400"/>
          </a:xfrm>
          <a:prstGeom prst="rect">
            <a:avLst/>
          </a:prstGeom>
        </p:spPr>
      </p:pic>
      <p:sp>
        <p:nvSpPr>
          <p:cNvPr id="12" name="!!l_mantis"/>
          <p:cNvSpPr txBox="1"/>
          <p:nvPr/>
        </p:nvSpPr>
        <p:spPr>
          <a:xfrm>
            <a:off x="6675120" y="7509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5449112" y="43646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331720" y="1965960"/>
            <a:ext cx="3200400" cy="3200400"/>
          </a:xfrm>
          <a:prstGeom prst="rect">
            <a:avLst/>
          </a:prstGeom>
        </p:spPr>
      </p:pic>
      <p:sp>
        <p:nvSpPr>
          <p:cNvPr id="15" name="!!l_lizard"/>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6" name="!!c_owl" descr="بومة">    </p:cNvPr>
          <p:cNvPicPr>
            <a:picLocks noChangeAspect="1"/>
          </p:cNvPicPr>
          <p:nvPr/>
        </p:nvPicPr>
        <p:blipFill>
          <a:blip r:embed="rId8"/>
          <a:stretch>
            <a:fillRect/>
          </a:stretch>
        </p:blipFill>
        <p:spPr>
          <a:xfrm>
            <a:off x="-2011680" y="-548640"/>
            <a:ext cx="3200400" cy="3200400"/>
          </a:xfrm>
          <a:prstGeom prst="rect">
            <a:avLst/>
          </a:prstGeom>
        </p:spPr>
      </p:pic>
      <p:sp>
        <p:nvSpPr>
          <p:cNvPr id="17" name="!!l_owl"/>
          <p:cNvSpPr txBox="1"/>
          <p:nvPr/>
        </p:nvSpPr>
        <p:spPr>
          <a:xfrm>
            <a:off x="-2011680" y="2708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8" name="!!orb" descr="كرة الطاقة">    </p:cNvPr>
          <p:cNvPicPr>
            <a:picLocks noChangeAspect="1"/>
          </p:cNvPicPr>
          <p:nvPr/>
        </p:nvPicPr>
        <p:blipFill>
          <a:blip r:embed="rId9"/>
          <a:stretch>
            <a:fillRect/>
          </a:stretch>
        </p:blipFill>
        <p:spPr>
          <a:xfrm>
            <a:off x="5017770" y="1794510"/>
            <a:ext cx="685800" cy="685800"/>
          </a:xfrm>
          <a:prstGeom prst="rect">
            <a:avLst/>
          </a:prstGeom>
        </p:spPr>
      </p:pic>
      <p:sp>
        <p:nvSpPr>
          <p:cNvPr id="19"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السحلية (مستهلِك)
</a:t>
            </a:r>
            <a:r>
              <a:rPr lang="ar-SA" altLang="en-US" sz="1600" dirty="0">
                <a:solidFill>
                  <a:srgbClr val="34405E"/>
                </a:solidFill>
                <a:latin typeface="Tahoma" pitchFamily="34" charset="0"/>
                <a:ea typeface="Tahoma" pitchFamily="34" charset="-122"/>
                <a:cs typeface="Tahoma" pitchFamily="34" charset="-120"/>
              </a:rPr>
              <a:t>تأكل السرعوف، فتنتقل الطاقة إليها.</a:t>
            </a:r>
            <a:endParaRPr lang="ar-SA" sz="1600" dirty="0"/>
          </a:p>
        </p:txBody>
      </p:sp>
      <p:sp>
        <p:nvSpPr>
          <p:cNvPr id="20"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1" name="s15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لاحظي كرة الطاقة… ماذا حدث لحجمها؟ ولماذا؟</a:t>
            </a:r>
            <a:endParaRPr lang="ar-SA" sz="1550" dirty="0"/>
          </a:p>
        </p:txBody>
      </p:sp>
      <p:sp>
        <p:nvSpPr>
          <p:cNvPr id="22" name="s15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صغُرت؛ لأن كل مخلوق يستخدم معظم الطاقة التي يحصل عليها.</a:t>
            </a:r>
            <a:endParaRPr lang="ar-SA" sz="1500" dirty="0"/>
          </a:p>
        </p:txBody>
      </p:sp>
      <p:sp>
        <p:nvSpPr>
          <p:cNvPr id="23"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4"/>
                                        </p:tgtEl>
                                      </p:cBhvr>
                                      <p:by x="118000" y="118000"/>
                                    </p:animScale>
                                  </p:childTnLst>
                                </p:cTn>
                              </p:par>
                              <p:par>
                                <p:cTn id="7" presetID="6" presetClass="emph" presetSubtype="0" fill="hold" grpId="0" nodeType="withEffect">
                                  <p:stCondLst>
                                    <p:cond delay="200"/>
                                  </p:stCondLst>
                                  <p:childTnLst>
                                    <p:animScale>
                                      <p:cBhvr>
                                        <p:cTn id="8" dur="500" autoRev="1" fill="hold"/>
                                        <p:tgtEl>
                                          <p:spTgt spid="18"/>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82880" y="-35204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23591520" y="-91440"/>
            <a:ext cx="2743200" cy="2743200"/>
          </a:xfrm>
          <a:prstGeom prst="rect">
            <a:avLst/>
          </a:prstGeom>
        </p:spPr>
      </p:pic>
      <p:sp>
        <p:nvSpPr>
          <p:cNvPr id="4" name="!!beam"/>
          <p:cNvSpPr/>
          <p:nvPr/>
        </p:nvSpPr>
        <p:spPr>
          <a:xfrm flipH="1">
            <a:off x="22219920" y="230886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9591020" y="6880860"/>
            <a:ext cx="3200400" cy="3200400"/>
          </a:xfrm>
          <a:prstGeom prst="rect">
            <a:avLst/>
          </a:prstGeom>
        </p:spPr>
      </p:pic>
      <p:sp>
        <p:nvSpPr>
          <p:cNvPr id="6" name="!!l_thistle"/>
          <p:cNvSpPr txBox="1"/>
          <p:nvPr/>
        </p:nvSpPr>
        <p:spPr>
          <a:xfrm>
            <a:off x="19591020" y="101384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8487283" y="70925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5361920" y="4709160"/>
            <a:ext cx="3200400" cy="3200400"/>
          </a:xfrm>
          <a:prstGeom prst="rect">
            <a:avLst/>
          </a:prstGeom>
        </p:spPr>
      </p:pic>
      <p:sp>
        <p:nvSpPr>
          <p:cNvPr id="9" name="!!l_caterpillar"/>
          <p:cNvSpPr txBox="1"/>
          <p:nvPr/>
        </p:nvSpPr>
        <p:spPr>
          <a:xfrm>
            <a:off x="15361920" y="79667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14168179" y="70433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11018520" y="6766560"/>
            <a:ext cx="3200400" cy="3200400"/>
          </a:xfrm>
          <a:prstGeom prst="rect">
            <a:avLst/>
          </a:prstGeom>
        </p:spPr>
      </p:pic>
      <p:sp>
        <p:nvSpPr>
          <p:cNvPr id="12" name="!!l_mantis"/>
          <p:cNvSpPr txBox="1"/>
          <p:nvPr/>
        </p:nvSpPr>
        <p:spPr>
          <a:xfrm>
            <a:off x="11018520" y="10024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9792512" y="68792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6675120" y="4480560"/>
            <a:ext cx="3200400" cy="3200400"/>
          </a:xfrm>
          <a:prstGeom prst="rect">
            <a:avLst/>
          </a:prstGeom>
        </p:spPr>
      </p:pic>
      <p:sp>
        <p:nvSpPr>
          <p:cNvPr id="15" name="!!l_lizard"/>
          <p:cNvSpPr txBox="1"/>
          <p:nvPr/>
        </p:nvSpPr>
        <p:spPr>
          <a:xfrm>
            <a:off x="6675120" y="7738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sp>
        <p:nvSpPr>
          <p:cNvPr id="16" name="!!a_3"/>
          <p:cNvSpPr/>
          <p:nvPr/>
        </p:nvSpPr>
        <p:spPr>
          <a:xfrm flipH="1" flipV="1">
            <a:off x="5415693" y="4425187"/>
            <a:ext cx="1375853" cy="796547"/>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2331720" y="1965960"/>
            <a:ext cx="3200400" cy="3200400"/>
          </a:xfrm>
          <a:prstGeom prst="rect">
            <a:avLst/>
          </a:prstGeom>
        </p:spPr>
      </p:pic>
      <p:sp>
        <p:nvSpPr>
          <p:cNvPr id="18" name="!!l_owl"/>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9" name="!!orb" descr="كرة الطاقة">    </p:cNvPr>
          <p:cNvPicPr>
            <a:picLocks noChangeAspect="1"/>
          </p:cNvPicPr>
          <p:nvPr/>
        </p:nvPicPr>
        <p:blipFill>
          <a:blip r:embed="rId9"/>
          <a:stretch>
            <a:fillRect/>
          </a:stretch>
        </p:blipFill>
        <p:spPr>
          <a:xfrm>
            <a:off x="5109210" y="1885950"/>
            <a:ext cx="502920" cy="502920"/>
          </a:xfrm>
          <a:prstGeom prst="rect">
            <a:avLst/>
          </a:prstGeom>
        </p:spPr>
      </p:pic>
      <p:sp>
        <p:nvSpPr>
          <p:cNvPr id="20"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البومة (آخر حلقة)
</a:t>
            </a:r>
            <a:r>
              <a:rPr lang="ar-SA" altLang="en-US" sz="1600" dirty="0">
                <a:solidFill>
                  <a:srgbClr val="34405E"/>
                </a:solidFill>
                <a:latin typeface="Tahoma" pitchFamily="34" charset="0"/>
                <a:ea typeface="Tahoma" pitchFamily="34" charset="-122"/>
                <a:cs typeface="Tahoma" pitchFamily="34" charset="-120"/>
              </a:rPr>
              <a:t>تصطاد السحلية، فيصل إليها أقلّ قدر من الطاقة.</a:t>
            </a:r>
            <a:endParaRPr lang="ar-SA" sz="1600" dirty="0"/>
          </a:p>
        </p:txBody>
      </p:sp>
      <p:sp>
        <p:nvSpPr>
          <p:cNvPr id="21"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2" name="s16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أخذت البومة طاقتها من الشمس مباشرة؟</a:t>
            </a:r>
            <a:endParaRPr lang="ar-SA" sz="1550" dirty="0"/>
          </a:p>
        </p:txBody>
      </p:sp>
      <p:sp>
        <p:nvSpPr>
          <p:cNvPr id="23" name="s16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وصلتها الطاقة عبر السلسلة كلها من الشمس.</a:t>
            </a:r>
            <a:endParaRPr lang="ar-SA" sz="1500" dirty="0"/>
          </a:p>
        </p:txBody>
      </p:sp>
      <p:sp>
        <p:nvSpPr>
          <p:cNvPr id="24"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5"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7"/>
                                        </p:tgtEl>
                                      </p:cBhvr>
                                      <p:by x="118000" y="118000"/>
                                    </p:animScale>
                                  </p:childTnLst>
                                </p:cTn>
                              </p:par>
                              <p:par>
                                <p:cTn id="7" presetID="6" presetClass="emph" presetSubtype="0" fill="hold" grpId="0" nodeType="withEffect">
                                  <p:stCondLst>
                                    <p:cond delay="200"/>
                                  </p:stCondLst>
                                  <p:childTnLst>
                                    <p:animScale>
                                      <p:cBhvr>
                                        <p:cTn id="8" dur="500" autoRev="1" fill="hold"/>
                                        <p:tgtEl>
                                          <p:spTgt spid="19"/>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sp>
        <p:nvSpPr>
          <p:cNvPr id="4" name="!!beam"/>
          <p:cNvSpPr/>
          <p:nvPr/>
        </p:nvSpPr>
        <p:spPr>
          <a:xfrm flipH="1">
            <a:off x="9190663" y="2391448"/>
            <a:ext cx="703367" cy="2016319"/>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6" name="!!l_thistle"/>
          <p:cNvSpPr txBox="1"/>
          <p:nvPr/>
        </p:nvSpPr>
        <p:spPr>
          <a:xfrm>
            <a:off x="8112166" y="5603491"/>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sp>
        <p:nvSpPr>
          <p:cNvPr id="7" name="!!a_0"/>
          <p:cNvSpPr/>
          <p:nvPr/>
        </p:nvSpPr>
        <p:spPr>
          <a:xfrm flipH="1" flipV="1">
            <a:off x="7659362" y="4353939"/>
            <a:ext cx="483588" cy="248329"/>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9" name="!!l_caterpillar"/>
          <p:cNvSpPr txBox="1"/>
          <p:nvPr/>
        </p:nvSpPr>
        <p:spPr>
          <a:xfrm>
            <a:off x="6377194" y="4712559"/>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sp>
        <p:nvSpPr>
          <p:cNvPr id="10" name="!!a_1"/>
          <p:cNvSpPr/>
          <p:nvPr/>
        </p:nvSpPr>
        <p:spPr>
          <a:xfrm flipH="1">
            <a:off x="5887467" y="4333739"/>
            <a:ext cx="510544" cy="241837"/>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12" name="!!l_mantis"/>
          <p:cNvSpPr txBox="1"/>
          <p:nvPr/>
        </p:nvSpPr>
        <p:spPr>
          <a:xfrm>
            <a:off x="4595331" y="5556600"/>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sp>
        <p:nvSpPr>
          <p:cNvPr id="13" name="!!a_2"/>
          <p:cNvSpPr/>
          <p:nvPr/>
        </p:nvSpPr>
        <p:spPr>
          <a:xfrm flipH="1" flipV="1">
            <a:off x="4092366" y="4266446"/>
            <a:ext cx="537019" cy="282641"/>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5" name="!!l_lizard"/>
          <p:cNvSpPr txBox="1"/>
          <p:nvPr/>
        </p:nvSpPr>
        <p:spPr>
          <a:xfrm>
            <a:off x="2813468" y="4618777"/>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sp>
        <p:nvSpPr>
          <p:cNvPr id="16" name="!!a_3"/>
          <p:cNvSpPr/>
          <p:nvPr/>
        </p:nvSpPr>
        <p:spPr>
          <a:xfrm flipH="1" flipV="1">
            <a:off x="2296793" y="3259663"/>
            <a:ext cx="564439" cy="326780"/>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8" name="!!l_owl"/>
          <p:cNvSpPr txBox="1"/>
          <p:nvPr/>
        </p:nvSpPr>
        <p:spPr>
          <a:xfrm>
            <a:off x="1031605" y="3587172"/>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9" name="!!mush" descr="فطر">    </p:cNvPr>
          <p:cNvPicPr>
            <a:picLocks noChangeAspect="1"/>
          </p:cNvPicPr>
          <p:nvPr/>
        </p:nvPicPr>
        <p:blipFill>
          <a:blip r:embed="rId9"/>
          <a:stretch>
            <a:fillRect/>
          </a:stretch>
        </p:blipFill>
        <p:spPr>
          <a:xfrm>
            <a:off x="562694" y="4970460"/>
            <a:ext cx="844040" cy="844040"/>
          </a:xfrm>
          <a:prstGeom prst="rect">
            <a:avLst/>
          </a:prstGeom>
        </p:spPr>
      </p:pic>
      <p:sp>
        <p:nvSpPr>
          <p:cNvPr id="20" name="!!a_dec"/>
          <p:cNvSpPr/>
          <p:nvPr/>
        </p:nvSpPr>
        <p:spPr>
          <a:xfrm flipH="1">
            <a:off x="937823" y="3657509"/>
            <a:ext cx="468911" cy="1266061"/>
          </a:xfrm>
          <a:prstGeom prst="line">
            <a:avLst/>
          </a:prstGeom>
          <a:noFill/>
          <a:ln w="50800">
            <a:solidFill>
              <a:srgbClr val="A0522D"/>
            </a:solidFill>
            <a:prstDash val="dash"/>
            <a:tailEnd type="triangle"/>
          </a:ln>
        </p:spPr>
      </p:sp>
      <p:pic>
        <p:nvPicPr>
          <p:cNvPr id="21" name="!!orb" descr="كرة الطاقة">    </p:cNvPr>
          <p:cNvPicPr>
            <a:picLocks noChangeAspect="1"/>
          </p:cNvPicPr>
          <p:nvPr/>
        </p:nvPicPr>
        <p:blipFill>
          <a:blip r:embed="rId10"/>
          <a:stretch>
            <a:fillRect/>
          </a:stretch>
        </p:blipFill>
        <p:spPr>
          <a:xfrm>
            <a:off x="2171060" y="2217951"/>
            <a:ext cx="206321" cy="206321"/>
          </a:xfrm>
          <a:prstGeom prst="rect">
            <a:avLst/>
          </a:prstGeom>
        </p:spPr>
      </p:pic>
      <p:sp>
        <p:nvSpPr>
          <p:cNvPr id="22"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وعندما تموت المستهلكات تحللها المحلِّلات، وتعيد المواد إلى التربة… هكذا تنتقل الطاقة في السلسلة الغذائية!</a:t>
            </a:r>
            <a:endParaRPr lang="ar-SA" sz="1700" dirty="0"/>
          </a:p>
        </p:txBody>
      </p:sp>
      <p:sp>
        <p:nvSpPr>
          <p:cNvPr id="23" name="s17_1@c1%chime"/>
          <p:cNvSpPr txBox="1"/>
          <p:nvPr/>
        </p:nvSpPr>
        <p:spPr>
          <a:xfrm>
            <a:off x="2011680" y="320040"/>
            <a:ext cx="813816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الشمس ← نبات الشوك ← اليرقة ← السرعوف ← السحلية ← البومة</a:t>
            </a:r>
            <a:endParaRPr lang="ar-SA" sz="1800" dirty="0"/>
          </a:p>
        </p:txBody>
      </p:sp>
      <p:sp>
        <p:nvSpPr>
          <p:cNvPr id="24" name="s17_2@c2%sparkle"/>
          <p:cNvSpPr txBox="1"/>
          <p:nvPr/>
        </p:nvSpPr>
        <p:spPr>
          <a:xfrm>
            <a:off x="2011680" y="1005840"/>
            <a:ext cx="8138160" cy="685800"/>
          </a:xfrm>
          <a:prstGeom prst="roundRect">
            <a:avLst>
              <a:gd name="adj" fmla="val 1866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dirty="0">
                <a:solidFill>
                  <a:srgbClr val="34405E"/>
                </a:solidFill>
                <a:latin typeface="Tahoma" pitchFamily="34" charset="0"/>
                <a:ea typeface="Tahoma" pitchFamily="34" charset="-122"/>
                <a:cs typeface="Tahoma" pitchFamily="34" charset="-120"/>
              </a:rPr>
              <a:t>لاحظي أن كرة الطاقة صغُرت في كل حلقة؛ لذلك يصل إلى البومة أقلّ قدر من الطاقة.</a:t>
            </a:r>
            <a:endParaRPr lang="ar-SA" sz="1550" dirty="0"/>
          </a:p>
        </p:txBody>
      </p:sp>
      <p:sp>
        <p:nvSpPr>
          <p:cNvPr id="25"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subTnLst>
                                    <p:audio>
                                      <p:cMediaNode vol="50000" showWhenStopped="0">
                                        <p:cTn id="8" display="0" masterRel="sameClick">
                                          <p:stCondLst>
                                            <p:cond evt="onBegin" delay="0">
                                              <p:tn val="5"/>
                                            </p:cond>
                                          </p:stCondLst>
                                        </p:cTn>
                                        <p:tgtEl>
                                          <p:sndTgt r:embed="rId13"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1" descr="عنوان الشريحة">    </p:cNvPr>
          <p:cNvPicPr>
            <a:picLocks noChangeAspect="1"/>
          </p:cNvPicPr>
          <p:nvPr/>
        </p:nvPicPr>
        <p:blipFill>
          <a:blip r:embed="rId2"/>
          <a:stretch>
            <a:fillRect/>
          </a:stretch>
        </p:blipFill>
        <p:spPr>
          <a:xfrm>
            <a:off x="7334882" y="182880"/>
            <a:ext cx="4491053" cy="731520"/>
          </a:xfrm>
          <a:prstGeom prst="rect">
            <a:avLst/>
          </a:prstGeom>
        </p:spPr>
      </p:pic>
      <p:sp>
        <p:nvSpPr>
          <p:cNvPr id="3" name="s18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التتابع</a:t>
            </a:r>
            <a:endParaRPr lang="en-US" sz="1600" dirty="0"/>
          </a:p>
        </p:txBody>
      </p:sp>
      <p:sp>
        <p:nvSpPr>
          <p:cNvPr id="4" name="s18_3"/>
          <p:cNvSpPr txBox="1"/>
          <p:nvPr/>
        </p:nvSpPr>
        <p:spPr>
          <a:xfrm>
            <a:off x="548640" y="1051560"/>
            <a:ext cx="112014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6B4FC0"/>
                </a:solidFill>
                <a:latin typeface="Tahoma" pitchFamily="34" charset="0"/>
                <a:ea typeface="Tahoma" pitchFamily="34" charset="-122"/>
                <a:cs typeface="Tahoma" pitchFamily="34" charset="-120"/>
              </a:rPr>
              <a:t>رتّبي السلسلة الغذائية من الأول إلى الأخير 👆 اضغطي على الصورة ليظهر ترتيبها</a:t>
            </a:r>
            <a:endParaRPr lang="ar-SA" sz="1700" dirty="0"/>
          </a:p>
        </p:txBody>
      </p:sp>
      <p:pic>
        <p:nvPicPr>
          <p:cNvPr id="5" name="s18_p0" descr="سحلية">    </p:cNvPr>
          <p:cNvPicPr>
            <a:picLocks noChangeAspect="1"/>
          </p:cNvPicPr>
          <p:nvPr/>
        </p:nvPicPr>
        <p:blipFill>
          <a:blip r:embed="rId3"/>
          <a:stretch>
            <a:fillRect/>
          </a:stretch>
        </p:blipFill>
        <p:spPr>
          <a:xfrm>
            <a:off x="9646920" y="1783080"/>
            <a:ext cx="1965960" cy="1965960"/>
          </a:xfrm>
          <a:prstGeom prst="rect">
            <a:avLst/>
          </a:prstGeom>
        </p:spPr>
      </p:pic>
      <p:sp>
        <p:nvSpPr>
          <p:cNvPr id="6" name="s18_4"/>
          <p:cNvSpPr txBox="1"/>
          <p:nvPr/>
        </p:nvSpPr>
        <p:spPr>
          <a:xfrm>
            <a:off x="973836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السحلية</a:t>
            </a:r>
            <a:endParaRPr lang="ar-SA" sz="1700" dirty="0"/>
          </a:p>
        </p:txBody>
      </p:sp>
      <p:sp>
        <p:nvSpPr>
          <p:cNvPr id="7" name="s18_5@t=s18_p0%pop"/>
          <p:cNvSpPr txBox="1"/>
          <p:nvPr/>
        </p:nvSpPr>
        <p:spPr>
          <a:xfrm>
            <a:off x="1097280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٤</a:t>
            </a:r>
            <a:endParaRPr lang="ar-SA" sz="2400" dirty="0"/>
          </a:p>
        </p:txBody>
      </p:sp>
      <p:pic>
        <p:nvPicPr>
          <p:cNvPr id="8" name="s18_p1" descr="نبات الشوك">    </p:cNvPr>
          <p:cNvPicPr>
            <a:picLocks noChangeAspect="1"/>
          </p:cNvPicPr>
          <p:nvPr/>
        </p:nvPicPr>
        <p:blipFill>
          <a:blip r:embed="rId4"/>
          <a:stretch>
            <a:fillRect/>
          </a:stretch>
        </p:blipFill>
        <p:spPr>
          <a:xfrm>
            <a:off x="7406640" y="1783080"/>
            <a:ext cx="1965960" cy="1965960"/>
          </a:xfrm>
          <a:prstGeom prst="rect">
            <a:avLst/>
          </a:prstGeom>
        </p:spPr>
      </p:pic>
      <p:sp>
        <p:nvSpPr>
          <p:cNvPr id="9" name="s18_6"/>
          <p:cNvSpPr txBox="1"/>
          <p:nvPr/>
        </p:nvSpPr>
        <p:spPr>
          <a:xfrm>
            <a:off x="749808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نبات الشوك</a:t>
            </a:r>
            <a:endParaRPr lang="ar-SA" sz="1700" dirty="0"/>
          </a:p>
        </p:txBody>
      </p:sp>
      <p:sp>
        <p:nvSpPr>
          <p:cNvPr id="10" name="s18_7@t=s18_p1%pop"/>
          <p:cNvSpPr txBox="1"/>
          <p:nvPr/>
        </p:nvSpPr>
        <p:spPr>
          <a:xfrm>
            <a:off x="873252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١</a:t>
            </a:r>
            <a:endParaRPr lang="ar-SA" sz="2400" dirty="0"/>
          </a:p>
        </p:txBody>
      </p:sp>
      <p:pic>
        <p:nvPicPr>
          <p:cNvPr id="11" name="s18_p2" descr="بومة">    </p:cNvPr>
          <p:cNvPicPr>
            <a:picLocks noChangeAspect="1"/>
          </p:cNvPicPr>
          <p:nvPr/>
        </p:nvPicPr>
        <p:blipFill>
          <a:blip r:embed="rId5"/>
          <a:stretch>
            <a:fillRect/>
          </a:stretch>
        </p:blipFill>
        <p:spPr>
          <a:xfrm>
            <a:off x="5166360" y="1783080"/>
            <a:ext cx="1965960" cy="1965960"/>
          </a:xfrm>
          <a:prstGeom prst="rect">
            <a:avLst/>
          </a:prstGeom>
        </p:spPr>
      </p:pic>
      <p:sp>
        <p:nvSpPr>
          <p:cNvPr id="12" name="s18_8"/>
          <p:cNvSpPr txBox="1"/>
          <p:nvPr/>
        </p:nvSpPr>
        <p:spPr>
          <a:xfrm>
            <a:off x="525780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البومة</a:t>
            </a:r>
            <a:endParaRPr lang="ar-SA" sz="1700" dirty="0"/>
          </a:p>
        </p:txBody>
      </p:sp>
      <p:sp>
        <p:nvSpPr>
          <p:cNvPr id="13" name="s18_9@t=s18_p2%pop"/>
          <p:cNvSpPr txBox="1"/>
          <p:nvPr/>
        </p:nvSpPr>
        <p:spPr>
          <a:xfrm>
            <a:off x="649224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٥</a:t>
            </a:r>
            <a:endParaRPr lang="ar-SA" sz="2400" dirty="0"/>
          </a:p>
        </p:txBody>
      </p:sp>
      <p:pic>
        <p:nvPicPr>
          <p:cNvPr id="14" name="s18_p3" descr="يرقة">    </p:cNvPr>
          <p:cNvPicPr>
            <a:picLocks noChangeAspect="1"/>
          </p:cNvPicPr>
          <p:nvPr/>
        </p:nvPicPr>
        <p:blipFill>
          <a:blip r:embed="rId6"/>
          <a:stretch>
            <a:fillRect/>
          </a:stretch>
        </p:blipFill>
        <p:spPr>
          <a:xfrm>
            <a:off x="2926080" y="1783080"/>
            <a:ext cx="1965960" cy="1965960"/>
          </a:xfrm>
          <a:prstGeom prst="rect">
            <a:avLst/>
          </a:prstGeom>
        </p:spPr>
      </p:pic>
      <p:sp>
        <p:nvSpPr>
          <p:cNvPr id="15" name="s18_10"/>
          <p:cNvSpPr txBox="1"/>
          <p:nvPr/>
        </p:nvSpPr>
        <p:spPr>
          <a:xfrm>
            <a:off x="301752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اليرقة</a:t>
            </a:r>
            <a:endParaRPr lang="ar-SA" sz="1700" dirty="0"/>
          </a:p>
        </p:txBody>
      </p:sp>
      <p:sp>
        <p:nvSpPr>
          <p:cNvPr id="16" name="s18_11@t=s18_p3%pop"/>
          <p:cNvSpPr txBox="1"/>
          <p:nvPr/>
        </p:nvSpPr>
        <p:spPr>
          <a:xfrm>
            <a:off x="425196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٢</a:t>
            </a:r>
            <a:endParaRPr lang="ar-SA" sz="2400" dirty="0"/>
          </a:p>
        </p:txBody>
      </p:sp>
      <p:pic>
        <p:nvPicPr>
          <p:cNvPr id="17" name="s18_p4" descr="سرعوف">    </p:cNvPr>
          <p:cNvPicPr>
            <a:picLocks noChangeAspect="1"/>
          </p:cNvPicPr>
          <p:nvPr/>
        </p:nvPicPr>
        <p:blipFill>
          <a:blip r:embed="rId7"/>
          <a:stretch>
            <a:fillRect/>
          </a:stretch>
        </p:blipFill>
        <p:spPr>
          <a:xfrm>
            <a:off x="685800" y="1783080"/>
            <a:ext cx="1965960" cy="1965960"/>
          </a:xfrm>
          <a:prstGeom prst="rect">
            <a:avLst/>
          </a:prstGeom>
        </p:spPr>
      </p:pic>
      <p:sp>
        <p:nvSpPr>
          <p:cNvPr id="18" name="s18_12"/>
          <p:cNvSpPr txBox="1"/>
          <p:nvPr/>
        </p:nvSpPr>
        <p:spPr>
          <a:xfrm>
            <a:off x="77724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السرعوف</a:t>
            </a:r>
            <a:endParaRPr lang="ar-SA" sz="1700" dirty="0"/>
          </a:p>
        </p:txBody>
      </p:sp>
      <p:sp>
        <p:nvSpPr>
          <p:cNvPr id="19" name="s18_13@t=s18_p4%pop"/>
          <p:cNvSpPr txBox="1"/>
          <p:nvPr/>
        </p:nvSpPr>
        <p:spPr>
          <a:xfrm>
            <a:off x="201168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٣</a:t>
            </a:r>
            <a:endParaRPr lang="ar-SA" sz="2400" dirty="0"/>
          </a:p>
        </p:txBody>
      </p:sp>
      <p:sp>
        <p:nvSpPr>
          <p:cNvPr id="20" name="s18_14@c1%sparkle"/>
          <p:cNvSpPr txBox="1"/>
          <p:nvPr/>
        </p:nvSpPr>
        <p:spPr>
          <a:xfrm>
            <a:off x="1737360" y="4617720"/>
            <a:ext cx="8778240" cy="594360"/>
          </a:xfrm>
          <a:prstGeom prst="roundRect">
            <a:avLst>
              <a:gd name="adj" fmla="val 21538"/>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السلسلة: </a:t>
            </a:r>
            <a:r>
              <a:rPr lang="ar-SA" altLang="en-US" sz="1800" b="1"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800" dirty="0"/>
          </a:p>
        </p:txBody>
      </p:sp>
      <p:sp>
        <p:nvSpPr>
          <p:cNvPr id="21" name="s18_15@c2%chime"/>
          <p:cNvSpPr txBox="1"/>
          <p:nvPr/>
        </p:nvSpPr>
        <p:spPr>
          <a:xfrm>
            <a:off x="1737360" y="5349240"/>
            <a:ext cx="87782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C2366F"/>
                </a:solidFill>
                <a:latin typeface="Tahoma" pitchFamily="34" charset="0"/>
                <a:ea typeface="Tahoma" pitchFamily="34" charset="-122"/>
                <a:cs typeface="Tahoma" pitchFamily="34" charset="-120"/>
              </a:rPr>
              <a:t>سؤال تحدٍّ: </a:t>
            </a:r>
            <a:r>
              <a:rPr lang="ar-SA" altLang="en-US" sz="1550" dirty="0">
                <a:solidFill>
                  <a:srgbClr val="34405E"/>
                </a:solidFill>
                <a:latin typeface="Tahoma" pitchFamily="34" charset="0"/>
                <a:ea typeface="Tahoma" pitchFamily="34" charset="-122"/>
                <a:cs typeface="Tahoma" pitchFamily="34" charset="-120"/>
              </a:rPr>
              <a:t>أيّ مخلوق في السلسلة منتِج؟ ولماذا؟  </a:t>
            </a:r>
            <a:r>
              <a:rPr lang="ar-SA" altLang="en-US" sz="1550" b="1" dirty="0">
                <a:solidFill>
                  <a:srgbClr val="2F8A3A"/>
                </a:solidFill>
                <a:latin typeface="Tahoma" pitchFamily="34" charset="0"/>
                <a:ea typeface="Tahoma" pitchFamily="34" charset="-122"/>
                <a:cs typeface="Tahoma" pitchFamily="34" charset="-120"/>
              </a:rPr>
              <a:t>✔ نبات الشوك؛ لأنه يصنع غذاءه بنفسه مستخدمًا طاقة الشمس.</a:t>
            </a:r>
            <a:endParaRPr lang="ar-SA" sz="1550" dirty="0"/>
          </a:p>
        </p:txBody>
      </p:sp>
      <p:sp>
        <p:nvSpPr>
          <p:cNvPr id="22" name="s18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18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subTnLst>
                                    <p:audio>
                                      <p:cMediaNode vol="50000" showWhenStopped="0">
                                        <p:cTn id="13" display="0" masterRel="sameClick">
                                          <p:stCondLst>
                                            <p:cond evt="onBegin" delay="0">
                                              <p:tn val="10"/>
                                            </p:cond>
                                          </p:stCondLst>
                                        </p:cTn>
                                        <p:tgtEl>
                                          <p:sndTgt r:embed="rId10"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seq concurrent="1" nextAc="seek">
              <p:cTn id="14" restart="whenNotActive" fill="hold" evtFilter="cancelBubble" nodeType="interactiveSeq">
                <p:stCondLst>
                  <p:cond evt="onClick" delay="0">
                    <p:tgtEl>
                      <p:spTgt spid="5"/>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nextCondLst>
                <p:cond evt="onNext" delay="0">
                  <p:tgtEl>
                    <p:spTgt spid="5"/>
                  </p:tgtEl>
                </p:cond>
              </p:nextCondLst>
            </p:seq>
            <p:seq concurrent="1" nextAc="seek">
              <p:cTn id="20" restart="whenNotActive" fill="hold" evtFilter="cancelBubble" nodeType="interactiveSeq">
                <p:stCondLst>
                  <p:cond evt="onClick" delay="0">
                    <p:tgtEl>
                      <p:spTgt spid="8"/>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childTnLst>
              </p:cTn>
              <p:nextCondLst>
                <p:cond evt="onNext" delay="0">
                  <p:tgtEl>
                    <p:spTgt spid="8"/>
                  </p:tgtEl>
                </p:cond>
              </p:nextCondLst>
            </p:seq>
            <p:seq concurrent="1" nextAc="seek">
              <p:cTn id="26" restart="whenNotActive" fill="hold" evtFilter="cancelBubble" nodeType="interactiveSeq">
                <p:stCondLst>
                  <p:cond evt="onClick" delay="0">
                    <p:tgtEl>
                      <p:spTgt spid="11"/>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childTnLst>
                          </p:cTn>
                        </p:par>
                      </p:childTnLst>
                    </p:cTn>
                  </p:par>
                </p:childTnLst>
              </p:cTn>
              <p:nextCondLst>
                <p:cond evt="onNext" delay="0">
                  <p:tgtEl>
                    <p:spTgt spid="11"/>
                  </p:tgtEl>
                </p:cond>
              </p:nextCondLst>
            </p:seq>
            <p:seq concurrent="1" nextAc="seek">
              <p:cTn id="32" restart="whenNotActive" fill="hold" evtFilter="cancelBubble" nodeType="interactiveSeq">
                <p:stCondLst>
                  <p:cond evt="onClick" delay="0">
                    <p:tgtEl>
                      <p:spTgt spid="14"/>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nextCondLst>
                <p:cond evt="onNext" delay="0">
                  <p:tgtEl>
                    <p:spTgt spid="14"/>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childTnLst>
              </p:cTn>
              <p:nextCondLst>
                <p:cond evt="onNext" delay="0">
                  <p:tgtEl>
                    <p:spTgt spid="17"/>
                  </p:tgtEl>
                </p:cond>
              </p:nextCondLst>
            </p:seq>
          </p:childTnLst>
        </p:cTn>
      </p:par>
    </p:tnLst>
    <p:bldLst>
      <p:bldP spid="7" grpId="0" animBg="1"/>
      <p:bldP spid="10" grpId="0" animBg="1"/>
      <p:bldP spid="13" grpId="0" animBg="1"/>
      <p:bldP spid="16" grpId="0" animBg="1"/>
      <p:bldP spid="19" grpId="0" animBg="1"/>
      <p:bldP spid="20" grpId="0" animBg="1"/>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1" descr="عنوان الشريحة">    </p:cNvPr>
          <p:cNvPicPr>
            <a:picLocks noChangeAspect="1"/>
          </p:cNvPicPr>
          <p:nvPr/>
        </p:nvPicPr>
        <p:blipFill>
          <a:blip r:embed="rId2"/>
          <a:stretch>
            <a:fillRect/>
          </a:stretch>
        </p:blipFill>
        <p:spPr>
          <a:xfrm>
            <a:off x="5059375" y="219747"/>
            <a:ext cx="6766560" cy="657785"/>
          </a:xfrm>
          <a:prstGeom prst="rect">
            <a:avLst/>
          </a:prstGeom>
        </p:spPr>
      </p:pic>
      <p:sp>
        <p:nvSpPr>
          <p:cNvPr id="3" name="s19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التناقض المعرفي</a:t>
            </a:r>
            <a:endParaRPr lang="en-US" sz="1600" dirty="0"/>
          </a:p>
        </p:txBody>
      </p:sp>
      <p:sp>
        <p:nvSpPr>
          <p:cNvPr id="4" name="s19_3@c1"/>
          <p:cNvSpPr txBox="1"/>
          <p:nvPr/>
        </p:nvSpPr>
        <p:spPr>
          <a:xfrm>
            <a:off x="7909560" y="1143000"/>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السهم في السلسلة الغذائية يشير إلى المخلوق الذي يُؤكَل.</a:t>
            </a:r>
            <a:endParaRPr lang="ar-SA" sz="1550" dirty="0"/>
          </a:p>
        </p:txBody>
      </p:sp>
      <p:sp>
        <p:nvSpPr>
          <p:cNvPr id="5" name="s19_4@c2"/>
          <p:cNvSpPr txBox="1"/>
          <p:nvPr/>
        </p:nvSpPr>
        <p:spPr>
          <a:xfrm>
            <a:off x="4343400" y="1143000"/>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إلى أين يشير السهم بين اليرقة والسرعوف؟</a:t>
            </a:r>
            <a:endParaRPr lang="ar-SA" sz="1500" dirty="0"/>
          </a:p>
        </p:txBody>
      </p:sp>
      <p:sp>
        <p:nvSpPr>
          <p:cNvPr id="6" name="s19_5@c3%chime"/>
          <p:cNvSpPr txBox="1"/>
          <p:nvPr/>
        </p:nvSpPr>
        <p:spPr>
          <a:xfrm>
            <a:off x="548640" y="1143000"/>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السهم يشير إلى المستهلك التالي؛ أي اتجاه انتقال الطاقة من الغذاء إلى آكله.</a:t>
            </a:r>
            <a:endParaRPr lang="ar-SA" sz="1500" dirty="0"/>
          </a:p>
        </p:txBody>
      </p:sp>
      <p:sp>
        <p:nvSpPr>
          <p:cNvPr id="7" name="s19_6@c4"/>
          <p:cNvSpPr txBox="1"/>
          <p:nvPr/>
        </p:nvSpPr>
        <p:spPr>
          <a:xfrm>
            <a:off x="7909560" y="2807208"/>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تبدأ السلسلة الغذائية بأقوى حيوان.</a:t>
            </a:r>
            <a:endParaRPr lang="ar-SA" sz="1550" dirty="0"/>
          </a:p>
        </p:txBody>
      </p:sp>
      <p:sp>
        <p:nvSpPr>
          <p:cNvPr id="8" name="s19_7@c5"/>
          <p:cNvSpPr txBox="1"/>
          <p:nvPr/>
        </p:nvSpPr>
        <p:spPr>
          <a:xfrm>
            <a:off x="4343400" y="2807208"/>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بماذا بدأت سلسلة اليابسة في كتابي؟</a:t>
            </a:r>
            <a:endParaRPr lang="ar-SA" sz="1500" dirty="0"/>
          </a:p>
        </p:txBody>
      </p:sp>
      <p:sp>
        <p:nvSpPr>
          <p:cNvPr id="9" name="s19_8@c6%chime"/>
          <p:cNvSpPr txBox="1"/>
          <p:nvPr/>
        </p:nvSpPr>
        <p:spPr>
          <a:xfrm>
            <a:off x="548640" y="2807208"/>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تبدأ بمنتِج يصنع غذاءه بطاقة الشمس، مثل نبات الشوك.</a:t>
            </a:r>
            <a:endParaRPr lang="ar-SA" sz="1500" dirty="0"/>
          </a:p>
        </p:txBody>
      </p:sp>
      <p:sp>
        <p:nvSpPr>
          <p:cNvPr id="10" name="s19_9@c7"/>
          <p:cNvSpPr txBox="1"/>
          <p:nvPr/>
        </p:nvSpPr>
        <p:spPr>
          <a:xfrm>
            <a:off x="7909560" y="4471416"/>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البومة تأخذ طاقتها من الشمس مباشرة؛ لأنها تطير عاليًا.</a:t>
            </a:r>
            <a:endParaRPr lang="ar-SA" sz="1550" dirty="0"/>
          </a:p>
        </p:txBody>
      </p:sp>
      <p:sp>
        <p:nvSpPr>
          <p:cNvPr id="11" name="s19_10@c8"/>
          <p:cNvSpPr txBox="1"/>
          <p:nvPr/>
        </p:nvSpPr>
        <p:spPr>
          <a:xfrm>
            <a:off x="4343400" y="4471416"/>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هل يستطيع أيّ حيوان أخذ الطاقة من الشمس؟</a:t>
            </a:r>
            <a:endParaRPr lang="ar-SA" sz="1500" dirty="0"/>
          </a:p>
        </p:txBody>
      </p:sp>
      <p:sp>
        <p:nvSpPr>
          <p:cNvPr id="12" name="s19_11@c9%chime"/>
          <p:cNvSpPr txBox="1"/>
          <p:nvPr/>
        </p:nvSpPr>
        <p:spPr>
          <a:xfrm>
            <a:off x="548640" y="4471416"/>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لا يستطيع؛ تحصل البومة على الطاقة من السحلية التي تأكلها.</a:t>
            </a:r>
            <a:endParaRPr lang="ar-SA" sz="1500" dirty="0"/>
          </a:p>
        </p:txBody>
      </p:sp>
      <p:sp>
        <p:nvSpPr>
          <p:cNvPr id="13" name="s19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19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subTnLst>
                                    <p:audio>
                                      <p:cMediaNode vol="50000" showWhenStopped="0">
                                        <p:cTn id="18" display="0" masterRel="sameClick">
                                          <p:stCondLst>
                                            <p:cond evt="onBegin" delay="0">
                                              <p:tn val="15"/>
                                            </p:cond>
                                          </p:stCondLst>
                                        </p:cTn>
                                        <p:tgtEl>
                                          <p:sndTgt r:embed="rId5" name="chime.wav"/>
                                        </p:tgtEl>
                                      </p:cMediaNode>
                                    </p:audio>
                                  </p:sub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subTnLst>
                                    <p:audio>
                                      <p:cMediaNode vol="50000" showWhenStopped="0">
                                        <p:cTn id="34" display="0" masterRel="sameClick">
                                          <p:stCondLst>
                                            <p:cond evt="onBegin" delay="0">
                                              <p:tn val="31"/>
                                            </p:cond>
                                          </p:stCondLst>
                                        </p:cTn>
                                        <p:tgtEl>
                                          <p:sndTgt r:embed="rId5" name="chime.wav"/>
                                        </p:tgtEl>
                                      </p:cMediaNode>
                                    </p:audio>
                                  </p:sub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subTnLst>
                                    <p:audio>
                                      <p:cMediaNode vol="50000" showWhenStopped="0">
                                        <p:cTn id="50" display="0" masterRel="sameClick">
                                          <p:stCondLst>
                                            <p:cond evt="onBegin" delay="0">
                                              <p:tn val="4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1" descr="عنوان الشريحة">    </p:cNvPr>
          <p:cNvPicPr>
            <a:picLocks noChangeAspect="1"/>
          </p:cNvPicPr>
          <p:nvPr/>
        </p:nvPicPr>
        <p:blipFill>
          <a:blip r:embed="rId2"/>
          <a:stretch>
            <a:fillRect/>
          </a:stretch>
        </p:blipFill>
        <p:spPr>
          <a:xfrm>
            <a:off x="8731965" y="182880"/>
            <a:ext cx="3093970" cy="731520"/>
          </a:xfrm>
          <a:prstGeom prst="rect">
            <a:avLst/>
          </a:prstGeom>
        </p:spPr>
      </p:pic>
      <p:sp>
        <p:nvSpPr>
          <p:cNvPr id="3" name="s20_2"/>
          <p:cNvSpPr txBox="1"/>
          <p:nvPr/>
        </p:nvSpPr>
        <p:spPr>
          <a:xfrm>
            <a:off x="365760" y="292608"/>
            <a:ext cx="50520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التوقّع – فكّري، زاوجي، شاركي</a:t>
            </a:r>
            <a:endParaRPr lang="en-US" sz="1600" dirty="0"/>
          </a:p>
        </p:txBody>
      </p:sp>
      <p:pic>
        <p:nvPicPr>
          <p:cNvPr id="4" name="s20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20_4"/>
          <p:cNvSpPr txBox="1"/>
          <p:nvPr/>
        </p:nvSpPr>
        <p:spPr>
          <a:xfrm>
            <a:off x="3566160" y="1417320"/>
            <a:ext cx="5029200" cy="914400"/>
          </a:xfrm>
          <a:prstGeom prst="roundRect">
            <a:avLst>
              <a:gd name="adj" fmla="val 3000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البركة 🪷</a:t>
            </a:r>
            <a:endParaRPr lang="ar-SA" sz="2600" dirty="0"/>
          </a:p>
        </p:txBody>
      </p:sp>
      <p:pic>
        <p:nvPicPr>
          <p:cNvPr id="6" name="s20_5@a4" descr="المستكشفة تلوّح">    </p:cNvPr>
          <p:cNvPicPr>
            <a:picLocks noChangeAspect="1"/>
          </p:cNvPicPr>
          <p:nvPr/>
        </p:nvPicPr>
        <p:blipFill>
          <a:blip r:embed="rId4"/>
          <a:stretch>
            <a:fillRect/>
          </a:stretch>
        </p:blipFill>
        <p:spPr>
          <a:xfrm>
            <a:off x="685800" y="1188720"/>
            <a:ext cx="3049793" cy="4937760"/>
          </a:xfrm>
          <a:prstGeom prst="rect">
            <a:avLst/>
          </a:prstGeom>
        </p:spPr>
      </p:pic>
      <p:pic>
        <p:nvPicPr>
          <p:cNvPr id="7" name="s20_6" descr="المستكشفة ببدلة الغوص">    </p:cNvPr>
          <p:cNvPicPr>
            <a:picLocks noChangeAspect="1"/>
          </p:cNvPicPr>
          <p:nvPr/>
        </p:nvPicPr>
        <p:blipFill>
          <a:blip r:embed="rId5"/>
          <a:stretch>
            <a:fillRect/>
          </a:stretch>
        </p:blipFill>
        <p:spPr>
          <a:xfrm>
            <a:off x="502920" y="1051560"/>
            <a:ext cx="3162748" cy="5120640"/>
          </a:xfrm>
          <a:prstGeom prst="rect">
            <a:avLst/>
          </a:prstGeom>
        </p:spPr>
      </p:pic>
      <p:sp>
        <p:nvSpPr>
          <p:cNvPr id="8" name="s20_7@a4"/>
          <p:cNvSpPr txBox="1"/>
          <p:nvPr/>
        </p:nvSpPr>
        <p:spPr>
          <a:xfrm>
            <a:off x="3657600" y="1188720"/>
            <a:ext cx="809244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اضغطي لتبدّل المستكشفة ملابسها وتلبس بدلة الغوص! 🤿</a:t>
            </a:r>
            <a:endParaRPr lang="ar-SA" sz="1800" dirty="0"/>
          </a:p>
        </p:txBody>
      </p:sp>
      <p:pic>
        <p:nvPicPr>
          <p:cNvPr id="9" name="s20_8@a4" descr="طحالب">    </p:cNvPr>
          <p:cNvPicPr>
            <a:picLocks noChangeAspect="1"/>
          </p:cNvPicPr>
          <p:nvPr/>
        </p:nvPicPr>
        <p:blipFill>
          <a:blip r:embed="rId6"/>
          <a:stretch>
            <a:fillRect/>
          </a:stretch>
        </p:blipFill>
        <p:spPr>
          <a:xfrm>
            <a:off x="9235440" y="2286000"/>
            <a:ext cx="2377440" cy="2377440"/>
          </a:xfrm>
          <a:prstGeom prst="rect">
            <a:avLst/>
          </a:prstGeom>
        </p:spPr>
      </p:pic>
      <p:sp>
        <p:nvSpPr>
          <p:cNvPr id="10" name="s20_9@a4"/>
          <p:cNvSpPr txBox="1"/>
          <p:nvPr/>
        </p:nvSpPr>
        <p:spPr>
          <a:xfrm>
            <a:off x="8915400" y="4663440"/>
            <a:ext cx="301752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1E5A4E"/>
                </a:solidFill>
                <a:latin typeface="Tahoma" pitchFamily="34" charset="0"/>
                <a:ea typeface="Tahoma" pitchFamily="34" charset="-122"/>
                <a:cs typeface="Tahoma" pitchFamily="34" charset="-120"/>
              </a:rPr>
              <a:t>طحالب – صورة من كتابي ص١١٣</a:t>
            </a:r>
            <a:endParaRPr lang="ar-SA" sz="1200" dirty="0"/>
          </a:p>
        </p:txBody>
      </p:sp>
      <p:sp>
        <p:nvSpPr>
          <p:cNvPr id="11" name="s20_10@a4"/>
          <p:cNvSpPr txBox="1"/>
          <p:nvPr/>
        </p:nvSpPr>
        <p:spPr>
          <a:xfrm>
            <a:off x="3657600" y="2286000"/>
            <a:ext cx="5349240" cy="1417320"/>
          </a:xfrm>
          <a:prstGeom prst="roundRect">
            <a:avLst>
              <a:gd name="adj" fmla="val 9032"/>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توقّعي: </a:t>
            </a:r>
            <a:r>
              <a:rPr lang="ar-SA" altLang="en-US" sz="1800" b="1" dirty="0">
                <a:solidFill>
                  <a:srgbClr val="34405E"/>
                </a:solidFill>
                <a:latin typeface="Tahoma" pitchFamily="34" charset="0"/>
                <a:ea typeface="Tahoma" pitchFamily="34" charset="-122"/>
                <a:cs typeface="Tahoma" pitchFamily="34" charset="-120"/>
              </a:rPr>
              <a:t>هل تشبه السلسلة الغذائية في البركة السلسلةَ الغذائية على اليابسة؟ بماذا تبدأ في رأيك؟</a:t>
            </a:r>
            <a:endParaRPr lang="ar-SA" sz="1800" dirty="0"/>
          </a:p>
        </p:txBody>
      </p:sp>
      <p:sp>
        <p:nvSpPr>
          <p:cNvPr id="12" name="s20_11@a4"/>
          <p:cNvSpPr txBox="1"/>
          <p:nvPr/>
        </p:nvSpPr>
        <p:spPr>
          <a:xfrm>
            <a:off x="3657600" y="3886200"/>
            <a:ext cx="5349240" cy="548640"/>
          </a:xfrm>
          <a:prstGeom prst="roundRect">
            <a:avLst>
              <a:gd name="adj" fmla="val 50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فكّري وحدكِ… ثم زاوجي زميلتك… ثم شاركي</a:t>
            </a:r>
            <a:endParaRPr lang="ar-SA" sz="1550" dirty="0"/>
          </a:p>
        </p:txBody>
      </p:sp>
      <p:sp>
        <p:nvSpPr>
          <p:cNvPr id="13" name="s20_12@c2%chime"/>
          <p:cNvSpPr txBox="1"/>
          <p:nvPr/>
        </p:nvSpPr>
        <p:spPr>
          <a:xfrm>
            <a:off x="3657600" y="51206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من كتابي: </a:t>
            </a:r>
            <a:r>
              <a:rPr lang="ar-SA" altLang="en-US" sz="1650" dirty="0">
                <a:solidFill>
                  <a:srgbClr val="34405E"/>
                </a:solidFill>
                <a:latin typeface="Tahoma" pitchFamily="34" charset="0"/>
                <a:ea typeface="Tahoma" pitchFamily="34" charset="-122"/>
                <a:cs typeface="Tahoma" pitchFamily="34" charset="-120"/>
              </a:rPr>
              <a:t>نعم، تتشابهان؛ فالسلسلة في البركة تبدأ أيضًا بمخلوقات تلتقط طاقة الشمس، مثل الطحالب 🌿</a:t>
            </a:r>
            <a:endParaRPr lang="ar-SA" sz="1650" dirty="0"/>
          </a:p>
        </p:txBody>
      </p:sp>
      <p:sp>
        <p:nvSpPr>
          <p:cNvPr id="14" name="s20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0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9"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10"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1" nodeType="clickEffect">
                                  <p:stCondLst>
                                    <p:cond delay="0"/>
                                  </p:stCondLst>
                                  <p:childTnLst>
                                    <p:animEffect transition="out" filter="fade">
                                      <p:cBhvr>
                                        <p:cTn id="45" dur="500"/>
                                        <p:tgtEl>
                                          <p:spTgt spid="6"/>
                                        </p:tgtEl>
                                      </p:cBhvr>
                                    </p:animEffect>
                                    <p:set>
                                      <p:cBhvr>
                                        <p:cTn id="46" dur="1" fill="hold">
                                          <p:stCondLst>
                                            <p:cond delay="499"/>
                                          </p:stCondLst>
                                        </p:cTn>
                                        <p:tgtEl>
                                          <p:spTgt spid="6"/>
                                        </p:tgtEl>
                                        <p:attrNameLst>
                                          <p:attrName>style.visibility</p:attrName>
                                        </p:attrNameLst>
                                      </p:cBhvr>
                                      <p:to>
                                        <p:strVal val="hidden"/>
                                      </p:to>
                                    </p:set>
                                  </p:childTnLst>
                                </p:cTn>
                              </p:par>
                              <p:par>
                                <p:cTn id="47" presetID="53" presetClass="entr" presetSubtype="16" fill="hold" grpId="0" nodeType="withEffect">
                                  <p:stCondLst>
                                    <p:cond delay="300"/>
                                  </p:stCondLst>
                                  <p:childTnLst>
                                    <p:set>
                                      <p:cBhvr>
                                        <p:cTn id="48" dur="1" fill="hold">
                                          <p:stCondLst>
                                            <p:cond delay="0"/>
                                          </p:stCondLst>
                                        </p:cTn>
                                        <p:tgtEl>
                                          <p:spTgt spid="7"/>
                                        </p:tgtEl>
                                        <p:attrNameLst>
                                          <p:attrName>style.visibility</p:attrName>
                                        </p:attrNameLst>
                                      </p:cBhvr>
                                      <p:to>
                                        <p:strVal val="visible"/>
                                      </p:to>
                                    </p:set>
                                    <p:anim calcmode="lin" valueType="num">
                                      <p:cBhvr additive="base">
                                        <p:cTn id="49" dur="700" fill="hold"/>
                                        <p:tgtEl>
                                          <p:spTgt spid="7"/>
                                        </p:tgtEl>
                                        <p:attrNameLst>
                                          <p:attrName>ppt_w</p:attrName>
                                        </p:attrNameLst>
                                      </p:cBhvr>
                                      <p:tavLst>
                                        <p:tav tm="0">
                                          <p:val>
                                            <p:strVal val="0"/>
                                          </p:val>
                                        </p:tav>
                                        <p:tav tm="100000">
                                          <p:val>
                                            <p:strVal val="#ppt_w"/>
                                          </p:val>
                                        </p:tav>
                                      </p:tavLst>
                                    </p:anim>
                                    <p:anim calcmode="lin" valueType="num">
                                      <p:cBhvr additive="base">
                                        <p:cTn id="50" dur="700" fill="hold"/>
                                        <p:tgtEl>
                                          <p:spTgt spid="7"/>
                                        </p:tgtEl>
                                        <p:attrNameLst>
                                          <p:attrName>ppt_h</p:attrName>
                                        </p:attrNameLst>
                                      </p:cBhvr>
                                      <p:tavLst>
                                        <p:tav tm="0">
                                          <p:val>
                                            <p:strVal val="0"/>
                                          </p:val>
                                        </p:tav>
                                        <p:tav tm="100000">
                                          <p:val>
                                            <p:strVal val="#ppt_h"/>
                                          </p:val>
                                        </p:tav>
                                      </p:tavLst>
                                    </p:anim>
                                    <p:animEffect transition="in" filter="fade">
                                      <p:cBhvr>
                                        <p:cTn id="51" dur="700"/>
                                        <p:tgtEl>
                                          <p:spTgt spid="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subTnLst>
                                    <p:audio>
                                      <p:cMediaNode vol="50000" showWhenStopped="0">
                                        <p:cTn id="57" display="0" masterRel="sameClick">
                                          <p:stCondLst>
                                            <p:cond evt="onBegin" delay="0">
                                              <p:tn val="54"/>
                                            </p:cond>
                                          </p:stCondLst>
                                        </p:cTn>
                                        <p:tgtEl>
                                          <p:sndTgt r:embed="rId10"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8" grpId="0" animBg="1"/>
      <p:bldP spid="10" grpId="0" animBg="1"/>
      <p:bldP spid="11" grpId="0" animBg="1"/>
      <p:bldP spid="12"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1" descr="عنوان الشريحة">    </p:cNvPr>
          <p:cNvPicPr>
            <a:picLocks noChangeAspect="1"/>
          </p:cNvPicPr>
          <p:nvPr/>
        </p:nvPicPr>
        <p:blipFill>
          <a:blip r:embed="rId2"/>
          <a:stretch>
            <a:fillRect/>
          </a:stretch>
        </p:blipFill>
        <p:spPr>
          <a:xfrm>
            <a:off x="6831213" y="182880"/>
            <a:ext cx="4994723" cy="731520"/>
          </a:xfrm>
          <a:prstGeom prst="rect">
            <a:avLst/>
          </a:prstGeom>
        </p:spPr>
      </p:pic>
      <p:sp>
        <p:nvSpPr>
          <p:cNvPr id="3" name="s21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1_3" descr="صفحة ١١٣ من كتاب العلوم">    </p:cNvPr>
          <p:cNvPicPr>
            <a:picLocks noChangeAspect="1"/>
          </p:cNvPicPr>
          <p:nvPr/>
        </p:nvPicPr>
        <p:blipFill>
          <a:blip r:embed="rId3"/>
          <a:stretch>
            <a:fillRect/>
          </a:stretch>
        </p:blipFill>
        <p:spPr>
          <a:xfrm>
            <a:off x="365760" y="896112"/>
            <a:ext cx="4254090" cy="5486400"/>
          </a:xfrm>
          <a:prstGeom prst="rect">
            <a:avLst/>
          </a:prstGeom>
        </p:spPr>
      </p:pic>
      <p:sp>
        <p:nvSpPr>
          <p:cNvPr id="5" name="s21_4"/>
          <p:cNvSpPr txBox="1"/>
          <p:nvPr/>
        </p:nvSpPr>
        <p:spPr>
          <a:xfrm>
            <a:off x="365760" y="6364224"/>
            <a:ext cx="4254090"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١١٣ من كتابي</a:t>
            </a:r>
            <a:endParaRPr lang="ar-SA" sz="1100" dirty="0"/>
          </a:p>
        </p:txBody>
      </p:sp>
      <p:sp>
        <p:nvSpPr>
          <p:cNvPr id="6" name="page113_q0"/>
          <p:cNvSpPr txBox="1"/>
          <p:nvPr/>
        </p:nvSpPr>
        <p:spPr>
          <a:xfrm>
            <a:off x="8314333" y="914400"/>
            <a:ext cx="3465882"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بماذا تبدأ السلسلة الغذائية في البركة؟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1_5@t=page113_q0%chime"/>
          <p:cNvSpPr txBox="1"/>
          <p:nvPr/>
        </p:nvSpPr>
        <p:spPr>
          <a:xfrm>
            <a:off x="4848450" y="91440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بالطحالب والنباتات الخضراء التي تلتقط طاقة الشمس.</a:t>
            </a:r>
            <a:endParaRPr lang="ar-SA" sz="1400" dirty="0"/>
          </a:p>
        </p:txBody>
      </p:sp>
      <p:sp>
        <p:nvSpPr>
          <p:cNvPr id="8" name="s21_6@t=page113_q0"/>
          <p:cNvSpPr/>
          <p:nvPr/>
        </p:nvSpPr>
        <p:spPr>
          <a:xfrm>
            <a:off x="2446921" y="1643364"/>
            <a:ext cx="1681316" cy="340852"/>
          </a:xfrm>
          <a:prstGeom prst="roundRect">
            <a:avLst>
              <a:gd name="adj" fmla="val 13413"/>
            </a:avLst>
          </a:prstGeom>
          <a:solidFill>
            <a:srgbClr val="FFEB3B">
              <a:alpha val="45000"/>
            </a:srgbClr>
          </a:solidFill>
          <a:ln w="25400">
            <a:solidFill>
              <a:srgbClr val="F5A623"/>
            </a:solidFill>
            <a:prstDash val="solid"/>
          </a:ln>
        </p:spPr>
      </p:sp>
      <p:sp>
        <p:nvSpPr>
          <p:cNvPr id="9" name="page113_q1"/>
          <p:cNvSpPr txBox="1"/>
          <p:nvPr/>
        </p:nvSpPr>
        <p:spPr>
          <a:xfrm>
            <a:off x="8314333" y="2308860"/>
            <a:ext cx="3465882"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أين تخزّن الطحالب الطاقة؟ وبأيّ شكل؟</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1_7@t=page113_q1%chime"/>
          <p:cNvSpPr txBox="1"/>
          <p:nvPr/>
        </p:nvSpPr>
        <p:spPr>
          <a:xfrm>
            <a:off x="4848450" y="230886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في الخلايا، على شكل سكر.</a:t>
            </a:r>
            <a:endParaRPr lang="ar-SA" sz="1400" dirty="0"/>
          </a:p>
        </p:txBody>
      </p:sp>
      <p:sp>
        <p:nvSpPr>
          <p:cNvPr id="11" name="s21_8@t=page113_q1"/>
          <p:cNvSpPr/>
          <p:nvPr/>
        </p:nvSpPr>
        <p:spPr>
          <a:xfrm>
            <a:off x="2659954" y="1990770"/>
            <a:ext cx="1468284" cy="163871"/>
          </a:xfrm>
          <a:prstGeom prst="roundRect">
            <a:avLst>
              <a:gd name="adj" fmla="val 27900"/>
            </a:avLst>
          </a:prstGeom>
          <a:solidFill>
            <a:srgbClr val="FFEB3B">
              <a:alpha val="45000"/>
            </a:srgbClr>
          </a:solidFill>
          <a:ln w="25400">
            <a:solidFill>
              <a:srgbClr val="F5A623"/>
            </a:solidFill>
            <a:prstDash val="solid"/>
          </a:ln>
        </p:spPr>
      </p:sp>
      <p:sp>
        <p:nvSpPr>
          <p:cNvPr id="12" name="page113_q2"/>
          <p:cNvSpPr txBox="1"/>
          <p:nvPr/>
        </p:nvSpPr>
        <p:spPr>
          <a:xfrm>
            <a:off x="8314333" y="3703320"/>
            <a:ext cx="3465882"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تستخدم الذبابة المائية الأكسجين؟</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1_9@t=page113_q2%chime"/>
          <p:cNvSpPr txBox="1"/>
          <p:nvPr/>
        </p:nvSpPr>
        <p:spPr>
          <a:xfrm>
            <a:off x="4848450" y="370332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لإطلاق الطاقة المخزونة في الطحالب؛ للقيام بوظائف الحياة كالحركة.</a:t>
            </a:r>
            <a:endParaRPr lang="ar-SA" sz="1400" dirty="0"/>
          </a:p>
        </p:txBody>
      </p:sp>
      <p:sp>
        <p:nvSpPr>
          <p:cNvPr id="14" name="s21_10@t=page113_q2"/>
          <p:cNvSpPr/>
          <p:nvPr/>
        </p:nvSpPr>
        <p:spPr>
          <a:xfrm>
            <a:off x="2446921" y="2180860"/>
            <a:ext cx="1681316" cy="655484"/>
          </a:xfrm>
          <a:prstGeom prst="roundRect">
            <a:avLst>
              <a:gd name="adj" fmla="val 6975"/>
            </a:avLst>
          </a:prstGeom>
          <a:solidFill>
            <a:srgbClr val="FFEB3B">
              <a:alpha val="45000"/>
            </a:srgbClr>
          </a:solidFill>
          <a:ln w="25400">
            <a:solidFill>
              <a:srgbClr val="F5A623"/>
            </a:solidFill>
            <a:prstDash val="solid"/>
          </a:ln>
        </p:spPr>
      </p:sp>
      <p:sp>
        <p:nvSpPr>
          <p:cNvPr id="15" name="page113_q3"/>
          <p:cNvSpPr txBox="1"/>
          <p:nvPr/>
        </p:nvSpPr>
        <p:spPr>
          <a:xfrm>
            <a:off x="8314333" y="5097780"/>
            <a:ext cx="3465882"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من آخر حلقة في سلسلة البركة؟ وممّن أخذ طاقته؟</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1_11@t=page113_q3%chime"/>
          <p:cNvSpPr txBox="1"/>
          <p:nvPr/>
        </p:nvSpPr>
        <p:spPr>
          <a:xfrm>
            <a:off x="4848450" y="509778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مالك الحزين؛ أخذ طاقته من سمكة الشمس التي اصطادها.</a:t>
            </a:r>
            <a:endParaRPr lang="ar-SA" sz="1400" dirty="0"/>
          </a:p>
        </p:txBody>
      </p:sp>
      <p:sp>
        <p:nvSpPr>
          <p:cNvPr id="17" name="s21_12@t=page113_q3"/>
          <p:cNvSpPr/>
          <p:nvPr/>
        </p:nvSpPr>
        <p:spPr>
          <a:xfrm>
            <a:off x="2446921" y="3229635"/>
            <a:ext cx="1681316" cy="327742"/>
          </a:xfrm>
          <a:prstGeom prst="roundRect">
            <a:avLst>
              <a:gd name="adj" fmla="val 13950"/>
            </a:avLst>
          </a:prstGeom>
          <a:solidFill>
            <a:srgbClr val="FFEB3B">
              <a:alpha val="45000"/>
            </a:srgbClr>
          </a:solidFill>
          <a:ln w="25400">
            <a:solidFill>
              <a:srgbClr val="F5A623"/>
            </a:solidFill>
            <a:prstDash val="solid"/>
          </a:ln>
        </p:spPr>
      </p:sp>
      <p:sp>
        <p:nvSpPr>
          <p:cNvPr id="18" name="s21_13@t=page113_q3"/>
          <p:cNvSpPr/>
          <p:nvPr/>
        </p:nvSpPr>
        <p:spPr>
          <a:xfrm>
            <a:off x="546018" y="1436886"/>
            <a:ext cx="950452" cy="835742"/>
          </a:xfrm>
          <a:prstGeom prst="roundRect">
            <a:avLst>
              <a:gd name="adj" fmla="val 5471"/>
            </a:avLst>
          </a:prstGeom>
          <a:solidFill>
            <a:srgbClr val="FFEB3B">
              <a:alpha val="45000"/>
            </a:srgbClr>
          </a:solidFill>
          <a:ln w="25400">
            <a:solidFill>
              <a:srgbClr val="F5A623"/>
            </a:solidFill>
            <a:prstDash val="solid"/>
          </a:ln>
        </p:spPr>
      </p:sp>
      <p:sp>
        <p:nvSpPr>
          <p:cNvPr id="19" name="s21_1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1_1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1" descr="عنوان الشريحة">    </p:cNvPr>
          <p:cNvPicPr>
            <a:picLocks noChangeAspect="1"/>
          </p:cNvPicPr>
          <p:nvPr/>
        </p:nvPicPr>
        <p:blipFill>
          <a:blip r:embed="rId2"/>
          <a:stretch>
            <a:fillRect/>
          </a:stretch>
        </p:blipFill>
        <p:spPr>
          <a:xfrm>
            <a:off x="6609358" y="182880"/>
            <a:ext cx="5216577" cy="731520"/>
          </a:xfrm>
          <a:prstGeom prst="rect">
            <a:avLst/>
          </a:prstGeom>
        </p:spPr>
      </p:pic>
      <p:sp>
        <p:nvSpPr>
          <p:cNvPr id="3" name="s22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الطاقة</a:t>
            </a:r>
            <a:endParaRPr lang="en-US" sz="1600" dirty="0"/>
          </a:p>
        </p:txBody>
      </p:sp>
      <p:pic>
        <p:nvPicPr>
          <p:cNvPr id="4" name="s22_3" descr="الشمس">    </p:cNvPr>
          <p:cNvPicPr>
            <a:picLocks noChangeAspect="1"/>
          </p:cNvPicPr>
          <p:nvPr/>
        </p:nvPicPr>
        <p:blipFill>
          <a:blip r:embed="rId3"/>
          <a:stretch>
            <a:fillRect/>
          </a:stretch>
        </p:blipFill>
        <p:spPr>
          <a:xfrm>
            <a:off x="10607040" y="1051560"/>
            <a:ext cx="1234440" cy="1234440"/>
          </a:xfrm>
          <a:prstGeom prst="rect">
            <a:avLst/>
          </a:prstGeom>
        </p:spPr>
      </p:pic>
      <p:pic>
        <p:nvPicPr>
          <p:cNvPr id="5" name="s22_4" descr="طحالب">    </p:cNvPr>
          <p:cNvPicPr>
            <a:picLocks noChangeAspect="1"/>
          </p:cNvPicPr>
          <p:nvPr/>
        </p:nvPicPr>
        <p:blipFill>
          <a:blip r:embed="rId4"/>
          <a:stretch>
            <a:fillRect/>
          </a:stretch>
        </p:blipFill>
        <p:spPr>
          <a:xfrm>
            <a:off x="8869680" y="4069080"/>
            <a:ext cx="1828800" cy="1828800"/>
          </a:xfrm>
          <a:prstGeom prst="rect">
            <a:avLst/>
          </a:prstGeom>
        </p:spPr>
      </p:pic>
      <p:sp>
        <p:nvSpPr>
          <p:cNvPr id="6" name="s22_5"/>
          <p:cNvSpPr txBox="1"/>
          <p:nvPr/>
        </p:nvSpPr>
        <p:spPr>
          <a:xfrm>
            <a:off x="8823960" y="5852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الطحالب</a:t>
            </a:r>
            <a:endParaRPr lang="ar-SA" sz="1400" dirty="0"/>
          </a:p>
        </p:txBody>
      </p:sp>
      <p:pic>
        <p:nvPicPr>
          <p:cNvPr id="7" name="s22_6" descr="ذبابة مائية">    </p:cNvPr>
          <p:cNvPicPr>
            <a:picLocks noChangeAspect="1"/>
          </p:cNvPicPr>
          <p:nvPr/>
        </p:nvPicPr>
        <p:blipFill>
          <a:blip r:embed="rId5"/>
          <a:stretch>
            <a:fillRect/>
          </a:stretch>
        </p:blipFill>
        <p:spPr>
          <a:xfrm>
            <a:off x="6355080" y="3017520"/>
            <a:ext cx="1737360" cy="1737360"/>
          </a:xfrm>
          <a:prstGeom prst="rect">
            <a:avLst/>
          </a:prstGeom>
        </p:spPr>
      </p:pic>
      <p:sp>
        <p:nvSpPr>
          <p:cNvPr id="8" name="s22_7"/>
          <p:cNvSpPr txBox="1"/>
          <p:nvPr/>
        </p:nvSpPr>
        <p:spPr>
          <a:xfrm>
            <a:off x="6263640" y="4709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الذبابة المائية</a:t>
            </a:r>
            <a:endParaRPr lang="ar-SA" sz="1400" dirty="0"/>
          </a:p>
        </p:txBody>
      </p:sp>
      <p:pic>
        <p:nvPicPr>
          <p:cNvPr id="9" name="s22_8" descr="سمكة الشمس">    </p:cNvPr>
          <p:cNvPicPr>
            <a:picLocks noChangeAspect="1"/>
          </p:cNvPicPr>
          <p:nvPr/>
        </p:nvPicPr>
        <p:blipFill>
          <a:blip r:embed="rId6"/>
          <a:stretch>
            <a:fillRect/>
          </a:stretch>
        </p:blipFill>
        <p:spPr>
          <a:xfrm>
            <a:off x="3794760" y="3931920"/>
            <a:ext cx="1737360" cy="1737360"/>
          </a:xfrm>
          <a:prstGeom prst="rect">
            <a:avLst/>
          </a:prstGeom>
        </p:spPr>
      </p:pic>
      <p:sp>
        <p:nvSpPr>
          <p:cNvPr id="10" name="s22_9"/>
          <p:cNvSpPr txBox="1"/>
          <p:nvPr/>
        </p:nvSpPr>
        <p:spPr>
          <a:xfrm>
            <a:off x="3703320" y="56235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سمكة الشمس</a:t>
            </a:r>
            <a:endParaRPr lang="ar-SA" sz="1400" dirty="0"/>
          </a:p>
        </p:txBody>
      </p:sp>
      <p:pic>
        <p:nvPicPr>
          <p:cNvPr id="11" name="s22_10" descr="مالك الحزين">    </p:cNvPr>
          <p:cNvPicPr>
            <a:picLocks noChangeAspect="1"/>
          </p:cNvPicPr>
          <p:nvPr/>
        </p:nvPicPr>
        <p:blipFill>
          <a:blip r:embed="rId7"/>
          <a:stretch>
            <a:fillRect/>
          </a:stretch>
        </p:blipFill>
        <p:spPr>
          <a:xfrm>
            <a:off x="1280160" y="1371600"/>
            <a:ext cx="1737360" cy="1737360"/>
          </a:xfrm>
          <a:prstGeom prst="rect">
            <a:avLst/>
          </a:prstGeom>
        </p:spPr>
      </p:pic>
      <p:sp>
        <p:nvSpPr>
          <p:cNvPr id="12" name="s22_11"/>
          <p:cNvSpPr txBox="1"/>
          <p:nvPr/>
        </p:nvSpPr>
        <p:spPr>
          <a:xfrm>
            <a:off x="1188720" y="306324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مالك الحزين</a:t>
            </a:r>
            <a:endParaRPr lang="ar-SA" sz="1400" dirty="0"/>
          </a:p>
        </p:txBody>
      </p:sp>
      <p:sp>
        <p:nvSpPr>
          <p:cNvPr id="13" name="s22_12"/>
          <p:cNvSpPr/>
          <p:nvPr/>
        </p:nvSpPr>
        <p:spPr>
          <a:xfrm flipH="1" flipV="1">
            <a:off x="8089440" y="4257206"/>
            <a:ext cx="812150" cy="348064"/>
          </a:xfrm>
          <a:prstGeom prst="line">
            <a:avLst/>
          </a:prstGeom>
          <a:noFill/>
          <a:ln w="76200">
            <a:solidFill>
              <a:srgbClr val="2F8A3A"/>
            </a:solidFill>
            <a:prstDash val="solid"/>
            <a:tailEnd type="triangle"/>
          </a:ln>
        </p:spPr>
      </p:sp>
      <p:sp>
        <p:nvSpPr>
          <p:cNvPr id="14" name="s22_13"/>
          <p:cNvSpPr/>
          <p:nvPr/>
        </p:nvSpPr>
        <p:spPr>
          <a:xfrm flipH="1">
            <a:off x="5550403" y="4193746"/>
            <a:ext cx="812229" cy="290082"/>
          </a:xfrm>
          <a:prstGeom prst="line">
            <a:avLst/>
          </a:prstGeom>
          <a:noFill/>
          <a:ln w="76200">
            <a:solidFill>
              <a:srgbClr val="2F8A3A"/>
            </a:solidFill>
            <a:prstDash val="solid"/>
            <a:tailEnd type="triangle"/>
          </a:ln>
        </p:spPr>
      </p:sp>
      <p:sp>
        <p:nvSpPr>
          <p:cNvPr id="15" name="s22_14"/>
          <p:cNvSpPr/>
          <p:nvPr/>
        </p:nvSpPr>
        <p:spPr>
          <a:xfrm flipH="1" flipV="1">
            <a:off x="2808789" y="2912228"/>
            <a:ext cx="1213923" cy="1235995"/>
          </a:xfrm>
          <a:prstGeom prst="line">
            <a:avLst/>
          </a:prstGeom>
          <a:noFill/>
          <a:ln w="76200">
            <a:solidFill>
              <a:srgbClr val="2F8A3A"/>
            </a:solidFill>
            <a:prstDash val="solid"/>
            <a:tailEnd type="triangle"/>
          </a:ln>
        </p:spPr>
      </p:sp>
      <p:pic>
        <p:nvPicPr>
          <p:cNvPr id="16" name="s22_15" descr="كرة الطاقة">    </p:cNvPr>
          <p:cNvPicPr>
            <a:picLocks noChangeAspect="1"/>
          </p:cNvPicPr>
          <p:nvPr/>
        </p:nvPicPr>
        <p:blipFill>
          <a:blip r:embed="rId8"/>
          <a:stretch>
            <a:fillRect/>
          </a:stretch>
        </p:blipFill>
        <p:spPr>
          <a:xfrm>
            <a:off x="10785348" y="1239012"/>
            <a:ext cx="868680" cy="868680"/>
          </a:xfrm>
          <a:prstGeom prst="rect">
            <a:avLst/>
          </a:prstGeom>
        </p:spPr>
      </p:pic>
      <p:sp>
        <p:nvSpPr>
          <p:cNvPr id="17" name="s22_16"/>
          <p:cNvSpPr txBox="1"/>
          <p:nvPr/>
        </p:nvSpPr>
        <p:spPr>
          <a:xfrm>
            <a:off x="3337560" y="1005840"/>
            <a:ext cx="7086600" cy="658368"/>
          </a:xfrm>
          <a:prstGeom prst="roundRect">
            <a:avLst>
              <a:gd name="adj" fmla="val 19444"/>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١) تلتقط الطحالب طاقة الشمس (البناء الضوئي) وتخزّنها على شكل سكر.</a:t>
            </a:r>
            <a:endParaRPr lang="ar-SA" sz="1550" dirty="0"/>
          </a:p>
        </p:txBody>
      </p:sp>
      <p:pic>
        <p:nvPicPr>
          <p:cNvPr id="18" name="s22_17" descr="كرة الطاقة">    </p:cNvPr>
          <p:cNvPicPr>
            <a:picLocks noChangeAspect="1"/>
          </p:cNvPicPr>
          <p:nvPr/>
        </p:nvPicPr>
        <p:blipFill>
          <a:blip r:embed="rId9"/>
          <a:stretch>
            <a:fillRect/>
          </a:stretch>
        </p:blipFill>
        <p:spPr>
          <a:xfrm>
            <a:off x="10149840" y="3886200"/>
            <a:ext cx="731520" cy="731520"/>
          </a:xfrm>
          <a:prstGeom prst="rect">
            <a:avLst/>
          </a:prstGeom>
        </p:spPr>
      </p:pic>
      <p:sp>
        <p:nvSpPr>
          <p:cNvPr id="19" name="s22_18"/>
          <p:cNvSpPr txBox="1"/>
          <p:nvPr/>
        </p:nvSpPr>
        <p:spPr>
          <a:xfrm>
            <a:off x="3337560" y="1005840"/>
            <a:ext cx="7086600" cy="658368"/>
          </a:xfrm>
          <a:prstGeom prst="roundRect">
            <a:avLst>
              <a:gd name="adj" fmla="val 19444"/>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٢) تأكل الذبابة المائية الطحالب، فتنتقل إليها الطاقة.</a:t>
            </a:r>
            <a:endParaRPr lang="ar-SA" sz="1550" dirty="0"/>
          </a:p>
        </p:txBody>
      </p:sp>
      <p:pic>
        <p:nvPicPr>
          <p:cNvPr id="20" name="s22_19" descr="كرة الطاقة">    </p:cNvPr>
          <p:cNvPicPr>
            <a:picLocks noChangeAspect="1"/>
          </p:cNvPicPr>
          <p:nvPr/>
        </p:nvPicPr>
        <p:blipFill>
          <a:blip r:embed="rId10"/>
          <a:stretch>
            <a:fillRect/>
          </a:stretch>
        </p:blipFill>
        <p:spPr>
          <a:xfrm>
            <a:off x="7635240" y="2926080"/>
            <a:ext cx="548640" cy="548640"/>
          </a:xfrm>
          <a:prstGeom prst="rect">
            <a:avLst/>
          </a:prstGeom>
        </p:spPr>
      </p:pic>
      <p:sp>
        <p:nvSpPr>
          <p:cNvPr id="21" name="s22_20"/>
          <p:cNvSpPr txBox="1"/>
          <p:nvPr/>
        </p:nvSpPr>
        <p:spPr>
          <a:xfrm>
            <a:off x="3337560" y="1005840"/>
            <a:ext cx="7086600" cy="658368"/>
          </a:xfrm>
          <a:prstGeom prst="roundRect">
            <a:avLst>
              <a:gd name="adj" fmla="val 19444"/>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٣) تقفز سمكة الشمس وتلتقط الذبابة المائية.</a:t>
            </a:r>
            <a:endParaRPr lang="ar-SA" sz="1550" dirty="0"/>
          </a:p>
        </p:txBody>
      </p:sp>
      <p:pic>
        <p:nvPicPr>
          <p:cNvPr id="22" name="s22_21" descr="كرة الطاقة">    </p:cNvPr>
          <p:cNvPicPr>
            <a:picLocks noChangeAspect="1"/>
          </p:cNvPicPr>
          <p:nvPr/>
        </p:nvPicPr>
        <p:blipFill>
          <a:blip r:embed="rId11"/>
          <a:stretch>
            <a:fillRect/>
          </a:stretch>
        </p:blipFill>
        <p:spPr>
          <a:xfrm>
            <a:off x="5143500" y="3909060"/>
            <a:ext cx="411480" cy="411480"/>
          </a:xfrm>
          <a:prstGeom prst="rect">
            <a:avLst/>
          </a:prstGeom>
        </p:spPr>
      </p:pic>
      <p:sp>
        <p:nvSpPr>
          <p:cNvPr id="23" name="s22_22"/>
          <p:cNvSpPr txBox="1"/>
          <p:nvPr/>
        </p:nvSpPr>
        <p:spPr>
          <a:xfrm>
            <a:off x="3337560" y="1005840"/>
            <a:ext cx="7086600" cy="658368"/>
          </a:xfrm>
          <a:prstGeom prst="roundRect">
            <a:avLst>
              <a:gd name="adj" fmla="val 19444"/>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٤) يصطاد مالك الحزين سمكة الشمس… وصل إليه جزء من طاقة الشمس!</a:t>
            </a:r>
            <a:endParaRPr lang="ar-SA" sz="1550" dirty="0"/>
          </a:p>
        </p:txBody>
      </p:sp>
      <p:sp>
        <p:nvSpPr>
          <p:cNvPr id="24" name="s22_23"/>
          <p:cNvSpPr txBox="1"/>
          <p:nvPr/>
        </p:nvSpPr>
        <p:spPr>
          <a:xfrm>
            <a:off x="3337560" y="1005840"/>
            <a:ext cx="7086600" cy="658368"/>
          </a:xfrm>
          <a:prstGeom prst="roundRect">
            <a:avLst>
              <a:gd name="adj" fmla="val 19444"/>
            </a:avLst>
          </a:prstGeom>
          <a:solidFill>
            <a:srgbClr val="FFFDF7"/>
          </a:solidFill>
          <a:ln w="31750">
            <a:solidFill>
              <a:srgbClr val="2F8A3A"/>
            </a:solidFill>
          </a:ln>
        </p:spPr>
        <p:txBody>
          <a:bodyPr wrap="square" lIns="101600" tIns="101600" rIns="101600" bIns="101600" rtlCol="0" anchor="ctr"/>
          <a:lstStyle/>
          <a:p>
            <a:pPr rtl="1" algn="ctr" indent="0" marL="0">
              <a:buNone/>
            </a:pPr>
            <a:r>
              <a:rPr lang="ar-SA" altLang="en-US" sz="1700" b="1" dirty="0">
                <a:solidFill>
                  <a:srgbClr val="2F8A3A"/>
                </a:solidFill>
                <a:latin typeface="Tahoma" pitchFamily="34" charset="0"/>
                <a:ea typeface="Tahoma" pitchFamily="34" charset="-122"/>
                <a:cs typeface="Tahoma" pitchFamily="34" charset="-120"/>
              </a:rPr>
              <a:t>✔ طحالب ← ذبابة مائية ← سمكة الشمس ← مالك الحزين</a:t>
            </a:r>
            <a:endParaRPr lang="ar-SA" sz="1700" dirty="0"/>
          </a:p>
        </p:txBody>
      </p:sp>
      <p:pic>
        <p:nvPicPr>
          <p:cNvPr id="25" name="s22_24" descr="فقاعة">    </p:cNvPr>
          <p:cNvPicPr>
            <a:picLocks noChangeAspect="1"/>
          </p:cNvPicPr>
          <p:nvPr/>
        </p:nvPicPr>
        <p:blipFill>
          <a:blip r:embed="rId12"/>
          <a:stretch>
            <a:fillRect/>
          </a:stretch>
        </p:blipFill>
        <p:spPr>
          <a:xfrm>
            <a:off x="914400" y="5669280"/>
            <a:ext cx="256032" cy="256032"/>
          </a:xfrm>
          <a:prstGeom prst="rect">
            <a:avLst/>
          </a:prstGeom>
        </p:spPr>
      </p:pic>
      <p:pic>
        <p:nvPicPr>
          <p:cNvPr id="26" name="s22_25" descr="فقاعة">    </p:cNvPr>
          <p:cNvPicPr>
            <a:picLocks noChangeAspect="1"/>
          </p:cNvPicPr>
          <p:nvPr/>
        </p:nvPicPr>
        <p:blipFill>
          <a:blip r:embed="rId13"/>
          <a:stretch>
            <a:fillRect/>
          </a:stretch>
        </p:blipFill>
        <p:spPr>
          <a:xfrm>
            <a:off x="3749040" y="6035040"/>
            <a:ext cx="329184" cy="329184"/>
          </a:xfrm>
          <a:prstGeom prst="rect">
            <a:avLst/>
          </a:prstGeom>
        </p:spPr>
      </p:pic>
      <p:pic>
        <p:nvPicPr>
          <p:cNvPr id="27" name="s22_26" descr="فقاعة">    </p:cNvPr>
          <p:cNvPicPr>
            <a:picLocks noChangeAspect="1"/>
          </p:cNvPicPr>
          <p:nvPr/>
        </p:nvPicPr>
        <p:blipFill>
          <a:blip r:embed="rId14"/>
          <a:stretch>
            <a:fillRect/>
          </a:stretch>
        </p:blipFill>
        <p:spPr>
          <a:xfrm>
            <a:off x="6035040" y="5852160"/>
            <a:ext cx="402336" cy="402336"/>
          </a:xfrm>
          <a:prstGeom prst="rect">
            <a:avLst/>
          </a:prstGeom>
        </p:spPr>
      </p:pic>
      <p:pic>
        <p:nvPicPr>
          <p:cNvPr id="28" name="s22_27" descr="فقاعة">    </p:cNvPr>
          <p:cNvPicPr>
            <a:picLocks noChangeAspect="1"/>
          </p:cNvPicPr>
          <p:nvPr/>
        </p:nvPicPr>
        <p:blipFill>
          <a:blip r:embed="rId15"/>
          <a:stretch>
            <a:fillRect/>
          </a:stretch>
        </p:blipFill>
        <p:spPr>
          <a:xfrm>
            <a:off x="8503920" y="6126480"/>
            <a:ext cx="256032" cy="256032"/>
          </a:xfrm>
          <a:prstGeom prst="rect">
            <a:avLst/>
          </a:prstGeom>
        </p:spPr>
      </p:pic>
      <p:pic>
        <p:nvPicPr>
          <p:cNvPr id="29" name="s22_28" descr="فقاعة">    </p:cNvPr>
          <p:cNvPicPr>
            <a:picLocks noChangeAspect="1"/>
          </p:cNvPicPr>
          <p:nvPr/>
        </p:nvPicPr>
        <p:blipFill>
          <a:blip r:embed="rId16"/>
          <a:stretch>
            <a:fillRect/>
          </a:stretch>
        </p:blipFill>
        <p:spPr>
          <a:xfrm>
            <a:off x="11338560" y="5760720"/>
            <a:ext cx="329184" cy="329184"/>
          </a:xfrm>
          <a:prstGeom prst="rect">
            <a:avLst/>
          </a:prstGeom>
        </p:spPr>
      </p:pic>
      <p:pic>
        <p:nvPicPr>
          <p:cNvPr id="30" name="s22_29" descr="فقاعة">    </p:cNvPr>
          <p:cNvPicPr>
            <a:picLocks noChangeAspect="1"/>
          </p:cNvPicPr>
          <p:nvPr/>
        </p:nvPicPr>
        <p:blipFill>
          <a:blip r:embed="rId17"/>
          <a:stretch>
            <a:fillRect/>
          </a:stretch>
        </p:blipFill>
        <p:spPr>
          <a:xfrm>
            <a:off x="7955280" y="2926080"/>
            <a:ext cx="402336" cy="402336"/>
          </a:xfrm>
          <a:prstGeom prst="rect">
            <a:avLst/>
          </a:prstGeom>
        </p:spPr>
      </p:pic>
      <p:sp>
        <p:nvSpPr>
          <p:cNvPr id="31" name="s22_3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2" name="s22_3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0" presetClass="path" presetSubtype="0" fill="hold" grpId="0" nodeType="afterEffect" repeatCount="indefinite">
                                  <p:stCondLst>
                                    <p:cond delay="0"/>
                                  </p:stCondLst>
                                  <p:childTnLst>
                                    <p:animMotion origin="layout" path="M 0 0 L 0.01 -0.45 E" pathEditMode="relative" ptsTypes="">
                                      <p:cBhvr>
                                        <p:cTn id="6" dur="3600" fill="hold"/>
                                        <p:tgtEl>
                                          <p:spTgt spid="25"/>
                                        </p:tgtEl>
                                        <p:attrNameLst>
                                          <p:attrName>ppt_x</p:attrName>
                                          <p:attrName>ppt_y</p:attrName>
                                        </p:attrNameLst>
                                      </p:cBhvr>
                                      <p:rCtr x="0" y="0"/>
                                    </p:animMotion>
                                  </p:childTnLst>
                                </p:cTn>
                              </p:par>
                              <p:par>
                                <p:cTn id="7" presetID="0" presetClass="path" presetSubtype="0" fill="hold" grpId="0" nodeType="withEffect" repeatCount="indefinite">
                                  <p:stCondLst>
                                    <p:cond delay="350"/>
                                  </p:stCondLst>
                                  <p:childTnLst>
                                    <p:animMotion origin="layout" path="M 0 0 L 0.01 -0.45 E" pathEditMode="relative" ptsTypes="">
                                      <p:cBhvr>
                                        <p:cTn id="8" dur="4100" fill="hold"/>
                                        <p:tgtEl>
                                          <p:spTgt spid="26"/>
                                        </p:tgtEl>
                                        <p:attrNameLst>
                                          <p:attrName>ppt_x</p:attrName>
                                          <p:attrName>ppt_y</p:attrName>
                                        </p:attrNameLst>
                                      </p:cBhvr>
                                      <p:rCtr x="0" y="0"/>
                                    </p:animMotion>
                                  </p:childTnLst>
                                </p:cTn>
                              </p:par>
                              <p:par>
                                <p:cTn id="9" presetID="0" presetClass="path" presetSubtype="0" fill="hold" grpId="0" nodeType="withEffect" repeatCount="indefinite">
                                  <p:stCondLst>
                                    <p:cond delay="700"/>
                                  </p:stCondLst>
                                  <p:childTnLst>
                                    <p:animMotion origin="layout" path="M 0 0 L 0.01 -0.45 E" pathEditMode="relative" ptsTypes="">
                                      <p:cBhvr>
                                        <p:cTn id="10" dur="4600" fill="hold"/>
                                        <p:tgtEl>
                                          <p:spTgt spid="27"/>
                                        </p:tgtEl>
                                        <p:attrNameLst>
                                          <p:attrName>ppt_x</p:attrName>
                                          <p:attrName>ppt_y</p:attrName>
                                        </p:attrNameLst>
                                      </p:cBhvr>
                                      <p:rCtr x="0" y="0"/>
                                    </p:animMotion>
                                  </p:childTnLst>
                                </p:cTn>
                              </p:par>
                              <p:par>
                                <p:cTn id="11" presetID="0" presetClass="path" presetSubtype="0" fill="hold" grpId="0" nodeType="withEffect" repeatCount="indefinite">
                                  <p:stCondLst>
                                    <p:cond delay="1050"/>
                                  </p:stCondLst>
                                  <p:childTnLst>
                                    <p:animMotion origin="layout" path="M 0 0 L 0.01 -0.45 E" pathEditMode="relative" ptsTypes="">
                                      <p:cBhvr>
                                        <p:cTn id="12" dur="5100" fill="hold"/>
                                        <p:tgtEl>
                                          <p:spTgt spid="28"/>
                                        </p:tgtEl>
                                        <p:attrNameLst>
                                          <p:attrName>ppt_x</p:attrName>
                                          <p:attrName>ppt_y</p:attrName>
                                        </p:attrNameLst>
                                      </p:cBhvr>
                                      <p:rCtr x="0" y="0"/>
                                    </p:animMotion>
                                  </p:childTnLst>
                                </p:cTn>
                              </p:par>
                              <p:par>
                                <p:cTn id="13" presetID="0" presetClass="path" presetSubtype="0" fill="hold" grpId="0" nodeType="withEffect" repeatCount="indefinite">
                                  <p:stCondLst>
                                    <p:cond delay="1400"/>
                                  </p:stCondLst>
                                  <p:childTnLst>
                                    <p:animMotion origin="layout" path="M 0 0 L 0.01 -0.45 E" pathEditMode="relative" ptsTypes="">
                                      <p:cBhvr>
                                        <p:cTn id="14" dur="5600" fill="hold"/>
                                        <p:tgtEl>
                                          <p:spTgt spid="29"/>
                                        </p:tgtEl>
                                        <p:attrNameLst>
                                          <p:attrName>ppt_x</p:attrName>
                                          <p:attrName>ppt_y</p:attrName>
                                        </p:attrNameLst>
                                      </p:cBhvr>
                                      <p:rCtr x="0" y="0"/>
                                    </p:animMotion>
                                  </p:childTnLst>
                                </p:cTn>
                              </p:par>
                              <p:par>
                                <p:cTn id="15" presetID="0" presetClass="path" presetSubtype="0" fill="hold" grpId="0" nodeType="withEffect" repeatCount="indefinite">
                                  <p:stCondLst>
                                    <p:cond delay="1750"/>
                                  </p:stCondLst>
                                  <p:childTnLst>
                                    <p:animMotion origin="layout" path="M 0 0 L 0.01 -0.45 E" pathEditMode="relative" ptsTypes="">
                                      <p:cBhvr>
                                        <p:cTn id="16" dur="6100" fill="hold"/>
                                        <p:tgtEl>
                                          <p:spTgt spid="30"/>
                                        </p:tgtEl>
                                        <p:attrNameLst>
                                          <p:attrName>ppt_x</p:attrName>
                                          <p:attrName>ppt_y</p:attrName>
                                        </p:attrNameLst>
                                      </p:cBhvr>
                                      <p:rCtr x="0" y="0"/>
                                    </p:animMotion>
                                  </p:childTnLst>
                                </p:cTn>
                              </p:par>
                              <p:par>
                                <p:cTn id="17" presetID="6" presetClass="emph" presetSubtype="0" fill="hold" grpId="0" nodeType="withEffect">
                                  <p:stCondLst>
                                    <p:cond delay="0"/>
                                  </p:stCondLst>
                                  <p:childTnLst>
                                    <p:animScale>
                                      <p:cBhvr>
                                        <p:cTn id="18" dur="700" autoRev="1" fill="hold"/>
                                        <p:tgtEl>
                                          <p:spTgt spid="4"/>
                                        </p:tgtEl>
                                      </p:cBhvr>
                                      <p:by x="118000" y="118000"/>
                                    </p:animScale>
                                  </p:childTnLst>
                                  <p:subTnLst>
                                    <p:audio>
                                      <p:cMediaNode vol="50000" showWhenStopped="0">
                                        <p:cTn id="19" display="0" masterRel="sameClick">
                                          <p:stCondLst>
                                            <p:cond evt="onBegin" delay="0">
                                              <p:tn val="17"/>
                                            </p:cond>
                                          </p:stCondLst>
                                        </p:cTn>
                                        <p:tgtEl>
                                          <p:sndTgt r:embed="rId20" name="bubbles.wav"/>
                                        </p:tgtEl>
                                      </p:cMediaNode>
                                    </p:audio>
                                  </p:sub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additive="base">
                                        <p:cTn id="24" dur="350" fill="hold"/>
                                        <p:tgtEl>
                                          <p:spTgt spid="16"/>
                                        </p:tgtEl>
                                        <p:attrNameLst>
                                          <p:attrName>ppt_w</p:attrName>
                                        </p:attrNameLst>
                                      </p:cBhvr>
                                      <p:tavLst>
                                        <p:tav tm="0">
                                          <p:val>
                                            <p:strVal val="0"/>
                                          </p:val>
                                        </p:tav>
                                        <p:tav tm="100000">
                                          <p:val>
                                            <p:strVal val="#ppt_w"/>
                                          </p:val>
                                        </p:tav>
                                      </p:tavLst>
                                    </p:anim>
                                    <p:anim calcmode="lin" valueType="num">
                                      <p:cBhvr additive="base">
                                        <p:cTn id="25" dur="350" fill="hold"/>
                                        <p:tgtEl>
                                          <p:spTgt spid="16"/>
                                        </p:tgtEl>
                                        <p:attrNameLst>
                                          <p:attrName>ppt_h</p:attrName>
                                        </p:attrNameLst>
                                      </p:cBhvr>
                                      <p:tavLst>
                                        <p:tav tm="0">
                                          <p:val>
                                            <p:strVal val="0"/>
                                          </p:val>
                                        </p:tav>
                                        <p:tav tm="100000">
                                          <p:val>
                                            <p:strVal val="#ppt_h"/>
                                          </p:val>
                                        </p:tav>
                                      </p:tavLst>
                                    </p:anim>
                                    <p:animEffect transition="in" filter="fade">
                                      <p:cBhvr>
                                        <p:cTn id="26" dur="350"/>
                                        <p:tgtEl>
                                          <p:spTgt spid="16"/>
                                        </p:tgtEl>
                                      </p:cBhvr>
                                    </p:animEffect>
                                  </p:childTnLst>
                                </p:cTn>
                              </p:par>
                              <p:par>
                                <p:cTn id="27" presetID="0" presetClass="path" presetSubtype="0" fill="hold" grpId="1" nodeType="withEffect">
                                  <p:stCondLst>
                                    <p:cond delay="350"/>
                                  </p:stCondLst>
                                  <p:childTnLst>
                                    <p:animMotion origin="layout" path="M 0 0 L -0.0578 0.3760 E" pathEditMode="relative" ptsTypes="">
                                      <p:cBhvr>
                                        <p:cTn id="28" dur="1500" fill="hold" accel="40000" decel="40000"/>
                                        <p:tgtEl>
                                          <p:spTgt spid="16"/>
                                        </p:tgtEl>
                                        <p:attrNameLst>
                                          <p:attrName>ppt_x</p:attrName>
                                          <p:attrName>ppt_y</p:attrName>
                                        </p:attrNameLst>
                                      </p:cBhvr>
                                      <p:rCtr x="0" y="0"/>
                                    </p:animMotion>
                                  </p:childTnLst>
                                </p:cTn>
                              </p:par>
                              <p:par>
                                <p:cTn id="29" presetID="6" presetClass="emph" presetSubtype="0" fill="hold" grpId="0" nodeType="withEffect">
                                  <p:stCondLst>
                                    <p:cond delay="1850"/>
                                  </p:stCondLst>
                                  <p:childTnLst>
                                    <p:animScale>
                                      <p:cBhvr>
                                        <p:cTn id="30" dur="400" autoRev="1" fill="hold"/>
                                        <p:tgtEl>
                                          <p:spTgt spid="5"/>
                                        </p:tgtEl>
                                      </p:cBhvr>
                                      <p:by x="118000" y="118000"/>
                                    </p:animScale>
                                  </p:childTnLst>
                                </p:cTn>
                              </p:par>
                              <p:par>
                                <p:cTn id="31" presetID="10" presetClass="exit" presetSubtype="0" fill="hold" grpId="2" nodeType="withEffect">
                                  <p:stCondLst>
                                    <p:cond delay="2350"/>
                                  </p:stCondLst>
                                  <p:childTnLst>
                                    <p:animEffect transition="out" filter="fade">
                                      <p:cBhvr>
                                        <p:cTn id="32" dur="400"/>
                                        <p:tgtEl>
                                          <p:spTgt spid="16"/>
                                        </p:tgtEl>
                                      </p:cBhvr>
                                    </p:animEffect>
                                    <p:set>
                                      <p:cBhvr>
                                        <p:cTn id="33" dur="1" fill="hold">
                                          <p:stCondLst>
                                            <p:cond delay="399"/>
                                          </p:stCondLst>
                                        </p:cTn>
                                        <p:tgtEl>
                                          <p:spTgt spid="16"/>
                                        </p:tgtEl>
                                        <p:attrNameLst>
                                          <p:attrName>style.visibility</p:attrName>
                                        </p:attrNameLst>
                                      </p:cBhvr>
                                      <p:to>
                                        <p:strVal val="hidden"/>
                                      </p:to>
                                    </p:set>
                                  </p:childTnLst>
                                </p:cTn>
                              </p:par>
                              <p:par>
                                <p:cTn id="34" presetID="10" presetClass="entr" presetSubtype="0" fill="hold" grpId="0" nodeType="withEffect">
                                  <p:stCondLst>
                                    <p:cond delay="18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4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 calcmode="lin" valueType="num">
                                      <p:cBhvr additive="base">
                                        <p:cTn id="41" dur="350" fill="hold"/>
                                        <p:tgtEl>
                                          <p:spTgt spid="18"/>
                                        </p:tgtEl>
                                        <p:attrNameLst>
                                          <p:attrName>ppt_w</p:attrName>
                                        </p:attrNameLst>
                                      </p:cBhvr>
                                      <p:tavLst>
                                        <p:tav tm="0">
                                          <p:val>
                                            <p:strVal val="0"/>
                                          </p:val>
                                        </p:tav>
                                        <p:tav tm="100000">
                                          <p:val>
                                            <p:strVal val="#ppt_w"/>
                                          </p:val>
                                        </p:tav>
                                      </p:tavLst>
                                    </p:anim>
                                    <p:anim calcmode="lin" valueType="num">
                                      <p:cBhvr additive="base">
                                        <p:cTn id="42" dur="350" fill="hold"/>
                                        <p:tgtEl>
                                          <p:spTgt spid="18"/>
                                        </p:tgtEl>
                                        <p:attrNameLst>
                                          <p:attrName>ppt_h</p:attrName>
                                        </p:attrNameLst>
                                      </p:cBhvr>
                                      <p:tavLst>
                                        <p:tav tm="0">
                                          <p:val>
                                            <p:strVal val="0"/>
                                          </p:val>
                                        </p:tav>
                                        <p:tav tm="100000">
                                          <p:val>
                                            <p:strVal val="#ppt_h"/>
                                          </p:val>
                                        </p:tav>
                                      </p:tavLst>
                                    </p:anim>
                                    <p:animEffect transition="in" filter="fade">
                                      <p:cBhvr>
                                        <p:cTn id="43" dur="350"/>
                                        <p:tgtEl>
                                          <p:spTgt spid="18"/>
                                        </p:tgtEl>
                                      </p:cBhvr>
                                    </p:animEffect>
                                  </p:childTnLst>
                                </p:cTn>
                              </p:par>
                              <p:par>
                                <p:cTn id="44" presetID="0" presetClass="path" presetSubtype="0" fill="hold" grpId="1" nodeType="withEffect">
                                  <p:stCondLst>
                                    <p:cond delay="350"/>
                                  </p:stCondLst>
                                  <p:childTnLst>
                                    <p:animMotion origin="layout" path="M 0 0 L -0.2138 -0.1533 E" pathEditMode="relative" ptsTypes="">
                                      <p:cBhvr>
                                        <p:cTn id="45" dur="1500" fill="hold" accel="40000" decel="40000"/>
                                        <p:tgtEl>
                                          <p:spTgt spid="18"/>
                                        </p:tgtEl>
                                        <p:attrNameLst>
                                          <p:attrName>ppt_x</p:attrName>
                                          <p:attrName>ppt_y</p:attrName>
                                        </p:attrNameLst>
                                      </p:cBhvr>
                                      <p:rCtr x="0" y="0"/>
                                    </p:animMotion>
                                  </p:childTnLst>
                                </p:cTn>
                              </p:par>
                              <p:par>
                                <p:cTn id="46" presetID="22" presetClass="entr" presetSubtype="2" fill="hold" grpId="0" nodeType="withEffect">
                                  <p:stCondLst>
                                    <p:cond delay="400"/>
                                  </p:stCondLst>
                                  <p:childTnLst>
                                    <p:set>
                                      <p:cBhvr>
                                        <p:cTn id="47" dur="1" fill="hold">
                                          <p:stCondLst>
                                            <p:cond delay="0"/>
                                          </p:stCondLst>
                                        </p:cTn>
                                        <p:tgtEl>
                                          <p:spTgt spid="13"/>
                                        </p:tgtEl>
                                        <p:attrNameLst>
                                          <p:attrName>style.visibility</p:attrName>
                                        </p:attrNameLst>
                                      </p:cBhvr>
                                      <p:to>
                                        <p:strVal val="visible"/>
                                      </p:to>
                                    </p:set>
                                    <p:animEffect transition="in" filter="wipe(right)">
                                      <p:cBhvr>
                                        <p:cTn id="48" dur="900"/>
                                        <p:tgtEl>
                                          <p:spTgt spid="13"/>
                                        </p:tgtEl>
                                      </p:cBhvr>
                                    </p:animEffect>
                                  </p:childTnLst>
                                </p:cTn>
                              </p:par>
                              <p:par>
                                <p:cTn id="49" presetID="6" presetClass="emph" presetSubtype="0" fill="hold" grpId="0" nodeType="withEffect">
                                  <p:stCondLst>
                                    <p:cond delay="1850"/>
                                  </p:stCondLst>
                                  <p:childTnLst>
                                    <p:animScale>
                                      <p:cBhvr>
                                        <p:cTn id="50" dur="400" autoRev="1" fill="hold"/>
                                        <p:tgtEl>
                                          <p:spTgt spid="7"/>
                                        </p:tgtEl>
                                      </p:cBhvr>
                                      <p:by x="118000" y="118000"/>
                                    </p:animScale>
                                  </p:childTnLst>
                                </p:cTn>
                              </p:par>
                              <p:par>
                                <p:cTn id="51" presetID="10" presetClass="exit" presetSubtype="0" fill="hold" grpId="2" nodeType="withEffect">
                                  <p:stCondLst>
                                    <p:cond delay="2350"/>
                                  </p:stCondLst>
                                  <p:childTnLst>
                                    <p:animEffect transition="out" filter="fade">
                                      <p:cBhvr>
                                        <p:cTn id="52" dur="400"/>
                                        <p:tgtEl>
                                          <p:spTgt spid="18"/>
                                        </p:tgtEl>
                                      </p:cBhvr>
                                    </p:animEffect>
                                    <p:set>
                                      <p:cBhvr>
                                        <p:cTn id="53" dur="1" fill="hold">
                                          <p:stCondLst>
                                            <p:cond delay="399"/>
                                          </p:stCondLst>
                                        </p:cTn>
                                        <p:tgtEl>
                                          <p:spTgt spid="18"/>
                                        </p:tgtEl>
                                        <p:attrNameLst>
                                          <p:attrName>style.visibility</p:attrName>
                                        </p:attrNameLst>
                                      </p:cBhvr>
                                      <p:to>
                                        <p:strVal val="hidden"/>
                                      </p:to>
                                    </p:set>
                                  </p:childTnLst>
                                </p:cTn>
                              </p:par>
                              <p:par>
                                <p:cTn id="54" presetID="10" presetClass="entr" presetSubtype="0" fill="hold" grpId="0" nodeType="withEffect">
                                  <p:stCondLst>
                                    <p:cond delay="185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00"/>
                                        <p:tgtEl>
                                          <p:spTgt spid="19"/>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20"/>
                                        </p:tgtEl>
                                        <p:attrNameLst>
                                          <p:attrName>style.visibility</p:attrName>
                                        </p:attrNameLst>
                                      </p:cBhvr>
                                      <p:to>
                                        <p:strVal val="visible"/>
                                      </p:to>
                                    </p:set>
                                    <p:anim calcmode="lin" valueType="num">
                                      <p:cBhvr additive="base">
                                        <p:cTn id="61" dur="350" fill="hold"/>
                                        <p:tgtEl>
                                          <p:spTgt spid="20"/>
                                        </p:tgtEl>
                                        <p:attrNameLst>
                                          <p:attrName>ppt_w</p:attrName>
                                        </p:attrNameLst>
                                      </p:cBhvr>
                                      <p:tavLst>
                                        <p:tav tm="0">
                                          <p:val>
                                            <p:strVal val="0"/>
                                          </p:val>
                                        </p:tav>
                                        <p:tav tm="100000">
                                          <p:val>
                                            <p:strVal val="#ppt_w"/>
                                          </p:val>
                                        </p:tav>
                                      </p:tavLst>
                                    </p:anim>
                                    <p:anim calcmode="lin" valueType="num">
                                      <p:cBhvr additive="base">
                                        <p:cTn id="62" dur="350" fill="hold"/>
                                        <p:tgtEl>
                                          <p:spTgt spid="20"/>
                                        </p:tgtEl>
                                        <p:attrNameLst>
                                          <p:attrName>ppt_h</p:attrName>
                                        </p:attrNameLst>
                                      </p:cBhvr>
                                      <p:tavLst>
                                        <p:tav tm="0">
                                          <p:val>
                                            <p:strVal val="0"/>
                                          </p:val>
                                        </p:tav>
                                        <p:tav tm="100000">
                                          <p:val>
                                            <p:strVal val="#ppt_h"/>
                                          </p:val>
                                        </p:tav>
                                      </p:tavLst>
                                    </p:anim>
                                    <p:animEffect transition="in" filter="fade">
                                      <p:cBhvr>
                                        <p:cTn id="63" dur="350"/>
                                        <p:tgtEl>
                                          <p:spTgt spid="20"/>
                                        </p:tgtEl>
                                      </p:cBhvr>
                                    </p:animEffect>
                                  </p:childTnLst>
                                </p:cTn>
                              </p:par>
                              <p:par>
                                <p:cTn id="64" presetID="0" presetClass="path" presetSubtype="0" fill="hold" grpId="1" nodeType="withEffect">
                                  <p:stCondLst>
                                    <p:cond delay="350"/>
                                  </p:stCondLst>
                                  <p:childTnLst>
                                    <p:animMotion origin="layout" path="M 0 0 L -0.2100 0.1333 E" pathEditMode="relative" ptsTypes="">
                                      <p:cBhvr>
                                        <p:cTn id="65" dur="1500" fill="hold" accel="40000" decel="40000"/>
                                        <p:tgtEl>
                                          <p:spTgt spid="20"/>
                                        </p:tgtEl>
                                        <p:attrNameLst>
                                          <p:attrName>ppt_x</p:attrName>
                                          <p:attrName>ppt_y</p:attrName>
                                        </p:attrNameLst>
                                      </p:cBhvr>
                                      <p:rCtr x="0" y="0"/>
                                    </p:animMotion>
                                  </p:childTnLst>
                                </p:cTn>
                              </p:par>
                              <p:par>
                                <p:cTn id="66" presetID="22" presetClass="entr" presetSubtype="2" fill="hold" grpId="0" nodeType="withEffect">
                                  <p:stCondLst>
                                    <p:cond delay="400"/>
                                  </p:stCondLst>
                                  <p:childTnLst>
                                    <p:set>
                                      <p:cBhvr>
                                        <p:cTn id="67" dur="1" fill="hold">
                                          <p:stCondLst>
                                            <p:cond delay="0"/>
                                          </p:stCondLst>
                                        </p:cTn>
                                        <p:tgtEl>
                                          <p:spTgt spid="14"/>
                                        </p:tgtEl>
                                        <p:attrNameLst>
                                          <p:attrName>style.visibility</p:attrName>
                                        </p:attrNameLst>
                                      </p:cBhvr>
                                      <p:to>
                                        <p:strVal val="visible"/>
                                      </p:to>
                                    </p:set>
                                    <p:animEffect transition="in" filter="wipe(right)">
                                      <p:cBhvr>
                                        <p:cTn id="68" dur="900"/>
                                        <p:tgtEl>
                                          <p:spTgt spid="14"/>
                                        </p:tgtEl>
                                      </p:cBhvr>
                                    </p:animEffect>
                                  </p:childTnLst>
                                </p:cTn>
                              </p:par>
                              <p:par>
                                <p:cTn id="69" presetID="6" presetClass="emph" presetSubtype="0" fill="hold" grpId="0" nodeType="withEffect">
                                  <p:stCondLst>
                                    <p:cond delay="1850"/>
                                  </p:stCondLst>
                                  <p:childTnLst>
                                    <p:animScale>
                                      <p:cBhvr>
                                        <p:cTn id="70" dur="400" autoRev="1" fill="hold"/>
                                        <p:tgtEl>
                                          <p:spTgt spid="9"/>
                                        </p:tgtEl>
                                      </p:cBhvr>
                                      <p:by x="118000" y="118000"/>
                                    </p:animScale>
                                  </p:childTnLst>
                                </p:cTn>
                              </p:par>
                              <p:par>
                                <p:cTn id="71" presetID="10" presetClass="exit" presetSubtype="0" fill="hold" grpId="2" nodeType="withEffect">
                                  <p:stCondLst>
                                    <p:cond delay="2350"/>
                                  </p:stCondLst>
                                  <p:childTnLst>
                                    <p:animEffect transition="out" filter="fade">
                                      <p:cBhvr>
                                        <p:cTn id="72" dur="400"/>
                                        <p:tgtEl>
                                          <p:spTgt spid="20"/>
                                        </p:tgtEl>
                                      </p:cBhvr>
                                    </p:animEffect>
                                    <p:set>
                                      <p:cBhvr>
                                        <p:cTn id="73" dur="1" fill="hold">
                                          <p:stCondLst>
                                            <p:cond delay="399"/>
                                          </p:stCondLst>
                                        </p:cTn>
                                        <p:tgtEl>
                                          <p:spTgt spid="20"/>
                                        </p:tgtEl>
                                        <p:attrNameLst>
                                          <p:attrName>style.visibility</p:attrName>
                                        </p:attrNameLst>
                                      </p:cBhvr>
                                      <p:to>
                                        <p:strVal val="hidden"/>
                                      </p:to>
                                    </p:set>
                                  </p:childTnLst>
                                </p:cTn>
                              </p:par>
                              <p:par>
                                <p:cTn id="74" presetID="10" presetClass="entr" presetSubtype="0" fill="hold" grpId="0"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400"/>
                                        <p:tgtEl>
                                          <p:spTgt spid="21"/>
                                        </p:tgtEl>
                                      </p:cBhvr>
                                    </p:animEffect>
                                  </p:childTnLst>
                                </p:cTn>
                              </p:par>
                            </p:childTnLst>
                          </p:cTn>
                        </p:par>
                      </p:childTnLst>
                    </p:cTn>
                  </p:par>
                  <p:par>
                    <p:cTn id="77" fill="hold">
                      <p:stCondLst>
                        <p:cond delay="indefinite"/>
                      </p:stCondLst>
                      <p:childTnLst>
                        <p:par>
                          <p:cTn id="78" fill="hold">
                            <p:stCondLst>
                              <p:cond delay="0"/>
                            </p:stCondLst>
                            <p:childTnLst>
                              <p:par>
                                <p:cTn id="79" presetID="53" presetClass="entr" presetSubtype="16"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 calcmode="lin" valueType="num">
                                      <p:cBhvr additive="base">
                                        <p:cTn id="81" dur="350" fill="hold"/>
                                        <p:tgtEl>
                                          <p:spTgt spid="22"/>
                                        </p:tgtEl>
                                        <p:attrNameLst>
                                          <p:attrName>ppt_w</p:attrName>
                                        </p:attrNameLst>
                                      </p:cBhvr>
                                      <p:tavLst>
                                        <p:tav tm="0">
                                          <p:val>
                                            <p:strVal val="0"/>
                                          </p:val>
                                        </p:tav>
                                        <p:tav tm="100000">
                                          <p:val>
                                            <p:strVal val="#ppt_w"/>
                                          </p:val>
                                        </p:tav>
                                      </p:tavLst>
                                    </p:anim>
                                    <p:anim calcmode="lin" valueType="num">
                                      <p:cBhvr additive="base">
                                        <p:cTn id="82" dur="350" fill="hold"/>
                                        <p:tgtEl>
                                          <p:spTgt spid="22"/>
                                        </p:tgtEl>
                                        <p:attrNameLst>
                                          <p:attrName>ppt_h</p:attrName>
                                        </p:attrNameLst>
                                      </p:cBhvr>
                                      <p:tavLst>
                                        <p:tav tm="0">
                                          <p:val>
                                            <p:strVal val="0"/>
                                          </p:val>
                                        </p:tav>
                                        <p:tav tm="100000">
                                          <p:val>
                                            <p:strVal val="#ppt_h"/>
                                          </p:val>
                                        </p:tav>
                                      </p:tavLst>
                                    </p:anim>
                                    <p:animEffect transition="in" filter="fade">
                                      <p:cBhvr>
                                        <p:cTn id="83" dur="350"/>
                                        <p:tgtEl>
                                          <p:spTgt spid="22"/>
                                        </p:tgtEl>
                                      </p:cBhvr>
                                    </p:animEffect>
                                  </p:childTnLst>
                                </p:cTn>
                              </p:par>
                              <p:par>
                                <p:cTn id="84" presetID="0" presetClass="path" presetSubtype="0" fill="hold" grpId="1" nodeType="withEffect">
                                  <p:stCondLst>
                                    <p:cond delay="350"/>
                                  </p:stCondLst>
                                  <p:childTnLst>
                                    <p:animMotion origin="layout" path="M 0 0 L -0.2063 -0.3733 E" pathEditMode="relative" ptsTypes="">
                                      <p:cBhvr>
                                        <p:cTn id="85" dur="1500" fill="hold" accel="40000" decel="40000"/>
                                        <p:tgtEl>
                                          <p:spTgt spid="22"/>
                                        </p:tgtEl>
                                        <p:attrNameLst>
                                          <p:attrName>ppt_x</p:attrName>
                                          <p:attrName>ppt_y</p:attrName>
                                        </p:attrNameLst>
                                      </p:cBhvr>
                                      <p:rCtr x="0" y="0"/>
                                    </p:animMotion>
                                  </p:childTnLst>
                                </p:cTn>
                              </p:par>
                              <p:par>
                                <p:cTn id="86" presetID="22" presetClass="entr" presetSubtype="2" fill="hold" grpId="0" nodeType="withEffect">
                                  <p:stCondLst>
                                    <p:cond delay="400"/>
                                  </p:stCondLst>
                                  <p:childTnLst>
                                    <p:set>
                                      <p:cBhvr>
                                        <p:cTn id="87" dur="1" fill="hold">
                                          <p:stCondLst>
                                            <p:cond delay="0"/>
                                          </p:stCondLst>
                                        </p:cTn>
                                        <p:tgtEl>
                                          <p:spTgt spid="15"/>
                                        </p:tgtEl>
                                        <p:attrNameLst>
                                          <p:attrName>style.visibility</p:attrName>
                                        </p:attrNameLst>
                                      </p:cBhvr>
                                      <p:to>
                                        <p:strVal val="visible"/>
                                      </p:to>
                                    </p:set>
                                    <p:animEffect transition="in" filter="wipe(right)">
                                      <p:cBhvr>
                                        <p:cTn id="88" dur="900"/>
                                        <p:tgtEl>
                                          <p:spTgt spid="15"/>
                                        </p:tgtEl>
                                      </p:cBhvr>
                                    </p:animEffect>
                                  </p:childTnLst>
                                </p:cTn>
                              </p:par>
                              <p:par>
                                <p:cTn id="89" presetID="6" presetClass="emph" presetSubtype="0" fill="hold" grpId="0" nodeType="withEffect">
                                  <p:stCondLst>
                                    <p:cond delay="1850"/>
                                  </p:stCondLst>
                                  <p:childTnLst>
                                    <p:animScale>
                                      <p:cBhvr>
                                        <p:cTn id="90" dur="400" autoRev="1" fill="hold"/>
                                        <p:tgtEl>
                                          <p:spTgt spid="11"/>
                                        </p:tgtEl>
                                      </p:cBhvr>
                                      <p:by x="118000" y="118000"/>
                                    </p:animScale>
                                  </p:childTnLst>
                                </p:cTn>
                              </p:par>
                              <p:par>
                                <p:cTn id="91" presetID="10" presetClass="exit" presetSubtype="0" fill="hold" grpId="2" nodeType="withEffect">
                                  <p:stCondLst>
                                    <p:cond delay="2350"/>
                                  </p:stCondLst>
                                  <p:childTnLst>
                                    <p:animEffect transition="out" filter="fade">
                                      <p:cBhvr>
                                        <p:cTn id="92" dur="400"/>
                                        <p:tgtEl>
                                          <p:spTgt spid="22"/>
                                        </p:tgtEl>
                                      </p:cBhvr>
                                    </p:animEffect>
                                    <p:set>
                                      <p:cBhvr>
                                        <p:cTn id="93" dur="1" fill="hold">
                                          <p:stCondLst>
                                            <p:cond delay="399"/>
                                          </p:stCondLst>
                                        </p:cTn>
                                        <p:tgtEl>
                                          <p:spTgt spid="22"/>
                                        </p:tgtEl>
                                        <p:attrNameLst>
                                          <p:attrName>style.visibility</p:attrName>
                                        </p:attrNameLst>
                                      </p:cBhvr>
                                      <p:to>
                                        <p:strVal val="hidden"/>
                                      </p:to>
                                    </p:set>
                                  </p:childTnLst>
                                </p:cTn>
                              </p:par>
                              <p:par>
                                <p:cTn id="94" presetID="10" presetClass="entr" presetSubtype="0" fill="hold" grpId="0" nodeType="withEffect">
                                  <p:stCondLst>
                                    <p:cond delay="185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400"/>
                                        <p:tgtEl>
                                          <p:spTgt spid="23"/>
                                        </p:tgtEl>
                                      </p:cBhvr>
                                    </p:animEffect>
                                  </p:childTnLst>
                                </p:cTn>
                              </p:par>
                            </p:childTnLst>
                          </p:cTn>
                        </p:par>
                      </p:childTnLst>
                    </p:cTn>
                  </p:par>
                  <p:par>
                    <p:cTn id="97" fill="hold">
                      <p:stCondLst>
                        <p:cond delay="indefinite"/>
                      </p:stCondLst>
                      <p:childTnLst>
                        <p:par>
                          <p:cTn id="98" fill="hold">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24"/>
                                        </p:tgtEl>
                                        <p:attrNameLst>
                                          <p:attrName>style.visibility</p:attrName>
                                        </p:attrNameLst>
                                      </p:cBhvr>
                                      <p:to>
                                        <p:strVal val="visible"/>
                                      </p:to>
                                    </p:set>
                                    <p:anim calcmode="lin" valueType="num">
                                      <p:cBhvr additive="base">
                                        <p:cTn id="101" dur="500" fill="hold"/>
                                        <p:tgtEl>
                                          <p:spTgt spid="24"/>
                                        </p:tgtEl>
                                        <p:attrNameLst>
                                          <p:attrName>ppt_w</p:attrName>
                                        </p:attrNameLst>
                                      </p:cBhvr>
                                      <p:tavLst>
                                        <p:tav tm="0">
                                          <p:val>
                                            <p:strVal val="0"/>
                                          </p:val>
                                        </p:tav>
                                        <p:tav tm="100000">
                                          <p:val>
                                            <p:strVal val="#ppt_w"/>
                                          </p:val>
                                        </p:tav>
                                      </p:tavLst>
                                    </p:anim>
                                    <p:anim calcmode="lin" valueType="num">
                                      <p:cBhvr additive="base">
                                        <p:cTn id="102" dur="500" fill="hold"/>
                                        <p:tgtEl>
                                          <p:spTgt spid="24"/>
                                        </p:tgtEl>
                                        <p:attrNameLst>
                                          <p:attrName>ppt_h</p:attrName>
                                        </p:attrNameLst>
                                      </p:cBhvr>
                                      <p:tavLst>
                                        <p:tav tm="0">
                                          <p:val>
                                            <p:strVal val="0"/>
                                          </p:val>
                                        </p:tav>
                                        <p:tav tm="100000">
                                          <p:val>
                                            <p:strVal val="#ppt_h"/>
                                          </p:val>
                                        </p:tav>
                                      </p:tavLst>
                                    </p:anim>
                                    <p:animEffect transition="in" filter="fade">
                                      <p:cBhvr>
                                        <p:cTn id="103" dur="500"/>
                                        <p:tgtEl>
                                          <p:spTgt spid="24"/>
                                        </p:tgtEl>
                                      </p:cBhvr>
                                    </p:animEffect>
                                  </p:childTnLst>
                                  <p:subTnLst>
                                    <p:audio>
                                      <p:cMediaNode vol="50000" showWhenStopped="0">
                                        <p:cTn id="104" display="0" masterRel="sameClick">
                                          <p:stCondLst>
                                            <p:cond evt="onBegin" delay="0">
                                              <p:tn val="99"/>
                                            </p:cond>
                                          </p:stCondLst>
                                        </p:cTn>
                                        <p:tgtEl>
                                          <p:sndTgt r:embed="rId21"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7" grpId="0" animBg="1"/>
      <p:bldP spid="19" grpId="0" animBg="1"/>
      <p:bldP spid="21" grpId="0" animBg="1"/>
      <p:bldP spid="23"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1" descr="عنوان الشريحة">    </p:cNvPr>
          <p:cNvPicPr>
            <a:picLocks noChangeAspect="1"/>
          </p:cNvPicPr>
          <p:nvPr/>
        </p:nvPicPr>
        <p:blipFill>
          <a:blip r:embed="rId2"/>
          <a:stretch>
            <a:fillRect/>
          </a:stretch>
        </p:blipFill>
        <p:spPr>
          <a:xfrm>
            <a:off x="6987110" y="182880"/>
            <a:ext cx="4838825" cy="731520"/>
          </a:xfrm>
          <a:prstGeom prst="rect">
            <a:avLst/>
          </a:prstGeom>
        </p:spPr>
      </p:pic>
      <p:sp>
        <p:nvSpPr>
          <p:cNvPr id="3" name="s23_2"/>
          <p:cNvSpPr txBox="1"/>
          <p:nvPr/>
        </p:nvSpPr>
        <p:spPr>
          <a:xfrm>
            <a:off x="365760" y="292608"/>
            <a:ext cx="3680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المقارنة والتصنيف</a:t>
            </a:r>
            <a:endParaRPr lang="en-US" sz="1600" dirty="0"/>
          </a:p>
        </p:txBody>
      </p:sp>
      <p:sp>
        <p:nvSpPr>
          <p:cNvPr id="4" name="s23_3"/>
          <p:cNvSpPr txBox="1"/>
          <p:nvPr/>
        </p:nvSpPr>
        <p:spPr>
          <a:xfrm>
            <a:off x="7863840" y="1143000"/>
            <a:ext cx="3886200" cy="548640"/>
          </a:xfrm>
          <a:prstGeom prst="roundRect">
            <a:avLst>
              <a:gd name="adj" fmla="val 23333"/>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وجه المقارنة</a:t>
            </a:r>
            <a:endParaRPr lang="ar-SA" sz="1700" dirty="0"/>
          </a:p>
        </p:txBody>
      </p:sp>
      <p:sp>
        <p:nvSpPr>
          <p:cNvPr id="5" name="s23_4"/>
          <p:cNvSpPr txBox="1"/>
          <p:nvPr/>
        </p:nvSpPr>
        <p:spPr>
          <a:xfrm>
            <a:off x="4251960" y="1143000"/>
            <a:ext cx="3474720" cy="548640"/>
          </a:xfrm>
          <a:prstGeom prst="roundRect">
            <a:avLst>
              <a:gd name="adj" fmla="val 23333"/>
            </a:avLst>
          </a:prstGeom>
          <a:solidFill>
            <a:srgbClr val="A87400"/>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اليابسة 🌵</a:t>
            </a:r>
            <a:endParaRPr lang="ar-SA" sz="1700" dirty="0"/>
          </a:p>
        </p:txBody>
      </p:sp>
      <p:sp>
        <p:nvSpPr>
          <p:cNvPr id="6" name="s23_5"/>
          <p:cNvSpPr txBox="1"/>
          <p:nvPr/>
        </p:nvSpPr>
        <p:spPr>
          <a:xfrm>
            <a:off x="640080" y="1143000"/>
            <a:ext cx="3474720" cy="548640"/>
          </a:xfrm>
          <a:prstGeom prst="roundRect">
            <a:avLst>
              <a:gd name="adj" fmla="val 23333"/>
            </a:avLst>
          </a:prstGeom>
          <a:solidFill>
            <a:srgbClr val="0E6F86"/>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البركة 🪷</a:t>
            </a:r>
            <a:endParaRPr lang="ar-SA" sz="1700" dirty="0"/>
          </a:p>
        </p:txBody>
      </p:sp>
      <p:sp>
        <p:nvSpPr>
          <p:cNvPr id="7" name="s23_6"/>
          <p:cNvSpPr txBox="1"/>
          <p:nvPr/>
        </p:nvSpPr>
        <p:spPr>
          <a:xfrm>
            <a:off x="7863840" y="1810512"/>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مصدر الطاقة</a:t>
            </a:r>
            <a:endParaRPr lang="ar-SA" sz="1600" dirty="0"/>
          </a:p>
        </p:txBody>
      </p:sp>
      <p:sp>
        <p:nvSpPr>
          <p:cNvPr id="8" name="s23_7@c1%pop"/>
          <p:cNvSpPr txBox="1"/>
          <p:nvPr/>
        </p:nvSpPr>
        <p:spPr>
          <a:xfrm>
            <a:off x="4251960" y="1810512"/>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9" name="s23_8@c1"/>
          <p:cNvSpPr txBox="1"/>
          <p:nvPr/>
        </p:nvSpPr>
        <p:spPr>
          <a:xfrm>
            <a:off x="640080" y="1810512"/>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10" name="s23_9"/>
          <p:cNvSpPr txBox="1"/>
          <p:nvPr/>
        </p:nvSpPr>
        <p:spPr>
          <a:xfrm>
            <a:off x="7863840" y="2596896"/>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المنتِج (أول حلقة)</a:t>
            </a:r>
            <a:endParaRPr lang="ar-SA" sz="1600" dirty="0"/>
          </a:p>
        </p:txBody>
      </p:sp>
      <p:sp>
        <p:nvSpPr>
          <p:cNvPr id="11" name="s23_10@c2%pop"/>
          <p:cNvSpPr txBox="1"/>
          <p:nvPr/>
        </p:nvSpPr>
        <p:spPr>
          <a:xfrm>
            <a:off x="4251960" y="2596896"/>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نبات الشوك</a:t>
            </a:r>
            <a:endParaRPr lang="ar-SA" sz="1600" dirty="0"/>
          </a:p>
        </p:txBody>
      </p:sp>
      <p:sp>
        <p:nvSpPr>
          <p:cNvPr id="12" name="s23_11@c2"/>
          <p:cNvSpPr txBox="1"/>
          <p:nvPr/>
        </p:nvSpPr>
        <p:spPr>
          <a:xfrm>
            <a:off x="640080" y="2596896"/>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الطحالب</a:t>
            </a:r>
            <a:endParaRPr lang="ar-SA" sz="1600" dirty="0"/>
          </a:p>
        </p:txBody>
      </p:sp>
      <p:sp>
        <p:nvSpPr>
          <p:cNvPr id="13" name="s23_12"/>
          <p:cNvSpPr txBox="1"/>
          <p:nvPr/>
        </p:nvSpPr>
        <p:spPr>
          <a:xfrm>
            <a:off x="7863840" y="3383280"/>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الأعشاب</a:t>
            </a:r>
            <a:endParaRPr lang="ar-SA" sz="1600" dirty="0"/>
          </a:p>
        </p:txBody>
      </p:sp>
      <p:sp>
        <p:nvSpPr>
          <p:cNvPr id="14" name="s23_13@c3%pop"/>
          <p:cNvSpPr txBox="1"/>
          <p:nvPr/>
        </p:nvSpPr>
        <p:spPr>
          <a:xfrm>
            <a:off x="4251960" y="3383280"/>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اليرقة</a:t>
            </a:r>
            <a:endParaRPr lang="ar-SA" sz="1600" dirty="0"/>
          </a:p>
        </p:txBody>
      </p:sp>
      <p:sp>
        <p:nvSpPr>
          <p:cNvPr id="15" name="s23_14@c3"/>
          <p:cNvSpPr txBox="1"/>
          <p:nvPr/>
        </p:nvSpPr>
        <p:spPr>
          <a:xfrm>
            <a:off x="640080" y="3383280"/>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الذبابة المائية</a:t>
            </a:r>
            <a:endParaRPr lang="ar-SA" sz="1600" dirty="0"/>
          </a:p>
        </p:txBody>
      </p:sp>
      <p:sp>
        <p:nvSpPr>
          <p:cNvPr id="16" name="s23_15"/>
          <p:cNvSpPr txBox="1"/>
          <p:nvPr/>
        </p:nvSpPr>
        <p:spPr>
          <a:xfrm>
            <a:off x="7863840" y="4169664"/>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7" name="s23_16@c4%pop"/>
          <p:cNvSpPr txBox="1"/>
          <p:nvPr/>
        </p:nvSpPr>
        <p:spPr>
          <a:xfrm>
            <a:off x="4251960" y="4169664"/>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السرعوف، السحلية</a:t>
            </a:r>
            <a:endParaRPr lang="ar-SA" sz="1600" dirty="0"/>
          </a:p>
        </p:txBody>
      </p:sp>
      <p:sp>
        <p:nvSpPr>
          <p:cNvPr id="18" name="s23_17@c4"/>
          <p:cNvSpPr txBox="1"/>
          <p:nvPr/>
        </p:nvSpPr>
        <p:spPr>
          <a:xfrm>
            <a:off x="640080" y="4169664"/>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سمكة الشمس</a:t>
            </a:r>
            <a:endParaRPr lang="ar-SA" sz="1600" dirty="0"/>
          </a:p>
        </p:txBody>
      </p:sp>
      <p:sp>
        <p:nvSpPr>
          <p:cNvPr id="19" name="s23_18"/>
          <p:cNvSpPr txBox="1"/>
          <p:nvPr/>
        </p:nvSpPr>
        <p:spPr>
          <a:xfrm>
            <a:off x="7863840" y="4956048"/>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آخر حلقة</a:t>
            </a:r>
            <a:endParaRPr lang="ar-SA" sz="1600" dirty="0"/>
          </a:p>
        </p:txBody>
      </p:sp>
      <p:sp>
        <p:nvSpPr>
          <p:cNvPr id="20" name="s23_19@c5%pop"/>
          <p:cNvSpPr txBox="1"/>
          <p:nvPr/>
        </p:nvSpPr>
        <p:spPr>
          <a:xfrm>
            <a:off x="4251960" y="4956048"/>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البومة</a:t>
            </a:r>
            <a:endParaRPr lang="ar-SA" sz="1600" dirty="0"/>
          </a:p>
        </p:txBody>
      </p:sp>
      <p:sp>
        <p:nvSpPr>
          <p:cNvPr id="21" name="s23_20@c5"/>
          <p:cNvSpPr txBox="1"/>
          <p:nvPr/>
        </p:nvSpPr>
        <p:spPr>
          <a:xfrm>
            <a:off x="640080" y="4956048"/>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مالك الحزين</a:t>
            </a:r>
            <a:endParaRPr lang="ar-SA" sz="1600" dirty="0"/>
          </a:p>
        </p:txBody>
      </p:sp>
      <p:sp>
        <p:nvSpPr>
          <p:cNvPr id="22" name="s23_21@c6%chime"/>
          <p:cNvSpPr txBox="1"/>
          <p:nvPr/>
        </p:nvSpPr>
        <p:spPr>
          <a:xfrm>
            <a:off x="640080" y="5779008"/>
            <a:ext cx="11109960" cy="548640"/>
          </a:xfrm>
          <a:prstGeom prst="roundRect">
            <a:avLst>
              <a:gd name="adj" fmla="val 23333"/>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b="1" dirty="0">
                <a:solidFill>
                  <a:srgbClr val="34405E"/>
                </a:solidFill>
                <a:latin typeface="Tahoma" pitchFamily="34" charset="0"/>
                <a:ea typeface="Tahoma" pitchFamily="34" charset="-122"/>
                <a:cs typeface="Tahoma" pitchFamily="34" charset="-120"/>
              </a:rPr>
              <a:t>تبدأ كلتا السلسلتين بمنتِج يلتقط طاقة الشمس، ثم تنتقل الطاقة إلى المستهلكات حلقةً بعد حلقة.</a:t>
            </a:r>
            <a:endParaRPr lang="ar-SA" sz="1550" dirty="0"/>
          </a:p>
        </p:txBody>
      </p:sp>
      <p:sp>
        <p:nvSpPr>
          <p:cNvPr id="23" name="s23_2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23_2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subTnLst>
                                    <p:audio>
                                      <p:cMediaNode vol="50000" showWhenStopped="0">
                                        <p:cTn id="48" display="0" masterRel="sameClick">
                                          <p:stCondLst>
                                            <p:cond evt="onBegin" delay="0">
                                              <p:tn val="45"/>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1" descr="عنوان الشريحة">    </p:cNvPr>
          <p:cNvPicPr>
            <a:picLocks noChangeAspect="1"/>
          </p:cNvPicPr>
          <p:nvPr/>
        </p:nvPicPr>
        <p:blipFill>
          <a:blip r:embed="rId2"/>
          <a:stretch>
            <a:fillRect/>
          </a:stretch>
        </p:blipFill>
        <p:spPr>
          <a:xfrm>
            <a:off x="7946481" y="182880"/>
            <a:ext cx="3879454" cy="731520"/>
          </a:xfrm>
          <a:prstGeom prst="rect">
            <a:avLst/>
          </a:prstGeom>
        </p:spPr>
      </p:pic>
      <p:sp>
        <p:nvSpPr>
          <p:cNvPr id="3" name="s24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مستويات التفكير الثلاثة</a:t>
            </a:r>
            <a:endParaRPr lang="en-US" sz="1600" dirty="0"/>
          </a:p>
        </p:txBody>
      </p:sp>
      <p:sp>
        <p:nvSpPr>
          <p:cNvPr id="4" name="s24_3"/>
          <p:cNvSpPr txBox="1"/>
          <p:nvPr/>
        </p:nvSpPr>
        <p:spPr>
          <a:xfrm>
            <a:off x="502920" y="1097280"/>
            <a:ext cx="11201400" cy="1554480"/>
          </a:xfrm>
          <a:prstGeom prst="roundRect">
            <a:avLst>
              <a:gd name="adj" fmla="val 8235"/>
            </a:avLst>
          </a:prstGeom>
          <a:solidFill>
            <a:srgbClr val="EAF8DD"/>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5" name="s24_4"/>
          <p:cNvSpPr txBox="1"/>
          <p:nvPr/>
        </p:nvSpPr>
        <p:spPr>
          <a:xfrm>
            <a:off x="9784080" y="1207008"/>
            <a:ext cx="1828800" cy="457200"/>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أكتشف</a:t>
            </a:r>
            <a:endParaRPr lang="ar-SA" sz="1550" dirty="0"/>
          </a:p>
        </p:txBody>
      </p:sp>
      <p:sp>
        <p:nvSpPr>
          <p:cNvPr id="6" name="s24_5"/>
          <p:cNvSpPr txBox="1"/>
          <p:nvPr/>
        </p:nvSpPr>
        <p:spPr>
          <a:xfrm>
            <a:off x="4572000" y="120700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بماذا تبدأ السلسلة الغذائية في البركة؟</a:t>
            </a:r>
            <a:endParaRPr lang="ar-SA" sz="1700" dirty="0"/>
          </a:p>
        </p:txBody>
      </p:sp>
      <p:sp>
        <p:nvSpPr>
          <p:cNvPr id="7" name="s24_6@c1"/>
          <p:cNvSpPr txBox="1"/>
          <p:nvPr/>
        </p:nvSpPr>
        <p:spPr>
          <a:xfrm>
            <a:off x="5349240" y="2194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من يلتقط طاقة الشمس؟</a:t>
            </a:r>
            <a:endParaRPr lang="ar-SA" sz="1350" dirty="0"/>
          </a:p>
        </p:txBody>
      </p:sp>
      <p:sp>
        <p:nvSpPr>
          <p:cNvPr id="8" name="s24_7@c2%chime"/>
          <p:cNvSpPr txBox="1"/>
          <p:nvPr/>
        </p:nvSpPr>
        <p:spPr>
          <a:xfrm>
            <a:off x="640080" y="118872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بالطحالب والنباتات الخضراء.</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9" name="s24_8"/>
          <p:cNvSpPr txBox="1"/>
          <p:nvPr/>
        </p:nvSpPr>
        <p:spPr>
          <a:xfrm>
            <a:off x="502920" y="2743200"/>
            <a:ext cx="11201400" cy="1554480"/>
          </a:xfrm>
          <a:prstGeom prst="roundRect">
            <a:avLst>
              <a:gd name="adj" fmla="val 8235"/>
            </a:avLst>
          </a:prstGeom>
          <a:solidFill>
            <a:srgbClr val="FFF7D6"/>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0" name="s24_9"/>
          <p:cNvSpPr txBox="1"/>
          <p:nvPr/>
        </p:nvSpPr>
        <p:spPr>
          <a:xfrm>
            <a:off x="9784080" y="2852928"/>
            <a:ext cx="1828800" cy="457200"/>
          </a:xfrm>
          <a:prstGeom prst="roundRect">
            <a:avLst>
              <a:gd name="adj" fmla="val 50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أفكّر</a:t>
            </a:r>
            <a:endParaRPr lang="ar-SA" sz="1550" dirty="0"/>
          </a:p>
        </p:txBody>
      </p:sp>
      <p:sp>
        <p:nvSpPr>
          <p:cNvPr id="11" name="s24_10"/>
          <p:cNvSpPr txBox="1"/>
          <p:nvPr/>
        </p:nvSpPr>
        <p:spPr>
          <a:xfrm>
            <a:off x="4572000" y="285292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لماذا تحتاج الذبابة المائية إلى الأكسجين؟</a:t>
            </a:r>
            <a:endParaRPr lang="ar-SA" sz="1700" dirty="0"/>
          </a:p>
        </p:txBody>
      </p:sp>
      <p:sp>
        <p:nvSpPr>
          <p:cNvPr id="12" name="s24_11@c3"/>
          <p:cNvSpPr txBox="1"/>
          <p:nvPr/>
        </p:nvSpPr>
        <p:spPr>
          <a:xfrm>
            <a:off x="5349240" y="384048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ارجعي إلى الفقرة الثانية في كتابي ص١١٣.</a:t>
            </a:r>
            <a:endParaRPr lang="ar-SA" sz="1350" dirty="0"/>
          </a:p>
        </p:txBody>
      </p:sp>
      <p:sp>
        <p:nvSpPr>
          <p:cNvPr id="13" name="s24_12@c4%chime"/>
          <p:cNvSpPr txBox="1"/>
          <p:nvPr/>
        </p:nvSpPr>
        <p:spPr>
          <a:xfrm>
            <a:off x="640080" y="283464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لإطلاق الطاقة المخزونة في الطحالب التي أكلتها؛ لتقوم بوظائف الحياة كالحركة.</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4" name="s24_13"/>
          <p:cNvSpPr txBox="1"/>
          <p:nvPr/>
        </p:nvSpPr>
        <p:spPr>
          <a:xfrm>
            <a:off x="502920" y="4389120"/>
            <a:ext cx="11201400" cy="1691640"/>
          </a:xfrm>
          <a:prstGeom prst="roundRect">
            <a:avLst>
              <a:gd name="adj" fmla="val 7568"/>
            </a:avLst>
          </a:prstGeom>
          <a:solidFill>
            <a:srgbClr val="FDE8F0"/>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5" name="s24_14"/>
          <p:cNvSpPr txBox="1"/>
          <p:nvPr/>
        </p:nvSpPr>
        <p:spPr>
          <a:xfrm>
            <a:off x="9784080" y="4498848"/>
            <a:ext cx="1828800" cy="457200"/>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أتحدّى نفسي</a:t>
            </a:r>
            <a:endParaRPr lang="ar-SA" sz="1550" dirty="0"/>
          </a:p>
        </p:txBody>
      </p:sp>
      <p:sp>
        <p:nvSpPr>
          <p:cNvPr id="16" name="s24_15"/>
          <p:cNvSpPr txBox="1"/>
          <p:nvPr/>
        </p:nvSpPr>
        <p:spPr>
          <a:xfrm>
            <a:off x="4572000" y="4498848"/>
            <a:ext cx="5120640" cy="147218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تلوّثت البركة فماتت الطحالب؛ ماذا يحدث لمالك الحزين؟</a:t>
            </a:r>
            <a:endParaRPr lang="ar-SA" sz="1700" dirty="0"/>
          </a:p>
        </p:txBody>
      </p:sp>
      <p:sp>
        <p:nvSpPr>
          <p:cNvPr id="17" name="s24_16@c5"/>
          <p:cNvSpPr txBox="1"/>
          <p:nvPr/>
        </p:nvSpPr>
        <p:spPr>
          <a:xfrm>
            <a:off x="5349240" y="5623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تتبّعي الأسهم من الطحالب حتى مالك الحزين.</a:t>
            </a:r>
            <a:endParaRPr lang="ar-SA" sz="1350" dirty="0"/>
          </a:p>
        </p:txBody>
      </p:sp>
      <p:sp>
        <p:nvSpPr>
          <p:cNvPr id="18" name="s24_17@c6%chime"/>
          <p:cNvSpPr txBox="1"/>
          <p:nvPr/>
        </p:nvSpPr>
        <p:spPr>
          <a:xfrm>
            <a:off x="640080" y="4480560"/>
            <a:ext cx="3886200" cy="1508760"/>
          </a:xfrm>
          <a:prstGeom prst="roundRect">
            <a:avLst>
              <a:gd name="adj" fmla="val 848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يقلّ الذباب المائي ثم سمك الشمس، فلا يجد مالك الحزين غذاءً كافيًا؛ لأن كل حلقة تعتمد على ما قبلها.</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9" name="s24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4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subTnLst>
                                    <p:audio>
                                      <p:cMediaNode vol="50000" showWhenStopped="0">
                                        <p:cTn id="13" display="0" masterRel="sameClick">
                                          <p:stCondLst>
                                            <p:cond evt="onBegin" delay="0">
                                              <p:tn val="10"/>
                                            </p:cond>
                                          </p:stCondLst>
                                        </p:cTn>
                                        <p:tgtEl>
                                          <p:sndTgt r:embed="rId5" name="chime.wav"/>
                                        </p:tgtEl>
                                      </p:cMediaNode>
                                    </p:audio>
                                  </p:sub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subTnLst>
                                    <p:audio>
                                      <p:cMediaNode vol="50000" showWhenStopped="0">
                                        <p:cTn id="24" display="0" masterRel="sameClick">
                                          <p:stCondLst>
                                            <p:cond evt="onBegin" delay="0">
                                              <p:tn val="21"/>
                                            </p:cond>
                                          </p:stCondLst>
                                        </p:cTn>
                                        <p:tgtEl>
                                          <p:sndTgt r:embed="rId5" name="chime.wav"/>
                                        </p:tgtEl>
                                      </p:cMediaNode>
                                    </p:audio>
                                  </p:sub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subTnLst>
                                    <p:audio>
                                      <p:cMediaNode vol="50000" showWhenStopped="0">
                                        <p:cTn id="35" display="0" masterRel="sameClick">
                                          <p:stCondLst>
                                            <p:cond evt="onBegin" delay="0">
                                              <p:tn val="32"/>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1" descr="عنوان الشريحة">    </p:cNvPr>
          <p:cNvPicPr>
            <a:picLocks noChangeAspect="1"/>
          </p:cNvPicPr>
          <p:nvPr/>
        </p:nvPicPr>
        <p:blipFill>
          <a:blip r:embed="rId2"/>
          <a:stretch>
            <a:fillRect/>
          </a:stretch>
        </p:blipFill>
        <p:spPr>
          <a:xfrm>
            <a:off x="8947824" y="182880"/>
            <a:ext cx="2878111" cy="731520"/>
          </a:xfrm>
          <a:prstGeom prst="rect">
            <a:avLst/>
          </a:prstGeom>
        </p:spPr>
      </p:pic>
      <p:sp>
        <p:nvSpPr>
          <p:cNvPr id="3" name="s25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الاستنتاج – التفكير الناقد</a:t>
            </a:r>
            <a:endParaRPr lang="en-US" sz="1600" dirty="0"/>
          </a:p>
        </p:txBody>
      </p:sp>
      <p:sp>
        <p:nvSpPr>
          <p:cNvPr id="4" name="s25_3"/>
          <p:cNvSpPr txBox="1"/>
          <p:nvPr/>
        </p:nvSpPr>
        <p:spPr>
          <a:xfrm>
            <a:off x="6309360" y="1143000"/>
            <a:ext cx="5440680" cy="1463040"/>
          </a:xfrm>
          <a:prstGeom prst="roundRect">
            <a:avLst>
              <a:gd name="adj" fmla="val 875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أستنتج. </a:t>
            </a:r>
            <a:r>
              <a:rPr lang="ar-SA" altLang="en-US" sz="1800" b="1" dirty="0">
                <a:solidFill>
                  <a:srgbClr val="34405E"/>
                </a:solidFill>
                <a:latin typeface="Tahoma" pitchFamily="34" charset="0"/>
                <a:ea typeface="Tahoma" pitchFamily="34" charset="-122"/>
                <a:cs typeface="Tahoma" pitchFamily="34" charset="-120"/>
              </a:rPr>
              <a:t>لماذا يُعدّ مصطلحُ السلسلة الغذائية وصفًا جيدًا لتوضيح العلاقات بين المخلوقات الحية؟</a:t>
            </a:r>
            <a:endParaRPr lang="ar-SA" sz="1800" dirty="0"/>
          </a:p>
        </p:txBody>
      </p:sp>
      <p:sp>
        <p:nvSpPr>
          <p:cNvPr id="5" name="s25_4@c1%chime"/>
          <p:cNvSpPr txBox="1"/>
          <p:nvPr/>
        </p:nvSpPr>
        <p:spPr>
          <a:xfrm>
            <a:off x="548640" y="1143000"/>
            <a:ext cx="5623560" cy="1463040"/>
          </a:xfrm>
          <a:prstGeom prst="roundRect">
            <a:avLst>
              <a:gd name="adj" fmla="val 8750"/>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a:t>
            </a:r>
            <a:r>
              <a:rPr lang="ar-SA" altLang="en-US" sz="1550" dirty="0">
                <a:solidFill>
                  <a:srgbClr val="34405E"/>
                </a:solidFill>
                <a:latin typeface="Tahoma" pitchFamily="34" charset="0"/>
                <a:ea typeface="Tahoma" pitchFamily="34" charset="-122"/>
                <a:cs typeface="Tahoma" pitchFamily="34" charset="-120"/>
              </a:rPr>
              <a:t>لأن المخلوقات الحية ترتبط بعضها ببعض كحلقات السلسلة؛ فكل حلقة تحصل على الطاقة من الحلقة التي قبلها، وإذا انقطعت حلقة تأثرت الحلقات التي بعدها.</a:t>
            </a:r>
            <a:endParaRPr lang="ar-SA" sz="1550" dirty="0"/>
          </a:p>
        </p:txBody>
      </p:sp>
      <p:sp>
        <p:nvSpPr>
          <p:cNvPr id="6" name="s25_5"/>
          <p:cNvSpPr txBox="1"/>
          <p:nvPr/>
        </p:nvSpPr>
        <p:spPr>
          <a:xfrm>
            <a:off x="6309360" y="2788920"/>
            <a:ext cx="5440680" cy="1371600"/>
          </a:xfrm>
          <a:prstGeom prst="roundRect">
            <a:avLst>
              <a:gd name="adj" fmla="val 9333"/>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التفكير الناقد. </a:t>
            </a:r>
            <a:r>
              <a:rPr lang="ar-SA" altLang="en-US" sz="1800" b="1" dirty="0">
                <a:solidFill>
                  <a:srgbClr val="34405E"/>
                </a:solidFill>
                <a:latin typeface="Tahoma" pitchFamily="34" charset="0"/>
                <a:ea typeface="Tahoma" pitchFamily="34" charset="-122"/>
                <a:cs typeface="Tahoma" pitchFamily="34" charset="-120"/>
              </a:rPr>
              <a:t>ما أكبر سلسلة غذائية يمكن أن تضعها؟ ارسم مخططًا توضّح فيه سلسلتك الغذائية.</a:t>
            </a:r>
            <a:endParaRPr lang="ar-SA" sz="1800" dirty="0"/>
          </a:p>
        </p:txBody>
      </p:sp>
      <p:sp>
        <p:nvSpPr>
          <p:cNvPr id="7" name="s25_6"/>
          <p:cNvSpPr txBox="1"/>
          <p:nvPr/>
        </p:nvSpPr>
        <p:spPr>
          <a:xfrm>
            <a:off x="548640" y="2788920"/>
            <a:ext cx="562356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ارسمي سلسلتك في دفترك… ثم شاركي بها!</a:t>
            </a:r>
            <a:endParaRPr lang="ar-SA" sz="1600" dirty="0"/>
          </a:p>
        </p:txBody>
      </p:sp>
      <p:sp>
        <p:nvSpPr>
          <p:cNvPr id="8" name="s25_7@c2"/>
          <p:cNvSpPr txBox="1"/>
          <p:nvPr/>
        </p:nvSpPr>
        <p:spPr>
          <a:xfrm>
            <a:off x="548640" y="3520440"/>
            <a:ext cx="562356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مثال مقترح: </a:t>
            </a:r>
            <a:r>
              <a:rPr lang="ar-SA" altLang="en-US" sz="1500" b="1" dirty="0">
                <a:solidFill>
                  <a:srgbClr val="34405E"/>
                </a:solidFill>
                <a:latin typeface="Tahoma" pitchFamily="34" charset="0"/>
                <a:ea typeface="Tahoma" pitchFamily="34" charset="-122"/>
                <a:cs typeface="Tahoma" pitchFamily="34" charset="-120"/>
              </a:rPr>
              <a:t>الشمس ← العشب ← الجرادة ← الضفدع ← الثعبان ← الصقر</a:t>
            </a:r>
            <a:endParaRPr lang="ar-SA" sz="1500" dirty="0"/>
          </a:p>
        </p:txBody>
      </p:sp>
      <p:sp>
        <p:nvSpPr>
          <p:cNvPr id="9" name="s25_8@c3%sparkle"/>
          <p:cNvSpPr txBox="1"/>
          <p:nvPr/>
        </p:nvSpPr>
        <p:spPr>
          <a:xfrm>
            <a:off x="3566160" y="4434840"/>
            <a:ext cx="5029200" cy="594360"/>
          </a:xfrm>
          <a:prstGeom prst="roundRect">
            <a:avLst>
              <a:gd name="adj" fmla="val 49231"/>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رائع! أنتِ عالمة تفكّر بعمق 🌟</a:t>
            </a:r>
            <a:endParaRPr lang="ar-SA" sz="1800" dirty="0"/>
          </a:p>
        </p:txBody>
      </p:sp>
      <p:pic>
        <p:nvPicPr>
          <p:cNvPr id="10" name="s25_9" descr="المستكشفة ببدلة الغوص">    </p:cNvPr>
          <p:cNvPicPr>
            <a:picLocks noChangeAspect="1"/>
          </p:cNvPicPr>
          <p:nvPr/>
        </p:nvPicPr>
        <p:blipFill>
          <a:blip r:embed="rId3"/>
          <a:stretch>
            <a:fillRect/>
          </a:stretch>
        </p:blipFill>
        <p:spPr>
          <a:xfrm>
            <a:off x="9966960" y="4251960"/>
            <a:ext cx="1270747" cy="2057400"/>
          </a:xfrm>
          <a:prstGeom prst="rect">
            <a:avLst/>
          </a:prstGeom>
        </p:spPr>
      </p:pic>
      <p:sp>
        <p:nvSpPr>
          <p:cNvPr id="11" name="s25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25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1" descr="عنوان الشريحة">    </p:cNvPr>
          <p:cNvPicPr>
            <a:picLocks noChangeAspect="1"/>
          </p:cNvPicPr>
          <p:nvPr/>
        </p:nvPicPr>
        <p:blipFill>
          <a:blip r:embed="rId2"/>
          <a:stretch>
            <a:fillRect/>
          </a:stretch>
        </p:blipFill>
        <p:spPr>
          <a:xfrm>
            <a:off x="8300249" y="182880"/>
            <a:ext cx="3525687" cy="731520"/>
          </a:xfrm>
          <a:prstGeom prst="rect">
            <a:avLst/>
          </a:prstGeom>
        </p:spPr>
      </p:pic>
      <p:sp>
        <p:nvSpPr>
          <p:cNvPr id="3" name="s26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العصف الذهني – التوقّع</a:t>
            </a:r>
            <a:endParaRPr lang="en-US" sz="1600" dirty="0"/>
          </a:p>
        </p:txBody>
      </p:sp>
      <p:pic>
        <p:nvPicPr>
          <p:cNvPr id="4" name="s26_3" descr="المستكشفة ببدلة الغوص">    </p:cNvPr>
          <p:cNvPicPr>
            <a:picLocks noChangeAspect="1"/>
          </p:cNvPicPr>
          <p:nvPr/>
        </p:nvPicPr>
        <p:blipFill>
          <a:blip r:embed="rId3"/>
          <a:stretch>
            <a:fillRect/>
          </a:stretch>
        </p:blipFill>
        <p:spPr>
          <a:xfrm>
            <a:off x="502920" y="1051560"/>
            <a:ext cx="3162748" cy="5120640"/>
          </a:xfrm>
          <a:prstGeom prst="rect">
            <a:avLst/>
          </a:prstGeom>
        </p:spPr>
      </p:pic>
      <p:sp>
        <p:nvSpPr>
          <p:cNvPr id="5" name="s26_4@a2%chime"/>
          <p:cNvSpPr txBox="1"/>
          <p:nvPr/>
        </p:nvSpPr>
        <p:spPr>
          <a:xfrm>
            <a:off x="3657600" y="1188720"/>
            <a:ext cx="8092440" cy="731520"/>
          </a:xfrm>
          <a:prstGeom prst="roundRect">
            <a:avLst>
              <a:gd name="adj" fmla="val 175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2000" b="1" dirty="0">
                <a:solidFill>
                  <a:srgbClr val="34405E"/>
                </a:solidFill>
                <a:latin typeface="Tahoma" pitchFamily="34" charset="0"/>
                <a:ea typeface="Tahoma" pitchFamily="34" charset="-122"/>
                <a:cs typeface="Tahoma" pitchFamily="34" charset="-120"/>
              </a:rPr>
              <a:t>نغوص أعمق… إلى المحيط! 🌊🐟</a:t>
            </a:r>
            <a:endParaRPr lang="ar-SA" sz="2000" dirty="0"/>
          </a:p>
        </p:txBody>
      </p:sp>
      <p:sp>
        <p:nvSpPr>
          <p:cNvPr id="6" name="s26_5@a2"/>
          <p:cNvSpPr txBox="1"/>
          <p:nvPr/>
        </p:nvSpPr>
        <p:spPr>
          <a:xfrm>
            <a:off x="3657600" y="2148840"/>
            <a:ext cx="809244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فكّري: </a:t>
            </a:r>
            <a:r>
              <a:rPr lang="ar-SA" altLang="en-US" sz="1800" b="1" dirty="0">
                <a:solidFill>
                  <a:srgbClr val="34405E"/>
                </a:solidFill>
                <a:latin typeface="Tahoma" pitchFamily="34" charset="0"/>
                <a:ea typeface="Tahoma" pitchFamily="34" charset="-122"/>
                <a:cs typeface="Tahoma" pitchFamily="34" charset="-120"/>
              </a:rPr>
              <a:t>في المحيط تأكل سمكةُ السردين العوالقَ، ثم يأكلها أكثرُ من حيوان: التونة، والدلفين، وطائر النورس… هل تكفي سلسلة غذائية واحدة لتوضيح ذلك؟</a:t>
            </a:r>
            <a:endParaRPr lang="ar-SA" sz="1800" dirty="0"/>
          </a:p>
        </p:txBody>
      </p:sp>
      <p:sp>
        <p:nvSpPr>
          <p:cNvPr id="7" name="s26_6@a2"/>
          <p:cNvSpPr txBox="1"/>
          <p:nvPr/>
        </p:nvSpPr>
        <p:spPr>
          <a:xfrm>
            <a:off x="3657600" y="3840480"/>
            <a:ext cx="809244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 عصف ذهني: اقترحي طريقة لرسم كل هذه العلاقات معًا!</a:t>
            </a:r>
            <a:endParaRPr lang="ar-SA" sz="1650" dirty="0"/>
          </a:p>
        </p:txBody>
      </p:sp>
      <p:sp>
        <p:nvSpPr>
          <p:cNvPr id="8" name="s26_7@c1%sparkle"/>
          <p:cNvSpPr txBox="1"/>
          <p:nvPr/>
        </p:nvSpPr>
        <p:spPr>
          <a:xfrm>
            <a:off x="3657600" y="46634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2F8A3A"/>
                </a:solidFill>
                <a:latin typeface="Tahoma" pitchFamily="34" charset="0"/>
                <a:ea typeface="Tahoma" pitchFamily="34" charset="-122"/>
                <a:cs typeface="Tahoma" pitchFamily="34" charset="-120"/>
              </a:rPr>
              <a:t>لنكتشف: </a:t>
            </a:r>
            <a:r>
              <a:rPr lang="ar-SA" altLang="en-US" sz="1700" dirty="0">
                <a:solidFill>
                  <a:srgbClr val="34405E"/>
                </a:solidFill>
                <a:latin typeface="Tahoma" pitchFamily="34" charset="0"/>
                <a:ea typeface="Tahoma" pitchFamily="34" charset="-122"/>
                <a:cs typeface="Tahoma" pitchFamily="34" charset="-120"/>
              </a:rPr>
              <a:t>لا تكفي سلسلة واحدة؛ نحتاج إلى نموذج يجمع عدة سلاسل متداخلة… إنها </a:t>
            </a:r>
            <a:r>
              <a:rPr lang="ar-SA" altLang="en-US" sz="1700" b="1" dirty="0">
                <a:solidFill>
                  <a:srgbClr val="C2366F"/>
                </a:solidFill>
                <a:latin typeface="Tahoma" pitchFamily="34" charset="0"/>
                <a:ea typeface="Tahoma" pitchFamily="34" charset="-122"/>
                <a:cs typeface="Tahoma" pitchFamily="34" charset="-120"/>
              </a:rPr>
              <a:t>الشبكة الغذائية! 🕸️</a:t>
            </a:r>
            <a:endParaRPr lang="ar-SA" sz="1700" dirty="0"/>
          </a:p>
        </p:txBody>
      </p:sp>
      <p:sp>
        <p:nvSpPr>
          <p:cNvPr id="9" name="s26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26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sndAc>
      <p:stSnd>
        <p:snd r:embed="rId6" name="train.wav"/>
      </p:stSnd>
    </p:sndAc>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 -0.85 L 0 0 E" pathEditMode="relative" ptsTypes="">
                                      <p:cBhvr>
                                        <p:cTn id="8" dur="18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7" name="bubbles.wav"/>
                                        </p:tgtEl>
                                      </p:cMediaNode>
                                    </p:audio>
                                  </p:subTnLst>
                                </p:cTn>
                              </p:par>
                            </p:childTnLst>
                          </p:cTn>
                        </p:par>
                        <p:par>
                          <p:cTn id="10" fill="hold">
                            <p:stCondLst>
                              <p:cond delay="18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subTnLst>
                                    <p:audio>
                                      <p:cMediaNode vol="50000" showWhenStopped="0">
                                        <p:cTn id="14" display="0" masterRel="sameClick">
                                          <p:stCondLst>
                                            <p:cond evt="onBegin" delay="0">
                                              <p:tn val="11"/>
                                            </p:cond>
                                          </p:stCondLst>
                                        </p:cTn>
                                        <p:tgtEl>
                                          <p:sndTgt r:embed="rId8" name="chime.wav"/>
                                        </p:tgtEl>
                                      </p:cMediaNode>
                                    </p:audio>
                                  </p:subTnLst>
                                </p:cTn>
                              </p:par>
                              <p:par>
                                <p:cTn id="15" presetID="10"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1" descr="عنوان الشريحة">    </p:cNvPr>
          <p:cNvPicPr>
            <a:picLocks noChangeAspect="1"/>
          </p:cNvPicPr>
          <p:nvPr/>
        </p:nvPicPr>
        <p:blipFill>
          <a:blip r:embed="rId2"/>
          <a:stretch>
            <a:fillRect/>
          </a:stretch>
        </p:blipFill>
        <p:spPr>
          <a:xfrm>
            <a:off x="6933146" y="182880"/>
            <a:ext cx="4892790" cy="731520"/>
          </a:xfrm>
          <a:prstGeom prst="rect">
            <a:avLst/>
          </a:prstGeom>
        </p:spPr>
      </p:pic>
      <p:sp>
        <p:nvSpPr>
          <p:cNvPr id="3" name="s2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7_3" descr="صفحة ١١٤ من كتاب العلوم">    </p:cNvPr>
          <p:cNvPicPr>
            <a:picLocks noChangeAspect="1"/>
          </p:cNvPicPr>
          <p:nvPr/>
        </p:nvPicPr>
        <p:blipFill>
          <a:blip r:embed="rId3"/>
          <a:stretch>
            <a:fillRect/>
          </a:stretch>
        </p:blipFill>
        <p:spPr>
          <a:xfrm>
            <a:off x="365760" y="896112"/>
            <a:ext cx="4274518" cy="5486400"/>
          </a:xfrm>
          <a:prstGeom prst="rect">
            <a:avLst/>
          </a:prstGeom>
        </p:spPr>
      </p:pic>
      <p:sp>
        <p:nvSpPr>
          <p:cNvPr id="5" name="s27_4"/>
          <p:cNvSpPr txBox="1"/>
          <p:nvPr/>
        </p:nvSpPr>
        <p:spPr>
          <a:xfrm>
            <a:off x="365760" y="6364224"/>
            <a:ext cx="4274518"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١١٤ من كتابي</a:t>
            </a:r>
            <a:endParaRPr lang="ar-SA" sz="1100" dirty="0"/>
          </a:p>
        </p:txBody>
      </p:sp>
      <p:sp>
        <p:nvSpPr>
          <p:cNvPr id="6" name="page114_q0"/>
          <p:cNvSpPr txBox="1"/>
          <p:nvPr/>
        </p:nvSpPr>
        <p:spPr>
          <a:xfrm>
            <a:off x="8324547" y="914400"/>
            <a:ext cx="3455669"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تكفي السلسلة الغذائية لتمثيل النظام البيئي كاملًا؟</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7_5@t=page114_q0%chime"/>
          <p:cNvSpPr txBox="1"/>
          <p:nvPr/>
        </p:nvSpPr>
        <p:spPr>
          <a:xfrm>
            <a:off x="4868878" y="91440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لأنها تبيّن مسارًا واحدًا لنقل الطاقة، ومعظم الأنظمة البيئية لها سلاسل متداخلة.</a:t>
            </a:r>
            <a:endParaRPr lang="ar-SA" sz="1400" dirty="0"/>
          </a:p>
        </p:txBody>
      </p:sp>
      <p:sp>
        <p:nvSpPr>
          <p:cNvPr id="8" name="s27_6@t=page114_q0"/>
          <p:cNvSpPr/>
          <p:nvPr/>
        </p:nvSpPr>
        <p:spPr>
          <a:xfrm>
            <a:off x="1534831" y="1515226"/>
            <a:ext cx="2710268" cy="342488"/>
          </a:xfrm>
          <a:prstGeom prst="roundRect">
            <a:avLst>
              <a:gd name="adj" fmla="val 13349"/>
            </a:avLst>
          </a:prstGeom>
          <a:solidFill>
            <a:srgbClr val="FFEB3B">
              <a:alpha val="45000"/>
            </a:srgbClr>
          </a:solidFill>
          <a:ln w="25400">
            <a:solidFill>
              <a:srgbClr val="F5A623"/>
            </a:solidFill>
            <a:prstDash val="solid"/>
          </a:ln>
        </p:spPr>
      </p:sp>
      <p:sp>
        <p:nvSpPr>
          <p:cNvPr id="9" name="page114_q1"/>
          <p:cNvSpPr txBox="1"/>
          <p:nvPr/>
        </p:nvSpPr>
        <p:spPr>
          <a:xfrm>
            <a:off x="8324547" y="2308860"/>
            <a:ext cx="3455669"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7_7@t=page114_q1%chime"/>
          <p:cNvSpPr txBox="1"/>
          <p:nvPr/>
        </p:nvSpPr>
        <p:spPr>
          <a:xfrm>
            <a:off x="4868878" y="230886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الشبكة الغذائية: سلاسل غذائية متداخلة توضّح ترابط سلاسل الغذاء في النظام البيئي.</a:t>
            </a:r>
            <a:endParaRPr lang="ar-SA" sz="1400" dirty="0"/>
          </a:p>
        </p:txBody>
      </p:sp>
      <p:sp>
        <p:nvSpPr>
          <p:cNvPr id="11" name="s27_8@t=page114_q1"/>
          <p:cNvSpPr/>
          <p:nvPr/>
        </p:nvSpPr>
        <p:spPr>
          <a:xfrm>
            <a:off x="1683023" y="1857714"/>
            <a:ext cx="2562076" cy="493974"/>
          </a:xfrm>
          <a:prstGeom prst="roundRect">
            <a:avLst>
              <a:gd name="adj" fmla="val 9256"/>
            </a:avLst>
          </a:prstGeom>
          <a:solidFill>
            <a:srgbClr val="FFEB3B">
              <a:alpha val="45000"/>
            </a:srgbClr>
          </a:solidFill>
          <a:ln w="25400">
            <a:solidFill>
              <a:srgbClr val="F5A623"/>
            </a:solidFill>
            <a:prstDash val="solid"/>
          </a:ln>
        </p:spPr>
      </p:sp>
      <p:sp>
        <p:nvSpPr>
          <p:cNvPr id="12" name="page114_q2"/>
          <p:cNvSpPr txBox="1"/>
          <p:nvPr/>
        </p:nvSpPr>
        <p:spPr>
          <a:xfrm>
            <a:off x="8324547" y="3703320"/>
            <a:ext cx="3455669"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الفرق بين المفترس والفريسة؟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7_9@t=page114_q2%chime"/>
          <p:cNvSpPr txBox="1"/>
          <p:nvPr/>
        </p:nvSpPr>
        <p:spPr>
          <a:xfrm>
            <a:off x="4868878" y="370332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المفترس آكل اللحوم الذي يصطاد ليحصل على طعامه، والفريسة المخلوق الذي تم اصطياده.</a:t>
            </a:r>
            <a:endParaRPr lang="ar-SA" sz="1400" dirty="0"/>
          </a:p>
        </p:txBody>
      </p:sp>
      <p:sp>
        <p:nvSpPr>
          <p:cNvPr id="14" name="s27_10@t=page114_q2"/>
          <p:cNvSpPr/>
          <p:nvPr/>
        </p:nvSpPr>
        <p:spPr>
          <a:xfrm>
            <a:off x="1353707" y="2384619"/>
            <a:ext cx="2891392" cy="362247"/>
          </a:xfrm>
          <a:prstGeom prst="roundRect">
            <a:avLst>
              <a:gd name="adj" fmla="val 12621"/>
            </a:avLst>
          </a:prstGeom>
          <a:solidFill>
            <a:srgbClr val="FFEB3B">
              <a:alpha val="45000"/>
            </a:srgbClr>
          </a:solidFill>
          <a:ln w="25400">
            <a:solidFill>
              <a:srgbClr val="F5A623"/>
            </a:solidFill>
            <a:prstDash val="solid"/>
          </a:ln>
        </p:spPr>
      </p:sp>
      <p:sp>
        <p:nvSpPr>
          <p:cNvPr id="15" name="page114_q3"/>
          <p:cNvSpPr txBox="1"/>
          <p:nvPr/>
        </p:nvSpPr>
        <p:spPr>
          <a:xfrm>
            <a:off x="8324547" y="5097780"/>
            <a:ext cx="3455669"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أيّ مفترس في الشبكة الغذائية له أكبر عدد من الفرائس؟</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7_11@t=page114_q3%chime"/>
          <p:cNvSpPr txBox="1"/>
          <p:nvPr/>
        </p:nvSpPr>
        <p:spPr>
          <a:xfrm>
            <a:off x="4868878" y="509778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الحوت القاتل؛ تتجه إليه ثلاثة أسهم (التونة، والدلفين، والنورس).</a:t>
            </a:r>
            <a:endParaRPr lang="ar-SA" sz="1400" dirty="0"/>
          </a:p>
        </p:txBody>
      </p:sp>
      <p:sp>
        <p:nvSpPr>
          <p:cNvPr id="17" name="s27_12@t=page114_q3"/>
          <p:cNvSpPr/>
          <p:nvPr/>
        </p:nvSpPr>
        <p:spPr>
          <a:xfrm>
            <a:off x="2670970" y="5029024"/>
            <a:ext cx="1942963" cy="1004413"/>
          </a:xfrm>
          <a:prstGeom prst="roundRect">
            <a:avLst>
              <a:gd name="adj" fmla="val 4552"/>
            </a:avLst>
          </a:prstGeom>
          <a:solidFill>
            <a:srgbClr val="BDE6FA">
              <a:alpha val="45000"/>
            </a:srgbClr>
          </a:solidFill>
          <a:ln w="25400">
            <a:solidFill>
              <a:srgbClr val="1E7FB8"/>
            </a:solidFill>
            <a:prstDash val="solid"/>
          </a:ln>
        </p:spPr>
      </p:sp>
      <p:sp>
        <p:nvSpPr>
          <p:cNvPr id="18" name="s27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27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1" descr="عنوان الشريحة">    </p:cNvPr>
          <p:cNvPicPr>
            <a:picLocks noChangeAspect="1"/>
          </p:cNvPicPr>
          <p:nvPr/>
        </p:nvPicPr>
        <p:blipFill>
          <a:blip r:embed="rId2"/>
          <a:stretch>
            <a:fillRect/>
          </a:stretch>
        </p:blipFill>
        <p:spPr>
          <a:xfrm>
            <a:off x="7238945" y="182880"/>
            <a:ext cx="4586990" cy="731520"/>
          </a:xfrm>
          <a:prstGeom prst="rect">
            <a:avLst/>
          </a:prstGeom>
        </p:spPr>
      </p:pic>
      <p:sp>
        <p:nvSpPr>
          <p:cNvPr id="3" name="s28_2"/>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بطاقات المفردات – التعلّم باللعب</a:t>
            </a:r>
            <a:endParaRPr lang="en-US" sz="1600" dirty="0"/>
          </a:p>
        </p:txBody>
      </p:sp>
      <p:sp>
        <p:nvSpPr>
          <p:cNvPr id="4" name="s28_3"/>
          <p:cNvSpPr txBox="1"/>
          <p:nvPr/>
        </p:nvSpPr>
        <p:spPr>
          <a:xfrm>
            <a:off x="548640" y="1097280"/>
            <a:ext cx="11201400" cy="960120"/>
          </a:xfrm>
          <a:prstGeom prst="roundRect">
            <a:avLst>
              <a:gd name="adj" fmla="val 13333"/>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توضّحُ شبكاتُ الغذاءِ العلاقةَ بينَ المفترسِ والفريسةِ. وفي معظمِ الشبكاتِ الغذائيةِ تكونُ المخلوقاتُ الحيةُ مفترسةً لمخلوقاتٍ معيّنةٍ، وفريسةً لمخلوقاتٍ أخرى.</a:t>
            </a:r>
            <a:endParaRPr lang="ar-SA" sz="1650" dirty="0"/>
          </a:p>
        </p:txBody>
      </p:sp>
      <p:sp>
        <p:nvSpPr>
          <p:cNvPr id="5" name="s28_v0"/>
          <p:cNvSpPr txBox="1"/>
          <p:nvPr/>
        </p:nvSpPr>
        <p:spPr>
          <a:xfrm>
            <a:off x="6263640" y="2286000"/>
            <a:ext cx="5486400" cy="1188720"/>
          </a:xfrm>
          <a:prstGeom prst="roundRect">
            <a:avLst>
              <a:gd name="adj" fmla="val 10769"/>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المفترس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6" name="s28_4@t=s28_v0%chime"/>
          <p:cNvSpPr txBox="1"/>
          <p:nvPr/>
        </p:nvSpPr>
        <p:spPr>
          <a:xfrm>
            <a:off x="6263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آكلُ اللحومِ الذي يصطادُ ليحصلَ على طعامِه.</a:t>
            </a:r>
            <a:endParaRPr lang="ar-SA" sz="1700" dirty="0"/>
          </a:p>
        </p:txBody>
      </p:sp>
      <p:sp>
        <p:nvSpPr>
          <p:cNvPr id="7" name="s28_v1"/>
          <p:cNvSpPr txBox="1"/>
          <p:nvPr/>
        </p:nvSpPr>
        <p:spPr>
          <a:xfrm>
            <a:off x="548640" y="2286000"/>
            <a:ext cx="5486400" cy="1188720"/>
          </a:xfrm>
          <a:prstGeom prst="roundRect">
            <a:avLst>
              <a:gd name="adj" fmla="val 10769"/>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الفريسة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8" name="s28_5@t=s28_v1%chime"/>
          <p:cNvSpPr txBox="1"/>
          <p:nvPr/>
        </p:nvSpPr>
        <p:spPr>
          <a:xfrm>
            <a:off x="548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المخلوقُ الحيُّ الذي تمّ اصطيادُه.</a:t>
            </a:r>
            <a:endParaRPr lang="ar-SA" sz="1700" dirty="0"/>
          </a:p>
        </p:txBody>
      </p:sp>
      <p:sp>
        <p:nvSpPr>
          <p:cNvPr id="9" name="s28_6@c1%sparkle"/>
          <p:cNvSpPr txBox="1"/>
          <p:nvPr/>
        </p:nvSpPr>
        <p:spPr>
          <a:xfrm>
            <a:off x="548640" y="4617720"/>
            <a:ext cx="112014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مثال من شبكة المحيط: </a:t>
            </a:r>
            <a:r>
              <a:rPr lang="ar-SA" altLang="en-US" sz="1650" b="1" dirty="0">
                <a:solidFill>
                  <a:srgbClr val="34405E"/>
                </a:solidFill>
                <a:latin typeface="Tahoma" pitchFamily="34" charset="0"/>
                <a:ea typeface="Tahoma" pitchFamily="34" charset="-122"/>
                <a:cs typeface="Tahoma" pitchFamily="34" charset="-120"/>
              </a:rPr>
              <a:t>سمكة السردين </a:t>
            </a:r>
            <a:r>
              <a:rPr lang="ar-SA" altLang="en-US" sz="1650" b="1" dirty="0">
                <a:solidFill>
                  <a:srgbClr val="C0392B"/>
                </a:solidFill>
                <a:latin typeface="Tahoma" pitchFamily="34" charset="0"/>
                <a:ea typeface="Tahoma" pitchFamily="34" charset="-122"/>
                <a:cs typeface="Tahoma" pitchFamily="34" charset="-120"/>
              </a:rPr>
              <a:t>مفترسة</a:t>
            </a:r>
            <a:r>
              <a:rPr lang="ar-SA" altLang="en-US" sz="1650" dirty="0">
                <a:solidFill>
                  <a:srgbClr val="34405E"/>
                </a:solidFill>
                <a:latin typeface="Tahoma" pitchFamily="34" charset="0"/>
                <a:ea typeface="Tahoma" pitchFamily="34" charset="-122"/>
                <a:cs typeface="Tahoma" pitchFamily="34" charset="-120"/>
              </a:rPr>
              <a:t> للعوالق، و</a:t>
            </a:r>
            <a:r>
              <a:rPr lang="ar-SA" altLang="en-US" sz="1650" b="1" dirty="0">
                <a:solidFill>
                  <a:srgbClr val="1E7FB8"/>
                </a:solidFill>
                <a:latin typeface="Tahoma" pitchFamily="34" charset="0"/>
                <a:ea typeface="Tahoma" pitchFamily="34" charset="-122"/>
                <a:cs typeface="Tahoma" pitchFamily="34" charset="-120"/>
              </a:rPr>
              <a:t>فريسة</a:t>
            </a:r>
            <a:r>
              <a:rPr lang="ar-SA" altLang="en-US" sz="1650" dirty="0">
                <a:solidFill>
                  <a:srgbClr val="34405E"/>
                </a:solidFill>
                <a:latin typeface="Tahoma" pitchFamily="34" charset="0"/>
                <a:ea typeface="Tahoma" pitchFamily="34" charset="-122"/>
                <a:cs typeface="Tahoma" pitchFamily="34" charset="-120"/>
              </a:rPr>
              <a:t> للتونة والدلفين وطائر النورس… فهي مفترسة وفريسة في الوقت نفسه!</a:t>
            </a:r>
            <a:endParaRPr lang="ar-SA" sz="1650" dirty="0"/>
          </a:p>
        </p:txBody>
      </p:sp>
      <p:sp>
        <p:nvSpPr>
          <p:cNvPr id="10" name="s28_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8_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childTnLst>
              </p:cTn>
              <p:nextCondLst>
                <p:cond evt="onNext" delay="0">
                  <p:tgtEl>
                    <p:spTgt spid="5"/>
                  </p:tgtEl>
                </p:cond>
              </p:nextCondLst>
            </p:seq>
            <p:seq concurrent="1" nextAc="seek">
              <p:cTn id="15" restart="whenNotActive" fill="hold" evtFilter="cancelBubble" nodeType="interactiveSeq">
                <p:stCondLst>
                  <p:cond evt="onClick" delay="0">
                    <p:tgtEl>
                      <p:spTgt spid="7"/>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5" name="chime.wav"/>
                                        </p:tgtEl>
                                      </p:cMediaNode>
                                    </p:audio>
                                  </p:subTnLst>
                                </p:cTn>
                              </p:par>
                            </p:childTnLst>
                          </p:cTn>
                        </p:par>
                      </p:childTnLst>
                    </p:cTn>
                  </p:par>
                </p:childTnLst>
              </p:cTn>
              <p:nextCondLst>
                <p:cond evt="onNext" delay="0">
                  <p:tgtEl>
                    <p:spTgt spid="7"/>
                  </p:tgtEl>
                </p:cond>
              </p:nextCondLst>
            </p:seq>
          </p:childTnLst>
        </p:cTn>
      </p:par>
    </p:tnLst>
    <p:bldLst>
      <p:bldP spid="6"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1" descr="عنوان الشريحة">    </p:cNvPr>
          <p:cNvPicPr>
            <a:picLocks noChangeAspect="1"/>
          </p:cNvPicPr>
          <p:nvPr/>
        </p:nvPicPr>
        <p:blipFill>
          <a:blip r:embed="rId2"/>
          <a:stretch>
            <a:fillRect/>
          </a:stretch>
        </p:blipFill>
        <p:spPr>
          <a:xfrm>
            <a:off x="6705295" y="203492"/>
            <a:ext cx="5120640" cy="690296"/>
          </a:xfrm>
          <a:prstGeom prst="rect">
            <a:avLst/>
          </a:prstGeom>
        </p:spPr>
      </p:pic>
      <p:sp>
        <p:nvSpPr>
          <p:cNvPr id="3" name="s29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الأسهم</a:t>
            </a:r>
            <a:endParaRPr lang="en-US" sz="1600" dirty="0"/>
          </a:p>
        </p:txBody>
      </p:sp>
      <p:pic>
        <p:nvPicPr>
          <p:cNvPr id="4" name="s29_3" descr="شبكة غذائية في المحيط من الكتاب">    </p:cNvPr>
          <p:cNvPicPr>
            <a:picLocks noChangeAspect="1"/>
          </p:cNvPicPr>
          <p:nvPr/>
        </p:nvPicPr>
        <p:blipFill>
          <a:blip r:embed="rId3"/>
          <a:stretch>
            <a:fillRect/>
          </a:stretch>
        </p:blipFill>
        <p:spPr>
          <a:xfrm>
            <a:off x="411480" y="960120"/>
            <a:ext cx="6681179" cy="5349240"/>
          </a:xfrm>
          <a:prstGeom prst="rect">
            <a:avLst/>
          </a:prstGeom>
        </p:spPr>
      </p:pic>
      <p:sp>
        <p:nvSpPr>
          <p:cNvPr id="5" name="s29_4"/>
          <p:cNvSpPr txBox="1"/>
          <p:nvPr/>
        </p:nvSpPr>
        <p:spPr>
          <a:xfrm>
            <a:off x="411480" y="6291072"/>
            <a:ext cx="2743200" cy="256032"/>
          </a:xfrm>
          <a:prstGeom prst="rect">
            <a:avLst/>
          </a:prstGeom>
          <a:noFill/>
          <a:ln/>
        </p:spPr>
        <p:txBody>
          <a:bodyPr wrap="square" lIns="63500" tIns="63500" rIns="63500" bIns="63500" rtlCol="0" anchor="ctr"/>
          <a:lstStyle/>
          <a:p>
            <a:pPr rtl="1" algn="l" indent="0" marL="0">
              <a:buNone/>
            </a:pPr>
            <a:r>
              <a:rPr lang="ar-SA" altLang="en-US" sz="1100" dirty="0">
                <a:solidFill>
                  <a:srgbClr val="0E5E8A"/>
                </a:solidFill>
                <a:latin typeface="Tahoma" pitchFamily="34" charset="0"/>
                <a:ea typeface="Tahoma" pitchFamily="34" charset="-122"/>
                <a:cs typeface="Tahoma" pitchFamily="34" charset="-120"/>
              </a:rPr>
              <a:t>شكل من كتابي – صفحة ١١٤</a:t>
            </a:r>
            <a:endParaRPr lang="ar-SA" sz="1100" dirty="0"/>
          </a:p>
        </p:txBody>
      </p:sp>
      <p:sp>
        <p:nvSpPr>
          <p:cNvPr id="6" name="s29_5"/>
          <p:cNvSpPr/>
          <p:nvPr/>
        </p:nvSpPr>
        <p:spPr>
          <a:xfrm>
            <a:off x="488598" y="2089900"/>
            <a:ext cx="1005840" cy="1005840"/>
          </a:xfrm>
          <a:prstGeom prst="ellipse">
            <a:avLst/>
          </a:prstGeom>
          <a:solidFill>
            <a:srgbClr val="FFF59D">
              <a:alpha val="30000"/>
            </a:srgbClr>
          </a:solidFill>
          <a:ln w="50800">
            <a:solidFill>
              <a:srgbClr val="FFC107"/>
            </a:solidFill>
            <a:prstDash val="solid"/>
          </a:ln>
        </p:spPr>
      </p:sp>
      <p:sp>
        <p:nvSpPr>
          <p:cNvPr id="7" name="s29_6"/>
          <p:cNvSpPr/>
          <p:nvPr/>
        </p:nvSpPr>
        <p:spPr>
          <a:xfrm>
            <a:off x="2663741" y="1848217"/>
            <a:ext cx="1005840" cy="1005840"/>
          </a:xfrm>
          <a:prstGeom prst="ellipse">
            <a:avLst/>
          </a:prstGeom>
          <a:solidFill>
            <a:srgbClr val="FFF59D">
              <a:alpha val="30000"/>
            </a:srgbClr>
          </a:solidFill>
          <a:ln w="50800">
            <a:solidFill>
              <a:srgbClr val="FFC107"/>
            </a:solidFill>
            <a:prstDash val="solid"/>
          </a:ln>
        </p:spPr>
      </p:sp>
      <p:sp>
        <p:nvSpPr>
          <p:cNvPr id="8" name="s29_7"/>
          <p:cNvSpPr/>
          <p:nvPr/>
        </p:nvSpPr>
        <p:spPr>
          <a:xfrm>
            <a:off x="3904102" y="2551507"/>
            <a:ext cx="1371600" cy="1371600"/>
          </a:xfrm>
          <a:prstGeom prst="ellipse">
            <a:avLst/>
          </a:prstGeom>
          <a:solidFill>
            <a:srgbClr val="FFF59D">
              <a:alpha val="30000"/>
            </a:srgbClr>
          </a:solidFill>
          <a:ln w="50800">
            <a:solidFill>
              <a:srgbClr val="FFC107"/>
            </a:solidFill>
            <a:prstDash val="solid"/>
          </a:ln>
        </p:spPr>
      </p:sp>
      <p:sp>
        <p:nvSpPr>
          <p:cNvPr id="9" name="s29_8"/>
          <p:cNvSpPr/>
          <p:nvPr/>
        </p:nvSpPr>
        <p:spPr>
          <a:xfrm>
            <a:off x="1165034" y="3115432"/>
            <a:ext cx="1371600" cy="1371600"/>
          </a:xfrm>
          <a:prstGeom prst="ellipse">
            <a:avLst/>
          </a:prstGeom>
          <a:solidFill>
            <a:srgbClr val="FFF59D">
              <a:alpha val="30000"/>
            </a:srgbClr>
          </a:solidFill>
          <a:ln w="50800">
            <a:solidFill>
              <a:srgbClr val="FFC107"/>
            </a:solidFill>
            <a:prstDash val="solid"/>
          </a:ln>
        </p:spPr>
      </p:sp>
      <p:sp>
        <p:nvSpPr>
          <p:cNvPr id="10" name="s29_9"/>
          <p:cNvSpPr/>
          <p:nvPr/>
        </p:nvSpPr>
        <p:spPr>
          <a:xfrm>
            <a:off x="1876999" y="685525"/>
            <a:ext cx="914400" cy="914400"/>
          </a:xfrm>
          <a:prstGeom prst="ellipse">
            <a:avLst/>
          </a:prstGeom>
          <a:solidFill>
            <a:srgbClr val="FFF59D">
              <a:alpha val="30000"/>
            </a:srgbClr>
          </a:solidFill>
          <a:ln w="50800">
            <a:solidFill>
              <a:srgbClr val="FFC107"/>
            </a:solidFill>
            <a:prstDash val="solid"/>
          </a:ln>
        </p:spPr>
      </p:sp>
      <p:sp>
        <p:nvSpPr>
          <p:cNvPr id="11" name="s29_10"/>
          <p:cNvSpPr/>
          <p:nvPr/>
        </p:nvSpPr>
        <p:spPr>
          <a:xfrm>
            <a:off x="4736427" y="4318337"/>
            <a:ext cx="1554480" cy="1554480"/>
          </a:xfrm>
          <a:prstGeom prst="ellipse">
            <a:avLst/>
          </a:prstGeom>
          <a:solidFill>
            <a:srgbClr val="FFF59D">
              <a:alpha val="30000"/>
            </a:srgbClr>
          </a:solidFill>
          <a:ln w="50800">
            <a:solidFill>
              <a:srgbClr val="FFC107"/>
            </a:solidFill>
            <a:prstDash val="solid"/>
          </a:ln>
        </p:spPr>
      </p:sp>
      <p:pic>
        <p:nvPicPr>
          <p:cNvPr id="12" name="s29_11" descr="كرة الطاقة">    </p:cNvPr>
          <p:cNvPicPr>
            <a:picLocks noChangeAspect="1"/>
          </p:cNvPicPr>
          <p:nvPr/>
        </p:nvPicPr>
        <p:blipFill>
          <a:blip r:embed="rId4"/>
          <a:stretch>
            <a:fillRect/>
          </a:stretch>
        </p:blipFill>
        <p:spPr>
          <a:xfrm>
            <a:off x="283409" y="402391"/>
            <a:ext cx="685800" cy="685800"/>
          </a:xfrm>
          <a:prstGeom prst="rect">
            <a:avLst/>
          </a:prstGeom>
        </p:spPr>
      </p:pic>
      <p:pic>
        <p:nvPicPr>
          <p:cNvPr id="13" name="s29_12" descr="كرة الطاقة">    </p:cNvPr>
          <p:cNvPicPr>
            <a:picLocks noChangeAspect="1"/>
          </p:cNvPicPr>
          <p:nvPr/>
        </p:nvPicPr>
        <p:blipFill>
          <a:blip r:embed="rId5"/>
          <a:stretch>
            <a:fillRect/>
          </a:stretch>
        </p:blipFill>
        <p:spPr>
          <a:xfrm>
            <a:off x="717198" y="2318500"/>
            <a:ext cx="548640" cy="548640"/>
          </a:xfrm>
          <a:prstGeom prst="rect">
            <a:avLst/>
          </a:prstGeom>
        </p:spPr>
      </p:pic>
      <p:pic>
        <p:nvPicPr>
          <p:cNvPr id="14" name="s29_13" descr="كرة الطاقة">    </p:cNvPr>
          <p:cNvPicPr>
            <a:picLocks noChangeAspect="1"/>
          </p:cNvPicPr>
          <p:nvPr/>
        </p:nvPicPr>
        <p:blipFill>
          <a:blip r:embed="rId6"/>
          <a:stretch>
            <a:fillRect/>
          </a:stretch>
        </p:blipFill>
        <p:spPr>
          <a:xfrm>
            <a:off x="2960921" y="2145397"/>
            <a:ext cx="411480" cy="411480"/>
          </a:xfrm>
          <a:prstGeom prst="rect">
            <a:avLst/>
          </a:prstGeom>
        </p:spPr>
      </p:pic>
      <p:pic>
        <p:nvPicPr>
          <p:cNvPr id="15" name="s29_14" descr="كرة الطاقة">    </p:cNvPr>
          <p:cNvPicPr>
            <a:picLocks noChangeAspect="1"/>
          </p:cNvPicPr>
          <p:nvPr/>
        </p:nvPicPr>
        <p:blipFill>
          <a:blip r:embed="rId7"/>
          <a:stretch>
            <a:fillRect/>
          </a:stretch>
        </p:blipFill>
        <p:spPr>
          <a:xfrm>
            <a:off x="2960921" y="2145397"/>
            <a:ext cx="411480" cy="411480"/>
          </a:xfrm>
          <a:prstGeom prst="rect">
            <a:avLst/>
          </a:prstGeom>
        </p:spPr>
      </p:pic>
      <p:pic>
        <p:nvPicPr>
          <p:cNvPr id="16" name="s29_15" descr="كرة الطاقة">    </p:cNvPr>
          <p:cNvPicPr>
            <a:picLocks noChangeAspect="1"/>
          </p:cNvPicPr>
          <p:nvPr/>
        </p:nvPicPr>
        <p:blipFill>
          <a:blip r:embed="rId8"/>
          <a:stretch>
            <a:fillRect/>
          </a:stretch>
        </p:blipFill>
        <p:spPr>
          <a:xfrm>
            <a:off x="2960921" y="2145397"/>
            <a:ext cx="411480" cy="411480"/>
          </a:xfrm>
          <a:prstGeom prst="rect">
            <a:avLst/>
          </a:prstGeom>
        </p:spPr>
      </p:pic>
      <p:pic>
        <p:nvPicPr>
          <p:cNvPr id="17" name="s29_16" descr="كرة الطاقة">    </p:cNvPr>
          <p:cNvPicPr>
            <a:picLocks noChangeAspect="1"/>
          </p:cNvPicPr>
          <p:nvPr/>
        </p:nvPicPr>
        <p:blipFill>
          <a:blip r:embed="rId9"/>
          <a:stretch>
            <a:fillRect/>
          </a:stretch>
        </p:blipFill>
        <p:spPr>
          <a:xfrm>
            <a:off x="4425310" y="3072715"/>
            <a:ext cx="329184" cy="329184"/>
          </a:xfrm>
          <a:prstGeom prst="rect">
            <a:avLst/>
          </a:prstGeom>
        </p:spPr>
      </p:pic>
      <p:pic>
        <p:nvPicPr>
          <p:cNvPr id="18" name="s29_17" descr="كرة الطاقة">    </p:cNvPr>
          <p:cNvPicPr>
            <a:picLocks noChangeAspect="1"/>
          </p:cNvPicPr>
          <p:nvPr/>
        </p:nvPicPr>
        <p:blipFill>
          <a:blip r:embed="rId10"/>
          <a:stretch>
            <a:fillRect/>
          </a:stretch>
        </p:blipFill>
        <p:spPr>
          <a:xfrm>
            <a:off x="1686242" y="3636640"/>
            <a:ext cx="329184" cy="329184"/>
          </a:xfrm>
          <a:prstGeom prst="rect">
            <a:avLst/>
          </a:prstGeom>
        </p:spPr>
      </p:pic>
      <p:pic>
        <p:nvPicPr>
          <p:cNvPr id="19" name="s29_18" descr="كرة الطاقة">    </p:cNvPr>
          <p:cNvPicPr>
            <a:picLocks noChangeAspect="1"/>
          </p:cNvPicPr>
          <p:nvPr/>
        </p:nvPicPr>
        <p:blipFill>
          <a:blip r:embed="rId11"/>
          <a:stretch>
            <a:fillRect/>
          </a:stretch>
        </p:blipFill>
        <p:spPr>
          <a:xfrm>
            <a:off x="2169607" y="978133"/>
            <a:ext cx="329184" cy="329184"/>
          </a:xfrm>
          <a:prstGeom prst="rect">
            <a:avLst/>
          </a:prstGeom>
        </p:spPr>
      </p:pic>
      <p:sp>
        <p:nvSpPr>
          <p:cNvPr id="20" name="s29_19"/>
          <p:cNvSpPr txBox="1"/>
          <p:nvPr/>
        </p:nvSpPr>
        <p:spPr>
          <a:xfrm>
            <a:off x="7452360" y="1005840"/>
            <a:ext cx="429768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أقرأ الشكل: </a:t>
            </a:r>
            <a:r>
              <a:rPr lang="ar-SA" altLang="en-US" sz="1600" b="1" dirty="0">
                <a:solidFill>
                  <a:srgbClr val="34405E"/>
                </a:solidFill>
                <a:latin typeface="Tahoma" pitchFamily="34" charset="0"/>
                <a:ea typeface="Tahoma" pitchFamily="34" charset="-122"/>
                <a:cs typeface="Tahoma" pitchFamily="34" charset="-120"/>
              </a:rPr>
              <a:t>أيُّ مفترسٍ له أكبرُ عددٍ من الفرائس؟</a:t>
            </a:r>
            <a:endParaRPr lang="ar-SA" sz="1600" dirty="0"/>
          </a:p>
        </p:txBody>
      </p:sp>
      <p:sp>
        <p:nvSpPr>
          <p:cNvPr id="21" name="s29_20"/>
          <p:cNvSpPr txBox="1"/>
          <p:nvPr/>
        </p:nvSpPr>
        <p:spPr>
          <a:xfrm>
            <a:off x="7452360" y="2011680"/>
            <a:ext cx="4297680" cy="804672"/>
          </a:xfrm>
          <a:prstGeom prst="roundRect">
            <a:avLst>
              <a:gd name="adj" fmla="val 1590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١) تلتقط العوالق النباتية طاقة الشمس.</a:t>
            </a:r>
            <a:endParaRPr lang="ar-SA" sz="1450" dirty="0"/>
          </a:p>
        </p:txBody>
      </p:sp>
      <p:sp>
        <p:nvSpPr>
          <p:cNvPr id="22" name="s29_21"/>
          <p:cNvSpPr txBox="1"/>
          <p:nvPr/>
        </p:nvSpPr>
        <p:spPr>
          <a:xfrm>
            <a:off x="7452360" y="2926080"/>
            <a:ext cx="4297680" cy="804672"/>
          </a:xfrm>
          <a:prstGeom prst="roundRect">
            <a:avLst>
              <a:gd name="adj" fmla="val 1590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٢) تأكل سمكة السردين العوالق.</a:t>
            </a:r>
            <a:endParaRPr lang="ar-SA" sz="1450" dirty="0"/>
          </a:p>
        </p:txBody>
      </p:sp>
      <p:sp>
        <p:nvSpPr>
          <p:cNvPr id="23" name="s29_22"/>
          <p:cNvSpPr txBox="1"/>
          <p:nvPr/>
        </p:nvSpPr>
        <p:spPr>
          <a:xfrm>
            <a:off x="7452360" y="3840480"/>
            <a:ext cx="4297680" cy="804672"/>
          </a:xfrm>
          <a:prstGeom prst="roundRect">
            <a:avLst>
              <a:gd name="adj" fmla="val 1590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٣) تتفرّع الطاقة: التونة والدلفين والنورس تأكل السردين!</a:t>
            </a:r>
            <a:endParaRPr lang="ar-SA" sz="1450" dirty="0"/>
          </a:p>
        </p:txBody>
      </p:sp>
      <p:sp>
        <p:nvSpPr>
          <p:cNvPr id="24" name="s29_23"/>
          <p:cNvSpPr txBox="1"/>
          <p:nvPr/>
        </p:nvSpPr>
        <p:spPr>
          <a:xfrm>
            <a:off x="7452360" y="4754880"/>
            <a:ext cx="4297680" cy="804672"/>
          </a:xfrm>
          <a:prstGeom prst="roundRect">
            <a:avLst>
              <a:gd name="adj" fmla="val 1590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٤) ثلاثة أسهم تصل إلى الحوت القاتل؛ فهو صاحب أكبر عدد من الفرائس ✔</a:t>
            </a:r>
            <a:endParaRPr lang="ar-SA" sz="1450" dirty="0"/>
          </a:p>
        </p:txBody>
      </p:sp>
      <p:sp>
        <p:nvSpPr>
          <p:cNvPr id="25" name="s29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29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3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3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3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3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3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300" fill="hold"/>
                                        <p:tgtEl>
                                          <p:spTgt spid="12"/>
                                        </p:tgtEl>
                                        <p:attrNameLst>
                                          <p:attrName>ppt_w</p:attrName>
                                        </p:attrNameLst>
                                      </p:cBhvr>
                                      <p:tavLst>
                                        <p:tav tm="0">
                                          <p:val>
                                            <p:strVal val="0"/>
                                          </p:val>
                                        </p:tav>
                                        <p:tav tm="100000">
                                          <p:val>
                                            <p:strVal val="#ppt_w"/>
                                          </p:val>
                                        </p:tav>
                                      </p:tavLst>
                                    </p:anim>
                                    <p:anim calcmode="lin" valueType="num">
                                      <p:cBhvr additive="base">
                                        <p:cTn id="28" dur="300" fill="hold"/>
                                        <p:tgtEl>
                                          <p:spTgt spid="12"/>
                                        </p:tgtEl>
                                        <p:attrNameLst>
                                          <p:attrName>ppt_h</p:attrName>
                                        </p:attrNameLst>
                                      </p:cBhvr>
                                      <p:tavLst>
                                        <p:tav tm="0">
                                          <p:val>
                                            <p:strVal val="0"/>
                                          </p:val>
                                        </p:tav>
                                        <p:tav tm="100000">
                                          <p:val>
                                            <p:strVal val="#ppt_h"/>
                                          </p:val>
                                        </p:tav>
                                      </p:tavLst>
                                    </p:anim>
                                    <p:animEffect transition="in" filter="fade">
                                      <p:cBhvr>
                                        <p:cTn id="29" dur="300"/>
                                        <p:tgtEl>
                                          <p:spTgt spid="12"/>
                                        </p:tgtEl>
                                      </p:cBhvr>
                                    </p:animEffect>
                                  </p:childTnLst>
                                </p:cTn>
                              </p:par>
                              <p:par>
                                <p:cTn id="30" presetID="0" presetClass="path" presetSubtype="0" fill="hold" grpId="1" nodeType="withEffect">
                                  <p:stCondLst>
                                    <p:cond delay="300"/>
                                  </p:stCondLst>
                                  <p:childTnLst>
                                    <p:animMotion origin="layout" path="M 0 0 L 0.0300 0.2694 E" pathEditMode="relative" ptsTypes="">
                                      <p:cBhvr>
                                        <p:cTn id="31" dur="1500" fill="hold" accel="40000" decel="40000"/>
                                        <p:tgtEl>
                                          <p:spTgt spid="12"/>
                                        </p:tgtEl>
                                        <p:attrNameLst>
                                          <p:attrName>ppt_x</p:attrName>
                                          <p:attrName>ppt_y</p:attrName>
                                        </p:attrNameLst>
                                      </p:cBhvr>
                                      <p:rCtr x="0" y="0"/>
                                    </p:animMotion>
                                  </p:childTnLst>
                                </p:cTn>
                              </p:par>
                              <p:par>
                                <p:cTn id="32" presetID="10" presetClass="exit" presetSubtype="0" fill="hold" grpId="2" nodeType="withEffect">
                                  <p:stCondLst>
                                    <p:cond delay="1900"/>
                                  </p:stCondLst>
                                  <p:childTnLst>
                                    <p:animEffect transition="out" filter="fade">
                                      <p:cBhvr>
                                        <p:cTn id="33" dur="300"/>
                                        <p:tgtEl>
                                          <p:spTgt spid="12"/>
                                        </p:tgtEl>
                                      </p:cBhvr>
                                    </p:animEffect>
                                    <p:set>
                                      <p:cBhvr>
                                        <p:cTn id="34" dur="1" fill="hold">
                                          <p:stCondLst>
                                            <p:cond delay="299"/>
                                          </p:stCondLst>
                                        </p:cTn>
                                        <p:tgtEl>
                                          <p:spTgt spid="12"/>
                                        </p:tgtEl>
                                        <p:attrNameLst>
                                          <p:attrName>style.visibility</p:attrName>
                                        </p:attrNameLst>
                                      </p:cBhvr>
                                      <p:to>
                                        <p:strVal val="hidden"/>
                                      </p:to>
                                    </p:set>
                                  </p:childTnLst>
                                </p:cTn>
                              </p:par>
                              <p:par>
                                <p:cTn id="35" presetID="6" presetClass="emph" presetSubtype="0" fill="hold" grpId="1" nodeType="withEffect">
                                  <p:stCondLst>
                                    <p:cond delay="1800"/>
                                  </p:stCondLst>
                                  <p:childTnLst>
                                    <p:animScale>
                                      <p:cBhvr>
                                        <p:cTn id="36" dur="400" autoRev="1" fill="hold"/>
                                        <p:tgtEl>
                                          <p:spTgt spid="6"/>
                                        </p:tgtEl>
                                      </p:cBhvr>
                                      <p:by x="118000" y="118000"/>
                                    </p:animScale>
                                  </p:childTnLst>
                                </p:cTn>
                              </p:par>
                              <p:par>
                                <p:cTn id="37" presetID="10" presetClass="entr" presetSubtype="0" fill="hold" grpId="0" nodeType="withEffect">
                                  <p:stCondLst>
                                    <p:cond delay="18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300" fill="hold"/>
                                        <p:tgtEl>
                                          <p:spTgt spid="13"/>
                                        </p:tgtEl>
                                        <p:attrNameLst>
                                          <p:attrName>ppt_w</p:attrName>
                                        </p:attrNameLst>
                                      </p:cBhvr>
                                      <p:tavLst>
                                        <p:tav tm="0">
                                          <p:val>
                                            <p:strVal val="0"/>
                                          </p:val>
                                        </p:tav>
                                        <p:tav tm="100000">
                                          <p:val>
                                            <p:strVal val="#ppt_w"/>
                                          </p:val>
                                        </p:tav>
                                      </p:tavLst>
                                    </p:anim>
                                    <p:anim calcmode="lin" valueType="num">
                                      <p:cBhvr additive="base">
                                        <p:cTn id="45" dur="300" fill="hold"/>
                                        <p:tgtEl>
                                          <p:spTgt spid="13"/>
                                        </p:tgtEl>
                                        <p:attrNameLst>
                                          <p:attrName>ppt_h</p:attrName>
                                        </p:attrNameLst>
                                      </p:cBhvr>
                                      <p:tavLst>
                                        <p:tav tm="0">
                                          <p:val>
                                            <p:strVal val="0"/>
                                          </p:val>
                                        </p:tav>
                                        <p:tav tm="100000">
                                          <p:val>
                                            <p:strVal val="#ppt_h"/>
                                          </p:val>
                                        </p:tav>
                                      </p:tavLst>
                                    </p:anim>
                                    <p:animEffect transition="in" filter="fade">
                                      <p:cBhvr>
                                        <p:cTn id="46" dur="300"/>
                                        <p:tgtEl>
                                          <p:spTgt spid="13"/>
                                        </p:tgtEl>
                                      </p:cBhvr>
                                    </p:animEffect>
                                  </p:childTnLst>
                                </p:cTn>
                              </p:par>
                              <p:par>
                                <p:cTn id="47" presetID="0" presetClass="path" presetSubtype="0" fill="hold" grpId="1" nodeType="withEffect">
                                  <p:stCondLst>
                                    <p:cond delay="300"/>
                                  </p:stCondLst>
                                  <p:childTnLst>
                                    <p:animMotion origin="layout" path="M 0 0 L 0.1784 -0.0352 E" pathEditMode="relative" ptsTypes="">
                                      <p:cBhvr>
                                        <p:cTn id="48" dur="1500" fill="hold" accel="40000" decel="40000"/>
                                        <p:tgtEl>
                                          <p:spTgt spid="13"/>
                                        </p:tgtEl>
                                        <p:attrNameLst>
                                          <p:attrName>ppt_x</p:attrName>
                                          <p:attrName>ppt_y</p:attrName>
                                        </p:attrNameLst>
                                      </p:cBhvr>
                                      <p:rCtr x="0" y="0"/>
                                    </p:animMotion>
                                  </p:childTnLst>
                                </p:cTn>
                              </p:par>
                              <p:par>
                                <p:cTn id="49" presetID="10" presetClass="exit" presetSubtype="0" fill="hold" grpId="2" nodeType="withEffect">
                                  <p:stCondLst>
                                    <p:cond delay="1900"/>
                                  </p:stCondLst>
                                  <p:childTnLst>
                                    <p:animEffect transition="out" filter="fade">
                                      <p:cBhvr>
                                        <p:cTn id="50" dur="300"/>
                                        <p:tgtEl>
                                          <p:spTgt spid="13"/>
                                        </p:tgtEl>
                                      </p:cBhvr>
                                    </p:animEffect>
                                    <p:set>
                                      <p:cBhvr>
                                        <p:cTn id="51" dur="1" fill="hold">
                                          <p:stCondLst>
                                            <p:cond delay="299"/>
                                          </p:stCondLst>
                                        </p:cTn>
                                        <p:tgtEl>
                                          <p:spTgt spid="13"/>
                                        </p:tgtEl>
                                        <p:attrNameLst>
                                          <p:attrName>style.visibility</p:attrName>
                                        </p:attrNameLst>
                                      </p:cBhvr>
                                      <p:to>
                                        <p:strVal val="hidden"/>
                                      </p:to>
                                    </p:set>
                                  </p:childTnLst>
                                </p:cTn>
                              </p:par>
                              <p:par>
                                <p:cTn id="52" presetID="6" presetClass="emph" presetSubtype="0" fill="hold" grpId="1" nodeType="withEffect">
                                  <p:stCondLst>
                                    <p:cond delay="1800"/>
                                  </p:stCondLst>
                                  <p:childTnLst>
                                    <p:animScale>
                                      <p:cBhvr>
                                        <p:cTn id="53" dur="400" autoRev="1" fill="hold"/>
                                        <p:tgtEl>
                                          <p:spTgt spid="7"/>
                                        </p:tgtEl>
                                      </p:cBhvr>
                                      <p:by x="118000" y="118000"/>
                                    </p:animScale>
                                  </p:childTnLst>
                                </p:cTn>
                              </p:par>
                              <p:par>
                                <p:cTn id="54" presetID="10" presetClass="entr" presetSubtype="0" fill="hold" grpId="0" nodeType="withEffect">
                                  <p:stCondLst>
                                    <p:cond delay="18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300" fill="hold"/>
                                        <p:tgtEl>
                                          <p:spTgt spid="14"/>
                                        </p:tgtEl>
                                        <p:attrNameLst>
                                          <p:attrName>ppt_w</p:attrName>
                                        </p:attrNameLst>
                                      </p:cBhvr>
                                      <p:tavLst>
                                        <p:tav tm="0">
                                          <p:val>
                                            <p:strVal val="0"/>
                                          </p:val>
                                        </p:tav>
                                        <p:tav tm="100000">
                                          <p:val>
                                            <p:strVal val="#ppt_w"/>
                                          </p:val>
                                        </p:tav>
                                      </p:tavLst>
                                    </p:anim>
                                    <p:anim calcmode="lin" valueType="num">
                                      <p:cBhvr additive="base">
                                        <p:cTn id="62" dur="300" fill="hold"/>
                                        <p:tgtEl>
                                          <p:spTgt spid="14"/>
                                        </p:tgtEl>
                                        <p:attrNameLst>
                                          <p:attrName>ppt_h</p:attrName>
                                        </p:attrNameLst>
                                      </p:cBhvr>
                                      <p:tavLst>
                                        <p:tav tm="0">
                                          <p:val>
                                            <p:strVal val="0"/>
                                          </p:val>
                                        </p:tav>
                                        <p:tav tm="100000">
                                          <p:val>
                                            <p:strVal val="#ppt_h"/>
                                          </p:val>
                                        </p:tav>
                                      </p:tavLst>
                                    </p:anim>
                                    <p:animEffect transition="in" filter="fade">
                                      <p:cBhvr>
                                        <p:cTn id="63" dur="300"/>
                                        <p:tgtEl>
                                          <p:spTgt spid="14"/>
                                        </p:tgtEl>
                                      </p:cBhvr>
                                    </p:animEffect>
                                  </p:childTnLst>
                                </p:cTn>
                              </p:par>
                              <p:par>
                                <p:cTn id="64" presetID="0" presetClass="path" presetSubtype="0" fill="hold" grpId="1" nodeType="withEffect">
                                  <p:stCondLst>
                                    <p:cond delay="300"/>
                                  </p:stCondLst>
                                  <p:childTnLst>
                                    <p:animMotion origin="layout" path="M 0 0 L 0.1167 0.1292 E" pathEditMode="relative" ptsTypes="">
                                      <p:cBhvr>
                                        <p:cTn id="65" dur="1500" fill="hold" accel="40000" decel="40000"/>
                                        <p:tgtEl>
                                          <p:spTgt spid="14"/>
                                        </p:tgtEl>
                                        <p:attrNameLst>
                                          <p:attrName>ppt_x</p:attrName>
                                          <p:attrName>ppt_y</p:attrName>
                                        </p:attrNameLst>
                                      </p:cBhvr>
                                      <p:rCtr x="0" y="0"/>
                                    </p:animMotion>
                                  </p:childTnLst>
                                </p:cTn>
                              </p:par>
                              <p:par>
                                <p:cTn id="66" presetID="10" presetClass="exit" presetSubtype="0" fill="hold" grpId="2" nodeType="withEffect">
                                  <p:stCondLst>
                                    <p:cond delay="1900"/>
                                  </p:stCondLst>
                                  <p:childTnLst>
                                    <p:animEffect transition="out" filter="fade">
                                      <p:cBhvr>
                                        <p:cTn id="67" dur="300"/>
                                        <p:tgtEl>
                                          <p:spTgt spid="14"/>
                                        </p:tgtEl>
                                      </p:cBhvr>
                                    </p:animEffect>
                                    <p:set>
                                      <p:cBhvr>
                                        <p:cTn id="68" dur="1" fill="hold">
                                          <p:stCondLst>
                                            <p:cond delay="299"/>
                                          </p:stCondLst>
                                        </p:cTn>
                                        <p:tgtEl>
                                          <p:spTgt spid="14"/>
                                        </p:tgtEl>
                                        <p:attrNameLst>
                                          <p:attrName>style.visibility</p:attrName>
                                        </p:attrNameLst>
                                      </p:cBhvr>
                                      <p:to>
                                        <p:strVal val="hidden"/>
                                      </p:to>
                                    </p:set>
                                  </p:childTnLst>
                                </p:cTn>
                              </p:par>
                              <p:par>
                                <p:cTn id="69" presetID="53" presetClass="entr" presetSubtype="16"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 calcmode="lin" valueType="num">
                                      <p:cBhvr additive="base">
                                        <p:cTn id="71" dur="300" fill="hold"/>
                                        <p:tgtEl>
                                          <p:spTgt spid="15"/>
                                        </p:tgtEl>
                                        <p:attrNameLst>
                                          <p:attrName>ppt_w</p:attrName>
                                        </p:attrNameLst>
                                      </p:cBhvr>
                                      <p:tavLst>
                                        <p:tav tm="0">
                                          <p:val>
                                            <p:strVal val="0"/>
                                          </p:val>
                                        </p:tav>
                                        <p:tav tm="100000">
                                          <p:val>
                                            <p:strVal val="#ppt_w"/>
                                          </p:val>
                                        </p:tav>
                                      </p:tavLst>
                                    </p:anim>
                                    <p:anim calcmode="lin" valueType="num">
                                      <p:cBhvr additive="base">
                                        <p:cTn id="72" dur="300" fill="hold"/>
                                        <p:tgtEl>
                                          <p:spTgt spid="15"/>
                                        </p:tgtEl>
                                        <p:attrNameLst>
                                          <p:attrName>ppt_h</p:attrName>
                                        </p:attrNameLst>
                                      </p:cBhvr>
                                      <p:tavLst>
                                        <p:tav tm="0">
                                          <p:val>
                                            <p:strVal val="0"/>
                                          </p:val>
                                        </p:tav>
                                        <p:tav tm="100000">
                                          <p:val>
                                            <p:strVal val="#ppt_h"/>
                                          </p:val>
                                        </p:tav>
                                      </p:tavLst>
                                    </p:anim>
                                    <p:animEffect transition="in" filter="fade">
                                      <p:cBhvr>
                                        <p:cTn id="73" dur="300"/>
                                        <p:tgtEl>
                                          <p:spTgt spid="15"/>
                                        </p:tgtEl>
                                      </p:cBhvr>
                                    </p:animEffect>
                                  </p:childTnLst>
                                </p:cTn>
                              </p:par>
                              <p:par>
                                <p:cTn id="74" presetID="0" presetClass="path" presetSubtype="0" fill="hold" grpId="1" nodeType="withEffect">
                                  <p:stCondLst>
                                    <p:cond delay="300"/>
                                  </p:stCondLst>
                                  <p:childTnLst>
                                    <p:animMotion origin="layout" path="M 0 0 L -0.1079 0.2114 E" pathEditMode="relative" ptsTypes="">
                                      <p:cBhvr>
                                        <p:cTn id="75" dur="1500" fill="hold" accel="40000" decel="40000"/>
                                        <p:tgtEl>
                                          <p:spTgt spid="15"/>
                                        </p:tgtEl>
                                        <p:attrNameLst>
                                          <p:attrName>ppt_x</p:attrName>
                                          <p:attrName>ppt_y</p:attrName>
                                        </p:attrNameLst>
                                      </p:cBhvr>
                                      <p:rCtr x="0" y="0"/>
                                    </p:animMotion>
                                  </p:childTnLst>
                                </p:cTn>
                              </p:par>
                              <p:par>
                                <p:cTn id="76" presetID="10" presetClass="exit" presetSubtype="0" fill="hold" grpId="2" nodeType="withEffect">
                                  <p:stCondLst>
                                    <p:cond delay="1900"/>
                                  </p:stCondLst>
                                  <p:childTnLst>
                                    <p:animEffect transition="out" filter="fade">
                                      <p:cBhvr>
                                        <p:cTn id="77" dur="300"/>
                                        <p:tgtEl>
                                          <p:spTgt spid="15"/>
                                        </p:tgtEl>
                                      </p:cBhvr>
                                    </p:animEffect>
                                    <p:set>
                                      <p:cBhvr>
                                        <p:cTn id="78" dur="1" fill="hold">
                                          <p:stCondLst>
                                            <p:cond delay="299"/>
                                          </p:stCondLst>
                                        </p:cTn>
                                        <p:tgtEl>
                                          <p:spTgt spid="15"/>
                                        </p:tgtEl>
                                        <p:attrNameLst>
                                          <p:attrName>style.visibility</p:attrName>
                                        </p:attrNameLst>
                                      </p:cBhvr>
                                      <p:to>
                                        <p:strVal val="hidden"/>
                                      </p:to>
                                    </p:set>
                                  </p:childTnLst>
                                </p:cTn>
                              </p:par>
                              <p:par>
                                <p:cTn id="79" presetID="53" presetClass="entr" presetSubtype="16"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 calcmode="lin" valueType="num">
                                      <p:cBhvr additive="base">
                                        <p:cTn id="81" dur="300" fill="hold"/>
                                        <p:tgtEl>
                                          <p:spTgt spid="16"/>
                                        </p:tgtEl>
                                        <p:attrNameLst>
                                          <p:attrName>ppt_w</p:attrName>
                                        </p:attrNameLst>
                                      </p:cBhvr>
                                      <p:tavLst>
                                        <p:tav tm="0">
                                          <p:val>
                                            <p:strVal val="0"/>
                                          </p:val>
                                        </p:tav>
                                        <p:tav tm="100000">
                                          <p:val>
                                            <p:strVal val="#ppt_w"/>
                                          </p:val>
                                        </p:tav>
                                      </p:tavLst>
                                    </p:anim>
                                    <p:anim calcmode="lin" valueType="num">
                                      <p:cBhvr additive="base">
                                        <p:cTn id="82" dur="300" fill="hold"/>
                                        <p:tgtEl>
                                          <p:spTgt spid="16"/>
                                        </p:tgtEl>
                                        <p:attrNameLst>
                                          <p:attrName>ppt_h</p:attrName>
                                        </p:attrNameLst>
                                      </p:cBhvr>
                                      <p:tavLst>
                                        <p:tav tm="0">
                                          <p:val>
                                            <p:strVal val="0"/>
                                          </p:val>
                                        </p:tav>
                                        <p:tav tm="100000">
                                          <p:val>
                                            <p:strVal val="#ppt_h"/>
                                          </p:val>
                                        </p:tav>
                                      </p:tavLst>
                                    </p:anim>
                                    <p:animEffect transition="in" filter="fade">
                                      <p:cBhvr>
                                        <p:cTn id="83" dur="300"/>
                                        <p:tgtEl>
                                          <p:spTgt spid="16"/>
                                        </p:tgtEl>
                                      </p:cBhvr>
                                    </p:animEffect>
                                  </p:childTnLst>
                                </p:cTn>
                              </p:par>
                              <p:par>
                                <p:cTn id="84" presetID="0" presetClass="path" presetSubtype="0" fill="hold" grpId="1" nodeType="withEffect">
                                  <p:stCondLst>
                                    <p:cond delay="300"/>
                                  </p:stCondLst>
                                  <p:childTnLst>
                                    <p:animMotion origin="layout" path="M 0 0 L -0.0683 -0.1762 E" pathEditMode="relative" ptsTypes="">
                                      <p:cBhvr>
                                        <p:cTn id="85" dur="1500" fill="hold" accel="40000" decel="40000"/>
                                        <p:tgtEl>
                                          <p:spTgt spid="16"/>
                                        </p:tgtEl>
                                        <p:attrNameLst>
                                          <p:attrName>ppt_x</p:attrName>
                                          <p:attrName>ppt_y</p:attrName>
                                        </p:attrNameLst>
                                      </p:cBhvr>
                                      <p:rCtr x="0" y="0"/>
                                    </p:animMotion>
                                  </p:childTnLst>
                                </p:cTn>
                              </p:par>
                              <p:par>
                                <p:cTn id="86" presetID="10" presetClass="exit" presetSubtype="0" fill="hold" grpId="2" nodeType="withEffect">
                                  <p:stCondLst>
                                    <p:cond delay="1900"/>
                                  </p:stCondLst>
                                  <p:childTnLst>
                                    <p:animEffect transition="out" filter="fade">
                                      <p:cBhvr>
                                        <p:cTn id="87" dur="300"/>
                                        <p:tgtEl>
                                          <p:spTgt spid="16"/>
                                        </p:tgtEl>
                                      </p:cBhvr>
                                    </p:animEffect>
                                    <p:set>
                                      <p:cBhvr>
                                        <p:cTn id="88" dur="1" fill="hold">
                                          <p:stCondLst>
                                            <p:cond delay="299"/>
                                          </p:stCondLst>
                                        </p:cTn>
                                        <p:tgtEl>
                                          <p:spTgt spid="16"/>
                                        </p:tgtEl>
                                        <p:attrNameLst>
                                          <p:attrName>style.visibility</p:attrName>
                                        </p:attrNameLst>
                                      </p:cBhvr>
                                      <p:to>
                                        <p:strVal val="hidden"/>
                                      </p:to>
                                    </p:set>
                                  </p:childTnLst>
                                </p:cTn>
                              </p:par>
                              <p:par>
                                <p:cTn id="89" presetID="6" presetClass="emph" presetSubtype="0" fill="hold" grpId="1" nodeType="withEffect">
                                  <p:stCondLst>
                                    <p:cond delay="1800"/>
                                  </p:stCondLst>
                                  <p:childTnLst>
                                    <p:animScale>
                                      <p:cBhvr>
                                        <p:cTn id="90" dur="400" autoRev="1" fill="hold"/>
                                        <p:tgtEl>
                                          <p:spTgt spid="8"/>
                                        </p:tgtEl>
                                      </p:cBhvr>
                                      <p:by x="118000" y="118000"/>
                                    </p:animScale>
                                  </p:childTnLst>
                                </p:cTn>
                              </p:par>
                              <p:par>
                                <p:cTn id="91" presetID="6" presetClass="emph" presetSubtype="0" fill="hold" grpId="1" nodeType="withEffect">
                                  <p:stCondLst>
                                    <p:cond delay="1800"/>
                                  </p:stCondLst>
                                  <p:childTnLst>
                                    <p:animScale>
                                      <p:cBhvr>
                                        <p:cTn id="92" dur="400" autoRev="1" fill="hold"/>
                                        <p:tgtEl>
                                          <p:spTgt spid="9"/>
                                        </p:tgtEl>
                                      </p:cBhvr>
                                      <p:by x="118000" y="118000"/>
                                    </p:animScale>
                                  </p:childTnLst>
                                </p:cTn>
                              </p:par>
                              <p:par>
                                <p:cTn id="93" presetID="6" presetClass="emph" presetSubtype="0" fill="hold" grpId="1" nodeType="withEffect">
                                  <p:stCondLst>
                                    <p:cond delay="1800"/>
                                  </p:stCondLst>
                                  <p:childTnLst>
                                    <p:animScale>
                                      <p:cBhvr>
                                        <p:cTn id="94" dur="400" autoRev="1" fill="hold"/>
                                        <p:tgtEl>
                                          <p:spTgt spid="10"/>
                                        </p:tgtEl>
                                      </p:cBhvr>
                                      <p:by x="118000" y="118000"/>
                                    </p:animScale>
                                  </p:childTnLst>
                                </p:cTn>
                              </p:par>
                              <p:par>
                                <p:cTn id="95" presetID="10" presetClass="entr" presetSubtype="0" fill="hold" grpId="0" nodeType="withEffect">
                                  <p:stCondLst>
                                    <p:cond delay="180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400"/>
                                        <p:tgtEl>
                                          <p:spTgt spid="23"/>
                                        </p:tgtEl>
                                      </p:cBhvr>
                                    </p:animEffect>
                                  </p:childTnLst>
                                </p:cTn>
                              </p:par>
                            </p:childTnLst>
                          </p:cTn>
                        </p:par>
                      </p:childTnLst>
                    </p:cTn>
                  </p:par>
                  <p:par>
                    <p:cTn id="98" fill="hold">
                      <p:stCondLst>
                        <p:cond delay="indefinite"/>
                      </p:stCondLst>
                      <p:childTnLst>
                        <p:par>
                          <p:cTn id="99" fill="hold">
                            <p:stCondLst>
                              <p:cond delay="0"/>
                            </p:stCondLst>
                            <p:childTnLst>
                              <p:par>
                                <p:cTn id="100" presetID="53" presetClass="entr" presetSubtype="16" fill="hold" grpId="0" nodeType="clickEffect">
                                  <p:stCondLst>
                                    <p:cond delay="0"/>
                                  </p:stCondLst>
                                  <p:childTnLst>
                                    <p:set>
                                      <p:cBhvr>
                                        <p:cTn id="101" dur="1" fill="hold">
                                          <p:stCondLst>
                                            <p:cond delay="0"/>
                                          </p:stCondLst>
                                        </p:cTn>
                                        <p:tgtEl>
                                          <p:spTgt spid="17"/>
                                        </p:tgtEl>
                                        <p:attrNameLst>
                                          <p:attrName>style.visibility</p:attrName>
                                        </p:attrNameLst>
                                      </p:cBhvr>
                                      <p:to>
                                        <p:strVal val="visible"/>
                                      </p:to>
                                    </p:set>
                                    <p:anim calcmode="lin" valueType="num">
                                      <p:cBhvr additive="base">
                                        <p:cTn id="102" dur="300" fill="hold"/>
                                        <p:tgtEl>
                                          <p:spTgt spid="17"/>
                                        </p:tgtEl>
                                        <p:attrNameLst>
                                          <p:attrName>ppt_w</p:attrName>
                                        </p:attrNameLst>
                                      </p:cBhvr>
                                      <p:tavLst>
                                        <p:tav tm="0">
                                          <p:val>
                                            <p:strVal val="0"/>
                                          </p:val>
                                        </p:tav>
                                        <p:tav tm="100000">
                                          <p:val>
                                            <p:strVal val="#ppt_w"/>
                                          </p:val>
                                        </p:tav>
                                      </p:tavLst>
                                    </p:anim>
                                    <p:anim calcmode="lin" valueType="num">
                                      <p:cBhvr additive="base">
                                        <p:cTn id="103" dur="300" fill="hold"/>
                                        <p:tgtEl>
                                          <p:spTgt spid="17"/>
                                        </p:tgtEl>
                                        <p:attrNameLst>
                                          <p:attrName>ppt_h</p:attrName>
                                        </p:attrNameLst>
                                      </p:cBhvr>
                                      <p:tavLst>
                                        <p:tav tm="0">
                                          <p:val>
                                            <p:strVal val="0"/>
                                          </p:val>
                                        </p:tav>
                                        <p:tav tm="100000">
                                          <p:val>
                                            <p:strVal val="#ppt_h"/>
                                          </p:val>
                                        </p:tav>
                                      </p:tavLst>
                                    </p:anim>
                                    <p:animEffect transition="in" filter="fade">
                                      <p:cBhvr>
                                        <p:cTn id="104" dur="300"/>
                                        <p:tgtEl>
                                          <p:spTgt spid="17"/>
                                        </p:tgtEl>
                                      </p:cBhvr>
                                    </p:animEffect>
                                  </p:childTnLst>
                                </p:cTn>
                              </p:par>
                              <p:par>
                                <p:cTn id="105" presetID="0" presetClass="path" presetSubtype="0" fill="hold" grpId="1" nodeType="withEffect">
                                  <p:stCondLst>
                                    <p:cond delay="300"/>
                                  </p:stCondLst>
                                  <p:childTnLst>
                                    <p:animMotion origin="layout" path="M 0 0 L 0.0758 0.2710 E" pathEditMode="relative" ptsTypes="">
                                      <p:cBhvr>
                                        <p:cTn id="106" dur="1500" fill="hold" accel="40000" decel="40000"/>
                                        <p:tgtEl>
                                          <p:spTgt spid="17"/>
                                        </p:tgtEl>
                                        <p:attrNameLst>
                                          <p:attrName>ppt_x</p:attrName>
                                          <p:attrName>ppt_y</p:attrName>
                                        </p:attrNameLst>
                                      </p:cBhvr>
                                      <p:rCtr x="0" y="0"/>
                                    </p:animMotion>
                                  </p:childTnLst>
                                </p:cTn>
                              </p:par>
                              <p:par>
                                <p:cTn id="107" presetID="10" presetClass="exit" presetSubtype="0" fill="hold" grpId="2" nodeType="withEffect">
                                  <p:stCondLst>
                                    <p:cond delay="1900"/>
                                  </p:stCondLst>
                                  <p:childTnLst>
                                    <p:animEffect transition="out" filter="fade">
                                      <p:cBhvr>
                                        <p:cTn id="108" dur="300"/>
                                        <p:tgtEl>
                                          <p:spTgt spid="17"/>
                                        </p:tgtEl>
                                      </p:cBhvr>
                                    </p:animEffect>
                                    <p:set>
                                      <p:cBhvr>
                                        <p:cTn id="109" dur="1" fill="hold">
                                          <p:stCondLst>
                                            <p:cond delay="299"/>
                                          </p:stCondLst>
                                        </p:cTn>
                                        <p:tgtEl>
                                          <p:spTgt spid="17"/>
                                        </p:tgtEl>
                                        <p:attrNameLst>
                                          <p:attrName>style.visibility</p:attrName>
                                        </p:attrNameLst>
                                      </p:cBhvr>
                                      <p:to>
                                        <p:strVal val="hidden"/>
                                      </p:to>
                                    </p:set>
                                  </p:childTnLst>
                                </p:cTn>
                              </p:par>
                              <p:par>
                                <p:cTn id="110" presetID="53" presetClass="entr" presetSubtype="16" fill="hold" grpId="0" nodeType="withEffect">
                                  <p:stCondLst>
                                    <p:cond delay="0"/>
                                  </p:stCondLst>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300" fill="hold"/>
                                        <p:tgtEl>
                                          <p:spTgt spid="18"/>
                                        </p:tgtEl>
                                        <p:attrNameLst>
                                          <p:attrName>ppt_w</p:attrName>
                                        </p:attrNameLst>
                                      </p:cBhvr>
                                      <p:tavLst>
                                        <p:tav tm="0">
                                          <p:val>
                                            <p:strVal val="0"/>
                                          </p:val>
                                        </p:tav>
                                        <p:tav tm="100000">
                                          <p:val>
                                            <p:strVal val="#ppt_w"/>
                                          </p:val>
                                        </p:tav>
                                      </p:tavLst>
                                    </p:anim>
                                    <p:anim calcmode="lin" valueType="num">
                                      <p:cBhvr additive="base">
                                        <p:cTn id="113" dur="300" fill="hold"/>
                                        <p:tgtEl>
                                          <p:spTgt spid="18"/>
                                        </p:tgtEl>
                                        <p:attrNameLst>
                                          <p:attrName>ppt_h</p:attrName>
                                        </p:attrNameLst>
                                      </p:cBhvr>
                                      <p:tavLst>
                                        <p:tav tm="0">
                                          <p:val>
                                            <p:strVal val="0"/>
                                          </p:val>
                                        </p:tav>
                                        <p:tav tm="100000">
                                          <p:val>
                                            <p:strVal val="#ppt_h"/>
                                          </p:val>
                                        </p:tav>
                                      </p:tavLst>
                                    </p:anim>
                                    <p:animEffect transition="in" filter="fade">
                                      <p:cBhvr>
                                        <p:cTn id="114" dur="300"/>
                                        <p:tgtEl>
                                          <p:spTgt spid="18"/>
                                        </p:tgtEl>
                                      </p:cBhvr>
                                    </p:animEffect>
                                  </p:childTnLst>
                                </p:cTn>
                              </p:par>
                              <p:par>
                                <p:cTn id="115" presetID="0" presetClass="path" presetSubtype="0" fill="hold" grpId="1" nodeType="withEffect">
                                  <p:stCondLst>
                                    <p:cond delay="300"/>
                                  </p:stCondLst>
                                  <p:childTnLst>
                                    <p:animMotion origin="layout" path="M 0 0 L 0.3004 0.1887 E" pathEditMode="relative" ptsTypes="">
                                      <p:cBhvr>
                                        <p:cTn id="116" dur="1500" fill="hold" accel="40000" decel="40000"/>
                                        <p:tgtEl>
                                          <p:spTgt spid="18"/>
                                        </p:tgtEl>
                                        <p:attrNameLst>
                                          <p:attrName>ppt_x</p:attrName>
                                          <p:attrName>ppt_y</p:attrName>
                                        </p:attrNameLst>
                                      </p:cBhvr>
                                      <p:rCtr x="0" y="0"/>
                                    </p:animMotion>
                                  </p:childTnLst>
                                </p:cTn>
                              </p:par>
                              <p:par>
                                <p:cTn id="117" presetID="10" presetClass="exit" presetSubtype="0" fill="hold" grpId="2" nodeType="withEffect">
                                  <p:stCondLst>
                                    <p:cond delay="1900"/>
                                  </p:stCondLst>
                                  <p:childTnLst>
                                    <p:animEffect transition="out" filter="fade">
                                      <p:cBhvr>
                                        <p:cTn id="118" dur="300"/>
                                        <p:tgtEl>
                                          <p:spTgt spid="18"/>
                                        </p:tgtEl>
                                      </p:cBhvr>
                                    </p:animEffect>
                                    <p:set>
                                      <p:cBhvr>
                                        <p:cTn id="119" dur="1" fill="hold">
                                          <p:stCondLst>
                                            <p:cond delay="299"/>
                                          </p:stCondLst>
                                        </p:cTn>
                                        <p:tgtEl>
                                          <p:spTgt spid="18"/>
                                        </p:tgtEl>
                                        <p:attrNameLst>
                                          <p:attrName>style.visibility</p:attrName>
                                        </p:attrNameLst>
                                      </p:cBhvr>
                                      <p:to>
                                        <p:strVal val="hidden"/>
                                      </p:to>
                                    </p:set>
                                  </p:childTnLst>
                                </p:cTn>
                              </p:par>
                              <p:par>
                                <p:cTn id="120" presetID="53" presetClass="entr" presetSubtype="16" fill="hold" grpId="0" nodeType="withEffect">
                                  <p:stCondLst>
                                    <p:cond delay="0"/>
                                  </p:stCondLst>
                                  <p:childTnLst>
                                    <p:set>
                                      <p:cBhvr>
                                        <p:cTn id="121" dur="1" fill="hold">
                                          <p:stCondLst>
                                            <p:cond delay="0"/>
                                          </p:stCondLst>
                                        </p:cTn>
                                        <p:tgtEl>
                                          <p:spTgt spid="19"/>
                                        </p:tgtEl>
                                        <p:attrNameLst>
                                          <p:attrName>style.visibility</p:attrName>
                                        </p:attrNameLst>
                                      </p:cBhvr>
                                      <p:to>
                                        <p:strVal val="visible"/>
                                      </p:to>
                                    </p:set>
                                    <p:anim calcmode="lin" valueType="num">
                                      <p:cBhvr additive="base">
                                        <p:cTn id="122" dur="300" fill="hold"/>
                                        <p:tgtEl>
                                          <p:spTgt spid="19"/>
                                        </p:tgtEl>
                                        <p:attrNameLst>
                                          <p:attrName>ppt_w</p:attrName>
                                        </p:attrNameLst>
                                      </p:cBhvr>
                                      <p:tavLst>
                                        <p:tav tm="0">
                                          <p:val>
                                            <p:strVal val="0"/>
                                          </p:val>
                                        </p:tav>
                                        <p:tav tm="100000">
                                          <p:val>
                                            <p:strVal val="#ppt_w"/>
                                          </p:val>
                                        </p:tav>
                                      </p:tavLst>
                                    </p:anim>
                                    <p:anim calcmode="lin" valueType="num">
                                      <p:cBhvr additive="base">
                                        <p:cTn id="123" dur="300" fill="hold"/>
                                        <p:tgtEl>
                                          <p:spTgt spid="19"/>
                                        </p:tgtEl>
                                        <p:attrNameLst>
                                          <p:attrName>ppt_h</p:attrName>
                                        </p:attrNameLst>
                                      </p:cBhvr>
                                      <p:tavLst>
                                        <p:tav tm="0">
                                          <p:val>
                                            <p:strVal val="0"/>
                                          </p:val>
                                        </p:tav>
                                        <p:tav tm="100000">
                                          <p:val>
                                            <p:strVal val="#ppt_h"/>
                                          </p:val>
                                        </p:tav>
                                      </p:tavLst>
                                    </p:anim>
                                    <p:animEffect transition="in" filter="fade">
                                      <p:cBhvr>
                                        <p:cTn id="124" dur="300"/>
                                        <p:tgtEl>
                                          <p:spTgt spid="19"/>
                                        </p:tgtEl>
                                      </p:cBhvr>
                                    </p:animEffect>
                                  </p:childTnLst>
                                </p:cTn>
                              </p:par>
                              <p:par>
                                <p:cTn id="125" presetID="0" presetClass="path" presetSubtype="0" fill="hold" grpId="1" nodeType="withEffect">
                                  <p:stCondLst>
                                    <p:cond delay="300"/>
                                  </p:stCondLst>
                                  <p:childTnLst>
                                    <p:animMotion origin="layout" path="M 0 0 L 0.2608 0.5764 E" pathEditMode="relative" ptsTypes="">
                                      <p:cBhvr>
                                        <p:cTn id="126" dur="1500" fill="hold" accel="40000" decel="40000"/>
                                        <p:tgtEl>
                                          <p:spTgt spid="19"/>
                                        </p:tgtEl>
                                        <p:attrNameLst>
                                          <p:attrName>ppt_x</p:attrName>
                                          <p:attrName>ppt_y</p:attrName>
                                        </p:attrNameLst>
                                      </p:cBhvr>
                                      <p:rCtr x="0" y="0"/>
                                    </p:animMotion>
                                  </p:childTnLst>
                                </p:cTn>
                              </p:par>
                              <p:par>
                                <p:cTn id="127" presetID="10" presetClass="exit" presetSubtype="0" fill="hold" grpId="2" nodeType="withEffect">
                                  <p:stCondLst>
                                    <p:cond delay="1900"/>
                                  </p:stCondLst>
                                  <p:childTnLst>
                                    <p:animEffect transition="out" filter="fade">
                                      <p:cBhvr>
                                        <p:cTn id="128" dur="300"/>
                                        <p:tgtEl>
                                          <p:spTgt spid="19"/>
                                        </p:tgtEl>
                                      </p:cBhvr>
                                    </p:animEffect>
                                    <p:set>
                                      <p:cBhvr>
                                        <p:cTn id="129" dur="1" fill="hold">
                                          <p:stCondLst>
                                            <p:cond delay="299"/>
                                          </p:stCondLst>
                                        </p:cTn>
                                        <p:tgtEl>
                                          <p:spTgt spid="19"/>
                                        </p:tgtEl>
                                        <p:attrNameLst>
                                          <p:attrName>style.visibility</p:attrName>
                                        </p:attrNameLst>
                                      </p:cBhvr>
                                      <p:to>
                                        <p:strVal val="hidden"/>
                                      </p:to>
                                    </p:set>
                                  </p:childTnLst>
                                </p:cTn>
                              </p:par>
                              <p:par>
                                <p:cTn id="130" presetID="6" presetClass="emph" presetSubtype="0" fill="hold" grpId="1" nodeType="withEffect" repeatCount="2000">
                                  <p:stCondLst>
                                    <p:cond delay="1800"/>
                                  </p:stCondLst>
                                  <p:childTnLst>
                                    <p:animScale>
                                      <p:cBhvr>
                                        <p:cTn id="131" dur="500" autoRev="1" fill="hold"/>
                                        <p:tgtEl>
                                          <p:spTgt spid="11"/>
                                        </p:tgtEl>
                                      </p:cBhvr>
                                      <p:by x="118000" y="118000"/>
                                    </p:animScale>
                                  </p:childTnLst>
                                  <p:subTnLst>
                                    <p:audio>
                                      <p:cMediaNode vol="50000" showWhenStopped="0">
                                        <p:cTn id="132" display="0" masterRel="sameClick">
                                          <p:stCondLst>
                                            <p:cond evt="onBegin" delay="0">
                                              <p:tn val="130"/>
                                            </p:cond>
                                          </p:stCondLst>
                                        </p:cTn>
                                        <p:tgtEl>
                                          <p:sndTgt r:embed="rId14" name="chime.wav"/>
                                        </p:tgtEl>
                                      </p:cMediaNode>
                                    </p:audio>
                                  </p:subTnLst>
                                </p:cTn>
                              </p:par>
                              <p:par>
                                <p:cTn id="133" presetID="10" presetClass="entr" presetSubtype="0" fill="hold" grpId="0" nodeType="withEffect">
                                  <p:stCondLst>
                                    <p:cond delay="1800"/>
                                  </p:stCondLst>
                                  <p:childTnLst>
                                    <p:set>
                                      <p:cBhvr>
                                        <p:cTn id="134" dur="1" fill="hold">
                                          <p:stCondLst>
                                            <p:cond delay="0"/>
                                          </p:stCondLst>
                                        </p:cTn>
                                        <p:tgtEl>
                                          <p:spTgt spid="24"/>
                                        </p:tgtEl>
                                        <p:attrNameLst>
                                          <p:attrName>style.visibility</p:attrName>
                                        </p:attrNameLst>
                                      </p:cBhvr>
                                      <p:to>
                                        <p:strVal val="visible"/>
                                      </p:to>
                                    </p:set>
                                    <p:animEffect transition="in" filter="fade">
                                      <p:cBhvr>
                                        <p:cTn id="135"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1" descr="عنوان الشريحة">    </p:cNvPr>
          <p:cNvPicPr>
            <a:picLocks noChangeAspect="1"/>
          </p:cNvPicPr>
          <p:nvPr/>
        </p:nvPicPr>
        <p:blipFill>
          <a:blip r:embed="rId2"/>
          <a:stretch>
            <a:fillRect/>
          </a:stretch>
        </p:blipFill>
        <p:spPr>
          <a:xfrm>
            <a:off x="8636028" y="182880"/>
            <a:ext cx="3189907" cy="731520"/>
          </a:xfrm>
          <a:prstGeom prst="rect">
            <a:avLst/>
          </a:prstGeom>
        </p:spPr>
      </p:pic>
      <p:sp>
        <p:nvSpPr>
          <p:cNvPr id="3" name="s30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من أنا؟</a:t>
            </a:r>
            <a:endParaRPr lang="en-US" sz="1600" dirty="0"/>
          </a:p>
        </p:txBody>
      </p:sp>
      <p:sp>
        <p:nvSpPr>
          <p:cNvPr id="4" name="s30_3"/>
          <p:cNvSpPr txBox="1"/>
          <p:nvPr/>
        </p:nvSpPr>
        <p:spPr>
          <a:xfrm>
            <a:off x="4160520" y="1097280"/>
            <a:ext cx="7589520" cy="1033272"/>
          </a:xfrm>
          <a:prstGeom prst="roundRect">
            <a:avLst>
              <a:gd name="adj" fmla="val 12389"/>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١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ألتقطُ طاقةَ الشمس وأطفو في مياه المحيط، وأنا بداية الشبكة.</a:t>
            </a:r>
            <a:endParaRPr lang="ar-SA" sz="1650" dirty="0"/>
          </a:p>
        </p:txBody>
      </p:sp>
      <p:sp>
        <p:nvSpPr>
          <p:cNvPr id="5" name="s30_w0"/>
          <p:cNvSpPr txBox="1"/>
          <p:nvPr/>
        </p:nvSpPr>
        <p:spPr>
          <a:xfrm>
            <a:off x="2057400" y="1234440"/>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6" name="s30_4@t=s30_w0%chime"/>
          <p:cNvSpPr txBox="1"/>
          <p:nvPr/>
        </p:nvSpPr>
        <p:spPr>
          <a:xfrm>
            <a:off x="2057400" y="1234440"/>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العوالق النباتية 🌿</a:t>
            </a:r>
            <a:endParaRPr lang="ar-SA" sz="1500" dirty="0"/>
          </a:p>
        </p:txBody>
      </p:sp>
      <p:sp>
        <p:nvSpPr>
          <p:cNvPr id="7" name="s30_5"/>
          <p:cNvSpPr txBox="1"/>
          <p:nvPr/>
        </p:nvSpPr>
        <p:spPr>
          <a:xfrm>
            <a:off x="4160520" y="2313432"/>
            <a:ext cx="7589520" cy="1033272"/>
          </a:xfrm>
          <a:prstGeom prst="roundRect">
            <a:avLst>
              <a:gd name="adj" fmla="val 1238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٢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آكلُ العوالق، وتأكلني التونة والدلفين والنورس؛ فأنا مفترسة وفريسة!</a:t>
            </a:r>
            <a:endParaRPr lang="ar-SA" sz="1650" dirty="0"/>
          </a:p>
        </p:txBody>
      </p:sp>
      <p:sp>
        <p:nvSpPr>
          <p:cNvPr id="8" name="s30_w1"/>
          <p:cNvSpPr txBox="1"/>
          <p:nvPr/>
        </p:nvSpPr>
        <p:spPr>
          <a:xfrm>
            <a:off x="2057400" y="2450592"/>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9" name="s30_6@t=s30_w1%chime"/>
          <p:cNvSpPr txBox="1"/>
          <p:nvPr/>
        </p:nvSpPr>
        <p:spPr>
          <a:xfrm>
            <a:off x="2057400" y="2450592"/>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سمكة السردين 🐟</a:t>
            </a:r>
            <a:endParaRPr lang="ar-SA" sz="1500" dirty="0"/>
          </a:p>
        </p:txBody>
      </p:sp>
      <p:sp>
        <p:nvSpPr>
          <p:cNvPr id="10" name="s30_7"/>
          <p:cNvSpPr txBox="1"/>
          <p:nvPr/>
        </p:nvSpPr>
        <p:spPr>
          <a:xfrm>
            <a:off x="4160520" y="3529584"/>
            <a:ext cx="7589520" cy="1033272"/>
          </a:xfrm>
          <a:prstGeom prst="roundRect">
            <a:avLst>
              <a:gd name="adj" fmla="val 1238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٣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طائرٌ أصطاد الأسماك من سطح البحر، لكنني فريسة للحوت القاتل.</a:t>
            </a:r>
            <a:endParaRPr lang="ar-SA" sz="1650" dirty="0"/>
          </a:p>
        </p:txBody>
      </p:sp>
      <p:sp>
        <p:nvSpPr>
          <p:cNvPr id="11" name="s30_w2"/>
          <p:cNvSpPr txBox="1"/>
          <p:nvPr/>
        </p:nvSpPr>
        <p:spPr>
          <a:xfrm>
            <a:off x="2057400" y="3666744"/>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2" name="s30_8@t=s30_w2%chime"/>
          <p:cNvSpPr txBox="1"/>
          <p:nvPr/>
        </p:nvSpPr>
        <p:spPr>
          <a:xfrm>
            <a:off x="2057400" y="3666744"/>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طائر النورس 🕊️</a:t>
            </a:r>
            <a:endParaRPr lang="ar-SA" sz="1500" dirty="0"/>
          </a:p>
        </p:txBody>
      </p:sp>
      <p:sp>
        <p:nvSpPr>
          <p:cNvPr id="13" name="s30_9"/>
          <p:cNvSpPr txBox="1"/>
          <p:nvPr/>
        </p:nvSpPr>
        <p:spPr>
          <a:xfrm>
            <a:off x="4160520" y="4745736"/>
            <a:ext cx="7589520" cy="1033272"/>
          </a:xfrm>
          <a:prstGeom prst="roundRect">
            <a:avLst>
              <a:gd name="adj" fmla="val 1238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٤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أنا في قمة الشبكة؛ لا يفترسني أحد فيها، ولي أكبر عدد من الفرائس.</a:t>
            </a:r>
            <a:endParaRPr lang="ar-SA" sz="1650" dirty="0"/>
          </a:p>
        </p:txBody>
      </p:sp>
      <p:sp>
        <p:nvSpPr>
          <p:cNvPr id="14" name="s30_w3"/>
          <p:cNvSpPr txBox="1"/>
          <p:nvPr/>
        </p:nvSpPr>
        <p:spPr>
          <a:xfrm>
            <a:off x="2057400" y="4882896"/>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5" name="s30_10@t=s30_w3%chime"/>
          <p:cNvSpPr txBox="1"/>
          <p:nvPr/>
        </p:nvSpPr>
        <p:spPr>
          <a:xfrm>
            <a:off x="2057400" y="4882896"/>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الحوت القاتل 🐋</a:t>
            </a:r>
            <a:endParaRPr lang="ar-SA" sz="1500" dirty="0"/>
          </a:p>
        </p:txBody>
      </p:sp>
      <p:pic>
        <p:nvPicPr>
          <p:cNvPr id="16" name="s30_11" descr="المستكشفة ببدلة الغوص">    </p:cNvPr>
          <p:cNvPicPr>
            <a:picLocks noChangeAspect="1"/>
          </p:cNvPicPr>
          <p:nvPr/>
        </p:nvPicPr>
        <p:blipFill>
          <a:blip r:embed="rId3"/>
          <a:stretch>
            <a:fillRect/>
          </a:stretch>
        </p:blipFill>
        <p:spPr>
          <a:xfrm>
            <a:off x="182880" y="3520440"/>
            <a:ext cx="1666091" cy="2697480"/>
          </a:xfrm>
          <a:prstGeom prst="rect">
            <a:avLst/>
          </a:prstGeom>
        </p:spPr>
      </p:pic>
      <p:sp>
        <p:nvSpPr>
          <p:cNvPr id="17" name="s30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30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9" restart="whenNotActive" fill="hold" evtFilter="cancelBubble" nodeType="interactiveSeq">
                <p:stCondLst>
                  <p:cond evt="onClick" delay="0">
                    <p:tgtEl>
                      <p:spTgt spid="8"/>
                    </p:tgtEl>
                  </p:cond>
                </p:stCondLst>
                <p:endSync evt="end" delay="0">
                  <p:rtn val="all"/>
                </p:endSync>
                <p:childTnLst>
                  <p:par>
                    <p:cTn id="10" fill="hold">
                      <p:stCondLst>
                        <p:cond delay="0"/>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subTnLst>
                                    <p:audio>
                                      <p:cMediaNode vol="50000" showWhenStopped="0">
                                        <p:cTn id="15" display="0" masterRel="sameClick">
                                          <p:stCondLst>
                                            <p:cond evt="onBegin" delay="0">
                                              <p:tn val="12"/>
                                            </p:cond>
                                          </p:stCondLst>
                                        </p:cTn>
                                        <p:tgtEl>
                                          <p:sndTgt r:embed="rId6" name="chime.wav"/>
                                        </p:tgtEl>
                                      </p:cMediaNode>
                                    </p:audio>
                                  </p:subTnLst>
                                </p:cTn>
                              </p:par>
                            </p:childTnLst>
                          </p:cTn>
                        </p:par>
                      </p:childTnLst>
                    </p:cTn>
                  </p:par>
                </p:childTnLst>
              </p:cTn>
              <p:nextCondLst>
                <p:cond evt="onNext" delay="0">
                  <p:tgtEl>
                    <p:spTgt spid="8"/>
                  </p:tgtEl>
                </p:cond>
              </p:nextCondLst>
            </p:seq>
            <p:seq concurrent="1" nextAc="seek">
              <p:cTn id="16" restart="whenNotActive" fill="hold" evtFilter="cancelBubble" nodeType="interactiveSeq">
                <p:stCondLst>
                  <p:cond evt="onClick" delay="0">
                    <p:tgtEl>
                      <p:spTgt spid="11"/>
                    </p:tgtEl>
                  </p:cond>
                </p:stCondLst>
                <p:endSync evt="end" delay="0">
                  <p:rtn val="all"/>
                </p:endSync>
                <p:childTnLst>
                  <p:par>
                    <p:cTn id="17" fill="hold">
                      <p:stCondLst>
                        <p:cond delay="0"/>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subTnLst>
                                    <p:audio>
                                      <p:cMediaNode vol="50000" showWhenStopped="0">
                                        <p:cTn id="22" display="0" masterRel="sameClick">
                                          <p:stCondLst>
                                            <p:cond evt="onBegin" delay="0">
                                              <p:tn val="19"/>
                                            </p:cond>
                                          </p:stCondLst>
                                        </p:cTn>
                                        <p:tgtEl>
                                          <p:sndTgt r:embed="rId6" name="chime.wav"/>
                                        </p:tgtEl>
                                      </p:cMediaNode>
                                    </p:audio>
                                  </p:subTnLst>
                                </p:cTn>
                              </p:par>
                            </p:childTnLst>
                          </p:cTn>
                        </p:par>
                      </p:childTnLst>
                    </p:cTn>
                  </p:par>
                </p:childTnLst>
              </p:cTn>
              <p:nextCondLst>
                <p:cond evt="onNext" delay="0">
                  <p:tgtEl>
                    <p:spTgt spid="11"/>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subTnLst>
                                    <p:audio>
                                      <p:cMediaNode vol="50000" showWhenStopped="0">
                                        <p:cTn id="29" display="0" masterRel="sameClick">
                                          <p:stCondLst>
                                            <p:cond evt="onBegin" delay="0">
                                              <p:tn val="26"/>
                                            </p:cond>
                                          </p:stCondLst>
                                        </p:cTn>
                                        <p:tgtEl>
                                          <p:sndTgt r:embed="rId6" name="chime.wav"/>
                                        </p:tgtEl>
                                      </p:cMediaNode>
                                    </p:audio>
                                  </p:subTnLst>
                                </p:cTn>
                              </p:par>
                            </p:childTnLst>
                          </p:cTn>
                        </p:par>
                      </p:childTnLst>
                    </p:cTn>
                  </p:par>
                </p:childTnLst>
              </p:cTn>
              <p:nextCondLst>
                <p:cond evt="onNext" delay="0">
                  <p:tgtEl>
                    <p:spTgt spid="14"/>
                  </p:tgtEl>
                </p:cond>
              </p:nextCondLst>
            </p:seq>
          </p:childTnLst>
        </p:cTn>
      </p:par>
    </p:tnLst>
    <p:bldLst>
      <p:bldP spid="6" grpId="0" animBg="1"/>
      <p:bldP spid="9" grpId="0" animBg="1"/>
      <p:bldP spid="12" grpId="0" animBg="1"/>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1" descr="عنوان الشريحة">    </p:cNvPr>
          <p:cNvPicPr>
            <a:picLocks noChangeAspect="1"/>
          </p:cNvPicPr>
          <p:nvPr/>
        </p:nvPicPr>
        <p:blipFill>
          <a:blip r:embed="rId2"/>
          <a:stretch>
            <a:fillRect/>
          </a:stretch>
        </p:blipFill>
        <p:spPr>
          <a:xfrm>
            <a:off x="7706638" y="182880"/>
            <a:ext cx="4119297" cy="731520"/>
          </a:xfrm>
          <a:prstGeom prst="rect">
            <a:avLst/>
          </a:prstGeom>
        </p:spPr>
      </p:pic>
      <p:sp>
        <p:nvSpPr>
          <p:cNvPr id="3" name="s31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السبورة المنظمة – المقارنة</a:t>
            </a:r>
            <a:endParaRPr lang="en-US" sz="1600" dirty="0"/>
          </a:p>
        </p:txBody>
      </p:sp>
      <p:pic>
        <p:nvPicPr>
          <p:cNvPr id="4" name="s31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31_4"/>
          <p:cNvSpPr txBox="1"/>
          <p:nvPr/>
        </p:nvSpPr>
        <p:spPr>
          <a:xfrm>
            <a:off x="3566160" y="1417320"/>
            <a:ext cx="5029200" cy="914400"/>
          </a:xfrm>
          <a:prstGeom prst="roundRect">
            <a:avLst>
              <a:gd name="adj" fmla="val 3000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كنز المعرفة!</a:t>
            </a:r>
            <a:endParaRPr lang="ar-SA" sz="2600" dirty="0"/>
          </a:p>
        </p:txBody>
      </p:sp>
      <p:sp>
        <p:nvSpPr>
          <p:cNvPr id="6" name="s31_5@a4"/>
          <p:cNvSpPr txBox="1"/>
          <p:nvPr/>
        </p:nvSpPr>
        <p:spPr>
          <a:xfrm>
            <a:off x="548640" y="1051560"/>
            <a:ext cx="11201400" cy="5074920"/>
          </a:xfrm>
          <a:prstGeom prst="roundRect">
            <a:avLst>
              <a:gd name="adj" fmla="val 2523"/>
            </a:avLst>
          </a:prstGeom>
          <a:solidFill>
            <a:srgbClr val="FFFFFF"/>
          </a:solidFill>
          <a:ln w="38100">
            <a:solidFill>
              <a:srgbClr val="9AA5B8"/>
            </a:solidFill>
          </a:ln>
        </p:spPr>
        <p:txBody>
          <a:bodyPr wrap="square" lIns="101600" tIns="101600" rIns="101600" bIns="101600" rtlCol="0" anchor="ctr"/>
          <a:lstStyle/>
          <a:p>
            <a:pPr rtl="1" algn="r" indent="0" marL="0">
              <a:buNone/>
            </a:pPr>
            <a:endParaRPr lang="ar-SA" sz="1800" dirty="0"/>
          </a:p>
        </p:txBody>
      </p:sp>
      <p:sp>
        <p:nvSpPr>
          <p:cNvPr id="7" name="s31_6@a4"/>
          <p:cNvSpPr/>
          <p:nvPr/>
        </p:nvSpPr>
        <p:spPr>
          <a:xfrm>
            <a:off x="5029200" y="1417320"/>
            <a:ext cx="6309360" cy="4069080"/>
          </a:xfrm>
          <a:prstGeom prst="ellipse">
            <a:avLst/>
          </a:prstGeom>
          <a:solidFill>
            <a:srgbClr val="FFE8A3">
              <a:alpha val="65000"/>
            </a:srgbClr>
          </a:solidFill>
          <a:ln w="31750">
            <a:solidFill>
              <a:srgbClr val="A87400"/>
            </a:solidFill>
            <a:prstDash val="solid"/>
          </a:ln>
        </p:spPr>
      </p:sp>
      <p:sp>
        <p:nvSpPr>
          <p:cNvPr id="8" name="s31_7@a4"/>
          <p:cNvSpPr/>
          <p:nvPr/>
        </p:nvSpPr>
        <p:spPr>
          <a:xfrm>
            <a:off x="868680" y="1417320"/>
            <a:ext cx="6309360" cy="4069080"/>
          </a:xfrm>
          <a:prstGeom prst="ellipse">
            <a:avLst/>
          </a:prstGeom>
          <a:solidFill>
            <a:srgbClr val="BDE6FA">
              <a:alpha val="65000"/>
            </a:srgbClr>
          </a:solidFill>
          <a:ln w="31750">
            <a:solidFill>
              <a:srgbClr val="0E6F86"/>
            </a:solidFill>
            <a:prstDash val="solid"/>
          </a:ln>
        </p:spPr>
      </p:sp>
      <p:sp>
        <p:nvSpPr>
          <p:cNvPr id="9" name="s31_8@a4"/>
          <p:cNvSpPr txBox="1"/>
          <p:nvPr/>
        </p:nvSpPr>
        <p:spPr>
          <a:xfrm>
            <a:off x="77266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السلسلة الغذائية</a:t>
            </a:r>
            <a:endParaRPr lang="ar-SA" sz="1900" dirty="0"/>
          </a:p>
        </p:txBody>
      </p:sp>
      <p:sp>
        <p:nvSpPr>
          <p:cNvPr id="10" name="s31_9@a4"/>
          <p:cNvSpPr txBox="1"/>
          <p:nvPr/>
        </p:nvSpPr>
        <p:spPr>
          <a:xfrm>
            <a:off x="15544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0E6F86"/>
                </a:solidFill>
                <a:latin typeface="Tahoma" pitchFamily="34" charset="0"/>
                <a:ea typeface="Tahoma" pitchFamily="34" charset="-122"/>
                <a:cs typeface="Tahoma" pitchFamily="34" charset="-120"/>
              </a:rPr>
              <a:t>الشبكة الغذائية</a:t>
            </a:r>
            <a:endParaRPr lang="ar-SA" sz="1900" dirty="0"/>
          </a:p>
        </p:txBody>
      </p:sp>
      <p:sp>
        <p:nvSpPr>
          <p:cNvPr id="11" name="s31_10@a4"/>
          <p:cNvSpPr txBox="1"/>
          <p:nvPr/>
        </p:nvSpPr>
        <p:spPr>
          <a:xfrm>
            <a:off x="5166360" y="2057400"/>
            <a:ext cx="18288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مشتركة</a:t>
            </a:r>
            <a:endParaRPr lang="ar-SA" sz="1700" dirty="0"/>
          </a:p>
        </p:txBody>
      </p:sp>
      <p:sp>
        <p:nvSpPr>
          <p:cNvPr id="12" name="s31_11@c1%pop"/>
          <p:cNvSpPr txBox="1"/>
          <p:nvPr/>
        </p:nvSpPr>
        <p:spPr>
          <a:xfrm>
            <a:off x="7315200" y="2331720"/>
            <a:ext cx="356616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 واحد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كل مخلوق يأكل نوعًا واحدًا فيها.</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نبات الشوك ← اليرقة ← … ← البومة</a:t>
            </a:r>
            <a:endParaRPr lang="ar-SA" sz="1500" dirty="0"/>
          </a:p>
        </p:txBody>
      </p:sp>
      <p:sp>
        <p:nvSpPr>
          <p:cNvPr id="13" name="s31_12@c2%pop"/>
          <p:cNvSpPr txBox="1"/>
          <p:nvPr/>
        </p:nvSpPr>
        <p:spPr>
          <a:xfrm>
            <a:off x="1280160" y="2331720"/>
            <a:ext cx="361188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سلاسل غذائية متداخلة.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مسارات متعددة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توضّح علاقة المفترس والفريسة.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شبكة المحيط</a:t>
            </a:r>
            <a:endParaRPr lang="ar-SA" sz="1500" dirty="0"/>
          </a:p>
        </p:txBody>
      </p:sp>
      <p:sp>
        <p:nvSpPr>
          <p:cNvPr id="14" name="s31_13@c3%pop"/>
          <p:cNvSpPr txBox="1"/>
          <p:nvPr/>
        </p:nvSpPr>
        <p:spPr>
          <a:xfrm>
            <a:off x="5074920" y="2606040"/>
            <a:ext cx="2011680" cy="2194560"/>
          </a:xfrm>
          <a:prstGeom prst="rect">
            <a:avLst/>
          </a:prstGeom>
          <a:noFill/>
          <a:ln/>
        </p:spPr>
        <p:txBody>
          <a:bodyPr wrap="square" lIns="63500" tIns="63500" rIns="63500" bIns="635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 تبدأ بالشمس والمنتِجات.</a:t>
            </a:r>
            <a:endParaRPr lang="ar-SA" sz="1400" dirty="0"/>
          </a:p>
          <a:p>
            <a:pPr rtl="1" algn="ctr" indent="0" marL="0">
              <a:buNone/>
            </a:pPr>
            <a:r>
              <a:rPr lang="ar-SA" altLang="en-US" sz="1400" b="1" dirty="0">
                <a:solidFill>
                  <a:srgbClr val="34405E"/>
                </a:solidFill>
                <a:latin typeface="Tahoma" pitchFamily="34" charset="0"/>
                <a:ea typeface="Tahoma" pitchFamily="34" charset="-122"/>
                <a:cs typeface="Tahoma" pitchFamily="34" charset="-120"/>
              </a:rPr>
              <a:t>• الأسهم تبيّن اتجاه انتقال الطاقة.</a:t>
            </a:r>
            <a:endParaRPr lang="ar-SA" sz="1400" dirty="0"/>
          </a:p>
        </p:txBody>
      </p:sp>
      <p:sp>
        <p:nvSpPr>
          <p:cNvPr id="15" name="s31_14@c4%chime"/>
          <p:cNvSpPr txBox="1"/>
          <p:nvPr/>
        </p:nvSpPr>
        <p:spPr>
          <a:xfrm>
            <a:off x="3840480" y="5486400"/>
            <a:ext cx="4526280" cy="548640"/>
          </a:xfrm>
          <a:prstGeom prst="rect">
            <a:avLst/>
          </a:prstGeom>
          <a:noFill/>
          <a:ln/>
        </p:spPr>
        <p:txBody>
          <a:bodyPr wrap="square" lIns="63500" tIns="63500" rIns="63500" bIns="63500" rtlCol="0" anchor="ctr"/>
          <a:lstStyle/>
          <a:p>
            <a:pPr rtl="1" algn="ctr" indent="0" marL="0">
              <a:buNone/>
            </a:pPr>
            <a:r>
              <a:rPr lang="ar-SA" altLang="en-US" sz="2200" dirty="0">
                <a:solidFill>
                  <a:srgbClr val="34405E"/>
                </a:solidFill>
                <a:latin typeface="Tahoma" pitchFamily="34" charset="0"/>
                <a:ea typeface="Tahoma" pitchFamily="34" charset="-122"/>
                <a:cs typeface="Tahoma" pitchFamily="34" charset="-120"/>
              </a:rPr>
              <a:t>☀️ ← 🌿 ← 🐛 ← 🦎 ← 🦉</a:t>
            </a:r>
            <a:endParaRPr lang="ar-SA" sz="2200" dirty="0"/>
          </a:p>
        </p:txBody>
      </p:sp>
      <p:sp>
        <p:nvSpPr>
          <p:cNvPr id="16" name="s31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1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6"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7"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500"/>
                                        <p:tgtEl>
                                          <p:spTgt spid="15"/>
                                        </p:tgtEl>
                                      </p:cBhvr>
                                    </p:animEffect>
                                  </p:childTnLst>
                                  <p:subTnLst>
                                    <p:audio>
                                      <p:cMediaNode vol="50000" showWhenStopped="0">
                                        <p:cTn id="62" display="0" masterRel="sameClick">
                                          <p:stCondLst>
                                            <p:cond evt="onBegin" delay="0">
                                              <p:tn val="59"/>
                                            </p:cond>
                                          </p:stCondLst>
                                        </p:cTn>
                                        <p:tgtEl>
                                          <p:sndTgt r:embed="rId7"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2_1" descr="عنوان الشريحة">    </p:cNvPr>
          <p:cNvPicPr>
            <a:picLocks noChangeAspect="1"/>
          </p:cNvPicPr>
          <p:nvPr/>
        </p:nvPicPr>
        <p:blipFill>
          <a:blip r:embed="rId2"/>
          <a:stretch>
            <a:fillRect/>
          </a:stretch>
        </p:blipFill>
        <p:spPr>
          <a:xfrm>
            <a:off x="8462142" y="182880"/>
            <a:ext cx="3363793" cy="731520"/>
          </a:xfrm>
          <a:prstGeom prst="rect">
            <a:avLst/>
          </a:prstGeom>
        </p:spPr>
      </p:pic>
      <p:sp>
        <p:nvSpPr>
          <p:cNvPr id="3" name="s32_2"/>
          <p:cNvSpPr txBox="1"/>
          <p:nvPr/>
        </p:nvSpPr>
        <p:spPr>
          <a:xfrm>
            <a:off x="365760" y="292608"/>
            <a:ext cx="41376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مهارات التفكير العليا</a:t>
            </a:r>
            <a:endParaRPr lang="en-US" sz="1600" dirty="0"/>
          </a:p>
        </p:txBody>
      </p:sp>
      <p:sp>
        <p:nvSpPr>
          <p:cNvPr id="4" name="s32_3"/>
          <p:cNvSpPr txBox="1"/>
          <p:nvPr/>
        </p:nvSpPr>
        <p:spPr>
          <a:xfrm>
            <a:off x="10241280" y="1097280"/>
            <a:ext cx="150876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أحلّل</a:t>
            </a:r>
            <a:endParaRPr lang="ar-SA" sz="1700" dirty="0"/>
          </a:p>
        </p:txBody>
      </p:sp>
      <p:sp>
        <p:nvSpPr>
          <p:cNvPr id="5" name="s32_4"/>
          <p:cNvSpPr txBox="1"/>
          <p:nvPr/>
        </p:nvSpPr>
        <p:spPr>
          <a:xfrm>
            <a:off x="5074920" y="109728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لو اختفت سمكة السردين من شبكة المحيط، فأيّ المخلوقات تتأثر أولًا؟ ولماذا؟</a:t>
            </a:r>
            <a:endParaRPr lang="ar-SA" sz="1600" dirty="0"/>
          </a:p>
        </p:txBody>
      </p:sp>
      <p:sp>
        <p:nvSpPr>
          <p:cNvPr id="6" name="s32_5@c1%chime"/>
          <p:cNvSpPr txBox="1"/>
          <p:nvPr/>
        </p:nvSpPr>
        <p:spPr>
          <a:xfrm>
            <a:off x="548640" y="109728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التونة والدلفين وطائر النورس؛ لأنها تتغذى عليها، ثم يتأثر الحوت القاتل. وقد تزداد العوالق لقلّة من يأكلها.</a:t>
            </a:r>
            <a:endParaRPr lang="ar-SA" sz="1450" dirty="0"/>
          </a:p>
        </p:txBody>
      </p:sp>
      <p:sp>
        <p:nvSpPr>
          <p:cNvPr id="7" name="s32_6"/>
          <p:cNvSpPr txBox="1"/>
          <p:nvPr/>
        </p:nvSpPr>
        <p:spPr>
          <a:xfrm>
            <a:off x="10241280" y="2788920"/>
            <a:ext cx="150876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أقيّم</a:t>
            </a:r>
            <a:endParaRPr lang="ar-SA" sz="1700" dirty="0"/>
          </a:p>
        </p:txBody>
      </p:sp>
      <p:sp>
        <p:nvSpPr>
          <p:cNvPr id="8" name="s32_7"/>
          <p:cNvSpPr txBox="1"/>
          <p:nvPr/>
        </p:nvSpPr>
        <p:spPr>
          <a:xfrm>
            <a:off x="5074920" y="278892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أيّهما يتأثر أكثر باختفاء مخلوق واحد: سلسلة غذائية منفردة أم شبكة غذائية؟ دافعي عن رأيك.</a:t>
            </a:r>
            <a:endParaRPr lang="ar-SA" sz="1600" dirty="0"/>
          </a:p>
        </p:txBody>
      </p:sp>
      <p:sp>
        <p:nvSpPr>
          <p:cNvPr id="9" name="s32_8@c2%chime"/>
          <p:cNvSpPr txBox="1"/>
          <p:nvPr/>
        </p:nvSpPr>
        <p:spPr>
          <a:xfrm>
            <a:off x="548640" y="278892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السلسلة المنفردة؛ لأن لها مسارًا واحدًا، أما في الشبكة فقد يجد المفترس غذاءً بديلًا.</a:t>
            </a:r>
            <a:endParaRPr lang="ar-SA" sz="1450" dirty="0"/>
          </a:p>
        </p:txBody>
      </p:sp>
      <p:sp>
        <p:nvSpPr>
          <p:cNvPr id="10" name="s32_9"/>
          <p:cNvSpPr txBox="1"/>
          <p:nvPr/>
        </p:nvSpPr>
        <p:spPr>
          <a:xfrm>
            <a:off x="10241280" y="4480560"/>
            <a:ext cx="1508760" cy="1508760"/>
          </a:xfrm>
          <a:prstGeom prst="roundRect">
            <a:avLst>
              <a:gd name="adj" fmla="val 848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أبتكر</a:t>
            </a:r>
            <a:endParaRPr lang="ar-SA" sz="1700" dirty="0"/>
          </a:p>
        </p:txBody>
      </p:sp>
      <p:sp>
        <p:nvSpPr>
          <p:cNvPr id="11" name="s32_10"/>
          <p:cNvSpPr txBox="1"/>
          <p:nvPr/>
        </p:nvSpPr>
        <p:spPr>
          <a:xfrm>
            <a:off x="5074920" y="448056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صمّمي شبكة غذائية صغيرة لصحراء وطني من: العشب، الجرادة، الضب، الثعبان، الصقر.</a:t>
            </a:r>
            <a:endParaRPr lang="ar-SA" sz="1600" dirty="0"/>
          </a:p>
        </p:txBody>
      </p:sp>
      <p:sp>
        <p:nvSpPr>
          <p:cNvPr id="12" name="s32_11@c3%chime"/>
          <p:cNvSpPr txBox="1"/>
          <p:nvPr/>
        </p:nvSpPr>
        <p:spPr>
          <a:xfrm>
            <a:off x="548640" y="448056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مثال: العشب ← الجرادة ← الضب ← الثعبان ← الصقر، والعشب ← الضب، والضب ← الصقر.</a:t>
            </a:r>
            <a:endParaRPr lang="ar-SA" sz="1450" dirty="0"/>
          </a:p>
        </p:txBody>
      </p:sp>
      <p:sp>
        <p:nvSpPr>
          <p:cNvPr id="13" name="s32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2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50000" showWhenStopped="0">
                                        <p:cTn id="20" display="0" masterRel="sameClick">
                                          <p:stCondLst>
                                            <p:cond evt="onBegin" delay="0">
                                              <p:tn val="1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3_1" descr="عنوان الشريحة">    </p:cNvPr>
          <p:cNvPicPr>
            <a:picLocks noChangeAspect="1"/>
          </p:cNvPicPr>
          <p:nvPr/>
        </p:nvPicPr>
        <p:blipFill>
          <a:blip r:embed="rId2"/>
          <a:stretch>
            <a:fillRect/>
          </a:stretch>
        </p:blipFill>
        <p:spPr>
          <a:xfrm>
            <a:off x="8642024" y="182880"/>
            <a:ext cx="3183911" cy="731520"/>
          </a:xfrm>
          <a:prstGeom prst="rect">
            <a:avLst/>
          </a:prstGeom>
        </p:spPr>
      </p:pic>
      <p:sp>
        <p:nvSpPr>
          <p:cNvPr id="3" name="s33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من المواقف الحياتية</a:t>
            </a:r>
            <a:endParaRPr lang="en-US" sz="1600" dirty="0"/>
          </a:p>
        </p:txBody>
      </p:sp>
      <p:sp>
        <p:nvSpPr>
          <p:cNvPr id="4" name="s33_3@c1%pop"/>
          <p:cNvSpPr txBox="1"/>
          <p:nvPr/>
        </p:nvSpPr>
        <p:spPr>
          <a:xfrm>
            <a:off x="3108960" y="1143000"/>
            <a:ext cx="8641080" cy="1188720"/>
          </a:xfrm>
          <a:prstGeom prst="roundRect">
            <a:avLst>
              <a:gd name="adj" fmla="val 1076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وجبتي: </a:t>
            </a:r>
            <a:r>
              <a:rPr lang="ar-SA" altLang="en-US" sz="1700" dirty="0">
                <a:solidFill>
                  <a:srgbClr val="34405E"/>
                </a:solidFill>
                <a:latin typeface="Tahoma" pitchFamily="34" charset="0"/>
                <a:ea typeface="Tahoma" pitchFamily="34" charset="-122"/>
                <a:cs typeface="Tahoma" pitchFamily="34" charset="-120"/>
              </a:rPr>
              <a:t>الشمس ← العشب ← الخروف ← أنا! فأنا حلقة في سلسلة غذائية عندما آكل الكبسة.</a:t>
            </a:r>
            <a:endParaRPr lang="ar-SA" sz="1700" dirty="0"/>
          </a:p>
        </p:txBody>
      </p:sp>
      <p:sp>
        <p:nvSpPr>
          <p:cNvPr id="5" name="s33_4@c2%pop"/>
          <p:cNvSpPr txBox="1"/>
          <p:nvPr/>
        </p:nvSpPr>
        <p:spPr>
          <a:xfrm>
            <a:off x="3108960" y="2514600"/>
            <a:ext cx="8641080" cy="1188720"/>
          </a:xfrm>
          <a:prstGeom prst="roundRect">
            <a:avLst>
              <a:gd name="adj" fmla="val 1076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سوق السمك: </a:t>
            </a:r>
            <a:r>
              <a:rPr lang="ar-SA" altLang="en-US" sz="1700" dirty="0">
                <a:solidFill>
                  <a:srgbClr val="34405E"/>
                </a:solidFill>
                <a:latin typeface="Tahoma" pitchFamily="34" charset="0"/>
                <a:ea typeface="Tahoma" pitchFamily="34" charset="-122"/>
                <a:cs typeface="Tahoma" pitchFamily="34" charset="-120"/>
              </a:rPr>
              <a:t>الأسماك التي نشتريها كانت جزءًا من شبكة غذائية في البحر، ونحن نشارك فيها حين نأكلها.</a:t>
            </a:r>
            <a:endParaRPr lang="ar-SA" sz="1700" dirty="0"/>
          </a:p>
        </p:txBody>
      </p:sp>
      <p:sp>
        <p:nvSpPr>
          <p:cNvPr id="6" name="s33_5@c3%pop"/>
          <p:cNvSpPr txBox="1"/>
          <p:nvPr/>
        </p:nvSpPr>
        <p:spPr>
          <a:xfrm>
            <a:off x="3108960" y="3886200"/>
            <a:ext cx="8641080" cy="1188720"/>
          </a:xfrm>
          <a:prstGeom prst="roundRect">
            <a:avLst>
              <a:gd name="adj" fmla="val 1076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على الشاطئ: </a:t>
            </a:r>
            <a:r>
              <a:rPr lang="ar-SA" altLang="en-US" sz="1700" dirty="0">
                <a:solidFill>
                  <a:srgbClr val="34405E"/>
                </a:solidFill>
                <a:latin typeface="Tahoma" pitchFamily="34" charset="0"/>
                <a:ea typeface="Tahoma" pitchFamily="34" charset="-122"/>
                <a:cs typeface="Tahoma" pitchFamily="34" charset="-120"/>
              </a:rPr>
              <a:t>النفايات البلاستيكية في البحر تضرّ العوالق والأسماك، فتتأثر الشبكة الغذائية كلها.</a:t>
            </a:r>
            <a:endParaRPr lang="ar-SA" sz="1700" dirty="0"/>
          </a:p>
        </p:txBody>
      </p:sp>
      <p:sp>
        <p:nvSpPr>
          <p:cNvPr id="7" name="s33_6@c4"/>
          <p:cNvSpPr txBox="1"/>
          <p:nvPr/>
        </p:nvSpPr>
        <p:spPr>
          <a:xfrm>
            <a:off x="3108960" y="5349240"/>
            <a:ext cx="864108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b="1" dirty="0">
                <a:solidFill>
                  <a:srgbClr val="34405E"/>
                </a:solidFill>
                <a:latin typeface="Tahoma" pitchFamily="34" charset="0"/>
                <a:ea typeface="Tahoma" pitchFamily="34" charset="-122"/>
                <a:cs typeface="Tahoma" pitchFamily="34" charset="-120"/>
              </a:rPr>
              <a:t>اكتبي سلسلة غذائية لوجبة فطورك اليوم ✍️  (مثل: الشمس ← القمح ← الخبز ← أنا)</a:t>
            </a:r>
            <a:endParaRPr lang="ar-SA" sz="1600" dirty="0"/>
          </a:p>
        </p:txBody>
      </p:sp>
      <p:pic>
        <p:nvPicPr>
          <p:cNvPr id="8" name="s33_7" descr="المستكشفة تلوّح">    </p:cNvPr>
          <p:cNvPicPr>
            <a:picLocks noChangeAspect="1"/>
          </p:cNvPicPr>
          <p:nvPr/>
        </p:nvPicPr>
        <p:blipFill>
          <a:blip r:embed="rId3"/>
          <a:stretch>
            <a:fillRect/>
          </a:stretch>
        </p:blipFill>
        <p:spPr>
          <a:xfrm>
            <a:off x="411480" y="1463040"/>
            <a:ext cx="2767405" cy="4480560"/>
          </a:xfrm>
          <a:prstGeom prst="rect">
            <a:avLst/>
          </a:prstGeom>
        </p:spPr>
      </p:pic>
      <p:sp>
        <p:nvSpPr>
          <p:cNvPr id="9" name="s33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3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4_1" descr="عنوان الشريحة">    </p:cNvPr>
          <p:cNvPicPr>
            <a:picLocks noChangeAspect="1"/>
          </p:cNvPicPr>
          <p:nvPr/>
        </p:nvPicPr>
        <p:blipFill>
          <a:blip r:embed="rId2"/>
          <a:stretch>
            <a:fillRect/>
          </a:stretch>
        </p:blipFill>
        <p:spPr>
          <a:xfrm>
            <a:off x="8630032" y="182880"/>
            <a:ext cx="3195903" cy="731520"/>
          </a:xfrm>
          <a:prstGeom prst="rect">
            <a:avLst/>
          </a:prstGeom>
        </p:spPr>
      </p:pic>
      <p:sp>
        <p:nvSpPr>
          <p:cNvPr id="3" name="s34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ربط وطني</a:t>
            </a:r>
            <a:endParaRPr lang="en-US" sz="1600" dirty="0"/>
          </a:p>
        </p:txBody>
      </p:sp>
      <p:pic>
        <p:nvPicPr>
          <p:cNvPr id="4" name="s34_3" descr="علم المملكة العربية السعودية">    </p:cNvPr>
          <p:cNvPicPr>
            <a:picLocks noChangeAspect="1"/>
          </p:cNvPicPr>
          <p:nvPr/>
        </p:nvPicPr>
        <p:blipFill>
          <a:blip r:embed="rId3"/>
          <a:stretch>
            <a:fillRect/>
          </a:stretch>
        </p:blipFill>
        <p:spPr>
          <a:xfrm>
            <a:off x="9921240" y="1143000"/>
            <a:ext cx="1783080" cy="1337310"/>
          </a:xfrm>
          <a:prstGeom prst="rect">
            <a:avLst/>
          </a:prstGeom>
        </p:spPr>
      </p:pic>
      <p:sp>
        <p:nvSpPr>
          <p:cNvPr id="5" name="s34_4@c1"/>
          <p:cNvSpPr txBox="1"/>
          <p:nvPr/>
        </p:nvSpPr>
        <p:spPr>
          <a:xfrm>
            <a:off x="2377440" y="1143000"/>
            <a:ext cx="736092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1B5E20"/>
                </a:solidFill>
                <a:latin typeface="Tahoma" pitchFamily="34" charset="0"/>
                <a:ea typeface="Tahoma" pitchFamily="34" charset="-122"/>
                <a:cs typeface="Tahoma" pitchFamily="34" charset="-120"/>
              </a:rPr>
              <a:t>🇸🇦 في وطني… </a:t>
            </a:r>
            <a:r>
              <a:rPr lang="ar-SA" altLang="en-US" sz="1650" dirty="0">
                <a:solidFill>
                  <a:srgbClr val="34405E"/>
                </a:solidFill>
                <a:latin typeface="Tahoma" pitchFamily="34" charset="0"/>
                <a:ea typeface="Tahoma" pitchFamily="34" charset="-122"/>
                <a:cs typeface="Tahoma" pitchFamily="34" charset="-120"/>
              </a:rPr>
              <a:t>يعمل المركز الوطني لتنمية الحياة الفطرية على حماية الحياة الفطرية في المملكة وتنميتها؛ في البرّ والبحر، ومنها المخلوقات البحرية في البحر الأحمر والخليج العربي.</a:t>
            </a:r>
            <a:endParaRPr lang="ar-SA" sz="1650" dirty="0"/>
          </a:p>
        </p:txBody>
      </p:sp>
      <p:sp>
        <p:nvSpPr>
          <p:cNvPr id="6" name="s34_5@c2"/>
          <p:cNvSpPr txBox="1"/>
          <p:nvPr/>
        </p:nvSpPr>
        <p:spPr>
          <a:xfrm>
            <a:off x="2377440" y="2834640"/>
            <a:ext cx="93726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الربط بالدرس: </a:t>
            </a:r>
            <a:r>
              <a:rPr lang="ar-SA" altLang="en-US" sz="1650" dirty="0">
                <a:solidFill>
                  <a:srgbClr val="34405E"/>
                </a:solidFill>
                <a:latin typeface="Tahoma" pitchFamily="34" charset="0"/>
                <a:ea typeface="Tahoma" pitchFamily="34" charset="-122"/>
                <a:cs typeface="Tahoma" pitchFamily="34" charset="-120"/>
              </a:rPr>
              <a:t>حماية مخلوق واحد تحمي الشبكة الغذائية كلها؛ لأن المخلوقات مترابطة بالطاقة والغذاء.</a:t>
            </a:r>
            <a:endParaRPr lang="ar-SA" sz="1650" dirty="0"/>
          </a:p>
        </p:txBody>
      </p:sp>
      <p:sp>
        <p:nvSpPr>
          <p:cNvPr id="7" name="s34_6@c2"/>
          <p:cNvSpPr txBox="1"/>
          <p:nvPr/>
        </p:nvSpPr>
        <p:spPr>
          <a:xfrm>
            <a:off x="8229600" y="3931920"/>
            <a:ext cx="3520440" cy="594360"/>
          </a:xfrm>
          <a:prstGeom prst="roundRect">
            <a:avLst>
              <a:gd name="adj" fmla="val 49231"/>
            </a:avLst>
          </a:prstGeom>
          <a:solidFill>
            <a:srgbClr val="1B5E20"/>
          </a:solidFill>
          <a:ln w="25400">
            <a:solidFill>
              <a:srgbClr val="FFFFFF"/>
            </a:solidFill>
          </a:ln>
        </p:spPr>
        <p:txBody>
          <a:bodyPr wrap="square" lIns="101600" tIns="101600" rIns="101600" bIns="101600" rtlCol="0" anchor="ctr"/>
          <a:lstStyle/>
          <a:p>
            <a:pPr rtl="1" algn="ctr" indent="0" marL="0">
              <a:buNone/>
            </a:pPr>
            <a:r>
              <a:rPr lang="ar-SA" altLang="en-US" sz="1700" b="1" u="sng" dirty="0">
                <a:solidFill>
                  <a:srgbClr val="FFFFFF"/>
                </a:solidFill>
                <a:latin typeface="Tahoma" pitchFamily="34" charset="0"/>
                <a:ea typeface="Tahoma" pitchFamily="34" charset="-122"/>
                <a:cs typeface="Tahoma" pitchFamily="34" charset="-120"/>
                <a:hlinkClick r:id="rId4" invalidUrl="" action="" tgtFrame="" tooltip="المركز الوطني لتنمية الحياة الفطرية" history="1" highlightClick="0" endSnd="0">
                  <a:extLst>
                    <a:ext uri="{A12FA001-AC4F-418D-AE19-62706E023703}">
                      <ahyp:hlinkClr xmlns:ahyp="http://schemas.microsoft.com/office/drawing/2018/hyperlinkcolor" val="tx"/>
                    </a:ext>
                  </a:extLst>
                </a:hlinkClick>
              </a:rPr>
              <a:t>🔗 تعرّفي على المركز</a:t>
            </a:r>
            <a:endParaRPr lang="ar-SA" sz="1700" dirty="0"/>
          </a:p>
        </p:txBody>
      </p:sp>
      <p:sp>
        <p:nvSpPr>
          <p:cNvPr id="8" name="s34_7@c3%chime"/>
          <p:cNvSpPr txBox="1"/>
          <p:nvPr/>
        </p:nvSpPr>
        <p:spPr>
          <a:xfrm>
            <a:off x="2377440" y="4754880"/>
            <a:ext cx="937260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لماذا يُمنع الصيد الجائر؟  </a:t>
            </a:r>
            <a:r>
              <a:rPr lang="ar-SA" altLang="en-US" sz="1600" b="1" dirty="0">
                <a:solidFill>
                  <a:srgbClr val="2F8A3A"/>
                </a:solidFill>
                <a:latin typeface="Tahoma" pitchFamily="34" charset="0"/>
                <a:ea typeface="Tahoma" pitchFamily="34" charset="-122"/>
                <a:cs typeface="Tahoma" pitchFamily="34" charset="-120"/>
              </a:rPr>
              <a:t>✔ لأن اختفاء مخلوق من الشبكة الغذائية يؤثر في بقية المخلوقات.</a:t>
            </a:r>
            <a:endParaRPr lang="ar-SA" sz="1600" dirty="0"/>
          </a:p>
        </p:txBody>
      </p:sp>
      <p:pic>
        <p:nvPicPr>
          <p:cNvPr id="9" name="s34_8" descr="المستكشفة ببدلة الغوص">    </p:cNvPr>
          <p:cNvPicPr>
            <a:picLocks noChangeAspect="1"/>
          </p:cNvPicPr>
          <p:nvPr/>
        </p:nvPicPr>
        <p:blipFill>
          <a:blip r:embed="rId5"/>
          <a:stretch>
            <a:fillRect/>
          </a:stretch>
        </p:blipFill>
        <p:spPr>
          <a:xfrm>
            <a:off x="320040" y="3200400"/>
            <a:ext cx="1863762" cy="3017520"/>
          </a:xfrm>
          <a:prstGeom prst="rect">
            <a:avLst/>
          </a:prstGeom>
        </p:spPr>
      </p:pic>
      <p:sp>
        <p:nvSpPr>
          <p:cNvPr id="10" name="s34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4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8"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5_1" descr="عنوان الشريحة">    </p:cNvPr>
          <p:cNvPicPr>
            <a:picLocks noChangeAspect="1"/>
          </p:cNvPicPr>
          <p:nvPr/>
        </p:nvPicPr>
        <p:blipFill>
          <a:blip r:embed="rId2"/>
          <a:stretch>
            <a:fillRect/>
          </a:stretch>
        </p:blipFill>
        <p:spPr>
          <a:xfrm>
            <a:off x="5425135" y="216908"/>
            <a:ext cx="6400800" cy="663464"/>
          </a:xfrm>
          <a:prstGeom prst="rect">
            <a:avLst/>
          </a:prstGeom>
        </p:spPr>
      </p:pic>
      <p:sp>
        <p:nvSpPr>
          <p:cNvPr id="3" name="s3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التكامل بين المواد</a:t>
            </a:r>
            <a:endParaRPr lang="en-US" sz="1600" dirty="0"/>
          </a:p>
        </p:txBody>
      </p:sp>
      <p:sp>
        <p:nvSpPr>
          <p:cNvPr id="4" name="s35_3"/>
          <p:cNvSpPr txBox="1"/>
          <p:nvPr/>
        </p:nvSpPr>
        <p:spPr>
          <a:xfrm>
            <a:off x="6263640" y="1143000"/>
            <a:ext cx="548640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 الرياضيات
</a:t>
            </a:r>
            <a:r>
              <a:rPr lang="ar-SA" altLang="en-US" sz="1550" dirty="0">
                <a:solidFill>
                  <a:srgbClr val="34405E"/>
                </a:solidFill>
                <a:latin typeface="Tahoma" pitchFamily="34" charset="0"/>
                <a:ea typeface="Tahoma" pitchFamily="34" charset="-122"/>
                <a:cs typeface="Tahoma" pitchFamily="34" charset="-120"/>
              </a:rPr>
              <a:t>سلسلة اليابسة: نبات الشوك ← اليرقة ← السرعوف ← السحلية ← البومة. كم حلقة فيها؟ وكم سهمًا؟</a:t>
            </a:r>
            <a:endParaRPr lang="ar-SA" sz="1550" dirty="0"/>
          </a:p>
        </p:txBody>
      </p:sp>
      <p:sp>
        <p:nvSpPr>
          <p:cNvPr id="5" name="s35_4@c1%chime"/>
          <p:cNvSpPr txBox="1"/>
          <p:nvPr/>
        </p:nvSpPr>
        <p:spPr>
          <a:xfrm>
            <a:off x="6263640" y="2834640"/>
            <a:ext cx="548640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٥ حلقات، و٤ أسهم (عدد الأسهم = عدد الحلقات − ١).</a:t>
            </a:r>
            <a:endParaRPr lang="ar-SA" sz="1500" dirty="0"/>
          </a:p>
        </p:txBody>
      </p:sp>
      <p:sp>
        <p:nvSpPr>
          <p:cNvPr id="6" name="s35_5"/>
          <p:cNvSpPr txBox="1"/>
          <p:nvPr/>
        </p:nvSpPr>
        <p:spPr>
          <a:xfrm>
            <a:off x="548640" y="1143000"/>
            <a:ext cx="5532120" cy="1600200"/>
          </a:xfrm>
          <a:prstGeom prst="roundRect">
            <a:avLst>
              <a:gd name="adj" fmla="val 8000"/>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لغتي
</a:t>
            </a:r>
            <a:r>
              <a:rPr lang="ar-SA" altLang="en-US" sz="1550" dirty="0">
                <a:solidFill>
                  <a:srgbClr val="34405E"/>
                </a:solidFill>
                <a:latin typeface="Tahoma" pitchFamily="34" charset="0"/>
                <a:ea typeface="Tahoma" pitchFamily="34" charset="-122"/>
                <a:cs typeface="Tahoma" pitchFamily="34" charset="-120"/>
              </a:rPr>
              <a:t>أكملي الجملة العلمية: «الشبكة الغذائية هي ..........................»</a:t>
            </a:r>
            <a:endParaRPr lang="ar-SA" sz="1550" dirty="0"/>
          </a:p>
        </p:txBody>
      </p:sp>
      <p:sp>
        <p:nvSpPr>
          <p:cNvPr id="7" name="s35_6@c2%chime"/>
          <p:cNvSpPr txBox="1"/>
          <p:nvPr/>
        </p:nvSpPr>
        <p:spPr>
          <a:xfrm>
            <a:off x="548640" y="2834640"/>
            <a:ext cx="553212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سلاسل غذائية متداخلة توضّح ترابط سلاسل الغذاء في النظام البيئي.</a:t>
            </a:r>
            <a:endParaRPr lang="ar-SA" sz="1450" dirty="0"/>
          </a:p>
        </p:txBody>
      </p:sp>
      <p:sp>
        <p:nvSpPr>
          <p:cNvPr id="8" name="s35_7@c3%sparkle"/>
          <p:cNvSpPr txBox="1"/>
          <p:nvPr/>
        </p:nvSpPr>
        <p:spPr>
          <a:xfrm>
            <a:off x="3017520" y="3657600"/>
            <a:ext cx="8732520" cy="1463040"/>
          </a:xfrm>
          <a:prstGeom prst="roundRect">
            <a:avLst>
              <a:gd name="adj" fmla="val 8750"/>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0E6F86"/>
                </a:solidFill>
                <a:latin typeface="Tahoma" pitchFamily="34" charset="0"/>
                <a:ea typeface="Tahoma" pitchFamily="34" charset="-122"/>
                <a:cs typeface="Tahoma" pitchFamily="34" charset="-120"/>
              </a:rPr>
              <a:t>👩‍🔬 مهنتي في المستقبل: عالمة الأحياء البحرية
</a:t>
            </a:r>
            <a:r>
              <a:rPr lang="ar-SA" altLang="en-US" sz="1550" dirty="0">
                <a:solidFill>
                  <a:srgbClr val="34405E"/>
                </a:solidFill>
                <a:latin typeface="Tahoma" pitchFamily="34" charset="0"/>
                <a:ea typeface="Tahoma" pitchFamily="34" charset="-122"/>
                <a:cs typeface="Tahoma" pitchFamily="34" charset="-120"/>
              </a:rPr>
              <a:t>تغوص لتدرس المخلوقات البحرية والعلاقات الغذائية بينها، وتساعد على حماية الشعاب المرجانية والأسماك في بحار وطني.</a:t>
            </a:r>
            <a:endParaRPr lang="ar-SA" sz="1550" dirty="0"/>
          </a:p>
        </p:txBody>
      </p:sp>
      <p:pic>
        <p:nvPicPr>
          <p:cNvPr id="9" name="s35_8@c3" descr="المستكشفة ببدلة الغوص">    </p:cNvPr>
          <p:cNvPicPr>
            <a:picLocks noChangeAspect="1"/>
          </p:cNvPicPr>
          <p:nvPr/>
        </p:nvPicPr>
        <p:blipFill>
          <a:blip r:embed="rId3"/>
          <a:stretch>
            <a:fillRect/>
          </a:stretch>
        </p:blipFill>
        <p:spPr>
          <a:xfrm>
            <a:off x="822960" y="3611880"/>
            <a:ext cx="1637852" cy="2651760"/>
          </a:xfrm>
          <a:prstGeom prst="rect">
            <a:avLst/>
          </a:prstGeom>
        </p:spPr>
      </p:pic>
      <p:sp>
        <p:nvSpPr>
          <p:cNvPr id="10" name="s35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5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subTnLst>
                                    <p:audio>
                                      <p:cMediaNode vol="50000" showWhenStopped="0">
                                        <p:cTn id="14" display="0" masterRel="sameClick">
                                          <p:stCondLst>
                                            <p:cond evt="onBegin" delay="0">
                                              <p:tn val="11"/>
                                            </p:cond>
                                          </p:stCondLst>
                                        </p:cTn>
                                        <p:tgtEl>
                                          <p:sndTgt r:embed="rId6"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6_1" descr="عنوان الشريحة">    </p:cNvPr>
          <p:cNvPicPr>
            <a:picLocks noChangeAspect="1"/>
          </p:cNvPicPr>
          <p:nvPr/>
        </p:nvPicPr>
        <p:blipFill>
          <a:blip r:embed="rId2"/>
          <a:stretch>
            <a:fillRect/>
          </a:stretch>
        </p:blipFill>
        <p:spPr>
          <a:xfrm>
            <a:off x="8246284" y="182880"/>
            <a:ext cx="3579651" cy="731520"/>
          </a:xfrm>
          <a:prstGeom prst="rect">
            <a:avLst/>
          </a:prstGeom>
        </p:spPr>
      </p:pic>
      <p:sp>
        <p:nvSpPr>
          <p:cNvPr id="3" name="s36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التقويم الختامي</a:t>
            </a:r>
            <a:endParaRPr lang="en-US" sz="1600" dirty="0"/>
          </a:p>
        </p:txBody>
      </p:sp>
      <p:sp>
        <p:nvSpPr>
          <p:cNvPr id="4" name="s36_3"/>
          <p:cNvSpPr txBox="1"/>
          <p:nvPr/>
        </p:nvSpPr>
        <p:spPr>
          <a:xfrm>
            <a:off x="10104120" y="1234440"/>
            <a:ext cx="1645920" cy="822960"/>
          </a:xfrm>
          <a:prstGeom prst="roundRect">
            <a:avLst>
              <a:gd name="adj" fmla="val 15556"/>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5" name="s36_4"/>
          <p:cNvSpPr txBox="1"/>
          <p:nvPr/>
        </p:nvSpPr>
        <p:spPr>
          <a:xfrm>
            <a:off x="5074920" y="1097280"/>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ما مصدر الطاقة في السلسلة الغذائية؟</a:t>
            </a:r>
            <a:endParaRPr lang="ar-SA" sz="1600" dirty="0"/>
          </a:p>
        </p:txBody>
      </p:sp>
      <p:sp>
        <p:nvSpPr>
          <p:cNvPr id="6" name="s36_5@c1%chime"/>
          <p:cNvSpPr txBox="1"/>
          <p:nvPr/>
        </p:nvSpPr>
        <p:spPr>
          <a:xfrm>
            <a:off x="548640" y="1097280"/>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الشمس.</a:t>
            </a:r>
            <a:endParaRPr lang="ar-SA" sz="1500" dirty="0"/>
          </a:p>
        </p:txBody>
      </p:sp>
      <p:sp>
        <p:nvSpPr>
          <p:cNvPr id="7" name="s36_6"/>
          <p:cNvSpPr txBox="1"/>
          <p:nvPr/>
        </p:nvSpPr>
        <p:spPr>
          <a:xfrm>
            <a:off x="10104120" y="2496312"/>
            <a:ext cx="1645920" cy="822960"/>
          </a:xfrm>
          <a:prstGeom prst="roundRect">
            <a:avLst>
              <a:gd name="adj" fmla="val 15556"/>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8" name="s36_7"/>
          <p:cNvSpPr txBox="1"/>
          <p:nvPr/>
        </p:nvSpPr>
        <p:spPr>
          <a:xfrm>
            <a:off x="5074920" y="2359152"/>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رتّبي: سمكة الشمس، طحالب، مالك الحزين، ذبابة مائية.</a:t>
            </a:r>
            <a:endParaRPr lang="ar-SA" sz="1600" dirty="0"/>
          </a:p>
        </p:txBody>
      </p:sp>
      <p:sp>
        <p:nvSpPr>
          <p:cNvPr id="9" name="s36_8@c2%chime"/>
          <p:cNvSpPr txBox="1"/>
          <p:nvPr/>
        </p:nvSpPr>
        <p:spPr>
          <a:xfrm>
            <a:off x="548640" y="2359152"/>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10" name="s36_9"/>
          <p:cNvSpPr txBox="1"/>
          <p:nvPr/>
        </p:nvSpPr>
        <p:spPr>
          <a:xfrm>
            <a:off x="10104120" y="3758184"/>
            <a:ext cx="1645920" cy="822960"/>
          </a:xfrm>
          <a:prstGeom prst="roundRect">
            <a:avLst>
              <a:gd name="adj" fmla="val 15556"/>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تحليل</a:t>
            </a:r>
            <a:endParaRPr lang="ar-SA" sz="1600" dirty="0"/>
          </a:p>
        </p:txBody>
      </p:sp>
      <p:sp>
        <p:nvSpPr>
          <p:cNvPr id="11" name="s36_10"/>
          <p:cNvSpPr txBox="1"/>
          <p:nvPr/>
        </p:nvSpPr>
        <p:spPr>
          <a:xfrm>
            <a:off x="5074920" y="3621024"/>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من شبكة المحيط: اذكري مخلوقًا مفترسًا وفريسةً في الوقت نفسه.</a:t>
            </a:r>
            <a:endParaRPr lang="ar-SA" sz="1600" dirty="0"/>
          </a:p>
        </p:txBody>
      </p:sp>
      <p:sp>
        <p:nvSpPr>
          <p:cNvPr id="12" name="s36_11@c3%chime"/>
          <p:cNvSpPr txBox="1"/>
          <p:nvPr/>
        </p:nvSpPr>
        <p:spPr>
          <a:xfrm>
            <a:off x="548640" y="3621024"/>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سمكة السردين (أو التونة، أو الدلفين، أو طائر النورس).</a:t>
            </a:r>
            <a:endParaRPr lang="ar-SA" sz="1500" dirty="0"/>
          </a:p>
        </p:txBody>
      </p:sp>
      <p:sp>
        <p:nvSpPr>
          <p:cNvPr id="13" name="s36_12"/>
          <p:cNvSpPr txBox="1"/>
          <p:nvPr/>
        </p:nvSpPr>
        <p:spPr>
          <a:xfrm>
            <a:off x="10104120" y="5020056"/>
            <a:ext cx="1645920" cy="822960"/>
          </a:xfrm>
          <a:prstGeom prst="roundRect">
            <a:avLst>
              <a:gd name="adj" fmla="val 15556"/>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14" name="s36_13"/>
          <p:cNvSpPr txBox="1"/>
          <p:nvPr/>
        </p:nvSpPr>
        <p:spPr>
          <a:xfrm>
            <a:off x="5074920" y="4882896"/>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صحّحي: «الشبكة الغذائية سلسلة غذائية واحدة طويلة».</a:t>
            </a:r>
            <a:endParaRPr lang="ar-SA" sz="1600" dirty="0"/>
          </a:p>
        </p:txBody>
      </p:sp>
      <p:sp>
        <p:nvSpPr>
          <p:cNvPr id="15" name="s36_14@c4%chime"/>
          <p:cNvSpPr txBox="1"/>
          <p:nvPr/>
        </p:nvSpPr>
        <p:spPr>
          <a:xfrm>
            <a:off x="548640" y="4882896"/>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500" dirty="0"/>
          </a:p>
        </p:txBody>
      </p:sp>
      <p:sp>
        <p:nvSpPr>
          <p:cNvPr id="16" name="s36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6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50000" showWhenStopped="0">
                                        <p:cTn id="20" display="0" masterRel="sameClick">
                                          <p:stCondLst>
                                            <p:cond evt="onBegin" delay="0">
                                              <p:tn val="17"/>
                                            </p:cond>
                                          </p:stCondLst>
                                        </p:cTn>
                                        <p:tgtEl>
                                          <p:sndTgt r:embed="rId5" name="chime.wav"/>
                                        </p:tgtEl>
                                      </p:cMediaNode>
                                    </p:audio>
                                  </p:sub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subTnLst>
                                    <p:audio>
                                      <p:cMediaNode vol="50000" showWhenStopped="0">
                                        <p:cTn id="26" display="0" masterRel="sameClick">
                                          <p:stCondLst>
                                            <p:cond evt="onBegin" delay="0">
                                              <p:tn val="23"/>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7_1" descr="عنوان الشريحة">    </p:cNvPr>
          <p:cNvPicPr>
            <a:picLocks noChangeAspect="1"/>
          </p:cNvPicPr>
          <p:nvPr/>
        </p:nvPicPr>
        <p:blipFill>
          <a:blip r:embed="rId2"/>
          <a:stretch>
            <a:fillRect/>
          </a:stretch>
        </p:blipFill>
        <p:spPr>
          <a:xfrm>
            <a:off x="6417484" y="182880"/>
            <a:ext cx="5408451" cy="731520"/>
          </a:xfrm>
          <a:prstGeom prst="rect">
            <a:avLst/>
          </a:prstGeom>
        </p:spPr>
      </p:pic>
      <p:sp>
        <p:nvSpPr>
          <p:cNvPr id="3" name="s37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الخرائط المفاهيمية</a:t>
            </a:r>
            <a:endParaRPr lang="en-US" sz="1600" dirty="0"/>
          </a:p>
        </p:txBody>
      </p:sp>
      <p:sp>
        <p:nvSpPr>
          <p:cNvPr id="4" name="s37_3"/>
          <p:cNvSpPr txBox="1"/>
          <p:nvPr/>
        </p:nvSpPr>
        <p:spPr>
          <a:xfrm>
            <a:off x="3794760" y="1097280"/>
            <a:ext cx="457200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انتقال الطاقة في النظام البيئي</a:t>
            </a:r>
            <a:endParaRPr lang="ar-SA" sz="1550" dirty="0"/>
          </a:p>
        </p:txBody>
      </p:sp>
      <p:sp>
        <p:nvSpPr>
          <p:cNvPr id="5" name="s37_4"/>
          <p:cNvSpPr txBox="1"/>
          <p:nvPr/>
        </p:nvSpPr>
        <p:spPr>
          <a:xfrm>
            <a:off x="8595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يبدأ من ↓</a:t>
            </a:r>
            <a:endParaRPr lang="ar-SA" sz="1350" dirty="0"/>
          </a:p>
        </p:txBody>
      </p:sp>
      <p:sp>
        <p:nvSpPr>
          <p:cNvPr id="6" name="s37_5"/>
          <p:cNvSpPr txBox="1"/>
          <p:nvPr/>
        </p:nvSpPr>
        <p:spPr>
          <a:xfrm>
            <a:off x="8595360" y="2194560"/>
            <a:ext cx="29260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7" name="s37_6@c1%pop"/>
          <p:cNvSpPr txBox="1"/>
          <p:nvPr/>
        </p:nvSpPr>
        <p:spPr>
          <a:xfrm>
            <a:off x="8595360" y="2194560"/>
            <a:ext cx="2926080" cy="566928"/>
          </a:xfrm>
          <a:prstGeom prst="roundRect">
            <a:avLst>
              <a:gd name="adj" fmla="val 22581"/>
            </a:avLst>
          </a:prstGeom>
          <a:solidFill>
            <a:srgbClr val="FFE08A"/>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الشمس</a:t>
            </a:r>
            <a:endParaRPr lang="ar-SA" sz="1550" dirty="0"/>
          </a:p>
        </p:txBody>
      </p:sp>
      <p:sp>
        <p:nvSpPr>
          <p:cNvPr id="8" name="s37_7"/>
          <p:cNvSpPr txBox="1"/>
          <p:nvPr/>
        </p:nvSpPr>
        <p:spPr>
          <a:xfrm>
            <a:off x="5166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يُمثَّل بـ ↓</a:t>
            </a:r>
            <a:endParaRPr lang="ar-SA" sz="1350" dirty="0"/>
          </a:p>
        </p:txBody>
      </p:sp>
      <p:sp>
        <p:nvSpPr>
          <p:cNvPr id="9" name="s37_8"/>
          <p:cNvSpPr txBox="1"/>
          <p:nvPr/>
        </p:nvSpPr>
        <p:spPr>
          <a:xfrm>
            <a:off x="617220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0" name="s37_9@c2%pop"/>
          <p:cNvSpPr txBox="1"/>
          <p:nvPr/>
        </p:nvSpPr>
        <p:spPr>
          <a:xfrm>
            <a:off x="6172200" y="2194560"/>
            <a:ext cx="219456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السلسلة الغذائية</a:t>
            </a:r>
            <a:endParaRPr lang="ar-SA" sz="1550" dirty="0"/>
          </a:p>
        </p:txBody>
      </p:sp>
      <p:sp>
        <p:nvSpPr>
          <p:cNvPr id="11" name="s37_10"/>
          <p:cNvSpPr txBox="1"/>
          <p:nvPr/>
        </p:nvSpPr>
        <p:spPr>
          <a:xfrm>
            <a:off x="379476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2" name="s37_11@c3%pop"/>
          <p:cNvSpPr txBox="1"/>
          <p:nvPr/>
        </p:nvSpPr>
        <p:spPr>
          <a:xfrm>
            <a:off x="3794760" y="2194560"/>
            <a:ext cx="219456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الشبكة الغذائية</a:t>
            </a:r>
            <a:endParaRPr lang="ar-SA" sz="1550" dirty="0"/>
          </a:p>
        </p:txBody>
      </p:sp>
      <p:sp>
        <p:nvSpPr>
          <p:cNvPr id="13" name="s37_12@c2"/>
          <p:cNvSpPr txBox="1"/>
          <p:nvPr/>
        </p:nvSpPr>
        <p:spPr>
          <a:xfrm>
            <a:off x="617220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مسار واحد</a:t>
            </a:r>
            <a:endParaRPr lang="ar-SA" sz="1350" dirty="0"/>
          </a:p>
        </p:txBody>
      </p:sp>
      <p:sp>
        <p:nvSpPr>
          <p:cNvPr id="14" name="s37_13@c3"/>
          <p:cNvSpPr txBox="1"/>
          <p:nvPr/>
        </p:nvSpPr>
        <p:spPr>
          <a:xfrm>
            <a:off x="379476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سلاسل متداخلة</a:t>
            </a:r>
            <a:endParaRPr lang="ar-SA" sz="1350" dirty="0"/>
          </a:p>
        </p:txBody>
      </p:sp>
      <p:sp>
        <p:nvSpPr>
          <p:cNvPr id="15" name="s37_14"/>
          <p:cNvSpPr txBox="1"/>
          <p:nvPr/>
        </p:nvSpPr>
        <p:spPr>
          <a:xfrm>
            <a:off x="685800" y="1783080"/>
            <a:ext cx="27432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العلاقات فيها ↓</a:t>
            </a:r>
            <a:endParaRPr lang="ar-SA" sz="1350" dirty="0"/>
          </a:p>
        </p:txBody>
      </p:sp>
      <p:sp>
        <p:nvSpPr>
          <p:cNvPr id="16" name="s37_15"/>
          <p:cNvSpPr txBox="1"/>
          <p:nvPr/>
        </p:nvSpPr>
        <p:spPr>
          <a:xfrm>
            <a:off x="210312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7" name="s37_16@c4%pop"/>
          <p:cNvSpPr txBox="1"/>
          <p:nvPr/>
        </p:nvSpPr>
        <p:spPr>
          <a:xfrm>
            <a:off x="2103120" y="2194560"/>
            <a:ext cx="1463040" cy="566928"/>
          </a:xfrm>
          <a:prstGeom prst="roundRect">
            <a:avLst>
              <a:gd name="adj" fmla="val 22581"/>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المفترس</a:t>
            </a:r>
            <a:endParaRPr lang="ar-SA" sz="1550" dirty="0"/>
          </a:p>
        </p:txBody>
      </p:sp>
      <p:sp>
        <p:nvSpPr>
          <p:cNvPr id="18" name="s37_17"/>
          <p:cNvSpPr txBox="1"/>
          <p:nvPr/>
        </p:nvSpPr>
        <p:spPr>
          <a:xfrm>
            <a:off x="54864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9" name="s37_18@c4%pop"/>
          <p:cNvSpPr txBox="1"/>
          <p:nvPr/>
        </p:nvSpPr>
        <p:spPr>
          <a:xfrm>
            <a:off x="548640" y="2194560"/>
            <a:ext cx="1463040" cy="566928"/>
          </a:xfrm>
          <a:prstGeom prst="roundRect">
            <a:avLst>
              <a:gd name="adj" fmla="val 22581"/>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الفريسة</a:t>
            </a:r>
            <a:endParaRPr lang="ar-SA" sz="1550" dirty="0"/>
          </a:p>
        </p:txBody>
      </p:sp>
      <p:sp>
        <p:nvSpPr>
          <p:cNvPr id="20" name="s37_19"/>
          <p:cNvSpPr txBox="1"/>
          <p:nvPr/>
        </p:nvSpPr>
        <p:spPr>
          <a:xfrm>
            <a:off x="3794760" y="3429000"/>
            <a:ext cx="4572000" cy="411480"/>
          </a:xfrm>
          <a:prstGeom prst="rect">
            <a:avLst/>
          </a:prstGeom>
          <a:noFill/>
          <a:ln/>
        </p:spPr>
        <p:txBody>
          <a:bodyPr wrap="square" lIns="63500" tIns="63500" rIns="63500" bIns="635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أمثلة من رحلتنا:</a:t>
            </a:r>
            <a:endParaRPr lang="ar-SA" sz="1500" dirty="0"/>
          </a:p>
        </p:txBody>
      </p:sp>
      <p:sp>
        <p:nvSpPr>
          <p:cNvPr id="21" name="s37_20"/>
          <p:cNvSpPr txBox="1"/>
          <p:nvPr/>
        </p:nvSpPr>
        <p:spPr>
          <a:xfrm>
            <a:off x="9555480" y="3931920"/>
            <a:ext cx="219456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اليابسة</a:t>
            </a:r>
            <a:endParaRPr lang="ar-SA" sz="1500" dirty="0"/>
          </a:p>
        </p:txBody>
      </p:sp>
      <p:sp>
        <p:nvSpPr>
          <p:cNvPr id="22" name="s37_21"/>
          <p:cNvSpPr txBox="1"/>
          <p:nvPr/>
        </p:nvSpPr>
        <p:spPr>
          <a:xfrm>
            <a:off x="548640" y="3931920"/>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3" name="s37_22@c5%pop"/>
          <p:cNvSpPr txBox="1"/>
          <p:nvPr/>
        </p:nvSpPr>
        <p:spPr>
          <a:xfrm>
            <a:off x="548640" y="3931920"/>
            <a:ext cx="886968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500" dirty="0"/>
          </a:p>
        </p:txBody>
      </p:sp>
      <p:sp>
        <p:nvSpPr>
          <p:cNvPr id="24" name="s37_23"/>
          <p:cNvSpPr txBox="1"/>
          <p:nvPr/>
        </p:nvSpPr>
        <p:spPr>
          <a:xfrm>
            <a:off x="9555480" y="4645152"/>
            <a:ext cx="219456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البركة</a:t>
            </a:r>
            <a:endParaRPr lang="ar-SA" sz="1500" dirty="0"/>
          </a:p>
        </p:txBody>
      </p:sp>
      <p:sp>
        <p:nvSpPr>
          <p:cNvPr id="25" name="s37_24"/>
          <p:cNvSpPr txBox="1"/>
          <p:nvPr/>
        </p:nvSpPr>
        <p:spPr>
          <a:xfrm>
            <a:off x="548640" y="4645152"/>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6" name="s37_25@c6%pop"/>
          <p:cNvSpPr txBox="1"/>
          <p:nvPr/>
        </p:nvSpPr>
        <p:spPr>
          <a:xfrm>
            <a:off x="548640" y="4645152"/>
            <a:ext cx="886968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27" name="s37_26"/>
          <p:cNvSpPr txBox="1"/>
          <p:nvPr/>
        </p:nvSpPr>
        <p:spPr>
          <a:xfrm>
            <a:off x="9555480" y="5358384"/>
            <a:ext cx="219456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المحيط</a:t>
            </a:r>
            <a:endParaRPr lang="ar-SA" sz="1500" dirty="0"/>
          </a:p>
        </p:txBody>
      </p:sp>
      <p:sp>
        <p:nvSpPr>
          <p:cNvPr id="28" name="s37_27"/>
          <p:cNvSpPr txBox="1"/>
          <p:nvPr/>
        </p:nvSpPr>
        <p:spPr>
          <a:xfrm>
            <a:off x="548640" y="5358384"/>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9" name="s37_28@c7%pop"/>
          <p:cNvSpPr txBox="1"/>
          <p:nvPr/>
        </p:nvSpPr>
        <p:spPr>
          <a:xfrm>
            <a:off x="548640" y="5358384"/>
            <a:ext cx="886968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شبكة: العوالق، السردين، التونة، الدلفين، النورس، الحوت القاتل</a:t>
            </a:r>
            <a:endParaRPr lang="ar-SA" sz="1500" dirty="0"/>
          </a:p>
        </p:txBody>
      </p:sp>
      <p:sp>
        <p:nvSpPr>
          <p:cNvPr id="30" name="s37_2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1" name="s37_3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2" grpId="0" animBg="1"/>
      <p:bldP spid="13" grpId="0" animBg="1"/>
      <p:bldP spid="14" grpId="0" animBg="1"/>
      <p:bldP spid="17" grpId="0" animBg="1"/>
      <p:bldP spid="19" grpId="0" animBg="1"/>
      <p:bldP spid="23" grpId="0" animBg="1"/>
      <p:bldP spid="26"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8_1" descr="عنوان الشريحة">    </p:cNvPr>
          <p:cNvPicPr>
            <a:picLocks noChangeAspect="1"/>
          </p:cNvPicPr>
          <p:nvPr/>
        </p:nvPicPr>
        <p:blipFill>
          <a:blip r:embed="rId2"/>
          <a:stretch>
            <a:fillRect/>
          </a:stretch>
        </p:blipFill>
        <p:spPr>
          <a:xfrm>
            <a:off x="7958473" y="182880"/>
            <a:ext cx="3867462" cy="731520"/>
          </a:xfrm>
          <a:prstGeom prst="rect">
            <a:avLst/>
          </a:prstGeom>
        </p:spPr>
      </p:pic>
      <p:sp>
        <p:nvSpPr>
          <p:cNvPr id="3" name="s3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قبلي – بعدي: أعرف الآن</a:t>
            </a:r>
            <a:endParaRPr lang="en-US" sz="1600" dirty="0"/>
          </a:p>
        </p:txBody>
      </p:sp>
      <p:sp>
        <p:nvSpPr>
          <p:cNvPr id="4" name="s38_3"/>
          <p:cNvSpPr txBox="1"/>
          <p:nvPr/>
        </p:nvSpPr>
        <p:spPr>
          <a:xfrm>
            <a:off x="2926080" y="1097280"/>
            <a:ext cx="88239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تذكّرن لغز الرحلة: </a:t>
            </a:r>
            <a:r>
              <a:rPr lang="ar-SA" altLang="en-US" sz="1700" b="1" dirty="0">
                <a:solidFill>
                  <a:srgbClr val="34405E"/>
                </a:solidFill>
                <a:latin typeface="Tahoma" pitchFamily="34" charset="0"/>
                <a:ea typeface="Tahoma" pitchFamily="34" charset="-122"/>
                <a:cs typeface="Tahoma" pitchFamily="34" charset="-120"/>
              </a:rPr>
              <a:t>أيّ المخلوقات يصل إليه أقلّ قدر من طاقة الشمس؟  (أ) نبات الشوك  (ب) اليرقة  (ج) البومة</a:t>
            </a:r>
            <a:endParaRPr lang="ar-SA" sz="1700" dirty="0"/>
          </a:p>
        </p:txBody>
      </p:sp>
      <p:sp>
        <p:nvSpPr>
          <p:cNvPr id="5" name="s38_4@c1%sparkle"/>
          <p:cNvSpPr txBox="1"/>
          <p:nvPr/>
        </p:nvSpPr>
        <p:spPr>
          <a:xfrm>
            <a:off x="2926080" y="2194560"/>
            <a:ext cx="8823960" cy="1417320"/>
          </a:xfrm>
          <a:prstGeom prst="roundRect">
            <a:avLst>
              <a:gd name="adj" fmla="val 9032"/>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900" b="1" dirty="0">
                <a:solidFill>
                  <a:srgbClr val="2F8A3A"/>
                </a:solidFill>
                <a:latin typeface="Tahoma" pitchFamily="34" charset="0"/>
                <a:ea typeface="Tahoma" pitchFamily="34" charset="-122"/>
                <a:cs typeface="Tahoma" pitchFamily="34" charset="-120"/>
              </a:rPr>
              <a:t>✔ (ج) البومة 🦉
</a:t>
            </a:r>
            <a:r>
              <a:rPr lang="ar-SA" altLang="en-US" sz="1550" dirty="0">
                <a:solidFill>
                  <a:srgbClr val="34405E"/>
                </a:solidFill>
                <a:latin typeface="Tahoma" pitchFamily="34" charset="0"/>
                <a:ea typeface="Tahoma" pitchFamily="34" charset="-122"/>
                <a:cs typeface="Tahoma" pitchFamily="34" charset="-120"/>
              </a:rPr>
              <a:t>لأنها في آخر السلسلة؛ وكل مخلوق يستخدم معظم الطاقة التي يحصل عليها، فلا ينتقل إلى المخلوق التالي إلا جزء صغير (تذكّرن كيف صغُرت كرة الطاقة في جولة الواقع الافتراضي!).</a:t>
            </a:r>
            <a:endParaRPr lang="ar-SA" sz="1550" dirty="0"/>
          </a:p>
        </p:txBody>
      </p:sp>
      <p:sp>
        <p:nvSpPr>
          <p:cNvPr id="6" name="s38_5@c2"/>
          <p:cNvSpPr txBox="1"/>
          <p:nvPr/>
        </p:nvSpPr>
        <p:spPr>
          <a:xfrm>
            <a:off x="2926080" y="3794760"/>
            <a:ext cx="8823960" cy="914400"/>
          </a:xfrm>
          <a:prstGeom prst="roundRect">
            <a:avLst>
              <a:gd name="adj" fmla="val 1400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6B4FC0"/>
                </a:solidFill>
                <a:latin typeface="Tahoma" pitchFamily="34" charset="0"/>
                <a:ea typeface="Tahoma" pitchFamily="34" charset="-122"/>
                <a:cs typeface="Tahoma" pitchFamily="34" charset="-120"/>
              </a:rPr>
              <a:t>✍️ بطاقة «أعرف الآن»: </a:t>
            </a:r>
            <a:r>
              <a:rPr lang="ar-SA" altLang="en-US" sz="1600" dirty="0">
                <a:solidFill>
                  <a:srgbClr val="34405E"/>
                </a:solidFill>
                <a:latin typeface="Tahoma" pitchFamily="34" charset="0"/>
                <a:ea typeface="Tahoma" pitchFamily="34" charset="-122"/>
                <a:cs typeface="Tahoma" pitchFamily="34" charset="-120"/>
              </a:rPr>
              <a:t>قبل الرحلة كنت أظن أن .................... ، والآن أعرف أن .................... .</a:t>
            </a:r>
            <a:endParaRPr lang="ar-SA" sz="1600" dirty="0"/>
          </a:p>
        </p:txBody>
      </p:sp>
      <p:sp>
        <p:nvSpPr>
          <p:cNvPr id="7" name="s38_6@c3"/>
          <p:cNvSpPr txBox="1"/>
          <p:nvPr/>
        </p:nvSpPr>
        <p:spPr>
          <a:xfrm>
            <a:off x="2926080" y="4892040"/>
            <a:ext cx="882396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قيّمي فهمك: </a:t>
            </a:r>
            <a:r>
              <a:rPr lang="ar-SA" altLang="en-US" sz="1600" dirty="0">
                <a:solidFill>
                  <a:srgbClr val="34405E"/>
                </a:solidFill>
                <a:latin typeface="Tahoma" pitchFamily="34" charset="0"/>
                <a:ea typeface="Tahoma" pitchFamily="34" charset="-122"/>
                <a:cs typeface="Tahoma" pitchFamily="34" charset="-120"/>
              </a:rPr>
              <a:t>⭐⭐⭐ فهمت تمامًا  •  ⭐⭐ فهمت  •  ⭐ أحتاج مساعدة</a:t>
            </a:r>
            <a:endParaRPr lang="ar-SA" sz="1600" dirty="0"/>
          </a:p>
        </p:txBody>
      </p:sp>
      <p:pic>
        <p:nvPicPr>
          <p:cNvPr id="8" name="s38_7" descr="المستكشفة تشير">    </p:cNvPr>
          <p:cNvPicPr>
            <a:picLocks noChangeAspect="1"/>
          </p:cNvPicPr>
          <p:nvPr/>
        </p:nvPicPr>
        <p:blipFill>
          <a:blip r:embed="rId3"/>
          <a:stretch>
            <a:fillRect/>
          </a:stretch>
        </p:blipFill>
        <p:spPr>
          <a:xfrm>
            <a:off x="320040" y="1463040"/>
            <a:ext cx="2767405" cy="4480560"/>
          </a:xfrm>
          <a:prstGeom prst="rect">
            <a:avLst/>
          </a:prstGeom>
        </p:spPr>
      </p:pic>
      <p:sp>
        <p:nvSpPr>
          <p:cNvPr id="9" name="s38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8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9_1" descr="عنوان الشريحة">    </p:cNvPr>
          <p:cNvPicPr>
            <a:picLocks noChangeAspect="1"/>
          </p:cNvPicPr>
          <p:nvPr/>
        </p:nvPicPr>
        <p:blipFill>
          <a:blip r:embed="rId2"/>
          <a:stretch>
            <a:fillRect/>
          </a:stretch>
        </p:blipFill>
        <p:spPr>
          <a:xfrm>
            <a:off x="3523535" y="274320"/>
            <a:ext cx="5144624" cy="731520"/>
          </a:xfrm>
          <a:prstGeom prst="rect">
            <a:avLst/>
          </a:prstGeom>
        </p:spPr>
      </p:pic>
      <p:sp>
        <p:nvSpPr>
          <p:cNvPr id="3" name="s39_2@a1%sparkle"/>
          <p:cNvSpPr txBox="1"/>
          <p:nvPr/>
        </p:nvSpPr>
        <p:spPr>
          <a:xfrm>
            <a:off x="2834640" y="1234440"/>
            <a:ext cx="6537960" cy="1371600"/>
          </a:xfrm>
          <a:prstGeom prst="roundRect">
            <a:avLst>
              <a:gd name="adj" fmla="val 9333"/>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تعلّمنا اليوم أن الطاقة تنتقل من الشمس إلى المنتِجات ثم إلى المستهلِكات في سلسلة غذائية، وأن السلاسل المتداخلة تكوّن شبكة غذائية فيها مفترس وفريسة.</a:t>
            </a:r>
            <a:endParaRPr lang="ar-SA" sz="1700" dirty="0"/>
          </a:p>
        </p:txBody>
      </p:sp>
      <p:sp>
        <p:nvSpPr>
          <p:cNvPr id="4" name="s39_3@a2"/>
          <p:cNvSpPr txBox="1"/>
          <p:nvPr/>
        </p:nvSpPr>
        <p:spPr>
          <a:xfrm>
            <a:off x="3291840" y="2743200"/>
            <a:ext cx="5577840" cy="594360"/>
          </a:xfrm>
          <a:prstGeom prst="rect">
            <a:avLst/>
          </a:prstGeom>
          <a:noFill/>
          <a:ln/>
        </p:spPr>
        <p:txBody>
          <a:bodyPr wrap="square" lIns="63500" tIns="63500" rIns="63500" bIns="63500" rtlCol="0" anchor="ctr"/>
          <a:lstStyle/>
          <a:p>
            <a:pPr rtl="1" algn="ctr" indent="0" marL="0">
              <a:buNone/>
            </a:pPr>
            <a:r>
              <a:rPr lang="ar-SA" altLang="en-US" sz="2400" dirty="0">
                <a:solidFill>
                  <a:srgbClr val="34405E"/>
                </a:solidFill>
                <a:latin typeface="Tahoma" pitchFamily="34" charset="0"/>
                <a:ea typeface="Tahoma" pitchFamily="34" charset="-122"/>
                <a:cs typeface="Tahoma" pitchFamily="34" charset="-120"/>
              </a:rPr>
              <a:t>☀️ ← 🌿 ← 🐛 ← 🦎 ← 🦉</a:t>
            </a:r>
            <a:endParaRPr lang="ar-SA" sz="2400" dirty="0"/>
          </a:p>
        </p:txBody>
      </p:sp>
      <p:sp>
        <p:nvSpPr>
          <p:cNvPr id="5" name="s39_4@a2"/>
          <p:cNvSpPr txBox="1"/>
          <p:nvPr/>
        </p:nvSpPr>
        <p:spPr>
          <a:xfrm>
            <a:off x="3794760" y="3474720"/>
            <a:ext cx="4617720" cy="548640"/>
          </a:xfrm>
          <a:prstGeom prst="roundRect">
            <a:avLst>
              <a:gd name="adj" fmla="val 50000"/>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بالعلم نرتقي، وبالإبداع نتميّز ✨</a:t>
            </a:r>
            <a:endParaRPr lang="ar-SA" sz="1700" dirty="0"/>
          </a:p>
        </p:txBody>
      </p:sp>
      <p:sp>
        <p:nvSpPr>
          <p:cNvPr id="6" name="s39_5@a3"/>
          <p:cNvSpPr txBox="1"/>
          <p:nvPr/>
        </p:nvSpPr>
        <p:spPr>
          <a:xfrm>
            <a:off x="4251960" y="4160520"/>
            <a:ext cx="3703320" cy="502920"/>
          </a:xfrm>
          <a:prstGeom prst="roundRect">
            <a:avLst>
              <a:gd name="adj" fmla="val 49091"/>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معلمة العلوم: أ/ شامه البقمي</a:t>
            </a:r>
            <a:endParaRPr lang="ar-SA" sz="1600" dirty="0"/>
          </a:p>
        </p:txBody>
      </p:sp>
      <p:pic>
        <p:nvPicPr>
          <p:cNvPr id="7" name="s39_6@a1" descr="المستكشفة تلوّح">    </p:cNvPr>
          <p:cNvPicPr>
            <a:picLocks noChangeAspect="1"/>
          </p:cNvPicPr>
          <p:nvPr/>
        </p:nvPicPr>
        <p:blipFill>
          <a:blip r:embed="rId3"/>
          <a:stretch>
            <a:fillRect/>
          </a:stretch>
        </p:blipFill>
        <p:spPr>
          <a:xfrm>
            <a:off x="9555480" y="1188720"/>
            <a:ext cx="2400300" cy="3886200"/>
          </a:xfrm>
          <a:prstGeom prst="rect">
            <a:avLst/>
          </a:prstGeom>
        </p:spPr>
      </p:pic>
      <p:pic>
        <p:nvPicPr>
          <p:cNvPr id="8" name="s39_7@a1" descr="المستكشفة ببدلة الغوص">    </p:cNvPr>
          <p:cNvPicPr>
            <a:picLocks noChangeAspect="1"/>
          </p:cNvPicPr>
          <p:nvPr/>
        </p:nvPicPr>
        <p:blipFill>
          <a:blip r:embed="rId4"/>
          <a:stretch>
            <a:fillRect/>
          </a:stretch>
        </p:blipFill>
        <p:spPr>
          <a:xfrm>
            <a:off x="411480" y="1188720"/>
            <a:ext cx="2400300" cy="3886200"/>
          </a:xfrm>
          <a:prstGeom prst="rect">
            <a:avLst/>
          </a:prstGeom>
        </p:spPr>
      </p:pic>
      <p:pic>
        <p:nvPicPr>
          <p:cNvPr id="9" name="s39_8" descr="قطار الرحلة">    </p:cNvPr>
          <p:cNvPicPr>
            <a:picLocks noChangeAspect="1"/>
          </p:cNvPicPr>
          <p:nvPr/>
        </p:nvPicPr>
        <p:blipFill>
          <a:blip r:embed="rId5"/>
          <a:stretch>
            <a:fillRect/>
          </a:stretch>
        </p:blipFill>
        <p:spPr>
          <a:xfrm>
            <a:off x="3429000" y="4754880"/>
            <a:ext cx="5349240" cy="1230325"/>
          </a:xfrm>
          <a:prstGeom prst="rect">
            <a:avLst/>
          </a:prstGeom>
        </p:spPr>
      </p:pic>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0" presetClass="path" presetSubtype="0" fill="hold" grpId="0" nodeType="clickEffect">
                                  <p:stCondLst>
                                    <p:cond delay="0"/>
                                  </p:stCondLst>
                                  <p:childTnLst>
                                    <p:animMotion origin="layout" path="M 0 0 L -0.85 0 E" pathEditMode="relative" ptsTypes="">
                                      <p:cBhvr>
                                        <p:cTn id="28" dur="2600" fill="hold" accel="40000" decel="40000"/>
                                        <p:tgtEl>
                                          <p:spTgt spid="9"/>
                                        </p:tgtEl>
                                        <p:attrNameLst>
                                          <p:attrName>ppt_x</p:attrName>
                                          <p:attrName>ppt_y</p:attrName>
                                        </p:attrNameLst>
                                      </p:cBhvr>
                                      <p:rCtr x="0" y="0"/>
                                    </p:animMotion>
                                  </p:childTnLst>
                                  <p:subTnLst>
                                    <p:audio>
                                      <p:cMediaNode vol="50000" showWhenStopped="0">
                                        <p:cTn id="29" display="0" masterRel="sameClick">
                                          <p:stCondLst>
                                            <p:cond evt="onBegin" delay="0">
                                              <p:tn val="27"/>
                                            </p:cond>
                                          </p:stCondLst>
                                        </p:cTn>
                                        <p:tgtEl>
                                          <p:sndTgt r:embed="rId8" name="train.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رحلة المستكشفة في عالم الطاقة – السلسلة الغذائية والشبكة الغذائية</dc:title>
  <dc:subject>PptxGenJS Presentation</dc:subject>
  <dc:creator>أ/ شامه البقمي</dc:creator>
  <cp:lastModifiedBy>أ/ شامه البقمي</cp:lastModifiedBy>
  <cp:revision>1</cp:revision>
  <dcterms:created xsi:type="dcterms:W3CDTF">2026-10-25T13:45:26Z</dcterms:created>
  <dcterms:modified xsi:type="dcterms:W3CDTF">2026-10-25T13:45:26Z</dcterms:modified>
</cp:coreProperties>
</file>