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الترحيب – بوابة الرحلة: رحّبي بالطالبات مع المستكشفة. اكتبي اليوم والتاريخ (قابل للتعديل). العناصر تظهر تلقائيًا، ويدخل القطار مع صوته 🔊، ثم اضغطي «هيا ننطلق!». فكرة الرحلة: المستكشفة تركب القطار، فتزور اليابسة بملابس المستكشفات، ثم تلبس بدلة الغوص لتزور البركة والمحيط (صفحات الكتاب ١١٢–١١٤ بالترتيب). تأكدي من تشغيل سماعات الفصل.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دعاء البداية: تردد الطالبات مع المعلمة قوله تعالى ﴿رَّبِّ زِدْنِي عِلْمًا﴾ [طه: ١١٤]، ثم انقري لإظهار الدعاء. بعدها انقري لإظهار «قوانين رحلتنا» قانونًا قانونًا. يمكن منح نجمة للمجموعة الملتزمة طوال الرحلة.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المحطة الأولى – قطار الذكريات (مراجعة المحللات ص١١١): اسألي كل سؤال، ثم اضغطي على بطاقة السؤال نفسها لتظهر الإجابة مع صوت التعزيز 🔔 (يمكن بأي ترتيب). اختمي بالنقر لإظهار سؤال الربط: فكيف تنتقل الطاقة بين المخلوقات؟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فكّري بسرعة: تختار الطالبة بطاقة وتصنّفها، ثم تضغط المعلمة على البطاقة نفسها لتظهر الإجابة: الفطر والبكتيريا محللات، العشب والشجرة منتجات، الأرنب والأسد مستهلكات.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التمهيد (قياس قبلي): اعرضي اللغز، واطلبي التصويت دون تصحيح، وسجلي عدد الإجابات لكل خيار. نعود إليه في «قياس أثر التعلم». الإجابة: (ج) البومة؛ لأنها في آخر السلسلة، وكل مخلوق يستخدم معظم الطاقة التي يحصل عليها (ربط بنموذج شريط الطاقة ص١٠٩). الصور من الكتاب ص١١٢.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نواتج التعلم: انقري لإظهار كل ناتج مع النشاط الذي يحققه وأداة تقويمه. الأفعال قابلة للقياس: تعرّف، تحدد، تتتبّع، تميّز، تقارن، تستنتج.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الرحلة (لعبة القطار): مع كل نقرة يتحرك القطار إلى المحطة التالية مع صوت القطار 🔊 وتنبض دائرة المحطة. النقرة الخامسة تُظهر تبديل الملابس. كل رقم رابط: اضغطي عليه للانتقال إلى المحطة مباشرة.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المحطة الثانية – اليابسة: يدخل القطار مع صوته 🔊 وتظهر لافتة المحطة، ثم يغادر وتظهر الشريحة. أنظر وأتساءل: اعرضي صورة البومة من الكتاب ص١١٢، واجمعي التوقعات دون تصحيح، ثم انقري لإظهار «لنتحقق».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فهم قرائي (ص١١٢) بصورة صفحة الكتاب: تقرأ الطالبات الصفحة، ثم تختار طالبة سؤالًا، وتضغط المعلمة على بطاقة السؤال لتظهر الإجابة مع تظليل الدليل في صفحة الكتاب 🟨 وصوت التعزيز. الأسئلة: حرفي (مصدر الطاقة)، استنتاجي (لماذا لا يأخذ الحيوان الطاقة من الشمس)، المفردة المظللة (السلسلة الغذائية)، قراءة الشكل (السؤال من مربع «أقرأ الشكل» في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بالقرآن الكريم: الآية واردة في الكتاب ص١١٢ (العنكبوت: ٦٠). تتلوها المعلمة وترددها الطالبات. لا ندّعي أن الآية تثبت تفاصيل علمية. تنبيه: الآية مكتوبة بالرسم الإملائي؛ إن رغبتِ بالرسم العثماني كما في الكتاب فانسخيه من مصحف «تنزيل».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جولة الواقع الافتراضي (انتقال Morph): «ارتدين نظارة الواقع الافتراضي بخيالكن». كرة الطاقة ⚡ عند الشمس. مع كل انتقال تطير الكاميرا داخل المشهد إلى المخلوق التالي، وتنتقل كرة الطاقة وتصغر. تحتاج PowerPoint 2019 أو 365 لظهور حركة Morph؛ في النسخ الأقدم يظهر تلاشٍ عادي.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نبات الشوك – منتج: الكاميرا تطير إليه، والطاقة تصل من الشمس (السهم المتقطع). اسألي السؤال ثم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اليرقة – مستهلك آكل أعشاب: تأكل نبات الشوك. لاحظي مع الطالبات أن كرة الطاقة صغرت.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السرعوف (المنتس) – مستهلك: يصطاد اليرقة. ربط بالمفترس والفريسة (تمهيد لص١١٤).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السحلية – مستهلك: تأكل السرعوف. سؤال الملاحظة: لماذا تصغر كرة الطاقة؟ (ربط بنموذج شريط الطاقة ص١٠٩). عدد ⚡ تمثيل تقريبي من إعداد المعلمة.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البومة – آخر حلقة في السلسلة: يصل إليها أقل قدر من الطاقة.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العودة إلى المشهد كاملًا: تظهر السلسلة بأسهمها، والمحللات (الفطر) تحلل المخلوقات بعد موتها كما في نص الكتاب ص١١٢. انقري لإظهار السلسلة كتابةً ثم الاستنتاج.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رتّبي السلسلة: الصور من الكتاب ص١١٢ بترتيب عشوائي. تقول الطالبة ترتيب الصورة، ثم تضغط المعلمة على الصورة نفسها ليظهر رقمها مع صوت. بعد اكتمال الأرقام انقري لإظهار السلسلة، ثم سؤال التحدي.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اكتشفي الخطأ (التناقض المعرفي): تظهر كل عبارة غير صحيحة بالنقر، ثم سؤال يثير التفكير، ثم التصحيح بالدليل من الكتاب (إرشاد ص١١٢: تشير الأسهم إلى المستهلك التالي). هذه تصورات شائعة وليست أخطاء صدرت من الطالبات.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المحطة الثالثة – البركة: يدخل القطار مع صوته 🔊 ثم تظهر الشريحة. النقرة الأولى: تبدّل المستكشفة ملابسها وتظهر ببدلة الغوص ✨. اطرحي سؤال التوقع وطبّقي «فكّري – زاوجي – شاركي»، ثم النقرة الثانية لإظهار التحقق (من بداية نص ص١١٣).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فهم قرائي (ص١١٣) بصورة صفحة الكتاب: تقرأ الطالبات الفقرات، ثم تضغط المعلمة على بطاقة السؤال لتظهر الإجابة ويُظلَّل الدليل في الصفحة. السؤال الأخير يربط النص بالشكل (مالك الحزين في الشكل والنص).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الطاقة تتحرك في البركة (محاكاة): مع كل نقرة تنطلق كرة الطاقة ⚡ إلى المخلوق التالي، ويُرسم السهم، وينبض المخلوق مع صوت، ويظهر شرح الخطوة (من نص الكتاب ص١١٣). لاحظي مع الطالبات أن كرة الطاقة تصغر في كل حلقة. النقرة الخامسة تعرض السلسلة كاملة. الفقاعات تتحرك تلقائيًا. الصور من شكل الكتاب ص١١٣.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المقارنة: تملأ الطالبات الجدول شفهيًا صفًّا صفًّا، ثم انقري لإظهار الصف. الأمثلة من شكلي الكتاب ص١١٢ و١١٣.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التقويم التكويني بثلاثة مستويات: أكتشف (تذكّر)، أفكّر (فهم من النص)، أتحدّى نفسي (استنتاج). لكل سؤال: فرصة للإجابة، ثم نقرة للتلميح، ثم نقرة للإجابة مع صوت التعزيز. سؤال «أتحدّى نفسي» من إعداد المعلمة.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أختبر نفسي (ص١١٣) – السؤالان بنصهما من الكتاب. المثال المقترح في التفكير الناقد من إعداد المعلمة. عززي أطول سلسلة صحيحة بنجمة.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المحطة الرابعة – المحيط: يصل القطار (صوت الانتقال 🔊) وتغوص المستكشفة مع صوت الفقاعات. اطرحي سؤال التفكير (الأمثلة من شكل الكتاب ص١١٤)، واستقبلي الاقتراحات، ثم انقري لإظهار المفهوم الجديد: الشبكة الغذائية.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فهم قرائي (ص١١٤) بصورة صفحة الكتاب: تضغط المعلمة على بطاقة السؤال لتظهر الإجابة ويُظلَّل الدليل في الصفحة. سؤال قراءة الشكل بنصه من مربع «أقرأ الشكل» في الكتاب؛ الإرشاد: تتجه الأسهم من الفريسة إلى المفترس (تحققي من الأسهم في كتاب الطالبة).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المفترس والفريسة (ص١١٤): اضغطي على بطاقة «المفترس» ثم «الفريسة» لكشف التعريف (من نص الكتاب). ثم انقري لإظهار المثال من شكل الكتاب. اطلبي مثالًا من سلسلة اليابسة (السحلية: مفترسة للسرعوف، وفريسة للبومة).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الطاقة في شبكة المحيط (محاكاة فوق شكل الكتاب ص١١٤): النقرة ١: كرة الطاقة من الشمس إلى العوالق. النقرة ٢: إلى السردين. النقرة ٣: تتفرّع الطاقة إلى التونة والدلفين والنورس (هذا ما يجعلها شبكة لا سلسلة). النقرة ٤: ثلاث كرات تصل إلى الحوت القاتل، وهو المفترس صاحب أكبر عدد من الفرائس. تحققي من اتجاه الأسهم في كتاب الطالبة.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من أنا؟ (من شكل شبكة المحيط ص١١٤): تقرأ طالبة الوصف، وتجيب زميلاتها، ثم تضغط المعلمة على زر «من أنا؟» ليظهر الجواب مع صوت التعزيز.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محطة كنز المعرفة: يصل القطار مع صوته 🔊. السبورة المنظمة بشكل «فن»: انقري لإظهار خصائص السلسلة، ثم الشبكة، ثم المشترك. المحتوى مستخلص من نص الكتاب ص١١٢–١١٤.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تحدّي العقول (تحليل، تقويم، إبداع): لكل مجموعة سؤال، ثم تعرض إجابتها، ثم انقري لإظهار الإجابة المتوقعة. الأسئلة من إعداد المعلمة؛ في «أبتكر» تُقبل أي شبكة منطقية.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بالحياة (إثرائي، من إعداد المعلمة): انقري لإظهار كل موقف، واسألي عن أمثلة من البيت. ثم تكتب كل طالبة سلسلة لوجبة فطورها.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بالوطن (إثرائي، ليس من نص الكتاب): الزر يفتح الموقع الرسمي للمركز الوطني لتنمية الحياة الفطرية https://www.ncw.gov.sa/ أثناء العرض.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التكامل: الرياضيات من شكل الكتاب ص١١٢ (٥ حلقات و٤ أسهم). لغتي: تعريف الكتاب ص١١٤. المهنة: عالمة الأحياء البحرية.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حصاد المعرفة (التقويم الختامي): فهم، تطبيق، تحليل، تصحيح مفهوم. تجيب الطالبات في السبورات الصغيرة أو شفهيًا، ثم تظهر الإجابة بالنقر مع صوت التعزيز.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أكملي خريطة المفاهيم: الخانات المنقطة فارغة؛ تشارك الطالبات في تعبئتها، وبعد كل مشاركة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قياس أثر التعلم: أعيدي لغز البداية واطلبي التصويت مرة أخرى، وقارني عدد الإجابات الصحيحة قبل الدرس وبعده. ثم بطاقة «أعرف الآن» والتقييم الذاتي بالنجوم.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الختام: أثني على الطالبات («أبدعتنّ يا مستكشفاتي!») ولخّصي الدرس. العناصر تظهر تلقائيًا، وعند النقر يغادر القطار مع صوته 🔊 معلنًا نهاية الرحلة. الدرس التالي في الكتاب: التنافس (ص١١٥).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1.xml"/><Relationship Id="rId8" Type="http://schemas.openxmlformats.org/officeDocument/2006/relationships/audio" Target="../media/snd_train.wav"/><Relationship Id="rId9" Type="http://schemas.openxmlformats.org/officeDocument/2006/relationships/audio" Target="../media/snd_chime.wav"/></Relationships>
</file>

<file path=ppt/slides/_rels/slide2.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 Id="rId6" Type="http://schemas.openxmlformats.org/officeDocument/2006/relationships/audio" Target="../media/snd_pop.wav"/></Relationships>
</file>

<file path=ppt/slides/_rels/slide3.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3.xml"/><Relationship Id="rId6" Type="http://schemas.openxmlformats.org/officeDocument/2006/relationships/audio" Target="../media/snd_whoosh.wav"/><Relationship Id="rId7" Type="http://schemas.openxmlformats.org/officeDocument/2006/relationships/audio" Target="../media/snd_chime.wav"/></Relationships>
</file>

<file path=ppt/slides/_rels/slide4.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4.xml"/><Relationship Id="rId5" Type="http://schemas.openxmlformats.org/officeDocument/2006/relationships/audio" Target="../media/snd_pop.wav"/></Relationships>
</file>

<file path=ppt/slides/_rels/slide5.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5-2.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8.png"/><Relationship Id="rId6" Type="http://schemas.openxmlformats.org/officeDocument/2006/relationships/image" Target="../media/image-38-3.png"/><Relationship Id="rId7" Type="http://schemas.openxmlformats.org/officeDocument/2006/relationships/slideLayout" Target="../slideLayouts/slideLayout1.xml"/><Relationship Id="rId8" Type="http://schemas.openxmlformats.org/officeDocument/2006/relationships/notesSlide" Target="../notesSlides/notesSlide5.xml"/><Relationship Id="rId9" Type="http://schemas.openxmlformats.org/officeDocument/2006/relationships/audio" Target="../media/snd_pop.wav"/></Relationships>
</file>

<file path=ppt/slides/_rels/slide6.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4" Type="http://schemas.openxmlformats.org/officeDocument/2006/relationships/slide" Target="slide8.xml"/><Relationship Id="rId5" Type="http://schemas.openxmlformats.org/officeDocument/2006/relationships/slide" Target="slide20.xml"/><Relationship Id="rId6" Type="http://schemas.openxmlformats.org/officeDocument/2006/relationships/slide" Target="slide26.xml"/><Relationship Id="rId7" Type="http://schemas.openxmlformats.org/officeDocument/2006/relationships/slide" Target="slide31.xml"/><Relationship Id="rId1" Type="http://schemas.openxmlformats.org/officeDocument/2006/relationships/image" Target="../media/Slide-11-image-1.jpeg"/><Relationship Id="rId2" Type="http://schemas.openxmlformats.org/officeDocument/2006/relationships/image" Target="../media/image-7-2.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20-5.png"/><Relationship Id="rId11" Type="http://schemas.openxmlformats.org/officeDocument/2006/relationships/slideLayout" Target="../slideLayouts/slideLayout1.xml"/><Relationship Id="rId12" Type="http://schemas.openxmlformats.org/officeDocument/2006/relationships/notesSlide" Target="../notesSlides/notesSlide7.xml"/><Relationship Id="rId13" Type="http://schemas.openxmlformats.org/officeDocument/2006/relationships/audio" Target="../media/snd_chime.wav"/><Relationship Id="rId14" Type="http://schemas.openxmlformats.org/officeDocument/2006/relationships/audio" Target="../media/snd_train.wav"/><Relationship Id="rId15" Type="http://schemas.openxmlformats.org/officeDocument/2006/relationships/audio" Target="../media/snd_sparkle.wav"/></Relationships>
</file>

<file path=ppt/slides/_rels/slide8.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8-2.png"/><Relationship Id="rId3" Type="http://schemas.openxmlformats.org/officeDocument/2006/relationships/image" Target="../media/image-1-4.png"/><Relationship Id="rId4" Type="http://schemas.openxmlformats.org/officeDocument/2006/relationships/image" Target="../media/image-38-3.png"/><Relationship Id="rId5" Type="http://schemas.openxmlformats.org/officeDocument/2006/relationships/image" Target="../media/image-11-8.png"/><Relationship Id="rId6" Type="http://schemas.openxmlformats.org/officeDocument/2006/relationships/slideLayout" Target="../slideLayouts/slideLayout1.xml"/><Relationship Id="rId7" Type="http://schemas.openxmlformats.org/officeDocument/2006/relationships/notesSlide" Target="../notesSlides/notesSlide8.xml"/><Relationship Id="rId8" Type="http://schemas.openxmlformats.org/officeDocument/2006/relationships/audio" Target="../media/snd_train.wav"/><Relationship Id="rId9" Type="http://schemas.openxmlformats.org/officeDocument/2006/relationships/audio" Target="../media/snd_chime.wav"/></Relationships>
</file>

<file path=ppt/slides/_rels/slide9.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 Id="rId6" Type="http://schemas.openxmlformats.org/officeDocument/2006/relationships/audio" Target="../media/snd_chime.wav"/></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 Id="rId13" Type="http://schemas.openxmlformats.org/officeDocument/2006/relationships/audio" Target="../media/snd_sparkle.wav"/></Relationships>
</file>

<file path=ppt/slides/_rels/slide12.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2.xml"/><Relationship Id="rId12" Type="http://schemas.openxmlformats.org/officeDocument/2006/relationships/audio" Target="../media/snd_whoosh.wav"/><Relationship Id="rId13" Type="http://schemas.openxmlformats.org/officeDocument/2006/relationships/audio" Target="../media/snd_pop.wav"/><Relationship Id="rId14" Type="http://schemas.openxmlformats.org/officeDocument/2006/relationships/audio" Target="../media/snd_chime.wav"/></Relationships>
</file>

<file path=ppt/slides/_rels/slide13.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3.xml"/><Relationship Id="rId12" Type="http://schemas.openxmlformats.org/officeDocument/2006/relationships/audio" Target="../media/snd_pop.wav"/><Relationship Id="rId13" Type="http://schemas.openxmlformats.org/officeDocument/2006/relationships/audio" Target="../media/snd_chime.wav"/></Relationships>
</file>

<file path=ppt/slides/_rels/slide14.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4.xml"/><Relationship Id="rId12" Type="http://schemas.openxmlformats.org/officeDocument/2006/relationships/audio" Target="../media/snd_pop.wav"/><Relationship Id="rId13" Type="http://schemas.openxmlformats.org/officeDocument/2006/relationships/audio" Target="../media/snd_chime.wav"/></Relationships>
</file>

<file path=ppt/slides/_rels/slide15.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5.xml"/><Relationship Id="rId12" Type="http://schemas.openxmlformats.org/officeDocument/2006/relationships/audio" Target="../media/snd_pop.wav"/><Relationship Id="rId13" Type="http://schemas.openxmlformats.org/officeDocument/2006/relationships/audio" Target="../media/snd_chime.wav"/></Relationships>
</file>

<file path=ppt/slides/_rels/slide16.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6.xml"/><Relationship Id="rId12" Type="http://schemas.openxmlformats.org/officeDocument/2006/relationships/audio" Target="../media/snd_pop.wav"/><Relationship Id="rId13" Type="http://schemas.openxmlformats.org/officeDocument/2006/relationships/audio" Target="../media/snd_chime.wav"/></Relationships>
</file>

<file path=ppt/slides/_rels/slide17.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7-9.png"/><Relationship Id="rId10" Type="http://schemas.openxmlformats.org/officeDocument/2006/relationships/image" Target="../media/image-11-9.png"/><Relationship Id="rId11" Type="http://schemas.openxmlformats.org/officeDocument/2006/relationships/slideLayout" Target="../slideLayouts/slideLayout1.xml"/><Relationship Id="rId12" Type="http://schemas.openxmlformats.org/officeDocument/2006/relationships/notesSlide" Target="../notesSlides/notesSlide17.xml"/><Relationship Id="rId13" Type="http://schemas.openxmlformats.org/officeDocument/2006/relationships/audio" Target="../media/snd_chime.wav"/><Relationship Id="rId14" Type="http://schemas.openxmlformats.org/officeDocument/2006/relationships/audio" Target="../media/snd_sparkle.wav"/></Relationships>
</file>

<file path=ppt/slides/_rels/slide18.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8-2.png"/><Relationship Id="rId3" Type="http://schemas.openxmlformats.org/officeDocument/2006/relationships/image" Target="../media/image-11-7.png"/><Relationship Id="rId4" Type="http://schemas.openxmlformats.org/officeDocument/2006/relationships/image" Target="../media/image-11-4.png"/><Relationship Id="rId5" Type="http://schemas.openxmlformats.org/officeDocument/2006/relationships/image" Target="../media/image-11-8.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slideLayout" Target="../slideLayouts/slideLayout1.xml"/><Relationship Id="rId9" Type="http://schemas.openxmlformats.org/officeDocument/2006/relationships/notesSlide" Target="../notesSlides/notesSlide18.xml"/><Relationship Id="rId10" Type="http://schemas.openxmlformats.org/officeDocument/2006/relationships/audio" Target="../media/snd_sparkle.wav"/><Relationship Id="rId11" Type="http://schemas.openxmlformats.org/officeDocument/2006/relationships/audio" Target="../media/snd_chime.wav"/><Relationship Id="rId12" Type="http://schemas.openxmlformats.org/officeDocument/2006/relationships/audio" Target="../media/snd_pop.wav"/></Relationships>
</file>

<file path=ppt/slides/_rels/slide19.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 Id="rId5" Type="http://schemas.openxmlformats.org/officeDocument/2006/relationships/audio" Target="../media/snd_chime.wav"/></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 Id="rId9" Type="http://schemas.openxmlformats.org/officeDocument/2006/relationships/audio" Target="../media/snd_train.wav"/><Relationship Id="rId10" Type="http://schemas.openxmlformats.org/officeDocument/2006/relationships/audio" Target="../media/snd_chime.wav"/><Relationship Id="rId11" Type="http://schemas.openxmlformats.org/officeDocument/2006/relationships/audio" Target="../media/snd_sparkle.wav"/></Relationships>
</file>

<file path=ppt/slides/_rels/slide21.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1-2.png"/><Relationship Id="rId3" Type="http://schemas.openxmlformats.org/officeDocument/2006/relationships/image" Target="../media/image-21-3.jpg"/><Relationship Id="rId4" Type="http://schemas.openxmlformats.org/officeDocument/2006/relationships/slideLayout" Target="../slideLayouts/slideLayout1.xml"/><Relationship Id="rId5" Type="http://schemas.openxmlformats.org/officeDocument/2006/relationships/notesSlide" Target="../notesSlides/notesSlide21.xml"/><Relationship Id="rId6" Type="http://schemas.openxmlformats.org/officeDocument/2006/relationships/audio" Target="../media/snd_chime.wav"/></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11-3.png"/><Relationship Id="rId4" Type="http://schemas.openxmlformats.org/officeDocument/2006/relationships/image" Target="../media/image-20-6.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11-9.png"/><Relationship Id="rId9" Type="http://schemas.openxmlformats.org/officeDocument/2006/relationships/image" Target="../media/image-11-9.png"/><Relationship Id="rId10" Type="http://schemas.openxmlformats.org/officeDocument/2006/relationships/image" Target="../media/image-11-9.png"/><Relationship Id="rId11" Type="http://schemas.openxmlformats.org/officeDocument/2006/relationships/image" Target="../media/image-11-9.png"/><Relationship Id="rId12" Type="http://schemas.openxmlformats.org/officeDocument/2006/relationships/image" Target="../media/image-22-12.png"/><Relationship Id="rId13" Type="http://schemas.openxmlformats.org/officeDocument/2006/relationships/image" Target="../media/image-22-12.png"/><Relationship Id="rId14" Type="http://schemas.openxmlformats.org/officeDocument/2006/relationships/image" Target="../media/image-22-12.png"/><Relationship Id="rId15" Type="http://schemas.openxmlformats.org/officeDocument/2006/relationships/image" Target="../media/image-22-12.png"/><Relationship Id="rId16" Type="http://schemas.openxmlformats.org/officeDocument/2006/relationships/image" Target="../media/image-22-12.png"/><Relationship Id="rId17" Type="http://schemas.openxmlformats.org/officeDocument/2006/relationships/image" Target="../media/image-22-12.png"/><Relationship Id="rId18" Type="http://schemas.openxmlformats.org/officeDocument/2006/relationships/slideLayout" Target="../slideLayouts/slideLayout1.xml"/><Relationship Id="rId19" Type="http://schemas.openxmlformats.org/officeDocument/2006/relationships/notesSlide" Target="../notesSlides/notesSlide22.xml"/><Relationship Id="rId20" Type="http://schemas.openxmlformats.org/officeDocument/2006/relationships/audio" Target="../media/snd_bubbles.wav"/><Relationship Id="rId21" Type="http://schemas.openxmlformats.org/officeDocument/2006/relationships/audio" Target="../media/snd_sparkle.wav"/><Relationship Id="rId22" Type="http://schemas.openxmlformats.org/officeDocument/2006/relationships/audio" Target="../media/snd_pop.wav"/><Relationship Id="rId23" Type="http://schemas.openxmlformats.org/officeDocument/2006/relationships/audio" Target="../media/snd_chime.wav"/></Relationships>
</file>

<file path=ppt/slides/_rels/slide23.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 Id="rId5" Type="http://schemas.openxmlformats.org/officeDocument/2006/relationships/audio" Target="../media/snd_pop.wav"/><Relationship Id="rId6" Type="http://schemas.openxmlformats.org/officeDocument/2006/relationships/audio" Target="../media/snd_chime.wav"/></Relationships>
</file>

<file path=ppt/slides/_rels/slide24.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 Id="rId5" Type="http://schemas.openxmlformats.org/officeDocument/2006/relationships/audio" Target="../media/snd_chime.wav"/></Relationships>
</file>

<file path=ppt/slides/_rels/slide25.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5-2.png"/><Relationship Id="rId3" Type="http://schemas.openxmlformats.org/officeDocument/2006/relationships/image" Target="../media/image-20-5.png"/><Relationship Id="rId4" Type="http://schemas.openxmlformats.org/officeDocument/2006/relationships/slideLayout" Target="../slideLayouts/slideLayout1.xml"/><Relationship Id="rId5" Type="http://schemas.openxmlformats.org/officeDocument/2006/relationships/notesSlide" Target="../notesSlides/notesSlide25.xml"/><Relationship Id="rId6" Type="http://schemas.openxmlformats.org/officeDocument/2006/relationships/audio" Target="../media/snd_chime.wav"/><Relationship Id="rId7" Type="http://schemas.openxmlformats.org/officeDocument/2006/relationships/audio" Target="../media/snd_sparkle.wav"/></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image" Target="../media/image-20-5.png"/><Relationship Id="rId4" Type="http://schemas.openxmlformats.org/officeDocument/2006/relationships/slideLayout" Target="../slideLayouts/slideLayout1.xml"/><Relationship Id="rId5" Type="http://schemas.openxmlformats.org/officeDocument/2006/relationships/notesSlide" Target="../notesSlides/notesSlide26.xml"/><Relationship Id="rId6" Type="http://schemas.openxmlformats.org/officeDocument/2006/relationships/audio" Target="../media/snd_train.wav"/><Relationship Id="rId7" Type="http://schemas.openxmlformats.org/officeDocument/2006/relationships/audio" Target="../media/snd_bubbles.wav"/><Relationship Id="rId8" Type="http://schemas.openxmlformats.org/officeDocument/2006/relationships/audio" Target="../media/snd_chime.wav"/><Relationship Id="rId9" Type="http://schemas.openxmlformats.org/officeDocument/2006/relationships/audio" Target="../media/snd_sparkle.wav"/></Relationships>
</file>

<file path=ppt/slides/_rels/slide27.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7-2.png"/><Relationship Id="rId3" Type="http://schemas.openxmlformats.org/officeDocument/2006/relationships/image" Target="../media/image-27-3.jpg"/><Relationship Id="rId4" Type="http://schemas.openxmlformats.org/officeDocument/2006/relationships/slideLayout" Target="../slideLayouts/slideLayout1.xml"/><Relationship Id="rId5" Type="http://schemas.openxmlformats.org/officeDocument/2006/relationships/notesSlide" Target="../notesSlides/notesSlide27.xml"/><Relationship Id="rId6" Type="http://schemas.openxmlformats.org/officeDocument/2006/relationships/audio" Target="../media/snd_chime.wav"/></Relationships>
</file>

<file path=ppt/slides/_rels/slide28.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 Id="rId5" Type="http://schemas.openxmlformats.org/officeDocument/2006/relationships/audio" Target="../media/snd_sparkle.wav"/><Relationship Id="rId6" Type="http://schemas.openxmlformats.org/officeDocument/2006/relationships/audio" Target="../media/snd_chime.wav"/></Relationships>
</file>

<file path=ppt/slides/_rels/slide29.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9-2.png"/><Relationship Id="rId3" Type="http://schemas.openxmlformats.org/officeDocument/2006/relationships/image" Target="../media/image-29-3.jpg"/><Relationship Id="rId4" Type="http://schemas.openxmlformats.org/officeDocument/2006/relationships/image" Target="../media/image-11-9.png"/><Relationship Id="rId5" Type="http://schemas.openxmlformats.org/officeDocument/2006/relationships/image" Target="../media/image-11-9.png"/><Relationship Id="rId6" Type="http://schemas.openxmlformats.org/officeDocument/2006/relationships/image" Target="../media/image-11-9.png"/><Relationship Id="rId7" Type="http://schemas.openxmlformats.org/officeDocument/2006/relationships/image" Target="../media/image-11-9.png"/><Relationship Id="rId8" Type="http://schemas.openxmlformats.org/officeDocument/2006/relationships/image" Target="../media/image-11-9.png"/><Relationship Id="rId9" Type="http://schemas.openxmlformats.org/officeDocument/2006/relationships/image" Target="../media/image-11-9.png"/><Relationship Id="rId10" Type="http://schemas.openxmlformats.org/officeDocument/2006/relationships/image" Target="../media/image-11-9.png"/><Relationship Id="rId11" Type="http://schemas.openxmlformats.org/officeDocument/2006/relationships/image" Target="../media/image-11-9.png"/><Relationship Id="rId12" Type="http://schemas.openxmlformats.org/officeDocument/2006/relationships/slideLayout" Target="../slideLayouts/slideLayout1.xml"/><Relationship Id="rId13" Type="http://schemas.openxmlformats.org/officeDocument/2006/relationships/notesSlide" Target="../notesSlides/notesSlide29.xml"/><Relationship Id="rId14" Type="http://schemas.openxmlformats.org/officeDocument/2006/relationships/audio" Target="../media/snd_pop.wav"/><Relationship Id="rId15" Type="http://schemas.openxmlformats.org/officeDocument/2006/relationships/audio" Target="../media/snd_sparkle.wav"/><Relationship Id="rId16" Type="http://schemas.openxmlformats.org/officeDocument/2006/relationships/audio" Target="../media/snd_chime.wav"/></Relationships>
</file>

<file path=ppt/slides/_rels/slide30.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30-2.png"/><Relationship Id="rId3" Type="http://schemas.openxmlformats.org/officeDocument/2006/relationships/image" Target="../media/image-20-5.png"/><Relationship Id="rId4" Type="http://schemas.openxmlformats.org/officeDocument/2006/relationships/slideLayout" Target="../slideLayouts/slideLayout1.xml"/><Relationship Id="rId5" Type="http://schemas.openxmlformats.org/officeDocument/2006/relationships/notesSlide" Target="../notesSlides/notesSlide30.xml"/><Relationship Id="rId6" Type="http://schemas.openxmlformats.org/officeDocument/2006/relationships/audio" Target="../media/snd_chime.wav"/></Relationships>
</file>

<file path=ppt/slides/_rels/slide3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1-2.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31.xml"/><Relationship Id="rId6" Type="http://schemas.openxmlformats.org/officeDocument/2006/relationships/audio" Target="../media/snd_train.wav"/><Relationship Id="rId7" Type="http://schemas.openxmlformats.org/officeDocument/2006/relationships/audio" Target="../media/snd_chime.wav"/><Relationship Id="rId8" Type="http://schemas.openxmlformats.org/officeDocument/2006/relationships/audio" Target="../media/snd_pop.wav"/></Relationships>
</file>

<file path=ppt/slides/_rels/slide32.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 Id="rId5" Type="http://schemas.openxmlformats.org/officeDocument/2006/relationships/audio" Target="../media/snd_chime.wav"/></Relationships>
</file>

<file path=ppt/slides/_rels/slide33.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3-2.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33.xml"/><Relationship Id="rId6" Type="http://schemas.openxmlformats.org/officeDocument/2006/relationships/audio" Target="../media/snd_pop.wav"/></Relationships>
</file>

<file path=ppt/slides/_rels/slide34.xml.rels><?xml version="1.0" encoding="UTF-8" standalone="yes"?>
<Relationships xmlns="http://schemas.openxmlformats.org/package/2006/relationships"><Relationship Id="rId4" Type="http://schemas.openxmlformats.org/officeDocument/2006/relationships/hyperlink" Target="https://www.ncw.gov.sa/" TargetMode="External"/><Relationship Id="rId1" Type="http://schemas.openxmlformats.org/officeDocument/2006/relationships/image" Target="../media/Slide-26-image-1.png"/><Relationship Id="rId2" Type="http://schemas.openxmlformats.org/officeDocument/2006/relationships/image" Target="../media/image-34-2.png"/><Relationship Id="rId3" Type="http://schemas.openxmlformats.org/officeDocument/2006/relationships/image" Target="../media/image-34-3.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34.xml"/><Relationship Id="rId8" Type="http://schemas.openxmlformats.org/officeDocument/2006/relationships/audio" Target="../media/snd_chime.wav"/></Relationships>
</file>

<file path=ppt/slides/_rels/slide35.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5-2.png"/><Relationship Id="rId3" Type="http://schemas.openxmlformats.org/officeDocument/2006/relationships/image" Target="../media/image-20-5.png"/><Relationship Id="rId4" Type="http://schemas.openxmlformats.org/officeDocument/2006/relationships/slideLayout" Target="../slideLayouts/slideLayout1.xml"/><Relationship Id="rId5" Type="http://schemas.openxmlformats.org/officeDocument/2006/relationships/notesSlide" Target="../notesSlides/notesSlide35.xml"/><Relationship Id="rId6" Type="http://schemas.openxmlformats.org/officeDocument/2006/relationships/audio" Target="../media/snd_chime.wav"/><Relationship Id="rId7" Type="http://schemas.openxmlformats.org/officeDocument/2006/relationships/audio" Target="../media/snd_sparkle.wav"/></Relationships>
</file>

<file path=ppt/slides/_rels/slide36.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 Id="rId5" Type="http://schemas.openxmlformats.org/officeDocument/2006/relationships/audio" Target="../media/snd_chime.wav"/></Relationships>
</file>

<file path=ppt/slides/_rels/slide37.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 Id="rId5" Type="http://schemas.openxmlformats.org/officeDocument/2006/relationships/audio" Target="../media/snd_pop.wav"/></Relationships>
</file>

<file path=ppt/slides/_rels/slide38.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 Id="rId6" Type="http://schemas.openxmlformats.org/officeDocument/2006/relationships/audio" Target="../media/snd_sparkle.wav"/></Relationships>
</file>

<file path=ppt/slides/_rels/slide39.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39-2.png"/><Relationship Id="rId3" Type="http://schemas.openxmlformats.org/officeDocument/2006/relationships/image" Target="../media/image-1-2.png"/><Relationship Id="rId4" Type="http://schemas.openxmlformats.org/officeDocument/2006/relationships/image" Target="../media/image-20-5.png"/><Relationship Id="rId5"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39.xml"/><Relationship Id="rId8" Type="http://schemas.openxmlformats.org/officeDocument/2006/relationships/audio" Target="../media/snd_sparkle.wav"/><Relationship Id="rId9" Type="http://schemas.openxmlformats.org/officeDocument/2006/relationships/audio" Target="../media/snd_train.wav"/></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1_1"/>
          <p:cNvSpPr txBox="1"/>
          <p:nvPr/>
        </p:nvSpPr>
        <p:spPr>
          <a:xfrm>
            <a:off x="3017520" y="347472"/>
            <a:ext cx="3108960" cy="365760"/>
          </a:xfrm>
          <a:prstGeom prst="rect">
            <a:avLst/>
          </a:prstGeom>
          <a:noFill/>
          <a:ln/>
        </p:spPr>
        <p:txBody>
          <a:bodyPr wrap="square" lIns="63500" tIns="63500" rIns="63500" bIns="63500" rtlCol="0" anchor="ctr"/>
          <a:lstStyle/>
          <a:p>
            <a:pPr rtl="1" algn="ctr" indent="0" marL="0">
              <a:buNone/>
            </a:pPr>
            <a:r>
              <a:rPr lang="ar-SA" altLang="en-US" sz="1400" dirty="0">
                <a:solidFill>
                  <a:srgbClr val="5A6785"/>
                </a:solidFill>
                <a:latin typeface="Tahoma" pitchFamily="34" charset="0"/>
                <a:ea typeface="Tahoma" pitchFamily="34" charset="-122"/>
                <a:cs typeface="Tahoma" pitchFamily="34" charset="-120"/>
              </a:rPr>
              <a:t>بسم الله الرحمن الرحيم</a:t>
            </a:r>
            <a:endParaRPr lang="ar-SA" sz="1400" dirty="0"/>
          </a:p>
        </p:txBody>
      </p:sp>
      <p:pic>
        <p:nvPicPr>
          <p:cNvPr id="3" name="s1_2@a1" descr="المستكشفة تلوّح">    </p:cNvPr>
          <p:cNvPicPr>
            <a:picLocks noChangeAspect="1"/>
          </p:cNvPicPr>
          <p:nvPr/>
        </p:nvPicPr>
        <p:blipFill>
          <a:blip r:embed="rId2"/>
          <a:stretch>
            <a:fillRect/>
          </a:stretch>
        </p:blipFill>
        <p:spPr>
          <a:xfrm>
            <a:off x="502920" y="1234440"/>
            <a:ext cx="2485016" cy="4023360"/>
          </a:xfrm>
          <a:prstGeom prst="rect">
            <a:avLst/>
          </a:prstGeom>
        </p:spPr>
      </p:pic>
      <p:sp>
        <p:nvSpPr>
          <p:cNvPr id="4" name="s1_3@a2"/>
          <p:cNvSpPr txBox="1"/>
          <p:nvPr/>
        </p:nvSpPr>
        <p:spPr>
          <a:xfrm>
            <a:off x="2880360" y="960120"/>
            <a:ext cx="3291840" cy="1417320"/>
          </a:xfrm>
          <a:prstGeom prst="roundRect">
            <a:avLst>
              <a:gd name="adj" fmla="val 9032"/>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34405E"/>
                </a:solidFill>
                <a:latin typeface="Tahoma" pitchFamily="34" charset="0"/>
                <a:ea typeface="Tahoma" pitchFamily="34" charset="-122"/>
                <a:cs typeface="Tahoma" pitchFamily="34" charset="-120"/>
              </a:rPr>
              <a:t>أهلًا بمستكشفاتي الصغيرات! 🌿</a:t>
            </a:r>
            <a:endParaRPr lang="ar-SA" sz="1500" dirty="0"/>
          </a:p>
          <a:p>
            <a:pPr rtl="1" algn="r" indent="0" marL="0">
              <a:buNone/>
            </a:pPr>
            <a:r>
              <a:rPr lang="ar-SA" altLang="en-US" sz="1500" b="1" dirty="0">
                <a:solidFill>
                  <a:srgbClr val="34405E"/>
                </a:solidFill>
                <a:latin typeface="Tahoma" pitchFamily="34" charset="0"/>
                <a:ea typeface="Tahoma" pitchFamily="34" charset="-122"/>
                <a:cs typeface="Tahoma" pitchFamily="34" charset="-120"/>
              </a:rPr>
              <a:t>اركبن القطار معي… سنتتبّع رحلة الطاقة من الشمس حتى أعماق المحيط!</a:t>
            </a:r>
            <a:endParaRPr lang="ar-SA" sz="1500" dirty="0"/>
          </a:p>
        </p:txBody>
      </p:sp>
      <p:pic>
        <p:nvPicPr>
          <p:cNvPr id="5" name="s1_4" descr="عنوان الشريحة">    </p:cNvPr>
          <p:cNvPicPr>
            <a:picLocks noChangeAspect="1"/>
          </p:cNvPicPr>
          <p:nvPr/>
        </p:nvPicPr>
        <p:blipFill>
          <a:blip r:embed="rId3"/>
          <a:stretch>
            <a:fillRect/>
          </a:stretch>
        </p:blipFill>
        <p:spPr>
          <a:xfrm>
            <a:off x="6248095" y="268370"/>
            <a:ext cx="5577840" cy="560541"/>
          </a:xfrm>
          <a:prstGeom prst="rect">
            <a:avLst/>
          </a:prstGeom>
        </p:spPr>
      </p:pic>
      <p:sp>
        <p:nvSpPr>
          <p:cNvPr id="6" name="s1_5@a1"/>
          <p:cNvSpPr txBox="1"/>
          <p:nvPr/>
        </p:nvSpPr>
        <p:spPr>
          <a:xfrm>
            <a:off x="6446520" y="1051560"/>
            <a:ext cx="5349240" cy="502920"/>
          </a:xfrm>
          <a:prstGeom prst="roundRect">
            <a:avLst>
              <a:gd name="adj" fmla="val 49091"/>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الدرس الثاني (تابع): العلاقات في الأنظمة البيئية</a:t>
            </a:r>
            <a:endParaRPr lang="ar-SA" sz="1600" dirty="0"/>
          </a:p>
        </p:txBody>
      </p:sp>
      <p:sp>
        <p:nvSpPr>
          <p:cNvPr id="7" name="s1_6@a1"/>
          <p:cNvSpPr txBox="1"/>
          <p:nvPr/>
        </p:nvSpPr>
        <p:spPr>
          <a:xfrm>
            <a:off x="6446520" y="1691640"/>
            <a:ext cx="5349240" cy="502920"/>
          </a:xfrm>
          <a:prstGeom prst="roundRect">
            <a:avLst>
              <a:gd name="adj" fmla="val 49091"/>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0E5E8A"/>
                </a:solidFill>
                <a:latin typeface="Tahoma" pitchFamily="34" charset="0"/>
                <a:ea typeface="Tahoma" pitchFamily="34" charset="-122"/>
                <a:cs typeface="Tahoma" pitchFamily="34" charset="-120"/>
              </a:rPr>
              <a:t>ما السلسلة الغذائية؟ • ما الشبكة الغذائية؟</a:t>
            </a:r>
            <a:endParaRPr lang="ar-SA" sz="1600" dirty="0"/>
          </a:p>
        </p:txBody>
      </p:sp>
      <p:sp>
        <p:nvSpPr>
          <p:cNvPr id="8" name="s1_7@a2"/>
          <p:cNvSpPr txBox="1"/>
          <p:nvPr/>
        </p:nvSpPr>
        <p:spPr>
          <a:xfrm>
            <a:off x="8412480" y="2331720"/>
            <a:ext cx="3383280" cy="438912"/>
          </a:xfrm>
          <a:prstGeom prst="roundRect">
            <a:avLst>
              <a:gd name="adj" fmla="val 50000"/>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450" b="1" dirty="0">
                <a:solidFill>
                  <a:srgbClr val="34405E"/>
                </a:solidFill>
                <a:latin typeface="Tahoma" pitchFamily="34" charset="0"/>
                <a:ea typeface="Tahoma" pitchFamily="34" charset="-122"/>
                <a:cs typeface="Tahoma" pitchFamily="34" charset="-120"/>
              </a:rPr>
              <a:t>العلوم – الصف الرابع الابتدائي</a:t>
            </a:r>
            <a:endParaRPr lang="ar-SA" sz="1450" dirty="0"/>
          </a:p>
        </p:txBody>
      </p:sp>
      <p:sp>
        <p:nvSpPr>
          <p:cNvPr id="9" name="s1_8@a2"/>
          <p:cNvSpPr txBox="1"/>
          <p:nvPr/>
        </p:nvSpPr>
        <p:spPr>
          <a:xfrm>
            <a:off x="6446520" y="2880360"/>
            <a:ext cx="5349240" cy="438912"/>
          </a:xfrm>
          <a:prstGeom prst="roundRect">
            <a:avLst>
              <a:gd name="adj" fmla="val 50000"/>
            </a:avLst>
          </a:prstGeom>
          <a:solidFill>
            <a:srgbClr val="FFE0EC"/>
          </a:solidFill>
          <a:ln w="28575">
            <a:solidFill>
              <a:srgbClr val="34405E"/>
            </a:solidFill>
          </a:ln>
        </p:spPr>
        <p:txBody>
          <a:bodyPr wrap="square" lIns="101600" tIns="101600" rIns="101600" bIns="101600" rtlCol="0" anchor="ctr"/>
          <a:lstStyle/>
          <a:p>
            <a:pPr rtl="1" algn="ctr" indent="0" marL="0">
              <a:buNone/>
            </a:pPr>
            <a:r>
              <a:rPr lang="ar-SA" altLang="en-US" sz="1450" b="1" dirty="0">
                <a:solidFill>
                  <a:srgbClr val="34405E"/>
                </a:solidFill>
                <a:latin typeface="Tahoma" pitchFamily="34" charset="0"/>
                <a:ea typeface="Tahoma" pitchFamily="34" charset="-122"/>
                <a:cs typeface="Tahoma" pitchFamily="34" charset="-120"/>
              </a:rPr>
              <a:t>المدرسة الابتدائية العشرون لتحفيظ القرآن</a:t>
            </a:r>
            <a:endParaRPr lang="ar-SA" sz="1450" dirty="0"/>
          </a:p>
        </p:txBody>
      </p:sp>
      <p:sp>
        <p:nvSpPr>
          <p:cNvPr id="10" name="s1_9@a2"/>
          <p:cNvSpPr txBox="1"/>
          <p:nvPr/>
        </p:nvSpPr>
        <p:spPr>
          <a:xfrm>
            <a:off x="6446520" y="3429000"/>
            <a:ext cx="5349240" cy="411480"/>
          </a:xfrm>
          <a:prstGeom prst="rect">
            <a:avLst/>
          </a:prstGeom>
          <a:noFill/>
          <a:ln/>
        </p:spPr>
        <p:txBody>
          <a:bodyPr wrap="square" lIns="63500" tIns="63500" rIns="63500" bIns="63500" rtlCol="0" anchor="ctr"/>
          <a:lstStyle/>
          <a:p>
            <a:pPr rtl="1" algn="ctr" indent="0" marL="0">
              <a:buNone/>
            </a:pPr>
            <a:r>
              <a:rPr lang="ar-SA" altLang="en-US" sz="1500" dirty="0">
                <a:solidFill>
                  <a:srgbClr val="34405E"/>
                </a:solidFill>
                <a:latin typeface="Tahoma" pitchFamily="34" charset="0"/>
                <a:ea typeface="Tahoma" pitchFamily="34" charset="-122"/>
                <a:cs typeface="Tahoma" pitchFamily="34" charset="-120"/>
              </a:rPr>
              <a:t>اليوم: ............     التاريخ: ..../..../١٤٤٨هـ</a:t>
            </a:r>
            <a:endParaRPr lang="ar-SA" sz="1500" dirty="0"/>
          </a:p>
        </p:txBody>
      </p:sp>
      <p:pic>
        <p:nvPicPr>
          <p:cNvPr id="11" name="s1_10" descr="قطار الرحلة">    </p:cNvPr>
          <p:cNvPicPr>
            <a:picLocks noChangeAspect="1"/>
          </p:cNvPicPr>
          <p:nvPr/>
        </p:nvPicPr>
        <p:blipFill>
          <a:blip r:embed="rId4"/>
          <a:stretch>
            <a:fillRect/>
          </a:stretch>
        </p:blipFill>
        <p:spPr>
          <a:xfrm>
            <a:off x="3017520" y="4224528"/>
            <a:ext cx="6035040" cy="1388059"/>
          </a:xfrm>
          <a:prstGeom prst="rect">
            <a:avLst/>
          </a:prstGeom>
        </p:spPr>
      </p:pic>
      <p:sp>
        <p:nvSpPr>
          <p:cNvPr id="12" name="s1_11@a4%chime"/>
          <p:cNvSpPr txBox="1"/>
          <p:nvPr/>
        </p:nvSpPr>
        <p:spPr>
          <a:xfrm>
            <a:off x="9281160" y="4343400"/>
            <a:ext cx="2514600" cy="640080"/>
          </a:xfrm>
          <a:prstGeom prst="roundRect">
            <a:avLst>
              <a:gd name="adj" fmla="val 50000"/>
            </a:avLst>
          </a:prstGeom>
          <a:solidFill>
            <a:srgbClr val="2F8A3A"/>
          </a:solidFill>
          <a:ln w="31750">
            <a:solidFill>
              <a:srgbClr val="FFFFFF"/>
            </a:solidFill>
          </a:ln>
        </p:spPr>
        <p:txBody>
          <a:bodyPr wrap="square" lIns="101600" tIns="101600" rIns="101600" bIns="101600" rtlCol="0" anchor="ctr"/>
          <a:lstStyle/>
          <a:p>
            <a:pPr rtl="1" algn="ctr" indent="0" marL="0">
              <a:buNone/>
            </a:pPr>
            <a:r>
              <a:rPr lang="ar-SA" altLang="en-US" sz="2000" b="1" u="sng" dirty="0">
                <a:solidFill>
                  <a:srgbClr val="FFFFFF"/>
                </a:solidFill>
                <a:latin typeface="Tahoma" pitchFamily="34" charset="0"/>
                <a:ea typeface="Tahoma" pitchFamily="34" charset="-122"/>
                <a:cs typeface="Tahoma" pitchFamily="34" charset="-120"/>
                <a:hlinkClick r:id="rId5" action="ppaction://hlinksldjump" tooltip="ابدئي الرحلة">
                  <a:extLst>
                    <a:ext uri="{A12FA001-AC4F-418D-AE19-62706E023703}">
                      <ahyp:hlinkClr xmlns:ahyp="http://schemas.microsoft.com/office/drawing/2018/hyperlinkcolor" val="tx"/>
                    </a:ext>
                  </a:extLst>
                </a:hlinkClick>
              </a:rPr>
              <a:t>هيا ننطلق! 🚂</a:t>
            </a:r>
            <a:endParaRPr lang="ar-SA" sz="2000" dirty="0"/>
          </a:p>
        </p:txBody>
      </p:sp>
      <p:sp>
        <p:nvSpPr>
          <p:cNvPr id="13" name="s1_12@a4"/>
          <p:cNvSpPr txBox="1"/>
          <p:nvPr/>
        </p:nvSpPr>
        <p:spPr>
          <a:xfrm>
            <a:off x="9281160" y="5120640"/>
            <a:ext cx="2514600" cy="438912"/>
          </a:xfrm>
          <a:prstGeom prst="roundRect">
            <a:avLst>
              <a:gd name="adj" fmla="val 50000"/>
            </a:avLst>
          </a:prstGeom>
          <a:solidFill>
            <a:srgbClr val="1B5E20"/>
          </a:solidFill>
          <a:ln w="19050">
            <a:solidFill>
              <a:srgbClr val="FFFFFF"/>
            </a:solidFill>
          </a:ln>
        </p:spPr>
        <p:txBody>
          <a:bodyPr wrap="square" lIns="101600" tIns="101600" rIns="101600" bIns="101600" rtlCol="0" anchor="ctr"/>
          <a:lstStyle/>
          <a:p>
            <a:pPr rtl="1" algn="ctr" indent="0" marL="0">
              <a:buNone/>
            </a:pPr>
            <a:r>
              <a:rPr lang="ar-SA" altLang="en-US" sz="1400" b="1" dirty="0">
                <a:solidFill>
                  <a:srgbClr val="FFFFFF"/>
                </a:solidFill>
                <a:latin typeface="Tahoma" pitchFamily="34" charset="0"/>
                <a:ea typeface="Tahoma" pitchFamily="34" charset="-122"/>
                <a:cs typeface="Tahoma" pitchFamily="34" charset="-120"/>
              </a:rPr>
              <a:t>المعلمة: أ/ شامه البقمي</a:t>
            </a:r>
            <a:endParaRPr lang="ar-SA"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par>
                                <p:cTn id="30" presetID="0" presetClass="path" presetSubtype="0" fill="hold" grpId="1" nodeType="withEffect">
                                  <p:stCondLst>
                                    <p:cond delay="0"/>
                                  </p:stCondLst>
                                  <p:childTnLst>
                                    <p:animMotion origin="layout" path="M 0.8 0 L 0 0 E" pathEditMode="relative" ptsTypes="">
                                      <p:cBhvr>
                                        <p:cTn id="31" dur="2600" fill="hold" accel="40000" decel="40000"/>
                                        <p:tgtEl>
                                          <p:spTgt spid="11"/>
                                        </p:tgtEl>
                                        <p:attrNameLst>
                                          <p:attrName>ppt_x</p:attrName>
                                          <p:attrName>ppt_y</p:attrName>
                                        </p:attrNameLst>
                                      </p:cBhvr>
                                      <p:rCtr x="0" y="0"/>
                                    </p:animMotion>
                                  </p:childTnLst>
                                  <p:subTnLst>
                                    <p:audio>
                                      <p:cMediaNode vol="80000" showWhenStopped="0">
                                        <p:cTn id="32" display="0" masterRel="sameClick">
                                          <p:stCondLst>
                                            <p:cond evt="onBegin" delay="0">
                                              <p:tn val="30"/>
                                            </p:cond>
                                          </p:stCondLst>
                                        </p:cTn>
                                        <p:tgtEl>
                                          <p:sndTgt r:embed="rId8" name="train.wav"/>
                                        </p:tgtEl>
                                      </p:cMediaNode>
                                    </p:audio>
                                  </p:subTnLst>
                                </p:cTn>
                              </p:par>
                            </p:childTnLst>
                          </p:cTn>
                        </p:par>
                        <p:par>
                          <p:cTn id="33" fill="hold">
                            <p:stCondLst>
                              <p:cond delay="36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subTnLst>
                                    <p:audio>
                                      <p:cMediaNode vol="80000" showWhenStopped="0">
                                        <p:cTn id="37" display="0" masterRel="sameClick">
                                          <p:stCondLst>
                                            <p:cond evt="onBegin" delay="0">
                                              <p:tn val="34"/>
                                            </p:cond>
                                          </p:stCondLst>
                                        </p:cTn>
                                        <p:tgtEl>
                                          <p:sndTgt r:embed="rId9" name="chime.wav"/>
                                        </p:tgtEl>
                                      </p:cMediaNode>
                                    </p:audio>
                                  </p:sub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_1" descr="عنوان الشريحة">    </p:cNvPr>
          <p:cNvPicPr>
            <a:picLocks noChangeAspect="1"/>
          </p:cNvPicPr>
          <p:nvPr/>
        </p:nvPicPr>
        <p:blipFill>
          <a:blip r:embed="rId2"/>
          <a:stretch>
            <a:fillRect/>
          </a:stretch>
        </p:blipFill>
        <p:spPr>
          <a:xfrm>
            <a:off x="8845891" y="182880"/>
            <a:ext cx="2980045" cy="731520"/>
          </a:xfrm>
          <a:prstGeom prst="rect">
            <a:avLst/>
          </a:prstGeom>
        </p:spPr>
      </p:pic>
      <p:sp>
        <p:nvSpPr>
          <p:cNvPr id="3" name="s2_2"/>
          <p:cNvSpPr txBox="1"/>
          <p:nvPr/>
        </p:nvSpPr>
        <p:spPr>
          <a:xfrm>
            <a:off x="365760" y="292608"/>
            <a:ext cx="35661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التعزيز الإيجابي</a:t>
            </a:r>
            <a:endParaRPr lang="en-US" sz="1600" dirty="0"/>
          </a:p>
        </p:txBody>
      </p:sp>
      <p:sp>
        <p:nvSpPr>
          <p:cNvPr id="4" name="s2_3"/>
          <p:cNvSpPr txBox="1"/>
          <p:nvPr/>
        </p:nvSpPr>
        <p:spPr>
          <a:xfrm>
            <a:off x="3840480" y="1234440"/>
            <a:ext cx="7863840" cy="4480560"/>
          </a:xfrm>
          <a:prstGeom prst="roundRect">
            <a:avLst>
              <a:gd name="adj" fmla="val 2857"/>
            </a:avLst>
          </a:prstGeom>
          <a:solidFill>
            <a:srgbClr val="FFFCF2"/>
          </a:solidFill>
          <a:ln w="38100">
            <a:solidFill>
              <a:srgbClr val="F5C242"/>
            </a:solidFill>
          </a:ln>
        </p:spPr>
        <p:txBody>
          <a:bodyPr wrap="square" lIns="101600" tIns="101600" rIns="101600" bIns="101600" rtlCol="0" anchor="ctr"/>
          <a:lstStyle/>
          <a:p>
            <a:pPr rtl="1" algn="r" indent="0" marL="0">
              <a:buNone/>
            </a:pPr>
            <a:endParaRPr lang="ar-SA" sz="1800" dirty="0"/>
          </a:p>
        </p:txBody>
      </p:sp>
      <p:sp>
        <p:nvSpPr>
          <p:cNvPr id="5" name="s2_4"/>
          <p:cNvSpPr txBox="1"/>
          <p:nvPr/>
        </p:nvSpPr>
        <p:spPr>
          <a:xfrm>
            <a:off x="4114800" y="1463040"/>
            <a:ext cx="7315200" cy="914400"/>
          </a:xfrm>
          <a:prstGeom prst="rect">
            <a:avLst/>
          </a:prstGeom>
          <a:noFill/>
          <a:ln/>
        </p:spPr>
        <p:txBody>
          <a:bodyPr wrap="square" lIns="63500" tIns="63500" rIns="63500" bIns="63500" rtlCol="0" anchor="ctr"/>
          <a:lstStyle/>
          <a:p>
            <a:pPr rtl="1" algn="ctr" indent="0" marL="0">
              <a:buNone/>
            </a:pPr>
            <a:r>
              <a:rPr lang="ar-SA" altLang="en-US" sz="3600" b="1" dirty="0">
                <a:solidFill>
                  <a:srgbClr val="1B5E20"/>
                </a:solidFill>
                <a:latin typeface="Tahoma" pitchFamily="34" charset="0"/>
                <a:ea typeface="Tahoma" pitchFamily="34" charset="-122"/>
                <a:cs typeface="Tahoma" pitchFamily="34" charset="-120"/>
              </a:rPr>
              <a:t>﴿رَّبِّ زِدْنِي عِلْمًا﴾</a:t>
            </a:r>
            <a:endParaRPr lang="ar-SA" sz="3600" dirty="0"/>
          </a:p>
        </p:txBody>
      </p:sp>
      <p:sp>
        <p:nvSpPr>
          <p:cNvPr id="6" name="s2_5"/>
          <p:cNvSpPr txBox="1"/>
          <p:nvPr/>
        </p:nvSpPr>
        <p:spPr>
          <a:xfrm>
            <a:off x="4114800" y="2331720"/>
            <a:ext cx="7315200" cy="365760"/>
          </a:xfrm>
          <a:prstGeom prst="rect">
            <a:avLst/>
          </a:prstGeom>
          <a:noFill/>
          <a:ln/>
        </p:spPr>
        <p:txBody>
          <a:bodyPr wrap="square" lIns="63500" tIns="63500" rIns="63500" bIns="63500" rtlCol="0" anchor="ctr"/>
          <a:lstStyle/>
          <a:p>
            <a:pPr rtl="1" algn="ctr" indent="0" marL="0">
              <a:buNone/>
            </a:pPr>
            <a:r>
              <a:rPr lang="ar-SA" altLang="en-US" sz="1400" dirty="0">
                <a:solidFill>
                  <a:srgbClr val="5A6785"/>
                </a:solidFill>
                <a:latin typeface="Tahoma" pitchFamily="34" charset="0"/>
                <a:ea typeface="Tahoma" pitchFamily="34" charset="-122"/>
                <a:cs typeface="Tahoma" pitchFamily="34" charset="-120"/>
              </a:rPr>
              <a:t>[طه: ١١٤]</a:t>
            </a:r>
            <a:endParaRPr lang="ar-SA" sz="1400" dirty="0"/>
          </a:p>
        </p:txBody>
      </p:sp>
      <p:sp>
        <p:nvSpPr>
          <p:cNvPr id="7" name="s2_6@c1"/>
          <p:cNvSpPr txBox="1"/>
          <p:nvPr/>
        </p:nvSpPr>
        <p:spPr>
          <a:xfrm>
            <a:off x="4572000" y="2880360"/>
            <a:ext cx="6400800" cy="777240"/>
          </a:xfrm>
          <a:prstGeom prst="roundRect">
            <a:avLst>
              <a:gd name="adj" fmla="val 16471"/>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2100" b="1" dirty="0">
                <a:solidFill>
                  <a:srgbClr val="34405E"/>
                </a:solidFill>
                <a:latin typeface="Tahoma" pitchFamily="34" charset="0"/>
                <a:ea typeface="Tahoma" pitchFamily="34" charset="-122"/>
                <a:cs typeface="Tahoma" pitchFamily="34" charset="-120"/>
              </a:rPr>
              <a:t>اللهم علّمنا ما ينفعنا، وانفعنا بما علّمتنا، وزدنا علمًا.</a:t>
            </a:r>
            <a:endParaRPr lang="ar-SA" sz="2100" dirty="0"/>
          </a:p>
        </p:txBody>
      </p:sp>
      <p:sp>
        <p:nvSpPr>
          <p:cNvPr id="8" name="s2_7@c2"/>
          <p:cNvSpPr txBox="1"/>
          <p:nvPr/>
        </p:nvSpPr>
        <p:spPr>
          <a:xfrm>
            <a:off x="4114800" y="3794760"/>
            <a:ext cx="7315200" cy="457200"/>
          </a:xfrm>
          <a:prstGeom prst="rect">
            <a:avLst/>
          </a:prstGeom>
          <a:noFill/>
          <a:ln/>
        </p:spPr>
        <p:txBody>
          <a:bodyPr wrap="square" lIns="63500" tIns="63500" rIns="63500" bIns="63500" rtlCol="0" anchor="ctr"/>
          <a:lstStyle/>
          <a:p>
            <a:pPr rtl="1" algn="ctr" indent="0" marL="0">
              <a:buNone/>
            </a:pPr>
            <a:r>
              <a:rPr lang="ar-SA" altLang="en-US" sz="1900" b="1" dirty="0">
                <a:solidFill>
                  <a:srgbClr val="C2366F"/>
                </a:solidFill>
                <a:latin typeface="Tahoma" pitchFamily="34" charset="0"/>
                <a:ea typeface="Tahoma" pitchFamily="34" charset="-122"/>
                <a:cs typeface="Tahoma" pitchFamily="34" charset="-120"/>
              </a:rPr>
              <a:t>قوانين رحلتنا 🎫</a:t>
            </a:r>
            <a:endParaRPr lang="ar-SA" sz="1900" dirty="0"/>
          </a:p>
        </p:txBody>
      </p:sp>
      <p:sp>
        <p:nvSpPr>
          <p:cNvPr id="9" name="s2_8@c3%pop"/>
          <p:cNvSpPr txBox="1"/>
          <p:nvPr/>
        </p:nvSpPr>
        <p:spPr>
          <a:xfrm>
            <a:off x="7818120" y="4343400"/>
            <a:ext cx="3520440" cy="502920"/>
          </a:xfrm>
          <a:prstGeom prst="roundRect">
            <a:avLst>
              <a:gd name="adj" fmla="val 25455"/>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  أرفع يدي قبل أن أتحدث</a:t>
            </a:r>
            <a:endParaRPr lang="ar-SA" sz="1500" dirty="0"/>
          </a:p>
        </p:txBody>
      </p:sp>
      <p:sp>
        <p:nvSpPr>
          <p:cNvPr id="10" name="s2_9@c4%pop"/>
          <p:cNvSpPr txBox="1"/>
          <p:nvPr/>
        </p:nvSpPr>
        <p:spPr>
          <a:xfrm>
            <a:off x="4160520" y="4343400"/>
            <a:ext cx="3520440" cy="502920"/>
          </a:xfrm>
          <a:prstGeom prst="roundRect">
            <a:avLst>
              <a:gd name="adj" fmla="val 25455"/>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  أستمع لزميلتي باهتمام</a:t>
            </a:r>
            <a:endParaRPr lang="ar-SA" sz="1500" dirty="0"/>
          </a:p>
        </p:txBody>
      </p:sp>
      <p:sp>
        <p:nvSpPr>
          <p:cNvPr id="11" name="s2_10@c5%pop"/>
          <p:cNvSpPr txBox="1"/>
          <p:nvPr/>
        </p:nvSpPr>
        <p:spPr>
          <a:xfrm>
            <a:off x="7818120" y="4965192"/>
            <a:ext cx="3520440" cy="502920"/>
          </a:xfrm>
          <a:prstGeom prst="roundRect">
            <a:avLst>
              <a:gd name="adj" fmla="val 25455"/>
            </a:avLst>
          </a:prstGeom>
          <a:solidFill>
            <a:srgbClr val="FFE0EC"/>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  أتعاون مع مجموعتي</a:t>
            </a:r>
            <a:endParaRPr lang="ar-SA" sz="1500" dirty="0"/>
          </a:p>
        </p:txBody>
      </p:sp>
      <p:sp>
        <p:nvSpPr>
          <p:cNvPr id="12" name="s2_11@c6%pop"/>
          <p:cNvSpPr txBox="1"/>
          <p:nvPr/>
        </p:nvSpPr>
        <p:spPr>
          <a:xfrm>
            <a:off x="4160520" y="4965192"/>
            <a:ext cx="3520440" cy="502920"/>
          </a:xfrm>
          <a:prstGeom prst="roundRect">
            <a:avLst>
              <a:gd name="adj" fmla="val 25455"/>
            </a:avLst>
          </a:prstGeom>
          <a:solidFill>
            <a:srgbClr val="ECE6FB"/>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  أحترم آراء زميلاتي</a:t>
            </a:r>
            <a:endParaRPr lang="ar-SA" sz="1500" dirty="0"/>
          </a:p>
        </p:txBody>
      </p:sp>
      <p:pic>
        <p:nvPicPr>
          <p:cNvPr id="13" name="s2_12" descr="المستكشفة تفكّر">    </p:cNvPr>
          <p:cNvPicPr>
            <a:picLocks noChangeAspect="1"/>
          </p:cNvPicPr>
          <p:nvPr/>
        </p:nvPicPr>
        <p:blipFill>
          <a:blip r:embed="rId3"/>
          <a:stretch>
            <a:fillRect/>
          </a:stretch>
        </p:blipFill>
        <p:spPr>
          <a:xfrm>
            <a:off x="822960" y="1463040"/>
            <a:ext cx="2767405" cy="4480560"/>
          </a:xfrm>
          <a:prstGeom prst="rect">
            <a:avLst/>
          </a:prstGeom>
        </p:spPr>
      </p:pic>
      <p:sp>
        <p:nvSpPr>
          <p:cNvPr id="14" name="s2_13"/>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5" name="s2_14"/>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بداية الرحلة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subTnLst>
                                    <p:audio>
                                      <p:cMediaNode vol="80000" showWhenStopped="0">
                                        <p:cTn id="18" display="0" masterRel="sameClick">
                                          <p:stCondLst>
                                            <p:cond evt="onBegin" delay="0">
                                              <p:tn val="15"/>
                                            </p:cond>
                                          </p:stCondLst>
                                        </p:cTn>
                                        <p:tgtEl>
                                          <p:sndTgt r:embed="rId6" name="pop.wav"/>
                                        </p:tgtEl>
                                      </p:cMediaNode>
                                    </p:audio>
                                  </p:sub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subTnLst>
                                    <p:audio>
                                      <p:cMediaNode vol="80000" showWhenStopped="0">
                                        <p:cTn id="24" display="0" masterRel="sameClick">
                                          <p:stCondLst>
                                            <p:cond evt="onBegin" delay="0">
                                              <p:tn val="21"/>
                                            </p:cond>
                                          </p:stCondLst>
                                        </p:cTn>
                                        <p:tgtEl>
                                          <p:sndTgt r:embed="rId6" name="pop.wav"/>
                                        </p:tgtEl>
                                      </p:cMediaNode>
                                    </p:audio>
                                  </p:sub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subTnLst>
                                    <p:audio>
                                      <p:cMediaNode vol="80000" showWhenStopped="0">
                                        <p:cTn id="30" display="0" masterRel="sameClick">
                                          <p:stCondLst>
                                            <p:cond evt="onBegin" delay="0">
                                              <p:tn val="27"/>
                                            </p:cond>
                                          </p:stCondLst>
                                        </p:cTn>
                                        <p:tgtEl>
                                          <p:sndTgt r:embed="rId6" name="pop.wav"/>
                                        </p:tgtEl>
                                      </p:cMediaNode>
                                    </p:audio>
                                  </p:sub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subTnLst>
                                    <p:audio>
                                      <p:cMediaNode vol="80000" showWhenStopped="0">
                                        <p:cTn id="36" display="0" masterRel="sameClick">
                                          <p:stCondLst>
                                            <p:cond evt="onBegin" delay="0">
                                              <p:tn val="33"/>
                                            </p:cond>
                                          </p:stCondLst>
                                        </p:cTn>
                                        <p:tgtEl>
                                          <p:sndTgt r:embed="rId6" name="pop.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_1" descr="عنوان الشريحة">    </p:cNvPr>
          <p:cNvPicPr>
            <a:picLocks noChangeAspect="1"/>
          </p:cNvPicPr>
          <p:nvPr/>
        </p:nvPicPr>
        <p:blipFill>
          <a:blip r:embed="rId2"/>
          <a:stretch>
            <a:fillRect/>
          </a:stretch>
        </p:blipFill>
        <p:spPr>
          <a:xfrm>
            <a:off x="8324233" y="182880"/>
            <a:ext cx="3501702" cy="731520"/>
          </a:xfrm>
          <a:prstGeom prst="rect">
            <a:avLst/>
          </a:prstGeom>
        </p:spPr>
      </p:pic>
      <p:sp>
        <p:nvSpPr>
          <p:cNvPr id="3" name="s3_2"/>
          <p:cNvSpPr txBox="1"/>
          <p:nvPr/>
        </p:nvSpPr>
        <p:spPr>
          <a:xfrm>
            <a:off x="365760" y="292608"/>
            <a:ext cx="45948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الاسترجاع – شريط الذكريات</a:t>
            </a:r>
            <a:endParaRPr lang="en-US" sz="1600" dirty="0"/>
          </a:p>
        </p:txBody>
      </p:sp>
      <p:sp>
        <p:nvSpPr>
          <p:cNvPr id="4" name="s3_3"/>
          <p:cNvSpPr txBox="1"/>
          <p:nvPr/>
        </p:nvSpPr>
        <p:spPr>
          <a:xfrm>
            <a:off x="2743200" y="1051560"/>
            <a:ext cx="9006840" cy="457200"/>
          </a:xfrm>
          <a:prstGeom prst="rect">
            <a:avLst/>
          </a:prstGeom>
          <a:noFill/>
          <a:ln/>
        </p:spPr>
        <p:txBody>
          <a:bodyPr wrap="square" lIns="63500" tIns="63500" rIns="63500" bIns="63500" rtlCol="0" anchor="ctr"/>
          <a:lstStyle/>
          <a:p>
            <a:pPr rtl="1" algn="r" indent="0" marL="0">
              <a:buNone/>
            </a:pPr>
            <a:r>
              <a:rPr lang="ar-SA" altLang="en-US" sz="1700" b="1" dirty="0">
                <a:solidFill>
                  <a:srgbClr val="6B4FC0"/>
                </a:solidFill>
                <a:latin typeface="Tahoma" pitchFamily="34" charset="0"/>
                <a:ea typeface="Tahoma" pitchFamily="34" charset="-122"/>
                <a:cs typeface="Tahoma" pitchFamily="34" charset="-120"/>
              </a:rPr>
              <a:t>تذكّري: الدرس السابق «الأدوار في النظام البيئي – المحلِّلات» 🍄</a:t>
            </a:r>
            <a:endParaRPr lang="ar-SA" sz="1700" dirty="0"/>
          </a:p>
        </p:txBody>
      </p:sp>
      <p:sp>
        <p:nvSpPr>
          <p:cNvPr id="5" name="s3_q0"/>
          <p:cNvSpPr txBox="1"/>
          <p:nvPr/>
        </p:nvSpPr>
        <p:spPr>
          <a:xfrm>
            <a:off x="6629400" y="1645920"/>
            <a:ext cx="5120640" cy="1115568"/>
          </a:xfrm>
          <a:prstGeom prst="roundRect">
            <a:avLst>
              <a:gd name="adj" fmla="val 11475"/>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C2366F"/>
                </a:solidFill>
                <a:latin typeface="Tahoma" pitchFamily="34" charset="0"/>
                <a:ea typeface="Tahoma" pitchFamily="34" charset="-122"/>
                <a:cs typeface="Tahoma" pitchFamily="34" charset="-120"/>
              </a:rPr>
              <a:t>١  </a:t>
            </a:r>
            <a:r>
              <a:rPr lang="ar-SA" altLang="en-US" sz="1700" b="1" dirty="0">
                <a:solidFill>
                  <a:srgbClr val="34405E"/>
                </a:solidFill>
                <a:latin typeface="Tahoma" pitchFamily="34" charset="0"/>
                <a:ea typeface="Tahoma" pitchFamily="34" charset="-122"/>
                <a:cs typeface="Tahoma" pitchFamily="34" charset="-120"/>
              </a:rPr>
              <a:t>مَن المحلِّلات؟</a:t>
            </a:r>
            <a:endParaRPr lang="ar-SA" sz="1700" dirty="0"/>
          </a:p>
          <a:p>
            <a:pPr rtl="1" algn="r" indent="0" marL="0">
              <a:buNone/>
            </a:pPr>
            <a:r>
              <a:rPr lang="ar-SA" altLang="en-US" sz="1200" dirty="0">
                <a:solidFill>
                  <a:srgbClr val="7A869E"/>
                </a:solidFill>
                <a:latin typeface="Tahoma" pitchFamily="34" charset="0"/>
                <a:ea typeface="Tahoma" pitchFamily="34" charset="-122"/>
                <a:cs typeface="Tahoma" pitchFamily="34" charset="-120"/>
              </a:rPr>
              <a:t>👆 اضغطي على السؤال لتظهر الإجابة</a:t>
            </a:r>
            <a:endParaRPr lang="ar-SA" sz="1700" dirty="0"/>
          </a:p>
        </p:txBody>
      </p:sp>
      <p:sp>
        <p:nvSpPr>
          <p:cNvPr id="6" name="s3_4@t=s3_q0%chime"/>
          <p:cNvSpPr txBox="1"/>
          <p:nvPr/>
        </p:nvSpPr>
        <p:spPr>
          <a:xfrm>
            <a:off x="2697480" y="1645920"/>
            <a:ext cx="3794760" cy="1115568"/>
          </a:xfrm>
          <a:prstGeom prst="roundRect">
            <a:avLst>
              <a:gd name="adj" fmla="val 11475"/>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مخلوقات حيّة تحلّل المواد الميتة لتحصل على الطاقة، وتعيد المواد إلى النظام البيئي موادَّ مغذية.</a:t>
            </a:r>
            <a:endParaRPr lang="ar-SA" sz="1500" dirty="0"/>
          </a:p>
        </p:txBody>
      </p:sp>
      <p:sp>
        <p:nvSpPr>
          <p:cNvPr id="7" name="s3_q1"/>
          <p:cNvSpPr txBox="1"/>
          <p:nvPr/>
        </p:nvSpPr>
        <p:spPr>
          <a:xfrm>
            <a:off x="6629400" y="2944368"/>
            <a:ext cx="5120640" cy="1115568"/>
          </a:xfrm>
          <a:prstGeom prst="roundRect">
            <a:avLst>
              <a:gd name="adj" fmla="val 11475"/>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C2366F"/>
                </a:solidFill>
                <a:latin typeface="Tahoma" pitchFamily="34" charset="0"/>
                <a:ea typeface="Tahoma" pitchFamily="34" charset="-122"/>
                <a:cs typeface="Tahoma" pitchFamily="34" charset="-120"/>
              </a:rPr>
              <a:t>٢  </a:t>
            </a:r>
            <a:r>
              <a:rPr lang="ar-SA" altLang="en-US" sz="1700" b="1" dirty="0">
                <a:solidFill>
                  <a:srgbClr val="34405E"/>
                </a:solidFill>
                <a:latin typeface="Tahoma" pitchFamily="34" charset="0"/>
                <a:ea typeface="Tahoma" pitchFamily="34" charset="-122"/>
                <a:cs typeface="Tahoma" pitchFamily="34" charset="-120"/>
              </a:rPr>
              <a:t>اذكري أمثلة على المحلِّلات.</a:t>
            </a:r>
            <a:endParaRPr lang="ar-SA" sz="1700" dirty="0"/>
          </a:p>
          <a:p>
            <a:pPr rtl="1" algn="r" indent="0" marL="0">
              <a:buNone/>
            </a:pPr>
            <a:r>
              <a:rPr lang="ar-SA" altLang="en-US" sz="1200" dirty="0">
                <a:solidFill>
                  <a:srgbClr val="7A869E"/>
                </a:solidFill>
                <a:latin typeface="Tahoma" pitchFamily="34" charset="0"/>
                <a:ea typeface="Tahoma" pitchFamily="34" charset="-122"/>
                <a:cs typeface="Tahoma" pitchFamily="34" charset="-120"/>
              </a:rPr>
              <a:t>👆 اضغطي على السؤال لتظهر الإجابة</a:t>
            </a:r>
            <a:endParaRPr lang="ar-SA" sz="1700" dirty="0"/>
          </a:p>
        </p:txBody>
      </p:sp>
      <p:sp>
        <p:nvSpPr>
          <p:cNvPr id="8" name="s3_5@t=s3_q1%chime"/>
          <p:cNvSpPr txBox="1"/>
          <p:nvPr/>
        </p:nvSpPr>
        <p:spPr>
          <a:xfrm>
            <a:off x="2697480" y="2944368"/>
            <a:ext cx="3794760" cy="1115568"/>
          </a:xfrm>
          <a:prstGeom prst="roundRect">
            <a:avLst>
              <a:gd name="adj" fmla="val 11475"/>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الديدان، والبكتيريا، والفطريات.</a:t>
            </a:r>
            <a:endParaRPr lang="ar-SA" sz="1500" dirty="0"/>
          </a:p>
        </p:txBody>
      </p:sp>
      <p:sp>
        <p:nvSpPr>
          <p:cNvPr id="9" name="s3_q2"/>
          <p:cNvSpPr txBox="1"/>
          <p:nvPr/>
        </p:nvSpPr>
        <p:spPr>
          <a:xfrm>
            <a:off x="6629400" y="4242816"/>
            <a:ext cx="5120640" cy="1115568"/>
          </a:xfrm>
          <a:prstGeom prst="roundRect">
            <a:avLst>
              <a:gd name="adj" fmla="val 11475"/>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C2366F"/>
                </a:solidFill>
                <a:latin typeface="Tahoma" pitchFamily="34" charset="0"/>
                <a:ea typeface="Tahoma" pitchFamily="34" charset="-122"/>
                <a:cs typeface="Tahoma" pitchFamily="34" charset="-120"/>
              </a:rPr>
              <a:t>٣  </a:t>
            </a:r>
            <a:r>
              <a:rPr lang="ar-SA" altLang="en-US" sz="1700" b="1" dirty="0">
                <a:solidFill>
                  <a:srgbClr val="34405E"/>
                </a:solidFill>
                <a:latin typeface="Tahoma" pitchFamily="34" charset="0"/>
                <a:ea typeface="Tahoma" pitchFamily="34" charset="-122"/>
                <a:cs typeface="Tahoma" pitchFamily="34" charset="-120"/>
              </a:rPr>
              <a:t>ماذا يحدث لو اختفت المحلِّلات من الغابة؟</a:t>
            </a:r>
            <a:endParaRPr lang="ar-SA" sz="1700" dirty="0"/>
          </a:p>
          <a:p>
            <a:pPr rtl="1" algn="r" indent="0" marL="0">
              <a:buNone/>
            </a:pPr>
            <a:r>
              <a:rPr lang="ar-SA" altLang="en-US" sz="1200" dirty="0">
                <a:solidFill>
                  <a:srgbClr val="7A869E"/>
                </a:solidFill>
                <a:latin typeface="Tahoma" pitchFamily="34" charset="0"/>
                <a:ea typeface="Tahoma" pitchFamily="34" charset="-122"/>
                <a:cs typeface="Tahoma" pitchFamily="34" charset="-120"/>
              </a:rPr>
              <a:t>👆 اضغطي على السؤال لتظهر الإجابة</a:t>
            </a:r>
            <a:endParaRPr lang="ar-SA" sz="1700" dirty="0"/>
          </a:p>
        </p:txBody>
      </p:sp>
      <p:sp>
        <p:nvSpPr>
          <p:cNvPr id="10" name="s3_6@t=s3_q2%chime"/>
          <p:cNvSpPr txBox="1"/>
          <p:nvPr/>
        </p:nvSpPr>
        <p:spPr>
          <a:xfrm>
            <a:off x="2697480" y="4242816"/>
            <a:ext cx="3794760" cy="1115568"/>
          </a:xfrm>
          <a:prstGeom prst="roundRect">
            <a:avLst>
              <a:gd name="adj" fmla="val 11475"/>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تتراكم بقايا المخلوقات الميتة، ولا تعود المواد المغذية إلى التربة.</a:t>
            </a:r>
            <a:endParaRPr lang="ar-SA" sz="1500" dirty="0"/>
          </a:p>
        </p:txBody>
      </p:sp>
      <p:sp>
        <p:nvSpPr>
          <p:cNvPr id="11" name="s3_7@c1"/>
          <p:cNvSpPr txBox="1"/>
          <p:nvPr/>
        </p:nvSpPr>
        <p:spPr>
          <a:xfrm>
            <a:off x="2697480" y="5596128"/>
            <a:ext cx="9052560" cy="566928"/>
          </a:xfrm>
          <a:prstGeom prst="roundRect">
            <a:avLst>
              <a:gd name="adj" fmla="val 22581"/>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عرفنا أدوار المخلوقات: منتِج، ومستهلِك، ومحلِّل… فكيف تنتقل الطاقة بينها؟ 🤔</a:t>
            </a:r>
            <a:endParaRPr lang="ar-SA" sz="1700" dirty="0"/>
          </a:p>
        </p:txBody>
      </p:sp>
      <p:pic>
        <p:nvPicPr>
          <p:cNvPr id="12" name="s3_8" descr="المستكشفة تفكّر">    </p:cNvPr>
          <p:cNvPicPr>
            <a:picLocks noChangeAspect="1"/>
          </p:cNvPicPr>
          <p:nvPr/>
        </p:nvPicPr>
        <p:blipFill>
          <a:blip r:embed="rId3"/>
          <a:stretch>
            <a:fillRect/>
          </a:stretch>
        </p:blipFill>
        <p:spPr>
          <a:xfrm>
            <a:off x="320040" y="1828800"/>
            <a:ext cx="2428539" cy="3931920"/>
          </a:xfrm>
          <a:prstGeom prst="rect">
            <a:avLst/>
          </a:prstGeom>
        </p:spPr>
      </p:pic>
      <p:sp>
        <p:nvSpPr>
          <p:cNvPr id="13" name="s3_9"/>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4" name="s3_10"/>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١: قطار الذكريات • صفحة ١١١</a:t>
            </a:r>
            <a:endParaRPr lang="ar-SA" sz="1300" dirty="0"/>
          </a:p>
        </p:txBody>
      </p:sp>
    </p:spTree>
  </p:cSld>
  <p:clrMapOvr>
    <a:masterClrMapping/>
  </p:clrMapOvr>
  <p:transition spd="med">
    <p:push/>
    <p:sndAc>
      <p:stSnd>
        <p:snd r:embed="rId6"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subTnLst>
                                    <p:audio>
                                      <p:cMediaNode vol="80000" showWhenStopped="0">
                                        <p:cTn id="14" display="0" masterRel="sameClick">
                                          <p:stCondLst>
                                            <p:cond evt="onBegin" delay="0">
                                              <p:tn val="11"/>
                                            </p:cond>
                                          </p:stCondLst>
                                        </p:cTn>
                                        <p:tgtEl>
                                          <p:sndTgt r:embed="rId7" name="chime.wav"/>
                                        </p:tgtEl>
                                      </p:cMediaNode>
                                    </p:audio>
                                  </p:subTnLst>
                                </p:cTn>
                              </p:par>
                            </p:childTnLst>
                          </p:cTn>
                        </p:par>
                      </p:childTnLst>
                    </p:cTn>
                  </p:par>
                </p:childTnLst>
              </p:cTn>
              <p:nextCondLst>
                <p:cond evt="onNext" delay="0">
                  <p:tgtEl>
                    <p:spTgt spid="5"/>
                  </p:tgtEl>
                </p:cond>
              </p:nextCondLst>
            </p:seq>
            <p:seq concurrent="1" nextAc="seek">
              <p:cTn id="15" restart="whenNotActive" fill="hold" evtFilter="cancelBubble" nodeType="interactiveSeq">
                <p:stCondLst>
                  <p:cond evt="onClick" delay="0">
                    <p:tgtEl>
                      <p:spTgt spid="7"/>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subTnLst>
                                    <p:audio>
                                      <p:cMediaNode vol="80000" showWhenStopped="0">
                                        <p:cTn id="21" display="0" masterRel="sameClick">
                                          <p:stCondLst>
                                            <p:cond evt="onBegin" delay="0">
                                              <p:tn val="18"/>
                                            </p:cond>
                                          </p:stCondLst>
                                        </p:cTn>
                                        <p:tgtEl>
                                          <p:sndTgt r:embed="rId7" name="chime.wav"/>
                                        </p:tgtEl>
                                      </p:cMediaNode>
                                    </p:audio>
                                  </p:subTnLst>
                                </p:cTn>
                              </p:par>
                            </p:childTnLst>
                          </p:cTn>
                        </p:par>
                      </p:childTnLst>
                    </p:cTn>
                  </p:par>
                </p:childTnLst>
              </p:cTn>
              <p:nextCondLst>
                <p:cond evt="onNext" delay="0">
                  <p:tgtEl>
                    <p:spTgt spid="7"/>
                  </p:tgtEl>
                </p:cond>
              </p:nextCondLst>
            </p:seq>
            <p:seq concurrent="1" nextAc="seek">
              <p:cTn id="22" restart="whenNotActive" fill="hold" evtFilter="cancelBubble" nodeType="interactiveSeq">
                <p:stCondLst>
                  <p:cond evt="onClick" delay="0">
                    <p:tgtEl>
                      <p:spTgt spid="9"/>
                    </p:tgtEl>
                  </p:cond>
                </p:stCondLst>
                <p:endSync evt="end" delay="0">
                  <p:rtn val="all"/>
                </p:endSync>
                <p:childTnLst>
                  <p:par>
                    <p:cTn id="23" fill="hold">
                      <p:stCondLst>
                        <p:cond delay="0"/>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subTnLst>
                                    <p:audio>
                                      <p:cMediaNode vol="80000" showWhenStopped="0">
                                        <p:cTn id="28" display="0" masterRel="sameClick">
                                          <p:stCondLst>
                                            <p:cond evt="onBegin" delay="0">
                                              <p:tn val="25"/>
                                            </p:cond>
                                          </p:stCondLst>
                                        </p:cTn>
                                        <p:tgtEl>
                                          <p:sndTgt r:embed="rId7" name="chime.wav"/>
                                        </p:tgtEl>
                                      </p:cMediaNode>
                                    </p:audio>
                                  </p:subTnLst>
                                </p:cTn>
                              </p:par>
                            </p:childTnLst>
                          </p:cTn>
                        </p:par>
                      </p:childTnLst>
                    </p:cTn>
                  </p:par>
                </p:childTnLst>
              </p:cTn>
              <p:nextCondLst>
                <p:cond evt="onNext" delay="0">
                  <p:tgtEl>
                    <p:spTgt spid="9"/>
                  </p:tgtEl>
                </p:cond>
              </p:nextCondLst>
            </p:seq>
          </p:childTnLst>
        </p:cTn>
      </p:par>
    </p:tnLst>
    <p:bldLst>
      <p:bldP spid="6" grpId="0" animBg="1"/>
      <p:bldP spid="8"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4_1" descr="عنوان الشريحة">    </p:cNvPr>
          <p:cNvPicPr>
            <a:picLocks noChangeAspect="1"/>
          </p:cNvPicPr>
          <p:nvPr/>
        </p:nvPicPr>
        <p:blipFill>
          <a:blip r:embed="rId2"/>
          <a:stretch>
            <a:fillRect/>
          </a:stretch>
        </p:blipFill>
        <p:spPr>
          <a:xfrm>
            <a:off x="8324233" y="182880"/>
            <a:ext cx="3501702" cy="731520"/>
          </a:xfrm>
          <a:prstGeom prst="rect">
            <a:avLst/>
          </a:prstGeom>
        </p:spPr>
      </p:pic>
      <p:sp>
        <p:nvSpPr>
          <p:cNvPr id="3" name="s4_2"/>
          <p:cNvSpPr txBox="1"/>
          <p:nvPr/>
        </p:nvSpPr>
        <p:spPr>
          <a:xfrm>
            <a:off x="365760" y="292608"/>
            <a:ext cx="48234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فكّري بسرعة – التعلم باللعب</a:t>
            </a:r>
            <a:endParaRPr lang="en-US" sz="1600" dirty="0"/>
          </a:p>
        </p:txBody>
      </p:sp>
      <p:sp>
        <p:nvSpPr>
          <p:cNvPr id="4" name="s4_3"/>
          <p:cNvSpPr txBox="1"/>
          <p:nvPr/>
        </p:nvSpPr>
        <p:spPr>
          <a:xfrm>
            <a:off x="548640" y="1097280"/>
            <a:ext cx="11155680" cy="502920"/>
          </a:xfrm>
          <a:prstGeom prst="rect">
            <a:avLst/>
          </a:prstGeom>
          <a:noFill/>
          <a:ln/>
        </p:spPr>
        <p:txBody>
          <a:bodyPr wrap="square" lIns="63500" tIns="63500" rIns="63500" bIns="63500" rtlCol="0" anchor="ctr"/>
          <a:lstStyle/>
          <a:p>
            <a:pPr rtl="1" algn="ctr" indent="0" marL="0">
              <a:buNone/>
            </a:pPr>
            <a:r>
              <a:rPr lang="ar-SA" altLang="en-US" sz="1900" b="1" dirty="0">
                <a:solidFill>
                  <a:srgbClr val="6B4FC0"/>
                </a:solidFill>
                <a:latin typeface="Tahoma" pitchFamily="34" charset="0"/>
                <a:ea typeface="Tahoma" pitchFamily="34" charset="-122"/>
                <a:cs typeface="Tahoma" pitchFamily="34" charset="-120"/>
              </a:rPr>
              <a:t>منتِج 🌱 أم مستهلِك 🐰 أم محلِّل 🍄؟  اضغطي على البطاقة 👆</a:t>
            </a:r>
            <a:endParaRPr lang="ar-SA" sz="1900" dirty="0"/>
          </a:p>
        </p:txBody>
      </p:sp>
      <p:sp>
        <p:nvSpPr>
          <p:cNvPr id="5" name="s4_c0"/>
          <p:cNvSpPr txBox="1"/>
          <p:nvPr/>
        </p:nvSpPr>
        <p:spPr>
          <a:xfrm>
            <a:off x="8366760" y="1783080"/>
            <a:ext cx="3108960" cy="1600200"/>
          </a:xfrm>
          <a:prstGeom prst="roundRect">
            <a:avLst>
              <a:gd name="adj" fmla="val 8000"/>
            </a:avLst>
          </a:prstGeom>
          <a:solidFill>
            <a:srgbClr val="F9D3E3"/>
          </a:solidFill>
          <a:ln w="28575">
            <a:solidFill>
              <a:srgbClr val="34405E"/>
            </a:solidFill>
          </a:ln>
        </p:spPr>
        <p:txBody>
          <a:bodyPr wrap="square" lIns="101600" tIns="101600" rIns="101600" bIns="101600" rtlCol="0" anchor="ctr"/>
          <a:lstStyle/>
          <a:p>
            <a:pPr rtl="1" algn="ctr" indent="0" marL="0">
              <a:buNone/>
            </a:pPr>
            <a:r>
              <a:rPr lang="ar-SA" altLang="en-US" sz="4400" dirty="0">
                <a:solidFill>
                  <a:srgbClr val="34405E"/>
                </a:solidFill>
                <a:latin typeface="Tahoma" pitchFamily="34" charset="0"/>
                <a:ea typeface="Tahoma" pitchFamily="34" charset="-122"/>
                <a:cs typeface="Tahoma" pitchFamily="34" charset="-120"/>
              </a:rPr>
              <a:t>🍄
</a:t>
            </a:r>
            <a:r>
              <a:rPr lang="ar-SA" altLang="en-US" sz="2000" b="1" dirty="0">
                <a:solidFill>
                  <a:srgbClr val="34405E"/>
                </a:solidFill>
                <a:latin typeface="Tahoma" pitchFamily="34" charset="0"/>
                <a:ea typeface="Tahoma" pitchFamily="34" charset="-122"/>
                <a:cs typeface="Tahoma" pitchFamily="34" charset="-120"/>
              </a:rPr>
              <a:t>الفطر</a:t>
            </a:r>
            <a:endParaRPr lang="ar-SA" sz="1800" dirty="0"/>
          </a:p>
        </p:txBody>
      </p:sp>
      <p:sp>
        <p:nvSpPr>
          <p:cNvPr id="6" name="s4_4@t=s4_c0%pop"/>
          <p:cNvSpPr txBox="1"/>
          <p:nvPr/>
        </p:nvSpPr>
        <p:spPr>
          <a:xfrm>
            <a:off x="8869680" y="3200400"/>
            <a:ext cx="2103120" cy="457200"/>
          </a:xfrm>
          <a:prstGeom prst="roundRect">
            <a:avLst>
              <a:gd name="adj" fmla="val 50000"/>
            </a:avLst>
          </a:prstGeom>
          <a:solidFill>
            <a:srgbClr val="A0522D"/>
          </a:solidFill>
          <a:ln w="25400">
            <a:solidFill>
              <a:srgbClr val="FFFFFF"/>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محلِّل</a:t>
            </a:r>
            <a:endParaRPr lang="ar-SA" sz="1700" dirty="0"/>
          </a:p>
        </p:txBody>
      </p:sp>
      <p:sp>
        <p:nvSpPr>
          <p:cNvPr id="7" name="s4_c1"/>
          <p:cNvSpPr txBox="1"/>
          <p:nvPr/>
        </p:nvSpPr>
        <p:spPr>
          <a:xfrm>
            <a:off x="4937760" y="1783080"/>
            <a:ext cx="3108960" cy="1600200"/>
          </a:xfrm>
          <a:prstGeom prst="roundRect">
            <a:avLst>
              <a:gd name="adj" fmla="val 8000"/>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4400" dirty="0">
                <a:solidFill>
                  <a:srgbClr val="34405E"/>
                </a:solidFill>
                <a:latin typeface="Tahoma" pitchFamily="34" charset="0"/>
                <a:ea typeface="Tahoma" pitchFamily="34" charset="-122"/>
                <a:cs typeface="Tahoma" pitchFamily="34" charset="-120"/>
              </a:rPr>
              <a:t>🌾
</a:t>
            </a:r>
            <a:r>
              <a:rPr lang="ar-SA" altLang="en-US" sz="2000" b="1" dirty="0">
                <a:solidFill>
                  <a:srgbClr val="34405E"/>
                </a:solidFill>
                <a:latin typeface="Tahoma" pitchFamily="34" charset="0"/>
                <a:ea typeface="Tahoma" pitchFamily="34" charset="-122"/>
                <a:cs typeface="Tahoma" pitchFamily="34" charset="-120"/>
              </a:rPr>
              <a:t>العشب</a:t>
            </a:r>
            <a:endParaRPr lang="ar-SA" sz="1800" dirty="0"/>
          </a:p>
        </p:txBody>
      </p:sp>
      <p:sp>
        <p:nvSpPr>
          <p:cNvPr id="8" name="s4_5@t=s4_c1%pop"/>
          <p:cNvSpPr txBox="1"/>
          <p:nvPr/>
        </p:nvSpPr>
        <p:spPr>
          <a:xfrm>
            <a:off x="5440680" y="3200400"/>
            <a:ext cx="2103120" cy="457200"/>
          </a:xfrm>
          <a:prstGeom prst="roundRect">
            <a:avLst>
              <a:gd name="adj" fmla="val 50000"/>
            </a:avLst>
          </a:prstGeom>
          <a:solidFill>
            <a:srgbClr val="2F8A3A"/>
          </a:solidFill>
          <a:ln w="25400">
            <a:solidFill>
              <a:srgbClr val="FFFFFF"/>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منتِج</a:t>
            </a:r>
            <a:endParaRPr lang="ar-SA" sz="1700" dirty="0"/>
          </a:p>
        </p:txBody>
      </p:sp>
      <p:sp>
        <p:nvSpPr>
          <p:cNvPr id="9" name="s4_c2"/>
          <p:cNvSpPr txBox="1"/>
          <p:nvPr/>
        </p:nvSpPr>
        <p:spPr>
          <a:xfrm>
            <a:off x="1508760" y="1783080"/>
            <a:ext cx="3108960" cy="1600200"/>
          </a:xfrm>
          <a:prstGeom prst="roundRect">
            <a:avLst>
              <a:gd name="adj" fmla="val 8000"/>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4400" dirty="0">
                <a:solidFill>
                  <a:srgbClr val="34405E"/>
                </a:solidFill>
                <a:latin typeface="Tahoma" pitchFamily="34" charset="0"/>
                <a:ea typeface="Tahoma" pitchFamily="34" charset="-122"/>
                <a:cs typeface="Tahoma" pitchFamily="34" charset="-120"/>
              </a:rPr>
              <a:t>🐇
</a:t>
            </a:r>
            <a:r>
              <a:rPr lang="ar-SA" altLang="en-US" sz="2000" b="1" dirty="0">
                <a:solidFill>
                  <a:srgbClr val="34405E"/>
                </a:solidFill>
                <a:latin typeface="Tahoma" pitchFamily="34" charset="0"/>
                <a:ea typeface="Tahoma" pitchFamily="34" charset="-122"/>
                <a:cs typeface="Tahoma" pitchFamily="34" charset="-120"/>
              </a:rPr>
              <a:t>الأرنب</a:t>
            </a:r>
            <a:endParaRPr lang="ar-SA" sz="1800" dirty="0"/>
          </a:p>
        </p:txBody>
      </p:sp>
      <p:sp>
        <p:nvSpPr>
          <p:cNvPr id="10" name="s4_6@t=s4_c2%pop"/>
          <p:cNvSpPr txBox="1"/>
          <p:nvPr/>
        </p:nvSpPr>
        <p:spPr>
          <a:xfrm>
            <a:off x="2011680" y="3200400"/>
            <a:ext cx="2103120" cy="457200"/>
          </a:xfrm>
          <a:prstGeom prst="roundRect">
            <a:avLst>
              <a:gd name="adj" fmla="val 50000"/>
            </a:avLst>
          </a:prstGeom>
          <a:solidFill>
            <a:srgbClr val="1E7FB8"/>
          </a:solidFill>
          <a:ln w="25400">
            <a:solidFill>
              <a:srgbClr val="FFFFFF"/>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مستهلِك</a:t>
            </a:r>
            <a:endParaRPr lang="ar-SA" sz="1700" dirty="0"/>
          </a:p>
        </p:txBody>
      </p:sp>
      <p:sp>
        <p:nvSpPr>
          <p:cNvPr id="11" name="s4_c3"/>
          <p:cNvSpPr txBox="1"/>
          <p:nvPr/>
        </p:nvSpPr>
        <p:spPr>
          <a:xfrm>
            <a:off x="8366760" y="3931920"/>
            <a:ext cx="3108960" cy="1600200"/>
          </a:xfrm>
          <a:prstGeom prst="roundRect">
            <a:avLst>
              <a:gd name="adj" fmla="val 8000"/>
            </a:avLst>
          </a:prstGeom>
          <a:solidFill>
            <a:srgbClr val="ECE6FB"/>
          </a:solidFill>
          <a:ln w="28575">
            <a:solidFill>
              <a:srgbClr val="34405E"/>
            </a:solidFill>
          </a:ln>
        </p:spPr>
        <p:txBody>
          <a:bodyPr wrap="square" lIns="101600" tIns="101600" rIns="101600" bIns="101600" rtlCol="0" anchor="ctr"/>
          <a:lstStyle/>
          <a:p>
            <a:pPr rtl="1" algn="ctr" indent="0" marL="0">
              <a:buNone/>
            </a:pPr>
            <a:r>
              <a:rPr lang="ar-SA" altLang="en-US" sz="4400" dirty="0">
                <a:solidFill>
                  <a:srgbClr val="34405E"/>
                </a:solidFill>
                <a:latin typeface="Tahoma" pitchFamily="34" charset="0"/>
                <a:ea typeface="Tahoma" pitchFamily="34" charset="-122"/>
                <a:cs typeface="Tahoma" pitchFamily="34" charset="-120"/>
              </a:rPr>
              <a:t>🦠
</a:t>
            </a:r>
            <a:r>
              <a:rPr lang="ar-SA" altLang="en-US" sz="2000" b="1" dirty="0">
                <a:solidFill>
                  <a:srgbClr val="34405E"/>
                </a:solidFill>
                <a:latin typeface="Tahoma" pitchFamily="34" charset="0"/>
                <a:ea typeface="Tahoma" pitchFamily="34" charset="-122"/>
                <a:cs typeface="Tahoma" pitchFamily="34" charset="-120"/>
              </a:rPr>
              <a:t>البكتيريا</a:t>
            </a:r>
            <a:endParaRPr lang="ar-SA" sz="1800" dirty="0"/>
          </a:p>
        </p:txBody>
      </p:sp>
      <p:sp>
        <p:nvSpPr>
          <p:cNvPr id="12" name="s4_7@t=s4_c3%pop"/>
          <p:cNvSpPr txBox="1"/>
          <p:nvPr/>
        </p:nvSpPr>
        <p:spPr>
          <a:xfrm>
            <a:off x="8869680" y="5349240"/>
            <a:ext cx="2103120" cy="457200"/>
          </a:xfrm>
          <a:prstGeom prst="roundRect">
            <a:avLst>
              <a:gd name="adj" fmla="val 50000"/>
            </a:avLst>
          </a:prstGeom>
          <a:solidFill>
            <a:srgbClr val="A0522D"/>
          </a:solidFill>
          <a:ln w="25400">
            <a:solidFill>
              <a:srgbClr val="FFFFFF"/>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محلِّل</a:t>
            </a:r>
            <a:endParaRPr lang="ar-SA" sz="1700" dirty="0"/>
          </a:p>
        </p:txBody>
      </p:sp>
      <p:sp>
        <p:nvSpPr>
          <p:cNvPr id="13" name="s4_c4"/>
          <p:cNvSpPr txBox="1"/>
          <p:nvPr/>
        </p:nvSpPr>
        <p:spPr>
          <a:xfrm>
            <a:off x="4937760" y="3931920"/>
            <a:ext cx="3108960" cy="1600200"/>
          </a:xfrm>
          <a:prstGeom prst="roundRect">
            <a:avLst>
              <a:gd name="adj" fmla="val 8000"/>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4400" dirty="0">
                <a:solidFill>
                  <a:srgbClr val="34405E"/>
                </a:solidFill>
                <a:latin typeface="Tahoma" pitchFamily="34" charset="0"/>
                <a:ea typeface="Tahoma" pitchFamily="34" charset="-122"/>
                <a:cs typeface="Tahoma" pitchFamily="34" charset="-120"/>
              </a:rPr>
              <a:t>🦁
</a:t>
            </a:r>
            <a:r>
              <a:rPr lang="ar-SA" altLang="en-US" sz="2000" b="1" dirty="0">
                <a:solidFill>
                  <a:srgbClr val="34405E"/>
                </a:solidFill>
                <a:latin typeface="Tahoma" pitchFamily="34" charset="0"/>
                <a:ea typeface="Tahoma" pitchFamily="34" charset="-122"/>
                <a:cs typeface="Tahoma" pitchFamily="34" charset="-120"/>
              </a:rPr>
              <a:t>الأسد</a:t>
            </a:r>
            <a:endParaRPr lang="ar-SA" sz="1800" dirty="0"/>
          </a:p>
        </p:txBody>
      </p:sp>
      <p:sp>
        <p:nvSpPr>
          <p:cNvPr id="14" name="s4_8@t=s4_c4%pop"/>
          <p:cNvSpPr txBox="1"/>
          <p:nvPr/>
        </p:nvSpPr>
        <p:spPr>
          <a:xfrm>
            <a:off x="5440680" y="5349240"/>
            <a:ext cx="2103120" cy="457200"/>
          </a:xfrm>
          <a:prstGeom prst="roundRect">
            <a:avLst>
              <a:gd name="adj" fmla="val 50000"/>
            </a:avLst>
          </a:prstGeom>
          <a:solidFill>
            <a:srgbClr val="1E7FB8"/>
          </a:solidFill>
          <a:ln w="25400">
            <a:solidFill>
              <a:srgbClr val="FFFFFF"/>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مستهلِك</a:t>
            </a:r>
            <a:endParaRPr lang="ar-SA" sz="1700" dirty="0"/>
          </a:p>
        </p:txBody>
      </p:sp>
      <p:sp>
        <p:nvSpPr>
          <p:cNvPr id="15" name="s4_c5"/>
          <p:cNvSpPr txBox="1"/>
          <p:nvPr/>
        </p:nvSpPr>
        <p:spPr>
          <a:xfrm>
            <a:off x="1508760" y="3931920"/>
            <a:ext cx="3108960" cy="1600200"/>
          </a:xfrm>
          <a:prstGeom prst="roundRect">
            <a:avLst>
              <a:gd name="adj" fmla="val 8000"/>
            </a:avLst>
          </a:prstGeom>
          <a:solidFill>
            <a:srgbClr val="D5F5EA"/>
          </a:solidFill>
          <a:ln w="28575">
            <a:solidFill>
              <a:srgbClr val="34405E"/>
            </a:solidFill>
          </a:ln>
        </p:spPr>
        <p:txBody>
          <a:bodyPr wrap="square" lIns="101600" tIns="101600" rIns="101600" bIns="101600" rtlCol="0" anchor="ctr"/>
          <a:lstStyle/>
          <a:p>
            <a:pPr rtl="1" algn="ctr" indent="0" marL="0">
              <a:buNone/>
            </a:pPr>
            <a:r>
              <a:rPr lang="ar-SA" altLang="en-US" sz="4400" dirty="0">
                <a:solidFill>
                  <a:srgbClr val="34405E"/>
                </a:solidFill>
                <a:latin typeface="Tahoma" pitchFamily="34" charset="0"/>
                <a:ea typeface="Tahoma" pitchFamily="34" charset="-122"/>
                <a:cs typeface="Tahoma" pitchFamily="34" charset="-120"/>
              </a:rPr>
              <a:t>🌳
</a:t>
            </a:r>
            <a:r>
              <a:rPr lang="ar-SA" altLang="en-US" sz="2000" b="1" dirty="0">
                <a:solidFill>
                  <a:srgbClr val="34405E"/>
                </a:solidFill>
                <a:latin typeface="Tahoma" pitchFamily="34" charset="0"/>
                <a:ea typeface="Tahoma" pitchFamily="34" charset="-122"/>
                <a:cs typeface="Tahoma" pitchFamily="34" charset="-120"/>
              </a:rPr>
              <a:t>الشجرة</a:t>
            </a:r>
            <a:endParaRPr lang="ar-SA" sz="1800" dirty="0"/>
          </a:p>
        </p:txBody>
      </p:sp>
      <p:sp>
        <p:nvSpPr>
          <p:cNvPr id="16" name="s4_9@t=s4_c5%pop"/>
          <p:cNvSpPr txBox="1"/>
          <p:nvPr/>
        </p:nvSpPr>
        <p:spPr>
          <a:xfrm>
            <a:off x="2011680" y="5349240"/>
            <a:ext cx="2103120" cy="457200"/>
          </a:xfrm>
          <a:prstGeom prst="roundRect">
            <a:avLst>
              <a:gd name="adj" fmla="val 50000"/>
            </a:avLst>
          </a:prstGeom>
          <a:solidFill>
            <a:srgbClr val="2F8A3A"/>
          </a:solidFill>
          <a:ln w="25400">
            <a:solidFill>
              <a:srgbClr val="FFFFFF"/>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منتِج</a:t>
            </a:r>
            <a:endParaRPr lang="ar-SA" sz="1700" dirty="0"/>
          </a:p>
        </p:txBody>
      </p:sp>
      <p:sp>
        <p:nvSpPr>
          <p:cNvPr id="17" name="s4_10"/>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8" name="s4_11"/>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١: قطار الذكريات • صفحة ١١١</a:t>
            </a:r>
            <a:endParaRPr lang="ar-SA" sz="13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audio>
                                      <p:cMediaNode vol="80000" showWhenStopped="0">
                                        <p:cTn id="8" display="0" masterRel="sameClick">
                                          <p:stCondLst>
                                            <p:cond evt="onBegin" delay="0">
                                              <p:tn val="5"/>
                                            </p:cond>
                                          </p:stCondLst>
                                        </p:cTn>
                                        <p:tgtEl>
                                          <p:sndTgt r:embed="rId5" name="pop.wav"/>
                                        </p:tgtEl>
                                      </p:cMediaNode>
                                    </p:audio>
                                  </p:subTnLst>
                                </p:cTn>
                              </p:par>
                            </p:childTnLst>
                          </p:cTn>
                        </p:par>
                      </p:childTnLst>
                    </p:cTn>
                  </p:par>
                </p:childTnLst>
              </p:cTn>
              <p:nextCondLst>
                <p:cond evt="onNext" delay="0">
                  <p:tgtEl>
                    <p:spTgt spid="5"/>
                  </p:tgtEl>
                </p:cond>
              </p:nextCondLst>
            </p:seq>
            <p:seq concurrent="1" nextAc="seek">
              <p:cTn id="9" restart="whenNotActive" fill="hold" evtFilter="cancelBubble" nodeType="interactiveSeq">
                <p:stCondLst>
                  <p:cond evt="onClick" delay="0">
                    <p:tgtEl>
                      <p:spTgt spid="7"/>
                    </p:tgtEl>
                  </p:cond>
                </p:stCondLst>
                <p:endSync evt="end" delay="0">
                  <p:rtn val="all"/>
                </p:endSync>
                <p:childTnLst>
                  <p:par>
                    <p:cTn id="10" fill="hold">
                      <p:stCondLst>
                        <p:cond delay="0"/>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subTnLst>
                                    <p:audio>
                                      <p:cMediaNode vol="80000" showWhenStopped="0">
                                        <p:cTn id="15" display="0" masterRel="sameClick">
                                          <p:stCondLst>
                                            <p:cond evt="onBegin" delay="0">
                                              <p:tn val="12"/>
                                            </p:cond>
                                          </p:stCondLst>
                                        </p:cTn>
                                        <p:tgtEl>
                                          <p:sndTgt r:embed="rId5" name="pop.wav"/>
                                        </p:tgtEl>
                                      </p:cMediaNode>
                                    </p:audio>
                                  </p:subTnLst>
                                </p:cTn>
                              </p:par>
                            </p:childTnLst>
                          </p:cTn>
                        </p:par>
                      </p:childTnLst>
                    </p:cTn>
                  </p:par>
                </p:childTnLst>
              </p:cTn>
              <p:nextCondLst>
                <p:cond evt="onNext" delay="0">
                  <p:tgtEl>
                    <p:spTgt spid="7"/>
                  </p:tgtEl>
                </p:cond>
              </p:nextCondLst>
            </p:seq>
            <p:seq concurrent="1" nextAc="seek">
              <p:cTn id="16" restart="whenNotActive" fill="hold" evtFilter="cancelBubble" nodeType="interactiveSeq">
                <p:stCondLst>
                  <p:cond evt="onClick" delay="0">
                    <p:tgtEl>
                      <p:spTgt spid="9"/>
                    </p:tgtEl>
                  </p:cond>
                </p:stCondLst>
                <p:endSync evt="end" delay="0">
                  <p:rtn val="all"/>
                </p:endSync>
                <p:childTnLst>
                  <p:par>
                    <p:cTn id="17" fill="hold">
                      <p:stCondLst>
                        <p:cond delay="0"/>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subTnLst>
                                    <p:audio>
                                      <p:cMediaNode vol="80000" showWhenStopped="0">
                                        <p:cTn id="22" display="0" masterRel="sameClick">
                                          <p:stCondLst>
                                            <p:cond evt="onBegin" delay="0">
                                              <p:tn val="19"/>
                                            </p:cond>
                                          </p:stCondLst>
                                        </p:cTn>
                                        <p:tgtEl>
                                          <p:sndTgt r:embed="rId5" name="pop.wav"/>
                                        </p:tgtEl>
                                      </p:cMediaNode>
                                    </p:audio>
                                  </p:subTnLst>
                                </p:cTn>
                              </p:par>
                            </p:childTnLst>
                          </p:cTn>
                        </p:par>
                      </p:childTnLst>
                    </p:cTn>
                  </p:par>
                </p:childTnLst>
              </p:cTn>
              <p:nextCondLst>
                <p:cond evt="onNext" delay="0">
                  <p:tgtEl>
                    <p:spTgt spid="9"/>
                  </p:tgtEl>
                </p:cond>
              </p:nextCondLst>
            </p:seq>
            <p:seq concurrent="1" nextAc="seek">
              <p:cTn id="23" restart="whenNotActive" fill="hold" evtFilter="cancelBubble" nodeType="interactiveSeq">
                <p:stCondLst>
                  <p:cond evt="onClick" delay="0">
                    <p:tgtEl>
                      <p:spTgt spid="11"/>
                    </p:tgtEl>
                  </p:cond>
                </p:stCondLst>
                <p:endSync evt="end" delay="0">
                  <p:rtn val="all"/>
                </p:endSync>
                <p:childTnLst>
                  <p:par>
                    <p:cTn id="24" fill="hold">
                      <p:stCondLst>
                        <p:cond delay="0"/>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subTnLst>
                                    <p:audio>
                                      <p:cMediaNode vol="80000" showWhenStopped="0">
                                        <p:cTn id="29" display="0" masterRel="sameClick">
                                          <p:stCondLst>
                                            <p:cond evt="onBegin" delay="0">
                                              <p:tn val="26"/>
                                            </p:cond>
                                          </p:stCondLst>
                                        </p:cTn>
                                        <p:tgtEl>
                                          <p:sndTgt r:embed="rId5" name="pop.wav"/>
                                        </p:tgtEl>
                                      </p:cMediaNode>
                                    </p:audio>
                                  </p:subTnLst>
                                </p:cTn>
                              </p:par>
                            </p:childTnLst>
                          </p:cTn>
                        </p:par>
                      </p:childTnLst>
                    </p:cTn>
                  </p:par>
                </p:childTnLst>
              </p:cTn>
              <p:nextCondLst>
                <p:cond evt="onNext" delay="0">
                  <p:tgtEl>
                    <p:spTgt spid="11"/>
                  </p:tgtEl>
                </p:cond>
              </p:nextCondLst>
            </p:seq>
            <p:seq concurrent="1" nextAc="seek">
              <p:cTn id="30" restart="whenNotActive" fill="hold" evtFilter="cancelBubble" nodeType="interactiveSeq">
                <p:stCondLst>
                  <p:cond evt="onClick" delay="0">
                    <p:tgtEl>
                      <p:spTgt spid="13"/>
                    </p:tgtEl>
                  </p:cond>
                </p:stCondLst>
                <p:endSync evt="end" delay="0">
                  <p:rtn val="all"/>
                </p:endSync>
                <p:childTnLst>
                  <p:par>
                    <p:cTn id="31" fill="hold">
                      <p:stCondLst>
                        <p:cond delay="0"/>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subTnLst>
                                    <p:audio>
                                      <p:cMediaNode vol="80000" showWhenStopped="0">
                                        <p:cTn id="36" display="0" masterRel="sameClick">
                                          <p:stCondLst>
                                            <p:cond evt="onBegin" delay="0">
                                              <p:tn val="33"/>
                                            </p:cond>
                                          </p:stCondLst>
                                        </p:cTn>
                                        <p:tgtEl>
                                          <p:sndTgt r:embed="rId5" name="pop.wav"/>
                                        </p:tgtEl>
                                      </p:cMediaNode>
                                    </p:audio>
                                  </p:subTnLst>
                                </p:cTn>
                              </p:par>
                            </p:childTnLst>
                          </p:cTn>
                        </p:par>
                      </p:childTnLst>
                    </p:cTn>
                  </p:par>
                </p:childTnLst>
              </p:cTn>
              <p:nextCondLst>
                <p:cond evt="onNext" delay="0">
                  <p:tgtEl>
                    <p:spTgt spid="13"/>
                  </p:tgtEl>
                </p:cond>
              </p:nextCondLst>
            </p:seq>
            <p:seq concurrent="1" nextAc="seek">
              <p:cTn id="37" restart="whenNotActive" fill="hold" evtFilter="cancelBubble" nodeType="interactiveSeq">
                <p:stCondLst>
                  <p:cond evt="onClick" delay="0">
                    <p:tgtEl>
                      <p:spTgt spid="15"/>
                    </p:tgtEl>
                  </p:cond>
                </p:stCondLst>
                <p:endSync evt="end" delay="0">
                  <p:rtn val="all"/>
                </p:endSync>
                <p:childTnLst>
                  <p:par>
                    <p:cTn id="38" fill="hold">
                      <p:stCondLst>
                        <p:cond delay="0"/>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subTnLst>
                                    <p:audio>
                                      <p:cMediaNode vol="80000" showWhenStopped="0">
                                        <p:cTn id="43" display="0" masterRel="sameClick">
                                          <p:stCondLst>
                                            <p:cond evt="onBegin" delay="0">
                                              <p:tn val="40"/>
                                            </p:cond>
                                          </p:stCondLst>
                                        </p:cTn>
                                        <p:tgtEl>
                                          <p:sndTgt r:embed="rId5" name="pop.wav"/>
                                        </p:tgtEl>
                                      </p:cMediaNode>
                                    </p:audio>
                                  </p:subTnLst>
                                </p:cTn>
                              </p:par>
                            </p:childTnLst>
                          </p:cTn>
                        </p:par>
                      </p:childTnLst>
                    </p:cTn>
                  </p:par>
                </p:childTnLst>
              </p:cTn>
              <p:nextCondLst>
                <p:cond evt="onNext" delay="0">
                  <p:tgtEl>
                    <p:spTgt spid="15"/>
                  </p:tgtEl>
                </p:cond>
              </p:nextCondLst>
            </p:seq>
          </p:childTnLst>
        </p:cTn>
      </p:par>
    </p:tnLst>
    <p:bldLst>
      <p:bldP spid="6" grpId="0" animBg="1"/>
      <p:bldP spid="8" grpId="0" animBg="1"/>
      <p:bldP spid="10" grpId="0" animBg="1"/>
      <p:bldP spid="12" grpId="0" animBg="1"/>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5_1" descr="عنوان الشريحة">    </p:cNvPr>
          <p:cNvPicPr>
            <a:picLocks noChangeAspect="1"/>
          </p:cNvPicPr>
          <p:nvPr/>
        </p:nvPicPr>
        <p:blipFill>
          <a:blip r:embed="rId2"/>
          <a:stretch>
            <a:fillRect/>
          </a:stretch>
        </p:blipFill>
        <p:spPr>
          <a:xfrm>
            <a:off x="9277607" y="182880"/>
            <a:ext cx="2548328" cy="731520"/>
          </a:xfrm>
          <a:prstGeom prst="rect">
            <a:avLst/>
          </a:prstGeom>
        </p:spPr>
      </p:pic>
      <p:sp>
        <p:nvSpPr>
          <p:cNvPr id="3" name="s5_2"/>
          <p:cNvSpPr txBox="1"/>
          <p:nvPr/>
        </p:nvSpPr>
        <p:spPr>
          <a:xfrm>
            <a:off x="365760" y="292608"/>
            <a:ext cx="37947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التنبؤ – قياس قبلي</a:t>
            </a:r>
            <a:endParaRPr lang="en-US" sz="1600" dirty="0"/>
          </a:p>
        </p:txBody>
      </p:sp>
      <p:sp>
        <p:nvSpPr>
          <p:cNvPr id="4" name="s5_3"/>
          <p:cNvSpPr txBox="1"/>
          <p:nvPr/>
        </p:nvSpPr>
        <p:spPr>
          <a:xfrm>
            <a:off x="2697480" y="1188720"/>
            <a:ext cx="9052560" cy="960120"/>
          </a:xfrm>
          <a:prstGeom prst="roundRect">
            <a:avLst>
              <a:gd name="adj" fmla="val 13333"/>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2000" b="1" dirty="0">
                <a:solidFill>
                  <a:srgbClr val="C2366F"/>
                </a:solidFill>
                <a:latin typeface="Tahoma" pitchFamily="34" charset="0"/>
                <a:ea typeface="Tahoma" pitchFamily="34" charset="-122"/>
                <a:cs typeface="Tahoma" pitchFamily="34" charset="-120"/>
              </a:rPr>
              <a:t>لغز الرحلة: </a:t>
            </a:r>
            <a:r>
              <a:rPr lang="ar-SA" altLang="en-US" sz="2000" b="1" dirty="0">
                <a:solidFill>
                  <a:srgbClr val="34405E"/>
                </a:solidFill>
                <a:latin typeface="Tahoma" pitchFamily="34" charset="0"/>
                <a:ea typeface="Tahoma" pitchFamily="34" charset="-122"/>
                <a:cs typeface="Tahoma" pitchFamily="34" charset="-120"/>
              </a:rPr>
              <a:t>في سلسلة غذائية على اليابسة… أيّ هذه المخلوقات يصل إليه أقلّ قدرٍ من طاقة الشمس؟</a:t>
            </a:r>
            <a:endParaRPr lang="ar-SA" sz="2000" dirty="0"/>
          </a:p>
        </p:txBody>
      </p:sp>
      <p:pic>
        <p:nvPicPr>
          <p:cNvPr id="5" name="s5_4" descr="نبات الشوك">    </p:cNvPr>
          <p:cNvPicPr>
            <a:picLocks noChangeAspect="1"/>
          </p:cNvPicPr>
          <p:nvPr/>
        </p:nvPicPr>
        <p:blipFill>
          <a:blip r:embed="rId3"/>
          <a:stretch>
            <a:fillRect/>
          </a:stretch>
        </p:blipFill>
        <p:spPr>
          <a:xfrm>
            <a:off x="9326880" y="2377440"/>
            <a:ext cx="1920240" cy="1920240"/>
          </a:xfrm>
          <a:prstGeom prst="rect">
            <a:avLst/>
          </a:prstGeom>
        </p:spPr>
      </p:pic>
      <p:sp>
        <p:nvSpPr>
          <p:cNvPr id="6" name="s5_5"/>
          <p:cNvSpPr txBox="1"/>
          <p:nvPr/>
        </p:nvSpPr>
        <p:spPr>
          <a:xfrm>
            <a:off x="8823960" y="4389120"/>
            <a:ext cx="2926080" cy="566928"/>
          </a:xfrm>
          <a:prstGeom prst="roundRect">
            <a:avLst>
              <a:gd name="adj" fmla="val 22581"/>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900" b="1" dirty="0">
                <a:solidFill>
                  <a:srgbClr val="C2366F"/>
                </a:solidFill>
                <a:latin typeface="Tahoma" pitchFamily="34" charset="0"/>
                <a:ea typeface="Tahoma" pitchFamily="34" charset="-122"/>
                <a:cs typeface="Tahoma" pitchFamily="34" charset="-120"/>
              </a:rPr>
              <a:t>أ) </a:t>
            </a:r>
            <a:r>
              <a:rPr lang="ar-SA" altLang="en-US" sz="1900" b="1" dirty="0">
                <a:solidFill>
                  <a:srgbClr val="34405E"/>
                </a:solidFill>
                <a:latin typeface="Tahoma" pitchFamily="34" charset="0"/>
                <a:ea typeface="Tahoma" pitchFamily="34" charset="-122"/>
                <a:cs typeface="Tahoma" pitchFamily="34" charset="-120"/>
              </a:rPr>
              <a:t>نبات الشوك</a:t>
            </a:r>
            <a:endParaRPr lang="ar-SA" sz="1900" dirty="0"/>
          </a:p>
        </p:txBody>
      </p:sp>
      <p:pic>
        <p:nvPicPr>
          <p:cNvPr id="7" name="s5_6" descr="يرقة">    </p:cNvPr>
          <p:cNvPicPr>
            <a:picLocks noChangeAspect="1"/>
          </p:cNvPicPr>
          <p:nvPr/>
        </p:nvPicPr>
        <p:blipFill>
          <a:blip r:embed="rId4"/>
          <a:stretch>
            <a:fillRect/>
          </a:stretch>
        </p:blipFill>
        <p:spPr>
          <a:xfrm>
            <a:off x="6309360" y="2377440"/>
            <a:ext cx="1920240" cy="1920240"/>
          </a:xfrm>
          <a:prstGeom prst="rect">
            <a:avLst/>
          </a:prstGeom>
        </p:spPr>
      </p:pic>
      <p:sp>
        <p:nvSpPr>
          <p:cNvPr id="8" name="s5_7"/>
          <p:cNvSpPr txBox="1"/>
          <p:nvPr/>
        </p:nvSpPr>
        <p:spPr>
          <a:xfrm>
            <a:off x="5806440" y="4389120"/>
            <a:ext cx="2926080" cy="566928"/>
          </a:xfrm>
          <a:prstGeom prst="roundRect">
            <a:avLst>
              <a:gd name="adj" fmla="val 22581"/>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900" b="1" dirty="0">
                <a:solidFill>
                  <a:srgbClr val="C2366F"/>
                </a:solidFill>
                <a:latin typeface="Tahoma" pitchFamily="34" charset="0"/>
                <a:ea typeface="Tahoma" pitchFamily="34" charset="-122"/>
                <a:cs typeface="Tahoma" pitchFamily="34" charset="-120"/>
              </a:rPr>
              <a:t>ب) </a:t>
            </a:r>
            <a:r>
              <a:rPr lang="ar-SA" altLang="en-US" sz="1900" b="1" dirty="0">
                <a:solidFill>
                  <a:srgbClr val="34405E"/>
                </a:solidFill>
                <a:latin typeface="Tahoma" pitchFamily="34" charset="0"/>
                <a:ea typeface="Tahoma" pitchFamily="34" charset="-122"/>
                <a:cs typeface="Tahoma" pitchFamily="34" charset="-120"/>
              </a:rPr>
              <a:t>اليرقة</a:t>
            </a:r>
            <a:endParaRPr lang="ar-SA" sz="1900" dirty="0"/>
          </a:p>
        </p:txBody>
      </p:sp>
      <p:pic>
        <p:nvPicPr>
          <p:cNvPr id="9" name="s5_8" descr="بومة">    </p:cNvPr>
          <p:cNvPicPr>
            <a:picLocks noChangeAspect="1"/>
          </p:cNvPicPr>
          <p:nvPr/>
        </p:nvPicPr>
        <p:blipFill>
          <a:blip r:embed="rId5"/>
          <a:stretch>
            <a:fillRect/>
          </a:stretch>
        </p:blipFill>
        <p:spPr>
          <a:xfrm>
            <a:off x="3291840" y="2377440"/>
            <a:ext cx="1920240" cy="1920240"/>
          </a:xfrm>
          <a:prstGeom prst="rect">
            <a:avLst/>
          </a:prstGeom>
        </p:spPr>
      </p:pic>
      <p:sp>
        <p:nvSpPr>
          <p:cNvPr id="10" name="s5_9"/>
          <p:cNvSpPr txBox="1"/>
          <p:nvPr/>
        </p:nvSpPr>
        <p:spPr>
          <a:xfrm>
            <a:off x="2788920" y="4389120"/>
            <a:ext cx="2926080" cy="566928"/>
          </a:xfrm>
          <a:prstGeom prst="roundRect">
            <a:avLst>
              <a:gd name="adj" fmla="val 22581"/>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900" b="1" dirty="0">
                <a:solidFill>
                  <a:srgbClr val="C2366F"/>
                </a:solidFill>
                <a:latin typeface="Tahoma" pitchFamily="34" charset="0"/>
                <a:ea typeface="Tahoma" pitchFamily="34" charset="-122"/>
                <a:cs typeface="Tahoma" pitchFamily="34" charset="-120"/>
              </a:rPr>
              <a:t>ج) </a:t>
            </a:r>
            <a:r>
              <a:rPr lang="ar-SA" altLang="en-US" sz="1900" b="1" dirty="0">
                <a:solidFill>
                  <a:srgbClr val="34405E"/>
                </a:solidFill>
                <a:latin typeface="Tahoma" pitchFamily="34" charset="0"/>
                <a:ea typeface="Tahoma" pitchFamily="34" charset="-122"/>
                <a:cs typeface="Tahoma" pitchFamily="34" charset="-120"/>
              </a:rPr>
              <a:t>البومة</a:t>
            </a:r>
            <a:endParaRPr lang="ar-SA" sz="1900" dirty="0"/>
          </a:p>
        </p:txBody>
      </p:sp>
      <p:sp>
        <p:nvSpPr>
          <p:cNvPr id="11" name="s5_10"/>
          <p:cNvSpPr txBox="1"/>
          <p:nvPr/>
        </p:nvSpPr>
        <p:spPr>
          <a:xfrm>
            <a:off x="2697480" y="5074920"/>
            <a:ext cx="9052560" cy="457200"/>
          </a:xfrm>
          <a:prstGeom prst="rect">
            <a:avLst/>
          </a:prstGeom>
          <a:noFill/>
          <a:ln/>
        </p:spPr>
        <p:txBody>
          <a:bodyPr wrap="square" lIns="63500" tIns="63500" rIns="63500" bIns="635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صوّتي بأصابعك (١ أو ٢ أو ٣)، وسجّلي إجابتك في دفترك ✍️</a:t>
            </a:r>
            <a:endParaRPr lang="ar-SA" sz="1700" dirty="0"/>
          </a:p>
        </p:txBody>
      </p:sp>
      <p:sp>
        <p:nvSpPr>
          <p:cNvPr id="12" name="s5_11@c1%pop"/>
          <p:cNvSpPr txBox="1"/>
          <p:nvPr/>
        </p:nvSpPr>
        <p:spPr>
          <a:xfrm>
            <a:off x="4937760" y="5577840"/>
            <a:ext cx="4572000" cy="502920"/>
          </a:xfrm>
          <a:prstGeom prst="roundRect">
            <a:avLst>
              <a:gd name="adj" fmla="val 25455"/>
            </a:avLst>
          </a:prstGeom>
          <a:solidFill>
            <a:srgbClr val="FFF6D6"/>
          </a:solidFill>
          <a:ln w="25400">
            <a:solidFill>
              <a:srgbClr val="F5C242"/>
            </a:solidFill>
            <a:prstDash val="dash"/>
          </a:ln>
        </p:spPr>
        <p:txBody>
          <a:bodyPr wrap="square" lIns="101600" tIns="101600" rIns="101600" bIns="101600" rtlCol="0" anchor="ctr"/>
          <a:lstStyle/>
          <a:p>
            <a:pPr rtl="1" algn="ctr" indent="0" marL="0">
              <a:buNone/>
            </a:pPr>
            <a:r>
              <a:rPr lang="ar-SA" altLang="en-US" sz="1600" b="1" dirty="0">
                <a:solidFill>
                  <a:srgbClr val="C2366F"/>
                </a:solidFill>
                <a:latin typeface="Tahoma" pitchFamily="34" charset="0"/>
                <a:ea typeface="Tahoma" pitchFamily="34" charset="-122"/>
                <a:cs typeface="Tahoma" pitchFamily="34" charset="-120"/>
              </a:rPr>
              <a:t>🔒 سنكشف الإجابة في نهاية الرحلة!</a:t>
            </a:r>
            <a:endParaRPr lang="ar-SA" sz="1600" dirty="0"/>
          </a:p>
        </p:txBody>
      </p:sp>
      <p:pic>
        <p:nvPicPr>
          <p:cNvPr id="13" name="s5_12" descr="المستكشفة تشير">    </p:cNvPr>
          <p:cNvPicPr>
            <a:picLocks noChangeAspect="1"/>
          </p:cNvPicPr>
          <p:nvPr/>
        </p:nvPicPr>
        <p:blipFill>
          <a:blip r:embed="rId6"/>
          <a:stretch>
            <a:fillRect/>
          </a:stretch>
        </p:blipFill>
        <p:spPr>
          <a:xfrm>
            <a:off x="274320" y="2011680"/>
            <a:ext cx="2428539" cy="3931920"/>
          </a:xfrm>
          <a:prstGeom prst="rect">
            <a:avLst/>
          </a:prstGeom>
        </p:spPr>
      </p:pic>
      <p:sp>
        <p:nvSpPr>
          <p:cNvPr id="14" name="s5_13"/>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5" name="s5_14"/>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بداية الرحلة</a:t>
            </a:r>
            <a:endParaRPr lang="ar-SA" sz="1300" dirty="0"/>
          </a:p>
        </p:txBody>
      </p:sp>
    </p:spTree>
  </p:cSld>
  <p:clrMapOvr>
    <a:masterClrMapping/>
  </p:clrMapOvr>
  <p:transition spd="med">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subTnLst>
                                    <p:audio>
                                      <p:cMediaNode vol="80000" showWhenStopped="0">
                                        <p:cTn id="8" display="0" masterRel="sameClick">
                                          <p:stCondLst>
                                            <p:cond evt="onBegin" delay="0">
                                              <p:tn val="5"/>
                                            </p:cond>
                                          </p:stCondLst>
                                        </p:cTn>
                                        <p:tgtEl>
                                          <p:sndTgt r:embed="rId9" name="pop.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6_1" descr="عنوان الشريحة">    </p:cNvPr>
          <p:cNvPicPr>
            <a:picLocks noChangeAspect="1"/>
          </p:cNvPicPr>
          <p:nvPr/>
        </p:nvPicPr>
        <p:blipFill>
          <a:blip r:embed="rId2"/>
          <a:stretch>
            <a:fillRect/>
          </a:stretch>
        </p:blipFill>
        <p:spPr>
          <a:xfrm>
            <a:off x="8809914" y="182880"/>
            <a:ext cx="3016021" cy="731520"/>
          </a:xfrm>
          <a:prstGeom prst="rect">
            <a:avLst/>
          </a:prstGeom>
        </p:spPr>
      </p:pic>
      <p:sp>
        <p:nvSpPr>
          <p:cNvPr id="3" name="s6_2"/>
          <p:cNvSpPr txBox="1"/>
          <p:nvPr/>
        </p:nvSpPr>
        <p:spPr>
          <a:xfrm>
            <a:off x="365760" y="292608"/>
            <a:ext cx="31089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أهدافي اليوم</a:t>
            </a:r>
            <a:endParaRPr lang="en-US" sz="1600" dirty="0"/>
          </a:p>
        </p:txBody>
      </p:sp>
      <p:sp>
        <p:nvSpPr>
          <p:cNvPr id="4" name="s6_3"/>
          <p:cNvSpPr txBox="1"/>
          <p:nvPr/>
        </p:nvSpPr>
        <p:spPr>
          <a:xfrm>
            <a:off x="6537960" y="1143000"/>
            <a:ext cx="5212080" cy="457200"/>
          </a:xfrm>
          <a:prstGeom prst="roundRect">
            <a:avLst>
              <a:gd name="adj" fmla="val 28000"/>
            </a:avLst>
          </a:prstGeom>
          <a:solidFill>
            <a:srgbClr val="34405E"/>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FFFFFF"/>
                </a:solidFill>
                <a:latin typeface="Tahoma" pitchFamily="34" charset="0"/>
                <a:ea typeface="Tahoma" pitchFamily="34" charset="-122"/>
                <a:cs typeface="Tahoma" pitchFamily="34" charset="-120"/>
              </a:rPr>
              <a:t>ناتج التعلم</a:t>
            </a:r>
            <a:endParaRPr lang="ar-SA" sz="1600" dirty="0"/>
          </a:p>
        </p:txBody>
      </p:sp>
      <p:sp>
        <p:nvSpPr>
          <p:cNvPr id="5" name="s6_4"/>
          <p:cNvSpPr txBox="1"/>
          <p:nvPr/>
        </p:nvSpPr>
        <p:spPr>
          <a:xfrm>
            <a:off x="3520440" y="1143000"/>
            <a:ext cx="2926080" cy="457200"/>
          </a:xfrm>
          <a:prstGeom prst="roundRect">
            <a:avLst>
              <a:gd name="adj" fmla="val 28000"/>
            </a:avLst>
          </a:prstGeom>
          <a:solidFill>
            <a:srgbClr val="34405E"/>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FFFFFF"/>
                </a:solidFill>
                <a:latin typeface="Tahoma" pitchFamily="34" charset="0"/>
                <a:ea typeface="Tahoma" pitchFamily="34" charset="-122"/>
                <a:cs typeface="Tahoma" pitchFamily="34" charset="-120"/>
              </a:rPr>
              <a:t>النشاط</a:t>
            </a:r>
            <a:endParaRPr lang="ar-SA" sz="1600" dirty="0"/>
          </a:p>
        </p:txBody>
      </p:sp>
      <p:sp>
        <p:nvSpPr>
          <p:cNvPr id="6" name="s6_5"/>
          <p:cNvSpPr txBox="1"/>
          <p:nvPr/>
        </p:nvSpPr>
        <p:spPr>
          <a:xfrm>
            <a:off x="548640" y="1143000"/>
            <a:ext cx="2880360" cy="457200"/>
          </a:xfrm>
          <a:prstGeom prst="roundRect">
            <a:avLst>
              <a:gd name="adj" fmla="val 28000"/>
            </a:avLst>
          </a:prstGeom>
          <a:solidFill>
            <a:srgbClr val="34405E"/>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FFFFFF"/>
                </a:solidFill>
                <a:latin typeface="Tahoma" pitchFamily="34" charset="0"/>
                <a:ea typeface="Tahoma" pitchFamily="34" charset="-122"/>
                <a:cs typeface="Tahoma" pitchFamily="34" charset="-120"/>
              </a:rPr>
              <a:t>التقويم</a:t>
            </a:r>
            <a:endParaRPr lang="ar-SA" sz="1600" dirty="0"/>
          </a:p>
        </p:txBody>
      </p:sp>
      <p:sp>
        <p:nvSpPr>
          <p:cNvPr id="7" name="s6_6@c1"/>
          <p:cNvSpPr txBox="1"/>
          <p:nvPr/>
        </p:nvSpPr>
        <p:spPr>
          <a:xfrm>
            <a:off x="6537960" y="1737360"/>
            <a:ext cx="5212080" cy="932688"/>
          </a:xfrm>
          <a:prstGeom prst="roundRect">
            <a:avLst>
              <a:gd name="adj" fmla="val 13725"/>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C2366F"/>
                </a:solidFill>
                <a:latin typeface="Tahoma" pitchFamily="34" charset="0"/>
                <a:ea typeface="Tahoma" pitchFamily="34" charset="-122"/>
                <a:cs typeface="Tahoma" pitchFamily="34" charset="-120"/>
              </a:rPr>
              <a:t>١  </a:t>
            </a:r>
            <a:r>
              <a:rPr lang="ar-SA" altLang="en-US" sz="1600" b="1" dirty="0">
                <a:solidFill>
                  <a:srgbClr val="34405E"/>
                </a:solidFill>
                <a:latin typeface="Tahoma" pitchFamily="34" charset="0"/>
                <a:ea typeface="Tahoma" pitchFamily="34" charset="-122"/>
                <a:cs typeface="Tahoma" pitchFamily="34" charset="-120"/>
              </a:rPr>
              <a:t>تعرّف الطالبة السلسلة الغذائية، وتحدّد مصدر الطاقة فيها.</a:t>
            </a:r>
            <a:endParaRPr lang="ar-SA" sz="1600" dirty="0"/>
          </a:p>
        </p:txBody>
      </p:sp>
      <p:sp>
        <p:nvSpPr>
          <p:cNvPr id="8" name="s6_7@c1"/>
          <p:cNvSpPr txBox="1"/>
          <p:nvPr/>
        </p:nvSpPr>
        <p:spPr>
          <a:xfrm>
            <a:off x="3520440" y="1737360"/>
            <a:ext cx="2926080" cy="932688"/>
          </a:xfrm>
          <a:prstGeom prst="roundRect">
            <a:avLst>
              <a:gd name="adj" fmla="val 13725"/>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400" dirty="0">
                <a:solidFill>
                  <a:srgbClr val="34405E"/>
                </a:solidFill>
                <a:latin typeface="Tahoma" pitchFamily="34" charset="0"/>
                <a:ea typeface="Tahoma" pitchFamily="34" charset="-122"/>
                <a:cs typeface="Tahoma" pitchFamily="34" charset="-120"/>
              </a:rPr>
              <a:t>فهم قرائي ص١١٢ + وقفة تدبّر</a:t>
            </a:r>
            <a:endParaRPr lang="ar-SA" sz="1400" dirty="0"/>
          </a:p>
        </p:txBody>
      </p:sp>
      <p:sp>
        <p:nvSpPr>
          <p:cNvPr id="9" name="s6_8@c1"/>
          <p:cNvSpPr txBox="1"/>
          <p:nvPr/>
        </p:nvSpPr>
        <p:spPr>
          <a:xfrm>
            <a:off x="548640" y="1737360"/>
            <a:ext cx="2880360" cy="932688"/>
          </a:xfrm>
          <a:prstGeom prst="roundRect">
            <a:avLst>
              <a:gd name="adj" fmla="val 13725"/>
            </a:avLst>
          </a:prstGeom>
          <a:solidFill>
            <a:srgbClr val="FFFFFF"/>
          </a:solidFill>
          <a:ln w="25400">
            <a:solidFill>
              <a:srgbClr val="34405E"/>
            </a:solidFill>
            <a:prstDash val="dash"/>
          </a:ln>
        </p:spPr>
        <p:txBody>
          <a:bodyPr wrap="square" lIns="101600" tIns="101600" rIns="101600" bIns="101600" rtlCol="0" anchor="ctr"/>
          <a:lstStyle/>
          <a:p>
            <a:pPr rtl="1" algn="ctr" indent="0" marL="0">
              <a:buNone/>
            </a:pPr>
            <a:r>
              <a:rPr lang="ar-SA" altLang="en-US" sz="1450" dirty="0">
                <a:solidFill>
                  <a:srgbClr val="34405E"/>
                </a:solidFill>
                <a:latin typeface="Tahoma" pitchFamily="34" charset="0"/>
                <a:ea typeface="Tahoma" pitchFamily="34" charset="-122"/>
                <a:cs typeface="Tahoma" pitchFamily="34" charset="-120"/>
              </a:rPr>
              <a:t>أسئلة الفهم القرائي</a:t>
            </a:r>
            <a:endParaRPr lang="ar-SA" sz="1450" dirty="0"/>
          </a:p>
        </p:txBody>
      </p:sp>
      <p:sp>
        <p:nvSpPr>
          <p:cNvPr id="10" name="s6_9@c2"/>
          <p:cNvSpPr txBox="1"/>
          <p:nvPr/>
        </p:nvSpPr>
        <p:spPr>
          <a:xfrm>
            <a:off x="6537960" y="2816352"/>
            <a:ext cx="5212080" cy="932688"/>
          </a:xfrm>
          <a:prstGeom prst="roundRect">
            <a:avLst>
              <a:gd name="adj" fmla="val 13725"/>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C2366F"/>
                </a:solidFill>
                <a:latin typeface="Tahoma" pitchFamily="34" charset="0"/>
                <a:ea typeface="Tahoma" pitchFamily="34" charset="-122"/>
                <a:cs typeface="Tahoma" pitchFamily="34" charset="-120"/>
              </a:rPr>
              <a:t>٢  </a:t>
            </a:r>
            <a:r>
              <a:rPr lang="ar-SA" altLang="en-US" sz="1600" b="1" dirty="0">
                <a:solidFill>
                  <a:srgbClr val="34405E"/>
                </a:solidFill>
                <a:latin typeface="Tahoma" pitchFamily="34" charset="0"/>
                <a:ea typeface="Tahoma" pitchFamily="34" charset="-122"/>
                <a:cs typeface="Tahoma" pitchFamily="34" charset="-120"/>
              </a:rPr>
              <a:t>تتتبّع انتقال الطاقة في سلسلة غذائية على اليابسة وفي البركة.</a:t>
            </a:r>
            <a:endParaRPr lang="ar-SA" sz="1600" dirty="0"/>
          </a:p>
        </p:txBody>
      </p:sp>
      <p:sp>
        <p:nvSpPr>
          <p:cNvPr id="11" name="s6_10@c2"/>
          <p:cNvSpPr txBox="1"/>
          <p:nvPr/>
        </p:nvSpPr>
        <p:spPr>
          <a:xfrm>
            <a:off x="3520440" y="2816352"/>
            <a:ext cx="2926080" cy="932688"/>
          </a:xfrm>
          <a:prstGeom prst="roundRect">
            <a:avLst>
              <a:gd name="adj" fmla="val 13725"/>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400" dirty="0">
                <a:solidFill>
                  <a:srgbClr val="34405E"/>
                </a:solidFill>
                <a:latin typeface="Tahoma" pitchFamily="34" charset="0"/>
                <a:ea typeface="Tahoma" pitchFamily="34" charset="-122"/>
                <a:cs typeface="Tahoma" pitchFamily="34" charset="-120"/>
              </a:rPr>
              <a:t>جولة الواقع الافتراضي + لعبة رتّبي السلسلة</a:t>
            </a:r>
            <a:endParaRPr lang="ar-SA" sz="1400" dirty="0"/>
          </a:p>
        </p:txBody>
      </p:sp>
      <p:sp>
        <p:nvSpPr>
          <p:cNvPr id="12" name="s6_11@c2"/>
          <p:cNvSpPr txBox="1"/>
          <p:nvPr/>
        </p:nvSpPr>
        <p:spPr>
          <a:xfrm>
            <a:off x="548640" y="2816352"/>
            <a:ext cx="2880360" cy="932688"/>
          </a:xfrm>
          <a:prstGeom prst="roundRect">
            <a:avLst>
              <a:gd name="adj" fmla="val 13725"/>
            </a:avLst>
          </a:prstGeom>
          <a:solidFill>
            <a:srgbClr val="FFFFFF"/>
          </a:solidFill>
          <a:ln w="25400">
            <a:solidFill>
              <a:srgbClr val="34405E"/>
            </a:solidFill>
            <a:prstDash val="dash"/>
          </a:ln>
        </p:spPr>
        <p:txBody>
          <a:bodyPr wrap="square" lIns="101600" tIns="101600" rIns="101600" bIns="101600" rtlCol="0" anchor="ctr"/>
          <a:lstStyle/>
          <a:p>
            <a:pPr rtl="1" algn="ctr" indent="0" marL="0">
              <a:buNone/>
            </a:pPr>
            <a:r>
              <a:rPr lang="ar-SA" altLang="en-US" sz="1450" dirty="0">
                <a:solidFill>
                  <a:srgbClr val="34405E"/>
                </a:solidFill>
                <a:latin typeface="Tahoma" pitchFamily="34" charset="0"/>
                <a:ea typeface="Tahoma" pitchFamily="34" charset="-122"/>
                <a:cs typeface="Tahoma" pitchFamily="34" charset="-120"/>
              </a:rPr>
              <a:t>التقويم التكويني</a:t>
            </a:r>
            <a:endParaRPr lang="ar-SA" sz="1450" dirty="0"/>
          </a:p>
        </p:txBody>
      </p:sp>
      <p:sp>
        <p:nvSpPr>
          <p:cNvPr id="13" name="s6_12@c3"/>
          <p:cNvSpPr txBox="1"/>
          <p:nvPr/>
        </p:nvSpPr>
        <p:spPr>
          <a:xfrm>
            <a:off x="6537960" y="3895344"/>
            <a:ext cx="5212080" cy="932688"/>
          </a:xfrm>
          <a:prstGeom prst="roundRect">
            <a:avLst>
              <a:gd name="adj" fmla="val 13725"/>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C2366F"/>
                </a:solidFill>
                <a:latin typeface="Tahoma" pitchFamily="34" charset="0"/>
                <a:ea typeface="Tahoma" pitchFamily="34" charset="-122"/>
                <a:cs typeface="Tahoma" pitchFamily="34" charset="-120"/>
              </a:rPr>
              <a:t>٣  </a:t>
            </a:r>
            <a:r>
              <a:rPr lang="ar-SA" altLang="en-US" sz="1600" b="1" dirty="0">
                <a:solidFill>
                  <a:srgbClr val="34405E"/>
                </a:solidFill>
                <a:latin typeface="Tahoma" pitchFamily="34" charset="0"/>
                <a:ea typeface="Tahoma" pitchFamily="34" charset="-122"/>
                <a:cs typeface="Tahoma" pitchFamily="34" charset="-120"/>
              </a:rPr>
              <a:t>تميّز بين المفترس والفريسة في الشبكة الغذائية.</a:t>
            </a:r>
            <a:endParaRPr lang="ar-SA" sz="1600" dirty="0"/>
          </a:p>
        </p:txBody>
      </p:sp>
      <p:sp>
        <p:nvSpPr>
          <p:cNvPr id="14" name="s6_13@c3"/>
          <p:cNvSpPr txBox="1"/>
          <p:nvPr/>
        </p:nvSpPr>
        <p:spPr>
          <a:xfrm>
            <a:off x="3520440" y="3895344"/>
            <a:ext cx="2926080" cy="932688"/>
          </a:xfrm>
          <a:prstGeom prst="roundRect">
            <a:avLst>
              <a:gd name="adj" fmla="val 13725"/>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400" dirty="0">
                <a:solidFill>
                  <a:srgbClr val="34405E"/>
                </a:solidFill>
                <a:latin typeface="Tahoma" pitchFamily="34" charset="0"/>
                <a:ea typeface="Tahoma" pitchFamily="34" charset="-122"/>
                <a:cs typeface="Tahoma" pitchFamily="34" charset="-120"/>
              </a:rPr>
              <a:t>فهم قرائي ص١١٤ + الطاقة في شبكة المحيط</a:t>
            </a:r>
            <a:endParaRPr lang="ar-SA" sz="1400" dirty="0"/>
          </a:p>
        </p:txBody>
      </p:sp>
      <p:sp>
        <p:nvSpPr>
          <p:cNvPr id="15" name="s6_14@c3"/>
          <p:cNvSpPr txBox="1"/>
          <p:nvPr/>
        </p:nvSpPr>
        <p:spPr>
          <a:xfrm>
            <a:off x="548640" y="3895344"/>
            <a:ext cx="2880360" cy="932688"/>
          </a:xfrm>
          <a:prstGeom prst="roundRect">
            <a:avLst>
              <a:gd name="adj" fmla="val 13725"/>
            </a:avLst>
          </a:prstGeom>
          <a:solidFill>
            <a:srgbClr val="FFFFFF"/>
          </a:solidFill>
          <a:ln w="25400">
            <a:solidFill>
              <a:srgbClr val="34405E"/>
            </a:solidFill>
            <a:prstDash val="dash"/>
          </a:ln>
        </p:spPr>
        <p:txBody>
          <a:bodyPr wrap="square" lIns="101600" tIns="101600" rIns="101600" bIns="101600" rtlCol="0" anchor="ctr"/>
          <a:lstStyle/>
          <a:p>
            <a:pPr rtl="1" algn="ctr" indent="0" marL="0">
              <a:buNone/>
            </a:pPr>
            <a:r>
              <a:rPr lang="ar-SA" altLang="en-US" sz="1450" dirty="0">
                <a:solidFill>
                  <a:srgbClr val="34405E"/>
                </a:solidFill>
                <a:latin typeface="Tahoma" pitchFamily="34" charset="0"/>
                <a:ea typeface="Tahoma" pitchFamily="34" charset="-122"/>
                <a:cs typeface="Tahoma" pitchFamily="34" charset="-120"/>
              </a:rPr>
              <a:t>لعبة: من أنا؟</a:t>
            </a:r>
            <a:endParaRPr lang="ar-SA" sz="1450" dirty="0"/>
          </a:p>
        </p:txBody>
      </p:sp>
      <p:sp>
        <p:nvSpPr>
          <p:cNvPr id="16" name="s6_15@c4"/>
          <p:cNvSpPr txBox="1"/>
          <p:nvPr/>
        </p:nvSpPr>
        <p:spPr>
          <a:xfrm>
            <a:off x="6537960" y="4974336"/>
            <a:ext cx="5212080" cy="932688"/>
          </a:xfrm>
          <a:prstGeom prst="roundRect">
            <a:avLst>
              <a:gd name="adj" fmla="val 13725"/>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C2366F"/>
                </a:solidFill>
                <a:latin typeface="Tahoma" pitchFamily="34" charset="0"/>
                <a:ea typeface="Tahoma" pitchFamily="34" charset="-122"/>
                <a:cs typeface="Tahoma" pitchFamily="34" charset="-120"/>
              </a:rPr>
              <a:t>٤  </a:t>
            </a:r>
            <a:r>
              <a:rPr lang="ar-SA" altLang="en-US" sz="1600" b="1" dirty="0">
                <a:solidFill>
                  <a:srgbClr val="34405E"/>
                </a:solidFill>
                <a:latin typeface="Tahoma" pitchFamily="34" charset="0"/>
                <a:ea typeface="Tahoma" pitchFamily="34" charset="-122"/>
                <a:cs typeface="Tahoma" pitchFamily="34" charset="-120"/>
              </a:rPr>
              <a:t>تقارن بين السلسلة والشبكة الغذائية، وتستنتج أثر اختفاء مخلوق منها.</a:t>
            </a:r>
            <a:endParaRPr lang="ar-SA" sz="1600" dirty="0"/>
          </a:p>
        </p:txBody>
      </p:sp>
      <p:sp>
        <p:nvSpPr>
          <p:cNvPr id="17" name="s6_16@c4"/>
          <p:cNvSpPr txBox="1"/>
          <p:nvPr/>
        </p:nvSpPr>
        <p:spPr>
          <a:xfrm>
            <a:off x="3520440" y="4974336"/>
            <a:ext cx="2926080" cy="932688"/>
          </a:xfrm>
          <a:prstGeom prst="roundRect">
            <a:avLst>
              <a:gd name="adj" fmla="val 13725"/>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400" dirty="0">
                <a:solidFill>
                  <a:srgbClr val="34405E"/>
                </a:solidFill>
                <a:latin typeface="Tahoma" pitchFamily="34" charset="0"/>
                <a:ea typeface="Tahoma" pitchFamily="34" charset="-122"/>
                <a:cs typeface="Tahoma" pitchFamily="34" charset="-120"/>
              </a:rPr>
              <a:t>السبورة المنظمة + تحدّي العقول</a:t>
            </a:r>
            <a:endParaRPr lang="ar-SA" sz="1400" dirty="0"/>
          </a:p>
        </p:txBody>
      </p:sp>
      <p:sp>
        <p:nvSpPr>
          <p:cNvPr id="18" name="s6_17@c4"/>
          <p:cNvSpPr txBox="1"/>
          <p:nvPr/>
        </p:nvSpPr>
        <p:spPr>
          <a:xfrm>
            <a:off x="548640" y="4974336"/>
            <a:ext cx="2880360" cy="932688"/>
          </a:xfrm>
          <a:prstGeom prst="roundRect">
            <a:avLst>
              <a:gd name="adj" fmla="val 13725"/>
            </a:avLst>
          </a:prstGeom>
          <a:solidFill>
            <a:srgbClr val="FFFFFF"/>
          </a:solidFill>
          <a:ln w="25400">
            <a:solidFill>
              <a:srgbClr val="34405E"/>
            </a:solidFill>
            <a:prstDash val="dash"/>
          </a:ln>
        </p:spPr>
        <p:txBody>
          <a:bodyPr wrap="square" lIns="101600" tIns="101600" rIns="101600" bIns="101600" rtlCol="0" anchor="ctr"/>
          <a:lstStyle/>
          <a:p>
            <a:pPr rtl="1" algn="ctr" indent="0" marL="0">
              <a:buNone/>
            </a:pPr>
            <a:r>
              <a:rPr lang="ar-SA" altLang="en-US" sz="1450" dirty="0">
                <a:solidFill>
                  <a:srgbClr val="34405E"/>
                </a:solidFill>
                <a:latin typeface="Tahoma" pitchFamily="34" charset="0"/>
                <a:ea typeface="Tahoma" pitchFamily="34" charset="-122"/>
                <a:cs typeface="Tahoma" pitchFamily="34" charset="-120"/>
              </a:rPr>
              <a:t>حصاد المعرفة</a:t>
            </a:r>
            <a:endParaRPr lang="ar-SA" sz="1450" dirty="0"/>
          </a:p>
        </p:txBody>
      </p:sp>
      <p:sp>
        <p:nvSpPr>
          <p:cNvPr id="19" name="s6_18"/>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0" name="s6_19"/>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بداية الرحلة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7_1" descr="عنوان الشريحة">    </p:cNvPr>
          <p:cNvPicPr>
            <a:picLocks noChangeAspect="1"/>
          </p:cNvPicPr>
          <p:nvPr/>
        </p:nvPicPr>
        <p:blipFill>
          <a:blip r:embed="rId2"/>
          <a:stretch>
            <a:fillRect/>
          </a:stretch>
        </p:blipFill>
        <p:spPr>
          <a:xfrm>
            <a:off x="8498119" y="182880"/>
            <a:ext cx="3327816" cy="731520"/>
          </a:xfrm>
          <a:prstGeom prst="rect">
            <a:avLst/>
          </a:prstGeom>
        </p:spPr>
      </p:pic>
      <p:sp>
        <p:nvSpPr>
          <p:cNvPr id="3" name="s7_2"/>
          <p:cNvSpPr txBox="1"/>
          <p:nvPr/>
        </p:nvSpPr>
        <p:spPr>
          <a:xfrm>
            <a:off x="365760" y="292608"/>
            <a:ext cx="51663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خريطة الدرس – المنظّم المتقدّم</a:t>
            </a:r>
            <a:endParaRPr lang="en-US" sz="1600" dirty="0"/>
          </a:p>
        </p:txBody>
      </p:sp>
      <p:sp>
        <p:nvSpPr>
          <p:cNvPr id="4" name="s7_3"/>
          <p:cNvSpPr/>
          <p:nvPr/>
        </p:nvSpPr>
        <p:spPr>
          <a:xfrm>
            <a:off x="1097280" y="3429000"/>
            <a:ext cx="10058400" cy="0"/>
          </a:xfrm>
          <a:prstGeom prst="line">
            <a:avLst/>
          </a:prstGeom>
          <a:noFill/>
          <a:ln w="76200">
            <a:solidFill>
              <a:srgbClr val="8A6A4A"/>
            </a:solidFill>
            <a:prstDash val="dash"/>
          </a:ln>
        </p:spPr>
      </p:sp>
      <p:sp>
        <p:nvSpPr>
          <p:cNvPr id="5" name="s7_4"/>
          <p:cNvSpPr txBox="1"/>
          <p:nvPr/>
        </p:nvSpPr>
        <p:spPr>
          <a:xfrm>
            <a:off x="10012680" y="2697480"/>
            <a:ext cx="1463040" cy="1463040"/>
          </a:xfrm>
          <a:prstGeom prst="ellipse">
            <a:avLst/>
          </a:prstGeom>
          <a:solidFill>
            <a:srgbClr val="FFD1E0"/>
          </a:solidFill>
          <a:ln w="38100">
            <a:solidFill>
              <a:srgbClr val="34405E"/>
            </a:solidFill>
          </a:ln>
        </p:spPr>
        <p:txBody>
          <a:bodyPr wrap="square" lIns="101600" tIns="101600" rIns="101600" bIns="101600" rtlCol="0" anchor="ctr"/>
          <a:lstStyle/>
          <a:p>
            <a:pPr rtl="1" algn="ctr" indent="0" marL="0">
              <a:buNone/>
            </a:pPr>
            <a:r>
              <a:rPr lang="ar-SA" altLang="en-US" sz="3000" b="1" u="sng" dirty="0">
                <a:solidFill>
                  <a:srgbClr val="34405E"/>
                </a:solidFill>
                <a:latin typeface="Tahoma" pitchFamily="34" charset="0"/>
                <a:ea typeface="Tahoma" pitchFamily="34" charset="-122"/>
                <a:cs typeface="Tahoma" pitchFamily="34" charset="-120"/>
                <a:hlinkClick r:id="rId3" action="ppaction://hlinksldjump" tooltip="قطار الذكريات">
                  <a:extLst>
                    <a:ext uri="{A12FA001-AC4F-418D-AE19-62706E023703}">
                      <ahyp:hlinkClr xmlns:ahyp="http://schemas.microsoft.com/office/drawing/2018/hyperlinkcolor" val="tx"/>
                    </a:ext>
                  </a:extLst>
                </a:hlinkClick>
              </a:rPr>
              <a:t>١</a:t>
            </a:r>
            <a:endParaRPr lang="ar-SA" sz="1800" dirty="0"/>
          </a:p>
        </p:txBody>
      </p:sp>
      <p:sp>
        <p:nvSpPr>
          <p:cNvPr id="6" name="s7_5"/>
          <p:cNvSpPr txBox="1"/>
          <p:nvPr/>
        </p:nvSpPr>
        <p:spPr>
          <a:xfrm>
            <a:off x="9555480" y="4224528"/>
            <a:ext cx="2377440" cy="411480"/>
          </a:xfrm>
          <a:prstGeom prst="rect">
            <a:avLst/>
          </a:prstGeom>
          <a:noFill/>
          <a:ln/>
        </p:spPr>
        <p:txBody>
          <a:bodyPr wrap="square" lIns="63500" tIns="63500" rIns="63500" bIns="635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قطار الذكريات</a:t>
            </a:r>
            <a:endParaRPr lang="ar-SA" sz="1700" dirty="0"/>
          </a:p>
        </p:txBody>
      </p:sp>
      <p:sp>
        <p:nvSpPr>
          <p:cNvPr id="7" name="s7_6"/>
          <p:cNvSpPr txBox="1"/>
          <p:nvPr/>
        </p:nvSpPr>
        <p:spPr>
          <a:xfrm>
            <a:off x="9555480" y="4617720"/>
            <a:ext cx="237744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مراجعة المحلِّلات</a:t>
            </a:r>
            <a:endParaRPr lang="ar-SA" sz="1350" dirty="0"/>
          </a:p>
        </p:txBody>
      </p:sp>
      <p:sp>
        <p:nvSpPr>
          <p:cNvPr id="8" name="s7_7"/>
          <p:cNvSpPr txBox="1"/>
          <p:nvPr/>
        </p:nvSpPr>
        <p:spPr>
          <a:xfrm>
            <a:off x="7772400" y="2697480"/>
            <a:ext cx="1463040" cy="1463040"/>
          </a:xfrm>
          <a:prstGeom prst="ellipse">
            <a:avLst/>
          </a:prstGeom>
          <a:solidFill>
            <a:srgbClr val="FFE08A"/>
          </a:solidFill>
          <a:ln w="38100">
            <a:solidFill>
              <a:srgbClr val="34405E"/>
            </a:solidFill>
          </a:ln>
        </p:spPr>
        <p:txBody>
          <a:bodyPr wrap="square" lIns="101600" tIns="101600" rIns="101600" bIns="101600" rtlCol="0" anchor="ctr"/>
          <a:lstStyle/>
          <a:p>
            <a:pPr rtl="1" algn="ctr" indent="0" marL="0">
              <a:buNone/>
            </a:pPr>
            <a:r>
              <a:rPr lang="ar-SA" altLang="en-US" sz="3000" b="1" u="sng" dirty="0">
                <a:solidFill>
                  <a:srgbClr val="34405E"/>
                </a:solidFill>
                <a:latin typeface="Tahoma" pitchFamily="34" charset="0"/>
                <a:ea typeface="Tahoma" pitchFamily="34" charset="-122"/>
                <a:cs typeface="Tahoma" pitchFamily="34" charset="-120"/>
                <a:hlinkClick r:id="rId4" action="ppaction://hlinksldjump" tooltip="اليابسة">
                  <a:extLst>
                    <a:ext uri="{A12FA001-AC4F-418D-AE19-62706E023703}">
                      <ahyp:hlinkClr xmlns:ahyp="http://schemas.microsoft.com/office/drawing/2018/hyperlinkcolor" val="tx"/>
                    </a:ext>
                  </a:extLst>
                </a:hlinkClick>
              </a:rPr>
              <a:t>٢</a:t>
            </a:r>
            <a:endParaRPr lang="ar-SA" sz="1800" dirty="0"/>
          </a:p>
        </p:txBody>
      </p:sp>
      <p:sp>
        <p:nvSpPr>
          <p:cNvPr id="9" name="s7_8"/>
          <p:cNvSpPr txBox="1"/>
          <p:nvPr/>
        </p:nvSpPr>
        <p:spPr>
          <a:xfrm>
            <a:off x="7315200" y="4224528"/>
            <a:ext cx="2377440" cy="411480"/>
          </a:xfrm>
          <a:prstGeom prst="rect">
            <a:avLst/>
          </a:prstGeom>
          <a:noFill/>
          <a:ln/>
        </p:spPr>
        <p:txBody>
          <a:bodyPr wrap="square" lIns="63500" tIns="63500" rIns="63500" bIns="635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اليابسة</a:t>
            </a:r>
            <a:endParaRPr lang="ar-SA" sz="1700" dirty="0"/>
          </a:p>
        </p:txBody>
      </p:sp>
      <p:sp>
        <p:nvSpPr>
          <p:cNvPr id="10" name="s7_9"/>
          <p:cNvSpPr txBox="1"/>
          <p:nvPr/>
        </p:nvSpPr>
        <p:spPr>
          <a:xfrm>
            <a:off x="7315200" y="4617720"/>
            <a:ext cx="237744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ص١١٢ 🌵</a:t>
            </a:r>
            <a:endParaRPr lang="ar-SA" sz="1350" dirty="0"/>
          </a:p>
        </p:txBody>
      </p:sp>
      <p:sp>
        <p:nvSpPr>
          <p:cNvPr id="11" name="s7_10"/>
          <p:cNvSpPr txBox="1"/>
          <p:nvPr/>
        </p:nvSpPr>
        <p:spPr>
          <a:xfrm>
            <a:off x="5532120" y="2697480"/>
            <a:ext cx="1463040" cy="1463040"/>
          </a:xfrm>
          <a:prstGeom prst="ellipse">
            <a:avLst/>
          </a:prstGeom>
          <a:solidFill>
            <a:srgbClr val="C9F0C0"/>
          </a:solidFill>
          <a:ln w="38100">
            <a:solidFill>
              <a:srgbClr val="34405E"/>
            </a:solidFill>
          </a:ln>
        </p:spPr>
        <p:txBody>
          <a:bodyPr wrap="square" lIns="101600" tIns="101600" rIns="101600" bIns="101600" rtlCol="0" anchor="ctr"/>
          <a:lstStyle/>
          <a:p>
            <a:pPr rtl="1" algn="ctr" indent="0" marL="0">
              <a:buNone/>
            </a:pPr>
            <a:r>
              <a:rPr lang="ar-SA" altLang="en-US" sz="3000" b="1" u="sng" dirty="0">
                <a:solidFill>
                  <a:srgbClr val="34405E"/>
                </a:solidFill>
                <a:latin typeface="Tahoma" pitchFamily="34" charset="0"/>
                <a:ea typeface="Tahoma" pitchFamily="34" charset="-122"/>
                <a:cs typeface="Tahoma" pitchFamily="34" charset="-120"/>
                <a:hlinkClick r:id="rId5" action="ppaction://hlinksldjump" tooltip="البركة">
                  <a:extLst>
                    <a:ext uri="{A12FA001-AC4F-418D-AE19-62706E023703}">
                      <ahyp:hlinkClr xmlns:ahyp="http://schemas.microsoft.com/office/drawing/2018/hyperlinkcolor" val="tx"/>
                    </a:ext>
                  </a:extLst>
                </a:hlinkClick>
              </a:rPr>
              <a:t>٣</a:t>
            </a:r>
            <a:endParaRPr lang="ar-SA" sz="1800" dirty="0"/>
          </a:p>
        </p:txBody>
      </p:sp>
      <p:sp>
        <p:nvSpPr>
          <p:cNvPr id="12" name="s7_11"/>
          <p:cNvSpPr txBox="1"/>
          <p:nvPr/>
        </p:nvSpPr>
        <p:spPr>
          <a:xfrm>
            <a:off x="5074920" y="4224528"/>
            <a:ext cx="2377440" cy="411480"/>
          </a:xfrm>
          <a:prstGeom prst="rect">
            <a:avLst/>
          </a:prstGeom>
          <a:noFill/>
          <a:ln/>
        </p:spPr>
        <p:txBody>
          <a:bodyPr wrap="square" lIns="63500" tIns="63500" rIns="63500" bIns="635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البركة</a:t>
            </a:r>
            <a:endParaRPr lang="ar-SA" sz="1700" dirty="0"/>
          </a:p>
        </p:txBody>
      </p:sp>
      <p:sp>
        <p:nvSpPr>
          <p:cNvPr id="13" name="s7_12"/>
          <p:cNvSpPr txBox="1"/>
          <p:nvPr/>
        </p:nvSpPr>
        <p:spPr>
          <a:xfrm>
            <a:off x="5074920" y="4617720"/>
            <a:ext cx="237744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ص١١٣ 🪷</a:t>
            </a:r>
            <a:endParaRPr lang="ar-SA" sz="1350" dirty="0"/>
          </a:p>
        </p:txBody>
      </p:sp>
      <p:sp>
        <p:nvSpPr>
          <p:cNvPr id="14" name="s7_13"/>
          <p:cNvSpPr txBox="1"/>
          <p:nvPr/>
        </p:nvSpPr>
        <p:spPr>
          <a:xfrm>
            <a:off x="3291840" y="2697480"/>
            <a:ext cx="1463040" cy="1463040"/>
          </a:xfrm>
          <a:prstGeom prst="ellipse">
            <a:avLst/>
          </a:prstGeom>
          <a:solidFill>
            <a:srgbClr val="CFE8FF"/>
          </a:solidFill>
          <a:ln w="38100">
            <a:solidFill>
              <a:srgbClr val="34405E"/>
            </a:solidFill>
          </a:ln>
        </p:spPr>
        <p:txBody>
          <a:bodyPr wrap="square" lIns="101600" tIns="101600" rIns="101600" bIns="101600" rtlCol="0" anchor="ctr"/>
          <a:lstStyle/>
          <a:p>
            <a:pPr rtl="1" algn="ctr" indent="0" marL="0">
              <a:buNone/>
            </a:pPr>
            <a:r>
              <a:rPr lang="ar-SA" altLang="en-US" sz="3000" b="1" u="sng" dirty="0">
                <a:solidFill>
                  <a:srgbClr val="34405E"/>
                </a:solidFill>
                <a:latin typeface="Tahoma" pitchFamily="34" charset="0"/>
                <a:ea typeface="Tahoma" pitchFamily="34" charset="-122"/>
                <a:cs typeface="Tahoma" pitchFamily="34" charset="-120"/>
                <a:hlinkClick r:id="rId6" action="ppaction://hlinksldjump" tooltip="المحيط">
                  <a:extLst>
                    <a:ext uri="{A12FA001-AC4F-418D-AE19-62706E023703}">
                      <ahyp:hlinkClr xmlns:ahyp="http://schemas.microsoft.com/office/drawing/2018/hyperlinkcolor" val="tx"/>
                    </a:ext>
                  </a:extLst>
                </a:hlinkClick>
              </a:rPr>
              <a:t>٤</a:t>
            </a:r>
            <a:endParaRPr lang="ar-SA" sz="1800" dirty="0"/>
          </a:p>
        </p:txBody>
      </p:sp>
      <p:sp>
        <p:nvSpPr>
          <p:cNvPr id="15" name="s7_14"/>
          <p:cNvSpPr txBox="1"/>
          <p:nvPr/>
        </p:nvSpPr>
        <p:spPr>
          <a:xfrm>
            <a:off x="2834640" y="4224528"/>
            <a:ext cx="2377440" cy="411480"/>
          </a:xfrm>
          <a:prstGeom prst="rect">
            <a:avLst/>
          </a:prstGeom>
          <a:noFill/>
          <a:ln/>
        </p:spPr>
        <p:txBody>
          <a:bodyPr wrap="square" lIns="63500" tIns="63500" rIns="63500" bIns="635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المحيط</a:t>
            </a:r>
            <a:endParaRPr lang="ar-SA" sz="1700" dirty="0"/>
          </a:p>
        </p:txBody>
      </p:sp>
      <p:sp>
        <p:nvSpPr>
          <p:cNvPr id="16" name="s7_15"/>
          <p:cNvSpPr txBox="1"/>
          <p:nvPr/>
        </p:nvSpPr>
        <p:spPr>
          <a:xfrm>
            <a:off x="2834640" y="4617720"/>
            <a:ext cx="237744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ص١١٤ 🌊</a:t>
            </a:r>
            <a:endParaRPr lang="ar-SA" sz="1350" dirty="0"/>
          </a:p>
        </p:txBody>
      </p:sp>
      <p:sp>
        <p:nvSpPr>
          <p:cNvPr id="17" name="s7_16"/>
          <p:cNvSpPr txBox="1"/>
          <p:nvPr/>
        </p:nvSpPr>
        <p:spPr>
          <a:xfrm>
            <a:off x="1051560" y="2697480"/>
            <a:ext cx="1463040" cy="1463040"/>
          </a:xfrm>
          <a:prstGeom prst="ellipse">
            <a:avLst/>
          </a:prstGeom>
          <a:solidFill>
            <a:srgbClr val="FFC48C"/>
          </a:solidFill>
          <a:ln w="38100">
            <a:solidFill>
              <a:srgbClr val="34405E"/>
            </a:solidFill>
          </a:ln>
        </p:spPr>
        <p:txBody>
          <a:bodyPr wrap="square" lIns="101600" tIns="101600" rIns="101600" bIns="101600" rtlCol="0" anchor="ctr"/>
          <a:lstStyle/>
          <a:p>
            <a:pPr rtl="1" algn="ctr" indent="0" marL="0">
              <a:buNone/>
            </a:pPr>
            <a:r>
              <a:rPr lang="ar-SA" altLang="en-US" sz="3000" b="1" u="sng" dirty="0">
                <a:solidFill>
                  <a:srgbClr val="34405E"/>
                </a:solidFill>
                <a:latin typeface="Tahoma" pitchFamily="34" charset="0"/>
                <a:ea typeface="Tahoma" pitchFamily="34" charset="-122"/>
                <a:cs typeface="Tahoma" pitchFamily="34" charset="-120"/>
                <a:hlinkClick r:id="rId7" action="ppaction://hlinksldjump" tooltip="كنز المعرفة">
                  <a:extLst>
                    <a:ext uri="{A12FA001-AC4F-418D-AE19-62706E023703}">
                      <ahyp:hlinkClr xmlns:ahyp="http://schemas.microsoft.com/office/drawing/2018/hyperlinkcolor" val="tx"/>
                    </a:ext>
                  </a:extLst>
                </a:hlinkClick>
              </a:rPr>
              <a:t>🏆</a:t>
            </a:r>
            <a:endParaRPr lang="ar-SA" sz="1800" dirty="0"/>
          </a:p>
        </p:txBody>
      </p:sp>
      <p:sp>
        <p:nvSpPr>
          <p:cNvPr id="18" name="s7_17"/>
          <p:cNvSpPr txBox="1"/>
          <p:nvPr/>
        </p:nvSpPr>
        <p:spPr>
          <a:xfrm>
            <a:off x="594360" y="4224528"/>
            <a:ext cx="2377440" cy="411480"/>
          </a:xfrm>
          <a:prstGeom prst="rect">
            <a:avLst/>
          </a:prstGeom>
          <a:noFill/>
          <a:ln/>
        </p:spPr>
        <p:txBody>
          <a:bodyPr wrap="square" lIns="63500" tIns="63500" rIns="63500" bIns="635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كنز المعرفة</a:t>
            </a:r>
            <a:endParaRPr lang="ar-SA" sz="1700" dirty="0"/>
          </a:p>
        </p:txBody>
      </p:sp>
      <p:sp>
        <p:nvSpPr>
          <p:cNvPr id="19" name="s7_18"/>
          <p:cNvSpPr txBox="1"/>
          <p:nvPr/>
        </p:nvSpPr>
        <p:spPr>
          <a:xfrm>
            <a:off x="594360" y="4617720"/>
            <a:ext cx="237744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التقويم</a:t>
            </a:r>
            <a:endParaRPr lang="ar-SA" sz="1350" dirty="0"/>
          </a:p>
        </p:txBody>
      </p:sp>
      <p:pic>
        <p:nvPicPr>
          <p:cNvPr id="20" name="s7_19" descr="قطار الرحلة">    </p:cNvPr>
          <p:cNvPicPr>
            <a:picLocks noChangeAspect="1"/>
          </p:cNvPicPr>
          <p:nvPr/>
        </p:nvPicPr>
        <p:blipFill>
          <a:blip r:embed="rId8"/>
          <a:stretch>
            <a:fillRect/>
          </a:stretch>
        </p:blipFill>
        <p:spPr>
          <a:xfrm>
            <a:off x="9646920" y="2011680"/>
            <a:ext cx="2103120" cy="483718"/>
          </a:xfrm>
          <a:prstGeom prst="rect">
            <a:avLst/>
          </a:prstGeom>
        </p:spPr>
      </p:pic>
      <p:sp>
        <p:nvSpPr>
          <p:cNvPr id="21" name="s7_20@c5%sparkle"/>
          <p:cNvSpPr txBox="1"/>
          <p:nvPr/>
        </p:nvSpPr>
        <p:spPr>
          <a:xfrm>
            <a:off x="2651760" y="5166360"/>
            <a:ext cx="6949440" cy="777240"/>
          </a:xfrm>
          <a:prstGeom prst="roundRect">
            <a:avLst>
              <a:gd name="adj" fmla="val 16471"/>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650" b="1" dirty="0">
                <a:solidFill>
                  <a:srgbClr val="34405E"/>
                </a:solidFill>
                <a:latin typeface="Tahoma" pitchFamily="34" charset="0"/>
                <a:ea typeface="Tahoma" pitchFamily="34" charset="-122"/>
                <a:cs typeface="Tahoma" pitchFamily="34" charset="-120"/>
              </a:rPr>
              <a:t>على اليابسة أرتدي ملابس المستكشفة 🧭، وفي البركة والمحيط ألبس بدلة الغوص 🤿!</a:t>
            </a:r>
            <a:endParaRPr lang="ar-SA" sz="1650" dirty="0"/>
          </a:p>
        </p:txBody>
      </p:sp>
      <p:pic>
        <p:nvPicPr>
          <p:cNvPr id="22" name="s7_21@c5" descr="المستكشفة تلوّح">    </p:cNvPr>
          <p:cNvPicPr>
            <a:picLocks noChangeAspect="1"/>
          </p:cNvPicPr>
          <p:nvPr/>
        </p:nvPicPr>
        <p:blipFill>
          <a:blip r:embed="rId9"/>
          <a:stretch>
            <a:fillRect/>
          </a:stretch>
        </p:blipFill>
        <p:spPr>
          <a:xfrm>
            <a:off x="10561320" y="4846320"/>
            <a:ext cx="931881" cy="1508760"/>
          </a:xfrm>
          <a:prstGeom prst="rect">
            <a:avLst/>
          </a:prstGeom>
        </p:spPr>
      </p:pic>
      <p:pic>
        <p:nvPicPr>
          <p:cNvPr id="23" name="s7_22@c5" descr="المستكشفة ببدلة الغوص">    </p:cNvPr>
          <p:cNvPicPr>
            <a:picLocks noChangeAspect="1"/>
          </p:cNvPicPr>
          <p:nvPr/>
        </p:nvPicPr>
        <p:blipFill>
          <a:blip r:embed="rId10"/>
          <a:stretch>
            <a:fillRect/>
          </a:stretch>
        </p:blipFill>
        <p:spPr>
          <a:xfrm>
            <a:off x="685800" y="4846320"/>
            <a:ext cx="931881" cy="1508760"/>
          </a:xfrm>
          <a:prstGeom prst="rect">
            <a:avLst/>
          </a:prstGeom>
        </p:spPr>
      </p:pic>
      <p:sp>
        <p:nvSpPr>
          <p:cNvPr id="24" name="s7_23"/>
          <p:cNvSpPr txBox="1"/>
          <p:nvPr/>
        </p:nvSpPr>
        <p:spPr>
          <a:xfrm>
            <a:off x="457200" y="1097280"/>
            <a:ext cx="4754880" cy="365760"/>
          </a:xfrm>
          <a:prstGeom prst="rect">
            <a:avLst/>
          </a:prstGeom>
          <a:noFill/>
          <a:ln/>
        </p:spPr>
        <p:txBody>
          <a:bodyPr wrap="square" lIns="63500" tIns="63500" rIns="63500" bIns="63500" rtlCol="0" anchor="ctr"/>
          <a:lstStyle/>
          <a:p>
            <a:pPr rtl="1" algn="l" indent="0" marL="0">
              <a:buNone/>
            </a:pPr>
            <a:r>
              <a:rPr lang="ar-SA" altLang="en-US" sz="1300" dirty="0">
                <a:solidFill>
                  <a:srgbClr val="7A869E"/>
                </a:solidFill>
                <a:latin typeface="Tahoma" pitchFamily="34" charset="0"/>
                <a:ea typeface="Tahoma" pitchFamily="34" charset="-122"/>
                <a:cs typeface="Tahoma" pitchFamily="34" charset="-120"/>
              </a:rPr>
              <a:t>👆 اضغطي على رقم المحطة للانتقال إليها</a:t>
            </a:r>
            <a:endParaRPr lang="ar-SA" sz="1300" dirty="0"/>
          </a:p>
        </p:txBody>
      </p:sp>
      <p:sp>
        <p:nvSpPr>
          <p:cNvPr id="25" name="s7_24"/>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6" name="s7_25"/>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بداية الرحلة</a:t>
            </a:r>
            <a:endParaRPr lang="ar-SA" sz="1300" dirty="0"/>
          </a:p>
        </p:txBody>
      </p:sp>
    </p:spTree>
  </p:cSld>
  <p:clrMapOvr>
    <a:masterClrMapping/>
  </p:clrMapOvr>
  <p:transition spd="med">
    <p:split/>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6" presetClass="emph" presetSubtype="0" fill="hold" grpId="0" nodeType="afterEffect">
                                  <p:stCondLst>
                                    <p:cond delay="0"/>
                                  </p:stCondLst>
                                  <p:childTnLst>
                                    <p:animScale>
                                      <p:cBhvr>
                                        <p:cTn id="6" dur="450" autoRev="1" fill="hold"/>
                                        <p:tgtEl>
                                          <p:spTgt spid="5"/>
                                        </p:tgtEl>
                                      </p:cBhvr>
                                      <p:by x="118000" y="118000"/>
                                    </p:animScale>
                                  </p:childTnLst>
                                  <p:subTnLst>
                                    <p:audio>
                                      <p:cMediaNode vol="80000" showWhenStopped="0">
                                        <p:cTn id="7" display="0" masterRel="sameClick">
                                          <p:stCondLst>
                                            <p:cond evt="onBegin" delay="0">
                                              <p:tn val="5"/>
                                            </p:cond>
                                          </p:stCondLst>
                                        </p:cTn>
                                        <p:tgtEl>
                                          <p:sndTgt r:embed="rId13" name="chime.wav"/>
                                        </p:tgtEl>
                                      </p:cMediaNode>
                                    </p:audio>
                                  </p:subTnLst>
                                </p:cTn>
                              </p:par>
                            </p:childTnLst>
                          </p:cTn>
                        </p:par>
                      </p:childTnLst>
                    </p:cTn>
                  </p:par>
                  <p:par>
                    <p:cTn id="8" fill="hold">
                      <p:stCondLst>
                        <p:cond delay="indefinite"/>
                      </p:stCondLst>
                      <p:childTnLst>
                        <p:par>
                          <p:cTn id="9" fill="hold">
                            <p:stCondLst>
                              <p:cond delay="0"/>
                            </p:stCondLst>
                            <p:childTnLst>
                              <p:par>
                                <p:cTn id="10" presetID="0" presetClass="path" presetSubtype="0" fill="hold" grpId="0" nodeType="clickEffect">
                                  <p:stCondLst>
                                    <p:cond delay="0"/>
                                  </p:stCondLst>
                                  <p:childTnLst>
                                    <p:animMotion origin="layout" path="M 0.0000 0 L -0.1838 0 E" pathEditMode="relative" ptsTypes="">
                                      <p:cBhvr>
                                        <p:cTn id="11" dur="1800" fill="hold" accel="40000" decel="40000"/>
                                        <p:tgtEl>
                                          <p:spTgt spid="20"/>
                                        </p:tgtEl>
                                        <p:attrNameLst>
                                          <p:attrName>ppt_x</p:attrName>
                                          <p:attrName>ppt_y</p:attrName>
                                        </p:attrNameLst>
                                      </p:cBhvr>
                                      <p:rCtr x="0" y="0"/>
                                    </p:animMotion>
                                  </p:childTnLst>
                                  <p:subTnLst>
                                    <p:audio>
                                      <p:cMediaNode vol="80000" showWhenStopped="0">
                                        <p:cTn id="12" display="0" masterRel="sameClick">
                                          <p:stCondLst>
                                            <p:cond evt="onBegin" delay="0">
                                              <p:tn val="10"/>
                                            </p:cond>
                                          </p:stCondLst>
                                        </p:cTn>
                                        <p:tgtEl>
                                          <p:sndTgt r:embed="rId14" name="train.wav"/>
                                        </p:tgtEl>
                                      </p:cMediaNode>
                                    </p:audio>
                                  </p:subTnLst>
                                </p:cTn>
                              </p:par>
                              <p:par>
                                <p:cTn id="13" presetID="6" presetClass="emph" presetSubtype="0" fill="hold" grpId="0" nodeType="withEffect">
                                  <p:stCondLst>
                                    <p:cond delay="1700"/>
                                  </p:stCondLst>
                                  <p:childTnLst>
                                    <p:animScale>
                                      <p:cBhvr>
                                        <p:cTn id="14" dur="450" autoRev="1" fill="hold"/>
                                        <p:tgtEl>
                                          <p:spTgt spid="8"/>
                                        </p:tgtEl>
                                      </p:cBhvr>
                                      <p:by x="118000" y="118000"/>
                                    </p:animScale>
                                  </p:childTnLst>
                                </p:cTn>
                              </p:par>
                            </p:childTnLst>
                          </p:cTn>
                        </p:par>
                      </p:childTnLst>
                    </p:cTn>
                  </p:par>
                  <p:par>
                    <p:cTn id="15" fill="hold">
                      <p:stCondLst>
                        <p:cond delay="indefinite"/>
                      </p:stCondLst>
                      <p:childTnLst>
                        <p:par>
                          <p:cTn id="16" fill="hold">
                            <p:stCondLst>
                              <p:cond delay="0"/>
                            </p:stCondLst>
                            <p:childTnLst>
                              <p:par>
                                <p:cTn id="17" presetID="0" presetClass="path" presetSubtype="0" fill="hold" grpId="1" nodeType="clickEffect">
                                  <p:stCondLst>
                                    <p:cond delay="0"/>
                                  </p:stCondLst>
                                  <p:childTnLst>
                                    <p:animMotion origin="layout" path="M -0.1838 0 L -0.3675 0 E" pathEditMode="relative" ptsTypes="">
                                      <p:cBhvr>
                                        <p:cTn id="18" dur="1800" fill="hold" accel="40000" decel="40000"/>
                                        <p:tgtEl>
                                          <p:spTgt spid="20"/>
                                        </p:tgtEl>
                                        <p:attrNameLst>
                                          <p:attrName>ppt_x</p:attrName>
                                          <p:attrName>ppt_y</p:attrName>
                                        </p:attrNameLst>
                                      </p:cBhvr>
                                      <p:rCtr x="0" y="0"/>
                                    </p:animMotion>
                                  </p:childTnLst>
                                  <p:subTnLst>
                                    <p:audio>
                                      <p:cMediaNode vol="80000" showWhenStopped="0">
                                        <p:cTn id="19" display="0" masterRel="sameClick">
                                          <p:stCondLst>
                                            <p:cond evt="onBegin" delay="0">
                                              <p:tn val="17"/>
                                            </p:cond>
                                          </p:stCondLst>
                                        </p:cTn>
                                        <p:tgtEl>
                                          <p:sndTgt r:embed="rId14" name="train.wav"/>
                                        </p:tgtEl>
                                      </p:cMediaNode>
                                    </p:audio>
                                  </p:subTnLst>
                                </p:cTn>
                              </p:par>
                              <p:par>
                                <p:cTn id="20" presetID="6" presetClass="emph" presetSubtype="0" fill="hold" grpId="0" nodeType="withEffect">
                                  <p:stCondLst>
                                    <p:cond delay="1700"/>
                                  </p:stCondLst>
                                  <p:childTnLst>
                                    <p:animScale>
                                      <p:cBhvr>
                                        <p:cTn id="21" dur="450" autoRev="1" fill="hold"/>
                                        <p:tgtEl>
                                          <p:spTgt spid="11"/>
                                        </p:tgtEl>
                                      </p:cBhvr>
                                      <p:by x="118000" y="118000"/>
                                    </p:animScale>
                                  </p:childTnLst>
                                </p:cTn>
                              </p:par>
                            </p:childTnLst>
                          </p:cTn>
                        </p:par>
                      </p:childTnLst>
                    </p:cTn>
                  </p:par>
                  <p:par>
                    <p:cTn id="22" fill="hold">
                      <p:stCondLst>
                        <p:cond delay="indefinite"/>
                      </p:stCondLst>
                      <p:childTnLst>
                        <p:par>
                          <p:cTn id="23" fill="hold">
                            <p:stCondLst>
                              <p:cond delay="0"/>
                            </p:stCondLst>
                            <p:childTnLst>
                              <p:par>
                                <p:cTn id="24" presetID="0" presetClass="path" presetSubtype="0" fill="hold" grpId="2" nodeType="clickEffect">
                                  <p:stCondLst>
                                    <p:cond delay="0"/>
                                  </p:stCondLst>
                                  <p:childTnLst>
                                    <p:animMotion origin="layout" path="M -0.3675 0 L -0.5513 0 E" pathEditMode="relative" ptsTypes="">
                                      <p:cBhvr>
                                        <p:cTn id="25" dur="1800" fill="hold" accel="40000" decel="40000"/>
                                        <p:tgtEl>
                                          <p:spTgt spid="20"/>
                                        </p:tgtEl>
                                        <p:attrNameLst>
                                          <p:attrName>ppt_x</p:attrName>
                                          <p:attrName>ppt_y</p:attrName>
                                        </p:attrNameLst>
                                      </p:cBhvr>
                                      <p:rCtr x="0" y="0"/>
                                    </p:animMotion>
                                  </p:childTnLst>
                                  <p:subTnLst>
                                    <p:audio>
                                      <p:cMediaNode vol="80000" showWhenStopped="0">
                                        <p:cTn id="26" display="0" masterRel="sameClick">
                                          <p:stCondLst>
                                            <p:cond evt="onBegin" delay="0">
                                              <p:tn val="24"/>
                                            </p:cond>
                                          </p:stCondLst>
                                        </p:cTn>
                                        <p:tgtEl>
                                          <p:sndTgt r:embed="rId14" name="train.wav"/>
                                        </p:tgtEl>
                                      </p:cMediaNode>
                                    </p:audio>
                                  </p:subTnLst>
                                </p:cTn>
                              </p:par>
                              <p:par>
                                <p:cTn id="27" presetID="6" presetClass="emph" presetSubtype="0" fill="hold" grpId="0" nodeType="withEffect">
                                  <p:stCondLst>
                                    <p:cond delay="1700"/>
                                  </p:stCondLst>
                                  <p:childTnLst>
                                    <p:animScale>
                                      <p:cBhvr>
                                        <p:cTn id="28" dur="450" autoRev="1" fill="hold"/>
                                        <p:tgtEl>
                                          <p:spTgt spid="14"/>
                                        </p:tgtEl>
                                      </p:cBhvr>
                                      <p:by x="118000" y="118000"/>
                                    </p:animScale>
                                  </p:childTnLst>
                                </p:cTn>
                              </p:par>
                            </p:childTnLst>
                          </p:cTn>
                        </p:par>
                      </p:childTnLst>
                    </p:cTn>
                  </p:par>
                  <p:par>
                    <p:cTn id="29" fill="hold">
                      <p:stCondLst>
                        <p:cond delay="indefinite"/>
                      </p:stCondLst>
                      <p:childTnLst>
                        <p:par>
                          <p:cTn id="30" fill="hold">
                            <p:stCondLst>
                              <p:cond delay="0"/>
                            </p:stCondLst>
                            <p:childTnLst>
                              <p:par>
                                <p:cTn id="31" presetID="0" presetClass="path" presetSubtype="0" fill="hold" grpId="3" nodeType="clickEffect">
                                  <p:stCondLst>
                                    <p:cond delay="0"/>
                                  </p:stCondLst>
                                  <p:childTnLst>
                                    <p:animMotion origin="layout" path="M -0.5513 0 L -0.7350 0 E" pathEditMode="relative" ptsTypes="">
                                      <p:cBhvr>
                                        <p:cTn id="32" dur="1800" fill="hold" accel="40000" decel="40000"/>
                                        <p:tgtEl>
                                          <p:spTgt spid="20"/>
                                        </p:tgtEl>
                                        <p:attrNameLst>
                                          <p:attrName>ppt_x</p:attrName>
                                          <p:attrName>ppt_y</p:attrName>
                                        </p:attrNameLst>
                                      </p:cBhvr>
                                      <p:rCtr x="0" y="0"/>
                                    </p:animMotion>
                                  </p:childTnLst>
                                  <p:subTnLst>
                                    <p:audio>
                                      <p:cMediaNode vol="80000" showWhenStopped="0">
                                        <p:cTn id="33" display="0" masterRel="sameClick">
                                          <p:stCondLst>
                                            <p:cond evt="onBegin" delay="0">
                                              <p:tn val="31"/>
                                            </p:cond>
                                          </p:stCondLst>
                                        </p:cTn>
                                        <p:tgtEl>
                                          <p:sndTgt r:embed="rId14" name="train.wav"/>
                                        </p:tgtEl>
                                      </p:cMediaNode>
                                    </p:audio>
                                  </p:subTnLst>
                                </p:cTn>
                              </p:par>
                              <p:par>
                                <p:cTn id="34" presetID="6" presetClass="emph" presetSubtype="0" fill="hold" grpId="0" nodeType="withEffect">
                                  <p:stCondLst>
                                    <p:cond delay="1700"/>
                                  </p:stCondLst>
                                  <p:childTnLst>
                                    <p:animScale>
                                      <p:cBhvr>
                                        <p:cTn id="35" dur="450" autoRev="1" fill="hold"/>
                                        <p:tgtEl>
                                          <p:spTgt spid="17"/>
                                        </p:tgtEl>
                                      </p:cBhvr>
                                      <p:by x="118000" y="118000"/>
                                    </p:animScale>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subTnLst>
                                    <p:audio>
                                      <p:cMediaNode vol="80000" showWhenStopped="0">
                                        <p:cTn id="41" display="0" masterRel="sameClick">
                                          <p:stCondLst>
                                            <p:cond evt="onBegin" delay="0">
                                              <p:tn val="38"/>
                                            </p:cond>
                                          </p:stCondLst>
                                        </p:cTn>
                                        <p:tgtEl>
                                          <p:sndTgt r:embed="rId15" name="sparkle.wav"/>
                                        </p:tgtEl>
                                      </p:cMediaNode>
                                    </p:audio>
                                  </p:sub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P spid="14" grpId="0" animBg="1"/>
      <p:bldP spid="17"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8_1" descr="عنوان الشريحة">    </p:cNvPr>
          <p:cNvPicPr>
            <a:picLocks noChangeAspect="1"/>
          </p:cNvPicPr>
          <p:nvPr/>
        </p:nvPicPr>
        <p:blipFill>
          <a:blip r:embed="rId2"/>
          <a:stretch>
            <a:fillRect/>
          </a:stretch>
        </p:blipFill>
        <p:spPr>
          <a:xfrm>
            <a:off x="8372201" y="182880"/>
            <a:ext cx="3453734" cy="731520"/>
          </a:xfrm>
          <a:prstGeom prst="rect">
            <a:avLst/>
          </a:prstGeom>
        </p:spPr>
      </p:pic>
      <p:sp>
        <p:nvSpPr>
          <p:cNvPr id="3" name="s8_2"/>
          <p:cNvSpPr txBox="1"/>
          <p:nvPr/>
        </p:nvSpPr>
        <p:spPr>
          <a:xfrm>
            <a:off x="365760" y="292608"/>
            <a:ext cx="42519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أنظر وأتساءل – التوقّع</a:t>
            </a:r>
            <a:endParaRPr lang="en-US" sz="1600" dirty="0"/>
          </a:p>
        </p:txBody>
      </p:sp>
      <p:pic>
        <p:nvPicPr>
          <p:cNvPr id="4" name="s8_3" descr="قطار الرحلة">    </p:cNvPr>
          <p:cNvPicPr>
            <a:picLocks noChangeAspect="1"/>
          </p:cNvPicPr>
          <p:nvPr/>
        </p:nvPicPr>
        <p:blipFill>
          <a:blip r:embed="rId3"/>
          <a:stretch>
            <a:fillRect/>
          </a:stretch>
        </p:blipFill>
        <p:spPr>
          <a:xfrm>
            <a:off x="3108960" y="2743200"/>
            <a:ext cx="5943600" cy="1367028"/>
          </a:xfrm>
          <a:prstGeom prst="rect">
            <a:avLst/>
          </a:prstGeom>
        </p:spPr>
      </p:pic>
      <p:sp>
        <p:nvSpPr>
          <p:cNvPr id="5" name="s8_4"/>
          <p:cNvSpPr txBox="1"/>
          <p:nvPr/>
        </p:nvSpPr>
        <p:spPr>
          <a:xfrm>
            <a:off x="3566160" y="1417320"/>
            <a:ext cx="5029200" cy="914400"/>
          </a:xfrm>
          <a:prstGeom prst="roundRect">
            <a:avLst>
              <a:gd name="adj" fmla="val 30000"/>
            </a:avLst>
          </a:prstGeom>
          <a:solidFill>
            <a:srgbClr val="FFE08A"/>
          </a:solidFill>
          <a:ln w="38100">
            <a:solidFill>
              <a:srgbClr val="34405E"/>
            </a:solidFill>
          </a:ln>
        </p:spPr>
        <p:txBody>
          <a:bodyPr wrap="square" lIns="101600" tIns="101600" rIns="101600" bIns="101600" rtlCol="0" anchor="ctr"/>
          <a:lstStyle/>
          <a:p>
            <a:pPr rtl="1" algn="ctr" indent="0" marL="0">
              <a:buNone/>
            </a:pPr>
            <a:r>
              <a:rPr lang="ar-SA" altLang="en-US" sz="2600" b="1" dirty="0">
                <a:solidFill>
                  <a:srgbClr val="34405E"/>
                </a:solidFill>
                <a:latin typeface="Tahoma" pitchFamily="34" charset="0"/>
                <a:ea typeface="Tahoma" pitchFamily="34" charset="-122"/>
                <a:cs typeface="Tahoma" pitchFamily="34" charset="-120"/>
              </a:rPr>
              <a:t>📍 وصلنا إلى محطة اليابسة 🌵</a:t>
            </a:r>
            <a:endParaRPr lang="ar-SA" sz="2600" dirty="0"/>
          </a:p>
        </p:txBody>
      </p:sp>
      <p:pic>
        <p:nvPicPr>
          <p:cNvPr id="6" name="s8_5@a4" descr="المستكشفة تشير">    </p:cNvPr>
          <p:cNvPicPr>
            <a:picLocks noChangeAspect="1"/>
          </p:cNvPicPr>
          <p:nvPr/>
        </p:nvPicPr>
        <p:blipFill>
          <a:blip r:embed="rId4"/>
          <a:stretch>
            <a:fillRect/>
          </a:stretch>
        </p:blipFill>
        <p:spPr>
          <a:xfrm>
            <a:off x="411480" y="1143000"/>
            <a:ext cx="3106271" cy="5029200"/>
          </a:xfrm>
          <a:prstGeom prst="rect">
            <a:avLst/>
          </a:prstGeom>
        </p:spPr>
      </p:pic>
      <p:sp>
        <p:nvSpPr>
          <p:cNvPr id="7" name="s8_6@a4"/>
          <p:cNvSpPr txBox="1"/>
          <p:nvPr/>
        </p:nvSpPr>
        <p:spPr>
          <a:xfrm>
            <a:off x="3429000" y="1188720"/>
            <a:ext cx="4572000" cy="868680"/>
          </a:xfrm>
          <a:prstGeom prst="roundRect">
            <a:avLst>
              <a:gd name="adj" fmla="val 14737"/>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34405E"/>
                </a:solidFill>
                <a:latin typeface="Tahoma" pitchFamily="34" charset="0"/>
                <a:ea typeface="Tahoma" pitchFamily="34" charset="-122"/>
                <a:cs typeface="Tahoma" pitchFamily="34" charset="-120"/>
              </a:rPr>
              <a:t>وصلنا إلى اليابسة! 🌵 انظري إلى هذه البومة في كتابي…</a:t>
            </a:r>
            <a:endParaRPr lang="ar-SA" sz="1800" dirty="0"/>
          </a:p>
        </p:txBody>
      </p:sp>
      <p:pic>
        <p:nvPicPr>
          <p:cNvPr id="8" name="s8_7@a4" descr="بومة">    </p:cNvPr>
          <p:cNvPicPr>
            <a:picLocks noChangeAspect="1"/>
          </p:cNvPicPr>
          <p:nvPr/>
        </p:nvPicPr>
        <p:blipFill>
          <a:blip r:embed="rId5"/>
          <a:stretch>
            <a:fillRect/>
          </a:stretch>
        </p:blipFill>
        <p:spPr>
          <a:xfrm>
            <a:off x="8458200" y="1143000"/>
            <a:ext cx="3108960" cy="3108960"/>
          </a:xfrm>
          <a:prstGeom prst="rect">
            <a:avLst/>
          </a:prstGeom>
        </p:spPr>
      </p:pic>
      <p:sp>
        <p:nvSpPr>
          <p:cNvPr id="9" name="s8_8@a4"/>
          <p:cNvSpPr txBox="1"/>
          <p:nvPr/>
        </p:nvSpPr>
        <p:spPr>
          <a:xfrm>
            <a:off x="8458200" y="4251960"/>
            <a:ext cx="3108960" cy="320040"/>
          </a:xfrm>
          <a:prstGeom prst="rect">
            <a:avLst/>
          </a:prstGeom>
          <a:noFill/>
          <a:ln/>
        </p:spPr>
        <p:txBody>
          <a:bodyPr wrap="square" lIns="63500" tIns="63500" rIns="63500" bIns="63500" rtlCol="0" anchor="ctr"/>
          <a:lstStyle/>
          <a:p>
            <a:pPr rtl="1" algn="ctr" indent="0" marL="0">
              <a:buNone/>
            </a:pPr>
            <a:r>
              <a:rPr lang="ar-SA" altLang="en-US" sz="1200" dirty="0">
                <a:solidFill>
                  <a:srgbClr val="5A6785"/>
                </a:solidFill>
                <a:latin typeface="Tahoma" pitchFamily="34" charset="0"/>
                <a:ea typeface="Tahoma" pitchFamily="34" charset="-122"/>
                <a:cs typeface="Tahoma" pitchFamily="34" charset="-120"/>
              </a:rPr>
              <a:t>صورة من كتابي – صفحة ١١٢</a:t>
            </a:r>
            <a:endParaRPr lang="ar-SA" sz="1200" dirty="0"/>
          </a:p>
        </p:txBody>
      </p:sp>
      <p:sp>
        <p:nvSpPr>
          <p:cNvPr id="10" name="s8_9@a4"/>
          <p:cNvSpPr txBox="1"/>
          <p:nvPr/>
        </p:nvSpPr>
        <p:spPr>
          <a:xfrm>
            <a:off x="3429000" y="2240280"/>
            <a:ext cx="4846320" cy="1508760"/>
          </a:xfrm>
          <a:prstGeom prst="roundRect">
            <a:avLst>
              <a:gd name="adj" fmla="val 8485"/>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أتساءل: </a:t>
            </a:r>
            <a:r>
              <a:rPr lang="ar-SA" altLang="en-US" sz="1800" b="1" dirty="0">
                <a:solidFill>
                  <a:srgbClr val="34405E"/>
                </a:solidFill>
                <a:latin typeface="Tahoma" pitchFamily="34" charset="0"/>
                <a:ea typeface="Tahoma" pitchFamily="34" charset="-122"/>
                <a:cs typeface="Tahoma" pitchFamily="34" charset="-120"/>
              </a:rPr>
              <a:t>من أين تحصل البومة على الطاقة التي تحتاج إليها لتعيش وتطير؟ هل تأخذها من الشمس مباشرة؟</a:t>
            </a:r>
            <a:endParaRPr lang="ar-SA" sz="1800" dirty="0"/>
          </a:p>
        </p:txBody>
      </p:sp>
      <p:sp>
        <p:nvSpPr>
          <p:cNvPr id="11" name="s8_10@a4"/>
          <p:cNvSpPr txBox="1"/>
          <p:nvPr/>
        </p:nvSpPr>
        <p:spPr>
          <a:xfrm>
            <a:off x="4206240" y="3931920"/>
            <a:ext cx="3291840" cy="502920"/>
          </a:xfrm>
          <a:prstGeom prst="roundRect">
            <a:avLst>
              <a:gd name="adj" fmla="val 49091"/>
            </a:avLst>
          </a:prstGeom>
          <a:solidFill>
            <a:srgbClr val="ECE6FB"/>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 توقّعي… ثم ناقشي زميلتك</a:t>
            </a:r>
            <a:endParaRPr lang="ar-SA" sz="1600" dirty="0"/>
          </a:p>
        </p:txBody>
      </p:sp>
      <p:sp>
        <p:nvSpPr>
          <p:cNvPr id="12" name="s8_11@c1%chime"/>
          <p:cNvSpPr txBox="1"/>
          <p:nvPr/>
        </p:nvSpPr>
        <p:spPr>
          <a:xfrm>
            <a:off x="3429000" y="4663440"/>
            <a:ext cx="8229600" cy="914400"/>
          </a:xfrm>
          <a:prstGeom prst="roundRect">
            <a:avLst>
              <a:gd name="adj" fmla="val 14000"/>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2F8A3A"/>
                </a:solidFill>
                <a:latin typeface="Tahoma" pitchFamily="34" charset="0"/>
                <a:ea typeface="Tahoma" pitchFamily="34" charset="-122"/>
                <a:cs typeface="Tahoma" pitchFamily="34" charset="-120"/>
              </a:rPr>
              <a:t>لنتحقق: </a:t>
            </a:r>
            <a:r>
              <a:rPr lang="ar-SA" altLang="en-US" sz="1650" dirty="0">
                <a:solidFill>
                  <a:srgbClr val="34405E"/>
                </a:solidFill>
                <a:latin typeface="Tahoma" pitchFamily="34" charset="0"/>
                <a:ea typeface="Tahoma" pitchFamily="34" charset="-122"/>
                <a:cs typeface="Tahoma" pitchFamily="34" charset="-120"/>
              </a:rPr>
              <a:t>لا تأخذ البومة طاقتها من الشمس مباشرة، بل من غذائها… وغذاؤها حصل على الطاقة من مخلوق قبله! هيا نقرأ ونكتشف 📖</a:t>
            </a:r>
            <a:endParaRPr lang="ar-SA" sz="1650" dirty="0"/>
          </a:p>
        </p:txBody>
      </p:sp>
      <p:sp>
        <p:nvSpPr>
          <p:cNvPr id="13" name="s8_12"/>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4" name="s8_13"/>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0" presetClass="path" presetSubtype="0" fill="hold" grpId="1" nodeType="withEffect">
                                  <p:stCondLst>
                                    <p:cond delay="0"/>
                                  </p:stCondLst>
                                  <p:childTnLst>
                                    <p:animMotion origin="layout" path="M 0.75 0 L 0 0 E" pathEditMode="relative" ptsTypes="">
                                      <p:cBhvr>
                                        <p:cTn id="8" dur="2200" fill="hold" accel="40000" decel="40000"/>
                                        <p:tgtEl>
                                          <p:spTgt spid="4"/>
                                        </p:tgtEl>
                                        <p:attrNameLst>
                                          <p:attrName>ppt_x</p:attrName>
                                          <p:attrName>ppt_y</p:attrName>
                                        </p:attrNameLst>
                                      </p:cBhvr>
                                      <p:rCtr x="0" y="0"/>
                                    </p:animMotion>
                                  </p:childTnLst>
                                  <p:subTnLst>
                                    <p:audio>
                                      <p:cMediaNode vol="80000" showWhenStopped="0">
                                        <p:cTn id="9" display="0" masterRel="sameClick">
                                          <p:stCondLst>
                                            <p:cond evt="onBegin" delay="0">
                                              <p:tn val="7"/>
                                            </p:cond>
                                          </p:stCondLst>
                                        </p:cTn>
                                        <p:tgtEl>
                                          <p:sndTgt r:embed="rId8" name="train.wav"/>
                                        </p:tgtEl>
                                      </p:cMediaNode>
                                    </p:audio>
                                  </p:subTnLst>
                                </p:cTn>
                              </p:par>
                            </p:childTnLst>
                          </p:cTn>
                        </p:par>
                        <p:par>
                          <p:cTn id="10" fill="hold">
                            <p:stCondLst>
                              <p:cond delay="22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ppt_w</p:attrName>
                                        </p:attrNameLst>
                                      </p:cBhvr>
                                      <p:tavLst>
                                        <p:tav tm="0">
                                          <p:val>
                                            <p:strVal val="0"/>
                                          </p:val>
                                        </p:tav>
                                        <p:tav tm="100000">
                                          <p:val>
                                            <p:strVal val="#ppt_w"/>
                                          </p:val>
                                        </p:tav>
                                      </p:tavLst>
                                    </p:anim>
                                    <p:anim calcmode="lin" valueType="num">
                                      <p:cBhvr additive="base">
                                        <p:cTn id="14" dur="500" fill="hold"/>
                                        <p:tgtEl>
                                          <p:spTgt spid="5"/>
                                        </p:tgtEl>
                                        <p:attrNameLst>
                                          <p:attrName>ppt_h</p:attrName>
                                        </p:attrNameLst>
                                      </p:cBhvr>
                                      <p:tavLst>
                                        <p:tav tm="0">
                                          <p:val>
                                            <p:strVal val="0"/>
                                          </p:val>
                                        </p:tav>
                                        <p:tav tm="100000">
                                          <p:val>
                                            <p:strVal val="#ppt_h"/>
                                          </p:val>
                                        </p:tav>
                                      </p:tavLst>
                                    </p:anim>
                                    <p:animEffect transition="in" filter="fade">
                                      <p:cBhvr>
                                        <p:cTn id="15" dur="500"/>
                                        <p:tgtEl>
                                          <p:spTgt spid="5"/>
                                        </p:tgtEl>
                                      </p:cBhvr>
                                    </p:animEffect>
                                  </p:childTnLst>
                                  <p:subTnLst>
                                    <p:audio>
                                      <p:cMediaNode vol="80000" showWhenStopped="0">
                                        <p:cTn id="16" display="0" masterRel="sameClick">
                                          <p:stCondLst>
                                            <p:cond evt="onBegin" delay="0">
                                              <p:tn val="11"/>
                                            </p:cond>
                                          </p:stCondLst>
                                        </p:cTn>
                                        <p:tgtEl>
                                          <p:sndTgt r:embed="rId9" name="chime.wav"/>
                                        </p:tgtEl>
                                      </p:cMediaNode>
                                    </p:audio>
                                  </p:subTnLst>
                                </p:cTn>
                              </p:par>
                            </p:childTnLst>
                          </p:cTn>
                        </p:par>
                        <p:par>
                          <p:cTn id="17" fill="hold">
                            <p:stCondLst>
                              <p:cond delay="2700"/>
                            </p:stCondLst>
                            <p:childTnLst>
                              <p:par>
                                <p:cTn id="18" presetID="0" presetClass="path" presetSubtype="0" fill="hold" grpId="2" nodeType="afterEffect">
                                  <p:stCondLst>
                                    <p:cond delay="400"/>
                                  </p:stCondLst>
                                  <p:childTnLst>
                                    <p:animMotion origin="layout" path="M 0 0 L -0.8 0 E" pathEditMode="relative" ptsTypes="">
                                      <p:cBhvr>
                                        <p:cTn id="19" dur="1600" fill="hold"/>
                                        <p:tgtEl>
                                          <p:spTgt spid="4"/>
                                        </p:tgtEl>
                                        <p:attrNameLst>
                                          <p:attrName>ppt_x</p:attrName>
                                          <p:attrName>ppt_y</p:attrName>
                                        </p:attrNameLst>
                                      </p:cBhvr>
                                      <p:rCtr x="0" y="0"/>
                                    </p:animMotion>
                                  </p:childTnLst>
                                </p:cTn>
                              </p:par>
                              <p:par>
                                <p:cTn id="20" presetID="10" presetClass="exit" presetSubtype="0" fill="hold" grpId="1" nodeType="withEffect">
                                  <p:stCondLst>
                                    <p:cond delay="1300"/>
                                  </p:stCondLst>
                                  <p:childTnLst>
                                    <p:animEffect transition="out" filter="fade">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par>
                          <p:cTn id="23" fill="hold">
                            <p:stCondLst>
                              <p:cond delay="4700"/>
                            </p:stCondLst>
                            <p:childTnLst>
                              <p:par>
                                <p:cTn id="24" presetID="10"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subTnLst>
                                    <p:audio>
                                      <p:cMediaNode vol="80000" showWhenStopped="0">
                                        <p:cTn id="47" display="0" masterRel="sameClick">
                                          <p:stCondLst>
                                            <p:cond evt="onBegin" delay="0">
                                              <p:tn val="44"/>
                                            </p:cond>
                                          </p:stCondLst>
                                        </p:cTn>
                                        <p:tgtEl>
                                          <p:sndTgt r:embed="rId9"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animBg="1"/>
      <p:bldP spid="9"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9_1" descr="عنوان الشريحة">    </p:cNvPr>
          <p:cNvPicPr>
            <a:picLocks noChangeAspect="1"/>
          </p:cNvPicPr>
          <p:nvPr/>
        </p:nvPicPr>
        <p:blipFill>
          <a:blip r:embed="rId2"/>
          <a:stretch>
            <a:fillRect/>
          </a:stretch>
        </p:blipFill>
        <p:spPr>
          <a:xfrm>
            <a:off x="6909161" y="182880"/>
            <a:ext cx="4916774" cy="731520"/>
          </a:xfrm>
          <a:prstGeom prst="rect">
            <a:avLst/>
          </a:prstGeom>
        </p:spPr>
      </p:pic>
      <p:sp>
        <p:nvSpPr>
          <p:cNvPr id="3" name="s9_2"/>
          <p:cNvSpPr txBox="1"/>
          <p:nvPr/>
        </p:nvSpPr>
        <p:spPr>
          <a:xfrm>
            <a:off x="365760" y="292608"/>
            <a:ext cx="51663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الفهم القرائي – الدليل من النص</a:t>
            </a:r>
            <a:endParaRPr lang="en-US" sz="1600" dirty="0"/>
          </a:p>
        </p:txBody>
      </p:sp>
      <p:pic>
        <p:nvPicPr>
          <p:cNvPr id="4" name="s9_3" descr="صفحة ١١٢ من كتاب العلوم">    </p:cNvPr>
          <p:cNvPicPr>
            <a:picLocks noChangeAspect="1"/>
          </p:cNvPicPr>
          <p:nvPr/>
        </p:nvPicPr>
        <p:blipFill>
          <a:blip r:embed="rId3"/>
          <a:stretch>
            <a:fillRect/>
          </a:stretch>
        </p:blipFill>
        <p:spPr>
          <a:xfrm>
            <a:off x="365760" y="896112"/>
            <a:ext cx="4269393" cy="5486400"/>
          </a:xfrm>
          <a:prstGeom prst="rect">
            <a:avLst/>
          </a:prstGeom>
        </p:spPr>
      </p:pic>
      <p:sp>
        <p:nvSpPr>
          <p:cNvPr id="5" name="s9_4"/>
          <p:cNvSpPr txBox="1"/>
          <p:nvPr/>
        </p:nvSpPr>
        <p:spPr>
          <a:xfrm>
            <a:off x="365760" y="6364224"/>
            <a:ext cx="4269393" cy="274320"/>
          </a:xfrm>
          <a:prstGeom prst="rect">
            <a:avLst/>
          </a:prstGeom>
          <a:noFill/>
          <a:ln/>
        </p:spPr>
        <p:txBody>
          <a:bodyPr wrap="square" lIns="63500" tIns="63500" rIns="63500" bIns="63500" rtlCol="0" anchor="ctr"/>
          <a:lstStyle/>
          <a:p>
            <a:pPr rtl="1" algn="ctr" indent="0" marL="0">
              <a:buNone/>
            </a:pPr>
            <a:r>
              <a:rPr lang="ar-SA" altLang="en-US" sz="1100" dirty="0">
                <a:solidFill>
                  <a:srgbClr val="5A6785"/>
                </a:solidFill>
                <a:latin typeface="Tahoma" pitchFamily="34" charset="0"/>
                <a:ea typeface="Tahoma" pitchFamily="34" charset="-122"/>
                <a:cs typeface="Tahoma" pitchFamily="34" charset="-120"/>
              </a:rPr>
              <a:t>📖 صفحة ١١٢ من كتابي</a:t>
            </a:r>
            <a:endParaRPr lang="ar-SA" sz="1100" dirty="0"/>
          </a:p>
        </p:txBody>
      </p:sp>
      <p:sp>
        <p:nvSpPr>
          <p:cNvPr id="6" name="page112_q0"/>
          <p:cNvSpPr txBox="1"/>
          <p:nvPr/>
        </p:nvSpPr>
        <p:spPr>
          <a:xfrm>
            <a:off x="8321984" y="914400"/>
            <a:ext cx="3458231" cy="1303020"/>
          </a:xfrm>
          <a:prstGeom prst="roundRect">
            <a:avLst>
              <a:gd name="adj" fmla="val 9825"/>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سؤال حرفي
</a:t>
            </a:r>
            <a:r>
              <a:rPr lang="ar-SA" altLang="en-US" sz="1450" b="1" dirty="0">
                <a:solidFill>
                  <a:srgbClr val="34405E"/>
                </a:solidFill>
                <a:latin typeface="Tahoma" pitchFamily="34" charset="0"/>
                <a:ea typeface="Tahoma" pitchFamily="34" charset="-122"/>
                <a:cs typeface="Tahoma" pitchFamily="34" charset="-120"/>
              </a:rPr>
              <a:t>ما مصدر الطاقة في النظام البيئي؟</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7" name="s9_5@t=page112_q0%chime"/>
          <p:cNvSpPr txBox="1"/>
          <p:nvPr/>
        </p:nvSpPr>
        <p:spPr>
          <a:xfrm>
            <a:off x="4863753" y="914400"/>
            <a:ext cx="3366791"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الشمس.</a:t>
            </a:r>
            <a:endParaRPr lang="ar-SA" sz="1400" dirty="0"/>
          </a:p>
        </p:txBody>
      </p:sp>
      <p:sp>
        <p:nvSpPr>
          <p:cNvPr id="8" name="s9_6@t=page112_q0"/>
          <p:cNvSpPr/>
          <p:nvPr/>
        </p:nvSpPr>
        <p:spPr>
          <a:xfrm>
            <a:off x="1105832" y="2415726"/>
            <a:ext cx="1414360" cy="164460"/>
          </a:xfrm>
          <a:prstGeom prst="roundRect">
            <a:avLst>
              <a:gd name="adj" fmla="val 27800"/>
            </a:avLst>
          </a:prstGeom>
          <a:solidFill>
            <a:srgbClr val="FFEB3B">
              <a:alpha val="45000"/>
            </a:srgbClr>
          </a:solidFill>
          <a:ln w="25400">
            <a:solidFill>
              <a:srgbClr val="F5A623"/>
            </a:solidFill>
            <a:prstDash val="solid"/>
          </a:ln>
        </p:spPr>
      </p:sp>
      <p:sp>
        <p:nvSpPr>
          <p:cNvPr id="9" name="page112_q1"/>
          <p:cNvSpPr txBox="1"/>
          <p:nvPr/>
        </p:nvSpPr>
        <p:spPr>
          <a:xfrm>
            <a:off x="8321984" y="2308860"/>
            <a:ext cx="3458231" cy="1303020"/>
          </a:xfrm>
          <a:prstGeom prst="roundRect">
            <a:avLst>
              <a:gd name="adj" fmla="val 9825"/>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سؤال استنتاجي
</a:t>
            </a:r>
            <a:r>
              <a:rPr lang="ar-SA" altLang="en-US" sz="1450" b="1" dirty="0">
                <a:solidFill>
                  <a:srgbClr val="34405E"/>
                </a:solidFill>
                <a:latin typeface="Tahoma" pitchFamily="34" charset="0"/>
                <a:ea typeface="Tahoma" pitchFamily="34" charset="-122"/>
                <a:cs typeface="Tahoma" pitchFamily="34" charset="-120"/>
              </a:rPr>
              <a:t>لماذا لا يستطيع الحيوان أخذ الطاقة من الشمس مباشرة؟</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0" name="s9_7@t=page112_q1%chime"/>
          <p:cNvSpPr txBox="1"/>
          <p:nvPr/>
        </p:nvSpPr>
        <p:spPr>
          <a:xfrm>
            <a:off x="4863753" y="2308860"/>
            <a:ext cx="3366791"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لأن الطاقة تُختزَن في المنتجات، ثم تنتقل منها إلى المستهلكات عن طريق الغذاء.</a:t>
            </a:r>
            <a:endParaRPr lang="ar-SA" sz="1400" dirty="0"/>
          </a:p>
        </p:txBody>
      </p:sp>
      <p:sp>
        <p:nvSpPr>
          <p:cNvPr id="11" name="s9_8@t=page112_q1"/>
          <p:cNvSpPr/>
          <p:nvPr/>
        </p:nvSpPr>
        <p:spPr>
          <a:xfrm>
            <a:off x="859141" y="2754515"/>
            <a:ext cx="1661050" cy="493381"/>
          </a:xfrm>
          <a:prstGeom prst="roundRect">
            <a:avLst>
              <a:gd name="adj" fmla="val 9267"/>
            </a:avLst>
          </a:prstGeom>
          <a:solidFill>
            <a:srgbClr val="FFEB3B">
              <a:alpha val="45000"/>
            </a:srgbClr>
          </a:solidFill>
          <a:ln w="25400">
            <a:solidFill>
              <a:srgbClr val="F5A623"/>
            </a:solidFill>
            <a:prstDash val="solid"/>
          </a:ln>
        </p:spPr>
      </p:sp>
      <p:sp>
        <p:nvSpPr>
          <p:cNvPr id="12" name="page112_q2"/>
          <p:cNvSpPr txBox="1"/>
          <p:nvPr/>
        </p:nvSpPr>
        <p:spPr>
          <a:xfrm>
            <a:off x="8321984" y="3703320"/>
            <a:ext cx="3458231" cy="1303020"/>
          </a:xfrm>
          <a:prstGeom prst="roundRect">
            <a:avLst>
              <a:gd name="adj" fmla="val 9825"/>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المفردة
</a:t>
            </a:r>
            <a:r>
              <a:rPr lang="ar-SA" altLang="en-US" sz="1450" b="1" dirty="0">
                <a:solidFill>
                  <a:srgbClr val="34405E"/>
                </a:solidFill>
                <a:latin typeface="Tahoma" pitchFamily="34" charset="0"/>
                <a:ea typeface="Tahoma" pitchFamily="34" charset="-122"/>
                <a:cs typeface="Tahoma" pitchFamily="34" charset="-120"/>
              </a:rPr>
              <a:t>ما الكلمة المظلّلة في النص؟ وماذا تعني؟</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3" name="s9_9@t=page112_q2%chime"/>
          <p:cNvSpPr txBox="1"/>
          <p:nvPr/>
        </p:nvSpPr>
        <p:spPr>
          <a:xfrm>
            <a:off x="4863753" y="3703320"/>
            <a:ext cx="3366791"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السلسلة الغذائية: انتقال الطاقة من مخلوق حي إلى آخر عن طريق الغذاء.</a:t>
            </a:r>
            <a:endParaRPr lang="ar-SA" sz="1400" dirty="0"/>
          </a:p>
        </p:txBody>
      </p:sp>
      <p:sp>
        <p:nvSpPr>
          <p:cNvPr id="14" name="s9_10@t=page112_q2"/>
          <p:cNvSpPr/>
          <p:nvPr/>
        </p:nvSpPr>
        <p:spPr>
          <a:xfrm>
            <a:off x="859141" y="3257764"/>
            <a:ext cx="1661050" cy="328921"/>
          </a:xfrm>
          <a:prstGeom prst="roundRect">
            <a:avLst>
              <a:gd name="adj" fmla="val 13900"/>
            </a:avLst>
          </a:prstGeom>
          <a:solidFill>
            <a:srgbClr val="FFEB3B">
              <a:alpha val="45000"/>
            </a:srgbClr>
          </a:solidFill>
          <a:ln w="25400">
            <a:solidFill>
              <a:srgbClr val="F5A623"/>
            </a:solidFill>
            <a:prstDash val="solid"/>
          </a:ln>
        </p:spPr>
      </p:sp>
      <p:sp>
        <p:nvSpPr>
          <p:cNvPr id="15" name="page112_q3"/>
          <p:cNvSpPr txBox="1"/>
          <p:nvPr/>
        </p:nvSpPr>
        <p:spPr>
          <a:xfrm>
            <a:off x="8321984" y="5097780"/>
            <a:ext cx="3458231" cy="1303020"/>
          </a:xfrm>
          <a:prstGeom prst="roundRect">
            <a:avLst>
              <a:gd name="adj" fmla="val 9825"/>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قراءة الشكل
</a:t>
            </a:r>
            <a:r>
              <a:rPr lang="ar-SA" altLang="en-US" sz="1450" b="1" dirty="0">
                <a:solidFill>
                  <a:srgbClr val="34405E"/>
                </a:solidFill>
                <a:latin typeface="Tahoma" pitchFamily="34" charset="0"/>
                <a:ea typeface="Tahoma" pitchFamily="34" charset="-122"/>
                <a:cs typeface="Tahoma" pitchFamily="34" charset="-120"/>
              </a:rPr>
              <a:t>كيف تنتقل الطاقة في سلسلة اليابسة؟</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6" name="s9_11@t=page112_q3%chime"/>
          <p:cNvSpPr txBox="1"/>
          <p:nvPr/>
        </p:nvSpPr>
        <p:spPr>
          <a:xfrm>
            <a:off x="4863753" y="5097780"/>
            <a:ext cx="3366791"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من نبات الشوك (منتِج) إلى اليرقة ثم السرعوف ثم السحلية ثم البومة.</a:t>
            </a:r>
            <a:endParaRPr lang="ar-SA" sz="1400" dirty="0"/>
          </a:p>
        </p:txBody>
      </p:sp>
      <p:sp>
        <p:nvSpPr>
          <p:cNvPr id="17" name="s9_12@t=page112_q3"/>
          <p:cNvSpPr/>
          <p:nvPr/>
        </p:nvSpPr>
        <p:spPr>
          <a:xfrm>
            <a:off x="2543216" y="1198719"/>
            <a:ext cx="2065623" cy="4466745"/>
          </a:xfrm>
          <a:prstGeom prst="roundRect">
            <a:avLst>
              <a:gd name="adj" fmla="val 2213"/>
            </a:avLst>
          </a:prstGeom>
          <a:solidFill>
            <a:srgbClr val="BDE6FA">
              <a:alpha val="45000"/>
            </a:srgbClr>
          </a:solidFill>
          <a:ln w="25400">
            <a:solidFill>
              <a:srgbClr val="1E7FB8"/>
            </a:solidFill>
            <a:prstDash val="solid"/>
          </a:ln>
        </p:spPr>
      </p:sp>
      <p:sp>
        <p:nvSpPr>
          <p:cNvPr id="18" name="s9_13"/>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9" name="s9_14"/>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p:transition spd="med">
    <p:cover/>
  </p:transition>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audio>
                                      <p:cMediaNode vol="80000" showWhenStopped="0">
                                        <p:cTn id="8" display="0" masterRel="sameClick">
                                          <p:stCondLst>
                                            <p:cond evt="onBegin" delay="0">
                                              <p:tn val="5"/>
                                            </p:cond>
                                          </p:stCondLst>
                                        </p:cTn>
                                        <p:tgtEl>
                                          <p:sndTgt r:embed="rId6" name="chime.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nextCondLst>
                <p:cond evt="onNext" delay="0">
                  <p:tgtEl>
                    <p:spTgt spid="6"/>
                  </p:tgtEl>
                </p:cond>
              </p:nextCondLst>
            </p:seq>
            <p:seq concurrent="1" nextAc="seek">
              <p:cTn id="12" restart="whenNotActive" fill="hold" evtFilter="cancelBubble" nodeType="interactiveSeq">
                <p:stCondLst>
                  <p:cond evt="onClick" delay="0">
                    <p:tgtEl>
                      <p:spTgt spid="9"/>
                    </p:tgtEl>
                  </p:cond>
                </p:stCondLst>
                <p:endSync evt="end" delay="0">
                  <p:rtn val="all"/>
                </p:endSync>
                <p:childTnLst>
                  <p:par>
                    <p:cTn id="13" fill="hold">
                      <p:stCondLst>
                        <p:cond delay="0"/>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subTnLst>
                                    <p:audio>
                                      <p:cMediaNode vol="80000" showWhenStopped="0">
                                        <p:cTn id="18" display="0" masterRel="sameClick">
                                          <p:stCondLst>
                                            <p:cond evt="onBegin" delay="0">
                                              <p:tn val="15"/>
                                            </p:cond>
                                          </p:stCondLst>
                                        </p:cTn>
                                        <p:tgtEl>
                                          <p:sndTgt r:embed="rId6" name="chime.wav"/>
                                        </p:tgtEl>
                                      </p:cMediaNode>
                                    </p:audio>
                                  </p:sub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nextCondLst>
                <p:cond evt="onNext" delay="0">
                  <p:tgtEl>
                    <p:spTgt spid="9"/>
                  </p:tgtEl>
                </p:cond>
              </p:nextCondLst>
            </p:seq>
            <p:seq concurrent="1" nextAc="seek">
              <p:cTn id="22" restart="whenNotActive" fill="hold" evtFilter="cancelBubble" nodeType="interactiveSeq">
                <p:stCondLst>
                  <p:cond evt="onClick" delay="0">
                    <p:tgtEl>
                      <p:spTgt spid="12"/>
                    </p:tgtEl>
                  </p:cond>
                </p:stCondLst>
                <p:endSync evt="end" delay="0">
                  <p:rtn val="all"/>
                </p:endSync>
                <p:childTnLst>
                  <p:par>
                    <p:cTn id="23" fill="hold">
                      <p:stCondLst>
                        <p:cond delay="0"/>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subTnLst>
                                    <p:audio>
                                      <p:cMediaNode vol="80000" showWhenStopped="0">
                                        <p:cTn id="28" display="0" masterRel="sameClick">
                                          <p:stCondLst>
                                            <p:cond evt="onBegin" delay="0">
                                              <p:tn val="25"/>
                                            </p:cond>
                                          </p:stCondLst>
                                        </p:cTn>
                                        <p:tgtEl>
                                          <p:sndTgt r:embed="rId6" name="chime.wav"/>
                                        </p:tgtEl>
                                      </p:cMediaNode>
                                    </p:audio>
                                  </p:sub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childTnLst>
              </p:cTn>
              <p:nextCondLst>
                <p:cond evt="onNext" delay="0">
                  <p:tgtEl>
                    <p:spTgt spid="12"/>
                  </p:tgtEl>
                </p:cond>
              </p:nextCondLst>
            </p:seq>
            <p:seq concurrent="1" nextAc="seek">
              <p:cTn id="32" restart="whenNotActive" fill="hold" evtFilter="cancelBubble" nodeType="interactiveSeq">
                <p:stCondLst>
                  <p:cond evt="onClick" delay="0">
                    <p:tgtEl>
                      <p:spTgt spid="15"/>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subTnLst>
                                    <p:audio>
                                      <p:cMediaNode vol="80000" showWhenStopped="0">
                                        <p:cTn id="38" display="0" masterRel="sameClick">
                                          <p:stCondLst>
                                            <p:cond evt="onBegin" delay="0">
                                              <p:tn val="35"/>
                                            </p:cond>
                                          </p:stCondLst>
                                        </p:cTn>
                                        <p:tgtEl>
                                          <p:sndTgt r:embed="rId6" name="chime.wav"/>
                                        </p:tgtEl>
                                      </p:cMediaNode>
                                    </p:audio>
                                  </p:sub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childTnLst>
              </p:cTn>
              <p:nextCondLst>
                <p:cond evt="onNext" delay="0">
                  <p:tgtEl>
                    <p:spTgt spid="15"/>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0_1" descr="عنوان الشريحة">    </p:cNvPr>
          <p:cNvPicPr>
            <a:picLocks noChangeAspect="1"/>
          </p:cNvPicPr>
          <p:nvPr/>
        </p:nvPicPr>
        <p:blipFill>
          <a:blip r:embed="rId2"/>
          <a:stretch>
            <a:fillRect/>
          </a:stretch>
        </p:blipFill>
        <p:spPr>
          <a:xfrm>
            <a:off x="9325576" y="182880"/>
            <a:ext cx="2500359" cy="731520"/>
          </a:xfrm>
          <a:prstGeom prst="rect">
            <a:avLst/>
          </a:prstGeom>
        </p:spPr>
      </p:pic>
      <p:sp>
        <p:nvSpPr>
          <p:cNvPr id="3" name="s10_2"/>
          <p:cNvSpPr txBox="1"/>
          <p:nvPr/>
        </p:nvSpPr>
        <p:spPr>
          <a:xfrm>
            <a:off x="365760" y="292608"/>
            <a:ext cx="34518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التأمل والتدبّر</a:t>
            </a:r>
            <a:endParaRPr lang="en-US" sz="1600" dirty="0"/>
          </a:p>
        </p:txBody>
      </p:sp>
      <p:sp>
        <p:nvSpPr>
          <p:cNvPr id="4" name="s10_3"/>
          <p:cNvSpPr txBox="1"/>
          <p:nvPr/>
        </p:nvSpPr>
        <p:spPr>
          <a:xfrm>
            <a:off x="1828800" y="1325880"/>
            <a:ext cx="8503920" cy="457200"/>
          </a:xfrm>
          <a:prstGeom prst="rect">
            <a:avLst/>
          </a:prstGeom>
          <a:noFill/>
          <a:ln/>
        </p:spPr>
        <p:txBody>
          <a:bodyPr wrap="square" lIns="63500" tIns="63500" rIns="63500" bIns="63500" rtlCol="0" anchor="ctr"/>
          <a:lstStyle/>
          <a:p>
            <a:pPr rtl="1" algn="ctr" indent="0" marL="0">
              <a:buNone/>
            </a:pPr>
            <a:r>
              <a:rPr lang="ar-SA" altLang="en-US" sz="1900" b="1" dirty="0">
                <a:solidFill>
                  <a:srgbClr val="A87400"/>
                </a:solidFill>
                <a:latin typeface="Tahoma" pitchFamily="34" charset="0"/>
                <a:ea typeface="Tahoma" pitchFamily="34" charset="-122"/>
                <a:cs typeface="Tahoma" pitchFamily="34" charset="-120"/>
              </a:rPr>
              <a:t>قال تعالى:</a:t>
            </a:r>
            <a:endParaRPr lang="ar-SA" sz="1900" dirty="0"/>
          </a:p>
        </p:txBody>
      </p:sp>
      <p:sp>
        <p:nvSpPr>
          <p:cNvPr id="5" name="s10_4"/>
          <p:cNvSpPr txBox="1"/>
          <p:nvPr/>
        </p:nvSpPr>
        <p:spPr>
          <a:xfrm>
            <a:off x="1463040" y="1828800"/>
            <a:ext cx="9235440" cy="1371600"/>
          </a:xfrm>
          <a:prstGeom prst="rect">
            <a:avLst/>
          </a:prstGeom>
          <a:noFill/>
          <a:ln/>
        </p:spPr>
        <p:txBody>
          <a:bodyPr wrap="square" lIns="63500" tIns="63500" rIns="63500" bIns="63500" rtlCol="0" anchor="ctr"/>
          <a:lstStyle/>
          <a:p>
            <a:pPr rtl="1" algn="ctr" indent="0" marL="0">
              <a:buNone/>
            </a:pPr>
            <a:r>
              <a:rPr lang="ar-SA" altLang="en-US" sz="3000" b="1" dirty="0">
                <a:solidFill>
                  <a:srgbClr val="1B5E20"/>
                </a:solidFill>
                <a:latin typeface="Tahoma" pitchFamily="34" charset="0"/>
                <a:ea typeface="Tahoma" pitchFamily="34" charset="-122"/>
                <a:cs typeface="Tahoma" pitchFamily="34" charset="-120"/>
              </a:rPr>
              <a:t>﴿وَكَأَيِّن مِّن دَابَّةٍ لَّا تَحْمِلُ رِزْقَهَا اللَّهُ يَرْزُقُهَا وَإِيَّاكُمْ ۚ وَهُوَ السَّمِيعُ الْعَلِيمُ﴾</a:t>
            </a:r>
            <a:endParaRPr lang="ar-SA" sz="3000" dirty="0"/>
          </a:p>
        </p:txBody>
      </p:sp>
      <p:sp>
        <p:nvSpPr>
          <p:cNvPr id="6" name="s10_5"/>
          <p:cNvSpPr txBox="1"/>
          <p:nvPr/>
        </p:nvSpPr>
        <p:spPr>
          <a:xfrm>
            <a:off x="1828800" y="3154680"/>
            <a:ext cx="8503920" cy="365760"/>
          </a:xfrm>
          <a:prstGeom prst="rect">
            <a:avLst/>
          </a:prstGeom>
          <a:noFill/>
          <a:ln/>
        </p:spPr>
        <p:txBody>
          <a:bodyPr wrap="square" lIns="63500" tIns="63500" rIns="63500" bIns="63500" rtlCol="0" anchor="ctr"/>
          <a:lstStyle/>
          <a:p>
            <a:pPr rtl="1" algn="ctr" indent="0" marL="0">
              <a:buNone/>
            </a:pPr>
            <a:r>
              <a:rPr lang="ar-SA" altLang="en-US" sz="1400" dirty="0">
                <a:solidFill>
                  <a:srgbClr val="5A6785"/>
                </a:solidFill>
                <a:latin typeface="Tahoma" pitchFamily="34" charset="0"/>
                <a:ea typeface="Tahoma" pitchFamily="34" charset="-122"/>
                <a:cs typeface="Tahoma" pitchFamily="34" charset="-120"/>
              </a:rPr>
              <a:t>[العنكبوت: ٦٠]</a:t>
            </a:r>
            <a:endParaRPr lang="ar-SA" sz="1400" dirty="0"/>
          </a:p>
        </p:txBody>
      </p:sp>
      <p:sp>
        <p:nvSpPr>
          <p:cNvPr id="7" name="s10_6@c1"/>
          <p:cNvSpPr txBox="1"/>
          <p:nvPr/>
        </p:nvSpPr>
        <p:spPr>
          <a:xfrm>
            <a:off x="1828800" y="3794760"/>
            <a:ext cx="8503920" cy="1051560"/>
          </a:xfrm>
          <a:prstGeom prst="roundRect">
            <a:avLst>
              <a:gd name="adj" fmla="val 12174"/>
            </a:avLst>
          </a:prstGeom>
          <a:solidFill>
            <a:srgbClr val="D5F5EA"/>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كم من مخلوقٍ لا يحمل رزقه ولا يدّخره، والله تعالى يرزقه ويرزقنا؛ فجعل لكل مخلوق مصدرًا يحصل منه على طاقته، فسبحان الرزّاق.</a:t>
            </a:r>
            <a:endParaRPr lang="ar-SA" sz="1700" dirty="0"/>
          </a:p>
        </p:txBody>
      </p:sp>
      <p:sp>
        <p:nvSpPr>
          <p:cNvPr id="8" name="s10_7@c2"/>
          <p:cNvSpPr txBox="1"/>
          <p:nvPr/>
        </p:nvSpPr>
        <p:spPr>
          <a:xfrm>
            <a:off x="2377440" y="5029200"/>
            <a:ext cx="7406640" cy="594360"/>
          </a:xfrm>
          <a:prstGeom prst="roundRect">
            <a:avLst>
              <a:gd name="adj" fmla="val 21538"/>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سؤال للتأمل: ممّن تحصل البومة على رزقها؟ وممّن حصل رزقُها على رزقه؟</a:t>
            </a:r>
            <a:endParaRPr lang="ar-SA" sz="1600" dirty="0"/>
          </a:p>
        </p:txBody>
      </p:sp>
      <p:sp>
        <p:nvSpPr>
          <p:cNvPr id="9" name="s10_8"/>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0" name="s10_9"/>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orld" descr="مشهد اليابسة">    </p:cNvPr>
          <p:cNvPicPr>
            <a:picLocks noChangeAspect="1"/>
          </p:cNvPicPr>
          <p:nvPr/>
        </p:nvPicPr>
        <p:blipFill>
          <a:blip r:embed="rId2"/>
          <a:stretch>
            <a:fillRect/>
          </a:stretch>
        </p:blipFill>
        <p:spPr>
          <a:xfrm>
            <a:off x="0" y="0"/>
            <a:ext cx="12191695" cy="6858766"/>
          </a:xfrm>
          <a:prstGeom prst="rect">
            <a:avLst/>
          </a:prstGeom>
        </p:spPr>
      </p:pic>
      <p:pic>
        <p:nvPicPr>
          <p:cNvPr id="3" name="!!sun" descr="الشمس">    </p:cNvPr>
          <p:cNvPicPr>
            <a:picLocks noChangeAspect="1"/>
          </p:cNvPicPr>
          <p:nvPr/>
        </p:nvPicPr>
        <p:blipFill>
          <a:blip r:embed="rId3"/>
          <a:stretch>
            <a:fillRect/>
          </a:stretch>
        </p:blipFill>
        <p:spPr>
          <a:xfrm>
            <a:off x="9753356" y="1406734"/>
            <a:ext cx="1125387" cy="1125387"/>
          </a:xfrm>
          <a:prstGeom prst="rect">
            <a:avLst/>
          </a:prstGeom>
        </p:spPr>
      </p:pic>
      <p:pic>
        <p:nvPicPr>
          <p:cNvPr id="4" name="!!c_thistle" descr="نبات الشوك">    </p:cNvPr>
          <p:cNvPicPr>
            <a:picLocks noChangeAspect="1"/>
          </p:cNvPicPr>
          <p:nvPr/>
        </p:nvPicPr>
        <p:blipFill>
          <a:blip r:embed="rId4"/>
          <a:stretch>
            <a:fillRect/>
          </a:stretch>
        </p:blipFill>
        <p:spPr>
          <a:xfrm>
            <a:off x="8112166" y="4267093"/>
            <a:ext cx="1312952" cy="1312952"/>
          </a:xfrm>
          <a:prstGeom prst="rect">
            <a:avLst/>
          </a:prstGeom>
        </p:spPr>
      </p:pic>
      <p:sp>
        <p:nvSpPr>
          <p:cNvPr id="5" name="!!l_thistle"/>
          <p:cNvSpPr txBox="1"/>
          <p:nvPr/>
        </p:nvSpPr>
        <p:spPr>
          <a:xfrm>
            <a:off x="8112166" y="5603491"/>
            <a:ext cx="1312952" cy="290725"/>
          </a:xfrm>
          <a:prstGeom prst="roundRect">
            <a:avLst>
              <a:gd name="adj" fmla="val 31452"/>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نبات الشوك</a:t>
            </a:r>
            <a:endParaRPr lang="ar-SA" sz="1200" dirty="0"/>
          </a:p>
        </p:txBody>
      </p:sp>
      <p:pic>
        <p:nvPicPr>
          <p:cNvPr id="6" name="!!c_caterpillar" descr="يرقة">    </p:cNvPr>
          <p:cNvPicPr>
            <a:picLocks noChangeAspect="1"/>
          </p:cNvPicPr>
          <p:nvPr/>
        </p:nvPicPr>
        <p:blipFill>
          <a:blip r:embed="rId5"/>
          <a:stretch>
            <a:fillRect/>
          </a:stretch>
        </p:blipFill>
        <p:spPr>
          <a:xfrm>
            <a:off x="6377194" y="3376162"/>
            <a:ext cx="1312952" cy="1312952"/>
          </a:xfrm>
          <a:prstGeom prst="rect">
            <a:avLst/>
          </a:prstGeom>
        </p:spPr>
      </p:pic>
      <p:sp>
        <p:nvSpPr>
          <p:cNvPr id="7" name="!!l_caterpillar"/>
          <p:cNvSpPr txBox="1"/>
          <p:nvPr/>
        </p:nvSpPr>
        <p:spPr>
          <a:xfrm>
            <a:off x="6377194" y="4712559"/>
            <a:ext cx="1312952" cy="290725"/>
          </a:xfrm>
          <a:prstGeom prst="roundRect">
            <a:avLst>
              <a:gd name="adj" fmla="val 31452"/>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اليرقة</a:t>
            </a:r>
            <a:endParaRPr lang="ar-SA" sz="1200" dirty="0"/>
          </a:p>
        </p:txBody>
      </p:sp>
      <p:pic>
        <p:nvPicPr>
          <p:cNvPr id="8" name="!!c_mantis" descr="سرعوف">    </p:cNvPr>
          <p:cNvPicPr>
            <a:picLocks noChangeAspect="1"/>
          </p:cNvPicPr>
          <p:nvPr/>
        </p:nvPicPr>
        <p:blipFill>
          <a:blip r:embed="rId6"/>
          <a:stretch>
            <a:fillRect/>
          </a:stretch>
        </p:blipFill>
        <p:spPr>
          <a:xfrm>
            <a:off x="4595331" y="4220202"/>
            <a:ext cx="1312952" cy="1312952"/>
          </a:xfrm>
          <a:prstGeom prst="rect">
            <a:avLst/>
          </a:prstGeom>
        </p:spPr>
      </p:pic>
      <p:sp>
        <p:nvSpPr>
          <p:cNvPr id="9" name="!!l_mantis"/>
          <p:cNvSpPr txBox="1"/>
          <p:nvPr/>
        </p:nvSpPr>
        <p:spPr>
          <a:xfrm>
            <a:off x="4595331" y="5556600"/>
            <a:ext cx="1312952" cy="290725"/>
          </a:xfrm>
          <a:prstGeom prst="roundRect">
            <a:avLst>
              <a:gd name="adj" fmla="val 31452"/>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السرعوف</a:t>
            </a:r>
            <a:endParaRPr lang="ar-SA" sz="1200" dirty="0"/>
          </a:p>
        </p:txBody>
      </p:sp>
      <p:pic>
        <p:nvPicPr>
          <p:cNvPr id="10" name="!!c_lizard" descr="سحلية">    </p:cNvPr>
          <p:cNvPicPr>
            <a:picLocks noChangeAspect="1"/>
          </p:cNvPicPr>
          <p:nvPr/>
        </p:nvPicPr>
        <p:blipFill>
          <a:blip r:embed="rId7"/>
          <a:stretch>
            <a:fillRect/>
          </a:stretch>
        </p:blipFill>
        <p:spPr>
          <a:xfrm>
            <a:off x="2813468" y="3282379"/>
            <a:ext cx="1312952" cy="1312952"/>
          </a:xfrm>
          <a:prstGeom prst="rect">
            <a:avLst/>
          </a:prstGeom>
        </p:spPr>
      </p:pic>
      <p:sp>
        <p:nvSpPr>
          <p:cNvPr id="11" name="!!l_lizard"/>
          <p:cNvSpPr txBox="1"/>
          <p:nvPr/>
        </p:nvSpPr>
        <p:spPr>
          <a:xfrm>
            <a:off x="2813468" y="4618777"/>
            <a:ext cx="1312952" cy="290725"/>
          </a:xfrm>
          <a:prstGeom prst="roundRect">
            <a:avLst>
              <a:gd name="adj" fmla="val 31452"/>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السحلية</a:t>
            </a:r>
            <a:endParaRPr lang="ar-SA" sz="1200" dirty="0"/>
          </a:p>
        </p:txBody>
      </p:sp>
      <p:pic>
        <p:nvPicPr>
          <p:cNvPr id="12" name="!!c_owl" descr="بومة">    </p:cNvPr>
          <p:cNvPicPr>
            <a:picLocks noChangeAspect="1"/>
          </p:cNvPicPr>
          <p:nvPr/>
        </p:nvPicPr>
        <p:blipFill>
          <a:blip r:embed="rId8"/>
          <a:stretch>
            <a:fillRect/>
          </a:stretch>
        </p:blipFill>
        <p:spPr>
          <a:xfrm>
            <a:off x="1031605" y="2250774"/>
            <a:ext cx="1312952" cy="1312952"/>
          </a:xfrm>
          <a:prstGeom prst="rect">
            <a:avLst/>
          </a:prstGeom>
        </p:spPr>
      </p:pic>
      <p:sp>
        <p:nvSpPr>
          <p:cNvPr id="13" name="!!l_owl"/>
          <p:cNvSpPr txBox="1"/>
          <p:nvPr/>
        </p:nvSpPr>
        <p:spPr>
          <a:xfrm>
            <a:off x="1031605" y="3587172"/>
            <a:ext cx="1312952" cy="290725"/>
          </a:xfrm>
          <a:prstGeom prst="roundRect">
            <a:avLst>
              <a:gd name="adj" fmla="val 31452"/>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البومة</a:t>
            </a:r>
            <a:endParaRPr lang="ar-SA" sz="1200" dirty="0"/>
          </a:p>
        </p:txBody>
      </p:sp>
      <p:pic>
        <p:nvPicPr>
          <p:cNvPr id="14" name="!!orb" descr="كرة الطاقة">    </p:cNvPr>
          <p:cNvPicPr>
            <a:picLocks noChangeAspect="1"/>
          </p:cNvPicPr>
          <p:nvPr/>
        </p:nvPicPr>
        <p:blipFill>
          <a:blip r:embed="rId9"/>
          <a:stretch>
            <a:fillRect/>
          </a:stretch>
        </p:blipFill>
        <p:spPr>
          <a:xfrm>
            <a:off x="9870584" y="1523962"/>
            <a:ext cx="890932" cy="890932"/>
          </a:xfrm>
          <a:prstGeom prst="rect">
            <a:avLst/>
          </a:prstGeom>
        </p:spPr>
      </p:pic>
      <p:pic>
        <p:nvPicPr>
          <p:cNvPr id="15" name="!!title" descr="عنوان الشريحة">    </p:cNvPr>
          <p:cNvPicPr>
            <a:picLocks noChangeAspect="1"/>
          </p:cNvPicPr>
          <p:nvPr/>
        </p:nvPicPr>
        <p:blipFill>
          <a:blip r:embed="rId10"/>
          <a:stretch>
            <a:fillRect/>
          </a:stretch>
        </p:blipFill>
        <p:spPr>
          <a:xfrm>
            <a:off x="6561390" y="182880"/>
            <a:ext cx="5264546" cy="731520"/>
          </a:xfrm>
          <a:prstGeom prst="rect">
            <a:avLst/>
          </a:prstGeom>
        </p:spPr>
      </p:pic>
      <p:sp>
        <p:nvSpPr>
          <p:cNvPr id="16" name="!!strat"/>
          <p:cNvSpPr txBox="1"/>
          <p:nvPr/>
        </p:nvSpPr>
        <p:spPr>
          <a:xfrm>
            <a:off x="365760" y="292608"/>
            <a:ext cx="53949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الواقع الافتراضي – التعلّم البصري</a:t>
            </a:r>
            <a:endParaRPr lang="en-US" sz="1600" dirty="0"/>
          </a:p>
        </p:txBody>
      </p:sp>
      <p:sp>
        <p:nvSpPr>
          <p:cNvPr id="17" name="!!cap"/>
          <p:cNvSpPr txBox="1"/>
          <p:nvPr/>
        </p:nvSpPr>
        <p:spPr>
          <a:xfrm>
            <a:off x="914400" y="5257800"/>
            <a:ext cx="10360152" cy="868680"/>
          </a:xfrm>
          <a:prstGeom prst="roundRect">
            <a:avLst>
              <a:gd name="adj" fmla="val 14737"/>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ضعي نظارة الواقع الافتراضي… سندخل إلى صورة السلسلة الغذائية ونطير مع كرة الطاقة ⚡ من الشمس حتى البومة!</a:t>
            </a:r>
            <a:endParaRPr lang="ar-SA" sz="1700" dirty="0"/>
          </a:p>
        </p:txBody>
      </p:sp>
      <p:sp>
        <p:nvSpPr>
          <p:cNvPr id="18" name="!!sig"/>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9" name="!!st"/>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6" presetClass="emph" presetSubtype="0" fill="hold" grpId="0" nodeType="afterEffect" repeatCount="2000">
                                  <p:stCondLst>
                                    <p:cond delay="0"/>
                                  </p:stCondLst>
                                  <p:childTnLst>
                                    <p:animScale>
                                      <p:cBhvr>
                                        <p:cTn id="6" dur="600" autoRev="1" fill="hold"/>
                                        <p:tgtEl>
                                          <p:spTgt spid="14"/>
                                        </p:tgtEl>
                                      </p:cBhvr>
                                      <p:by x="118000" y="118000"/>
                                    </p:animScale>
                                  </p:childTnLst>
                                  <p:subTnLst>
                                    <p:audio>
                                      <p:cMediaNode vol="80000" showWhenStopped="0">
                                        <p:cTn id="7" display="0" masterRel="sameClick">
                                          <p:stCondLst>
                                            <p:cond evt="onBegin" delay="0">
                                              <p:tn val="5"/>
                                            </p:cond>
                                          </p:stCondLst>
                                        </p:cTn>
                                        <p:tgtEl>
                                          <p:sndTgt r:embed="rId13" name="spark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orld" descr="مشهد اليابسة">    </p:cNvPr>
          <p:cNvPicPr>
            <a:picLocks noChangeAspect="1"/>
          </p:cNvPicPr>
          <p:nvPr/>
        </p:nvPicPr>
        <p:blipFill>
          <a:blip r:embed="rId2"/>
          <a:stretch>
            <a:fillRect/>
          </a:stretch>
        </p:blipFill>
        <p:spPr>
          <a:xfrm>
            <a:off x="-6670548" y="-2807208"/>
            <a:ext cx="20208240" cy="11368689"/>
          </a:xfrm>
          <a:prstGeom prst="rect">
            <a:avLst/>
          </a:prstGeom>
        </p:spPr>
      </p:pic>
      <p:pic>
        <p:nvPicPr>
          <p:cNvPr id="3" name="!!sun" descr="الشمس">    </p:cNvPr>
          <p:cNvPicPr>
            <a:picLocks noChangeAspect="1"/>
          </p:cNvPicPr>
          <p:nvPr/>
        </p:nvPicPr>
        <p:blipFill>
          <a:blip r:embed="rId3"/>
          <a:stretch>
            <a:fillRect/>
          </a:stretch>
        </p:blipFill>
        <p:spPr>
          <a:xfrm>
            <a:off x="9496044" y="-475488"/>
            <a:ext cx="1865376" cy="1865376"/>
          </a:xfrm>
          <a:prstGeom prst="rect">
            <a:avLst/>
          </a:prstGeom>
        </p:spPr>
      </p:pic>
      <p:sp>
        <p:nvSpPr>
          <p:cNvPr id="4" name="!!beam"/>
          <p:cNvSpPr/>
          <p:nvPr/>
        </p:nvSpPr>
        <p:spPr>
          <a:xfrm flipH="1">
            <a:off x="8563356" y="1156716"/>
            <a:ext cx="1165860" cy="3342132"/>
          </a:xfrm>
          <a:prstGeom prst="line">
            <a:avLst/>
          </a:prstGeom>
          <a:noFill/>
          <a:ln w="76200">
            <a:solidFill>
              <a:srgbClr val="F5A623"/>
            </a:solidFill>
            <a:prstDash val="dash"/>
            <a:tailEnd type="triangle"/>
          </a:ln>
        </p:spPr>
      </p:sp>
      <p:pic>
        <p:nvPicPr>
          <p:cNvPr id="5" name="!!c_thistle" descr="نبات الشوك">    </p:cNvPr>
          <p:cNvPicPr>
            <a:picLocks noChangeAspect="1"/>
          </p:cNvPicPr>
          <p:nvPr/>
        </p:nvPicPr>
        <p:blipFill>
          <a:blip r:embed="rId4"/>
          <a:stretch>
            <a:fillRect/>
          </a:stretch>
        </p:blipFill>
        <p:spPr>
          <a:xfrm>
            <a:off x="6775704" y="4265676"/>
            <a:ext cx="2176272" cy="2176272"/>
          </a:xfrm>
          <a:prstGeom prst="rect">
            <a:avLst/>
          </a:prstGeom>
        </p:spPr>
      </p:pic>
      <p:sp>
        <p:nvSpPr>
          <p:cNvPr id="6" name="!!l_thistle"/>
          <p:cNvSpPr txBox="1"/>
          <p:nvPr/>
        </p:nvSpPr>
        <p:spPr>
          <a:xfrm>
            <a:off x="6775704" y="6480810"/>
            <a:ext cx="2176272" cy="481889"/>
          </a:xfrm>
          <a:prstGeom prst="roundRect">
            <a:avLst>
              <a:gd name="adj" fmla="val 18975"/>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نبات الشوك</a:t>
            </a:r>
            <a:endParaRPr lang="ar-SA" sz="1500" dirty="0"/>
          </a:p>
        </p:txBody>
      </p:sp>
      <p:pic>
        <p:nvPicPr>
          <p:cNvPr id="7" name="!!c_caterpillar" descr="يرقة">    </p:cNvPr>
          <p:cNvPicPr>
            <a:picLocks noChangeAspect="1"/>
          </p:cNvPicPr>
          <p:nvPr/>
        </p:nvPicPr>
        <p:blipFill>
          <a:blip r:embed="rId5"/>
          <a:stretch>
            <a:fillRect/>
          </a:stretch>
        </p:blipFill>
        <p:spPr>
          <a:xfrm>
            <a:off x="3899916" y="2788920"/>
            <a:ext cx="2176272" cy="2176272"/>
          </a:xfrm>
          <a:prstGeom prst="rect">
            <a:avLst/>
          </a:prstGeom>
        </p:spPr>
      </p:pic>
      <p:sp>
        <p:nvSpPr>
          <p:cNvPr id="8" name="!!l_caterpillar"/>
          <p:cNvSpPr txBox="1"/>
          <p:nvPr/>
        </p:nvSpPr>
        <p:spPr>
          <a:xfrm>
            <a:off x="3899916" y="5004054"/>
            <a:ext cx="2176272" cy="481889"/>
          </a:xfrm>
          <a:prstGeom prst="roundRect">
            <a:avLst>
              <a:gd name="adj" fmla="val 18975"/>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اليرقة</a:t>
            </a:r>
            <a:endParaRPr lang="ar-SA" sz="1500" dirty="0"/>
          </a:p>
        </p:txBody>
      </p:sp>
      <p:pic>
        <p:nvPicPr>
          <p:cNvPr id="9" name="!!c_mantis" descr="سرعوف">    </p:cNvPr>
          <p:cNvPicPr>
            <a:picLocks noChangeAspect="1"/>
          </p:cNvPicPr>
          <p:nvPr/>
        </p:nvPicPr>
        <p:blipFill>
          <a:blip r:embed="rId6"/>
          <a:stretch>
            <a:fillRect/>
          </a:stretch>
        </p:blipFill>
        <p:spPr>
          <a:xfrm>
            <a:off x="946404" y="4187952"/>
            <a:ext cx="2176272" cy="2176272"/>
          </a:xfrm>
          <a:prstGeom prst="rect">
            <a:avLst/>
          </a:prstGeom>
        </p:spPr>
      </p:pic>
      <p:sp>
        <p:nvSpPr>
          <p:cNvPr id="10" name="!!l_mantis"/>
          <p:cNvSpPr txBox="1"/>
          <p:nvPr/>
        </p:nvSpPr>
        <p:spPr>
          <a:xfrm>
            <a:off x="946404" y="6403086"/>
            <a:ext cx="2176272" cy="481889"/>
          </a:xfrm>
          <a:prstGeom prst="roundRect">
            <a:avLst>
              <a:gd name="adj" fmla="val 18975"/>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السرعوف</a:t>
            </a:r>
            <a:endParaRPr lang="ar-SA" sz="1500" dirty="0"/>
          </a:p>
        </p:txBody>
      </p:sp>
      <p:pic>
        <p:nvPicPr>
          <p:cNvPr id="11" name="!!c_lizard" descr="سحلية">    </p:cNvPr>
          <p:cNvPicPr>
            <a:picLocks noChangeAspect="1"/>
          </p:cNvPicPr>
          <p:nvPr/>
        </p:nvPicPr>
        <p:blipFill>
          <a:blip r:embed="rId7"/>
          <a:stretch>
            <a:fillRect/>
          </a:stretch>
        </p:blipFill>
        <p:spPr>
          <a:xfrm>
            <a:off x="-2007108" y="2633472"/>
            <a:ext cx="2176272" cy="2176272"/>
          </a:xfrm>
          <a:prstGeom prst="rect">
            <a:avLst/>
          </a:prstGeom>
        </p:spPr>
      </p:pic>
      <p:sp>
        <p:nvSpPr>
          <p:cNvPr id="12" name="!!l_lizard"/>
          <p:cNvSpPr txBox="1"/>
          <p:nvPr/>
        </p:nvSpPr>
        <p:spPr>
          <a:xfrm>
            <a:off x="-2007108" y="4848606"/>
            <a:ext cx="2176272" cy="481889"/>
          </a:xfrm>
          <a:prstGeom prst="roundRect">
            <a:avLst>
              <a:gd name="adj" fmla="val 18975"/>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السحلية</a:t>
            </a:r>
            <a:endParaRPr lang="ar-SA" sz="1500" dirty="0"/>
          </a:p>
        </p:txBody>
      </p:sp>
      <p:pic>
        <p:nvPicPr>
          <p:cNvPr id="13" name="!!c_owl" descr="بومة">    </p:cNvPr>
          <p:cNvPicPr>
            <a:picLocks noChangeAspect="1"/>
          </p:cNvPicPr>
          <p:nvPr/>
        </p:nvPicPr>
        <p:blipFill>
          <a:blip r:embed="rId8"/>
          <a:stretch>
            <a:fillRect/>
          </a:stretch>
        </p:blipFill>
        <p:spPr>
          <a:xfrm>
            <a:off x="-4960620" y="923544"/>
            <a:ext cx="2176272" cy="2176272"/>
          </a:xfrm>
          <a:prstGeom prst="rect">
            <a:avLst/>
          </a:prstGeom>
        </p:spPr>
      </p:pic>
      <p:sp>
        <p:nvSpPr>
          <p:cNvPr id="14" name="!!l_owl"/>
          <p:cNvSpPr txBox="1"/>
          <p:nvPr/>
        </p:nvSpPr>
        <p:spPr>
          <a:xfrm>
            <a:off x="-4960620" y="3138678"/>
            <a:ext cx="2176272" cy="481889"/>
          </a:xfrm>
          <a:prstGeom prst="roundRect">
            <a:avLst>
              <a:gd name="adj" fmla="val 18975"/>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البومة</a:t>
            </a:r>
            <a:endParaRPr lang="ar-SA" sz="1500" dirty="0"/>
          </a:p>
        </p:txBody>
      </p:sp>
      <p:pic>
        <p:nvPicPr>
          <p:cNvPr id="15" name="!!orb" descr="كرة الطاقة">    </p:cNvPr>
          <p:cNvPicPr>
            <a:picLocks noChangeAspect="1"/>
          </p:cNvPicPr>
          <p:nvPr/>
        </p:nvPicPr>
        <p:blipFill>
          <a:blip r:embed="rId9"/>
          <a:stretch>
            <a:fillRect/>
          </a:stretch>
        </p:blipFill>
        <p:spPr>
          <a:xfrm>
            <a:off x="8252460" y="3799332"/>
            <a:ext cx="1165860" cy="1165860"/>
          </a:xfrm>
          <a:prstGeom prst="rect">
            <a:avLst/>
          </a:prstGeom>
        </p:spPr>
      </p:pic>
      <p:sp>
        <p:nvSpPr>
          <p:cNvPr id="16" name="!!cap"/>
          <p:cNvSpPr txBox="1"/>
          <p:nvPr/>
        </p:nvSpPr>
        <p:spPr>
          <a:xfrm>
            <a:off x="411480" y="1005840"/>
            <a:ext cx="425196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 ← 🌿 نبات الشوك (منتِج)
</a:t>
            </a:r>
            <a:r>
              <a:rPr lang="ar-SA" altLang="en-US" sz="1600" dirty="0">
                <a:solidFill>
                  <a:srgbClr val="34405E"/>
                </a:solidFill>
                <a:latin typeface="Tahoma" pitchFamily="34" charset="0"/>
                <a:ea typeface="Tahoma" pitchFamily="34" charset="-122"/>
                <a:cs typeface="Tahoma" pitchFamily="34" charset="-120"/>
              </a:rPr>
              <a:t>يلتقط طاقة الشمس، ويصنع غذاءه بنفسه.</a:t>
            </a:r>
            <a:endParaRPr lang="ar-SA" sz="1600" dirty="0"/>
          </a:p>
        </p:txBody>
      </p:sp>
      <p:sp>
        <p:nvSpPr>
          <p:cNvPr id="17" name="!!meter"/>
          <p:cNvSpPr txBox="1"/>
          <p:nvPr/>
        </p:nvSpPr>
        <p:spPr>
          <a:xfrm>
            <a:off x="411480" y="2651760"/>
            <a:ext cx="4251960" cy="594360"/>
          </a:xfrm>
          <a:prstGeom prst="roundRect">
            <a:avLst>
              <a:gd name="adj" fmla="val 21538"/>
            </a:avLst>
          </a:prstGeom>
          <a:solidFill>
            <a:srgbClr val="FFF8E1"/>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الطاقة الواصلة: </a:t>
            </a:r>
            <a:r>
              <a:rPr lang="ar-SA" altLang="en-US" sz="2000" dirty="0">
                <a:solidFill>
                  <a:srgbClr val="34405E"/>
                </a:solidFill>
                <a:latin typeface="Tahoma" pitchFamily="34" charset="0"/>
                <a:ea typeface="Tahoma" pitchFamily="34" charset="-122"/>
                <a:cs typeface="Tahoma" pitchFamily="34" charset="-120"/>
              </a:rPr>
              <a:t>⚡⚡⚡⚡⚡</a:t>
            </a:r>
            <a:endParaRPr lang="ar-SA" sz="1500" dirty="0"/>
          </a:p>
        </p:txBody>
      </p:sp>
      <p:sp>
        <p:nvSpPr>
          <p:cNvPr id="18" name="s12_1"/>
          <p:cNvSpPr txBox="1"/>
          <p:nvPr/>
        </p:nvSpPr>
        <p:spPr>
          <a:xfrm>
            <a:off x="411480" y="3383280"/>
            <a:ext cx="425196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550" dirty="0">
                <a:solidFill>
                  <a:srgbClr val="34405E"/>
                </a:solidFill>
                <a:latin typeface="Tahoma" pitchFamily="34" charset="0"/>
                <a:ea typeface="Tahoma" pitchFamily="34" charset="-122"/>
                <a:cs typeface="Tahoma" pitchFamily="34" charset="-120"/>
              </a:rPr>
              <a:t>❓ </a:t>
            </a:r>
            <a:r>
              <a:rPr lang="ar-SA" altLang="en-US" sz="1550" b="1" dirty="0">
                <a:solidFill>
                  <a:srgbClr val="34405E"/>
                </a:solidFill>
                <a:latin typeface="Tahoma" pitchFamily="34" charset="0"/>
                <a:ea typeface="Tahoma" pitchFamily="34" charset="-122"/>
                <a:cs typeface="Tahoma" pitchFamily="34" charset="-120"/>
              </a:rPr>
              <a:t>من أين يحصل نبات الشوك على طاقته؟</a:t>
            </a:r>
            <a:endParaRPr lang="ar-SA" sz="1550" dirty="0"/>
          </a:p>
        </p:txBody>
      </p:sp>
      <p:sp>
        <p:nvSpPr>
          <p:cNvPr id="19" name="s12_2@c1%chime"/>
          <p:cNvSpPr txBox="1"/>
          <p:nvPr/>
        </p:nvSpPr>
        <p:spPr>
          <a:xfrm>
            <a:off x="411480" y="4343400"/>
            <a:ext cx="4251960" cy="777240"/>
          </a:xfrm>
          <a:prstGeom prst="roundRect">
            <a:avLst>
              <a:gd name="adj" fmla="val 16471"/>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من الشمس ☀️</a:t>
            </a:r>
            <a:endParaRPr lang="ar-SA" sz="1500" dirty="0"/>
          </a:p>
        </p:txBody>
      </p:sp>
      <p:sp>
        <p:nvSpPr>
          <p:cNvPr id="20" name="!!sig"/>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1" name="!!st"/>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2000">
        <p159:morph option="byObject"/>
        <p:sndAc>
          <p:stSnd>
            <p:snd r:embed="rId12" name="whoosh.wav"/>
          </p:stSnd>
        </p:sndAc>
      </p:transition>
    </mc:Choice>
    <mc:Fallback>
      <p:transition spd="slow">
        <p:fade/>
        <p:sndAc>
          <p:stSnd>
            <p:snd r:embed="rId12"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6" presetClass="emph" presetSubtype="0" fill="hold" grpId="0" nodeType="afterEffect" repeatCount="2000">
                                  <p:stCondLst>
                                    <p:cond delay="200"/>
                                  </p:stCondLst>
                                  <p:childTnLst>
                                    <p:animScale>
                                      <p:cBhvr>
                                        <p:cTn id="6" dur="500" autoRev="1" fill="hold"/>
                                        <p:tgtEl>
                                          <p:spTgt spid="5"/>
                                        </p:tgtEl>
                                      </p:cBhvr>
                                      <p:by x="118000" y="118000"/>
                                    </p:animScale>
                                  </p:childTnLst>
                                  <p:subTnLst>
                                    <p:audio>
                                      <p:cMediaNode vol="80000" showWhenStopped="0">
                                        <p:cTn id="7" display="0" masterRel="sameClick">
                                          <p:stCondLst>
                                            <p:cond evt="onBegin" delay="0">
                                              <p:tn val="5"/>
                                            </p:cond>
                                          </p:stCondLst>
                                        </p:cTn>
                                        <p:tgtEl>
                                          <p:sndTgt r:embed="rId13" name="pop.wav"/>
                                        </p:tgtEl>
                                      </p:cMediaNode>
                                    </p:audio>
                                  </p:subTnLst>
                                </p:cTn>
                              </p:par>
                              <p:par>
                                <p:cTn id="8" presetID="6" presetClass="emph" presetSubtype="0" fill="hold" grpId="0" nodeType="withEffect">
                                  <p:stCondLst>
                                    <p:cond delay="200"/>
                                  </p:stCondLst>
                                  <p:childTnLst>
                                    <p:animScale>
                                      <p:cBhvr>
                                        <p:cTn id="9" dur="500" autoRev="1" fill="hold"/>
                                        <p:tgtEl>
                                          <p:spTgt spid="15"/>
                                        </p:tgtEl>
                                      </p:cBhvr>
                                      <p:by x="118000" y="118000"/>
                                    </p:animScale>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subTnLst>
                                    <p:audio>
                                      <p:cMediaNode vol="80000" showWhenStopped="0">
                                        <p:cTn id="15" display="0" masterRel="sameClick">
                                          <p:stCondLst>
                                            <p:cond evt="onBegin" delay="0">
                                              <p:tn val="12"/>
                                            </p:cond>
                                          </p:stCondLst>
                                        </p:cTn>
                                        <p:tgtEl>
                                          <p:sndTgt r:embed="rId14"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orld" descr="مشهد اليابسة">    </p:cNvPr>
          <p:cNvPicPr>
            <a:picLocks noChangeAspect="1"/>
          </p:cNvPicPr>
          <p:nvPr/>
        </p:nvPicPr>
        <p:blipFill>
          <a:blip r:embed="rId2"/>
          <a:stretch>
            <a:fillRect/>
          </a:stretch>
        </p:blipFill>
        <p:spPr>
          <a:xfrm>
            <a:off x="-13213080" y="-6263640"/>
            <a:ext cx="29718000" cy="16718661"/>
          </a:xfrm>
          <a:prstGeom prst="rect">
            <a:avLst/>
          </a:prstGeom>
        </p:spPr>
      </p:pic>
      <p:pic>
        <p:nvPicPr>
          <p:cNvPr id="3" name="!!sun" descr="الشمس">    </p:cNvPr>
          <p:cNvPicPr>
            <a:picLocks noChangeAspect="1"/>
          </p:cNvPicPr>
          <p:nvPr/>
        </p:nvPicPr>
        <p:blipFill>
          <a:blip r:embed="rId3"/>
          <a:stretch>
            <a:fillRect/>
          </a:stretch>
        </p:blipFill>
        <p:spPr>
          <a:xfrm>
            <a:off x="10561320" y="-2834640"/>
            <a:ext cx="2743200" cy="2743200"/>
          </a:xfrm>
          <a:prstGeom prst="rect">
            <a:avLst/>
          </a:prstGeom>
        </p:spPr>
      </p:pic>
      <p:sp>
        <p:nvSpPr>
          <p:cNvPr id="4" name="!!beam"/>
          <p:cNvSpPr/>
          <p:nvPr/>
        </p:nvSpPr>
        <p:spPr>
          <a:xfrm flipH="1">
            <a:off x="9189720" y="-434340"/>
            <a:ext cx="1714500" cy="4914900"/>
          </a:xfrm>
          <a:prstGeom prst="line">
            <a:avLst/>
          </a:prstGeom>
          <a:noFill/>
          <a:ln w="76200">
            <a:solidFill>
              <a:srgbClr val="F5A623"/>
            </a:solidFill>
            <a:prstDash val="dash"/>
            <a:tailEnd type="triangle"/>
          </a:ln>
        </p:spPr>
      </p:sp>
      <p:pic>
        <p:nvPicPr>
          <p:cNvPr id="5" name="!!c_thistle" descr="نبات الشوك">    </p:cNvPr>
          <p:cNvPicPr>
            <a:picLocks noChangeAspect="1"/>
          </p:cNvPicPr>
          <p:nvPr/>
        </p:nvPicPr>
        <p:blipFill>
          <a:blip r:embed="rId4"/>
          <a:stretch>
            <a:fillRect/>
          </a:stretch>
        </p:blipFill>
        <p:spPr>
          <a:xfrm>
            <a:off x="6560820" y="4137660"/>
            <a:ext cx="3200400" cy="3200400"/>
          </a:xfrm>
          <a:prstGeom prst="rect">
            <a:avLst/>
          </a:prstGeom>
        </p:spPr>
      </p:pic>
      <p:sp>
        <p:nvSpPr>
          <p:cNvPr id="6" name="!!l_thistle"/>
          <p:cNvSpPr txBox="1"/>
          <p:nvPr/>
        </p:nvSpPr>
        <p:spPr>
          <a:xfrm>
            <a:off x="6560820" y="73952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نبات الشوك</a:t>
            </a:r>
            <a:endParaRPr lang="ar-SA" sz="1900" dirty="0"/>
          </a:p>
        </p:txBody>
      </p:sp>
      <p:sp>
        <p:nvSpPr>
          <p:cNvPr id="7" name="!!a_0"/>
          <p:cNvSpPr/>
          <p:nvPr/>
        </p:nvSpPr>
        <p:spPr>
          <a:xfrm flipH="1" flipV="1">
            <a:off x="5457083" y="4349352"/>
            <a:ext cx="1178775" cy="605317"/>
          </a:xfrm>
          <a:prstGeom prst="line">
            <a:avLst/>
          </a:prstGeom>
          <a:noFill/>
          <a:ln w="88900">
            <a:solidFill>
              <a:srgbClr val="E67E22"/>
            </a:solidFill>
            <a:prstDash val="solid"/>
            <a:tailEnd type="triangle"/>
          </a:ln>
        </p:spPr>
      </p:sp>
      <p:pic>
        <p:nvPicPr>
          <p:cNvPr id="8" name="!!c_caterpillar" descr="يرقة">    </p:cNvPr>
          <p:cNvPicPr>
            <a:picLocks noChangeAspect="1"/>
          </p:cNvPicPr>
          <p:nvPr/>
        </p:nvPicPr>
        <p:blipFill>
          <a:blip r:embed="rId5"/>
          <a:stretch>
            <a:fillRect/>
          </a:stretch>
        </p:blipFill>
        <p:spPr>
          <a:xfrm>
            <a:off x="2331720" y="1965960"/>
            <a:ext cx="3200400" cy="3200400"/>
          </a:xfrm>
          <a:prstGeom prst="rect">
            <a:avLst/>
          </a:prstGeom>
        </p:spPr>
      </p:pic>
      <p:sp>
        <p:nvSpPr>
          <p:cNvPr id="9" name="!!l_caterpillar"/>
          <p:cNvSpPr txBox="1"/>
          <p:nvPr/>
        </p:nvSpPr>
        <p:spPr>
          <a:xfrm>
            <a:off x="2331720" y="52235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اليرقة</a:t>
            </a:r>
            <a:endParaRPr lang="ar-SA" sz="1900" dirty="0"/>
          </a:p>
        </p:txBody>
      </p:sp>
      <p:pic>
        <p:nvPicPr>
          <p:cNvPr id="10" name="!!c_mantis" descr="سرعوف">    </p:cNvPr>
          <p:cNvPicPr>
            <a:picLocks noChangeAspect="1"/>
          </p:cNvPicPr>
          <p:nvPr/>
        </p:nvPicPr>
        <p:blipFill>
          <a:blip r:embed="rId6"/>
          <a:stretch>
            <a:fillRect/>
          </a:stretch>
        </p:blipFill>
        <p:spPr>
          <a:xfrm>
            <a:off x="-2011680" y="4023360"/>
            <a:ext cx="3200400" cy="3200400"/>
          </a:xfrm>
          <a:prstGeom prst="rect">
            <a:avLst/>
          </a:prstGeom>
        </p:spPr>
      </p:pic>
      <p:sp>
        <p:nvSpPr>
          <p:cNvPr id="11" name="!!l_mantis"/>
          <p:cNvSpPr txBox="1"/>
          <p:nvPr/>
        </p:nvSpPr>
        <p:spPr>
          <a:xfrm>
            <a:off x="-2011680" y="7280910"/>
            <a:ext cx="3200400" cy="708660"/>
          </a:xfrm>
          <a:prstGeom prst="roundRect">
            <a:avLst>
              <a:gd name="adj" fmla="val 12903"/>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السرعوف</a:t>
            </a:r>
            <a:endParaRPr lang="ar-SA" sz="1900" dirty="0"/>
          </a:p>
        </p:txBody>
      </p:sp>
      <p:pic>
        <p:nvPicPr>
          <p:cNvPr id="12" name="!!c_lizard" descr="سحلية">    </p:cNvPr>
          <p:cNvPicPr>
            <a:picLocks noChangeAspect="1"/>
          </p:cNvPicPr>
          <p:nvPr/>
        </p:nvPicPr>
        <p:blipFill>
          <a:blip r:embed="rId7"/>
          <a:stretch>
            <a:fillRect/>
          </a:stretch>
        </p:blipFill>
        <p:spPr>
          <a:xfrm>
            <a:off x="-6355080" y="1737360"/>
            <a:ext cx="3200400" cy="3200400"/>
          </a:xfrm>
          <a:prstGeom prst="rect">
            <a:avLst/>
          </a:prstGeom>
        </p:spPr>
      </p:pic>
      <p:sp>
        <p:nvSpPr>
          <p:cNvPr id="13" name="!!l_lizard"/>
          <p:cNvSpPr txBox="1"/>
          <p:nvPr/>
        </p:nvSpPr>
        <p:spPr>
          <a:xfrm>
            <a:off x="-6355080" y="4994910"/>
            <a:ext cx="3200400" cy="708660"/>
          </a:xfrm>
          <a:prstGeom prst="roundRect">
            <a:avLst>
              <a:gd name="adj" fmla="val 12903"/>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السحلية</a:t>
            </a:r>
            <a:endParaRPr lang="ar-SA" sz="1900" dirty="0"/>
          </a:p>
        </p:txBody>
      </p:sp>
      <p:pic>
        <p:nvPicPr>
          <p:cNvPr id="14" name="!!c_owl" descr="بومة">    </p:cNvPr>
          <p:cNvPicPr>
            <a:picLocks noChangeAspect="1"/>
          </p:cNvPicPr>
          <p:nvPr/>
        </p:nvPicPr>
        <p:blipFill>
          <a:blip r:embed="rId8"/>
          <a:stretch>
            <a:fillRect/>
          </a:stretch>
        </p:blipFill>
        <p:spPr>
          <a:xfrm>
            <a:off x="-10698480" y="-777240"/>
            <a:ext cx="3200400" cy="3200400"/>
          </a:xfrm>
          <a:prstGeom prst="rect">
            <a:avLst/>
          </a:prstGeom>
        </p:spPr>
      </p:pic>
      <p:sp>
        <p:nvSpPr>
          <p:cNvPr id="15" name="!!l_owl"/>
          <p:cNvSpPr txBox="1"/>
          <p:nvPr/>
        </p:nvSpPr>
        <p:spPr>
          <a:xfrm>
            <a:off x="-10698480" y="2480310"/>
            <a:ext cx="3200400" cy="708660"/>
          </a:xfrm>
          <a:prstGeom prst="roundRect">
            <a:avLst>
              <a:gd name="adj" fmla="val 12903"/>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البومة</a:t>
            </a:r>
            <a:endParaRPr lang="ar-SA" sz="1900" dirty="0"/>
          </a:p>
        </p:txBody>
      </p:sp>
      <p:pic>
        <p:nvPicPr>
          <p:cNvPr id="16" name="!!orb" descr="كرة الطاقة">    </p:cNvPr>
          <p:cNvPicPr>
            <a:picLocks noChangeAspect="1"/>
          </p:cNvPicPr>
          <p:nvPr/>
        </p:nvPicPr>
        <p:blipFill>
          <a:blip r:embed="rId9"/>
          <a:stretch>
            <a:fillRect/>
          </a:stretch>
        </p:blipFill>
        <p:spPr>
          <a:xfrm>
            <a:off x="4732020" y="1508760"/>
            <a:ext cx="1257300" cy="1257300"/>
          </a:xfrm>
          <a:prstGeom prst="rect">
            <a:avLst/>
          </a:prstGeom>
        </p:spPr>
      </p:pic>
      <p:sp>
        <p:nvSpPr>
          <p:cNvPr id="17" name="!!cap"/>
          <p:cNvSpPr txBox="1"/>
          <p:nvPr/>
        </p:nvSpPr>
        <p:spPr>
          <a:xfrm>
            <a:off x="7543800" y="1005840"/>
            <a:ext cx="425196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 اليرقة (مستهلِك – آكلة أعشاب)
</a:t>
            </a:r>
            <a:r>
              <a:rPr lang="ar-SA" altLang="en-US" sz="1600" dirty="0">
                <a:solidFill>
                  <a:srgbClr val="34405E"/>
                </a:solidFill>
                <a:latin typeface="Tahoma" pitchFamily="34" charset="0"/>
                <a:ea typeface="Tahoma" pitchFamily="34" charset="-122"/>
                <a:cs typeface="Tahoma" pitchFamily="34" charset="-120"/>
              </a:rPr>
              <a:t>تأكل نبات الشوك، فتنتقل إليها الطاقة.</a:t>
            </a:r>
            <a:endParaRPr lang="ar-SA" sz="1600" dirty="0"/>
          </a:p>
        </p:txBody>
      </p:sp>
      <p:sp>
        <p:nvSpPr>
          <p:cNvPr id="18" name="!!meter"/>
          <p:cNvSpPr txBox="1"/>
          <p:nvPr/>
        </p:nvSpPr>
        <p:spPr>
          <a:xfrm>
            <a:off x="7543800" y="2651760"/>
            <a:ext cx="4251960" cy="594360"/>
          </a:xfrm>
          <a:prstGeom prst="roundRect">
            <a:avLst>
              <a:gd name="adj" fmla="val 21538"/>
            </a:avLst>
          </a:prstGeom>
          <a:solidFill>
            <a:srgbClr val="FFF8E1"/>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الطاقة الواصلة: </a:t>
            </a:r>
            <a:r>
              <a:rPr lang="ar-SA" altLang="en-US" sz="2000" dirty="0">
                <a:solidFill>
                  <a:srgbClr val="34405E"/>
                </a:solidFill>
                <a:latin typeface="Tahoma" pitchFamily="34" charset="0"/>
                <a:ea typeface="Tahoma" pitchFamily="34" charset="-122"/>
                <a:cs typeface="Tahoma" pitchFamily="34" charset="-120"/>
              </a:rPr>
              <a:t>⚡⚡⚡⚡</a:t>
            </a:r>
            <a:endParaRPr lang="ar-SA" sz="1500" dirty="0"/>
          </a:p>
        </p:txBody>
      </p:sp>
      <p:sp>
        <p:nvSpPr>
          <p:cNvPr id="19" name="s13_1"/>
          <p:cNvSpPr txBox="1"/>
          <p:nvPr/>
        </p:nvSpPr>
        <p:spPr>
          <a:xfrm>
            <a:off x="7543800" y="3383280"/>
            <a:ext cx="425196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550" dirty="0">
                <a:solidFill>
                  <a:srgbClr val="34405E"/>
                </a:solidFill>
                <a:latin typeface="Tahoma" pitchFamily="34" charset="0"/>
                <a:ea typeface="Tahoma" pitchFamily="34" charset="-122"/>
                <a:cs typeface="Tahoma" pitchFamily="34" charset="-120"/>
              </a:rPr>
              <a:t>❓ </a:t>
            </a:r>
            <a:r>
              <a:rPr lang="ar-SA" altLang="en-US" sz="1550" b="1" dirty="0">
                <a:solidFill>
                  <a:srgbClr val="34405E"/>
                </a:solidFill>
                <a:latin typeface="Tahoma" pitchFamily="34" charset="0"/>
                <a:ea typeface="Tahoma" pitchFamily="34" charset="-122"/>
                <a:cs typeface="Tahoma" pitchFamily="34" charset="-120"/>
              </a:rPr>
              <a:t>ماذا يحدث لليرقة لو اختفى نبات الشوك؟</a:t>
            </a:r>
            <a:endParaRPr lang="ar-SA" sz="1550" dirty="0"/>
          </a:p>
        </p:txBody>
      </p:sp>
      <p:sp>
        <p:nvSpPr>
          <p:cNvPr id="20" name="s13_2@c1%chime"/>
          <p:cNvSpPr txBox="1"/>
          <p:nvPr/>
        </p:nvSpPr>
        <p:spPr>
          <a:xfrm>
            <a:off x="7543800" y="4343400"/>
            <a:ext cx="4251960" cy="777240"/>
          </a:xfrm>
          <a:prstGeom prst="roundRect">
            <a:avLst>
              <a:gd name="adj" fmla="val 16471"/>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لا تجد غذاءً، فلا تصل إليها الطاقة.</a:t>
            </a:r>
            <a:endParaRPr lang="ar-SA" sz="1500" dirty="0"/>
          </a:p>
        </p:txBody>
      </p:sp>
      <p:sp>
        <p:nvSpPr>
          <p:cNvPr id="21" name="!!sig"/>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2" name="!!st"/>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6" presetClass="emph" presetSubtype="0" fill="hold" grpId="0" nodeType="afterEffect" repeatCount="2000">
                                  <p:stCondLst>
                                    <p:cond delay="200"/>
                                  </p:stCondLst>
                                  <p:childTnLst>
                                    <p:animScale>
                                      <p:cBhvr>
                                        <p:cTn id="6" dur="500" autoRev="1" fill="hold"/>
                                        <p:tgtEl>
                                          <p:spTgt spid="8"/>
                                        </p:tgtEl>
                                      </p:cBhvr>
                                      <p:by x="118000" y="118000"/>
                                    </p:animScale>
                                  </p:childTnLst>
                                  <p:subTnLst>
                                    <p:audio>
                                      <p:cMediaNode vol="80000" showWhenStopped="0">
                                        <p:cTn id="7" display="0" masterRel="sameClick">
                                          <p:stCondLst>
                                            <p:cond evt="onBegin" delay="0">
                                              <p:tn val="5"/>
                                            </p:cond>
                                          </p:stCondLst>
                                        </p:cTn>
                                        <p:tgtEl>
                                          <p:sndTgt r:embed="rId12" name="pop.wav"/>
                                        </p:tgtEl>
                                      </p:cMediaNode>
                                    </p:audio>
                                  </p:subTnLst>
                                </p:cTn>
                              </p:par>
                              <p:par>
                                <p:cTn id="8" presetID="6" presetClass="emph" presetSubtype="0" fill="hold" grpId="0" nodeType="withEffect">
                                  <p:stCondLst>
                                    <p:cond delay="200"/>
                                  </p:stCondLst>
                                  <p:childTnLst>
                                    <p:animScale>
                                      <p:cBhvr>
                                        <p:cTn id="9" dur="500" autoRev="1" fill="hold"/>
                                        <p:tgtEl>
                                          <p:spTgt spid="16"/>
                                        </p:tgtEl>
                                      </p:cBhvr>
                                      <p:by x="118000" y="118000"/>
                                    </p:animScale>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500"/>
                                        <p:tgtEl>
                                          <p:spTgt spid="20"/>
                                        </p:tgtEl>
                                      </p:cBhvr>
                                    </p:animEffect>
                                  </p:childTnLst>
                                  <p:subTnLst>
                                    <p:audio>
                                      <p:cMediaNode vol="80000" showWhenStopped="0">
                                        <p:cTn id="15" display="0" masterRel="sameClick">
                                          <p:stCondLst>
                                            <p:cond evt="onBegin" delay="0">
                                              <p:tn val="12"/>
                                            </p:cond>
                                          </p:stCondLst>
                                        </p:cTn>
                                        <p:tgtEl>
                                          <p:sndTgt r:embed="rId13"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orld" descr="مشهد اليابسة">    </p:cNvPr>
          <p:cNvPicPr>
            <a:picLocks noChangeAspect="1"/>
          </p:cNvPicPr>
          <p:nvPr/>
        </p:nvPicPr>
        <p:blipFill>
          <a:blip r:embed="rId2"/>
          <a:stretch>
            <a:fillRect/>
          </a:stretch>
        </p:blipFill>
        <p:spPr>
          <a:xfrm>
            <a:off x="-8869680" y="-8321040"/>
            <a:ext cx="29718000" cy="16718661"/>
          </a:xfrm>
          <a:prstGeom prst="rect">
            <a:avLst/>
          </a:prstGeom>
        </p:spPr>
      </p:pic>
      <p:pic>
        <p:nvPicPr>
          <p:cNvPr id="3" name="!!sun" descr="الشمس">    </p:cNvPr>
          <p:cNvPicPr>
            <a:picLocks noChangeAspect="1"/>
          </p:cNvPicPr>
          <p:nvPr/>
        </p:nvPicPr>
        <p:blipFill>
          <a:blip r:embed="rId3"/>
          <a:stretch>
            <a:fillRect/>
          </a:stretch>
        </p:blipFill>
        <p:spPr>
          <a:xfrm>
            <a:off x="14904720" y="-4892040"/>
            <a:ext cx="2743200" cy="2743200"/>
          </a:xfrm>
          <a:prstGeom prst="rect">
            <a:avLst/>
          </a:prstGeom>
        </p:spPr>
      </p:pic>
      <p:sp>
        <p:nvSpPr>
          <p:cNvPr id="4" name="!!beam"/>
          <p:cNvSpPr/>
          <p:nvPr/>
        </p:nvSpPr>
        <p:spPr>
          <a:xfrm flipH="1">
            <a:off x="13533120" y="-2491740"/>
            <a:ext cx="1714500" cy="4914900"/>
          </a:xfrm>
          <a:prstGeom prst="line">
            <a:avLst/>
          </a:prstGeom>
          <a:noFill/>
          <a:ln w="76200">
            <a:solidFill>
              <a:srgbClr val="F5A623"/>
            </a:solidFill>
            <a:prstDash val="dash"/>
            <a:tailEnd type="triangle"/>
          </a:ln>
        </p:spPr>
      </p:sp>
      <p:pic>
        <p:nvPicPr>
          <p:cNvPr id="5" name="!!c_thistle" descr="نبات الشوك">    </p:cNvPr>
          <p:cNvPicPr>
            <a:picLocks noChangeAspect="1"/>
          </p:cNvPicPr>
          <p:nvPr/>
        </p:nvPicPr>
        <p:blipFill>
          <a:blip r:embed="rId4"/>
          <a:stretch>
            <a:fillRect/>
          </a:stretch>
        </p:blipFill>
        <p:spPr>
          <a:xfrm>
            <a:off x="10904220" y="2080260"/>
            <a:ext cx="3200400" cy="3200400"/>
          </a:xfrm>
          <a:prstGeom prst="rect">
            <a:avLst/>
          </a:prstGeom>
        </p:spPr>
      </p:pic>
      <p:sp>
        <p:nvSpPr>
          <p:cNvPr id="6" name="!!l_thistle"/>
          <p:cNvSpPr txBox="1"/>
          <p:nvPr/>
        </p:nvSpPr>
        <p:spPr>
          <a:xfrm>
            <a:off x="10904220" y="53378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نبات الشوك</a:t>
            </a:r>
            <a:endParaRPr lang="ar-SA" sz="1900" dirty="0"/>
          </a:p>
        </p:txBody>
      </p:sp>
      <p:sp>
        <p:nvSpPr>
          <p:cNvPr id="7" name="!!a_0"/>
          <p:cNvSpPr/>
          <p:nvPr/>
        </p:nvSpPr>
        <p:spPr>
          <a:xfrm flipH="1" flipV="1">
            <a:off x="9800483" y="2291952"/>
            <a:ext cx="1178775" cy="605317"/>
          </a:xfrm>
          <a:prstGeom prst="line">
            <a:avLst/>
          </a:prstGeom>
          <a:noFill/>
          <a:ln w="88900">
            <a:solidFill>
              <a:srgbClr val="E67E22"/>
            </a:solidFill>
            <a:prstDash val="solid"/>
            <a:tailEnd type="triangle"/>
          </a:ln>
        </p:spPr>
      </p:sp>
      <p:pic>
        <p:nvPicPr>
          <p:cNvPr id="8" name="!!c_caterpillar" descr="يرقة">    </p:cNvPr>
          <p:cNvPicPr>
            <a:picLocks noChangeAspect="1"/>
          </p:cNvPicPr>
          <p:nvPr/>
        </p:nvPicPr>
        <p:blipFill>
          <a:blip r:embed="rId5"/>
          <a:stretch>
            <a:fillRect/>
          </a:stretch>
        </p:blipFill>
        <p:spPr>
          <a:xfrm>
            <a:off x="6675120" y="-91440"/>
            <a:ext cx="3200400" cy="3200400"/>
          </a:xfrm>
          <a:prstGeom prst="rect">
            <a:avLst/>
          </a:prstGeom>
        </p:spPr>
      </p:pic>
      <p:sp>
        <p:nvSpPr>
          <p:cNvPr id="9" name="!!l_caterpillar"/>
          <p:cNvSpPr txBox="1"/>
          <p:nvPr/>
        </p:nvSpPr>
        <p:spPr>
          <a:xfrm>
            <a:off x="6675120" y="31661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اليرقة</a:t>
            </a:r>
            <a:endParaRPr lang="ar-SA" sz="1900" dirty="0"/>
          </a:p>
        </p:txBody>
      </p:sp>
      <p:sp>
        <p:nvSpPr>
          <p:cNvPr id="10" name="!!a_1"/>
          <p:cNvSpPr/>
          <p:nvPr/>
        </p:nvSpPr>
        <p:spPr>
          <a:xfrm flipH="1">
            <a:off x="5481379" y="2242714"/>
            <a:ext cx="1244483" cy="589492"/>
          </a:xfrm>
          <a:prstGeom prst="line">
            <a:avLst/>
          </a:prstGeom>
          <a:noFill/>
          <a:ln w="88900">
            <a:solidFill>
              <a:srgbClr val="E67E22"/>
            </a:solidFill>
            <a:prstDash val="solid"/>
            <a:tailEnd type="triangle"/>
          </a:ln>
        </p:spPr>
      </p:sp>
      <p:pic>
        <p:nvPicPr>
          <p:cNvPr id="11" name="!!c_mantis" descr="سرعوف">    </p:cNvPr>
          <p:cNvPicPr>
            <a:picLocks noChangeAspect="1"/>
          </p:cNvPicPr>
          <p:nvPr/>
        </p:nvPicPr>
        <p:blipFill>
          <a:blip r:embed="rId6"/>
          <a:stretch>
            <a:fillRect/>
          </a:stretch>
        </p:blipFill>
        <p:spPr>
          <a:xfrm>
            <a:off x="2331720" y="1965960"/>
            <a:ext cx="3200400" cy="3200400"/>
          </a:xfrm>
          <a:prstGeom prst="rect">
            <a:avLst/>
          </a:prstGeom>
        </p:spPr>
      </p:pic>
      <p:sp>
        <p:nvSpPr>
          <p:cNvPr id="12" name="!!l_mantis"/>
          <p:cNvSpPr txBox="1"/>
          <p:nvPr/>
        </p:nvSpPr>
        <p:spPr>
          <a:xfrm>
            <a:off x="2331720" y="52235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السرعوف</a:t>
            </a:r>
            <a:endParaRPr lang="ar-SA" sz="1900" dirty="0"/>
          </a:p>
        </p:txBody>
      </p:sp>
      <p:pic>
        <p:nvPicPr>
          <p:cNvPr id="13" name="!!c_lizard" descr="سحلية">    </p:cNvPr>
          <p:cNvPicPr>
            <a:picLocks noChangeAspect="1"/>
          </p:cNvPicPr>
          <p:nvPr/>
        </p:nvPicPr>
        <p:blipFill>
          <a:blip r:embed="rId7"/>
          <a:stretch>
            <a:fillRect/>
          </a:stretch>
        </p:blipFill>
        <p:spPr>
          <a:xfrm>
            <a:off x="-2011680" y="-320040"/>
            <a:ext cx="3200400" cy="3200400"/>
          </a:xfrm>
          <a:prstGeom prst="rect">
            <a:avLst/>
          </a:prstGeom>
        </p:spPr>
      </p:pic>
      <p:sp>
        <p:nvSpPr>
          <p:cNvPr id="14" name="!!l_lizard"/>
          <p:cNvSpPr txBox="1"/>
          <p:nvPr/>
        </p:nvSpPr>
        <p:spPr>
          <a:xfrm>
            <a:off x="-2011680" y="2937510"/>
            <a:ext cx="3200400" cy="708660"/>
          </a:xfrm>
          <a:prstGeom prst="roundRect">
            <a:avLst>
              <a:gd name="adj" fmla="val 12903"/>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السحلية</a:t>
            </a:r>
            <a:endParaRPr lang="ar-SA" sz="1900" dirty="0"/>
          </a:p>
        </p:txBody>
      </p:sp>
      <p:pic>
        <p:nvPicPr>
          <p:cNvPr id="15" name="!!c_owl" descr="بومة">    </p:cNvPr>
          <p:cNvPicPr>
            <a:picLocks noChangeAspect="1"/>
          </p:cNvPicPr>
          <p:nvPr/>
        </p:nvPicPr>
        <p:blipFill>
          <a:blip r:embed="rId8"/>
          <a:stretch>
            <a:fillRect/>
          </a:stretch>
        </p:blipFill>
        <p:spPr>
          <a:xfrm>
            <a:off x="-6355080" y="-2834640"/>
            <a:ext cx="3200400" cy="3200400"/>
          </a:xfrm>
          <a:prstGeom prst="rect">
            <a:avLst/>
          </a:prstGeom>
        </p:spPr>
      </p:pic>
      <p:sp>
        <p:nvSpPr>
          <p:cNvPr id="16" name="!!l_owl"/>
          <p:cNvSpPr txBox="1"/>
          <p:nvPr/>
        </p:nvSpPr>
        <p:spPr>
          <a:xfrm>
            <a:off x="-6355080" y="422910"/>
            <a:ext cx="3200400" cy="708660"/>
          </a:xfrm>
          <a:prstGeom prst="roundRect">
            <a:avLst>
              <a:gd name="adj" fmla="val 12903"/>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البومة</a:t>
            </a:r>
            <a:endParaRPr lang="ar-SA" sz="1900" dirty="0"/>
          </a:p>
        </p:txBody>
      </p:sp>
      <p:pic>
        <p:nvPicPr>
          <p:cNvPr id="17" name="!!orb" descr="كرة الطاقة">    </p:cNvPr>
          <p:cNvPicPr>
            <a:picLocks noChangeAspect="1"/>
          </p:cNvPicPr>
          <p:nvPr/>
        </p:nvPicPr>
        <p:blipFill>
          <a:blip r:embed="rId9"/>
          <a:stretch>
            <a:fillRect/>
          </a:stretch>
        </p:blipFill>
        <p:spPr>
          <a:xfrm>
            <a:off x="4892040" y="1668780"/>
            <a:ext cx="937260" cy="937260"/>
          </a:xfrm>
          <a:prstGeom prst="rect">
            <a:avLst/>
          </a:prstGeom>
        </p:spPr>
      </p:pic>
      <p:sp>
        <p:nvSpPr>
          <p:cNvPr id="18" name="!!cap"/>
          <p:cNvSpPr txBox="1"/>
          <p:nvPr/>
        </p:nvSpPr>
        <p:spPr>
          <a:xfrm>
            <a:off x="7543800" y="1005840"/>
            <a:ext cx="425196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 السرعوف «المنتس» (مستهلِك)
</a:t>
            </a:r>
            <a:r>
              <a:rPr lang="ar-SA" altLang="en-US" sz="1600" dirty="0">
                <a:solidFill>
                  <a:srgbClr val="34405E"/>
                </a:solidFill>
                <a:latin typeface="Tahoma" pitchFamily="34" charset="0"/>
                <a:ea typeface="Tahoma" pitchFamily="34" charset="-122"/>
                <a:cs typeface="Tahoma" pitchFamily="34" charset="-120"/>
              </a:rPr>
              <a:t>يصطاد اليرقة، فتنتقل الطاقة إليه.</a:t>
            </a:r>
            <a:endParaRPr lang="ar-SA" sz="1600" dirty="0"/>
          </a:p>
        </p:txBody>
      </p:sp>
      <p:sp>
        <p:nvSpPr>
          <p:cNvPr id="19" name="!!meter"/>
          <p:cNvSpPr txBox="1"/>
          <p:nvPr/>
        </p:nvSpPr>
        <p:spPr>
          <a:xfrm>
            <a:off x="7543800" y="2651760"/>
            <a:ext cx="4251960" cy="594360"/>
          </a:xfrm>
          <a:prstGeom prst="roundRect">
            <a:avLst>
              <a:gd name="adj" fmla="val 21538"/>
            </a:avLst>
          </a:prstGeom>
          <a:solidFill>
            <a:srgbClr val="FFF8E1"/>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الطاقة الواصلة: </a:t>
            </a:r>
            <a:r>
              <a:rPr lang="ar-SA" altLang="en-US" sz="2000" dirty="0">
                <a:solidFill>
                  <a:srgbClr val="34405E"/>
                </a:solidFill>
                <a:latin typeface="Tahoma" pitchFamily="34" charset="0"/>
                <a:ea typeface="Tahoma" pitchFamily="34" charset="-122"/>
                <a:cs typeface="Tahoma" pitchFamily="34" charset="-120"/>
              </a:rPr>
              <a:t>⚡⚡⚡</a:t>
            </a:r>
            <a:endParaRPr lang="ar-SA" sz="1500" dirty="0"/>
          </a:p>
        </p:txBody>
      </p:sp>
      <p:sp>
        <p:nvSpPr>
          <p:cNvPr id="20" name="s14_1"/>
          <p:cNvSpPr txBox="1"/>
          <p:nvPr/>
        </p:nvSpPr>
        <p:spPr>
          <a:xfrm>
            <a:off x="7543800" y="3383280"/>
            <a:ext cx="425196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550" dirty="0">
                <a:solidFill>
                  <a:srgbClr val="34405E"/>
                </a:solidFill>
                <a:latin typeface="Tahoma" pitchFamily="34" charset="0"/>
                <a:ea typeface="Tahoma" pitchFamily="34" charset="-122"/>
                <a:cs typeface="Tahoma" pitchFamily="34" charset="-120"/>
              </a:rPr>
              <a:t>❓ </a:t>
            </a:r>
            <a:r>
              <a:rPr lang="ar-SA" altLang="en-US" sz="1550" b="1" dirty="0">
                <a:solidFill>
                  <a:srgbClr val="34405E"/>
                </a:solidFill>
                <a:latin typeface="Tahoma" pitchFamily="34" charset="0"/>
                <a:ea typeface="Tahoma" pitchFamily="34" charset="-122"/>
                <a:cs typeface="Tahoma" pitchFamily="34" charset="-120"/>
              </a:rPr>
              <a:t>هل السرعوف مفترس أم فريسة؟</a:t>
            </a:r>
            <a:endParaRPr lang="ar-SA" sz="1550" dirty="0"/>
          </a:p>
        </p:txBody>
      </p:sp>
      <p:sp>
        <p:nvSpPr>
          <p:cNvPr id="21" name="s14_2@c1%chime"/>
          <p:cNvSpPr txBox="1"/>
          <p:nvPr/>
        </p:nvSpPr>
        <p:spPr>
          <a:xfrm>
            <a:off x="7543800" y="4343400"/>
            <a:ext cx="4251960" cy="777240"/>
          </a:xfrm>
          <a:prstGeom prst="roundRect">
            <a:avLst>
              <a:gd name="adj" fmla="val 16471"/>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مفترس لليرقة، وفريسة للسحلية.</a:t>
            </a:r>
            <a:endParaRPr lang="ar-SA" sz="1500" dirty="0"/>
          </a:p>
        </p:txBody>
      </p:sp>
      <p:sp>
        <p:nvSpPr>
          <p:cNvPr id="22" name="!!sig"/>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3" name="!!st"/>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6" presetClass="emph" presetSubtype="0" fill="hold" grpId="0" nodeType="afterEffect" repeatCount="2000">
                                  <p:stCondLst>
                                    <p:cond delay="200"/>
                                  </p:stCondLst>
                                  <p:childTnLst>
                                    <p:animScale>
                                      <p:cBhvr>
                                        <p:cTn id="6" dur="500" autoRev="1" fill="hold"/>
                                        <p:tgtEl>
                                          <p:spTgt spid="11"/>
                                        </p:tgtEl>
                                      </p:cBhvr>
                                      <p:by x="118000" y="118000"/>
                                    </p:animScale>
                                  </p:childTnLst>
                                  <p:subTnLst>
                                    <p:audio>
                                      <p:cMediaNode vol="80000" showWhenStopped="0">
                                        <p:cTn id="7" display="0" masterRel="sameClick">
                                          <p:stCondLst>
                                            <p:cond evt="onBegin" delay="0">
                                              <p:tn val="5"/>
                                            </p:cond>
                                          </p:stCondLst>
                                        </p:cTn>
                                        <p:tgtEl>
                                          <p:sndTgt r:embed="rId12" name="pop.wav"/>
                                        </p:tgtEl>
                                      </p:cMediaNode>
                                    </p:audio>
                                  </p:subTnLst>
                                </p:cTn>
                              </p:par>
                              <p:par>
                                <p:cTn id="8" presetID="6" presetClass="emph" presetSubtype="0" fill="hold" grpId="0" nodeType="withEffect">
                                  <p:stCondLst>
                                    <p:cond delay="200"/>
                                  </p:stCondLst>
                                  <p:childTnLst>
                                    <p:animScale>
                                      <p:cBhvr>
                                        <p:cTn id="9" dur="500" autoRev="1" fill="hold"/>
                                        <p:tgtEl>
                                          <p:spTgt spid="17"/>
                                        </p:tgtEl>
                                      </p:cBhvr>
                                      <p:by x="118000" y="118000"/>
                                    </p:animScale>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subTnLst>
                                    <p:audio>
                                      <p:cMediaNode vol="80000" showWhenStopped="0">
                                        <p:cTn id="15" display="0" masterRel="sameClick">
                                          <p:stCondLst>
                                            <p:cond evt="onBegin" delay="0">
                                              <p:tn val="12"/>
                                            </p:cond>
                                          </p:stCondLst>
                                        </p:cTn>
                                        <p:tgtEl>
                                          <p:sndTgt r:embed="rId13"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orld" descr="مشهد اليابسة">    </p:cNvPr>
          <p:cNvPicPr>
            <a:picLocks noChangeAspect="1"/>
          </p:cNvPicPr>
          <p:nvPr/>
        </p:nvPicPr>
        <p:blipFill>
          <a:blip r:embed="rId2"/>
          <a:stretch>
            <a:fillRect/>
          </a:stretch>
        </p:blipFill>
        <p:spPr>
          <a:xfrm>
            <a:off x="-4526280" y="-6035040"/>
            <a:ext cx="29718000" cy="16718661"/>
          </a:xfrm>
          <a:prstGeom prst="rect">
            <a:avLst/>
          </a:prstGeom>
        </p:spPr>
      </p:pic>
      <p:pic>
        <p:nvPicPr>
          <p:cNvPr id="3" name="!!sun" descr="الشمس">    </p:cNvPr>
          <p:cNvPicPr>
            <a:picLocks noChangeAspect="1"/>
          </p:cNvPicPr>
          <p:nvPr/>
        </p:nvPicPr>
        <p:blipFill>
          <a:blip r:embed="rId3"/>
          <a:stretch>
            <a:fillRect/>
          </a:stretch>
        </p:blipFill>
        <p:spPr>
          <a:xfrm>
            <a:off x="19248120" y="-2606040"/>
            <a:ext cx="2743200" cy="2743200"/>
          </a:xfrm>
          <a:prstGeom prst="rect">
            <a:avLst/>
          </a:prstGeom>
        </p:spPr>
      </p:pic>
      <p:sp>
        <p:nvSpPr>
          <p:cNvPr id="4" name="!!beam"/>
          <p:cNvSpPr/>
          <p:nvPr/>
        </p:nvSpPr>
        <p:spPr>
          <a:xfrm flipH="1">
            <a:off x="17876520" y="-205740"/>
            <a:ext cx="1714500" cy="4914900"/>
          </a:xfrm>
          <a:prstGeom prst="line">
            <a:avLst/>
          </a:prstGeom>
          <a:noFill/>
          <a:ln w="76200">
            <a:solidFill>
              <a:srgbClr val="F5A623"/>
            </a:solidFill>
            <a:prstDash val="dash"/>
            <a:tailEnd type="triangle"/>
          </a:ln>
        </p:spPr>
      </p:sp>
      <p:pic>
        <p:nvPicPr>
          <p:cNvPr id="5" name="!!c_thistle" descr="نبات الشوك">    </p:cNvPr>
          <p:cNvPicPr>
            <a:picLocks noChangeAspect="1"/>
          </p:cNvPicPr>
          <p:nvPr/>
        </p:nvPicPr>
        <p:blipFill>
          <a:blip r:embed="rId4"/>
          <a:stretch>
            <a:fillRect/>
          </a:stretch>
        </p:blipFill>
        <p:spPr>
          <a:xfrm>
            <a:off x="15247620" y="4366260"/>
            <a:ext cx="3200400" cy="3200400"/>
          </a:xfrm>
          <a:prstGeom prst="rect">
            <a:avLst/>
          </a:prstGeom>
        </p:spPr>
      </p:pic>
      <p:sp>
        <p:nvSpPr>
          <p:cNvPr id="6" name="!!l_thistle"/>
          <p:cNvSpPr txBox="1"/>
          <p:nvPr/>
        </p:nvSpPr>
        <p:spPr>
          <a:xfrm>
            <a:off x="15247620" y="76238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نبات الشوك</a:t>
            </a:r>
            <a:endParaRPr lang="ar-SA" sz="1900" dirty="0"/>
          </a:p>
        </p:txBody>
      </p:sp>
      <p:sp>
        <p:nvSpPr>
          <p:cNvPr id="7" name="!!a_0"/>
          <p:cNvSpPr/>
          <p:nvPr/>
        </p:nvSpPr>
        <p:spPr>
          <a:xfrm flipH="1" flipV="1">
            <a:off x="14143883" y="4577952"/>
            <a:ext cx="1178775" cy="605317"/>
          </a:xfrm>
          <a:prstGeom prst="line">
            <a:avLst/>
          </a:prstGeom>
          <a:noFill/>
          <a:ln w="88900">
            <a:solidFill>
              <a:srgbClr val="E67E22"/>
            </a:solidFill>
            <a:prstDash val="solid"/>
            <a:tailEnd type="triangle"/>
          </a:ln>
        </p:spPr>
      </p:sp>
      <p:pic>
        <p:nvPicPr>
          <p:cNvPr id="8" name="!!c_caterpillar" descr="يرقة">    </p:cNvPr>
          <p:cNvPicPr>
            <a:picLocks noChangeAspect="1"/>
          </p:cNvPicPr>
          <p:nvPr/>
        </p:nvPicPr>
        <p:blipFill>
          <a:blip r:embed="rId5"/>
          <a:stretch>
            <a:fillRect/>
          </a:stretch>
        </p:blipFill>
        <p:spPr>
          <a:xfrm>
            <a:off x="11018520" y="2194560"/>
            <a:ext cx="3200400" cy="3200400"/>
          </a:xfrm>
          <a:prstGeom prst="rect">
            <a:avLst/>
          </a:prstGeom>
        </p:spPr>
      </p:pic>
      <p:sp>
        <p:nvSpPr>
          <p:cNvPr id="9" name="!!l_caterpillar"/>
          <p:cNvSpPr txBox="1"/>
          <p:nvPr/>
        </p:nvSpPr>
        <p:spPr>
          <a:xfrm>
            <a:off x="11018520" y="54521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اليرقة</a:t>
            </a:r>
            <a:endParaRPr lang="ar-SA" sz="1900" dirty="0"/>
          </a:p>
        </p:txBody>
      </p:sp>
      <p:sp>
        <p:nvSpPr>
          <p:cNvPr id="10" name="!!a_1"/>
          <p:cNvSpPr/>
          <p:nvPr/>
        </p:nvSpPr>
        <p:spPr>
          <a:xfrm flipH="1">
            <a:off x="9824779" y="4528714"/>
            <a:ext cx="1244483" cy="589492"/>
          </a:xfrm>
          <a:prstGeom prst="line">
            <a:avLst/>
          </a:prstGeom>
          <a:noFill/>
          <a:ln w="88900">
            <a:solidFill>
              <a:srgbClr val="E67E22"/>
            </a:solidFill>
            <a:prstDash val="solid"/>
            <a:tailEnd type="triangle"/>
          </a:ln>
        </p:spPr>
      </p:sp>
      <p:pic>
        <p:nvPicPr>
          <p:cNvPr id="11" name="!!c_mantis" descr="سرعوف">    </p:cNvPr>
          <p:cNvPicPr>
            <a:picLocks noChangeAspect="1"/>
          </p:cNvPicPr>
          <p:nvPr/>
        </p:nvPicPr>
        <p:blipFill>
          <a:blip r:embed="rId6"/>
          <a:stretch>
            <a:fillRect/>
          </a:stretch>
        </p:blipFill>
        <p:spPr>
          <a:xfrm>
            <a:off x="6675120" y="4251960"/>
            <a:ext cx="3200400" cy="3200400"/>
          </a:xfrm>
          <a:prstGeom prst="rect">
            <a:avLst/>
          </a:prstGeom>
        </p:spPr>
      </p:pic>
      <p:sp>
        <p:nvSpPr>
          <p:cNvPr id="12" name="!!l_mantis"/>
          <p:cNvSpPr txBox="1"/>
          <p:nvPr/>
        </p:nvSpPr>
        <p:spPr>
          <a:xfrm>
            <a:off x="6675120" y="75095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السرعوف</a:t>
            </a:r>
            <a:endParaRPr lang="ar-SA" sz="1900" dirty="0"/>
          </a:p>
        </p:txBody>
      </p:sp>
      <p:sp>
        <p:nvSpPr>
          <p:cNvPr id="13" name="!!a_2"/>
          <p:cNvSpPr/>
          <p:nvPr/>
        </p:nvSpPr>
        <p:spPr>
          <a:xfrm flipH="1" flipV="1">
            <a:off x="5449112" y="4364682"/>
            <a:ext cx="1309015" cy="688955"/>
          </a:xfrm>
          <a:prstGeom prst="line">
            <a:avLst/>
          </a:prstGeom>
          <a:noFill/>
          <a:ln w="88900">
            <a:solidFill>
              <a:srgbClr val="E67E22"/>
            </a:solidFill>
            <a:prstDash val="solid"/>
            <a:tailEnd type="triangle"/>
          </a:ln>
        </p:spPr>
      </p:sp>
      <p:pic>
        <p:nvPicPr>
          <p:cNvPr id="14" name="!!c_lizard" descr="سحلية">    </p:cNvPr>
          <p:cNvPicPr>
            <a:picLocks noChangeAspect="1"/>
          </p:cNvPicPr>
          <p:nvPr/>
        </p:nvPicPr>
        <p:blipFill>
          <a:blip r:embed="rId7"/>
          <a:stretch>
            <a:fillRect/>
          </a:stretch>
        </p:blipFill>
        <p:spPr>
          <a:xfrm>
            <a:off x="2331720" y="1965960"/>
            <a:ext cx="3200400" cy="3200400"/>
          </a:xfrm>
          <a:prstGeom prst="rect">
            <a:avLst/>
          </a:prstGeom>
        </p:spPr>
      </p:pic>
      <p:sp>
        <p:nvSpPr>
          <p:cNvPr id="15" name="!!l_lizard"/>
          <p:cNvSpPr txBox="1"/>
          <p:nvPr/>
        </p:nvSpPr>
        <p:spPr>
          <a:xfrm>
            <a:off x="2331720" y="52235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السحلية</a:t>
            </a:r>
            <a:endParaRPr lang="ar-SA" sz="1900" dirty="0"/>
          </a:p>
        </p:txBody>
      </p:sp>
      <p:pic>
        <p:nvPicPr>
          <p:cNvPr id="16" name="!!c_owl" descr="بومة">    </p:cNvPr>
          <p:cNvPicPr>
            <a:picLocks noChangeAspect="1"/>
          </p:cNvPicPr>
          <p:nvPr/>
        </p:nvPicPr>
        <p:blipFill>
          <a:blip r:embed="rId8"/>
          <a:stretch>
            <a:fillRect/>
          </a:stretch>
        </p:blipFill>
        <p:spPr>
          <a:xfrm>
            <a:off x="-2011680" y="-548640"/>
            <a:ext cx="3200400" cy="3200400"/>
          </a:xfrm>
          <a:prstGeom prst="rect">
            <a:avLst/>
          </a:prstGeom>
        </p:spPr>
      </p:pic>
      <p:sp>
        <p:nvSpPr>
          <p:cNvPr id="17" name="!!l_owl"/>
          <p:cNvSpPr txBox="1"/>
          <p:nvPr/>
        </p:nvSpPr>
        <p:spPr>
          <a:xfrm>
            <a:off x="-2011680" y="2708910"/>
            <a:ext cx="3200400" cy="708660"/>
          </a:xfrm>
          <a:prstGeom prst="roundRect">
            <a:avLst>
              <a:gd name="adj" fmla="val 12903"/>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البومة</a:t>
            </a:r>
            <a:endParaRPr lang="ar-SA" sz="1900" dirty="0"/>
          </a:p>
        </p:txBody>
      </p:sp>
      <p:pic>
        <p:nvPicPr>
          <p:cNvPr id="18" name="!!orb" descr="كرة الطاقة">    </p:cNvPr>
          <p:cNvPicPr>
            <a:picLocks noChangeAspect="1"/>
          </p:cNvPicPr>
          <p:nvPr/>
        </p:nvPicPr>
        <p:blipFill>
          <a:blip r:embed="rId9"/>
          <a:stretch>
            <a:fillRect/>
          </a:stretch>
        </p:blipFill>
        <p:spPr>
          <a:xfrm>
            <a:off x="5017770" y="1794510"/>
            <a:ext cx="685800" cy="685800"/>
          </a:xfrm>
          <a:prstGeom prst="rect">
            <a:avLst/>
          </a:prstGeom>
        </p:spPr>
      </p:pic>
      <p:sp>
        <p:nvSpPr>
          <p:cNvPr id="19" name="!!cap"/>
          <p:cNvSpPr txBox="1"/>
          <p:nvPr/>
        </p:nvSpPr>
        <p:spPr>
          <a:xfrm>
            <a:off x="7543800" y="1005840"/>
            <a:ext cx="425196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 السحلية (مستهلِك)
</a:t>
            </a:r>
            <a:r>
              <a:rPr lang="ar-SA" altLang="en-US" sz="1600" dirty="0">
                <a:solidFill>
                  <a:srgbClr val="34405E"/>
                </a:solidFill>
                <a:latin typeface="Tahoma" pitchFamily="34" charset="0"/>
                <a:ea typeface="Tahoma" pitchFamily="34" charset="-122"/>
                <a:cs typeface="Tahoma" pitchFamily="34" charset="-120"/>
              </a:rPr>
              <a:t>تأكل السرعوف، فتنتقل الطاقة إليها.</a:t>
            </a:r>
            <a:endParaRPr lang="ar-SA" sz="1600" dirty="0"/>
          </a:p>
        </p:txBody>
      </p:sp>
      <p:sp>
        <p:nvSpPr>
          <p:cNvPr id="20" name="!!meter"/>
          <p:cNvSpPr txBox="1"/>
          <p:nvPr/>
        </p:nvSpPr>
        <p:spPr>
          <a:xfrm>
            <a:off x="7543800" y="2651760"/>
            <a:ext cx="4251960" cy="594360"/>
          </a:xfrm>
          <a:prstGeom prst="roundRect">
            <a:avLst>
              <a:gd name="adj" fmla="val 21538"/>
            </a:avLst>
          </a:prstGeom>
          <a:solidFill>
            <a:srgbClr val="FFF8E1"/>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الطاقة الواصلة: </a:t>
            </a:r>
            <a:r>
              <a:rPr lang="ar-SA" altLang="en-US" sz="2000" dirty="0">
                <a:solidFill>
                  <a:srgbClr val="34405E"/>
                </a:solidFill>
                <a:latin typeface="Tahoma" pitchFamily="34" charset="0"/>
                <a:ea typeface="Tahoma" pitchFamily="34" charset="-122"/>
                <a:cs typeface="Tahoma" pitchFamily="34" charset="-120"/>
              </a:rPr>
              <a:t>⚡⚡</a:t>
            </a:r>
            <a:endParaRPr lang="ar-SA" sz="1500" dirty="0"/>
          </a:p>
        </p:txBody>
      </p:sp>
      <p:sp>
        <p:nvSpPr>
          <p:cNvPr id="21" name="s15_1"/>
          <p:cNvSpPr txBox="1"/>
          <p:nvPr/>
        </p:nvSpPr>
        <p:spPr>
          <a:xfrm>
            <a:off x="7543800" y="3383280"/>
            <a:ext cx="425196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550" dirty="0">
                <a:solidFill>
                  <a:srgbClr val="34405E"/>
                </a:solidFill>
                <a:latin typeface="Tahoma" pitchFamily="34" charset="0"/>
                <a:ea typeface="Tahoma" pitchFamily="34" charset="-122"/>
                <a:cs typeface="Tahoma" pitchFamily="34" charset="-120"/>
              </a:rPr>
              <a:t>❓ </a:t>
            </a:r>
            <a:r>
              <a:rPr lang="ar-SA" altLang="en-US" sz="1550" b="1" dirty="0">
                <a:solidFill>
                  <a:srgbClr val="34405E"/>
                </a:solidFill>
                <a:latin typeface="Tahoma" pitchFamily="34" charset="0"/>
                <a:ea typeface="Tahoma" pitchFamily="34" charset="-122"/>
                <a:cs typeface="Tahoma" pitchFamily="34" charset="-120"/>
              </a:rPr>
              <a:t>لاحظي كرة الطاقة… ماذا حدث لحجمها؟ ولماذا؟</a:t>
            </a:r>
            <a:endParaRPr lang="ar-SA" sz="1550" dirty="0"/>
          </a:p>
        </p:txBody>
      </p:sp>
      <p:sp>
        <p:nvSpPr>
          <p:cNvPr id="22" name="s15_2@c1%chime"/>
          <p:cNvSpPr txBox="1"/>
          <p:nvPr/>
        </p:nvSpPr>
        <p:spPr>
          <a:xfrm>
            <a:off x="7543800" y="4343400"/>
            <a:ext cx="4251960" cy="777240"/>
          </a:xfrm>
          <a:prstGeom prst="roundRect">
            <a:avLst>
              <a:gd name="adj" fmla="val 16471"/>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صغُرت؛ لأن كل مخلوق يستخدم معظم الطاقة التي يحصل عليها.</a:t>
            </a:r>
            <a:endParaRPr lang="ar-SA" sz="1500" dirty="0"/>
          </a:p>
        </p:txBody>
      </p:sp>
      <p:sp>
        <p:nvSpPr>
          <p:cNvPr id="23" name="!!sig"/>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4" name="!!st"/>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6" presetClass="emph" presetSubtype="0" fill="hold" grpId="0" nodeType="afterEffect" repeatCount="2000">
                                  <p:stCondLst>
                                    <p:cond delay="200"/>
                                  </p:stCondLst>
                                  <p:childTnLst>
                                    <p:animScale>
                                      <p:cBhvr>
                                        <p:cTn id="6" dur="500" autoRev="1" fill="hold"/>
                                        <p:tgtEl>
                                          <p:spTgt spid="14"/>
                                        </p:tgtEl>
                                      </p:cBhvr>
                                      <p:by x="118000" y="118000"/>
                                    </p:animScale>
                                  </p:childTnLst>
                                  <p:subTnLst>
                                    <p:audio>
                                      <p:cMediaNode vol="80000" showWhenStopped="0">
                                        <p:cTn id="7" display="0" masterRel="sameClick">
                                          <p:stCondLst>
                                            <p:cond evt="onBegin" delay="0">
                                              <p:tn val="5"/>
                                            </p:cond>
                                          </p:stCondLst>
                                        </p:cTn>
                                        <p:tgtEl>
                                          <p:sndTgt r:embed="rId12" name="pop.wav"/>
                                        </p:tgtEl>
                                      </p:cMediaNode>
                                    </p:audio>
                                  </p:subTnLst>
                                </p:cTn>
                              </p:par>
                              <p:par>
                                <p:cTn id="8" presetID="6" presetClass="emph" presetSubtype="0" fill="hold" grpId="0" nodeType="withEffect">
                                  <p:stCondLst>
                                    <p:cond delay="200"/>
                                  </p:stCondLst>
                                  <p:childTnLst>
                                    <p:animScale>
                                      <p:cBhvr>
                                        <p:cTn id="9" dur="500" autoRev="1" fill="hold"/>
                                        <p:tgtEl>
                                          <p:spTgt spid="18"/>
                                        </p:tgtEl>
                                      </p:cBhvr>
                                      <p:by x="118000" y="118000"/>
                                    </p:animScale>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subTnLst>
                                    <p:audio>
                                      <p:cMediaNode vol="80000" showWhenStopped="0">
                                        <p:cTn id="15" display="0" masterRel="sameClick">
                                          <p:stCondLst>
                                            <p:cond evt="onBegin" delay="0">
                                              <p:tn val="12"/>
                                            </p:cond>
                                          </p:stCondLst>
                                        </p:cTn>
                                        <p:tgtEl>
                                          <p:sndTgt r:embed="rId13"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orld" descr="مشهد اليابسة">    </p:cNvPr>
          <p:cNvPicPr>
            <a:picLocks noChangeAspect="1"/>
          </p:cNvPicPr>
          <p:nvPr/>
        </p:nvPicPr>
        <p:blipFill>
          <a:blip r:embed="rId2"/>
          <a:stretch>
            <a:fillRect/>
          </a:stretch>
        </p:blipFill>
        <p:spPr>
          <a:xfrm>
            <a:off x="-182880" y="-3520440"/>
            <a:ext cx="29718000" cy="16718661"/>
          </a:xfrm>
          <a:prstGeom prst="rect">
            <a:avLst/>
          </a:prstGeom>
        </p:spPr>
      </p:pic>
      <p:pic>
        <p:nvPicPr>
          <p:cNvPr id="3" name="!!sun" descr="الشمس">    </p:cNvPr>
          <p:cNvPicPr>
            <a:picLocks noChangeAspect="1"/>
          </p:cNvPicPr>
          <p:nvPr/>
        </p:nvPicPr>
        <p:blipFill>
          <a:blip r:embed="rId3"/>
          <a:stretch>
            <a:fillRect/>
          </a:stretch>
        </p:blipFill>
        <p:spPr>
          <a:xfrm>
            <a:off x="23591520" y="-91440"/>
            <a:ext cx="2743200" cy="2743200"/>
          </a:xfrm>
          <a:prstGeom prst="rect">
            <a:avLst/>
          </a:prstGeom>
        </p:spPr>
      </p:pic>
      <p:sp>
        <p:nvSpPr>
          <p:cNvPr id="4" name="!!beam"/>
          <p:cNvSpPr/>
          <p:nvPr/>
        </p:nvSpPr>
        <p:spPr>
          <a:xfrm flipH="1">
            <a:off x="22219920" y="2308860"/>
            <a:ext cx="1714500" cy="4914900"/>
          </a:xfrm>
          <a:prstGeom prst="line">
            <a:avLst/>
          </a:prstGeom>
          <a:noFill/>
          <a:ln w="76200">
            <a:solidFill>
              <a:srgbClr val="F5A623"/>
            </a:solidFill>
            <a:prstDash val="dash"/>
            <a:tailEnd type="triangle"/>
          </a:ln>
        </p:spPr>
      </p:sp>
      <p:pic>
        <p:nvPicPr>
          <p:cNvPr id="5" name="!!c_thistle" descr="نبات الشوك">    </p:cNvPr>
          <p:cNvPicPr>
            <a:picLocks noChangeAspect="1"/>
          </p:cNvPicPr>
          <p:nvPr/>
        </p:nvPicPr>
        <p:blipFill>
          <a:blip r:embed="rId4"/>
          <a:stretch>
            <a:fillRect/>
          </a:stretch>
        </p:blipFill>
        <p:spPr>
          <a:xfrm>
            <a:off x="19591020" y="6880860"/>
            <a:ext cx="3200400" cy="3200400"/>
          </a:xfrm>
          <a:prstGeom prst="rect">
            <a:avLst/>
          </a:prstGeom>
        </p:spPr>
      </p:pic>
      <p:sp>
        <p:nvSpPr>
          <p:cNvPr id="6" name="!!l_thistle"/>
          <p:cNvSpPr txBox="1"/>
          <p:nvPr/>
        </p:nvSpPr>
        <p:spPr>
          <a:xfrm>
            <a:off x="19591020" y="101384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نبات الشوك</a:t>
            </a:r>
            <a:endParaRPr lang="ar-SA" sz="1900" dirty="0"/>
          </a:p>
        </p:txBody>
      </p:sp>
      <p:sp>
        <p:nvSpPr>
          <p:cNvPr id="7" name="!!a_0"/>
          <p:cNvSpPr/>
          <p:nvPr/>
        </p:nvSpPr>
        <p:spPr>
          <a:xfrm flipH="1" flipV="1">
            <a:off x="18487283" y="7092552"/>
            <a:ext cx="1178775" cy="605317"/>
          </a:xfrm>
          <a:prstGeom prst="line">
            <a:avLst/>
          </a:prstGeom>
          <a:noFill/>
          <a:ln w="88900">
            <a:solidFill>
              <a:srgbClr val="E67E22"/>
            </a:solidFill>
            <a:prstDash val="solid"/>
            <a:tailEnd type="triangle"/>
          </a:ln>
        </p:spPr>
      </p:sp>
      <p:pic>
        <p:nvPicPr>
          <p:cNvPr id="8" name="!!c_caterpillar" descr="يرقة">    </p:cNvPr>
          <p:cNvPicPr>
            <a:picLocks noChangeAspect="1"/>
          </p:cNvPicPr>
          <p:nvPr/>
        </p:nvPicPr>
        <p:blipFill>
          <a:blip r:embed="rId5"/>
          <a:stretch>
            <a:fillRect/>
          </a:stretch>
        </p:blipFill>
        <p:spPr>
          <a:xfrm>
            <a:off x="15361920" y="4709160"/>
            <a:ext cx="3200400" cy="3200400"/>
          </a:xfrm>
          <a:prstGeom prst="rect">
            <a:avLst/>
          </a:prstGeom>
        </p:spPr>
      </p:pic>
      <p:sp>
        <p:nvSpPr>
          <p:cNvPr id="9" name="!!l_caterpillar"/>
          <p:cNvSpPr txBox="1"/>
          <p:nvPr/>
        </p:nvSpPr>
        <p:spPr>
          <a:xfrm>
            <a:off x="15361920" y="79667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اليرقة</a:t>
            </a:r>
            <a:endParaRPr lang="ar-SA" sz="1900" dirty="0"/>
          </a:p>
        </p:txBody>
      </p:sp>
      <p:sp>
        <p:nvSpPr>
          <p:cNvPr id="10" name="!!a_1"/>
          <p:cNvSpPr/>
          <p:nvPr/>
        </p:nvSpPr>
        <p:spPr>
          <a:xfrm flipH="1">
            <a:off x="14168179" y="7043314"/>
            <a:ext cx="1244483" cy="589492"/>
          </a:xfrm>
          <a:prstGeom prst="line">
            <a:avLst/>
          </a:prstGeom>
          <a:noFill/>
          <a:ln w="88900">
            <a:solidFill>
              <a:srgbClr val="E67E22"/>
            </a:solidFill>
            <a:prstDash val="solid"/>
            <a:tailEnd type="triangle"/>
          </a:ln>
        </p:spPr>
      </p:sp>
      <p:pic>
        <p:nvPicPr>
          <p:cNvPr id="11" name="!!c_mantis" descr="سرعوف">    </p:cNvPr>
          <p:cNvPicPr>
            <a:picLocks noChangeAspect="1"/>
          </p:cNvPicPr>
          <p:nvPr/>
        </p:nvPicPr>
        <p:blipFill>
          <a:blip r:embed="rId6"/>
          <a:stretch>
            <a:fillRect/>
          </a:stretch>
        </p:blipFill>
        <p:spPr>
          <a:xfrm>
            <a:off x="11018520" y="6766560"/>
            <a:ext cx="3200400" cy="3200400"/>
          </a:xfrm>
          <a:prstGeom prst="rect">
            <a:avLst/>
          </a:prstGeom>
        </p:spPr>
      </p:pic>
      <p:sp>
        <p:nvSpPr>
          <p:cNvPr id="12" name="!!l_mantis"/>
          <p:cNvSpPr txBox="1"/>
          <p:nvPr/>
        </p:nvSpPr>
        <p:spPr>
          <a:xfrm>
            <a:off x="11018520" y="100241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السرعوف</a:t>
            </a:r>
            <a:endParaRPr lang="ar-SA" sz="1900" dirty="0"/>
          </a:p>
        </p:txBody>
      </p:sp>
      <p:sp>
        <p:nvSpPr>
          <p:cNvPr id="13" name="!!a_2"/>
          <p:cNvSpPr/>
          <p:nvPr/>
        </p:nvSpPr>
        <p:spPr>
          <a:xfrm flipH="1" flipV="1">
            <a:off x="9792512" y="6879282"/>
            <a:ext cx="1309015" cy="688955"/>
          </a:xfrm>
          <a:prstGeom prst="line">
            <a:avLst/>
          </a:prstGeom>
          <a:noFill/>
          <a:ln w="88900">
            <a:solidFill>
              <a:srgbClr val="E67E22"/>
            </a:solidFill>
            <a:prstDash val="solid"/>
            <a:tailEnd type="triangle"/>
          </a:ln>
        </p:spPr>
      </p:sp>
      <p:pic>
        <p:nvPicPr>
          <p:cNvPr id="14" name="!!c_lizard" descr="سحلية">    </p:cNvPr>
          <p:cNvPicPr>
            <a:picLocks noChangeAspect="1"/>
          </p:cNvPicPr>
          <p:nvPr/>
        </p:nvPicPr>
        <p:blipFill>
          <a:blip r:embed="rId7"/>
          <a:stretch>
            <a:fillRect/>
          </a:stretch>
        </p:blipFill>
        <p:spPr>
          <a:xfrm>
            <a:off x="6675120" y="4480560"/>
            <a:ext cx="3200400" cy="3200400"/>
          </a:xfrm>
          <a:prstGeom prst="rect">
            <a:avLst/>
          </a:prstGeom>
        </p:spPr>
      </p:pic>
      <p:sp>
        <p:nvSpPr>
          <p:cNvPr id="15" name="!!l_lizard"/>
          <p:cNvSpPr txBox="1"/>
          <p:nvPr/>
        </p:nvSpPr>
        <p:spPr>
          <a:xfrm>
            <a:off x="6675120" y="77381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السحلية</a:t>
            </a:r>
            <a:endParaRPr lang="ar-SA" sz="1900" dirty="0"/>
          </a:p>
        </p:txBody>
      </p:sp>
      <p:sp>
        <p:nvSpPr>
          <p:cNvPr id="16" name="!!a_3"/>
          <p:cNvSpPr/>
          <p:nvPr/>
        </p:nvSpPr>
        <p:spPr>
          <a:xfrm flipH="1" flipV="1">
            <a:off x="5415693" y="4425187"/>
            <a:ext cx="1375853" cy="796547"/>
          </a:xfrm>
          <a:prstGeom prst="line">
            <a:avLst/>
          </a:prstGeom>
          <a:noFill/>
          <a:ln w="88900">
            <a:solidFill>
              <a:srgbClr val="E67E22"/>
            </a:solidFill>
            <a:prstDash val="solid"/>
            <a:tailEnd type="triangle"/>
          </a:ln>
        </p:spPr>
      </p:sp>
      <p:pic>
        <p:nvPicPr>
          <p:cNvPr id="17" name="!!c_owl" descr="بومة">    </p:cNvPr>
          <p:cNvPicPr>
            <a:picLocks noChangeAspect="1"/>
          </p:cNvPicPr>
          <p:nvPr/>
        </p:nvPicPr>
        <p:blipFill>
          <a:blip r:embed="rId8"/>
          <a:stretch>
            <a:fillRect/>
          </a:stretch>
        </p:blipFill>
        <p:spPr>
          <a:xfrm>
            <a:off x="2331720" y="1965960"/>
            <a:ext cx="3200400" cy="3200400"/>
          </a:xfrm>
          <a:prstGeom prst="rect">
            <a:avLst/>
          </a:prstGeom>
        </p:spPr>
      </p:pic>
      <p:sp>
        <p:nvSpPr>
          <p:cNvPr id="18" name="!!l_owl"/>
          <p:cNvSpPr txBox="1"/>
          <p:nvPr/>
        </p:nvSpPr>
        <p:spPr>
          <a:xfrm>
            <a:off x="2331720" y="5223510"/>
            <a:ext cx="3200400" cy="708660"/>
          </a:xfrm>
          <a:prstGeom prst="roundRect">
            <a:avLst>
              <a:gd name="adj" fmla="val 12903"/>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900" b="1" dirty="0">
                <a:solidFill>
                  <a:srgbClr val="34405E"/>
                </a:solidFill>
                <a:latin typeface="Tahoma" pitchFamily="34" charset="0"/>
                <a:ea typeface="Tahoma" pitchFamily="34" charset="-122"/>
                <a:cs typeface="Tahoma" pitchFamily="34" charset="-120"/>
              </a:rPr>
              <a:t>البومة</a:t>
            </a:r>
            <a:endParaRPr lang="ar-SA" sz="1900" dirty="0"/>
          </a:p>
        </p:txBody>
      </p:sp>
      <p:pic>
        <p:nvPicPr>
          <p:cNvPr id="19" name="!!orb" descr="كرة الطاقة">    </p:cNvPr>
          <p:cNvPicPr>
            <a:picLocks noChangeAspect="1"/>
          </p:cNvPicPr>
          <p:nvPr/>
        </p:nvPicPr>
        <p:blipFill>
          <a:blip r:embed="rId9"/>
          <a:stretch>
            <a:fillRect/>
          </a:stretch>
        </p:blipFill>
        <p:spPr>
          <a:xfrm>
            <a:off x="5109210" y="1885950"/>
            <a:ext cx="502920" cy="502920"/>
          </a:xfrm>
          <a:prstGeom prst="rect">
            <a:avLst/>
          </a:prstGeom>
        </p:spPr>
      </p:pic>
      <p:sp>
        <p:nvSpPr>
          <p:cNvPr id="20" name="!!cap"/>
          <p:cNvSpPr txBox="1"/>
          <p:nvPr/>
        </p:nvSpPr>
        <p:spPr>
          <a:xfrm>
            <a:off x="7543800" y="1005840"/>
            <a:ext cx="425196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 البومة (آخر حلقة)
</a:t>
            </a:r>
            <a:r>
              <a:rPr lang="ar-SA" altLang="en-US" sz="1600" dirty="0">
                <a:solidFill>
                  <a:srgbClr val="34405E"/>
                </a:solidFill>
                <a:latin typeface="Tahoma" pitchFamily="34" charset="0"/>
                <a:ea typeface="Tahoma" pitchFamily="34" charset="-122"/>
                <a:cs typeface="Tahoma" pitchFamily="34" charset="-120"/>
              </a:rPr>
              <a:t>تصطاد السحلية، فيصل إليها أقلّ قدر من الطاقة.</a:t>
            </a:r>
            <a:endParaRPr lang="ar-SA" sz="1600" dirty="0"/>
          </a:p>
        </p:txBody>
      </p:sp>
      <p:sp>
        <p:nvSpPr>
          <p:cNvPr id="21" name="!!meter"/>
          <p:cNvSpPr txBox="1"/>
          <p:nvPr/>
        </p:nvSpPr>
        <p:spPr>
          <a:xfrm>
            <a:off x="7543800" y="2651760"/>
            <a:ext cx="4251960" cy="594360"/>
          </a:xfrm>
          <a:prstGeom prst="roundRect">
            <a:avLst>
              <a:gd name="adj" fmla="val 21538"/>
            </a:avLst>
          </a:prstGeom>
          <a:solidFill>
            <a:srgbClr val="FFF8E1"/>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الطاقة الواصلة: </a:t>
            </a:r>
            <a:r>
              <a:rPr lang="ar-SA" altLang="en-US" sz="2000" dirty="0">
                <a:solidFill>
                  <a:srgbClr val="34405E"/>
                </a:solidFill>
                <a:latin typeface="Tahoma" pitchFamily="34" charset="0"/>
                <a:ea typeface="Tahoma" pitchFamily="34" charset="-122"/>
                <a:cs typeface="Tahoma" pitchFamily="34" charset="-120"/>
              </a:rPr>
              <a:t>⚡</a:t>
            </a:r>
            <a:endParaRPr lang="ar-SA" sz="1500" dirty="0"/>
          </a:p>
        </p:txBody>
      </p:sp>
      <p:sp>
        <p:nvSpPr>
          <p:cNvPr id="22" name="s16_1"/>
          <p:cNvSpPr txBox="1"/>
          <p:nvPr/>
        </p:nvSpPr>
        <p:spPr>
          <a:xfrm>
            <a:off x="7543800" y="3383280"/>
            <a:ext cx="425196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550" dirty="0">
                <a:solidFill>
                  <a:srgbClr val="34405E"/>
                </a:solidFill>
                <a:latin typeface="Tahoma" pitchFamily="34" charset="0"/>
                <a:ea typeface="Tahoma" pitchFamily="34" charset="-122"/>
                <a:cs typeface="Tahoma" pitchFamily="34" charset="-120"/>
              </a:rPr>
              <a:t>❓ </a:t>
            </a:r>
            <a:r>
              <a:rPr lang="ar-SA" altLang="en-US" sz="1550" b="1" dirty="0">
                <a:solidFill>
                  <a:srgbClr val="34405E"/>
                </a:solidFill>
                <a:latin typeface="Tahoma" pitchFamily="34" charset="0"/>
                <a:ea typeface="Tahoma" pitchFamily="34" charset="-122"/>
                <a:cs typeface="Tahoma" pitchFamily="34" charset="-120"/>
              </a:rPr>
              <a:t>هل أخذت البومة طاقتها من الشمس مباشرة؟</a:t>
            </a:r>
            <a:endParaRPr lang="ar-SA" sz="1550" dirty="0"/>
          </a:p>
        </p:txBody>
      </p:sp>
      <p:sp>
        <p:nvSpPr>
          <p:cNvPr id="23" name="s16_2@c1%chime"/>
          <p:cNvSpPr txBox="1"/>
          <p:nvPr/>
        </p:nvSpPr>
        <p:spPr>
          <a:xfrm>
            <a:off x="7543800" y="4343400"/>
            <a:ext cx="4251960" cy="777240"/>
          </a:xfrm>
          <a:prstGeom prst="roundRect">
            <a:avLst>
              <a:gd name="adj" fmla="val 16471"/>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لا؛ وصلتها الطاقة عبر السلسلة كلها من الشمس.</a:t>
            </a:r>
            <a:endParaRPr lang="ar-SA" sz="1500" dirty="0"/>
          </a:p>
        </p:txBody>
      </p:sp>
      <p:sp>
        <p:nvSpPr>
          <p:cNvPr id="24" name="!!sig"/>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5" name="!!st"/>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6" presetClass="emph" presetSubtype="0" fill="hold" grpId="0" nodeType="afterEffect" repeatCount="2000">
                                  <p:stCondLst>
                                    <p:cond delay="200"/>
                                  </p:stCondLst>
                                  <p:childTnLst>
                                    <p:animScale>
                                      <p:cBhvr>
                                        <p:cTn id="6" dur="500" autoRev="1" fill="hold"/>
                                        <p:tgtEl>
                                          <p:spTgt spid="17"/>
                                        </p:tgtEl>
                                      </p:cBhvr>
                                      <p:by x="118000" y="118000"/>
                                    </p:animScale>
                                  </p:childTnLst>
                                  <p:subTnLst>
                                    <p:audio>
                                      <p:cMediaNode vol="80000" showWhenStopped="0">
                                        <p:cTn id="7" display="0" masterRel="sameClick">
                                          <p:stCondLst>
                                            <p:cond evt="onBegin" delay="0">
                                              <p:tn val="5"/>
                                            </p:cond>
                                          </p:stCondLst>
                                        </p:cTn>
                                        <p:tgtEl>
                                          <p:sndTgt r:embed="rId12" name="pop.wav"/>
                                        </p:tgtEl>
                                      </p:cMediaNode>
                                    </p:audio>
                                  </p:subTnLst>
                                </p:cTn>
                              </p:par>
                              <p:par>
                                <p:cTn id="8" presetID="6" presetClass="emph" presetSubtype="0" fill="hold" grpId="0" nodeType="withEffect">
                                  <p:stCondLst>
                                    <p:cond delay="200"/>
                                  </p:stCondLst>
                                  <p:childTnLst>
                                    <p:animScale>
                                      <p:cBhvr>
                                        <p:cTn id="9" dur="500" autoRev="1" fill="hold"/>
                                        <p:tgtEl>
                                          <p:spTgt spid="19"/>
                                        </p:tgtEl>
                                      </p:cBhvr>
                                      <p:by x="118000" y="118000"/>
                                    </p:animScale>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subTnLst>
                                    <p:audio>
                                      <p:cMediaNode vol="80000" showWhenStopped="0">
                                        <p:cTn id="15" display="0" masterRel="sameClick">
                                          <p:stCondLst>
                                            <p:cond evt="onBegin" delay="0">
                                              <p:tn val="12"/>
                                            </p:cond>
                                          </p:stCondLst>
                                        </p:cTn>
                                        <p:tgtEl>
                                          <p:sndTgt r:embed="rId13"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orld" descr="مشهد اليابسة">    </p:cNvPr>
          <p:cNvPicPr>
            <a:picLocks noChangeAspect="1"/>
          </p:cNvPicPr>
          <p:nvPr/>
        </p:nvPicPr>
        <p:blipFill>
          <a:blip r:embed="rId2"/>
          <a:stretch>
            <a:fillRect/>
          </a:stretch>
        </p:blipFill>
        <p:spPr>
          <a:xfrm>
            <a:off x="0" y="0"/>
            <a:ext cx="12191695" cy="6858766"/>
          </a:xfrm>
          <a:prstGeom prst="rect">
            <a:avLst/>
          </a:prstGeom>
        </p:spPr>
      </p:pic>
      <p:pic>
        <p:nvPicPr>
          <p:cNvPr id="3" name="!!sun" descr="الشمس">    </p:cNvPr>
          <p:cNvPicPr>
            <a:picLocks noChangeAspect="1"/>
          </p:cNvPicPr>
          <p:nvPr/>
        </p:nvPicPr>
        <p:blipFill>
          <a:blip r:embed="rId3"/>
          <a:stretch>
            <a:fillRect/>
          </a:stretch>
        </p:blipFill>
        <p:spPr>
          <a:xfrm>
            <a:off x="9753356" y="1406734"/>
            <a:ext cx="1125387" cy="1125387"/>
          </a:xfrm>
          <a:prstGeom prst="rect">
            <a:avLst/>
          </a:prstGeom>
        </p:spPr>
      </p:pic>
      <p:sp>
        <p:nvSpPr>
          <p:cNvPr id="4" name="!!beam"/>
          <p:cNvSpPr/>
          <p:nvPr/>
        </p:nvSpPr>
        <p:spPr>
          <a:xfrm flipH="1">
            <a:off x="9190663" y="2391448"/>
            <a:ext cx="703367" cy="2016319"/>
          </a:xfrm>
          <a:prstGeom prst="line">
            <a:avLst/>
          </a:prstGeom>
          <a:noFill/>
          <a:ln w="76200">
            <a:solidFill>
              <a:srgbClr val="F5A623"/>
            </a:solidFill>
            <a:prstDash val="dash"/>
            <a:tailEnd type="triangle"/>
          </a:ln>
        </p:spPr>
      </p:sp>
      <p:pic>
        <p:nvPicPr>
          <p:cNvPr id="5" name="!!c_thistle" descr="نبات الشوك">    </p:cNvPr>
          <p:cNvPicPr>
            <a:picLocks noChangeAspect="1"/>
          </p:cNvPicPr>
          <p:nvPr/>
        </p:nvPicPr>
        <p:blipFill>
          <a:blip r:embed="rId4"/>
          <a:stretch>
            <a:fillRect/>
          </a:stretch>
        </p:blipFill>
        <p:spPr>
          <a:xfrm>
            <a:off x="8112166" y="4267093"/>
            <a:ext cx="1312952" cy="1312952"/>
          </a:xfrm>
          <a:prstGeom prst="rect">
            <a:avLst/>
          </a:prstGeom>
        </p:spPr>
      </p:pic>
      <p:sp>
        <p:nvSpPr>
          <p:cNvPr id="6" name="!!l_thistle"/>
          <p:cNvSpPr txBox="1"/>
          <p:nvPr/>
        </p:nvSpPr>
        <p:spPr>
          <a:xfrm>
            <a:off x="8112166" y="5603491"/>
            <a:ext cx="1312952" cy="290725"/>
          </a:xfrm>
          <a:prstGeom prst="roundRect">
            <a:avLst>
              <a:gd name="adj" fmla="val 31452"/>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نبات الشوك</a:t>
            </a:r>
            <a:endParaRPr lang="ar-SA" sz="1200" dirty="0"/>
          </a:p>
        </p:txBody>
      </p:sp>
      <p:sp>
        <p:nvSpPr>
          <p:cNvPr id="7" name="!!a_0"/>
          <p:cNvSpPr/>
          <p:nvPr/>
        </p:nvSpPr>
        <p:spPr>
          <a:xfrm flipH="1" flipV="1">
            <a:off x="7659362" y="4353939"/>
            <a:ext cx="483588" cy="248329"/>
          </a:xfrm>
          <a:prstGeom prst="line">
            <a:avLst/>
          </a:prstGeom>
          <a:noFill/>
          <a:ln w="88900">
            <a:solidFill>
              <a:srgbClr val="E67E22"/>
            </a:solidFill>
            <a:prstDash val="solid"/>
            <a:tailEnd type="triangle"/>
          </a:ln>
        </p:spPr>
      </p:sp>
      <p:pic>
        <p:nvPicPr>
          <p:cNvPr id="8" name="!!c_caterpillar" descr="يرقة">    </p:cNvPr>
          <p:cNvPicPr>
            <a:picLocks noChangeAspect="1"/>
          </p:cNvPicPr>
          <p:nvPr/>
        </p:nvPicPr>
        <p:blipFill>
          <a:blip r:embed="rId5"/>
          <a:stretch>
            <a:fillRect/>
          </a:stretch>
        </p:blipFill>
        <p:spPr>
          <a:xfrm>
            <a:off x="6377194" y="3376162"/>
            <a:ext cx="1312952" cy="1312952"/>
          </a:xfrm>
          <a:prstGeom prst="rect">
            <a:avLst/>
          </a:prstGeom>
        </p:spPr>
      </p:pic>
      <p:sp>
        <p:nvSpPr>
          <p:cNvPr id="9" name="!!l_caterpillar"/>
          <p:cNvSpPr txBox="1"/>
          <p:nvPr/>
        </p:nvSpPr>
        <p:spPr>
          <a:xfrm>
            <a:off x="6377194" y="4712559"/>
            <a:ext cx="1312952" cy="290725"/>
          </a:xfrm>
          <a:prstGeom prst="roundRect">
            <a:avLst>
              <a:gd name="adj" fmla="val 31452"/>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اليرقة</a:t>
            </a:r>
            <a:endParaRPr lang="ar-SA" sz="1200" dirty="0"/>
          </a:p>
        </p:txBody>
      </p:sp>
      <p:sp>
        <p:nvSpPr>
          <p:cNvPr id="10" name="!!a_1"/>
          <p:cNvSpPr/>
          <p:nvPr/>
        </p:nvSpPr>
        <p:spPr>
          <a:xfrm flipH="1">
            <a:off x="5887467" y="4333739"/>
            <a:ext cx="510544" cy="241837"/>
          </a:xfrm>
          <a:prstGeom prst="line">
            <a:avLst/>
          </a:prstGeom>
          <a:noFill/>
          <a:ln w="88900">
            <a:solidFill>
              <a:srgbClr val="E67E22"/>
            </a:solidFill>
            <a:prstDash val="solid"/>
            <a:tailEnd type="triangle"/>
          </a:ln>
        </p:spPr>
      </p:sp>
      <p:pic>
        <p:nvPicPr>
          <p:cNvPr id="11" name="!!c_mantis" descr="سرعوف">    </p:cNvPr>
          <p:cNvPicPr>
            <a:picLocks noChangeAspect="1"/>
          </p:cNvPicPr>
          <p:nvPr/>
        </p:nvPicPr>
        <p:blipFill>
          <a:blip r:embed="rId6"/>
          <a:stretch>
            <a:fillRect/>
          </a:stretch>
        </p:blipFill>
        <p:spPr>
          <a:xfrm>
            <a:off x="4595331" y="4220202"/>
            <a:ext cx="1312952" cy="1312952"/>
          </a:xfrm>
          <a:prstGeom prst="rect">
            <a:avLst/>
          </a:prstGeom>
        </p:spPr>
      </p:pic>
      <p:sp>
        <p:nvSpPr>
          <p:cNvPr id="12" name="!!l_mantis"/>
          <p:cNvSpPr txBox="1"/>
          <p:nvPr/>
        </p:nvSpPr>
        <p:spPr>
          <a:xfrm>
            <a:off x="4595331" y="5556600"/>
            <a:ext cx="1312952" cy="290725"/>
          </a:xfrm>
          <a:prstGeom prst="roundRect">
            <a:avLst>
              <a:gd name="adj" fmla="val 31452"/>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السرعوف</a:t>
            </a:r>
            <a:endParaRPr lang="ar-SA" sz="1200" dirty="0"/>
          </a:p>
        </p:txBody>
      </p:sp>
      <p:sp>
        <p:nvSpPr>
          <p:cNvPr id="13" name="!!a_2"/>
          <p:cNvSpPr/>
          <p:nvPr/>
        </p:nvSpPr>
        <p:spPr>
          <a:xfrm flipH="1" flipV="1">
            <a:off x="4092366" y="4266446"/>
            <a:ext cx="537019" cy="282641"/>
          </a:xfrm>
          <a:prstGeom prst="line">
            <a:avLst/>
          </a:prstGeom>
          <a:noFill/>
          <a:ln w="88900">
            <a:solidFill>
              <a:srgbClr val="E67E22"/>
            </a:solidFill>
            <a:prstDash val="solid"/>
            <a:tailEnd type="triangle"/>
          </a:ln>
        </p:spPr>
      </p:sp>
      <p:pic>
        <p:nvPicPr>
          <p:cNvPr id="14" name="!!c_lizard" descr="سحلية">    </p:cNvPr>
          <p:cNvPicPr>
            <a:picLocks noChangeAspect="1"/>
          </p:cNvPicPr>
          <p:nvPr/>
        </p:nvPicPr>
        <p:blipFill>
          <a:blip r:embed="rId7"/>
          <a:stretch>
            <a:fillRect/>
          </a:stretch>
        </p:blipFill>
        <p:spPr>
          <a:xfrm>
            <a:off x="2813468" y="3282379"/>
            <a:ext cx="1312952" cy="1312952"/>
          </a:xfrm>
          <a:prstGeom prst="rect">
            <a:avLst/>
          </a:prstGeom>
        </p:spPr>
      </p:pic>
      <p:sp>
        <p:nvSpPr>
          <p:cNvPr id="15" name="!!l_lizard"/>
          <p:cNvSpPr txBox="1"/>
          <p:nvPr/>
        </p:nvSpPr>
        <p:spPr>
          <a:xfrm>
            <a:off x="2813468" y="4618777"/>
            <a:ext cx="1312952" cy="290725"/>
          </a:xfrm>
          <a:prstGeom prst="roundRect">
            <a:avLst>
              <a:gd name="adj" fmla="val 31452"/>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السحلية</a:t>
            </a:r>
            <a:endParaRPr lang="ar-SA" sz="1200" dirty="0"/>
          </a:p>
        </p:txBody>
      </p:sp>
      <p:sp>
        <p:nvSpPr>
          <p:cNvPr id="16" name="!!a_3"/>
          <p:cNvSpPr/>
          <p:nvPr/>
        </p:nvSpPr>
        <p:spPr>
          <a:xfrm flipH="1" flipV="1">
            <a:off x="2296793" y="3259663"/>
            <a:ext cx="564439" cy="326780"/>
          </a:xfrm>
          <a:prstGeom prst="line">
            <a:avLst/>
          </a:prstGeom>
          <a:noFill/>
          <a:ln w="88900">
            <a:solidFill>
              <a:srgbClr val="E67E22"/>
            </a:solidFill>
            <a:prstDash val="solid"/>
            <a:tailEnd type="triangle"/>
          </a:ln>
        </p:spPr>
      </p:sp>
      <p:pic>
        <p:nvPicPr>
          <p:cNvPr id="17" name="!!c_owl" descr="بومة">    </p:cNvPr>
          <p:cNvPicPr>
            <a:picLocks noChangeAspect="1"/>
          </p:cNvPicPr>
          <p:nvPr/>
        </p:nvPicPr>
        <p:blipFill>
          <a:blip r:embed="rId8"/>
          <a:stretch>
            <a:fillRect/>
          </a:stretch>
        </p:blipFill>
        <p:spPr>
          <a:xfrm>
            <a:off x="1031605" y="2250774"/>
            <a:ext cx="1312952" cy="1312952"/>
          </a:xfrm>
          <a:prstGeom prst="rect">
            <a:avLst/>
          </a:prstGeom>
        </p:spPr>
      </p:pic>
      <p:sp>
        <p:nvSpPr>
          <p:cNvPr id="18" name="!!l_owl"/>
          <p:cNvSpPr txBox="1"/>
          <p:nvPr/>
        </p:nvSpPr>
        <p:spPr>
          <a:xfrm>
            <a:off x="1031605" y="3587172"/>
            <a:ext cx="1312952" cy="290725"/>
          </a:xfrm>
          <a:prstGeom prst="roundRect">
            <a:avLst>
              <a:gd name="adj" fmla="val 31452"/>
            </a:avLst>
          </a:prstGeom>
          <a:solidFill>
            <a:srgbClr val="FFF1B8"/>
          </a:solidFill>
          <a:ln w="28575">
            <a:solidFill>
              <a:srgbClr val="34405E"/>
            </a:solidFill>
          </a:ln>
        </p:spPr>
        <p:txBody>
          <a:bodyPr wrap="square" lIns="12700" tIns="12700" rIns="12700" bIns="12700" rtlCol="0" anchor="ctr"/>
          <a:lstStyle/>
          <a:p>
            <a:pPr rtl="1" algn="ctr" indent="0" marL="0">
              <a:buNone/>
            </a:pPr>
            <a:r>
              <a:rPr lang="ar-SA" altLang="en-US" sz="1200" b="1" dirty="0">
                <a:solidFill>
                  <a:srgbClr val="34405E"/>
                </a:solidFill>
                <a:latin typeface="Tahoma" pitchFamily="34" charset="0"/>
                <a:ea typeface="Tahoma" pitchFamily="34" charset="-122"/>
                <a:cs typeface="Tahoma" pitchFamily="34" charset="-120"/>
              </a:rPr>
              <a:t>البومة</a:t>
            </a:r>
            <a:endParaRPr lang="ar-SA" sz="1200" dirty="0"/>
          </a:p>
        </p:txBody>
      </p:sp>
      <p:pic>
        <p:nvPicPr>
          <p:cNvPr id="19" name="!!mush" descr="فطر">    </p:cNvPr>
          <p:cNvPicPr>
            <a:picLocks noChangeAspect="1"/>
          </p:cNvPicPr>
          <p:nvPr/>
        </p:nvPicPr>
        <p:blipFill>
          <a:blip r:embed="rId9"/>
          <a:stretch>
            <a:fillRect/>
          </a:stretch>
        </p:blipFill>
        <p:spPr>
          <a:xfrm>
            <a:off x="562694" y="4970460"/>
            <a:ext cx="844040" cy="844040"/>
          </a:xfrm>
          <a:prstGeom prst="rect">
            <a:avLst/>
          </a:prstGeom>
        </p:spPr>
      </p:pic>
      <p:sp>
        <p:nvSpPr>
          <p:cNvPr id="20" name="!!a_dec"/>
          <p:cNvSpPr/>
          <p:nvPr/>
        </p:nvSpPr>
        <p:spPr>
          <a:xfrm flipH="1">
            <a:off x="937823" y="3657509"/>
            <a:ext cx="468911" cy="1266061"/>
          </a:xfrm>
          <a:prstGeom prst="line">
            <a:avLst/>
          </a:prstGeom>
          <a:noFill/>
          <a:ln w="50800">
            <a:solidFill>
              <a:srgbClr val="A0522D"/>
            </a:solidFill>
            <a:prstDash val="dash"/>
            <a:tailEnd type="triangle"/>
          </a:ln>
        </p:spPr>
      </p:sp>
      <p:pic>
        <p:nvPicPr>
          <p:cNvPr id="21" name="!!orb" descr="كرة الطاقة">    </p:cNvPr>
          <p:cNvPicPr>
            <a:picLocks noChangeAspect="1"/>
          </p:cNvPicPr>
          <p:nvPr/>
        </p:nvPicPr>
        <p:blipFill>
          <a:blip r:embed="rId10"/>
          <a:stretch>
            <a:fillRect/>
          </a:stretch>
        </p:blipFill>
        <p:spPr>
          <a:xfrm>
            <a:off x="2171060" y="2217951"/>
            <a:ext cx="206321" cy="206321"/>
          </a:xfrm>
          <a:prstGeom prst="rect">
            <a:avLst/>
          </a:prstGeom>
        </p:spPr>
      </p:pic>
      <p:sp>
        <p:nvSpPr>
          <p:cNvPr id="22" name="!!cap"/>
          <p:cNvSpPr txBox="1"/>
          <p:nvPr/>
        </p:nvSpPr>
        <p:spPr>
          <a:xfrm>
            <a:off x="914400" y="5257800"/>
            <a:ext cx="10360152" cy="868680"/>
          </a:xfrm>
          <a:prstGeom prst="roundRect">
            <a:avLst>
              <a:gd name="adj" fmla="val 14737"/>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وعندما تموت المستهلكات تحللها المحلِّلات، وتعيد المواد إلى التربة… هكذا تنتقل الطاقة في السلسلة الغذائية!</a:t>
            </a:r>
            <a:endParaRPr lang="ar-SA" sz="1700" dirty="0"/>
          </a:p>
        </p:txBody>
      </p:sp>
      <p:sp>
        <p:nvSpPr>
          <p:cNvPr id="23" name="s17_1@c1%chime"/>
          <p:cNvSpPr txBox="1"/>
          <p:nvPr/>
        </p:nvSpPr>
        <p:spPr>
          <a:xfrm>
            <a:off x="2011680" y="320040"/>
            <a:ext cx="8138160" cy="594360"/>
          </a:xfrm>
          <a:prstGeom prst="roundRect">
            <a:avLst>
              <a:gd name="adj" fmla="val 21538"/>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800" b="1" dirty="0">
                <a:solidFill>
                  <a:srgbClr val="34405E"/>
                </a:solidFill>
                <a:latin typeface="Tahoma" pitchFamily="34" charset="0"/>
                <a:ea typeface="Tahoma" pitchFamily="34" charset="-122"/>
                <a:cs typeface="Tahoma" pitchFamily="34" charset="-120"/>
              </a:rPr>
              <a:t>الشمس ← نبات الشوك ← اليرقة ← السرعوف ← السحلية ← البومة</a:t>
            </a:r>
            <a:endParaRPr lang="ar-SA" sz="1800" dirty="0"/>
          </a:p>
        </p:txBody>
      </p:sp>
      <p:sp>
        <p:nvSpPr>
          <p:cNvPr id="24" name="s17_2@c2%sparkle"/>
          <p:cNvSpPr txBox="1"/>
          <p:nvPr/>
        </p:nvSpPr>
        <p:spPr>
          <a:xfrm>
            <a:off x="2011680" y="1005840"/>
            <a:ext cx="8138160" cy="685800"/>
          </a:xfrm>
          <a:prstGeom prst="roundRect">
            <a:avLst>
              <a:gd name="adj" fmla="val 18667"/>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C2366F"/>
                </a:solidFill>
                <a:latin typeface="Tahoma" pitchFamily="34" charset="0"/>
                <a:ea typeface="Tahoma" pitchFamily="34" charset="-122"/>
                <a:cs typeface="Tahoma" pitchFamily="34" charset="-120"/>
              </a:rPr>
              <a:t>أستنتج: </a:t>
            </a:r>
            <a:r>
              <a:rPr lang="ar-SA" altLang="en-US" sz="1550" dirty="0">
                <a:solidFill>
                  <a:srgbClr val="34405E"/>
                </a:solidFill>
                <a:latin typeface="Tahoma" pitchFamily="34" charset="0"/>
                <a:ea typeface="Tahoma" pitchFamily="34" charset="-122"/>
                <a:cs typeface="Tahoma" pitchFamily="34" charset="-120"/>
              </a:rPr>
              <a:t>لاحظي أن كرة الطاقة صغُرت في كل حلقة؛ لذلك يصل إلى البومة أقلّ قدر من الطاقة.</a:t>
            </a:r>
            <a:endParaRPr lang="ar-SA" sz="1550" dirty="0"/>
          </a:p>
        </p:txBody>
      </p:sp>
      <p:sp>
        <p:nvSpPr>
          <p:cNvPr id="25" name="!!sig"/>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6" name="!!st"/>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59">
      <p:transitio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subTnLst>
                                    <p:audio>
                                      <p:cMediaNode vol="80000" showWhenStopped="0">
                                        <p:cTn id="8" display="0" masterRel="sameClick">
                                          <p:stCondLst>
                                            <p:cond evt="onBegin" delay="0">
                                              <p:tn val="5"/>
                                            </p:cond>
                                          </p:stCondLst>
                                        </p:cTn>
                                        <p:tgtEl>
                                          <p:sndTgt r:embed="rId13" name="chime.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subTnLst>
                                    <p:audio>
                                      <p:cMediaNode vol="80000" showWhenStopped="0">
                                        <p:cTn id="14" display="0" masterRel="sameClick">
                                          <p:stCondLst>
                                            <p:cond evt="onBegin" delay="0">
                                              <p:tn val="11"/>
                                            </p:cond>
                                          </p:stCondLst>
                                        </p:cTn>
                                        <p:tgtEl>
                                          <p:sndTgt r:embed="rId14" name="spark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8_1" descr="عنوان الشريحة">    </p:cNvPr>
          <p:cNvPicPr>
            <a:picLocks noChangeAspect="1"/>
          </p:cNvPicPr>
          <p:nvPr/>
        </p:nvPicPr>
        <p:blipFill>
          <a:blip r:embed="rId2"/>
          <a:stretch>
            <a:fillRect/>
          </a:stretch>
        </p:blipFill>
        <p:spPr>
          <a:xfrm>
            <a:off x="7334882" y="182880"/>
            <a:ext cx="4491053" cy="731520"/>
          </a:xfrm>
          <a:prstGeom prst="rect">
            <a:avLst/>
          </a:prstGeom>
        </p:spPr>
      </p:pic>
      <p:sp>
        <p:nvSpPr>
          <p:cNvPr id="3" name="s18_2"/>
          <p:cNvSpPr txBox="1"/>
          <p:nvPr/>
        </p:nvSpPr>
        <p:spPr>
          <a:xfrm>
            <a:off x="365760" y="292608"/>
            <a:ext cx="44805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التعلّم باللعب – التتابع</a:t>
            </a:r>
            <a:endParaRPr lang="en-US" sz="1600" dirty="0"/>
          </a:p>
        </p:txBody>
      </p:sp>
      <p:sp>
        <p:nvSpPr>
          <p:cNvPr id="4" name="s18_3"/>
          <p:cNvSpPr txBox="1"/>
          <p:nvPr/>
        </p:nvSpPr>
        <p:spPr>
          <a:xfrm>
            <a:off x="548640" y="1051560"/>
            <a:ext cx="11201400" cy="457200"/>
          </a:xfrm>
          <a:prstGeom prst="rect">
            <a:avLst/>
          </a:prstGeom>
          <a:noFill/>
          <a:ln/>
        </p:spPr>
        <p:txBody>
          <a:bodyPr wrap="square" lIns="63500" tIns="63500" rIns="63500" bIns="63500" rtlCol="0" anchor="ctr"/>
          <a:lstStyle/>
          <a:p>
            <a:pPr rtl="1" algn="ctr" indent="0" marL="0">
              <a:buNone/>
            </a:pPr>
            <a:r>
              <a:rPr lang="ar-SA" altLang="en-US" sz="1700" b="1" dirty="0">
                <a:solidFill>
                  <a:srgbClr val="6B4FC0"/>
                </a:solidFill>
                <a:latin typeface="Tahoma" pitchFamily="34" charset="0"/>
                <a:ea typeface="Tahoma" pitchFamily="34" charset="-122"/>
                <a:cs typeface="Tahoma" pitchFamily="34" charset="-120"/>
              </a:rPr>
              <a:t>رتّبي السلسلة الغذائية من الأول إلى الأخير 👆 اضغطي على الصورة ليظهر ترتيبها</a:t>
            </a:r>
            <a:endParaRPr lang="ar-SA" sz="1700" dirty="0"/>
          </a:p>
        </p:txBody>
      </p:sp>
      <p:pic>
        <p:nvPicPr>
          <p:cNvPr id="5" name="s18_p0" descr="سحلية">    </p:cNvPr>
          <p:cNvPicPr>
            <a:picLocks noChangeAspect="1"/>
          </p:cNvPicPr>
          <p:nvPr/>
        </p:nvPicPr>
        <p:blipFill>
          <a:blip r:embed="rId3"/>
          <a:stretch>
            <a:fillRect/>
          </a:stretch>
        </p:blipFill>
        <p:spPr>
          <a:xfrm>
            <a:off x="9646920" y="1783080"/>
            <a:ext cx="1965960" cy="1965960"/>
          </a:xfrm>
          <a:prstGeom prst="rect">
            <a:avLst/>
          </a:prstGeom>
        </p:spPr>
      </p:pic>
      <p:sp>
        <p:nvSpPr>
          <p:cNvPr id="6" name="s18_4"/>
          <p:cNvSpPr txBox="1"/>
          <p:nvPr/>
        </p:nvSpPr>
        <p:spPr>
          <a:xfrm>
            <a:off x="9738360" y="3840480"/>
            <a:ext cx="1783080" cy="502920"/>
          </a:xfrm>
          <a:prstGeom prst="roundRect">
            <a:avLst>
              <a:gd name="adj" fmla="val 49091"/>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السحلية</a:t>
            </a:r>
            <a:endParaRPr lang="ar-SA" sz="1700" dirty="0"/>
          </a:p>
        </p:txBody>
      </p:sp>
      <p:sp>
        <p:nvSpPr>
          <p:cNvPr id="7" name="s18_5@t=s18_p0%pop"/>
          <p:cNvSpPr txBox="1"/>
          <p:nvPr/>
        </p:nvSpPr>
        <p:spPr>
          <a:xfrm>
            <a:off x="10972800" y="1691640"/>
            <a:ext cx="685800" cy="685800"/>
          </a:xfrm>
          <a:prstGeom prst="ellipse">
            <a:avLst/>
          </a:prstGeom>
          <a:solidFill>
            <a:srgbClr val="F5C242"/>
          </a:solidFill>
          <a:ln w="31750">
            <a:solidFill>
              <a:srgbClr val="34405E"/>
            </a:solidFill>
          </a:ln>
        </p:spPr>
        <p:txBody>
          <a:bodyPr wrap="square" lIns="0" tIns="0" rIns="0" bIns="0" rtlCol="0" anchor="ctr"/>
          <a:lstStyle/>
          <a:p>
            <a:pPr rtl="1" algn="ctr" indent="0" marL="0">
              <a:buNone/>
            </a:pPr>
            <a:r>
              <a:rPr lang="ar-SA" altLang="en-US" sz="2400" b="1" dirty="0">
                <a:solidFill>
                  <a:srgbClr val="34405E"/>
                </a:solidFill>
                <a:latin typeface="Tahoma" pitchFamily="34" charset="0"/>
                <a:ea typeface="Tahoma" pitchFamily="34" charset="-122"/>
                <a:cs typeface="Tahoma" pitchFamily="34" charset="-120"/>
              </a:rPr>
              <a:t>٤</a:t>
            </a:r>
            <a:endParaRPr lang="ar-SA" sz="2400" dirty="0"/>
          </a:p>
        </p:txBody>
      </p:sp>
      <p:pic>
        <p:nvPicPr>
          <p:cNvPr id="8" name="s18_p1" descr="نبات الشوك">    </p:cNvPr>
          <p:cNvPicPr>
            <a:picLocks noChangeAspect="1"/>
          </p:cNvPicPr>
          <p:nvPr/>
        </p:nvPicPr>
        <p:blipFill>
          <a:blip r:embed="rId4"/>
          <a:stretch>
            <a:fillRect/>
          </a:stretch>
        </p:blipFill>
        <p:spPr>
          <a:xfrm>
            <a:off x="7406640" y="1783080"/>
            <a:ext cx="1965960" cy="1965960"/>
          </a:xfrm>
          <a:prstGeom prst="rect">
            <a:avLst/>
          </a:prstGeom>
        </p:spPr>
      </p:pic>
      <p:sp>
        <p:nvSpPr>
          <p:cNvPr id="9" name="s18_6"/>
          <p:cNvSpPr txBox="1"/>
          <p:nvPr/>
        </p:nvSpPr>
        <p:spPr>
          <a:xfrm>
            <a:off x="7498080" y="3840480"/>
            <a:ext cx="1783080" cy="502920"/>
          </a:xfrm>
          <a:prstGeom prst="roundRect">
            <a:avLst>
              <a:gd name="adj" fmla="val 49091"/>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نبات الشوك</a:t>
            </a:r>
            <a:endParaRPr lang="ar-SA" sz="1700" dirty="0"/>
          </a:p>
        </p:txBody>
      </p:sp>
      <p:sp>
        <p:nvSpPr>
          <p:cNvPr id="10" name="s18_7@t=s18_p1%pop"/>
          <p:cNvSpPr txBox="1"/>
          <p:nvPr/>
        </p:nvSpPr>
        <p:spPr>
          <a:xfrm>
            <a:off x="8732520" y="1691640"/>
            <a:ext cx="685800" cy="685800"/>
          </a:xfrm>
          <a:prstGeom prst="ellipse">
            <a:avLst/>
          </a:prstGeom>
          <a:solidFill>
            <a:srgbClr val="F5C242"/>
          </a:solidFill>
          <a:ln w="31750">
            <a:solidFill>
              <a:srgbClr val="34405E"/>
            </a:solidFill>
          </a:ln>
        </p:spPr>
        <p:txBody>
          <a:bodyPr wrap="square" lIns="0" tIns="0" rIns="0" bIns="0" rtlCol="0" anchor="ctr"/>
          <a:lstStyle/>
          <a:p>
            <a:pPr rtl="1" algn="ctr" indent="0" marL="0">
              <a:buNone/>
            </a:pPr>
            <a:r>
              <a:rPr lang="ar-SA" altLang="en-US" sz="2400" b="1" dirty="0">
                <a:solidFill>
                  <a:srgbClr val="34405E"/>
                </a:solidFill>
                <a:latin typeface="Tahoma" pitchFamily="34" charset="0"/>
                <a:ea typeface="Tahoma" pitchFamily="34" charset="-122"/>
                <a:cs typeface="Tahoma" pitchFamily="34" charset="-120"/>
              </a:rPr>
              <a:t>١</a:t>
            </a:r>
            <a:endParaRPr lang="ar-SA" sz="2400" dirty="0"/>
          </a:p>
        </p:txBody>
      </p:sp>
      <p:pic>
        <p:nvPicPr>
          <p:cNvPr id="11" name="s18_p2" descr="بومة">    </p:cNvPr>
          <p:cNvPicPr>
            <a:picLocks noChangeAspect="1"/>
          </p:cNvPicPr>
          <p:nvPr/>
        </p:nvPicPr>
        <p:blipFill>
          <a:blip r:embed="rId5"/>
          <a:stretch>
            <a:fillRect/>
          </a:stretch>
        </p:blipFill>
        <p:spPr>
          <a:xfrm>
            <a:off x="5166360" y="1783080"/>
            <a:ext cx="1965960" cy="1965960"/>
          </a:xfrm>
          <a:prstGeom prst="rect">
            <a:avLst/>
          </a:prstGeom>
        </p:spPr>
      </p:pic>
      <p:sp>
        <p:nvSpPr>
          <p:cNvPr id="12" name="s18_8"/>
          <p:cNvSpPr txBox="1"/>
          <p:nvPr/>
        </p:nvSpPr>
        <p:spPr>
          <a:xfrm>
            <a:off x="5257800" y="3840480"/>
            <a:ext cx="1783080" cy="502920"/>
          </a:xfrm>
          <a:prstGeom prst="roundRect">
            <a:avLst>
              <a:gd name="adj" fmla="val 49091"/>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البومة</a:t>
            </a:r>
            <a:endParaRPr lang="ar-SA" sz="1700" dirty="0"/>
          </a:p>
        </p:txBody>
      </p:sp>
      <p:sp>
        <p:nvSpPr>
          <p:cNvPr id="13" name="s18_9@t=s18_p2%pop"/>
          <p:cNvSpPr txBox="1"/>
          <p:nvPr/>
        </p:nvSpPr>
        <p:spPr>
          <a:xfrm>
            <a:off x="6492240" y="1691640"/>
            <a:ext cx="685800" cy="685800"/>
          </a:xfrm>
          <a:prstGeom prst="ellipse">
            <a:avLst/>
          </a:prstGeom>
          <a:solidFill>
            <a:srgbClr val="F5C242"/>
          </a:solidFill>
          <a:ln w="31750">
            <a:solidFill>
              <a:srgbClr val="34405E"/>
            </a:solidFill>
          </a:ln>
        </p:spPr>
        <p:txBody>
          <a:bodyPr wrap="square" lIns="0" tIns="0" rIns="0" bIns="0" rtlCol="0" anchor="ctr"/>
          <a:lstStyle/>
          <a:p>
            <a:pPr rtl="1" algn="ctr" indent="0" marL="0">
              <a:buNone/>
            </a:pPr>
            <a:r>
              <a:rPr lang="ar-SA" altLang="en-US" sz="2400" b="1" dirty="0">
                <a:solidFill>
                  <a:srgbClr val="34405E"/>
                </a:solidFill>
                <a:latin typeface="Tahoma" pitchFamily="34" charset="0"/>
                <a:ea typeface="Tahoma" pitchFamily="34" charset="-122"/>
                <a:cs typeface="Tahoma" pitchFamily="34" charset="-120"/>
              </a:rPr>
              <a:t>٥</a:t>
            </a:r>
            <a:endParaRPr lang="ar-SA" sz="2400" dirty="0"/>
          </a:p>
        </p:txBody>
      </p:sp>
      <p:pic>
        <p:nvPicPr>
          <p:cNvPr id="14" name="s18_p3" descr="يرقة">    </p:cNvPr>
          <p:cNvPicPr>
            <a:picLocks noChangeAspect="1"/>
          </p:cNvPicPr>
          <p:nvPr/>
        </p:nvPicPr>
        <p:blipFill>
          <a:blip r:embed="rId6"/>
          <a:stretch>
            <a:fillRect/>
          </a:stretch>
        </p:blipFill>
        <p:spPr>
          <a:xfrm>
            <a:off x="2926080" y="1783080"/>
            <a:ext cx="1965960" cy="1965960"/>
          </a:xfrm>
          <a:prstGeom prst="rect">
            <a:avLst/>
          </a:prstGeom>
        </p:spPr>
      </p:pic>
      <p:sp>
        <p:nvSpPr>
          <p:cNvPr id="15" name="s18_10"/>
          <p:cNvSpPr txBox="1"/>
          <p:nvPr/>
        </p:nvSpPr>
        <p:spPr>
          <a:xfrm>
            <a:off x="3017520" y="3840480"/>
            <a:ext cx="1783080" cy="502920"/>
          </a:xfrm>
          <a:prstGeom prst="roundRect">
            <a:avLst>
              <a:gd name="adj" fmla="val 49091"/>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اليرقة</a:t>
            </a:r>
            <a:endParaRPr lang="ar-SA" sz="1700" dirty="0"/>
          </a:p>
        </p:txBody>
      </p:sp>
      <p:sp>
        <p:nvSpPr>
          <p:cNvPr id="16" name="s18_11@t=s18_p3%pop"/>
          <p:cNvSpPr txBox="1"/>
          <p:nvPr/>
        </p:nvSpPr>
        <p:spPr>
          <a:xfrm>
            <a:off x="4251960" y="1691640"/>
            <a:ext cx="685800" cy="685800"/>
          </a:xfrm>
          <a:prstGeom prst="ellipse">
            <a:avLst/>
          </a:prstGeom>
          <a:solidFill>
            <a:srgbClr val="F5C242"/>
          </a:solidFill>
          <a:ln w="31750">
            <a:solidFill>
              <a:srgbClr val="34405E"/>
            </a:solidFill>
          </a:ln>
        </p:spPr>
        <p:txBody>
          <a:bodyPr wrap="square" lIns="0" tIns="0" rIns="0" bIns="0" rtlCol="0" anchor="ctr"/>
          <a:lstStyle/>
          <a:p>
            <a:pPr rtl="1" algn="ctr" indent="0" marL="0">
              <a:buNone/>
            </a:pPr>
            <a:r>
              <a:rPr lang="ar-SA" altLang="en-US" sz="2400" b="1" dirty="0">
                <a:solidFill>
                  <a:srgbClr val="34405E"/>
                </a:solidFill>
                <a:latin typeface="Tahoma" pitchFamily="34" charset="0"/>
                <a:ea typeface="Tahoma" pitchFamily="34" charset="-122"/>
                <a:cs typeface="Tahoma" pitchFamily="34" charset="-120"/>
              </a:rPr>
              <a:t>٢</a:t>
            </a:r>
            <a:endParaRPr lang="ar-SA" sz="2400" dirty="0"/>
          </a:p>
        </p:txBody>
      </p:sp>
      <p:pic>
        <p:nvPicPr>
          <p:cNvPr id="17" name="s18_p4" descr="سرعوف">    </p:cNvPr>
          <p:cNvPicPr>
            <a:picLocks noChangeAspect="1"/>
          </p:cNvPicPr>
          <p:nvPr/>
        </p:nvPicPr>
        <p:blipFill>
          <a:blip r:embed="rId7"/>
          <a:stretch>
            <a:fillRect/>
          </a:stretch>
        </p:blipFill>
        <p:spPr>
          <a:xfrm>
            <a:off x="685800" y="1783080"/>
            <a:ext cx="1965960" cy="1965960"/>
          </a:xfrm>
          <a:prstGeom prst="rect">
            <a:avLst/>
          </a:prstGeom>
        </p:spPr>
      </p:pic>
      <p:sp>
        <p:nvSpPr>
          <p:cNvPr id="18" name="s18_12"/>
          <p:cNvSpPr txBox="1"/>
          <p:nvPr/>
        </p:nvSpPr>
        <p:spPr>
          <a:xfrm>
            <a:off x="777240" y="3840480"/>
            <a:ext cx="1783080" cy="502920"/>
          </a:xfrm>
          <a:prstGeom prst="roundRect">
            <a:avLst>
              <a:gd name="adj" fmla="val 49091"/>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السرعوف</a:t>
            </a:r>
            <a:endParaRPr lang="ar-SA" sz="1700" dirty="0"/>
          </a:p>
        </p:txBody>
      </p:sp>
      <p:sp>
        <p:nvSpPr>
          <p:cNvPr id="19" name="s18_13@t=s18_p4%pop"/>
          <p:cNvSpPr txBox="1"/>
          <p:nvPr/>
        </p:nvSpPr>
        <p:spPr>
          <a:xfrm>
            <a:off x="2011680" y="1691640"/>
            <a:ext cx="685800" cy="685800"/>
          </a:xfrm>
          <a:prstGeom prst="ellipse">
            <a:avLst/>
          </a:prstGeom>
          <a:solidFill>
            <a:srgbClr val="F5C242"/>
          </a:solidFill>
          <a:ln w="31750">
            <a:solidFill>
              <a:srgbClr val="34405E"/>
            </a:solidFill>
          </a:ln>
        </p:spPr>
        <p:txBody>
          <a:bodyPr wrap="square" lIns="0" tIns="0" rIns="0" bIns="0" rtlCol="0" anchor="ctr"/>
          <a:lstStyle/>
          <a:p>
            <a:pPr rtl="1" algn="ctr" indent="0" marL="0">
              <a:buNone/>
            </a:pPr>
            <a:r>
              <a:rPr lang="ar-SA" altLang="en-US" sz="2400" b="1" dirty="0">
                <a:solidFill>
                  <a:srgbClr val="34405E"/>
                </a:solidFill>
                <a:latin typeface="Tahoma" pitchFamily="34" charset="0"/>
                <a:ea typeface="Tahoma" pitchFamily="34" charset="-122"/>
                <a:cs typeface="Tahoma" pitchFamily="34" charset="-120"/>
              </a:rPr>
              <a:t>٣</a:t>
            </a:r>
            <a:endParaRPr lang="ar-SA" sz="2400" dirty="0"/>
          </a:p>
        </p:txBody>
      </p:sp>
      <p:sp>
        <p:nvSpPr>
          <p:cNvPr id="20" name="s18_14@c1%sparkle"/>
          <p:cNvSpPr txBox="1"/>
          <p:nvPr/>
        </p:nvSpPr>
        <p:spPr>
          <a:xfrm>
            <a:off x="1737360" y="4617720"/>
            <a:ext cx="8778240" cy="594360"/>
          </a:xfrm>
          <a:prstGeom prst="roundRect">
            <a:avLst>
              <a:gd name="adj" fmla="val 21538"/>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800" b="1" dirty="0">
                <a:solidFill>
                  <a:srgbClr val="C2366F"/>
                </a:solidFill>
                <a:latin typeface="Tahoma" pitchFamily="34" charset="0"/>
                <a:ea typeface="Tahoma" pitchFamily="34" charset="-122"/>
                <a:cs typeface="Tahoma" pitchFamily="34" charset="-120"/>
              </a:rPr>
              <a:t>السلسلة: </a:t>
            </a:r>
            <a:r>
              <a:rPr lang="ar-SA" altLang="en-US" sz="1800" b="1" dirty="0">
                <a:solidFill>
                  <a:srgbClr val="34405E"/>
                </a:solidFill>
                <a:latin typeface="Tahoma" pitchFamily="34" charset="0"/>
                <a:ea typeface="Tahoma" pitchFamily="34" charset="-122"/>
                <a:cs typeface="Tahoma" pitchFamily="34" charset="-120"/>
              </a:rPr>
              <a:t>نبات الشوك ← اليرقة ← السرعوف ← السحلية ← البومة</a:t>
            </a:r>
            <a:endParaRPr lang="ar-SA" sz="1800" dirty="0"/>
          </a:p>
        </p:txBody>
      </p:sp>
      <p:sp>
        <p:nvSpPr>
          <p:cNvPr id="21" name="s18_15@c2%chime"/>
          <p:cNvSpPr txBox="1"/>
          <p:nvPr/>
        </p:nvSpPr>
        <p:spPr>
          <a:xfrm>
            <a:off x="1737360" y="5349240"/>
            <a:ext cx="8778240" cy="685800"/>
          </a:xfrm>
          <a:prstGeom prst="roundRect">
            <a:avLst>
              <a:gd name="adj" fmla="val 18667"/>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C2366F"/>
                </a:solidFill>
                <a:latin typeface="Tahoma" pitchFamily="34" charset="0"/>
                <a:ea typeface="Tahoma" pitchFamily="34" charset="-122"/>
                <a:cs typeface="Tahoma" pitchFamily="34" charset="-120"/>
              </a:rPr>
              <a:t>سؤال تحدٍّ: </a:t>
            </a:r>
            <a:r>
              <a:rPr lang="ar-SA" altLang="en-US" sz="1550" dirty="0">
                <a:solidFill>
                  <a:srgbClr val="34405E"/>
                </a:solidFill>
                <a:latin typeface="Tahoma" pitchFamily="34" charset="0"/>
                <a:ea typeface="Tahoma" pitchFamily="34" charset="-122"/>
                <a:cs typeface="Tahoma" pitchFamily="34" charset="-120"/>
              </a:rPr>
              <a:t>أيّ مخلوق في السلسلة منتِج؟ ولماذا؟  </a:t>
            </a:r>
            <a:r>
              <a:rPr lang="ar-SA" altLang="en-US" sz="1550" b="1" dirty="0">
                <a:solidFill>
                  <a:srgbClr val="2F8A3A"/>
                </a:solidFill>
                <a:latin typeface="Tahoma" pitchFamily="34" charset="0"/>
                <a:ea typeface="Tahoma" pitchFamily="34" charset="-122"/>
                <a:cs typeface="Tahoma" pitchFamily="34" charset="-120"/>
              </a:rPr>
              <a:t>✔ نبات الشوك؛ لأنه يصنع غذاءه بنفسه مستخدمًا طاقة الشمس.</a:t>
            </a:r>
            <a:endParaRPr lang="ar-SA" sz="1550" dirty="0"/>
          </a:p>
        </p:txBody>
      </p:sp>
      <p:sp>
        <p:nvSpPr>
          <p:cNvPr id="22" name="s18_16"/>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3" name="s18_17"/>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p:transition spd="med">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subTnLst>
                                    <p:audio>
                                      <p:cMediaNode vol="80000" showWhenStopped="0">
                                        <p:cTn id="8" display="0" masterRel="sameClick">
                                          <p:stCondLst>
                                            <p:cond evt="onBegin" delay="0">
                                              <p:tn val="5"/>
                                            </p:cond>
                                          </p:stCondLst>
                                        </p:cTn>
                                        <p:tgtEl>
                                          <p:sndTgt r:embed="rId10" name="sparkle.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subTnLst>
                                    <p:audio>
                                      <p:cMediaNode vol="80000" showWhenStopped="0">
                                        <p:cTn id="14" display="0" masterRel="sameClick">
                                          <p:stCondLst>
                                            <p:cond evt="onBegin" delay="0">
                                              <p:tn val="11"/>
                                            </p:cond>
                                          </p:stCondLst>
                                        </p:cTn>
                                        <p:tgtEl>
                                          <p:sndTgt r:embed="rId11"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5"/>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subTnLst>
                                    <p:audio>
                                      <p:cMediaNode vol="80000" showWhenStopped="0">
                                        <p:cTn id="21" display="0" masterRel="sameClick">
                                          <p:stCondLst>
                                            <p:cond evt="onBegin" delay="0">
                                              <p:tn val="18"/>
                                            </p:cond>
                                          </p:stCondLst>
                                        </p:cTn>
                                        <p:tgtEl>
                                          <p:sndTgt r:embed="rId12" name="pop.wav"/>
                                        </p:tgtEl>
                                      </p:cMediaNode>
                                    </p:audio>
                                  </p:subTnLst>
                                </p:cTn>
                              </p:par>
                            </p:childTnLst>
                          </p:cTn>
                        </p:par>
                      </p:childTnLst>
                    </p:cTn>
                  </p:par>
                </p:childTnLst>
              </p:cTn>
              <p:nextCondLst>
                <p:cond evt="onNext" delay="0">
                  <p:tgtEl>
                    <p:spTgt spid="5"/>
                  </p:tgtEl>
                </p:cond>
              </p:nextCondLst>
            </p:seq>
            <p:seq concurrent="1" nextAc="seek">
              <p:cTn id="22" restart="whenNotActive" fill="hold" evtFilter="cancelBubble" nodeType="interactiveSeq">
                <p:stCondLst>
                  <p:cond evt="onClick" delay="0">
                    <p:tgtEl>
                      <p:spTgt spid="8"/>
                    </p:tgtEl>
                  </p:cond>
                </p:stCondLst>
                <p:endSync evt="end" delay="0">
                  <p:rtn val="all"/>
                </p:endSync>
                <p:childTnLst>
                  <p:par>
                    <p:cTn id="23" fill="hold">
                      <p:stCondLst>
                        <p:cond delay="0"/>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subTnLst>
                                    <p:audio>
                                      <p:cMediaNode vol="80000" showWhenStopped="0">
                                        <p:cTn id="28" display="0" masterRel="sameClick">
                                          <p:stCondLst>
                                            <p:cond evt="onBegin" delay="0">
                                              <p:tn val="25"/>
                                            </p:cond>
                                          </p:stCondLst>
                                        </p:cTn>
                                        <p:tgtEl>
                                          <p:sndTgt r:embed="rId12" name="pop.wav"/>
                                        </p:tgtEl>
                                      </p:cMediaNode>
                                    </p:audio>
                                  </p:subTnLst>
                                </p:cTn>
                              </p:par>
                            </p:childTnLst>
                          </p:cTn>
                        </p:par>
                      </p:childTnLst>
                    </p:cTn>
                  </p:par>
                </p:childTnLst>
              </p:cTn>
              <p:nextCondLst>
                <p:cond evt="onNext" delay="0">
                  <p:tgtEl>
                    <p:spTgt spid="8"/>
                  </p:tgtEl>
                </p:cond>
              </p:nextCondLst>
            </p:seq>
            <p:seq concurrent="1" nextAc="seek">
              <p:cTn id="29" restart="whenNotActive" fill="hold" evtFilter="cancelBubble" nodeType="interactiveSeq">
                <p:stCondLst>
                  <p:cond evt="onClick" delay="0">
                    <p:tgtEl>
                      <p:spTgt spid="11"/>
                    </p:tgtEl>
                  </p:cond>
                </p:stCondLst>
                <p:endSync evt="end" delay="0">
                  <p:rtn val="all"/>
                </p:endSync>
                <p:childTnLst>
                  <p:par>
                    <p:cTn id="30" fill="hold">
                      <p:stCondLst>
                        <p:cond delay="0"/>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subTnLst>
                                    <p:audio>
                                      <p:cMediaNode vol="80000" showWhenStopped="0">
                                        <p:cTn id="35" display="0" masterRel="sameClick">
                                          <p:stCondLst>
                                            <p:cond evt="onBegin" delay="0">
                                              <p:tn val="32"/>
                                            </p:cond>
                                          </p:stCondLst>
                                        </p:cTn>
                                        <p:tgtEl>
                                          <p:sndTgt r:embed="rId12" name="pop.wav"/>
                                        </p:tgtEl>
                                      </p:cMediaNode>
                                    </p:audio>
                                  </p:subTnLst>
                                </p:cTn>
                              </p:par>
                            </p:childTnLst>
                          </p:cTn>
                        </p:par>
                      </p:childTnLst>
                    </p:cTn>
                  </p:par>
                </p:childTnLst>
              </p:cTn>
              <p:nextCondLst>
                <p:cond evt="onNext" delay="0">
                  <p:tgtEl>
                    <p:spTgt spid="11"/>
                  </p:tgtEl>
                </p:cond>
              </p:nextCondLst>
            </p:seq>
            <p:seq concurrent="1" nextAc="seek">
              <p:cTn id="36" restart="whenNotActive" fill="hold" evtFilter="cancelBubble" nodeType="interactiveSeq">
                <p:stCondLst>
                  <p:cond evt="onClick" delay="0">
                    <p:tgtEl>
                      <p:spTgt spid="14"/>
                    </p:tgtEl>
                  </p:cond>
                </p:stCondLst>
                <p:endSync evt="end" delay="0">
                  <p:rtn val="all"/>
                </p:endSync>
                <p:childTnLst>
                  <p:par>
                    <p:cTn id="37" fill="hold">
                      <p:stCondLst>
                        <p:cond delay="0"/>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subTnLst>
                                    <p:audio>
                                      <p:cMediaNode vol="80000" showWhenStopped="0">
                                        <p:cTn id="42" display="0" masterRel="sameClick">
                                          <p:stCondLst>
                                            <p:cond evt="onBegin" delay="0">
                                              <p:tn val="39"/>
                                            </p:cond>
                                          </p:stCondLst>
                                        </p:cTn>
                                        <p:tgtEl>
                                          <p:sndTgt r:embed="rId12" name="pop.wav"/>
                                        </p:tgtEl>
                                      </p:cMediaNode>
                                    </p:audio>
                                  </p:subTnLst>
                                </p:cTn>
                              </p:par>
                            </p:childTnLst>
                          </p:cTn>
                        </p:par>
                      </p:childTnLst>
                    </p:cTn>
                  </p:par>
                </p:childTnLst>
              </p:cTn>
              <p:nextCondLst>
                <p:cond evt="onNext" delay="0">
                  <p:tgtEl>
                    <p:spTgt spid="14"/>
                  </p:tgtEl>
                </p:cond>
              </p:nextCondLst>
            </p:seq>
            <p:seq concurrent="1" nextAc="seek">
              <p:cTn id="43" restart="whenNotActive" fill="hold" evtFilter="cancelBubble" nodeType="interactiveSeq">
                <p:stCondLst>
                  <p:cond evt="onClick" delay="0">
                    <p:tgtEl>
                      <p:spTgt spid="17"/>
                    </p:tgtEl>
                  </p:cond>
                </p:stCondLst>
                <p:endSync evt="end" delay="0">
                  <p:rtn val="all"/>
                </p:endSync>
                <p:childTnLst>
                  <p:par>
                    <p:cTn id="44" fill="hold">
                      <p:stCondLst>
                        <p:cond delay="0"/>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subTnLst>
                                    <p:audio>
                                      <p:cMediaNode vol="80000" showWhenStopped="0">
                                        <p:cTn id="49" display="0" masterRel="sameClick">
                                          <p:stCondLst>
                                            <p:cond evt="onBegin" delay="0">
                                              <p:tn val="46"/>
                                            </p:cond>
                                          </p:stCondLst>
                                        </p:cTn>
                                        <p:tgtEl>
                                          <p:sndTgt r:embed="rId12" name="pop.wav"/>
                                        </p:tgtEl>
                                      </p:cMediaNode>
                                    </p:audio>
                                  </p:subTnLst>
                                </p:cTn>
                              </p:par>
                            </p:childTnLst>
                          </p:cTn>
                        </p:par>
                      </p:childTnLst>
                    </p:cTn>
                  </p:par>
                </p:childTnLst>
              </p:cTn>
              <p:nextCondLst>
                <p:cond evt="onNext" delay="0">
                  <p:tgtEl>
                    <p:spTgt spid="17"/>
                  </p:tgtEl>
                </p:cond>
              </p:nextCondLst>
            </p:seq>
          </p:childTnLst>
        </p:cTn>
      </p:par>
    </p:tnLst>
    <p:bldLst>
      <p:bldP spid="7" grpId="0" animBg="1"/>
      <p:bldP spid="10" grpId="0" animBg="1"/>
      <p:bldP spid="13" grpId="0" animBg="1"/>
      <p:bldP spid="16" grpId="0" animBg="1"/>
      <p:bldP spid="19"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9_1" descr="عنوان الشريحة">    </p:cNvPr>
          <p:cNvPicPr>
            <a:picLocks noChangeAspect="1"/>
          </p:cNvPicPr>
          <p:nvPr/>
        </p:nvPicPr>
        <p:blipFill>
          <a:blip r:embed="rId2"/>
          <a:stretch>
            <a:fillRect/>
          </a:stretch>
        </p:blipFill>
        <p:spPr>
          <a:xfrm>
            <a:off x="5059375" y="219747"/>
            <a:ext cx="6766560" cy="657785"/>
          </a:xfrm>
          <a:prstGeom prst="rect">
            <a:avLst/>
          </a:prstGeom>
        </p:spPr>
      </p:pic>
      <p:sp>
        <p:nvSpPr>
          <p:cNvPr id="3" name="s19_2"/>
          <p:cNvSpPr txBox="1"/>
          <p:nvPr/>
        </p:nvSpPr>
        <p:spPr>
          <a:xfrm>
            <a:off x="365760" y="292608"/>
            <a:ext cx="34518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التناقض المعرفي</a:t>
            </a:r>
            <a:endParaRPr lang="en-US" sz="1600" dirty="0"/>
          </a:p>
        </p:txBody>
      </p:sp>
      <p:sp>
        <p:nvSpPr>
          <p:cNvPr id="4" name="s19_3@c1"/>
          <p:cNvSpPr txBox="1"/>
          <p:nvPr/>
        </p:nvSpPr>
        <p:spPr>
          <a:xfrm>
            <a:off x="7909560" y="1143000"/>
            <a:ext cx="3840480" cy="1463040"/>
          </a:xfrm>
          <a:prstGeom prst="roundRect">
            <a:avLst>
              <a:gd name="adj" fmla="val 8750"/>
            </a:avLst>
          </a:prstGeom>
          <a:solidFill>
            <a:srgbClr val="FDE2E2"/>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D23B3B"/>
                </a:solidFill>
                <a:latin typeface="Tahoma" pitchFamily="34" charset="0"/>
                <a:ea typeface="Tahoma" pitchFamily="34" charset="-122"/>
                <a:cs typeface="Tahoma" pitchFamily="34" charset="-120"/>
              </a:rPr>
              <a:t>✘ عبارة: </a:t>
            </a:r>
            <a:r>
              <a:rPr lang="ar-SA" altLang="en-US" sz="1550" b="1" dirty="0">
                <a:solidFill>
                  <a:srgbClr val="34405E"/>
                </a:solidFill>
                <a:latin typeface="Tahoma" pitchFamily="34" charset="0"/>
                <a:ea typeface="Tahoma" pitchFamily="34" charset="-122"/>
                <a:cs typeface="Tahoma" pitchFamily="34" charset="-120"/>
              </a:rPr>
              <a:t>السهم في السلسلة الغذائية يشير إلى المخلوق الذي يُؤكَل.</a:t>
            </a:r>
            <a:endParaRPr lang="ar-SA" sz="1550" dirty="0"/>
          </a:p>
        </p:txBody>
      </p:sp>
      <p:sp>
        <p:nvSpPr>
          <p:cNvPr id="5" name="s19_4@c2"/>
          <p:cNvSpPr txBox="1"/>
          <p:nvPr/>
        </p:nvSpPr>
        <p:spPr>
          <a:xfrm>
            <a:off x="4343400" y="1143000"/>
            <a:ext cx="3429000" cy="1463040"/>
          </a:xfrm>
          <a:prstGeom prst="roundRect">
            <a:avLst>
              <a:gd name="adj" fmla="val 8750"/>
            </a:avLst>
          </a:prstGeom>
          <a:solidFill>
            <a:srgbClr val="ECE6FB"/>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6B4FC0"/>
                </a:solidFill>
                <a:latin typeface="Tahoma" pitchFamily="34" charset="0"/>
                <a:ea typeface="Tahoma" pitchFamily="34" charset="-122"/>
                <a:cs typeface="Tahoma" pitchFamily="34" charset="-120"/>
              </a:rPr>
              <a:t>🤔 فكّري: </a:t>
            </a:r>
            <a:r>
              <a:rPr lang="ar-SA" altLang="en-US" sz="1500" dirty="0">
                <a:solidFill>
                  <a:srgbClr val="34405E"/>
                </a:solidFill>
                <a:latin typeface="Tahoma" pitchFamily="34" charset="0"/>
                <a:ea typeface="Tahoma" pitchFamily="34" charset="-122"/>
                <a:cs typeface="Tahoma" pitchFamily="34" charset="-120"/>
              </a:rPr>
              <a:t>إلى أين يشير السهم بين اليرقة والسرعوف؟</a:t>
            </a:r>
            <a:endParaRPr lang="ar-SA" sz="1500" dirty="0"/>
          </a:p>
        </p:txBody>
      </p:sp>
      <p:sp>
        <p:nvSpPr>
          <p:cNvPr id="6" name="s19_5@c3%chime"/>
          <p:cNvSpPr txBox="1"/>
          <p:nvPr/>
        </p:nvSpPr>
        <p:spPr>
          <a:xfrm>
            <a:off x="548640" y="1143000"/>
            <a:ext cx="3657600" cy="1463040"/>
          </a:xfrm>
          <a:prstGeom prst="roundRect">
            <a:avLst>
              <a:gd name="adj" fmla="val 8750"/>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التصحيح: </a:t>
            </a:r>
            <a:r>
              <a:rPr lang="ar-SA" altLang="en-US" sz="1500" dirty="0">
                <a:solidFill>
                  <a:srgbClr val="34405E"/>
                </a:solidFill>
                <a:latin typeface="Tahoma" pitchFamily="34" charset="0"/>
                <a:ea typeface="Tahoma" pitchFamily="34" charset="-122"/>
                <a:cs typeface="Tahoma" pitchFamily="34" charset="-120"/>
              </a:rPr>
              <a:t>السهم يشير إلى المستهلك التالي؛ أي اتجاه انتقال الطاقة من الغذاء إلى آكله.</a:t>
            </a:r>
            <a:endParaRPr lang="ar-SA" sz="1500" dirty="0"/>
          </a:p>
        </p:txBody>
      </p:sp>
      <p:sp>
        <p:nvSpPr>
          <p:cNvPr id="7" name="s19_6@c4"/>
          <p:cNvSpPr txBox="1"/>
          <p:nvPr/>
        </p:nvSpPr>
        <p:spPr>
          <a:xfrm>
            <a:off x="7909560" y="2807208"/>
            <a:ext cx="3840480" cy="1463040"/>
          </a:xfrm>
          <a:prstGeom prst="roundRect">
            <a:avLst>
              <a:gd name="adj" fmla="val 8750"/>
            </a:avLst>
          </a:prstGeom>
          <a:solidFill>
            <a:srgbClr val="FDE2E2"/>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D23B3B"/>
                </a:solidFill>
                <a:latin typeface="Tahoma" pitchFamily="34" charset="0"/>
                <a:ea typeface="Tahoma" pitchFamily="34" charset="-122"/>
                <a:cs typeface="Tahoma" pitchFamily="34" charset="-120"/>
              </a:rPr>
              <a:t>✘ عبارة: </a:t>
            </a:r>
            <a:r>
              <a:rPr lang="ar-SA" altLang="en-US" sz="1550" b="1" dirty="0">
                <a:solidFill>
                  <a:srgbClr val="34405E"/>
                </a:solidFill>
                <a:latin typeface="Tahoma" pitchFamily="34" charset="0"/>
                <a:ea typeface="Tahoma" pitchFamily="34" charset="-122"/>
                <a:cs typeface="Tahoma" pitchFamily="34" charset="-120"/>
              </a:rPr>
              <a:t>تبدأ السلسلة الغذائية بأقوى حيوان.</a:t>
            </a:r>
            <a:endParaRPr lang="ar-SA" sz="1550" dirty="0"/>
          </a:p>
        </p:txBody>
      </p:sp>
      <p:sp>
        <p:nvSpPr>
          <p:cNvPr id="8" name="s19_7@c5"/>
          <p:cNvSpPr txBox="1"/>
          <p:nvPr/>
        </p:nvSpPr>
        <p:spPr>
          <a:xfrm>
            <a:off x="4343400" y="2807208"/>
            <a:ext cx="3429000" cy="1463040"/>
          </a:xfrm>
          <a:prstGeom prst="roundRect">
            <a:avLst>
              <a:gd name="adj" fmla="val 8750"/>
            </a:avLst>
          </a:prstGeom>
          <a:solidFill>
            <a:srgbClr val="ECE6FB"/>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6B4FC0"/>
                </a:solidFill>
                <a:latin typeface="Tahoma" pitchFamily="34" charset="0"/>
                <a:ea typeface="Tahoma" pitchFamily="34" charset="-122"/>
                <a:cs typeface="Tahoma" pitchFamily="34" charset="-120"/>
              </a:rPr>
              <a:t>🤔 فكّري: </a:t>
            </a:r>
            <a:r>
              <a:rPr lang="ar-SA" altLang="en-US" sz="1500" dirty="0">
                <a:solidFill>
                  <a:srgbClr val="34405E"/>
                </a:solidFill>
                <a:latin typeface="Tahoma" pitchFamily="34" charset="0"/>
                <a:ea typeface="Tahoma" pitchFamily="34" charset="-122"/>
                <a:cs typeface="Tahoma" pitchFamily="34" charset="-120"/>
              </a:rPr>
              <a:t>بماذا بدأت سلسلة اليابسة في كتابي؟</a:t>
            </a:r>
            <a:endParaRPr lang="ar-SA" sz="1500" dirty="0"/>
          </a:p>
        </p:txBody>
      </p:sp>
      <p:sp>
        <p:nvSpPr>
          <p:cNvPr id="9" name="s19_8@c6%chime"/>
          <p:cNvSpPr txBox="1"/>
          <p:nvPr/>
        </p:nvSpPr>
        <p:spPr>
          <a:xfrm>
            <a:off x="548640" y="2807208"/>
            <a:ext cx="3657600" cy="1463040"/>
          </a:xfrm>
          <a:prstGeom prst="roundRect">
            <a:avLst>
              <a:gd name="adj" fmla="val 8750"/>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التصحيح: </a:t>
            </a:r>
            <a:r>
              <a:rPr lang="ar-SA" altLang="en-US" sz="1500" dirty="0">
                <a:solidFill>
                  <a:srgbClr val="34405E"/>
                </a:solidFill>
                <a:latin typeface="Tahoma" pitchFamily="34" charset="0"/>
                <a:ea typeface="Tahoma" pitchFamily="34" charset="-122"/>
                <a:cs typeface="Tahoma" pitchFamily="34" charset="-120"/>
              </a:rPr>
              <a:t>تبدأ بمنتِج يصنع غذاءه بطاقة الشمس، مثل نبات الشوك.</a:t>
            </a:r>
            <a:endParaRPr lang="ar-SA" sz="1500" dirty="0"/>
          </a:p>
        </p:txBody>
      </p:sp>
      <p:sp>
        <p:nvSpPr>
          <p:cNvPr id="10" name="s19_9@c7"/>
          <p:cNvSpPr txBox="1"/>
          <p:nvPr/>
        </p:nvSpPr>
        <p:spPr>
          <a:xfrm>
            <a:off x="7909560" y="4471416"/>
            <a:ext cx="3840480" cy="1463040"/>
          </a:xfrm>
          <a:prstGeom prst="roundRect">
            <a:avLst>
              <a:gd name="adj" fmla="val 8750"/>
            </a:avLst>
          </a:prstGeom>
          <a:solidFill>
            <a:srgbClr val="FDE2E2"/>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D23B3B"/>
                </a:solidFill>
                <a:latin typeface="Tahoma" pitchFamily="34" charset="0"/>
                <a:ea typeface="Tahoma" pitchFamily="34" charset="-122"/>
                <a:cs typeface="Tahoma" pitchFamily="34" charset="-120"/>
              </a:rPr>
              <a:t>✘ عبارة: </a:t>
            </a:r>
            <a:r>
              <a:rPr lang="ar-SA" altLang="en-US" sz="1550" b="1" dirty="0">
                <a:solidFill>
                  <a:srgbClr val="34405E"/>
                </a:solidFill>
                <a:latin typeface="Tahoma" pitchFamily="34" charset="0"/>
                <a:ea typeface="Tahoma" pitchFamily="34" charset="-122"/>
                <a:cs typeface="Tahoma" pitchFamily="34" charset="-120"/>
              </a:rPr>
              <a:t>البومة تأخذ طاقتها من الشمس مباشرة؛ لأنها تطير عاليًا.</a:t>
            </a:r>
            <a:endParaRPr lang="ar-SA" sz="1550" dirty="0"/>
          </a:p>
        </p:txBody>
      </p:sp>
      <p:sp>
        <p:nvSpPr>
          <p:cNvPr id="11" name="s19_10@c8"/>
          <p:cNvSpPr txBox="1"/>
          <p:nvPr/>
        </p:nvSpPr>
        <p:spPr>
          <a:xfrm>
            <a:off x="4343400" y="4471416"/>
            <a:ext cx="3429000" cy="1463040"/>
          </a:xfrm>
          <a:prstGeom prst="roundRect">
            <a:avLst>
              <a:gd name="adj" fmla="val 8750"/>
            </a:avLst>
          </a:prstGeom>
          <a:solidFill>
            <a:srgbClr val="ECE6FB"/>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6B4FC0"/>
                </a:solidFill>
                <a:latin typeface="Tahoma" pitchFamily="34" charset="0"/>
                <a:ea typeface="Tahoma" pitchFamily="34" charset="-122"/>
                <a:cs typeface="Tahoma" pitchFamily="34" charset="-120"/>
              </a:rPr>
              <a:t>🤔 فكّري: </a:t>
            </a:r>
            <a:r>
              <a:rPr lang="ar-SA" altLang="en-US" sz="1500" dirty="0">
                <a:solidFill>
                  <a:srgbClr val="34405E"/>
                </a:solidFill>
                <a:latin typeface="Tahoma" pitchFamily="34" charset="0"/>
                <a:ea typeface="Tahoma" pitchFamily="34" charset="-122"/>
                <a:cs typeface="Tahoma" pitchFamily="34" charset="-120"/>
              </a:rPr>
              <a:t>هل يستطيع أيّ حيوان أخذ الطاقة من الشمس؟</a:t>
            </a:r>
            <a:endParaRPr lang="ar-SA" sz="1500" dirty="0"/>
          </a:p>
        </p:txBody>
      </p:sp>
      <p:sp>
        <p:nvSpPr>
          <p:cNvPr id="12" name="s19_11@c9%chime"/>
          <p:cNvSpPr txBox="1"/>
          <p:nvPr/>
        </p:nvSpPr>
        <p:spPr>
          <a:xfrm>
            <a:off x="548640" y="4471416"/>
            <a:ext cx="3657600" cy="1463040"/>
          </a:xfrm>
          <a:prstGeom prst="roundRect">
            <a:avLst>
              <a:gd name="adj" fmla="val 8750"/>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التصحيح: </a:t>
            </a:r>
            <a:r>
              <a:rPr lang="ar-SA" altLang="en-US" sz="1500" dirty="0">
                <a:solidFill>
                  <a:srgbClr val="34405E"/>
                </a:solidFill>
                <a:latin typeface="Tahoma" pitchFamily="34" charset="0"/>
                <a:ea typeface="Tahoma" pitchFamily="34" charset="-122"/>
                <a:cs typeface="Tahoma" pitchFamily="34" charset="-120"/>
              </a:rPr>
              <a:t>لا يستطيع؛ تحصل البومة على الطاقة من السحلية التي تأكلها.</a:t>
            </a:r>
            <a:endParaRPr lang="ar-SA" sz="1500" dirty="0"/>
          </a:p>
        </p:txBody>
      </p:sp>
      <p:sp>
        <p:nvSpPr>
          <p:cNvPr id="13" name="s19_12"/>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4" name="s19_13"/>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٢: اليابسة • صفحة ١١٢</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subTnLst>
                                    <p:audio>
                                      <p:cMediaNode vol="80000" showWhenStopped="0">
                                        <p:cTn id="18" display="0" masterRel="sameClick">
                                          <p:stCondLst>
                                            <p:cond evt="onBegin" delay="0">
                                              <p:tn val="15"/>
                                            </p:cond>
                                          </p:stCondLst>
                                        </p:cTn>
                                        <p:tgtEl>
                                          <p:sndTgt r:embed="rId5" name="chime.wav"/>
                                        </p:tgtEl>
                                      </p:cMediaNode>
                                    </p:audio>
                                  </p:sub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subTnLst>
                                    <p:audio>
                                      <p:cMediaNode vol="80000" showWhenStopped="0">
                                        <p:cTn id="34" display="0" masterRel="sameClick">
                                          <p:stCondLst>
                                            <p:cond evt="onBegin" delay="0">
                                              <p:tn val="31"/>
                                            </p:cond>
                                          </p:stCondLst>
                                        </p:cTn>
                                        <p:tgtEl>
                                          <p:sndTgt r:embed="rId5" name="chime.wav"/>
                                        </p:tgtEl>
                                      </p:cMediaNode>
                                    </p:audio>
                                  </p:sub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subTnLst>
                                    <p:audio>
                                      <p:cMediaNode vol="80000" showWhenStopped="0">
                                        <p:cTn id="50" display="0" masterRel="sameClick">
                                          <p:stCondLst>
                                            <p:cond evt="onBegin" delay="0">
                                              <p:tn val="47"/>
                                            </p:cond>
                                          </p:stCondLst>
                                        </p:cTn>
                                        <p:tgtEl>
                                          <p:sndTgt r:embed="rId5"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0_1" descr="عنوان الشريحة">    </p:cNvPr>
          <p:cNvPicPr>
            <a:picLocks noChangeAspect="1"/>
          </p:cNvPicPr>
          <p:nvPr/>
        </p:nvPicPr>
        <p:blipFill>
          <a:blip r:embed="rId2"/>
          <a:stretch>
            <a:fillRect/>
          </a:stretch>
        </p:blipFill>
        <p:spPr>
          <a:xfrm>
            <a:off x="8731965" y="182880"/>
            <a:ext cx="3093970" cy="731520"/>
          </a:xfrm>
          <a:prstGeom prst="rect">
            <a:avLst/>
          </a:prstGeom>
        </p:spPr>
      </p:pic>
      <p:sp>
        <p:nvSpPr>
          <p:cNvPr id="3" name="s20_2"/>
          <p:cNvSpPr txBox="1"/>
          <p:nvPr/>
        </p:nvSpPr>
        <p:spPr>
          <a:xfrm>
            <a:off x="365760" y="292608"/>
            <a:ext cx="50520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التوقّع – فكّري، زاوجي، شاركي</a:t>
            </a:r>
            <a:endParaRPr lang="en-US" sz="1600" dirty="0"/>
          </a:p>
        </p:txBody>
      </p:sp>
      <p:pic>
        <p:nvPicPr>
          <p:cNvPr id="4" name="s20_3" descr="قطار الرحلة">    </p:cNvPr>
          <p:cNvPicPr>
            <a:picLocks noChangeAspect="1"/>
          </p:cNvPicPr>
          <p:nvPr/>
        </p:nvPicPr>
        <p:blipFill>
          <a:blip r:embed="rId3"/>
          <a:stretch>
            <a:fillRect/>
          </a:stretch>
        </p:blipFill>
        <p:spPr>
          <a:xfrm>
            <a:off x="3108960" y="2743200"/>
            <a:ext cx="5943600" cy="1367028"/>
          </a:xfrm>
          <a:prstGeom prst="rect">
            <a:avLst/>
          </a:prstGeom>
        </p:spPr>
      </p:pic>
      <p:sp>
        <p:nvSpPr>
          <p:cNvPr id="5" name="s20_4"/>
          <p:cNvSpPr txBox="1"/>
          <p:nvPr/>
        </p:nvSpPr>
        <p:spPr>
          <a:xfrm>
            <a:off x="3566160" y="1417320"/>
            <a:ext cx="5029200" cy="914400"/>
          </a:xfrm>
          <a:prstGeom prst="roundRect">
            <a:avLst>
              <a:gd name="adj" fmla="val 30000"/>
            </a:avLst>
          </a:prstGeom>
          <a:solidFill>
            <a:srgbClr val="C9F0C0"/>
          </a:solidFill>
          <a:ln w="38100">
            <a:solidFill>
              <a:srgbClr val="34405E"/>
            </a:solidFill>
          </a:ln>
        </p:spPr>
        <p:txBody>
          <a:bodyPr wrap="square" lIns="101600" tIns="101600" rIns="101600" bIns="101600" rtlCol="0" anchor="ctr"/>
          <a:lstStyle/>
          <a:p>
            <a:pPr rtl="1" algn="ctr" indent="0" marL="0">
              <a:buNone/>
            </a:pPr>
            <a:r>
              <a:rPr lang="ar-SA" altLang="en-US" sz="2600" b="1" dirty="0">
                <a:solidFill>
                  <a:srgbClr val="34405E"/>
                </a:solidFill>
                <a:latin typeface="Tahoma" pitchFamily="34" charset="0"/>
                <a:ea typeface="Tahoma" pitchFamily="34" charset="-122"/>
                <a:cs typeface="Tahoma" pitchFamily="34" charset="-120"/>
              </a:rPr>
              <a:t>📍 وصلنا إلى محطة البركة 🪷</a:t>
            </a:r>
            <a:endParaRPr lang="ar-SA" sz="2600" dirty="0"/>
          </a:p>
        </p:txBody>
      </p:sp>
      <p:pic>
        <p:nvPicPr>
          <p:cNvPr id="6" name="s20_5@a4" descr="المستكشفة تلوّح">    </p:cNvPr>
          <p:cNvPicPr>
            <a:picLocks noChangeAspect="1"/>
          </p:cNvPicPr>
          <p:nvPr/>
        </p:nvPicPr>
        <p:blipFill>
          <a:blip r:embed="rId4"/>
          <a:stretch>
            <a:fillRect/>
          </a:stretch>
        </p:blipFill>
        <p:spPr>
          <a:xfrm>
            <a:off x="685800" y="1188720"/>
            <a:ext cx="3049793" cy="4937760"/>
          </a:xfrm>
          <a:prstGeom prst="rect">
            <a:avLst/>
          </a:prstGeom>
        </p:spPr>
      </p:pic>
      <p:pic>
        <p:nvPicPr>
          <p:cNvPr id="7" name="s20_6" descr="المستكشفة ببدلة الغوص">    </p:cNvPr>
          <p:cNvPicPr>
            <a:picLocks noChangeAspect="1"/>
          </p:cNvPicPr>
          <p:nvPr/>
        </p:nvPicPr>
        <p:blipFill>
          <a:blip r:embed="rId5"/>
          <a:stretch>
            <a:fillRect/>
          </a:stretch>
        </p:blipFill>
        <p:spPr>
          <a:xfrm>
            <a:off x="502920" y="1051560"/>
            <a:ext cx="3162748" cy="5120640"/>
          </a:xfrm>
          <a:prstGeom prst="rect">
            <a:avLst/>
          </a:prstGeom>
        </p:spPr>
      </p:pic>
      <p:sp>
        <p:nvSpPr>
          <p:cNvPr id="8" name="s20_7@a4"/>
          <p:cNvSpPr txBox="1"/>
          <p:nvPr/>
        </p:nvSpPr>
        <p:spPr>
          <a:xfrm>
            <a:off x="3657600" y="1188720"/>
            <a:ext cx="8092440" cy="868680"/>
          </a:xfrm>
          <a:prstGeom prst="roundRect">
            <a:avLst>
              <a:gd name="adj" fmla="val 14737"/>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34405E"/>
                </a:solidFill>
                <a:latin typeface="Tahoma" pitchFamily="34" charset="0"/>
                <a:ea typeface="Tahoma" pitchFamily="34" charset="-122"/>
                <a:cs typeface="Tahoma" pitchFamily="34" charset="-120"/>
              </a:rPr>
              <a:t>اضغطي لتبدّل المستكشفة ملابسها وتلبس بدلة الغوص! 🤿</a:t>
            </a:r>
            <a:endParaRPr lang="ar-SA" sz="1800" dirty="0"/>
          </a:p>
        </p:txBody>
      </p:sp>
      <p:pic>
        <p:nvPicPr>
          <p:cNvPr id="9" name="s20_8@a4" descr="طحالب">    </p:cNvPr>
          <p:cNvPicPr>
            <a:picLocks noChangeAspect="1"/>
          </p:cNvPicPr>
          <p:nvPr/>
        </p:nvPicPr>
        <p:blipFill>
          <a:blip r:embed="rId6"/>
          <a:stretch>
            <a:fillRect/>
          </a:stretch>
        </p:blipFill>
        <p:spPr>
          <a:xfrm>
            <a:off x="9235440" y="2286000"/>
            <a:ext cx="2377440" cy="2377440"/>
          </a:xfrm>
          <a:prstGeom prst="rect">
            <a:avLst/>
          </a:prstGeom>
        </p:spPr>
      </p:pic>
      <p:sp>
        <p:nvSpPr>
          <p:cNvPr id="10" name="s20_9@a4"/>
          <p:cNvSpPr txBox="1"/>
          <p:nvPr/>
        </p:nvSpPr>
        <p:spPr>
          <a:xfrm>
            <a:off x="8915400" y="4663440"/>
            <a:ext cx="3017520" cy="320040"/>
          </a:xfrm>
          <a:prstGeom prst="rect">
            <a:avLst/>
          </a:prstGeom>
          <a:noFill/>
          <a:ln/>
        </p:spPr>
        <p:txBody>
          <a:bodyPr wrap="square" lIns="63500" tIns="63500" rIns="63500" bIns="63500" rtlCol="0" anchor="ctr"/>
          <a:lstStyle/>
          <a:p>
            <a:pPr rtl="1" algn="ctr" indent="0" marL="0">
              <a:buNone/>
            </a:pPr>
            <a:r>
              <a:rPr lang="ar-SA" altLang="en-US" sz="1200" dirty="0">
                <a:solidFill>
                  <a:srgbClr val="1E5A4E"/>
                </a:solidFill>
                <a:latin typeface="Tahoma" pitchFamily="34" charset="0"/>
                <a:ea typeface="Tahoma" pitchFamily="34" charset="-122"/>
                <a:cs typeface="Tahoma" pitchFamily="34" charset="-120"/>
              </a:rPr>
              <a:t>طحالب – صورة من كتابي ص١١٣</a:t>
            </a:r>
            <a:endParaRPr lang="ar-SA" sz="1200" dirty="0"/>
          </a:p>
        </p:txBody>
      </p:sp>
      <p:sp>
        <p:nvSpPr>
          <p:cNvPr id="11" name="s20_10@a4"/>
          <p:cNvSpPr txBox="1"/>
          <p:nvPr/>
        </p:nvSpPr>
        <p:spPr>
          <a:xfrm>
            <a:off x="3657600" y="2286000"/>
            <a:ext cx="5349240" cy="1417320"/>
          </a:xfrm>
          <a:prstGeom prst="roundRect">
            <a:avLst>
              <a:gd name="adj" fmla="val 9032"/>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توقّعي: </a:t>
            </a:r>
            <a:r>
              <a:rPr lang="ar-SA" altLang="en-US" sz="1800" b="1" dirty="0">
                <a:solidFill>
                  <a:srgbClr val="34405E"/>
                </a:solidFill>
                <a:latin typeface="Tahoma" pitchFamily="34" charset="0"/>
                <a:ea typeface="Tahoma" pitchFamily="34" charset="-122"/>
                <a:cs typeface="Tahoma" pitchFamily="34" charset="-120"/>
              </a:rPr>
              <a:t>هل تشبه السلسلة الغذائية في البركة السلسلةَ الغذائية على اليابسة؟ بماذا تبدأ في رأيك؟</a:t>
            </a:r>
            <a:endParaRPr lang="ar-SA" sz="1800" dirty="0"/>
          </a:p>
        </p:txBody>
      </p:sp>
      <p:sp>
        <p:nvSpPr>
          <p:cNvPr id="12" name="s20_11@a4"/>
          <p:cNvSpPr txBox="1"/>
          <p:nvPr/>
        </p:nvSpPr>
        <p:spPr>
          <a:xfrm>
            <a:off x="3657600" y="3886200"/>
            <a:ext cx="5349240" cy="548640"/>
          </a:xfrm>
          <a:prstGeom prst="roundRect">
            <a:avLst>
              <a:gd name="adj" fmla="val 50000"/>
            </a:avLst>
          </a:prstGeom>
          <a:solidFill>
            <a:srgbClr val="ECE6FB"/>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 فكّري وحدكِ… ثم زاوجي زميلتك… ثم شاركي</a:t>
            </a:r>
            <a:endParaRPr lang="ar-SA" sz="1550" dirty="0"/>
          </a:p>
        </p:txBody>
      </p:sp>
      <p:sp>
        <p:nvSpPr>
          <p:cNvPr id="13" name="s20_12@c2%chime"/>
          <p:cNvSpPr txBox="1"/>
          <p:nvPr/>
        </p:nvSpPr>
        <p:spPr>
          <a:xfrm>
            <a:off x="3657600" y="5120640"/>
            <a:ext cx="8092440" cy="868680"/>
          </a:xfrm>
          <a:prstGeom prst="roundRect">
            <a:avLst>
              <a:gd name="adj" fmla="val 14737"/>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2F8A3A"/>
                </a:solidFill>
                <a:latin typeface="Tahoma" pitchFamily="34" charset="0"/>
                <a:ea typeface="Tahoma" pitchFamily="34" charset="-122"/>
                <a:cs typeface="Tahoma" pitchFamily="34" charset="-120"/>
              </a:rPr>
              <a:t>لنتحقق من كتابي: </a:t>
            </a:r>
            <a:r>
              <a:rPr lang="ar-SA" altLang="en-US" sz="1650" dirty="0">
                <a:solidFill>
                  <a:srgbClr val="34405E"/>
                </a:solidFill>
                <a:latin typeface="Tahoma" pitchFamily="34" charset="0"/>
                <a:ea typeface="Tahoma" pitchFamily="34" charset="-122"/>
                <a:cs typeface="Tahoma" pitchFamily="34" charset="-120"/>
              </a:rPr>
              <a:t>نعم، تتشابهان؛ فالسلسلة في البركة تبدأ أيضًا بمخلوقات تلتقط طاقة الشمس، مثل الطحالب 🌿</a:t>
            </a:r>
            <a:endParaRPr lang="ar-SA" sz="1650" dirty="0"/>
          </a:p>
        </p:txBody>
      </p:sp>
      <p:sp>
        <p:nvSpPr>
          <p:cNvPr id="14" name="s20_13"/>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5" name="s20_14"/>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٣: البركة • صفحة ١١٣</a:t>
            </a:r>
            <a:endParaRPr lang="ar-SA" sz="1300" dirty="0"/>
          </a:p>
        </p:txBody>
      </p:sp>
    </p:spTree>
  </p:cSld>
  <p:clrMapOvr>
    <a:masterClrMapping/>
  </p:clrMapOvr>
  <p:transition spd="med">
    <p:split/>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0" presetClass="path" presetSubtype="0" fill="hold" grpId="1" nodeType="withEffect">
                                  <p:stCondLst>
                                    <p:cond delay="0"/>
                                  </p:stCondLst>
                                  <p:childTnLst>
                                    <p:animMotion origin="layout" path="M 0.75 0 L 0 0 E" pathEditMode="relative" ptsTypes="">
                                      <p:cBhvr>
                                        <p:cTn id="8" dur="2200" fill="hold" accel="40000" decel="40000"/>
                                        <p:tgtEl>
                                          <p:spTgt spid="4"/>
                                        </p:tgtEl>
                                        <p:attrNameLst>
                                          <p:attrName>ppt_x</p:attrName>
                                          <p:attrName>ppt_y</p:attrName>
                                        </p:attrNameLst>
                                      </p:cBhvr>
                                      <p:rCtr x="0" y="0"/>
                                    </p:animMotion>
                                  </p:childTnLst>
                                  <p:subTnLst>
                                    <p:audio>
                                      <p:cMediaNode vol="80000" showWhenStopped="0">
                                        <p:cTn id="9" display="0" masterRel="sameClick">
                                          <p:stCondLst>
                                            <p:cond evt="onBegin" delay="0">
                                              <p:tn val="7"/>
                                            </p:cond>
                                          </p:stCondLst>
                                        </p:cTn>
                                        <p:tgtEl>
                                          <p:sndTgt r:embed="rId9" name="train.wav"/>
                                        </p:tgtEl>
                                      </p:cMediaNode>
                                    </p:audio>
                                  </p:subTnLst>
                                </p:cTn>
                              </p:par>
                            </p:childTnLst>
                          </p:cTn>
                        </p:par>
                        <p:par>
                          <p:cTn id="10" fill="hold">
                            <p:stCondLst>
                              <p:cond delay="22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ppt_w</p:attrName>
                                        </p:attrNameLst>
                                      </p:cBhvr>
                                      <p:tavLst>
                                        <p:tav tm="0">
                                          <p:val>
                                            <p:strVal val="0"/>
                                          </p:val>
                                        </p:tav>
                                        <p:tav tm="100000">
                                          <p:val>
                                            <p:strVal val="#ppt_w"/>
                                          </p:val>
                                        </p:tav>
                                      </p:tavLst>
                                    </p:anim>
                                    <p:anim calcmode="lin" valueType="num">
                                      <p:cBhvr additive="base">
                                        <p:cTn id="14" dur="500" fill="hold"/>
                                        <p:tgtEl>
                                          <p:spTgt spid="5"/>
                                        </p:tgtEl>
                                        <p:attrNameLst>
                                          <p:attrName>ppt_h</p:attrName>
                                        </p:attrNameLst>
                                      </p:cBhvr>
                                      <p:tavLst>
                                        <p:tav tm="0">
                                          <p:val>
                                            <p:strVal val="0"/>
                                          </p:val>
                                        </p:tav>
                                        <p:tav tm="100000">
                                          <p:val>
                                            <p:strVal val="#ppt_h"/>
                                          </p:val>
                                        </p:tav>
                                      </p:tavLst>
                                    </p:anim>
                                    <p:animEffect transition="in" filter="fade">
                                      <p:cBhvr>
                                        <p:cTn id="15" dur="500"/>
                                        <p:tgtEl>
                                          <p:spTgt spid="5"/>
                                        </p:tgtEl>
                                      </p:cBhvr>
                                    </p:animEffect>
                                  </p:childTnLst>
                                  <p:subTnLst>
                                    <p:audio>
                                      <p:cMediaNode vol="80000" showWhenStopped="0">
                                        <p:cTn id="16" display="0" masterRel="sameClick">
                                          <p:stCondLst>
                                            <p:cond evt="onBegin" delay="0">
                                              <p:tn val="11"/>
                                            </p:cond>
                                          </p:stCondLst>
                                        </p:cTn>
                                        <p:tgtEl>
                                          <p:sndTgt r:embed="rId10" name="chime.wav"/>
                                        </p:tgtEl>
                                      </p:cMediaNode>
                                    </p:audio>
                                  </p:subTnLst>
                                </p:cTn>
                              </p:par>
                            </p:childTnLst>
                          </p:cTn>
                        </p:par>
                        <p:par>
                          <p:cTn id="17" fill="hold">
                            <p:stCondLst>
                              <p:cond delay="2700"/>
                            </p:stCondLst>
                            <p:childTnLst>
                              <p:par>
                                <p:cTn id="18" presetID="0" presetClass="path" presetSubtype="0" fill="hold" grpId="2" nodeType="afterEffect">
                                  <p:stCondLst>
                                    <p:cond delay="400"/>
                                  </p:stCondLst>
                                  <p:childTnLst>
                                    <p:animMotion origin="layout" path="M 0 0 L -0.8 0 E" pathEditMode="relative" ptsTypes="">
                                      <p:cBhvr>
                                        <p:cTn id="19" dur="1600" fill="hold"/>
                                        <p:tgtEl>
                                          <p:spTgt spid="4"/>
                                        </p:tgtEl>
                                        <p:attrNameLst>
                                          <p:attrName>ppt_x</p:attrName>
                                          <p:attrName>ppt_y</p:attrName>
                                        </p:attrNameLst>
                                      </p:cBhvr>
                                      <p:rCtr x="0" y="0"/>
                                    </p:animMotion>
                                  </p:childTnLst>
                                </p:cTn>
                              </p:par>
                              <p:par>
                                <p:cTn id="20" presetID="10" presetClass="exit" presetSubtype="0" fill="hold" grpId="1" nodeType="withEffect">
                                  <p:stCondLst>
                                    <p:cond delay="1300"/>
                                  </p:stCondLst>
                                  <p:childTnLst>
                                    <p:animEffect transition="out" filter="fade">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par>
                          <p:cTn id="23" fill="hold">
                            <p:stCondLst>
                              <p:cond delay="4700"/>
                            </p:stCondLst>
                            <p:childTnLst>
                              <p:par>
                                <p:cTn id="24" presetID="10"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6"/>
                                        </p:tgtEl>
                                      </p:cBhvr>
                                    </p:animEffect>
                                    <p:set>
                                      <p:cBhvr>
                                        <p:cTn id="46" dur="1" fill="hold">
                                          <p:stCondLst>
                                            <p:cond delay="499"/>
                                          </p:stCondLst>
                                        </p:cTn>
                                        <p:tgtEl>
                                          <p:spTgt spid="6"/>
                                        </p:tgtEl>
                                        <p:attrNameLst>
                                          <p:attrName>style.visibility</p:attrName>
                                        </p:attrNameLst>
                                      </p:cBhvr>
                                      <p:to>
                                        <p:strVal val="hidden"/>
                                      </p:to>
                                    </p:set>
                                  </p:childTnLst>
                                </p:cTn>
                              </p:par>
                              <p:par>
                                <p:cTn id="47" presetID="53" presetClass="entr" presetSubtype="16" fill="hold" grpId="0" nodeType="withEffect">
                                  <p:stCondLst>
                                    <p:cond delay="30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700" fill="hold"/>
                                        <p:tgtEl>
                                          <p:spTgt spid="7"/>
                                        </p:tgtEl>
                                        <p:attrNameLst>
                                          <p:attrName>ppt_w</p:attrName>
                                        </p:attrNameLst>
                                      </p:cBhvr>
                                      <p:tavLst>
                                        <p:tav tm="0">
                                          <p:val>
                                            <p:strVal val="0"/>
                                          </p:val>
                                        </p:tav>
                                        <p:tav tm="100000">
                                          <p:val>
                                            <p:strVal val="#ppt_w"/>
                                          </p:val>
                                        </p:tav>
                                      </p:tavLst>
                                    </p:anim>
                                    <p:anim calcmode="lin" valueType="num">
                                      <p:cBhvr additive="base">
                                        <p:cTn id="50" dur="700" fill="hold"/>
                                        <p:tgtEl>
                                          <p:spTgt spid="7"/>
                                        </p:tgtEl>
                                        <p:attrNameLst>
                                          <p:attrName>ppt_h</p:attrName>
                                        </p:attrNameLst>
                                      </p:cBhvr>
                                      <p:tavLst>
                                        <p:tav tm="0">
                                          <p:val>
                                            <p:strVal val="0"/>
                                          </p:val>
                                        </p:tav>
                                        <p:tav tm="100000">
                                          <p:val>
                                            <p:strVal val="#ppt_h"/>
                                          </p:val>
                                        </p:tav>
                                      </p:tavLst>
                                    </p:anim>
                                    <p:animEffect transition="in" filter="fade">
                                      <p:cBhvr>
                                        <p:cTn id="51" dur="700"/>
                                        <p:tgtEl>
                                          <p:spTgt spid="7"/>
                                        </p:tgtEl>
                                      </p:cBhvr>
                                    </p:animEffect>
                                  </p:childTnLst>
                                  <p:subTnLst>
                                    <p:audio>
                                      <p:cMediaNode vol="80000" showWhenStopped="0">
                                        <p:cTn id="52" display="0" masterRel="sameClick">
                                          <p:stCondLst>
                                            <p:cond evt="onBegin" delay="0">
                                              <p:tn val="47"/>
                                            </p:cond>
                                          </p:stCondLst>
                                        </p:cTn>
                                        <p:tgtEl>
                                          <p:sndTgt r:embed="rId11" name="sparkle.wav"/>
                                        </p:tgtEl>
                                      </p:cMediaNode>
                                    </p:audio>
                                  </p:sub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subTnLst>
                                    <p:audio>
                                      <p:cMediaNode vol="80000" showWhenStopped="0">
                                        <p:cTn id="58" display="0" masterRel="sameClick">
                                          <p:stCondLst>
                                            <p:cond evt="onBegin" delay="0">
                                              <p:tn val="55"/>
                                            </p:cond>
                                          </p:stCondLst>
                                        </p:cTn>
                                        <p:tgtEl>
                                          <p:sndTgt r:embed="rId10"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8" grpId="0" animBg="1"/>
      <p:bldP spid="10" grpId="0" animBg="1"/>
      <p:bldP spid="11" grpId="0" animBg="1"/>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1_1" descr="عنوان الشريحة">    </p:cNvPr>
          <p:cNvPicPr>
            <a:picLocks noChangeAspect="1"/>
          </p:cNvPicPr>
          <p:nvPr/>
        </p:nvPicPr>
        <p:blipFill>
          <a:blip r:embed="rId2"/>
          <a:stretch>
            <a:fillRect/>
          </a:stretch>
        </p:blipFill>
        <p:spPr>
          <a:xfrm>
            <a:off x="6831213" y="182880"/>
            <a:ext cx="4994723" cy="731520"/>
          </a:xfrm>
          <a:prstGeom prst="rect">
            <a:avLst/>
          </a:prstGeom>
        </p:spPr>
      </p:pic>
      <p:sp>
        <p:nvSpPr>
          <p:cNvPr id="3" name="s21_2"/>
          <p:cNvSpPr txBox="1"/>
          <p:nvPr/>
        </p:nvSpPr>
        <p:spPr>
          <a:xfrm>
            <a:off x="365760" y="292608"/>
            <a:ext cx="51663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الفهم القرائي – الدليل من النص</a:t>
            </a:r>
            <a:endParaRPr lang="en-US" sz="1600" dirty="0"/>
          </a:p>
        </p:txBody>
      </p:sp>
      <p:pic>
        <p:nvPicPr>
          <p:cNvPr id="4" name="s21_3" descr="صفحة ١١٣ من كتاب العلوم">    </p:cNvPr>
          <p:cNvPicPr>
            <a:picLocks noChangeAspect="1"/>
          </p:cNvPicPr>
          <p:nvPr/>
        </p:nvPicPr>
        <p:blipFill>
          <a:blip r:embed="rId3"/>
          <a:stretch>
            <a:fillRect/>
          </a:stretch>
        </p:blipFill>
        <p:spPr>
          <a:xfrm>
            <a:off x="365760" y="896112"/>
            <a:ext cx="4254090" cy="5486400"/>
          </a:xfrm>
          <a:prstGeom prst="rect">
            <a:avLst/>
          </a:prstGeom>
        </p:spPr>
      </p:pic>
      <p:sp>
        <p:nvSpPr>
          <p:cNvPr id="5" name="s21_4"/>
          <p:cNvSpPr txBox="1"/>
          <p:nvPr/>
        </p:nvSpPr>
        <p:spPr>
          <a:xfrm>
            <a:off x="365760" y="6364224"/>
            <a:ext cx="4254090" cy="274320"/>
          </a:xfrm>
          <a:prstGeom prst="rect">
            <a:avLst/>
          </a:prstGeom>
          <a:noFill/>
          <a:ln/>
        </p:spPr>
        <p:txBody>
          <a:bodyPr wrap="square" lIns="63500" tIns="63500" rIns="63500" bIns="63500" rtlCol="0" anchor="ctr"/>
          <a:lstStyle/>
          <a:p>
            <a:pPr rtl="1" algn="ctr" indent="0" marL="0">
              <a:buNone/>
            </a:pPr>
            <a:r>
              <a:rPr lang="ar-SA" altLang="en-US" sz="1100" dirty="0">
                <a:solidFill>
                  <a:srgbClr val="5A6785"/>
                </a:solidFill>
                <a:latin typeface="Tahoma" pitchFamily="34" charset="0"/>
                <a:ea typeface="Tahoma" pitchFamily="34" charset="-122"/>
                <a:cs typeface="Tahoma" pitchFamily="34" charset="-120"/>
              </a:rPr>
              <a:t>📖 صفحة ١١٣ من كتابي</a:t>
            </a:r>
            <a:endParaRPr lang="ar-SA" sz="1100" dirty="0"/>
          </a:p>
        </p:txBody>
      </p:sp>
      <p:sp>
        <p:nvSpPr>
          <p:cNvPr id="6" name="page113_q0"/>
          <p:cNvSpPr txBox="1"/>
          <p:nvPr/>
        </p:nvSpPr>
        <p:spPr>
          <a:xfrm>
            <a:off x="8314333" y="914400"/>
            <a:ext cx="3465882" cy="1303020"/>
          </a:xfrm>
          <a:prstGeom prst="roundRect">
            <a:avLst>
              <a:gd name="adj" fmla="val 9825"/>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سؤال حرفي
</a:t>
            </a:r>
            <a:r>
              <a:rPr lang="ar-SA" altLang="en-US" sz="1450" b="1" dirty="0">
                <a:solidFill>
                  <a:srgbClr val="34405E"/>
                </a:solidFill>
                <a:latin typeface="Tahoma" pitchFamily="34" charset="0"/>
                <a:ea typeface="Tahoma" pitchFamily="34" charset="-122"/>
                <a:cs typeface="Tahoma" pitchFamily="34" charset="-120"/>
              </a:rPr>
              <a:t>بماذا تبدأ السلسلة الغذائية في البركة؟</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7" name="s21_5@t=page113_q0%chime"/>
          <p:cNvSpPr txBox="1"/>
          <p:nvPr/>
        </p:nvSpPr>
        <p:spPr>
          <a:xfrm>
            <a:off x="4848450" y="914400"/>
            <a:ext cx="3374442"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بالطحالب والنباتات الخضراء التي تلتقط طاقة الشمس.</a:t>
            </a:r>
            <a:endParaRPr lang="ar-SA" sz="1400" dirty="0"/>
          </a:p>
        </p:txBody>
      </p:sp>
      <p:sp>
        <p:nvSpPr>
          <p:cNvPr id="8" name="s21_6@t=page113_q0"/>
          <p:cNvSpPr/>
          <p:nvPr/>
        </p:nvSpPr>
        <p:spPr>
          <a:xfrm>
            <a:off x="2446921" y="1643364"/>
            <a:ext cx="1681316" cy="340852"/>
          </a:xfrm>
          <a:prstGeom prst="roundRect">
            <a:avLst>
              <a:gd name="adj" fmla="val 13413"/>
            </a:avLst>
          </a:prstGeom>
          <a:solidFill>
            <a:srgbClr val="FFEB3B">
              <a:alpha val="45000"/>
            </a:srgbClr>
          </a:solidFill>
          <a:ln w="25400">
            <a:solidFill>
              <a:srgbClr val="F5A623"/>
            </a:solidFill>
            <a:prstDash val="solid"/>
          </a:ln>
        </p:spPr>
      </p:sp>
      <p:sp>
        <p:nvSpPr>
          <p:cNvPr id="9" name="page113_q1"/>
          <p:cNvSpPr txBox="1"/>
          <p:nvPr/>
        </p:nvSpPr>
        <p:spPr>
          <a:xfrm>
            <a:off x="8314333" y="2308860"/>
            <a:ext cx="3465882" cy="1303020"/>
          </a:xfrm>
          <a:prstGeom prst="roundRect">
            <a:avLst>
              <a:gd name="adj" fmla="val 9825"/>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سؤال حرفي
</a:t>
            </a:r>
            <a:r>
              <a:rPr lang="ar-SA" altLang="en-US" sz="1450" b="1" dirty="0">
                <a:solidFill>
                  <a:srgbClr val="34405E"/>
                </a:solidFill>
                <a:latin typeface="Tahoma" pitchFamily="34" charset="0"/>
                <a:ea typeface="Tahoma" pitchFamily="34" charset="-122"/>
                <a:cs typeface="Tahoma" pitchFamily="34" charset="-120"/>
              </a:rPr>
              <a:t>أين تخزّن الطحالب الطاقة؟ وبأيّ شكل؟</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0" name="s21_7@t=page113_q1%chime"/>
          <p:cNvSpPr txBox="1"/>
          <p:nvPr/>
        </p:nvSpPr>
        <p:spPr>
          <a:xfrm>
            <a:off x="4848450" y="2308860"/>
            <a:ext cx="3374442"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في الخلايا، على شكل سكر.</a:t>
            </a:r>
            <a:endParaRPr lang="ar-SA" sz="1400" dirty="0"/>
          </a:p>
        </p:txBody>
      </p:sp>
      <p:sp>
        <p:nvSpPr>
          <p:cNvPr id="11" name="s21_8@t=page113_q1"/>
          <p:cNvSpPr/>
          <p:nvPr/>
        </p:nvSpPr>
        <p:spPr>
          <a:xfrm>
            <a:off x="2659954" y="1990770"/>
            <a:ext cx="1468284" cy="163871"/>
          </a:xfrm>
          <a:prstGeom prst="roundRect">
            <a:avLst>
              <a:gd name="adj" fmla="val 27900"/>
            </a:avLst>
          </a:prstGeom>
          <a:solidFill>
            <a:srgbClr val="FFEB3B">
              <a:alpha val="45000"/>
            </a:srgbClr>
          </a:solidFill>
          <a:ln w="25400">
            <a:solidFill>
              <a:srgbClr val="F5A623"/>
            </a:solidFill>
            <a:prstDash val="solid"/>
          </a:ln>
        </p:spPr>
      </p:sp>
      <p:sp>
        <p:nvSpPr>
          <p:cNvPr id="12" name="page113_q2"/>
          <p:cNvSpPr txBox="1"/>
          <p:nvPr/>
        </p:nvSpPr>
        <p:spPr>
          <a:xfrm>
            <a:off x="8314333" y="3703320"/>
            <a:ext cx="3465882" cy="1303020"/>
          </a:xfrm>
          <a:prstGeom prst="roundRect">
            <a:avLst>
              <a:gd name="adj" fmla="val 9825"/>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سؤال استنتاجي
</a:t>
            </a:r>
            <a:r>
              <a:rPr lang="ar-SA" altLang="en-US" sz="1450" b="1" dirty="0">
                <a:solidFill>
                  <a:srgbClr val="34405E"/>
                </a:solidFill>
                <a:latin typeface="Tahoma" pitchFamily="34" charset="0"/>
                <a:ea typeface="Tahoma" pitchFamily="34" charset="-122"/>
                <a:cs typeface="Tahoma" pitchFamily="34" charset="-120"/>
              </a:rPr>
              <a:t>لماذا تستخدم الذبابة المائية الأكسجين؟</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3" name="s21_9@t=page113_q2%chime"/>
          <p:cNvSpPr txBox="1"/>
          <p:nvPr/>
        </p:nvSpPr>
        <p:spPr>
          <a:xfrm>
            <a:off x="4848450" y="3703320"/>
            <a:ext cx="3374442"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لإطلاق الطاقة المخزونة في الطحالب؛ للقيام بوظائف الحياة كالحركة.</a:t>
            </a:r>
            <a:endParaRPr lang="ar-SA" sz="1400" dirty="0"/>
          </a:p>
        </p:txBody>
      </p:sp>
      <p:sp>
        <p:nvSpPr>
          <p:cNvPr id="14" name="s21_10@t=page113_q2"/>
          <p:cNvSpPr/>
          <p:nvPr/>
        </p:nvSpPr>
        <p:spPr>
          <a:xfrm>
            <a:off x="2446921" y="2180860"/>
            <a:ext cx="1681316" cy="655484"/>
          </a:xfrm>
          <a:prstGeom prst="roundRect">
            <a:avLst>
              <a:gd name="adj" fmla="val 6975"/>
            </a:avLst>
          </a:prstGeom>
          <a:solidFill>
            <a:srgbClr val="FFEB3B">
              <a:alpha val="45000"/>
            </a:srgbClr>
          </a:solidFill>
          <a:ln w="25400">
            <a:solidFill>
              <a:srgbClr val="F5A623"/>
            </a:solidFill>
            <a:prstDash val="solid"/>
          </a:ln>
        </p:spPr>
      </p:sp>
      <p:sp>
        <p:nvSpPr>
          <p:cNvPr id="15" name="page113_q3"/>
          <p:cNvSpPr txBox="1"/>
          <p:nvPr/>
        </p:nvSpPr>
        <p:spPr>
          <a:xfrm>
            <a:off x="8314333" y="5097780"/>
            <a:ext cx="3465882" cy="1303020"/>
          </a:xfrm>
          <a:prstGeom prst="roundRect">
            <a:avLst>
              <a:gd name="adj" fmla="val 9825"/>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قراءة الشكل
</a:t>
            </a:r>
            <a:r>
              <a:rPr lang="ar-SA" altLang="en-US" sz="1450" b="1" dirty="0">
                <a:solidFill>
                  <a:srgbClr val="34405E"/>
                </a:solidFill>
                <a:latin typeface="Tahoma" pitchFamily="34" charset="0"/>
                <a:ea typeface="Tahoma" pitchFamily="34" charset="-122"/>
                <a:cs typeface="Tahoma" pitchFamily="34" charset="-120"/>
              </a:rPr>
              <a:t>من آخر حلقة في سلسلة البركة؟ وممّن أخذ طاقته؟</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6" name="s21_11@t=page113_q3%chime"/>
          <p:cNvSpPr txBox="1"/>
          <p:nvPr/>
        </p:nvSpPr>
        <p:spPr>
          <a:xfrm>
            <a:off x="4848450" y="5097780"/>
            <a:ext cx="3374442"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مالك الحزين؛ أخذ طاقته من سمكة الشمس التي اصطادها.</a:t>
            </a:r>
            <a:endParaRPr lang="ar-SA" sz="1400" dirty="0"/>
          </a:p>
        </p:txBody>
      </p:sp>
      <p:sp>
        <p:nvSpPr>
          <p:cNvPr id="17" name="s21_12@t=page113_q3"/>
          <p:cNvSpPr/>
          <p:nvPr/>
        </p:nvSpPr>
        <p:spPr>
          <a:xfrm>
            <a:off x="2446921" y="3229635"/>
            <a:ext cx="1681316" cy="327742"/>
          </a:xfrm>
          <a:prstGeom prst="roundRect">
            <a:avLst>
              <a:gd name="adj" fmla="val 13950"/>
            </a:avLst>
          </a:prstGeom>
          <a:solidFill>
            <a:srgbClr val="FFEB3B">
              <a:alpha val="45000"/>
            </a:srgbClr>
          </a:solidFill>
          <a:ln w="25400">
            <a:solidFill>
              <a:srgbClr val="F5A623"/>
            </a:solidFill>
            <a:prstDash val="solid"/>
          </a:ln>
        </p:spPr>
      </p:sp>
      <p:sp>
        <p:nvSpPr>
          <p:cNvPr id="18" name="s21_13@t=page113_q3"/>
          <p:cNvSpPr/>
          <p:nvPr/>
        </p:nvSpPr>
        <p:spPr>
          <a:xfrm>
            <a:off x="546018" y="1436886"/>
            <a:ext cx="950452" cy="835742"/>
          </a:xfrm>
          <a:prstGeom prst="roundRect">
            <a:avLst>
              <a:gd name="adj" fmla="val 5471"/>
            </a:avLst>
          </a:prstGeom>
          <a:solidFill>
            <a:srgbClr val="FFEB3B">
              <a:alpha val="45000"/>
            </a:srgbClr>
          </a:solidFill>
          <a:ln w="25400">
            <a:solidFill>
              <a:srgbClr val="F5A623"/>
            </a:solidFill>
            <a:prstDash val="solid"/>
          </a:ln>
        </p:spPr>
      </p:sp>
      <p:sp>
        <p:nvSpPr>
          <p:cNvPr id="19" name="s21_14"/>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0" name="s21_15"/>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٣: البركة • صفحة ١١٣</a:t>
            </a:r>
            <a:endParaRPr lang="ar-SA" sz="13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audio>
                                      <p:cMediaNode vol="80000" showWhenStopped="0">
                                        <p:cTn id="8" display="0" masterRel="sameClick">
                                          <p:stCondLst>
                                            <p:cond evt="onBegin" delay="0">
                                              <p:tn val="5"/>
                                            </p:cond>
                                          </p:stCondLst>
                                        </p:cTn>
                                        <p:tgtEl>
                                          <p:sndTgt r:embed="rId6" name="chime.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nextCondLst>
                <p:cond evt="onNext" delay="0">
                  <p:tgtEl>
                    <p:spTgt spid="6"/>
                  </p:tgtEl>
                </p:cond>
              </p:nextCondLst>
            </p:seq>
            <p:seq concurrent="1" nextAc="seek">
              <p:cTn id="12" restart="whenNotActive" fill="hold" evtFilter="cancelBubble" nodeType="interactiveSeq">
                <p:stCondLst>
                  <p:cond evt="onClick" delay="0">
                    <p:tgtEl>
                      <p:spTgt spid="9"/>
                    </p:tgtEl>
                  </p:cond>
                </p:stCondLst>
                <p:endSync evt="end" delay="0">
                  <p:rtn val="all"/>
                </p:endSync>
                <p:childTnLst>
                  <p:par>
                    <p:cTn id="13" fill="hold">
                      <p:stCondLst>
                        <p:cond delay="0"/>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subTnLst>
                                    <p:audio>
                                      <p:cMediaNode vol="80000" showWhenStopped="0">
                                        <p:cTn id="18" display="0" masterRel="sameClick">
                                          <p:stCondLst>
                                            <p:cond evt="onBegin" delay="0">
                                              <p:tn val="15"/>
                                            </p:cond>
                                          </p:stCondLst>
                                        </p:cTn>
                                        <p:tgtEl>
                                          <p:sndTgt r:embed="rId6" name="chime.wav"/>
                                        </p:tgtEl>
                                      </p:cMediaNode>
                                    </p:audio>
                                  </p:sub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nextCondLst>
                <p:cond evt="onNext" delay="0">
                  <p:tgtEl>
                    <p:spTgt spid="9"/>
                  </p:tgtEl>
                </p:cond>
              </p:nextCondLst>
            </p:seq>
            <p:seq concurrent="1" nextAc="seek">
              <p:cTn id="22" restart="whenNotActive" fill="hold" evtFilter="cancelBubble" nodeType="interactiveSeq">
                <p:stCondLst>
                  <p:cond evt="onClick" delay="0">
                    <p:tgtEl>
                      <p:spTgt spid="12"/>
                    </p:tgtEl>
                  </p:cond>
                </p:stCondLst>
                <p:endSync evt="end" delay="0">
                  <p:rtn val="all"/>
                </p:endSync>
                <p:childTnLst>
                  <p:par>
                    <p:cTn id="23" fill="hold">
                      <p:stCondLst>
                        <p:cond delay="0"/>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subTnLst>
                                    <p:audio>
                                      <p:cMediaNode vol="80000" showWhenStopped="0">
                                        <p:cTn id="28" display="0" masterRel="sameClick">
                                          <p:stCondLst>
                                            <p:cond evt="onBegin" delay="0">
                                              <p:tn val="25"/>
                                            </p:cond>
                                          </p:stCondLst>
                                        </p:cTn>
                                        <p:tgtEl>
                                          <p:sndTgt r:embed="rId6" name="chime.wav"/>
                                        </p:tgtEl>
                                      </p:cMediaNode>
                                    </p:audio>
                                  </p:sub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childTnLst>
              </p:cTn>
              <p:nextCondLst>
                <p:cond evt="onNext" delay="0">
                  <p:tgtEl>
                    <p:spTgt spid="12"/>
                  </p:tgtEl>
                </p:cond>
              </p:nextCondLst>
            </p:seq>
            <p:seq concurrent="1" nextAc="seek">
              <p:cTn id="32" restart="whenNotActive" fill="hold" evtFilter="cancelBubble" nodeType="interactiveSeq">
                <p:stCondLst>
                  <p:cond evt="onClick" delay="0">
                    <p:tgtEl>
                      <p:spTgt spid="15"/>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subTnLst>
                                    <p:audio>
                                      <p:cMediaNode vol="80000" showWhenStopped="0">
                                        <p:cTn id="38" display="0" masterRel="sameClick">
                                          <p:stCondLst>
                                            <p:cond evt="onBegin" delay="0">
                                              <p:tn val="35"/>
                                            </p:cond>
                                          </p:stCondLst>
                                        </p:cTn>
                                        <p:tgtEl>
                                          <p:sndTgt r:embed="rId6" name="chime.wav"/>
                                        </p:tgtEl>
                                      </p:cMediaNode>
                                    </p:audio>
                                  </p:sub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childTnLst>
              </p:cTn>
              <p:nextCondLst>
                <p:cond evt="onNext" delay="0">
                  <p:tgtEl>
                    <p:spTgt spid="15"/>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2_1" descr="عنوان الشريحة">    </p:cNvPr>
          <p:cNvPicPr>
            <a:picLocks noChangeAspect="1"/>
          </p:cNvPicPr>
          <p:nvPr/>
        </p:nvPicPr>
        <p:blipFill>
          <a:blip r:embed="rId2"/>
          <a:stretch>
            <a:fillRect/>
          </a:stretch>
        </p:blipFill>
        <p:spPr>
          <a:xfrm>
            <a:off x="6609358" y="182880"/>
            <a:ext cx="5216577" cy="731520"/>
          </a:xfrm>
          <a:prstGeom prst="rect">
            <a:avLst/>
          </a:prstGeom>
        </p:spPr>
      </p:pic>
      <p:sp>
        <p:nvSpPr>
          <p:cNvPr id="3" name="s22_2"/>
          <p:cNvSpPr txBox="1"/>
          <p:nvPr/>
        </p:nvSpPr>
        <p:spPr>
          <a:xfrm>
            <a:off x="365760" y="292608"/>
            <a:ext cx="43662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المحاكاة – تتبّع الطاقة</a:t>
            </a:r>
            <a:endParaRPr lang="en-US" sz="1600" dirty="0"/>
          </a:p>
        </p:txBody>
      </p:sp>
      <p:pic>
        <p:nvPicPr>
          <p:cNvPr id="4" name="s22_3" descr="الشمس">    </p:cNvPr>
          <p:cNvPicPr>
            <a:picLocks noChangeAspect="1"/>
          </p:cNvPicPr>
          <p:nvPr/>
        </p:nvPicPr>
        <p:blipFill>
          <a:blip r:embed="rId3"/>
          <a:stretch>
            <a:fillRect/>
          </a:stretch>
        </p:blipFill>
        <p:spPr>
          <a:xfrm>
            <a:off x="10607040" y="1051560"/>
            <a:ext cx="1234440" cy="1234440"/>
          </a:xfrm>
          <a:prstGeom prst="rect">
            <a:avLst/>
          </a:prstGeom>
        </p:spPr>
      </p:pic>
      <p:pic>
        <p:nvPicPr>
          <p:cNvPr id="5" name="s22_4" descr="طحالب">    </p:cNvPr>
          <p:cNvPicPr>
            <a:picLocks noChangeAspect="1"/>
          </p:cNvPicPr>
          <p:nvPr/>
        </p:nvPicPr>
        <p:blipFill>
          <a:blip r:embed="rId4"/>
          <a:stretch>
            <a:fillRect/>
          </a:stretch>
        </p:blipFill>
        <p:spPr>
          <a:xfrm>
            <a:off x="8869680" y="4069080"/>
            <a:ext cx="1828800" cy="1828800"/>
          </a:xfrm>
          <a:prstGeom prst="rect">
            <a:avLst/>
          </a:prstGeom>
        </p:spPr>
      </p:pic>
      <p:sp>
        <p:nvSpPr>
          <p:cNvPr id="6" name="s22_5"/>
          <p:cNvSpPr txBox="1"/>
          <p:nvPr/>
        </p:nvSpPr>
        <p:spPr>
          <a:xfrm>
            <a:off x="8823960" y="5852160"/>
            <a:ext cx="1920240" cy="411480"/>
          </a:xfrm>
          <a:prstGeom prst="roundRect">
            <a:avLst>
              <a:gd name="adj" fmla="val 44444"/>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400" b="1" dirty="0">
                <a:solidFill>
                  <a:srgbClr val="34405E"/>
                </a:solidFill>
                <a:latin typeface="Tahoma" pitchFamily="34" charset="0"/>
                <a:ea typeface="Tahoma" pitchFamily="34" charset="-122"/>
                <a:cs typeface="Tahoma" pitchFamily="34" charset="-120"/>
              </a:rPr>
              <a:t>الطحالب</a:t>
            </a:r>
            <a:endParaRPr lang="ar-SA" sz="1400" dirty="0"/>
          </a:p>
        </p:txBody>
      </p:sp>
      <p:pic>
        <p:nvPicPr>
          <p:cNvPr id="7" name="s22_6" descr="ذبابة مائية">    </p:cNvPr>
          <p:cNvPicPr>
            <a:picLocks noChangeAspect="1"/>
          </p:cNvPicPr>
          <p:nvPr/>
        </p:nvPicPr>
        <p:blipFill>
          <a:blip r:embed="rId5"/>
          <a:stretch>
            <a:fillRect/>
          </a:stretch>
        </p:blipFill>
        <p:spPr>
          <a:xfrm>
            <a:off x="6355080" y="3017520"/>
            <a:ext cx="1737360" cy="1737360"/>
          </a:xfrm>
          <a:prstGeom prst="rect">
            <a:avLst/>
          </a:prstGeom>
        </p:spPr>
      </p:pic>
      <p:sp>
        <p:nvSpPr>
          <p:cNvPr id="8" name="s22_7"/>
          <p:cNvSpPr txBox="1"/>
          <p:nvPr/>
        </p:nvSpPr>
        <p:spPr>
          <a:xfrm>
            <a:off x="6263640" y="4709160"/>
            <a:ext cx="1920240" cy="411480"/>
          </a:xfrm>
          <a:prstGeom prst="roundRect">
            <a:avLst>
              <a:gd name="adj" fmla="val 44444"/>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400" b="1" dirty="0">
                <a:solidFill>
                  <a:srgbClr val="34405E"/>
                </a:solidFill>
                <a:latin typeface="Tahoma" pitchFamily="34" charset="0"/>
                <a:ea typeface="Tahoma" pitchFamily="34" charset="-122"/>
                <a:cs typeface="Tahoma" pitchFamily="34" charset="-120"/>
              </a:rPr>
              <a:t>الذبابة المائية</a:t>
            </a:r>
            <a:endParaRPr lang="ar-SA" sz="1400" dirty="0"/>
          </a:p>
        </p:txBody>
      </p:sp>
      <p:pic>
        <p:nvPicPr>
          <p:cNvPr id="9" name="s22_8" descr="سمكة الشمس">    </p:cNvPr>
          <p:cNvPicPr>
            <a:picLocks noChangeAspect="1"/>
          </p:cNvPicPr>
          <p:nvPr/>
        </p:nvPicPr>
        <p:blipFill>
          <a:blip r:embed="rId6"/>
          <a:stretch>
            <a:fillRect/>
          </a:stretch>
        </p:blipFill>
        <p:spPr>
          <a:xfrm>
            <a:off x="3794760" y="3931920"/>
            <a:ext cx="1737360" cy="1737360"/>
          </a:xfrm>
          <a:prstGeom prst="rect">
            <a:avLst/>
          </a:prstGeom>
        </p:spPr>
      </p:pic>
      <p:sp>
        <p:nvSpPr>
          <p:cNvPr id="10" name="s22_9"/>
          <p:cNvSpPr txBox="1"/>
          <p:nvPr/>
        </p:nvSpPr>
        <p:spPr>
          <a:xfrm>
            <a:off x="3703320" y="5623560"/>
            <a:ext cx="1920240" cy="411480"/>
          </a:xfrm>
          <a:prstGeom prst="roundRect">
            <a:avLst>
              <a:gd name="adj" fmla="val 44444"/>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400" b="1" dirty="0">
                <a:solidFill>
                  <a:srgbClr val="34405E"/>
                </a:solidFill>
                <a:latin typeface="Tahoma" pitchFamily="34" charset="0"/>
                <a:ea typeface="Tahoma" pitchFamily="34" charset="-122"/>
                <a:cs typeface="Tahoma" pitchFamily="34" charset="-120"/>
              </a:rPr>
              <a:t>سمكة الشمس</a:t>
            </a:r>
            <a:endParaRPr lang="ar-SA" sz="1400" dirty="0"/>
          </a:p>
        </p:txBody>
      </p:sp>
      <p:pic>
        <p:nvPicPr>
          <p:cNvPr id="11" name="s22_10" descr="مالك الحزين">    </p:cNvPr>
          <p:cNvPicPr>
            <a:picLocks noChangeAspect="1"/>
          </p:cNvPicPr>
          <p:nvPr/>
        </p:nvPicPr>
        <p:blipFill>
          <a:blip r:embed="rId7"/>
          <a:stretch>
            <a:fillRect/>
          </a:stretch>
        </p:blipFill>
        <p:spPr>
          <a:xfrm>
            <a:off x="1280160" y="1371600"/>
            <a:ext cx="1737360" cy="1737360"/>
          </a:xfrm>
          <a:prstGeom prst="rect">
            <a:avLst/>
          </a:prstGeom>
        </p:spPr>
      </p:pic>
      <p:sp>
        <p:nvSpPr>
          <p:cNvPr id="12" name="s22_11"/>
          <p:cNvSpPr txBox="1"/>
          <p:nvPr/>
        </p:nvSpPr>
        <p:spPr>
          <a:xfrm>
            <a:off x="1188720" y="3063240"/>
            <a:ext cx="1920240" cy="411480"/>
          </a:xfrm>
          <a:prstGeom prst="roundRect">
            <a:avLst>
              <a:gd name="adj" fmla="val 44444"/>
            </a:avLst>
          </a:prstGeom>
          <a:solidFill>
            <a:srgbClr val="FFFFFF"/>
          </a:solidFill>
          <a:ln w="28575">
            <a:solidFill>
              <a:srgbClr val="34405E"/>
            </a:solidFill>
          </a:ln>
        </p:spPr>
        <p:txBody>
          <a:bodyPr wrap="square" lIns="12700" tIns="12700" rIns="12700" bIns="12700" rtlCol="0" anchor="ctr"/>
          <a:lstStyle/>
          <a:p>
            <a:pPr rtl="1" algn="ctr" indent="0" marL="0">
              <a:buNone/>
            </a:pPr>
            <a:r>
              <a:rPr lang="ar-SA" altLang="en-US" sz="1400" b="1" dirty="0">
                <a:solidFill>
                  <a:srgbClr val="34405E"/>
                </a:solidFill>
                <a:latin typeface="Tahoma" pitchFamily="34" charset="0"/>
                <a:ea typeface="Tahoma" pitchFamily="34" charset="-122"/>
                <a:cs typeface="Tahoma" pitchFamily="34" charset="-120"/>
              </a:rPr>
              <a:t>مالك الحزين</a:t>
            </a:r>
            <a:endParaRPr lang="ar-SA" sz="1400" dirty="0"/>
          </a:p>
        </p:txBody>
      </p:sp>
      <p:sp>
        <p:nvSpPr>
          <p:cNvPr id="13" name="s22_12"/>
          <p:cNvSpPr/>
          <p:nvPr/>
        </p:nvSpPr>
        <p:spPr>
          <a:xfrm flipH="1" flipV="1">
            <a:off x="8089440" y="4257206"/>
            <a:ext cx="812150" cy="348064"/>
          </a:xfrm>
          <a:prstGeom prst="line">
            <a:avLst/>
          </a:prstGeom>
          <a:noFill/>
          <a:ln w="76200">
            <a:solidFill>
              <a:srgbClr val="2F8A3A"/>
            </a:solidFill>
            <a:prstDash val="solid"/>
            <a:tailEnd type="triangle"/>
          </a:ln>
        </p:spPr>
      </p:sp>
      <p:sp>
        <p:nvSpPr>
          <p:cNvPr id="14" name="s22_13"/>
          <p:cNvSpPr/>
          <p:nvPr/>
        </p:nvSpPr>
        <p:spPr>
          <a:xfrm flipH="1">
            <a:off x="5550403" y="4193746"/>
            <a:ext cx="812229" cy="290082"/>
          </a:xfrm>
          <a:prstGeom prst="line">
            <a:avLst/>
          </a:prstGeom>
          <a:noFill/>
          <a:ln w="76200">
            <a:solidFill>
              <a:srgbClr val="2F8A3A"/>
            </a:solidFill>
            <a:prstDash val="solid"/>
            <a:tailEnd type="triangle"/>
          </a:ln>
        </p:spPr>
      </p:sp>
      <p:sp>
        <p:nvSpPr>
          <p:cNvPr id="15" name="s22_14"/>
          <p:cNvSpPr/>
          <p:nvPr/>
        </p:nvSpPr>
        <p:spPr>
          <a:xfrm flipH="1" flipV="1">
            <a:off x="2808789" y="2912228"/>
            <a:ext cx="1213923" cy="1235995"/>
          </a:xfrm>
          <a:prstGeom prst="line">
            <a:avLst/>
          </a:prstGeom>
          <a:noFill/>
          <a:ln w="76200">
            <a:solidFill>
              <a:srgbClr val="2F8A3A"/>
            </a:solidFill>
            <a:prstDash val="solid"/>
            <a:tailEnd type="triangle"/>
          </a:ln>
        </p:spPr>
      </p:sp>
      <p:pic>
        <p:nvPicPr>
          <p:cNvPr id="16" name="s22_15" descr="كرة الطاقة">    </p:cNvPr>
          <p:cNvPicPr>
            <a:picLocks noChangeAspect="1"/>
          </p:cNvPicPr>
          <p:nvPr/>
        </p:nvPicPr>
        <p:blipFill>
          <a:blip r:embed="rId8"/>
          <a:stretch>
            <a:fillRect/>
          </a:stretch>
        </p:blipFill>
        <p:spPr>
          <a:xfrm>
            <a:off x="10785348" y="1239012"/>
            <a:ext cx="868680" cy="868680"/>
          </a:xfrm>
          <a:prstGeom prst="rect">
            <a:avLst/>
          </a:prstGeom>
        </p:spPr>
      </p:pic>
      <p:sp>
        <p:nvSpPr>
          <p:cNvPr id="17" name="s22_16"/>
          <p:cNvSpPr txBox="1"/>
          <p:nvPr/>
        </p:nvSpPr>
        <p:spPr>
          <a:xfrm>
            <a:off x="3337560" y="1005840"/>
            <a:ext cx="7086600" cy="658368"/>
          </a:xfrm>
          <a:prstGeom prst="roundRect">
            <a:avLst>
              <a:gd name="adj" fmla="val 19444"/>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34405E"/>
                </a:solidFill>
                <a:latin typeface="Tahoma" pitchFamily="34" charset="0"/>
                <a:ea typeface="Tahoma" pitchFamily="34" charset="-122"/>
                <a:cs typeface="Tahoma" pitchFamily="34" charset="-120"/>
              </a:rPr>
              <a:t>☀️ ١) تلتقط الطحالب طاقة الشمس (البناء الضوئي) وتخزّنها على شكل سكر.</a:t>
            </a:r>
            <a:endParaRPr lang="ar-SA" sz="1550" dirty="0"/>
          </a:p>
        </p:txBody>
      </p:sp>
      <p:pic>
        <p:nvPicPr>
          <p:cNvPr id="18" name="s22_17" descr="كرة الطاقة">    </p:cNvPr>
          <p:cNvPicPr>
            <a:picLocks noChangeAspect="1"/>
          </p:cNvPicPr>
          <p:nvPr/>
        </p:nvPicPr>
        <p:blipFill>
          <a:blip r:embed="rId9"/>
          <a:stretch>
            <a:fillRect/>
          </a:stretch>
        </p:blipFill>
        <p:spPr>
          <a:xfrm>
            <a:off x="10149840" y="3886200"/>
            <a:ext cx="731520" cy="731520"/>
          </a:xfrm>
          <a:prstGeom prst="rect">
            <a:avLst/>
          </a:prstGeom>
        </p:spPr>
      </p:pic>
      <p:sp>
        <p:nvSpPr>
          <p:cNvPr id="19" name="s22_18"/>
          <p:cNvSpPr txBox="1"/>
          <p:nvPr/>
        </p:nvSpPr>
        <p:spPr>
          <a:xfrm>
            <a:off x="3337560" y="1005840"/>
            <a:ext cx="7086600" cy="658368"/>
          </a:xfrm>
          <a:prstGeom prst="roundRect">
            <a:avLst>
              <a:gd name="adj" fmla="val 19444"/>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34405E"/>
                </a:solidFill>
                <a:latin typeface="Tahoma" pitchFamily="34" charset="0"/>
                <a:ea typeface="Tahoma" pitchFamily="34" charset="-122"/>
                <a:cs typeface="Tahoma" pitchFamily="34" charset="-120"/>
              </a:rPr>
              <a:t>🪰 ٢) تأكل الذبابة المائية الطحالب، فتنتقل إليها الطاقة.</a:t>
            </a:r>
            <a:endParaRPr lang="ar-SA" sz="1550" dirty="0"/>
          </a:p>
        </p:txBody>
      </p:sp>
      <p:pic>
        <p:nvPicPr>
          <p:cNvPr id="20" name="s22_19" descr="كرة الطاقة">    </p:cNvPr>
          <p:cNvPicPr>
            <a:picLocks noChangeAspect="1"/>
          </p:cNvPicPr>
          <p:nvPr/>
        </p:nvPicPr>
        <p:blipFill>
          <a:blip r:embed="rId10"/>
          <a:stretch>
            <a:fillRect/>
          </a:stretch>
        </p:blipFill>
        <p:spPr>
          <a:xfrm>
            <a:off x="7635240" y="2926080"/>
            <a:ext cx="548640" cy="548640"/>
          </a:xfrm>
          <a:prstGeom prst="rect">
            <a:avLst/>
          </a:prstGeom>
        </p:spPr>
      </p:pic>
      <p:sp>
        <p:nvSpPr>
          <p:cNvPr id="21" name="s22_20"/>
          <p:cNvSpPr txBox="1"/>
          <p:nvPr/>
        </p:nvSpPr>
        <p:spPr>
          <a:xfrm>
            <a:off x="3337560" y="1005840"/>
            <a:ext cx="7086600" cy="658368"/>
          </a:xfrm>
          <a:prstGeom prst="roundRect">
            <a:avLst>
              <a:gd name="adj" fmla="val 19444"/>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34405E"/>
                </a:solidFill>
                <a:latin typeface="Tahoma" pitchFamily="34" charset="0"/>
                <a:ea typeface="Tahoma" pitchFamily="34" charset="-122"/>
                <a:cs typeface="Tahoma" pitchFamily="34" charset="-120"/>
              </a:rPr>
              <a:t>🐟 ٣) تقفز سمكة الشمس وتلتقط الذبابة المائية.</a:t>
            </a:r>
            <a:endParaRPr lang="ar-SA" sz="1550" dirty="0"/>
          </a:p>
        </p:txBody>
      </p:sp>
      <p:pic>
        <p:nvPicPr>
          <p:cNvPr id="22" name="s22_21" descr="كرة الطاقة">    </p:cNvPr>
          <p:cNvPicPr>
            <a:picLocks noChangeAspect="1"/>
          </p:cNvPicPr>
          <p:nvPr/>
        </p:nvPicPr>
        <p:blipFill>
          <a:blip r:embed="rId11"/>
          <a:stretch>
            <a:fillRect/>
          </a:stretch>
        </p:blipFill>
        <p:spPr>
          <a:xfrm>
            <a:off x="5143500" y="3909060"/>
            <a:ext cx="411480" cy="411480"/>
          </a:xfrm>
          <a:prstGeom prst="rect">
            <a:avLst/>
          </a:prstGeom>
        </p:spPr>
      </p:pic>
      <p:sp>
        <p:nvSpPr>
          <p:cNvPr id="23" name="s22_22"/>
          <p:cNvSpPr txBox="1"/>
          <p:nvPr/>
        </p:nvSpPr>
        <p:spPr>
          <a:xfrm>
            <a:off x="3337560" y="1005840"/>
            <a:ext cx="7086600" cy="658368"/>
          </a:xfrm>
          <a:prstGeom prst="roundRect">
            <a:avLst>
              <a:gd name="adj" fmla="val 19444"/>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34405E"/>
                </a:solidFill>
                <a:latin typeface="Tahoma" pitchFamily="34" charset="0"/>
                <a:ea typeface="Tahoma" pitchFamily="34" charset="-122"/>
                <a:cs typeface="Tahoma" pitchFamily="34" charset="-120"/>
              </a:rPr>
              <a:t>🦩 ٤) يصطاد مالك الحزين سمكة الشمس… وصل إليه جزء من طاقة الشمس!</a:t>
            </a:r>
            <a:endParaRPr lang="ar-SA" sz="1550" dirty="0"/>
          </a:p>
        </p:txBody>
      </p:sp>
      <p:sp>
        <p:nvSpPr>
          <p:cNvPr id="24" name="s22_23"/>
          <p:cNvSpPr txBox="1"/>
          <p:nvPr/>
        </p:nvSpPr>
        <p:spPr>
          <a:xfrm>
            <a:off x="3337560" y="1005840"/>
            <a:ext cx="7086600" cy="658368"/>
          </a:xfrm>
          <a:prstGeom prst="roundRect">
            <a:avLst>
              <a:gd name="adj" fmla="val 19444"/>
            </a:avLst>
          </a:prstGeom>
          <a:solidFill>
            <a:srgbClr val="FFFDF7"/>
          </a:solidFill>
          <a:ln w="31750">
            <a:solidFill>
              <a:srgbClr val="2F8A3A"/>
            </a:solidFill>
          </a:ln>
        </p:spPr>
        <p:txBody>
          <a:bodyPr wrap="square" lIns="101600" tIns="101600" rIns="101600" bIns="101600" rtlCol="0" anchor="ctr"/>
          <a:lstStyle/>
          <a:p>
            <a:pPr rtl="1" algn="ctr" indent="0" marL="0">
              <a:buNone/>
            </a:pPr>
            <a:r>
              <a:rPr lang="ar-SA" altLang="en-US" sz="1700" b="1" dirty="0">
                <a:solidFill>
                  <a:srgbClr val="2F8A3A"/>
                </a:solidFill>
                <a:latin typeface="Tahoma" pitchFamily="34" charset="0"/>
                <a:ea typeface="Tahoma" pitchFamily="34" charset="-122"/>
                <a:cs typeface="Tahoma" pitchFamily="34" charset="-120"/>
              </a:rPr>
              <a:t>✔ طحالب ← ذبابة مائية ← سمكة الشمس ← مالك الحزين</a:t>
            </a:r>
            <a:endParaRPr lang="ar-SA" sz="1700" dirty="0"/>
          </a:p>
        </p:txBody>
      </p:sp>
      <p:pic>
        <p:nvPicPr>
          <p:cNvPr id="25" name="s22_24" descr="فقاعة">    </p:cNvPr>
          <p:cNvPicPr>
            <a:picLocks noChangeAspect="1"/>
          </p:cNvPicPr>
          <p:nvPr/>
        </p:nvPicPr>
        <p:blipFill>
          <a:blip r:embed="rId12"/>
          <a:stretch>
            <a:fillRect/>
          </a:stretch>
        </p:blipFill>
        <p:spPr>
          <a:xfrm>
            <a:off x="914400" y="5669280"/>
            <a:ext cx="256032" cy="256032"/>
          </a:xfrm>
          <a:prstGeom prst="rect">
            <a:avLst/>
          </a:prstGeom>
        </p:spPr>
      </p:pic>
      <p:pic>
        <p:nvPicPr>
          <p:cNvPr id="26" name="s22_25" descr="فقاعة">    </p:cNvPr>
          <p:cNvPicPr>
            <a:picLocks noChangeAspect="1"/>
          </p:cNvPicPr>
          <p:nvPr/>
        </p:nvPicPr>
        <p:blipFill>
          <a:blip r:embed="rId13"/>
          <a:stretch>
            <a:fillRect/>
          </a:stretch>
        </p:blipFill>
        <p:spPr>
          <a:xfrm>
            <a:off x="3749040" y="6035040"/>
            <a:ext cx="329184" cy="329184"/>
          </a:xfrm>
          <a:prstGeom prst="rect">
            <a:avLst/>
          </a:prstGeom>
        </p:spPr>
      </p:pic>
      <p:pic>
        <p:nvPicPr>
          <p:cNvPr id="27" name="s22_26" descr="فقاعة">    </p:cNvPr>
          <p:cNvPicPr>
            <a:picLocks noChangeAspect="1"/>
          </p:cNvPicPr>
          <p:nvPr/>
        </p:nvPicPr>
        <p:blipFill>
          <a:blip r:embed="rId14"/>
          <a:stretch>
            <a:fillRect/>
          </a:stretch>
        </p:blipFill>
        <p:spPr>
          <a:xfrm>
            <a:off x="6035040" y="5852160"/>
            <a:ext cx="402336" cy="402336"/>
          </a:xfrm>
          <a:prstGeom prst="rect">
            <a:avLst/>
          </a:prstGeom>
        </p:spPr>
      </p:pic>
      <p:pic>
        <p:nvPicPr>
          <p:cNvPr id="28" name="s22_27" descr="فقاعة">    </p:cNvPr>
          <p:cNvPicPr>
            <a:picLocks noChangeAspect="1"/>
          </p:cNvPicPr>
          <p:nvPr/>
        </p:nvPicPr>
        <p:blipFill>
          <a:blip r:embed="rId15"/>
          <a:stretch>
            <a:fillRect/>
          </a:stretch>
        </p:blipFill>
        <p:spPr>
          <a:xfrm>
            <a:off x="8503920" y="6126480"/>
            <a:ext cx="256032" cy="256032"/>
          </a:xfrm>
          <a:prstGeom prst="rect">
            <a:avLst/>
          </a:prstGeom>
        </p:spPr>
      </p:pic>
      <p:pic>
        <p:nvPicPr>
          <p:cNvPr id="29" name="s22_28" descr="فقاعة">    </p:cNvPr>
          <p:cNvPicPr>
            <a:picLocks noChangeAspect="1"/>
          </p:cNvPicPr>
          <p:nvPr/>
        </p:nvPicPr>
        <p:blipFill>
          <a:blip r:embed="rId16"/>
          <a:stretch>
            <a:fillRect/>
          </a:stretch>
        </p:blipFill>
        <p:spPr>
          <a:xfrm>
            <a:off x="11338560" y="5760720"/>
            <a:ext cx="329184" cy="329184"/>
          </a:xfrm>
          <a:prstGeom prst="rect">
            <a:avLst/>
          </a:prstGeom>
        </p:spPr>
      </p:pic>
      <p:pic>
        <p:nvPicPr>
          <p:cNvPr id="30" name="s22_29" descr="فقاعة">    </p:cNvPr>
          <p:cNvPicPr>
            <a:picLocks noChangeAspect="1"/>
          </p:cNvPicPr>
          <p:nvPr/>
        </p:nvPicPr>
        <p:blipFill>
          <a:blip r:embed="rId17"/>
          <a:stretch>
            <a:fillRect/>
          </a:stretch>
        </p:blipFill>
        <p:spPr>
          <a:xfrm>
            <a:off x="7955280" y="2926080"/>
            <a:ext cx="402336" cy="402336"/>
          </a:xfrm>
          <a:prstGeom prst="rect">
            <a:avLst/>
          </a:prstGeom>
        </p:spPr>
      </p:pic>
      <p:sp>
        <p:nvSpPr>
          <p:cNvPr id="31" name="s22_30"/>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32" name="s22_31"/>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٣: البركة • صفحة ١١٣</a:t>
            </a:r>
            <a:endParaRPr lang="ar-SA" sz="1300" dirty="0"/>
          </a:p>
        </p:txBody>
      </p:sp>
    </p:spTree>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0" presetClass="path" presetSubtype="0" fill="hold" grpId="0" nodeType="afterEffect" repeatCount="indefinite">
                                  <p:stCondLst>
                                    <p:cond delay="0"/>
                                  </p:stCondLst>
                                  <p:childTnLst>
                                    <p:animMotion origin="layout" path="M 0 0 L 0.01 -0.45 E" pathEditMode="relative" ptsTypes="">
                                      <p:cBhvr>
                                        <p:cTn id="6" dur="3600" fill="hold"/>
                                        <p:tgtEl>
                                          <p:spTgt spid="25"/>
                                        </p:tgtEl>
                                        <p:attrNameLst>
                                          <p:attrName>ppt_x</p:attrName>
                                          <p:attrName>ppt_y</p:attrName>
                                        </p:attrNameLst>
                                      </p:cBhvr>
                                      <p:rCtr x="0" y="0"/>
                                    </p:animMotion>
                                  </p:childTnLst>
                                </p:cTn>
                              </p:par>
                              <p:par>
                                <p:cTn id="7" presetID="0" presetClass="path" presetSubtype="0" fill="hold" grpId="0" nodeType="withEffect" repeatCount="indefinite">
                                  <p:stCondLst>
                                    <p:cond delay="350"/>
                                  </p:stCondLst>
                                  <p:childTnLst>
                                    <p:animMotion origin="layout" path="M 0 0 L 0.01 -0.45 E" pathEditMode="relative" ptsTypes="">
                                      <p:cBhvr>
                                        <p:cTn id="8" dur="4100" fill="hold"/>
                                        <p:tgtEl>
                                          <p:spTgt spid="26"/>
                                        </p:tgtEl>
                                        <p:attrNameLst>
                                          <p:attrName>ppt_x</p:attrName>
                                          <p:attrName>ppt_y</p:attrName>
                                        </p:attrNameLst>
                                      </p:cBhvr>
                                      <p:rCtr x="0" y="0"/>
                                    </p:animMotion>
                                  </p:childTnLst>
                                </p:cTn>
                              </p:par>
                              <p:par>
                                <p:cTn id="9" presetID="0" presetClass="path" presetSubtype="0" fill="hold" grpId="0" nodeType="withEffect" repeatCount="indefinite">
                                  <p:stCondLst>
                                    <p:cond delay="700"/>
                                  </p:stCondLst>
                                  <p:childTnLst>
                                    <p:animMotion origin="layout" path="M 0 0 L 0.01 -0.45 E" pathEditMode="relative" ptsTypes="">
                                      <p:cBhvr>
                                        <p:cTn id="10" dur="4600" fill="hold"/>
                                        <p:tgtEl>
                                          <p:spTgt spid="27"/>
                                        </p:tgtEl>
                                        <p:attrNameLst>
                                          <p:attrName>ppt_x</p:attrName>
                                          <p:attrName>ppt_y</p:attrName>
                                        </p:attrNameLst>
                                      </p:cBhvr>
                                      <p:rCtr x="0" y="0"/>
                                    </p:animMotion>
                                  </p:childTnLst>
                                </p:cTn>
                              </p:par>
                              <p:par>
                                <p:cTn id="11" presetID="0" presetClass="path" presetSubtype="0" fill="hold" grpId="0" nodeType="withEffect" repeatCount="indefinite">
                                  <p:stCondLst>
                                    <p:cond delay="1050"/>
                                  </p:stCondLst>
                                  <p:childTnLst>
                                    <p:animMotion origin="layout" path="M 0 0 L 0.01 -0.45 E" pathEditMode="relative" ptsTypes="">
                                      <p:cBhvr>
                                        <p:cTn id="12" dur="5100" fill="hold"/>
                                        <p:tgtEl>
                                          <p:spTgt spid="28"/>
                                        </p:tgtEl>
                                        <p:attrNameLst>
                                          <p:attrName>ppt_x</p:attrName>
                                          <p:attrName>ppt_y</p:attrName>
                                        </p:attrNameLst>
                                      </p:cBhvr>
                                      <p:rCtr x="0" y="0"/>
                                    </p:animMotion>
                                  </p:childTnLst>
                                </p:cTn>
                              </p:par>
                              <p:par>
                                <p:cTn id="13" presetID="0" presetClass="path" presetSubtype="0" fill="hold" grpId="0" nodeType="withEffect" repeatCount="indefinite">
                                  <p:stCondLst>
                                    <p:cond delay="1400"/>
                                  </p:stCondLst>
                                  <p:childTnLst>
                                    <p:animMotion origin="layout" path="M 0 0 L 0.01 -0.45 E" pathEditMode="relative" ptsTypes="">
                                      <p:cBhvr>
                                        <p:cTn id="14" dur="5600" fill="hold"/>
                                        <p:tgtEl>
                                          <p:spTgt spid="29"/>
                                        </p:tgtEl>
                                        <p:attrNameLst>
                                          <p:attrName>ppt_x</p:attrName>
                                          <p:attrName>ppt_y</p:attrName>
                                        </p:attrNameLst>
                                      </p:cBhvr>
                                      <p:rCtr x="0" y="0"/>
                                    </p:animMotion>
                                  </p:childTnLst>
                                </p:cTn>
                              </p:par>
                              <p:par>
                                <p:cTn id="15" presetID="0" presetClass="path" presetSubtype="0" fill="hold" grpId="0" nodeType="withEffect" repeatCount="indefinite">
                                  <p:stCondLst>
                                    <p:cond delay="1750"/>
                                  </p:stCondLst>
                                  <p:childTnLst>
                                    <p:animMotion origin="layout" path="M 0 0 L 0.01 -0.45 E" pathEditMode="relative" ptsTypes="">
                                      <p:cBhvr>
                                        <p:cTn id="16" dur="6100" fill="hold"/>
                                        <p:tgtEl>
                                          <p:spTgt spid="30"/>
                                        </p:tgtEl>
                                        <p:attrNameLst>
                                          <p:attrName>ppt_x</p:attrName>
                                          <p:attrName>ppt_y</p:attrName>
                                        </p:attrNameLst>
                                      </p:cBhvr>
                                      <p:rCtr x="0" y="0"/>
                                    </p:animMotion>
                                  </p:childTnLst>
                                </p:cTn>
                              </p:par>
                              <p:par>
                                <p:cTn id="17" presetID="6" presetClass="emph" presetSubtype="0" fill="hold" grpId="0" nodeType="withEffect">
                                  <p:stCondLst>
                                    <p:cond delay="0"/>
                                  </p:stCondLst>
                                  <p:childTnLst>
                                    <p:animScale>
                                      <p:cBhvr>
                                        <p:cTn id="18" dur="700" autoRev="1" fill="hold"/>
                                        <p:tgtEl>
                                          <p:spTgt spid="4"/>
                                        </p:tgtEl>
                                      </p:cBhvr>
                                      <p:by x="118000" y="118000"/>
                                    </p:animScale>
                                  </p:childTnLst>
                                  <p:subTnLst>
                                    <p:audio>
                                      <p:cMediaNode vol="80000" showWhenStopped="0">
                                        <p:cTn id="19" display="0" masterRel="sameClick">
                                          <p:stCondLst>
                                            <p:cond evt="onBegin" delay="0">
                                              <p:tn val="17"/>
                                            </p:cond>
                                          </p:stCondLst>
                                        </p:cTn>
                                        <p:tgtEl>
                                          <p:sndTgt r:embed="rId20" name="bubbles.wav"/>
                                        </p:tgtEl>
                                      </p:cMediaNode>
                                    </p:audio>
                                  </p:sub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350" fill="hold"/>
                                        <p:tgtEl>
                                          <p:spTgt spid="16"/>
                                        </p:tgtEl>
                                        <p:attrNameLst>
                                          <p:attrName>ppt_w</p:attrName>
                                        </p:attrNameLst>
                                      </p:cBhvr>
                                      <p:tavLst>
                                        <p:tav tm="0">
                                          <p:val>
                                            <p:strVal val="0"/>
                                          </p:val>
                                        </p:tav>
                                        <p:tav tm="100000">
                                          <p:val>
                                            <p:strVal val="#ppt_w"/>
                                          </p:val>
                                        </p:tav>
                                      </p:tavLst>
                                    </p:anim>
                                    <p:anim calcmode="lin" valueType="num">
                                      <p:cBhvr additive="base">
                                        <p:cTn id="25" dur="350" fill="hold"/>
                                        <p:tgtEl>
                                          <p:spTgt spid="16"/>
                                        </p:tgtEl>
                                        <p:attrNameLst>
                                          <p:attrName>ppt_h</p:attrName>
                                        </p:attrNameLst>
                                      </p:cBhvr>
                                      <p:tavLst>
                                        <p:tav tm="0">
                                          <p:val>
                                            <p:strVal val="0"/>
                                          </p:val>
                                        </p:tav>
                                        <p:tav tm="100000">
                                          <p:val>
                                            <p:strVal val="#ppt_h"/>
                                          </p:val>
                                        </p:tav>
                                      </p:tavLst>
                                    </p:anim>
                                    <p:animEffect transition="in" filter="fade">
                                      <p:cBhvr>
                                        <p:cTn id="26" dur="350"/>
                                        <p:tgtEl>
                                          <p:spTgt spid="16"/>
                                        </p:tgtEl>
                                      </p:cBhvr>
                                    </p:animEffect>
                                  </p:childTnLst>
                                  <p:subTnLst>
                                    <p:audio>
                                      <p:cMediaNode vol="80000" showWhenStopped="0">
                                        <p:cTn id="27" display="0" masterRel="sameClick">
                                          <p:stCondLst>
                                            <p:cond evt="onBegin" delay="0">
                                              <p:tn val="22"/>
                                            </p:cond>
                                          </p:stCondLst>
                                        </p:cTn>
                                        <p:tgtEl>
                                          <p:sndTgt r:embed="rId21" name="sparkle.wav"/>
                                        </p:tgtEl>
                                      </p:cMediaNode>
                                    </p:audio>
                                  </p:subTnLst>
                                </p:cTn>
                              </p:par>
                              <p:par>
                                <p:cTn id="28" presetID="0" presetClass="path" presetSubtype="0" fill="hold" grpId="1" nodeType="withEffect">
                                  <p:stCondLst>
                                    <p:cond delay="350"/>
                                  </p:stCondLst>
                                  <p:childTnLst>
                                    <p:animMotion origin="layout" path="M 0 0 L -0.0578 0.3760 E" pathEditMode="relative" ptsTypes="">
                                      <p:cBhvr>
                                        <p:cTn id="29" dur="1500" fill="hold" accel="40000" decel="40000"/>
                                        <p:tgtEl>
                                          <p:spTgt spid="16"/>
                                        </p:tgtEl>
                                        <p:attrNameLst>
                                          <p:attrName>ppt_x</p:attrName>
                                          <p:attrName>ppt_y</p:attrName>
                                        </p:attrNameLst>
                                      </p:cBhvr>
                                      <p:rCtr x="0" y="0"/>
                                    </p:animMotion>
                                  </p:childTnLst>
                                </p:cTn>
                              </p:par>
                              <p:par>
                                <p:cTn id="30" presetID="6" presetClass="emph" presetSubtype="0" fill="hold" grpId="0" nodeType="withEffect">
                                  <p:stCondLst>
                                    <p:cond delay="1850"/>
                                  </p:stCondLst>
                                  <p:childTnLst>
                                    <p:animScale>
                                      <p:cBhvr>
                                        <p:cTn id="31" dur="400" autoRev="1" fill="hold"/>
                                        <p:tgtEl>
                                          <p:spTgt spid="5"/>
                                        </p:tgtEl>
                                      </p:cBhvr>
                                      <p:by x="118000" y="118000"/>
                                    </p:animScale>
                                  </p:childTnLst>
                                  <p:subTnLst>
                                    <p:audio>
                                      <p:cMediaNode vol="80000" showWhenStopped="0">
                                        <p:cTn id="32" display="0" masterRel="sameClick">
                                          <p:stCondLst>
                                            <p:cond evt="onBegin" delay="0">
                                              <p:tn val="30"/>
                                            </p:cond>
                                          </p:stCondLst>
                                        </p:cTn>
                                        <p:tgtEl>
                                          <p:sndTgt r:embed="rId22" name="pop.wav"/>
                                        </p:tgtEl>
                                      </p:cMediaNode>
                                    </p:audio>
                                  </p:subTnLst>
                                </p:cTn>
                              </p:par>
                              <p:par>
                                <p:cTn id="33" presetID="10" presetClass="exit" presetSubtype="0" fill="hold" grpId="2" nodeType="withEffect">
                                  <p:stCondLst>
                                    <p:cond delay="2350"/>
                                  </p:stCondLst>
                                  <p:childTnLst>
                                    <p:animEffect transition="out" filter="fade">
                                      <p:cBhvr>
                                        <p:cTn id="34" dur="400"/>
                                        <p:tgtEl>
                                          <p:spTgt spid="16"/>
                                        </p:tgtEl>
                                      </p:cBhvr>
                                    </p:animEffect>
                                    <p:set>
                                      <p:cBhvr>
                                        <p:cTn id="35" dur="1" fill="hold">
                                          <p:stCondLst>
                                            <p:cond delay="399"/>
                                          </p:stCondLst>
                                        </p:cTn>
                                        <p:tgtEl>
                                          <p:spTgt spid="16"/>
                                        </p:tgtEl>
                                        <p:attrNameLst>
                                          <p:attrName>style.visibility</p:attrName>
                                        </p:attrNameLst>
                                      </p:cBhvr>
                                      <p:to>
                                        <p:strVal val="hidden"/>
                                      </p:to>
                                    </p:set>
                                  </p:childTnLst>
                                </p:cTn>
                              </p:par>
                              <p:par>
                                <p:cTn id="36" presetID="10" presetClass="entr" presetSubtype="0" fill="hold" grpId="0" nodeType="withEffect">
                                  <p:stCondLst>
                                    <p:cond delay="185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350" fill="hold"/>
                                        <p:tgtEl>
                                          <p:spTgt spid="18"/>
                                        </p:tgtEl>
                                        <p:attrNameLst>
                                          <p:attrName>ppt_w</p:attrName>
                                        </p:attrNameLst>
                                      </p:cBhvr>
                                      <p:tavLst>
                                        <p:tav tm="0">
                                          <p:val>
                                            <p:strVal val="0"/>
                                          </p:val>
                                        </p:tav>
                                        <p:tav tm="100000">
                                          <p:val>
                                            <p:strVal val="#ppt_w"/>
                                          </p:val>
                                        </p:tav>
                                      </p:tavLst>
                                    </p:anim>
                                    <p:anim calcmode="lin" valueType="num">
                                      <p:cBhvr additive="base">
                                        <p:cTn id="44" dur="350" fill="hold"/>
                                        <p:tgtEl>
                                          <p:spTgt spid="18"/>
                                        </p:tgtEl>
                                        <p:attrNameLst>
                                          <p:attrName>ppt_h</p:attrName>
                                        </p:attrNameLst>
                                      </p:cBhvr>
                                      <p:tavLst>
                                        <p:tav tm="0">
                                          <p:val>
                                            <p:strVal val="0"/>
                                          </p:val>
                                        </p:tav>
                                        <p:tav tm="100000">
                                          <p:val>
                                            <p:strVal val="#ppt_h"/>
                                          </p:val>
                                        </p:tav>
                                      </p:tavLst>
                                    </p:anim>
                                    <p:animEffect transition="in" filter="fade">
                                      <p:cBhvr>
                                        <p:cTn id="45" dur="350"/>
                                        <p:tgtEl>
                                          <p:spTgt spid="18"/>
                                        </p:tgtEl>
                                      </p:cBhvr>
                                    </p:animEffect>
                                  </p:childTnLst>
                                  <p:subTnLst>
                                    <p:audio>
                                      <p:cMediaNode vol="80000" showWhenStopped="0">
                                        <p:cTn id="46" display="0" masterRel="sameClick">
                                          <p:stCondLst>
                                            <p:cond evt="onBegin" delay="0">
                                              <p:tn val="41"/>
                                            </p:cond>
                                          </p:stCondLst>
                                        </p:cTn>
                                        <p:tgtEl>
                                          <p:sndTgt r:embed="rId21" name="sparkle.wav"/>
                                        </p:tgtEl>
                                      </p:cMediaNode>
                                    </p:audio>
                                  </p:subTnLst>
                                </p:cTn>
                              </p:par>
                              <p:par>
                                <p:cTn id="47" presetID="0" presetClass="path" presetSubtype="0" fill="hold" grpId="1" nodeType="withEffect">
                                  <p:stCondLst>
                                    <p:cond delay="350"/>
                                  </p:stCondLst>
                                  <p:childTnLst>
                                    <p:animMotion origin="layout" path="M 0 0 L -0.2138 -0.1533 E" pathEditMode="relative" ptsTypes="">
                                      <p:cBhvr>
                                        <p:cTn id="48" dur="1500" fill="hold" accel="40000" decel="40000"/>
                                        <p:tgtEl>
                                          <p:spTgt spid="18"/>
                                        </p:tgtEl>
                                        <p:attrNameLst>
                                          <p:attrName>ppt_x</p:attrName>
                                          <p:attrName>ppt_y</p:attrName>
                                        </p:attrNameLst>
                                      </p:cBhvr>
                                      <p:rCtr x="0" y="0"/>
                                    </p:animMotion>
                                  </p:childTnLst>
                                </p:cTn>
                              </p:par>
                              <p:par>
                                <p:cTn id="49" presetID="22" presetClass="entr" presetSubtype="2" fill="hold" grpId="0" nodeType="withEffect">
                                  <p:stCondLst>
                                    <p:cond delay="400"/>
                                  </p:stCondLst>
                                  <p:childTnLst>
                                    <p:set>
                                      <p:cBhvr>
                                        <p:cTn id="50" dur="1" fill="hold">
                                          <p:stCondLst>
                                            <p:cond delay="0"/>
                                          </p:stCondLst>
                                        </p:cTn>
                                        <p:tgtEl>
                                          <p:spTgt spid="13"/>
                                        </p:tgtEl>
                                        <p:attrNameLst>
                                          <p:attrName>style.visibility</p:attrName>
                                        </p:attrNameLst>
                                      </p:cBhvr>
                                      <p:to>
                                        <p:strVal val="visible"/>
                                      </p:to>
                                    </p:set>
                                    <p:animEffect transition="in" filter="wipe(right)">
                                      <p:cBhvr>
                                        <p:cTn id="51" dur="900"/>
                                        <p:tgtEl>
                                          <p:spTgt spid="13"/>
                                        </p:tgtEl>
                                      </p:cBhvr>
                                    </p:animEffect>
                                  </p:childTnLst>
                                </p:cTn>
                              </p:par>
                              <p:par>
                                <p:cTn id="52" presetID="6" presetClass="emph" presetSubtype="0" fill="hold" grpId="0" nodeType="withEffect">
                                  <p:stCondLst>
                                    <p:cond delay="1850"/>
                                  </p:stCondLst>
                                  <p:childTnLst>
                                    <p:animScale>
                                      <p:cBhvr>
                                        <p:cTn id="53" dur="400" autoRev="1" fill="hold"/>
                                        <p:tgtEl>
                                          <p:spTgt spid="7"/>
                                        </p:tgtEl>
                                      </p:cBhvr>
                                      <p:by x="118000" y="118000"/>
                                    </p:animScale>
                                  </p:childTnLst>
                                  <p:subTnLst>
                                    <p:audio>
                                      <p:cMediaNode vol="80000" showWhenStopped="0">
                                        <p:cTn id="54" display="0" masterRel="sameClick">
                                          <p:stCondLst>
                                            <p:cond evt="onBegin" delay="0">
                                              <p:tn val="52"/>
                                            </p:cond>
                                          </p:stCondLst>
                                        </p:cTn>
                                        <p:tgtEl>
                                          <p:sndTgt r:embed="rId22" name="pop.wav"/>
                                        </p:tgtEl>
                                      </p:cMediaNode>
                                    </p:audio>
                                  </p:subTnLst>
                                </p:cTn>
                              </p:par>
                              <p:par>
                                <p:cTn id="55" presetID="10" presetClass="exit" presetSubtype="0" fill="hold" grpId="2" nodeType="withEffect">
                                  <p:stCondLst>
                                    <p:cond delay="2350"/>
                                  </p:stCondLst>
                                  <p:childTnLst>
                                    <p:animEffect transition="out" filter="fade">
                                      <p:cBhvr>
                                        <p:cTn id="56" dur="400"/>
                                        <p:tgtEl>
                                          <p:spTgt spid="18"/>
                                        </p:tgtEl>
                                      </p:cBhvr>
                                    </p:animEffect>
                                    <p:set>
                                      <p:cBhvr>
                                        <p:cTn id="57" dur="1" fill="hold">
                                          <p:stCondLst>
                                            <p:cond delay="399"/>
                                          </p:stCondLst>
                                        </p:cTn>
                                        <p:tgtEl>
                                          <p:spTgt spid="18"/>
                                        </p:tgtEl>
                                        <p:attrNameLst>
                                          <p:attrName>style.visibility</p:attrName>
                                        </p:attrNameLst>
                                      </p:cBhvr>
                                      <p:to>
                                        <p:strVal val="hidden"/>
                                      </p:to>
                                    </p:set>
                                  </p:childTnLst>
                                </p:cTn>
                              </p:par>
                              <p:par>
                                <p:cTn id="58" presetID="10" presetClass="entr" presetSubtype="0" fill="hold" grpId="0" nodeType="withEffect">
                                  <p:stCondLst>
                                    <p:cond delay="185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4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350" fill="hold"/>
                                        <p:tgtEl>
                                          <p:spTgt spid="20"/>
                                        </p:tgtEl>
                                        <p:attrNameLst>
                                          <p:attrName>ppt_w</p:attrName>
                                        </p:attrNameLst>
                                      </p:cBhvr>
                                      <p:tavLst>
                                        <p:tav tm="0">
                                          <p:val>
                                            <p:strVal val="0"/>
                                          </p:val>
                                        </p:tav>
                                        <p:tav tm="100000">
                                          <p:val>
                                            <p:strVal val="#ppt_w"/>
                                          </p:val>
                                        </p:tav>
                                      </p:tavLst>
                                    </p:anim>
                                    <p:anim calcmode="lin" valueType="num">
                                      <p:cBhvr additive="base">
                                        <p:cTn id="66" dur="350" fill="hold"/>
                                        <p:tgtEl>
                                          <p:spTgt spid="20"/>
                                        </p:tgtEl>
                                        <p:attrNameLst>
                                          <p:attrName>ppt_h</p:attrName>
                                        </p:attrNameLst>
                                      </p:cBhvr>
                                      <p:tavLst>
                                        <p:tav tm="0">
                                          <p:val>
                                            <p:strVal val="0"/>
                                          </p:val>
                                        </p:tav>
                                        <p:tav tm="100000">
                                          <p:val>
                                            <p:strVal val="#ppt_h"/>
                                          </p:val>
                                        </p:tav>
                                      </p:tavLst>
                                    </p:anim>
                                    <p:animEffect transition="in" filter="fade">
                                      <p:cBhvr>
                                        <p:cTn id="67" dur="350"/>
                                        <p:tgtEl>
                                          <p:spTgt spid="20"/>
                                        </p:tgtEl>
                                      </p:cBhvr>
                                    </p:animEffect>
                                  </p:childTnLst>
                                  <p:subTnLst>
                                    <p:audio>
                                      <p:cMediaNode vol="80000" showWhenStopped="0">
                                        <p:cTn id="68" display="0" masterRel="sameClick">
                                          <p:stCondLst>
                                            <p:cond evt="onBegin" delay="0">
                                              <p:tn val="63"/>
                                            </p:cond>
                                          </p:stCondLst>
                                        </p:cTn>
                                        <p:tgtEl>
                                          <p:sndTgt r:embed="rId21" name="sparkle.wav"/>
                                        </p:tgtEl>
                                      </p:cMediaNode>
                                    </p:audio>
                                  </p:subTnLst>
                                </p:cTn>
                              </p:par>
                              <p:par>
                                <p:cTn id="69" presetID="0" presetClass="path" presetSubtype="0" fill="hold" grpId="1" nodeType="withEffect">
                                  <p:stCondLst>
                                    <p:cond delay="350"/>
                                  </p:stCondLst>
                                  <p:childTnLst>
                                    <p:animMotion origin="layout" path="M 0 0 L -0.2100 0.1333 E" pathEditMode="relative" ptsTypes="">
                                      <p:cBhvr>
                                        <p:cTn id="70" dur="1500" fill="hold" accel="40000" decel="40000"/>
                                        <p:tgtEl>
                                          <p:spTgt spid="20"/>
                                        </p:tgtEl>
                                        <p:attrNameLst>
                                          <p:attrName>ppt_x</p:attrName>
                                          <p:attrName>ppt_y</p:attrName>
                                        </p:attrNameLst>
                                      </p:cBhvr>
                                      <p:rCtr x="0" y="0"/>
                                    </p:animMotion>
                                  </p:childTnLst>
                                </p:cTn>
                              </p:par>
                              <p:par>
                                <p:cTn id="71" presetID="22" presetClass="entr" presetSubtype="2" fill="hold" grpId="0" nodeType="withEffect">
                                  <p:stCondLst>
                                    <p:cond delay="400"/>
                                  </p:stCondLst>
                                  <p:childTnLst>
                                    <p:set>
                                      <p:cBhvr>
                                        <p:cTn id="72" dur="1" fill="hold">
                                          <p:stCondLst>
                                            <p:cond delay="0"/>
                                          </p:stCondLst>
                                        </p:cTn>
                                        <p:tgtEl>
                                          <p:spTgt spid="14"/>
                                        </p:tgtEl>
                                        <p:attrNameLst>
                                          <p:attrName>style.visibility</p:attrName>
                                        </p:attrNameLst>
                                      </p:cBhvr>
                                      <p:to>
                                        <p:strVal val="visible"/>
                                      </p:to>
                                    </p:set>
                                    <p:animEffect transition="in" filter="wipe(right)">
                                      <p:cBhvr>
                                        <p:cTn id="73" dur="900"/>
                                        <p:tgtEl>
                                          <p:spTgt spid="14"/>
                                        </p:tgtEl>
                                      </p:cBhvr>
                                    </p:animEffect>
                                  </p:childTnLst>
                                </p:cTn>
                              </p:par>
                              <p:par>
                                <p:cTn id="74" presetID="6" presetClass="emph" presetSubtype="0" fill="hold" grpId="0" nodeType="withEffect">
                                  <p:stCondLst>
                                    <p:cond delay="1850"/>
                                  </p:stCondLst>
                                  <p:childTnLst>
                                    <p:animScale>
                                      <p:cBhvr>
                                        <p:cTn id="75" dur="400" autoRev="1" fill="hold"/>
                                        <p:tgtEl>
                                          <p:spTgt spid="9"/>
                                        </p:tgtEl>
                                      </p:cBhvr>
                                      <p:by x="118000" y="118000"/>
                                    </p:animScale>
                                  </p:childTnLst>
                                  <p:subTnLst>
                                    <p:audio>
                                      <p:cMediaNode vol="80000" showWhenStopped="0">
                                        <p:cTn id="76" display="0" masterRel="sameClick">
                                          <p:stCondLst>
                                            <p:cond evt="onBegin" delay="0">
                                              <p:tn val="74"/>
                                            </p:cond>
                                          </p:stCondLst>
                                        </p:cTn>
                                        <p:tgtEl>
                                          <p:sndTgt r:embed="rId22" name="pop.wav"/>
                                        </p:tgtEl>
                                      </p:cMediaNode>
                                    </p:audio>
                                  </p:subTnLst>
                                </p:cTn>
                              </p:par>
                              <p:par>
                                <p:cTn id="77" presetID="10" presetClass="exit" presetSubtype="0" fill="hold" grpId="2" nodeType="withEffect">
                                  <p:stCondLst>
                                    <p:cond delay="2350"/>
                                  </p:stCondLst>
                                  <p:childTnLst>
                                    <p:animEffect transition="out" filter="fade">
                                      <p:cBhvr>
                                        <p:cTn id="78" dur="400"/>
                                        <p:tgtEl>
                                          <p:spTgt spid="20"/>
                                        </p:tgtEl>
                                      </p:cBhvr>
                                    </p:animEffect>
                                    <p:set>
                                      <p:cBhvr>
                                        <p:cTn id="79" dur="1" fill="hold">
                                          <p:stCondLst>
                                            <p:cond delay="399"/>
                                          </p:stCondLst>
                                        </p:cTn>
                                        <p:tgtEl>
                                          <p:spTgt spid="20"/>
                                        </p:tgtEl>
                                        <p:attrNameLst>
                                          <p:attrName>style.visibility</p:attrName>
                                        </p:attrNameLst>
                                      </p:cBhvr>
                                      <p:to>
                                        <p:strVal val="hidden"/>
                                      </p:to>
                                    </p:set>
                                  </p:childTnLst>
                                </p:cTn>
                              </p:par>
                              <p:par>
                                <p:cTn id="80" presetID="10" presetClass="entr" presetSubtype="0" fill="hold" grpId="0" nodeType="withEffect">
                                  <p:stCondLst>
                                    <p:cond delay="185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4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additive="base">
                                        <p:cTn id="87" dur="350" fill="hold"/>
                                        <p:tgtEl>
                                          <p:spTgt spid="22"/>
                                        </p:tgtEl>
                                        <p:attrNameLst>
                                          <p:attrName>ppt_w</p:attrName>
                                        </p:attrNameLst>
                                      </p:cBhvr>
                                      <p:tavLst>
                                        <p:tav tm="0">
                                          <p:val>
                                            <p:strVal val="0"/>
                                          </p:val>
                                        </p:tav>
                                        <p:tav tm="100000">
                                          <p:val>
                                            <p:strVal val="#ppt_w"/>
                                          </p:val>
                                        </p:tav>
                                      </p:tavLst>
                                    </p:anim>
                                    <p:anim calcmode="lin" valueType="num">
                                      <p:cBhvr additive="base">
                                        <p:cTn id="88" dur="350" fill="hold"/>
                                        <p:tgtEl>
                                          <p:spTgt spid="22"/>
                                        </p:tgtEl>
                                        <p:attrNameLst>
                                          <p:attrName>ppt_h</p:attrName>
                                        </p:attrNameLst>
                                      </p:cBhvr>
                                      <p:tavLst>
                                        <p:tav tm="0">
                                          <p:val>
                                            <p:strVal val="0"/>
                                          </p:val>
                                        </p:tav>
                                        <p:tav tm="100000">
                                          <p:val>
                                            <p:strVal val="#ppt_h"/>
                                          </p:val>
                                        </p:tav>
                                      </p:tavLst>
                                    </p:anim>
                                    <p:animEffect transition="in" filter="fade">
                                      <p:cBhvr>
                                        <p:cTn id="89" dur="350"/>
                                        <p:tgtEl>
                                          <p:spTgt spid="22"/>
                                        </p:tgtEl>
                                      </p:cBhvr>
                                    </p:animEffect>
                                  </p:childTnLst>
                                  <p:subTnLst>
                                    <p:audio>
                                      <p:cMediaNode vol="80000" showWhenStopped="0">
                                        <p:cTn id="90" display="0" masterRel="sameClick">
                                          <p:stCondLst>
                                            <p:cond evt="onBegin" delay="0">
                                              <p:tn val="85"/>
                                            </p:cond>
                                          </p:stCondLst>
                                        </p:cTn>
                                        <p:tgtEl>
                                          <p:sndTgt r:embed="rId21" name="sparkle.wav"/>
                                        </p:tgtEl>
                                      </p:cMediaNode>
                                    </p:audio>
                                  </p:subTnLst>
                                </p:cTn>
                              </p:par>
                              <p:par>
                                <p:cTn id="91" presetID="0" presetClass="path" presetSubtype="0" fill="hold" grpId="1" nodeType="withEffect">
                                  <p:stCondLst>
                                    <p:cond delay="350"/>
                                  </p:stCondLst>
                                  <p:childTnLst>
                                    <p:animMotion origin="layout" path="M 0 0 L -0.2063 -0.3733 E" pathEditMode="relative" ptsTypes="">
                                      <p:cBhvr>
                                        <p:cTn id="92" dur="1500" fill="hold" accel="40000" decel="40000"/>
                                        <p:tgtEl>
                                          <p:spTgt spid="22"/>
                                        </p:tgtEl>
                                        <p:attrNameLst>
                                          <p:attrName>ppt_x</p:attrName>
                                          <p:attrName>ppt_y</p:attrName>
                                        </p:attrNameLst>
                                      </p:cBhvr>
                                      <p:rCtr x="0" y="0"/>
                                    </p:animMotion>
                                  </p:childTnLst>
                                </p:cTn>
                              </p:par>
                              <p:par>
                                <p:cTn id="93" presetID="22" presetClass="entr" presetSubtype="2" fill="hold" grpId="0" nodeType="withEffect">
                                  <p:stCondLst>
                                    <p:cond delay="400"/>
                                  </p:stCondLst>
                                  <p:childTnLst>
                                    <p:set>
                                      <p:cBhvr>
                                        <p:cTn id="94" dur="1" fill="hold">
                                          <p:stCondLst>
                                            <p:cond delay="0"/>
                                          </p:stCondLst>
                                        </p:cTn>
                                        <p:tgtEl>
                                          <p:spTgt spid="15"/>
                                        </p:tgtEl>
                                        <p:attrNameLst>
                                          <p:attrName>style.visibility</p:attrName>
                                        </p:attrNameLst>
                                      </p:cBhvr>
                                      <p:to>
                                        <p:strVal val="visible"/>
                                      </p:to>
                                    </p:set>
                                    <p:animEffect transition="in" filter="wipe(right)">
                                      <p:cBhvr>
                                        <p:cTn id="95" dur="900"/>
                                        <p:tgtEl>
                                          <p:spTgt spid="15"/>
                                        </p:tgtEl>
                                      </p:cBhvr>
                                    </p:animEffect>
                                  </p:childTnLst>
                                </p:cTn>
                              </p:par>
                              <p:par>
                                <p:cTn id="96" presetID="6" presetClass="emph" presetSubtype="0" fill="hold" grpId="0" nodeType="withEffect">
                                  <p:stCondLst>
                                    <p:cond delay="1850"/>
                                  </p:stCondLst>
                                  <p:childTnLst>
                                    <p:animScale>
                                      <p:cBhvr>
                                        <p:cTn id="97" dur="400" autoRev="1" fill="hold"/>
                                        <p:tgtEl>
                                          <p:spTgt spid="11"/>
                                        </p:tgtEl>
                                      </p:cBhvr>
                                      <p:by x="118000" y="118000"/>
                                    </p:animScale>
                                  </p:childTnLst>
                                  <p:subTnLst>
                                    <p:audio>
                                      <p:cMediaNode vol="80000" showWhenStopped="0">
                                        <p:cTn id="98" display="0" masterRel="sameClick">
                                          <p:stCondLst>
                                            <p:cond evt="onBegin" delay="0">
                                              <p:tn val="96"/>
                                            </p:cond>
                                          </p:stCondLst>
                                        </p:cTn>
                                        <p:tgtEl>
                                          <p:sndTgt r:embed="rId22" name="pop.wav"/>
                                        </p:tgtEl>
                                      </p:cMediaNode>
                                    </p:audio>
                                  </p:subTnLst>
                                </p:cTn>
                              </p:par>
                              <p:par>
                                <p:cTn id="99" presetID="10" presetClass="exit" presetSubtype="0" fill="hold" grpId="2" nodeType="withEffect">
                                  <p:stCondLst>
                                    <p:cond delay="2350"/>
                                  </p:stCondLst>
                                  <p:childTnLst>
                                    <p:animEffect transition="out" filter="fade">
                                      <p:cBhvr>
                                        <p:cTn id="100" dur="400"/>
                                        <p:tgtEl>
                                          <p:spTgt spid="22"/>
                                        </p:tgtEl>
                                      </p:cBhvr>
                                    </p:animEffect>
                                    <p:set>
                                      <p:cBhvr>
                                        <p:cTn id="101" dur="1" fill="hold">
                                          <p:stCondLst>
                                            <p:cond delay="399"/>
                                          </p:stCondLst>
                                        </p:cTn>
                                        <p:tgtEl>
                                          <p:spTgt spid="22"/>
                                        </p:tgtEl>
                                        <p:attrNameLst>
                                          <p:attrName>style.visibility</p:attrName>
                                        </p:attrNameLst>
                                      </p:cBhvr>
                                      <p:to>
                                        <p:strVal val="hidden"/>
                                      </p:to>
                                    </p:set>
                                  </p:childTnLst>
                                </p:cTn>
                              </p:par>
                              <p:par>
                                <p:cTn id="102" presetID="10" presetClass="entr" presetSubtype="0" fill="hold" grpId="0" nodeType="withEffect">
                                  <p:stCondLst>
                                    <p:cond delay="185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400"/>
                                        <p:tgtEl>
                                          <p:spTgt spid="23"/>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500" fill="hold"/>
                                        <p:tgtEl>
                                          <p:spTgt spid="24"/>
                                        </p:tgtEl>
                                        <p:attrNameLst>
                                          <p:attrName>ppt_w</p:attrName>
                                        </p:attrNameLst>
                                      </p:cBhvr>
                                      <p:tavLst>
                                        <p:tav tm="0">
                                          <p:val>
                                            <p:strVal val="0"/>
                                          </p:val>
                                        </p:tav>
                                        <p:tav tm="100000">
                                          <p:val>
                                            <p:strVal val="#ppt_w"/>
                                          </p:val>
                                        </p:tav>
                                      </p:tavLst>
                                    </p:anim>
                                    <p:anim calcmode="lin" valueType="num">
                                      <p:cBhvr additive="base">
                                        <p:cTn id="110" dur="500" fill="hold"/>
                                        <p:tgtEl>
                                          <p:spTgt spid="24"/>
                                        </p:tgtEl>
                                        <p:attrNameLst>
                                          <p:attrName>ppt_h</p:attrName>
                                        </p:attrNameLst>
                                      </p:cBhvr>
                                      <p:tavLst>
                                        <p:tav tm="0">
                                          <p:val>
                                            <p:strVal val="0"/>
                                          </p:val>
                                        </p:tav>
                                        <p:tav tm="100000">
                                          <p:val>
                                            <p:strVal val="#ppt_h"/>
                                          </p:val>
                                        </p:tav>
                                      </p:tavLst>
                                    </p:anim>
                                    <p:animEffect transition="in" filter="fade">
                                      <p:cBhvr>
                                        <p:cTn id="111" dur="500"/>
                                        <p:tgtEl>
                                          <p:spTgt spid="24"/>
                                        </p:tgtEl>
                                      </p:cBhvr>
                                    </p:animEffect>
                                  </p:childTnLst>
                                  <p:subTnLst>
                                    <p:audio>
                                      <p:cMediaNode vol="80000" showWhenStopped="0">
                                        <p:cTn id="112" display="0" masterRel="sameClick">
                                          <p:stCondLst>
                                            <p:cond evt="onBegin" delay="0">
                                              <p:tn val="107"/>
                                            </p:cond>
                                          </p:stCondLst>
                                        </p:cTn>
                                        <p:tgtEl>
                                          <p:sndTgt r:embed="rId23"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9" grpId="0" animBg="1"/>
      <p:bldP spid="21" grpId="0" animBg="1"/>
      <p:bldP spid="23" grpId="0" animBg="1"/>
      <p:bldP spid="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3_1" descr="عنوان الشريحة">    </p:cNvPr>
          <p:cNvPicPr>
            <a:picLocks noChangeAspect="1"/>
          </p:cNvPicPr>
          <p:nvPr/>
        </p:nvPicPr>
        <p:blipFill>
          <a:blip r:embed="rId2"/>
          <a:stretch>
            <a:fillRect/>
          </a:stretch>
        </p:blipFill>
        <p:spPr>
          <a:xfrm>
            <a:off x="6987110" y="182880"/>
            <a:ext cx="4838825" cy="731520"/>
          </a:xfrm>
          <a:prstGeom prst="rect">
            <a:avLst/>
          </a:prstGeom>
        </p:spPr>
      </p:pic>
      <p:sp>
        <p:nvSpPr>
          <p:cNvPr id="3" name="s23_2"/>
          <p:cNvSpPr txBox="1"/>
          <p:nvPr/>
        </p:nvSpPr>
        <p:spPr>
          <a:xfrm>
            <a:off x="365760" y="292608"/>
            <a:ext cx="36804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المقارنة والتصنيف</a:t>
            </a:r>
            <a:endParaRPr lang="en-US" sz="1600" dirty="0"/>
          </a:p>
        </p:txBody>
      </p:sp>
      <p:sp>
        <p:nvSpPr>
          <p:cNvPr id="4" name="s23_3"/>
          <p:cNvSpPr txBox="1"/>
          <p:nvPr/>
        </p:nvSpPr>
        <p:spPr>
          <a:xfrm>
            <a:off x="7863840" y="1143000"/>
            <a:ext cx="3886200" cy="548640"/>
          </a:xfrm>
          <a:prstGeom prst="roundRect">
            <a:avLst>
              <a:gd name="adj" fmla="val 23333"/>
            </a:avLst>
          </a:prstGeom>
          <a:solidFill>
            <a:srgbClr val="34405E"/>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وجه المقارنة</a:t>
            </a:r>
            <a:endParaRPr lang="ar-SA" sz="1700" dirty="0"/>
          </a:p>
        </p:txBody>
      </p:sp>
      <p:sp>
        <p:nvSpPr>
          <p:cNvPr id="5" name="s23_4"/>
          <p:cNvSpPr txBox="1"/>
          <p:nvPr/>
        </p:nvSpPr>
        <p:spPr>
          <a:xfrm>
            <a:off x="4251960" y="1143000"/>
            <a:ext cx="3474720" cy="548640"/>
          </a:xfrm>
          <a:prstGeom prst="roundRect">
            <a:avLst>
              <a:gd name="adj" fmla="val 23333"/>
            </a:avLst>
          </a:prstGeom>
          <a:solidFill>
            <a:srgbClr val="A87400"/>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سلسلة اليابسة 🌵</a:t>
            </a:r>
            <a:endParaRPr lang="ar-SA" sz="1700" dirty="0"/>
          </a:p>
        </p:txBody>
      </p:sp>
      <p:sp>
        <p:nvSpPr>
          <p:cNvPr id="6" name="s23_5"/>
          <p:cNvSpPr txBox="1"/>
          <p:nvPr/>
        </p:nvSpPr>
        <p:spPr>
          <a:xfrm>
            <a:off x="640080" y="1143000"/>
            <a:ext cx="3474720" cy="548640"/>
          </a:xfrm>
          <a:prstGeom prst="roundRect">
            <a:avLst>
              <a:gd name="adj" fmla="val 23333"/>
            </a:avLst>
          </a:prstGeom>
          <a:solidFill>
            <a:srgbClr val="0E6F86"/>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FFFFFF"/>
                </a:solidFill>
                <a:latin typeface="Tahoma" pitchFamily="34" charset="0"/>
                <a:ea typeface="Tahoma" pitchFamily="34" charset="-122"/>
                <a:cs typeface="Tahoma" pitchFamily="34" charset="-120"/>
              </a:rPr>
              <a:t>سلسلة البركة 🪷</a:t>
            </a:r>
            <a:endParaRPr lang="ar-SA" sz="1700" dirty="0"/>
          </a:p>
        </p:txBody>
      </p:sp>
      <p:sp>
        <p:nvSpPr>
          <p:cNvPr id="7" name="s23_6"/>
          <p:cNvSpPr txBox="1"/>
          <p:nvPr/>
        </p:nvSpPr>
        <p:spPr>
          <a:xfrm>
            <a:off x="7863840" y="1810512"/>
            <a:ext cx="3886200" cy="676656"/>
          </a:xfrm>
          <a:prstGeom prst="roundRect">
            <a:avLst>
              <a:gd name="adj" fmla="val 18919"/>
            </a:avLst>
          </a:prstGeom>
          <a:solidFill>
            <a:srgbClr val="FFF6D6"/>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مصدر الطاقة</a:t>
            </a:r>
            <a:endParaRPr lang="ar-SA" sz="1600" dirty="0"/>
          </a:p>
        </p:txBody>
      </p:sp>
      <p:sp>
        <p:nvSpPr>
          <p:cNvPr id="8" name="s23_7@c1%pop"/>
          <p:cNvSpPr txBox="1"/>
          <p:nvPr/>
        </p:nvSpPr>
        <p:spPr>
          <a:xfrm>
            <a:off x="4251960" y="1810512"/>
            <a:ext cx="3474720" cy="676656"/>
          </a:xfrm>
          <a:prstGeom prst="roundRect">
            <a:avLst>
              <a:gd name="adj" fmla="val 18919"/>
            </a:avLst>
          </a:prstGeom>
          <a:solidFill>
            <a:srgbClr val="FFF1D6"/>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الشمس</a:t>
            </a:r>
            <a:endParaRPr lang="ar-SA" sz="1600" dirty="0"/>
          </a:p>
        </p:txBody>
      </p:sp>
      <p:sp>
        <p:nvSpPr>
          <p:cNvPr id="9" name="s23_8@c1"/>
          <p:cNvSpPr txBox="1"/>
          <p:nvPr/>
        </p:nvSpPr>
        <p:spPr>
          <a:xfrm>
            <a:off x="640080" y="1810512"/>
            <a:ext cx="3474720" cy="676656"/>
          </a:xfrm>
          <a:prstGeom prst="roundRect">
            <a:avLst>
              <a:gd name="adj" fmla="val 18919"/>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الشمس</a:t>
            </a:r>
            <a:endParaRPr lang="ar-SA" sz="1600" dirty="0"/>
          </a:p>
        </p:txBody>
      </p:sp>
      <p:sp>
        <p:nvSpPr>
          <p:cNvPr id="10" name="s23_9"/>
          <p:cNvSpPr txBox="1"/>
          <p:nvPr/>
        </p:nvSpPr>
        <p:spPr>
          <a:xfrm>
            <a:off x="7863840" y="2596896"/>
            <a:ext cx="3886200" cy="676656"/>
          </a:xfrm>
          <a:prstGeom prst="roundRect">
            <a:avLst>
              <a:gd name="adj" fmla="val 18919"/>
            </a:avLst>
          </a:prstGeom>
          <a:solidFill>
            <a:srgbClr val="FFF6D6"/>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المنتِج (أول حلقة)</a:t>
            </a:r>
            <a:endParaRPr lang="ar-SA" sz="1600" dirty="0"/>
          </a:p>
        </p:txBody>
      </p:sp>
      <p:sp>
        <p:nvSpPr>
          <p:cNvPr id="11" name="s23_10@c2%pop"/>
          <p:cNvSpPr txBox="1"/>
          <p:nvPr/>
        </p:nvSpPr>
        <p:spPr>
          <a:xfrm>
            <a:off x="4251960" y="2596896"/>
            <a:ext cx="3474720" cy="676656"/>
          </a:xfrm>
          <a:prstGeom prst="roundRect">
            <a:avLst>
              <a:gd name="adj" fmla="val 18919"/>
            </a:avLst>
          </a:prstGeom>
          <a:solidFill>
            <a:srgbClr val="FFF1D6"/>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نبات الشوك</a:t>
            </a:r>
            <a:endParaRPr lang="ar-SA" sz="1600" dirty="0"/>
          </a:p>
        </p:txBody>
      </p:sp>
      <p:sp>
        <p:nvSpPr>
          <p:cNvPr id="12" name="s23_11@c2"/>
          <p:cNvSpPr txBox="1"/>
          <p:nvPr/>
        </p:nvSpPr>
        <p:spPr>
          <a:xfrm>
            <a:off x="640080" y="2596896"/>
            <a:ext cx="3474720" cy="676656"/>
          </a:xfrm>
          <a:prstGeom prst="roundRect">
            <a:avLst>
              <a:gd name="adj" fmla="val 18919"/>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الطحالب</a:t>
            </a:r>
            <a:endParaRPr lang="ar-SA" sz="1600" dirty="0"/>
          </a:p>
        </p:txBody>
      </p:sp>
      <p:sp>
        <p:nvSpPr>
          <p:cNvPr id="13" name="s23_12"/>
          <p:cNvSpPr txBox="1"/>
          <p:nvPr/>
        </p:nvSpPr>
        <p:spPr>
          <a:xfrm>
            <a:off x="7863840" y="3383280"/>
            <a:ext cx="3886200" cy="676656"/>
          </a:xfrm>
          <a:prstGeom prst="roundRect">
            <a:avLst>
              <a:gd name="adj" fmla="val 18919"/>
            </a:avLst>
          </a:prstGeom>
          <a:solidFill>
            <a:srgbClr val="FFF6D6"/>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آكل الأعشاب</a:t>
            </a:r>
            <a:endParaRPr lang="ar-SA" sz="1600" dirty="0"/>
          </a:p>
        </p:txBody>
      </p:sp>
      <p:sp>
        <p:nvSpPr>
          <p:cNvPr id="14" name="s23_13@c3%pop"/>
          <p:cNvSpPr txBox="1"/>
          <p:nvPr/>
        </p:nvSpPr>
        <p:spPr>
          <a:xfrm>
            <a:off x="4251960" y="3383280"/>
            <a:ext cx="3474720" cy="676656"/>
          </a:xfrm>
          <a:prstGeom prst="roundRect">
            <a:avLst>
              <a:gd name="adj" fmla="val 18919"/>
            </a:avLst>
          </a:prstGeom>
          <a:solidFill>
            <a:srgbClr val="FFF1D6"/>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اليرقة</a:t>
            </a:r>
            <a:endParaRPr lang="ar-SA" sz="1600" dirty="0"/>
          </a:p>
        </p:txBody>
      </p:sp>
      <p:sp>
        <p:nvSpPr>
          <p:cNvPr id="15" name="s23_14@c3"/>
          <p:cNvSpPr txBox="1"/>
          <p:nvPr/>
        </p:nvSpPr>
        <p:spPr>
          <a:xfrm>
            <a:off x="640080" y="3383280"/>
            <a:ext cx="3474720" cy="676656"/>
          </a:xfrm>
          <a:prstGeom prst="roundRect">
            <a:avLst>
              <a:gd name="adj" fmla="val 18919"/>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الذبابة المائية</a:t>
            </a:r>
            <a:endParaRPr lang="ar-SA" sz="1600" dirty="0"/>
          </a:p>
        </p:txBody>
      </p:sp>
      <p:sp>
        <p:nvSpPr>
          <p:cNvPr id="16" name="s23_15"/>
          <p:cNvSpPr txBox="1"/>
          <p:nvPr/>
        </p:nvSpPr>
        <p:spPr>
          <a:xfrm>
            <a:off x="7863840" y="4169664"/>
            <a:ext cx="3886200" cy="676656"/>
          </a:xfrm>
          <a:prstGeom prst="roundRect">
            <a:avLst>
              <a:gd name="adj" fmla="val 18919"/>
            </a:avLst>
          </a:prstGeom>
          <a:solidFill>
            <a:srgbClr val="FFF6D6"/>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آكل اللحوم</a:t>
            </a:r>
            <a:endParaRPr lang="ar-SA" sz="1600" dirty="0"/>
          </a:p>
        </p:txBody>
      </p:sp>
      <p:sp>
        <p:nvSpPr>
          <p:cNvPr id="17" name="s23_16@c4%pop"/>
          <p:cNvSpPr txBox="1"/>
          <p:nvPr/>
        </p:nvSpPr>
        <p:spPr>
          <a:xfrm>
            <a:off x="4251960" y="4169664"/>
            <a:ext cx="3474720" cy="676656"/>
          </a:xfrm>
          <a:prstGeom prst="roundRect">
            <a:avLst>
              <a:gd name="adj" fmla="val 18919"/>
            </a:avLst>
          </a:prstGeom>
          <a:solidFill>
            <a:srgbClr val="FFF1D6"/>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السرعوف، السحلية</a:t>
            </a:r>
            <a:endParaRPr lang="ar-SA" sz="1600" dirty="0"/>
          </a:p>
        </p:txBody>
      </p:sp>
      <p:sp>
        <p:nvSpPr>
          <p:cNvPr id="18" name="s23_17@c4"/>
          <p:cNvSpPr txBox="1"/>
          <p:nvPr/>
        </p:nvSpPr>
        <p:spPr>
          <a:xfrm>
            <a:off x="640080" y="4169664"/>
            <a:ext cx="3474720" cy="676656"/>
          </a:xfrm>
          <a:prstGeom prst="roundRect">
            <a:avLst>
              <a:gd name="adj" fmla="val 18919"/>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سمكة الشمس</a:t>
            </a:r>
            <a:endParaRPr lang="ar-SA" sz="1600" dirty="0"/>
          </a:p>
        </p:txBody>
      </p:sp>
      <p:sp>
        <p:nvSpPr>
          <p:cNvPr id="19" name="s23_18"/>
          <p:cNvSpPr txBox="1"/>
          <p:nvPr/>
        </p:nvSpPr>
        <p:spPr>
          <a:xfrm>
            <a:off x="7863840" y="4956048"/>
            <a:ext cx="3886200" cy="676656"/>
          </a:xfrm>
          <a:prstGeom prst="roundRect">
            <a:avLst>
              <a:gd name="adj" fmla="val 18919"/>
            </a:avLst>
          </a:prstGeom>
          <a:solidFill>
            <a:srgbClr val="FFF6D6"/>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آخر حلقة</a:t>
            </a:r>
            <a:endParaRPr lang="ar-SA" sz="1600" dirty="0"/>
          </a:p>
        </p:txBody>
      </p:sp>
      <p:sp>
        <p:nvSpPr>
          <p:cNvPr id="20" name="s23_19@c5%pop"/>
          <p:cNvSpPr txBox="1"/>
          <p:nvPr/>
        </p:nvSpPr>
        <p:spPr>
          <a:xfrm>
            <a:off x="4251960" y="4956048"/>
            <a:ext cx="3474720" cy="676656"/>
          </a:xfrm>
          <a:prstGeom prst="roundRect">
            <a:avLst>
              <a:gd name="adj" fmla="val 18919"/>
            </a:avLst>
          </a:prstGeom>
          <a:solidFill>
            <a:srgbClr val="FFF1D6"/>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البومة</a:t>
            </a:r>
            <a:endParaRPr lang="ar-SA" sz="1600" dirty="0"/>
          </a:p>
        </p:txBody>
      </p:sp>
      <p:sp>
        <p:nvSpPr>
          <p:cNvPr id="21" name="s23_20@c5"/>
          <p:cNvSpPr txBox="1"/>
          <p:nvPr/>
        </p:nvSpPr>
        <p:spPr>
          <a:xfrm>
            <a:off x="640080" y="4956048"/>
            <a:ext cx="3474720" cy="676656"/>
          </a:xfrm>
          <a:prstGeom prst="roundRect">
            <a:avLst>
              <a:gd name="adj" fmla="val 18919"/>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600" dirty="0">
                <a:solidFill>
                  <a:srgbClr val="34405E"/>
                </a:solidFill>
                <a:latin typeface="Tahoma" pitchFamily="34" charset="0"/>
                <a:ea typeface="Tahoma" pitchFamily="34" charset="-122"/>
                <a:cs typeface="Tahoma" pitchFamily="34" charset="-120"/>
              </a:rPr>
              <a:t>مالك الحزين</a:t>
            </a:r>
            <a:endParaRPr lang="ar-SA" sz="1600" dirty="0"/>
          </a:p>
        </p:txBody>
      </p:sp>
      <p:sp>
        <p:nvSpPr>
          <p:cNvPr id="22" name="s23_21@c6%chime"/>
          <p:cNvSpPr txBox="1"/>
          <p:nvPr/>
        </p:nvSpPr>
        <p:spPr>
          <a:xfrm>
            <a:off x="640080" y="5779008"/>
            <a:ext cx="11109960" cy="548640"/>
          </a:xfrm>
          <a:prstGeom prst="roundRect">
            <a:avLst>
              <a:gd name="adj" fmla="val 23333"/>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C2366F"/>
                </a:solidFill>
                <a:latin typeface="Tahoma" pitchFamily="34" charset="0"/>
                <a:ea typeface="Tahoma" pitchFamily="34" charset="-122"/>
                <a:cs typeface="Tahoma" pitchFamily="34" charset="-120"/>
              </a:rPr>
              <a:t>أستنتج: </a:t>
            </a:r>
            <a:r>
              <a:rPr lang="ar-SA" altLang="en-US" sz="1550" b="1" dirty="0">
                <a:solidFill>
                  <a:srgbClr val="34405E"/>
                </a:solidFill>
                <a:latin typeface="Tahoma" pitchFamily="34" charset="0"/>
                <a:ea typeface="Tahoma" pitchFamily="34" charset="-122"/>
                <a:cs typeface="Tahoma" pitchFamily="34" charset="-120"/>
              </a:rPr>
              <a:t>تبدأ كلتا السلسلتين بمنتِج يلتقط طاقة الشمس، ثم تنتقل الطاقة إلى المستهلكات حلقةً بعد حلقة.</a:t>
            </a:r>
            <a:endParaRPr lang="ar-SA" sz="1550" dirty="0"/>
          </a:p>
        </p:txBody>
      </p:sp>
      <p:sp>
        <p:nvSpPr>
          <p:cNvPr id="23" name="s23_22"/>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4" name="s23_23"/>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٣: البركة • صفحة ١١٣</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subTnLst>
                                    <p:audio>
                                      <p:cMediaNode vol="80000" showWhenStopped="0">
                                        <p:cTn id="8" display="0" masterRel="sameClick">
                                          <p:stCondLst>
                                            <p:cond evt="onBegin" delay="0">
                                              <p:tn val="5"/>
                                            </p:cond>
                                          </p:stCondLst>
                                        </p:cTn>
                                        <p:tgtEl>
                                          <p:sndTgt r:embed="rId5" name="pop.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subTnLst>
                                    <p:audio>
                                      <p:cMediaNode vol="80000" showWhenStopped="0">
                                        <p:cTn id="17" display="0" masterRel="sameClick">
                                          <p:stCondLst>
                                            <p:cond evt="onBegin" delay="0">
                                              <p:tn val="14"/>
                                            </p:cond>
                                          </p:stCondLst>
                                        </p:cTn>
                                        <p:tgtEl>
                                          <p:sndTgt r:embed="rId5" name="pop.wav"/>
                                        </p:tgtEl>
                                      </p:cMediaNode>
                                    </p:audio>
                                  </p:sub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subTnLst>
                                    <p:audio>
                                      <p:cMediaNode vol="80000" showWhenStopped="0">
                                        <p:cTn id="26" display="0" masterRel="sameClick">
                                          <p:stCondLst>
                                            <p:cond evt="onBegin" delay="0">
                                              <p:tn val="23"/>
                                            </p:cond>
                                          </p:stCondLst>
                                        </p:cTn>
                                        <p:tgtEl>
                                          <p:sndTgt r:embed="rId5" name="pop.wav"/>
                                        </p:tgtEl>
                                      </p:cMediaNode>
                                    </p:audio>
                                  </p:sub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subTnLst>
                                    <p:audio>
                                      <p:cMediaNode vol="80000" showWhenStopped="0">
                                        <p:cTn id="35" display="0" masterRel="sameClick">
                                          <p:stCondLst>
                                            <p:cond evt="onBegin" delay="0">
                                              <p:tn val="32"/>
                                            </p:cond>
                                          </p:stCondLst>
                                        </p:cTn>
                                        <p:tgtEl>
                                          <p:sndTgt r:embed="rId5" name="pop.wav"/>
                                        </p:tgtEl>
                                      </p:cMediaNode>
                                    </p:audio>
                                  </p:sub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subTnLst>
                                    <p:audio>
                                      <p:cMediaNode vol="80000" showWhenStopped="0">
                                        <p:cTn id="44" display="0" masterRel="sameClick">
                                          <p:stCondLst>
                                            <p:cond evt="onBegin" delay="0">
                                              <p:tn val="41"/>
                                            </p:cond>
                                          </p:stCondLst>
                                        </p:cTn>
                                        <p:tgtEl>
                                          <p:sndTgt r:embed="rId5" name="pop.wav"/>
                                        </p:tgtEl>
                                      </p:cMediaNode>
                                    </p:audio>
                                  </p:sub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subTnLst>
                                    <p:audio>
                                      <p:cMediaNode vol="80000" showWhenStopped="0">
                                        <p:cTn id="53" display="0" masterRel="sameClick">
                                          <p:stCondLst>
                                            <p:cond evt="onBegin" delay="0">
                                              <p:tn val="50"/>
                                            </p:cond>
                                          </p:stCondLst>
                                        </p:cTn>
                                        <p:tgtEl>
                                          <p:sndTgt r:embed="rId6"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4_1" descr="عنوان الشريحة">    </p:cNvPr>
          <p:cNvPicPr>
            <a:picLocks noChangeAspect="1"/>
          </p:cNvPicPr>
          <p:nvPr/>
        </p:nvPicPr>
        <p:blipFill>
          <a:blip r:embed="rId2"/>
          <a:stretch>
            <a:fillRect/>
          </a:stretch>
        </p:blipFill>
        <p:spPr>
          <a:xfrm>
            <a:off x="7946481" y="182880"/>
            <a:ext cx="3879454" cy="731520"/>
          </a:xfrm>
          <a:prstGeom prst="rect">
            <a:avLst/>
          </a:prstGeom>
        </p:spPr>
      </p:pic>
      <p:sp>
        <p:nvSpPr>
          <p:cNvPr id="3" name="s24_2"/>
          <p:cNvSpPr txBox="1"/>
          <p:nvPr/>
        </p:nvSpPr>
        <p:spPr>
          <a:xfrm>
            <a:off x="365760" y="292608"/>
            <a:ext cx="43662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مستويات التفكير الثلاثة</a:t>
            </a:r>
            <a:endParaRPr lang="en-US" sz="1600" dirty="0"/>
          </a:p>
        </p:txBody>
      </p:sp>
      <p:sp>
        <p:nvSpPr>
          <p:cNvPr id="4" name="s24_3"/>
          <p:cNvSpPr txBox="1"/>
          <p:nvPr/>
        </p:nvSpPr>
        <p:spPr>
          <a:xfrm>
            <a:off x="502920" y="1097280"/>
            <a:ext cx="11201400" cy="1554480"/>
          </a:xfrm>
          <a:prstGeom prst="roundRect">
            <a:avLst>
              <a:gd name="adj" fmla="val 8235"/>
            </a:avLst>
          </a:prstGeom>
          <a:solidFill>
            <a:srgbClr val="EAF8DD"/>
          </a:solidFill>
          <a:ln w="28575">
            <a:solidFill>
              <a:srgbClr val="34405E"/>
            </a:solidFill>
          </a:ln>
        </p:spPr>
        <p:txBody>
          <a:bodyPr wrap="square" lIns="101600" tIns="101600" rIns="101600" bIns="101600" rtlCol="0" anchor="ctr"/>
          <a:lstStyle/>
          <a:p>
            <a:pPr rtl="1" algn="r" indent="0" marL="0">
              <a:buNone/>
            </a:pPr>
            <a:endParaRPr lang="ar-SA" sz="1800" dirty="0"/>
          </a:p>
        </p:txBody>
      </p:sp>
      <p:sp>
        <p:nvSpPr>
          <p:cNvPr id="5" name="s24_4"/>
          <p:cNvSpPr txBox="1"/>
          <p:nvPr/>
        </p:nvSpPr>
        <p:spPr>
          <a:xfrm>
            <a:off x="9784080" y="1207008"/>
            <a:ext cx="1828800" cy="457200"/>
          </a:xfrm>
          <a:prstGeom prst="roundRect">
            <a:avLst>
              <a:gd name="adj" fmla="val 50000"/>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أكتشف</a:t>
            </a:r>
            <a:endParaRPr lang="ar-SA" sz="1550" dirty="0"/>
          </a:p>
        </p:txBody>
      </p:sp>
      <p:sp>
        <p:nvSpPr>
          <p:cNvPr id="6" name="s24_5"/>
          <p:cNvSpPr txBox="1"/>
          <p:nvPr/>
        </p:nvSpPr>
        <p:spPr>
          <a:xfrm>
            <a:off x="4572000" y="1207008"/>
            <a:ext cx="5120640" cy="1335024"/>
          </a:xfrm>
          <a:prstGeom prst="rect">
            <a:avLst/>
          </a:prstGeom>
          <a:noFill/>
          <a:ln/>
        </p:spPr>
        <p:txBody>
          <a:bodyPr wrap="square" lIns="63500" tIns="63500" rIns="63500" bIns="63500" rtlCol="0" anchor="ctr"/>
          <a:lstStyle/>
          <a:p>
            <a:pPr rtl="1" algn="r" indent="0" marL="0">
              <a:buNone/>
            </a:pPr>
            <a:r>
              <a:rPr lang="ar-SA" altLang="en-US" sz="1700" b="1" dirty="0">
                <a:solidFill>
                  <a:srgbClr val="34405E"/>
                </a:solidFill>
                <a:latin typeface="Tahoma" pitchFamily="34" charset="0"/>
                <a:ea typeface="Tahoma" pitchFamily="34" charset="-122"/>
                <a:cs typeface="Tahoma" pitchFamily="34" charset="-120"/>
              </a:rPr>
              <a:t>بماذا تبدأ السلسلة الغذائية في البركة؟</a:t>
            </a:r>
            <a:endParaRPr lang="ar-SA" sz="1700" dirty="0"/>
          </a:p>
        </p:txBody>
      </p:sp>
      <p:sp>
        <p:nvSpPr>
          <p:cNvPr id="7" name="s24_6@c1"/>
          <p:cNvSpPr txBox="1"/>
          <p:nvPr/>
        </p:nvSpPr>
        <p:spPr>
          <a:xfrm>
            <a:off x="5349240" y="2194560"/>
            <a:ext cx="6172200" cy="384048"/>
          </a:xfrm>
          <a:prstGeom prst="rect">
            <a:avLst/>
          </a:prstGeom>
          <a:noFill/>
          <a:ln/>
        </p:spPr>
        <p:txBody>
          <a:bodyPr wrap="square" lIns="63500" tIns="63500" rIns="63500" bIns="63500" rtlCol="0" anchor="ctr"/>
          <a:lstStyle/>
          <a:p>
            <a:pPr rtl="1" algn="r" indent="0" marL="0">
              <a:buNone/>
            </a:pPr>
            <a:r>
              <a:rPr lang="ar-SA" altLang="en-US" sz="1350" b="1" dirty="0">
                <a:solidFill>
                  <a:srgbClr val="6B4FC0"/>
                </a:solidFill>
                <a:latin typeface="Tahoma" pitchFamily="34" charset="0"/>
                <a:ea typeface="Tahoma" pitchFamily="34" charset="-122"/>
                <a:cs typeface="Tahoma" pitchFamily="34" charset="-120"/>
              </a:rPr>
              <a:t>💡 تلميح: من يلتقط طاقة الشمس؟</a:t>
            </a:r>
            <a:endParaRPr lang="ar-SA" sz="1350" dirty="0"/>
          </a:p>
        </p:txBody>
      </p:sp>
      <p:sp>
        <p:nvSpPr>
          <p:cNvPr id="8" name="s24_7@c2%chime"/>
          <p:cNvSpPr txBox="1"/>
          <p:nvPr/>
        </p:nvSpPr>
        <p:spPr>
          <a:xfrm>
            <a:off x="640080" y="1188720"/>
            <a:ext cx="3886200" cy="1371600"/>
          </a:xfrm>
          <a:prstGeom prst="roundRect">
            <a:avLst>
              <a:gd name="adj" fmla="val 9333"/>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2F8A3A"/>
                </a:solidFill>
                <a:latin typeface="Tahoma" pitchFamily="34" charset="0"/>
                <a:ea typeface="Tahoma" pitchFamily="34" charset="-122"/>
                <a:cs typeface="Tahoma" pitchFamily="34" charset="-120"/>
              </a:rPr>
              <a:t>✔ </a:t>
            </a:r>
            <a:r>
              <a:rPr lang="ar-SA" altLang="en-US" sz="1450" dirty="0">
                <a:solidFill>
                  <a:srgbClr val="34405E"/>
                </a:solidFill>
                <a:latin typeface="Tahoma" pitchFamily="34" charset="0"/>
                <a:ea typeface="Tahoma" pitchFamily="34" charset="-122"/>
                <a:cs typeface="Tahoma" pitchFamily="34" charset="-120"/>
              </a:rPr>
              <a:t>بالطحالب والنباتات الخضراء.</a:t>
            </a:r>
            <a:r>
              <a:rPr lang="ar-SA" altLang="en-US" sz="1450" b="1" dirty="0">
                <a:solidFill>
                  <a:srgbClr val="C2366F"/>
                </a:solidFill>
                <a:latin typeface="Tahoma" pitchFamily="34" charset="0"/>
                <a:ea typeface="Tahoma" pitchFamily="34" charset="-122"/>
                <a:cs typeface="Tahoma" pitchFamily="34" charset="-120"/>
              </a:rPr>
              <a:t>  أحسنتِ! 🌟</a:t>
            </a:r>
            <a:endParaRPr lang="ar-SA" sz="1450" dirty="0"/>
          </a:p>
        </p:txBody>
      </p:sp>
      <p:sp>
        <p:nvSpPr>
          <p:cNvPr id="9" name="s24_8"/>
          <p:cNvSpPr txBox="1"/>
          <p:nvPr/>
        </p:nvSpPr>
        <p:spPr>
          <a:xfrm>
            <a:off x="502920" y="2743200"/>
            <a:ext cx="11201400" cy="1554480"/>
          </a:xfrm>
          <a:prstGeom prst="roundRect">
            <a:avLst>
              <a:gd name="adj" fmla="val 8235"/>
            </a:avLst>
          </a:prstGeom>
          <a:solidFill>
            <a:srgbClr val="FFF7D6"/>
          </a:solidFill>
          <a:ln w="28575">
            <a:solidFill>
              <a:srgbClr val="34405E"/>
            </a:solidFill>
          </a:ln>
        </p:spPr>
        <p:txBody>
          <a:bodyPr wrap="square" lIns="101600" tIns="101600" rIns="101600" bIns="101600" rtlCol="0" anchor="ctr"/>
          <a:lstStyle/>
          <a:p>
            <a:pPr rtl="1" algn="r" indent="0" marL="0">
              <a:buNone/>
            </a:pPr>
            <a:endParaRPr lang="ar-SA" sz="1800" dirty="0"/>
          </a:p>
        </p:txBody>
      </p:sp>
      <p:sp>
        <p:nvSpPr>
          <p:cNvPr id="10" name="s24_9"/>
          <p:cNvSpPr txBox="1"/>
          <p:nvPr/>
        </p:nvSpPr>
        <p:spPr>
          <a:xfrm>
            <a:off x="9784080" y="2852928"/>
            <a:ext cx="1828800" cy="457200"/>
          </a:xfrm>
          <a:prstGeom prst="roundRect">
            <a:avLst>
              <a:gd name="adj" fmla="val 50000"/>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أفكّر</a:t>
            </a:r>
            <a:endParaRPr lang="ar-SA" sz="1550" dirty="0"/>
          </a:p>
        </p:txBody>
      </p:sp>
      <p:sp>
        <p:nvSpPr>
          <p:cNvPr id="11" name="s24_10"/>
          <p:cNvSpPr txBox="1"/>
          <p:nvPr/>
        </p:nvSpPr>
        <p:spPr>
          <a:xfrm>
            <a:off x="4572000" y="2852928"/>
            <a:ext cx="5120640" cy="1335024"/>
          </a:xfrm>
          <a:prstGeom prst="rect">
            <a:avLst/>
          </a:prstGeom>
          <a:noFill/>
          <a:ln/>
        </p:spPr>
        <p:txBody>
          <a:bodyPr wrap="square" lIns="63500" tIns="63500" rIns="63500" bIns="63500" rtlCol="0" anchor="ctr"/>
          <a:lstStyle/>
          <a:p>
            <a:pPr rtl="1" algn="r" indent="0" marL="0">
              <a:buNone/>
            </a:pPr>
            <a:r>
              <a:rPr lang="ar-SA" altLang="en-US" sz="1700" b="1" dirty="0">
                <a:solidFill>
                  <a:srgbClr val="34405E"/>
                </a:solidFill>
                <a:latin typeface="Tahoma" pitchFamily="34" charset="0"/>
                <a:ea typeface="Tahoma" pitchFamily="34" charset="-122"/>
                <a:cs typeface="Tahoma" pitchFamily="34" charset="-120"/>
              </a:rPr>
              <a:t>لماذا تحتاج الذبابة المائية إلى الأكسجين؟</a:t>
            </a:r>
            <a:endParaRPr lang="ar-SA" sz="1700" dirty="0"/>
          </a:p>
        </p:txBody>
      </p:sp>
      <p:sp>
        <p:nvSpPr>
          <p:cNvPr id="12" name="s24_11@c3"/>
          <p:cNvSpPr txBox="1"/>
          <p:nvPr/>
        </p:nvSpPr>
        <p:spPr>
          <a:xfrm>
            <a:off x="5349240" y="3840480"/>
            <a:ext cx="6172200" cy="384048"/>
          </a:xfrm>
          <a:prstGeom prst="rect">
            <a:avLst/>
          </a:prstGeom>
          <a:noFill/>
          <a:ln/>
        </p:spPr>
        <p:txBody>
          <a:bodyPr wrap="square" lIns="63500" tIns="63500" rIns="63500" bIns="63500" rtlCol="0" anchor="ctr"/>
          <a:lstStyle/>
          <a:p>
            <a:pPr rtl="1" algn="r" indent="0" marL="0">
              <a:buNone/>
            </a:pPr>
            <a:r>
              <a:rPr lang="ar-SA" altLang="en-US" sz="1350" b="1" dirty="0">
                <a:solidFill>
                  <a:srgbClr val="6B4FC0"/>
                </a:solidFill>
                <a:latin typeface="Tahoma" pitchFamily="34" charset="0"/>
                <a:ea typeface="Tahoma" pitchFamily="34" charset="-122"/>
                <a:cs typeface="Tahoma" pitchFamily="34" charset="-120"/>
              </a:rPr>
              <a:t>💡 تلميح: ارجعي إلى الفقرة الثانية في كتابي ص١١٣.</a:t>
            </a:r>
            <a:endParaRPr lang="ar-SA" sz="1350" dirty="0"/>
          </a:p>
        </p:txBody>
      </p:sp>
      <p:sp>
        <p:nvSpPr>
          <p:cNvPr id="13" name="s24_12@c4%chime"/>
          <p:cNvSpPr txBox="1"/>
          <p:nvPr/>
        </p:nvSpPr>
        <p:spPr>
          <a:xfrm>
            <a:off x="640080" y="2834640"/>
            <a:ext cx="3886200" cy="1371600"/>
          </a:xfrm>
          <a:prstGeom prst="roundRect">
            <a:avLst>
              <a:gd name="adj" fmla="val 9333"/>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2F8A3A"/>
                </a:solidFill>
                <a:latin typeface="Tahoma" pitchFamily="34" charset="0"/>
                <a:ea typeface="Tahoma" pitchFamily="34" charset="-122"/>
                <a:cs typeface="Tahoma" pitchFamily="34" charset="-120"/>
              </a:rPr>
              <a:t>✔ </a:t>
            </a:r>
            <a:r>
              <a:rPr lang="ar-SA" altLang="en-US" sz="1450" dirty="0">
                <a:solidFill>
                  <a:srgbClr val="34405E"/>
                </a:solidFill>
                <a:latin typeface="Tahoma" pitchFamily="34" charset="0"/>
                <a:ea typeface="Tahoma" pitchFamily="34" charset="-122"/>
                <a:cs typeface="Tahoma" pitchFamily="34" charset="-120"/>
              </a:rPr>
              <a:t>لإطلاق الطاقة المخزونة في الطحالب التي أكلتها؛ لتقوم بوظائف الحياة كالحركة.</a:t>
            </a:r>
            <a:r>
              <a:rPr lang="ar-SA" altLang="en-US" sz="1450" b="1" dirty="0">
                <a:solidFill>
                  <a:srgbClr val="C2366F"/>
                </a:solidFill>
                <a:latin typeface="Tahoma" pitchFamily="34" charset="0"/>
                <a:ea typeface="Tahoma" pitchFamily="34" charset="-122"/>
                <a:cs typeface="Tahoma" pitchFamily="34" charset="-120"/>
              </a:rPr>
              <a:t>  أحسنتِ! 🌟</a:t>
            </a:r>
            <a:endParaRPr lang="ar-SA" sz="1450" dirty="0"/>
          </a:p>
        </p:txBody>
      </p:sp>
      <p:sp>
        <p:nvSpPr>
          <p:cNvPr id="14" name="s24_13"/>
          <p:cNvSpPr txBox="1"/>
          <p:nvPr/>
        </p:nvSpPr>
        <p:spPr>
          <a:xfrm>
            <a:off x="502920" y="4389120"/>
            <a:ext cx="11201400" cy="1691640"/>
          </a:xfrm>
          <a:prstGeom prst="roundRect">
            <a:avLst>
              <a:gd name="adj" fmla="val 7568"/>
            </a:avLst>
          </a:prstGeom>
          <a:solidFill>
            <a:srgbClr val="FDE8F0"/>
          </a:solidFill>
          <a:ln w="28575">
            <a:solidFill>
              <a:srgbClr val="34405E"/>
            </a:solidFill>
          </a:ln>
        </p:spPr>
        <p:txBody>
          <a:bodyPr wrap="square" lIns="101600" tIns="101600" rIns="101600" bIns="101600" rtlCol="0" anchor="ctr"/>
          <a:lstStyle/>
          <a:p>
            <a:pPr rtl="1" algn="r" indent="0" marL="0">
              <a:buNone/>
            </a:pPr>
            <a:endParaRPr lang="ar-SA" sz="1800" dirty="0"/>
          </a:p>
        </p:txBody>
      </p:sp>
      <p:sp>
        <p:nvSpPr>
          <p:cNvPr id="15" name="s24_14"/>
          <p:cNvSpPr txBox="1"/>
          <p:nvPr/>
        </p:nvSpPr>
        <p:spPr>
          <a:xfrm>
            <a:off x="9784080" y="4498848"/>
            <a:ext cx="1828800" cy="457200"/>
          </a:xfrm>
          <a:prstGeom prst="roundRect">
            <a:avLst>
              <a:gd name="adj" fmla="val 50000"/>
            </a:avLst>
          </a:prstGeom>
          <a:solidFill>
            <a:srgbClr val="FFE0EC"/>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أتحدّى نفسي</a:t>
            </a:r>
            <a:endParaRPr lang="ar-SA" sz="1550" dirty="0"/>
          </a:p>
        </p:txBody>
      </p:sp>
      <p:sp>
        <p:nvSpPr>
          <p:cNvPr id="16" name="s24_15"/>
          <p:cNvSpPr txBox="1"/>
          <p:nvPr/>
        </p:nvSpPr>
        <p:spPr>
          <a:xfrm>
            <a:off x="4572000" y="4498848"/>
            <a:ext cx="5120640" cy="1472184"/>
          </a:xfrm>
          <a:prstGeom prst="rect">
            <a:avLst/>
          </a:prstGeom>
          <a:noFill/>
          <a:ln/>
        </p:spPr>
        <p:txBody>
          <a:bodyPr wrap="square" lIns="63500" tIns="63500" rIns="63500" bIns="63500" rtlCol="0" anchor="ctr"/>
          <a:lstStyle/>
          <a:p>
            <a:pPr rtl="1" algn="r" indent="0" marL="0">
              <a:buNone/>
            </a:pPr>
            <a:r>
              <a:rPr lang="ar-SA" altLang="en-US" sz="1700" b="1" dirty="0">
                <a:solidFill>
                  <a:srgbClr val="34405E"/>
                </a:solidFill>
                <a:latin typeface="Tahoma" pitchFamily="34" charset="0"/>
                <a:ea typeface="Tahoma" pitchFamily="34" charset="-122"/>
                <a:cs typeface="Tahoma" pitchFamily="34" charset="-120"/>
              </a:rPr>
              <a:t>تلوّثت البركة فماتت الطحالب؛ ماذا يحدث لمالك الحزين؟</a:t>
            </a:r>
            <a:endParaRPr lang="ar-SA" sz="1700" dirty="0"/>
          </a:p>
        </p:txBody>
      </p:sp>
      <p:sp>
        <p:nvSpPr>
          <p:cNvPr id="17" name="s24_16@c5"/>
          <p:cNvSpPr txBox="1"/>
          <p:nvPr/>
        </p:nvSpPr>
        <p:spPr>
          <a:xfrm>
            <a:off x="5349240" y="5623560"/>
            <a:ext cx="6172200" cy="384048"/>
          </a:xfrm>
          <a:prstGeom prst="rect">
            <a:avLst/>
          </a:prstGeom>
          <a:noFill/>
          <a:ln/>
        </p:spPr>
        <p:txBody>
          <a:bodyPr wrap="square" lIns="63500" tIns="63500" rIns="63500" bIns="63500" rtlCol="0" anchor="ctr"/>
          <a:lstStyle/>
          <a:p>
            <a:pPr rtl="1" algn="r" indent="0" marL="0">
              <a:buNone/>
            </a:pPr>
            <a:r>
              <a:rPr lang="ar-SA" altLang="en-US" sz="1350" b="1" dirty="0">
                <a:solidFill>
                  <a:srgbClr val="6B4FC0"/>
                </a:solidFill>
                <a:latin typeface="Tahoma" pitchFamily="34" charset="0"/>
                <a:ea typeface="Tahoma" pitchFamily="34" charset="-122"/>
                <a:cs typeface="Tahoma" pitchFamily="34" charset="-120"/>
              </a:rPr>
              <a:t>💡 تلميح: تتبّعي الأسهم من الطحالب حتى مالك الحزين.</a:t>
            </a:r>
            <a:endParaRPr lang="ar-SA" sz="1350" dirty="0"/>
          </a:p>
        </p:txBody>
      </p:sp>
      <p:sp>
        <p:nvSpPr>
          <p:cNvPr id="18" name="s24_17@c6%chime"/>
          <p:cNvSpPr txBox="1"/>
          <p:nvPr/>
        </p:nvSpPr>
        <p:spPr>
          <a:xfrm>
            <a:off x="640080" y="4480560"/>
            <a:ext cx="3886200" cy="1508760"/>
          </a:xfrm>
          <a:prstGeom prst="roundRect">
            <a:avLst>
              <a:gd name="adj" fmla="val 8485"/>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2F8A3A"/>
                </a:solidFill>
                <a:latin typeface="Tahoma" pitchFamily="34" charset="0"/>
                <a:ea typeface="Tahoma" pitchFamily="34" charset="-122"/>
                <a:cs typeface="Tahoma" pitchFamily="34" charset="-120"/>
              </a:rPr>
              <a:t>✔ </a:t>
            </a:r>
            <a:r>
              <a:rPr lang="ar-SA" altLang="en-US" sz="1450" dirty="0">
                <a:solidFill>
                  <a:srgbClr val="34405E"/>
                </a:solidFill>
                <a:latin typeface="Tahoma" pitchFamily="34" charset="0"/>
                <a:ea typeface="Tahoma" pitchFamily="34" charset="-122"/>
                <a:cs typeface="Tahoma" pitchFamily="34" charset="-120"/>
              </a:rPr>
              <a:t>يقلّ الذباب المائي ثم سمك الشمس، فلا يجد مالك الحزين غذاءً كافيًا؛ لأن كل حلقة تعتمد على ما قبلها.</a:t>
            </a:r>
            <a:r>
              <a:rPr lang="ar-SA" altLang="en-US" sz="1450" b="1" dirty="0">
                <a:solidFill>
                  <a:srgbClr val="C2366F"/>
                </a:solidFill>
                <a:latin typeface="Tahoma" pitchFamily="34" charset="0"/>
                <a:ea typeface="Tahoma" pitchFamily="34" charset="-122"/>
                <a:cs typeface="Tahoma" pitchFamily="34" charset="-120"/>
              </a:rPr>
              <a:t>  أحسنتِ! 🌟</a:t>
            </a:r>
            <a:endParaRPr lang="ar-SA" sz="1450" dirty="0"/>
          </a:p>
        </p:txBody>
      </p:sp>
      <p:sp>
        <p:nvSpPr>
          <p:cNvPr id="19" name="s24_18"/>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0" name="s24_19"/>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٣: البركة • صفحة ١١٣</a:t>
            </a:r>
            <a:endParaRPr lang="ar-SA" sz="13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subTnLst>
                                    <p:audio>
                                      <p:cMediaNode vol="80000" showWhenStopped="0">
                                        <p:cTn id="13" display="0" masterRel="sameClick">
                                          <p:stCondLst>
                                            <p:cond evt="onBegin" delay="0">
                                              <p:tn val="10"/>
                                            </p:cond>
                                          </p:stCondLst>
                                        </p:cTn>
                                        <p:tgtEl>
                                          <p:sndTgt r:embed="rId5" name="chime.wav"/>
                                        </p:tgtEl>
                                      </p:cMediaNode>
                                    </p:audio>
                                  </p:sub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subTnLst>
                                    <p:audio>
                                      <p:cMediaNode vol="80000" showWhenStopped="0">
                                        <p:cTn id="24" display="0" masterRel="sameClick">
                                          <p:stCondLst>
                                            <p:cond evt="onBegin" delay="0">
                                              <p:tn val="21"/>
                                            </p:cond>
                                          </p:stCondLst>
                                        </p:cTn>
                                        <p:tgtEl>
                                          <p:sndTgt r:embed="rId5" name="chime.wav"/>
                                        </p:tgtEl>
                                      </p:cMediaNode>
                                    </p:audio>
                                  </p:sub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subTnLst>
                                    <p:audio>
                                      <p:cMediaNode vol="80000" showWhenStopped="0">
                                        <p:cTn id="35" display="0" masterRel="sameClick">
                                          <p:stCondLst>
                                            <p:cond evt="onBegin" delay="0">
                                              <p:tn val="32"/>
                                            </p:cond>
                                          </p:stCondLst>
                                        </p:cTn>
                                        <p:tgtEl>
                                          <p:sndTgt r:embed="rId5"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5_1" descr="عنوان الشريحة">    </p:cNvPr>
          <p:cNvPicPr>
            <a:picLocks noChangeAspect="1"/>
          </p:cNvPicPr>
          <p:nvPr/>
        </p:nvPicPr>
        <p:blipFill>
          <a:blip r:embed="rId2"/>
          <a:stretch>
            <a:fillRect/>
          </a:stretch>
        </p:blipFill>
        <p:spPr>
          <a:xfrm>
            <a:off x="8947824" y="182880"/>
            <a:ext cx="2878111" cy="731520"/>
          </a:xfrm>
          <a:prstGeom prst="rect">
            <a:avLst/>
          </a:prstGeom>
        </p:spPr>
      </p:pic>
      <p:sp>
        <p:nvSpPr>
          <p:cNvPr id="3" name="s25_2"/>
          <p:cNvSpPr txBox="1"/>
          <p:nvPr/>
        </p:nvSpPr>
        <p:spPr>
          <a:xfrm>
            <a:off x="365760" y="292608"/>
            <a:ext cx="47091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الاستنتاج – التفكير الناقد</a:t>
            </a:r>
            <a:endParaRPr lang="en-US" sz="1600" dirty="0"/>
          </a:p>
        </p:txBody>
      </p:sp>
      <p:sp>
        <p:nvSpPr>
          <p:cNvPr id="4" name="s25_3"/>
          <p:cNvSpPr txBox="1"/>
          <p:nvPr/>
        </p:nvSpPr>
        <p:spPr>
          <a:xfrm>
            <a:off x="6309360" y="1143000"/>
            <a:ext cx="5440680" cy="1463040"/>
          </a:xfrm>
          <a:prstGeom prst="roundRect">
            <a:avLst>
              <a:gd name="adj" fmla="val 8750"/>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1E7FB8"/>
                </a:solidFill>
                <a:latin typeface="Tahoma" pitchFamily="34" charset="0"/>
                <a:ea typeface="Tahoma" pitchFamily="34" charset="-122"/>
                <a:cs typeface="Tahoma" pitchFamily="34" charset="-120"/>
              </a:rPr>
              <a:t>أستنتج. </a:t>
            </a:r>
            <a:r>
              <a:rPr lang="ar-SA" altLang="en-US" sz="1800" b="1" dirty="0">
                <a:solidFill>
                  <a:srgbClr val="34405E"/>
                </a:solidFill>
                <a:latin typeface="Tahoma" pitchFamily="34" charset="0"/>
                <a:ea typeface="Tahoma" pitchFamily="34" charset="-122"/>
                <a:cs typeface="Tahoma" pitchFamily="34" charset="-120"/>
              </a:rPr>
              <a:t>لماذا يُعدّ مصطلحُ السلسلة الغذائية وصفًا جيدًا لتوضيح العلاقات بين المخلوقات الحية؟</a:t>
            </a:r>
            <a:endParaRPr lang="ar-SA" sz="1800" dirty="0"/>
          </a:p>
        </p:txBody>
      </p:sp>
      <p:sp>
        <p:nvSpPr>
          <p:cNvPr id="5" name="s25_4@c1%chime"/>
          <p:cNvSpPr txBox="1"/>
          <p:nvPr/>
        </p:nvSpPr>
        <p:spPr>
          <a:xfrm>
            <a:off x="548640" y="1143000"/>
            <a:ext cx="5623560" cy="1463040"/>
          </a:xfrm>
          <a:prstGeom prst="roundRect">
            <a:avLst>
              <a:gd name="adj" fmla="val 8750"/>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50" b="1" dirty="0">
                <a:solidFill>
                  <a:srgbClr val="2F8A3A"/>
                </a:solidFill>
                <a:latin typeface="Tahoma" pitchFamily="34" charset="0"/>
                <a:ea typeface="Tahoma" pitchFamily="34" charset="-122"/>
                <a:cs typeface="Tahoma" pitchFamily="34" charset="-120"/>
              </a:rPr>
              <a:t>✔ </a:t>
            </a:r>
            <a:r>
              <a:rPr lang="ar-SA" altLang="en-US" sz="1550" dirty="0">
                <a:solidFill>
                  <a:srgbClr val="34405E"/>
                </a:solidFill>
                <a:latin typeface="Tahoma" pitchFamily="34" charset="0"/>
                <a:ea typeface="Tahoma" pitchFamily="34" charset="-122"/>
                <a:cs typeface="Tahoma" pitchFamily="34" charset="-120"/>
              </a:rPr>
              <a:t>لأن المخلوقات الحية ترتبط بعضها ببعض كحلقات السلسلة؛ فكل حلقة تحصل على الطاقة من الحلقة التي قبلها، وإذا انقطعت حلقة تأثرت الحلقات التي بعدها.</a:t>
            </a:r>
            <a:endParaRPr lang="ar-SA" sz="1550" dirty="0"/>
          </a:p>
        </p:txBody>
      </p:sp>
      <p:sp>
        <p:nvSpPr>
          <p:cNvPr id="6" name="s25_5"/>
          <p:cNvSpPr txBox="1"/>
          <p:nvPr/>
        </p:nvSpPr>
        <p:spPr>
          <a:xfrm>
            <a:off x="6309360" y="2788920"/>
            <a:ext cx="5440680" cy="1371600"/>
          </a:xfrm>
          <a:prstGeom prst="roundRect">
            <a:avLst>
              <a:gd name="adj" fmla="val 9333"/>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1E7FB8"/>
                </a:solidFill>
                <a:latin typeface="Tahoma" pitchFamily="34" charset="0"/>
                <a:ea typeface="Tahoma" pitchFamily="34" charset="-122"/>
                <a:cs typeface="Tahoma" pitchFamily="34" charset="-120"/>
              </a:rPr>
              <a:t>التفكير الناقد. </a:t>
            </a:r>
            <a:r>
              <a:rPr lang="ar-SA" altLang="en-US" sz="1800" b="1" dirty="0">
                <a:solidFill>
                  <a:srgbClr val="34405E"/>
                </a:solidFill>
                <a:latin typeface="Tahoma" pitchFamily="34" charset="0"/>
                <a:ea typeface="Tahoma" pitchFamily="34" charset="-122"/>
                <a:cs typeface="Tahoma" pitchFamily="34" charset="-120"/>
              </a:rPr>
              <a:t>ما أكبر سلسلة غذائية يمكن أن تضعها؟ ارسم مخططًا توضّح فيه سلسلتك الغذائية.</a:t>
            </a:r>
            <a:endParaRPr lang="ar-SA" sz="1800" dirty="0"/>
          </a:p>
        </p:txBody>
      </p:sp>
      <p:sp>
        <p:nvSpPr>
          <p:cNvPr id="7" name="s25_6"/>
          <p:cNvSpPr txBox="1"/>
          <p:nvPr/>
        </p:nvSpPr>
        <p:spPr>
          <a:xfrm>
            <a:off x="548640" y="2788920"/>
            <a:ext cx="5623560" cy="594360"/>
          </a:xfrm>
          <a:prstGeom prst="roundRect">
            <a:avLst>
              <a:gd name="adj" fmla="val 21538"/>
            </a:avLst>
          </a:prstGeom>
          <a:solidFill>
            <a:srgbClr val="ECE6FB"/>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 ارسمي سلسلتك في دفترك… ثم شاركي بها!</a:t>
            </a:r>
            <a:endParaRPr lang="ar-SA" sz="1600" dirty="0"/>
          </a:p>
        </p:txBody>
      </p:sp>
      <p:sp>
        <p:nvSpPr>
          <p:cNvPr id="8" name="s25_7@c2"/>
          <p:cNvSpPr txBox="1"/>
          <p:nvPr/>
        </p:nvSpPr>
        <p:spPr>
          <a:xfrm>
            <a:off x="548640" y="3520440"/>
            <a:ext cx="5623560" cy="640080"/>
          </a:xfrm>
          <a:prstGeom prst="roundRect">
            <a:avLst>
              <a:gd name="adj" fmla="val 20000"/>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C2366F"/>
                </a:solidFill>
                <a:latin typeface="Tahoma" pitchFamily="34" charset="0"/>
                <a:ea typeface="Tahoma" pitchFamily="34" charset="-122"/>
                <a:cs typeface="Tahoma" pitchFamily="34" charset="-120"/>
              </a:rPr>
              <a:t>مثال مقترح: </a:t>
            </a:r>
            <a:r>
              <a:rPr lang="ar-SA" altLang="en-US" sz="1500" b="1" dirty="0">
                <a:solidFill>
                  <a:srgbClr val="34405E"/>
                </a:solidFill>
                <a:latin typeface="Tahoma" pitchFamily="34" charset="0"/>
                <a:ea typeface="Tahoma" pitchFamily="34" charset="-122"/>
                <a:cs typeface="Tahoma" pitchFamily="34" charset="-120"/>
              </a:rPr>
              <a:t>الشمس ← العشب ← الجرادة ← الضفدع ← الثعبان ← الصقر</a:t>
            </a:r>
            <a:endParaRPr lang="ar-SA" sz="1500" dirty="0"/>
          </a:p>
        </p:txBody>
      </p:sp>
      <p:sp>
        <p:nvSpPr>
          <p:cNvPr id="9" name="s25_8@c3%sparkle"/>
          <p:cNvSpPr txBox="1"/>
          <p:nvPr/>
        </p:nvSpPr>
        <p:spPr>
          <a:xfrm>
            <a:off x="3566160" y="4434840"/>
            <a:ext cx="5029200" cy="594360"/>
          </a:xfrm>
          <a:prstGeom prst="roundRect">
            <a:avLst>
              <a:gd name="adj" fmla="val 49231"/>
            </a:avLst>
          </a:prstGeom>
          <a:solidFill>
            <a:srgbClr val="FFE8A3"/>
          </a:solidFill>
          <a:ln w="28575">
            <a:solidFill>
              <a:srgbClr val="34405E"/>
            </a:solidFill>
          </a:ln>
        </p:spPr>
        <p:txBody>
          <a:bodyPr wrap="square" lIns="101600" tIns="101600" rIns="101600" bIns="101600" rtlCol="0" anchor="ctr"/>
          <a:lstStyle/>
          <a:p>
            <a:pPr rtl="1" algn="ctr" indent="0" marL="0">
              <a:buNone/>
            </a:pPr>
            <a:r>
              <a:rPr lang="ar-SA" altLang="en-US" sz="1800" b="1" dirty="0">
                <a:solidFill>
                  <a:srgbClr val="C2366F"/>
                </a:solidFill>
                <a:latin typeface="Tahoma" pitchFamily="34" charset="0"/>
                <a:ea typeface="Tahoma" pitchFamily="34" charset="-122"/>
                <a:cs typeface="Tahoma" pitchFamily="34" charset="-120"/>
              </a:rPr>
              <a:t>رائع! أنتِ عالمة تفكّر بعمق 🌟</a:t>
            </a:r>
            <a:endParaRPr lang="ar-SA" sz="1800" dirty="0"/>
          </a:p>
        </p:txBody>
      </p:sp>
      <p:pic>
        <p:nvPicPr>
          <p:cNvPr id="10" name="s25_9" descr="المستكشفة ببدلة الغوص">    </p:cNvPr>
          <p:cNvPicPr>
            <a:picLocks noChangeAspect="1"/>
          </p:cNvPicPr>
          <p:nvPr/>
        </p:nvPicPr>
        <p:blipFill>
          <a:blip r:embed="rId3"/>
          <a:stretch>
            <a:fillRect/>
          </a:stretch>
        </p:blipFill>
        <p:spPr>
          <a:xfrm>
            <a:off x="9966960" y="4251960"/>
            <a:ext cx="1270747" cy="2057400"/>
          </a:xfrm>
          <a:prstGeom prst="rect">
            <a:avLst/>
          </a:prstGeom>
        </p:spPr>
      </p:pic>
      <p:sp>
        <p:nvSpPr>
          <p:cNvPr id="11" name="s25_10"/>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2" name="s25_11"/>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٣: البركة • صفحة ١١٣</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subTnLst>
                                    <p:audio>
                                      <p:cMediaNode vol="80000" showWhenStopped="0">
                                        <p:cTn id="8" display="0" masterRel="sameClick">
                                          <p:stCondLst>
                                            <p:cond evt="onBegin" delay="0">
                                              <p:tn val="5"/>
                                            </p:cond>
                                          </p:stCondLst>
                                        </p:cTn>
                                        <p:tgtEl>
                                          <p:sndTgt r:embed="rId6" name="chime.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subTnLst>
                                    <p:audio>
                                      <p:cMediaNode vol="80000" showWhenStopped="0">
                                        <p:cTn id="19" display="0" masterRel="sameClick">
                                          <p:stCondLst>
                                            <p:cond evt="onBegin" delay="0">
                                              <p:tn val="16"/>
                                            </p:cond>
                                          </p:stCondLst>
                                        </p:cTn>
                                        <p:tgtEl>
                                          <p:sndTgt r:embed="rId7" name="spark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6_1" descr="عنوان الشريحة">    </p:cNvPr>
          <p:cNvPicPr>
            <a:picLocks noChangeAspect="1"/>
          </p:cNvPicPr>
          <p:nvPr/>
        </p:nvPicPr>
        <p:blipFill>
          <a:blip r:embed="rId2"/>
          <a:stretch>
            <a:fillRect/>
          </a:stretch>
        </p:blipFill>
        <p:spPr>
          <a:xfrm>
            <a:off x="8300249" y="182880"/>
            <a:ext cx="3525687" cy="731520"/>
          </a:xfrm>
          <a:prstGeom prst="rect">
            <a:avLst/>
          </a:prstGeom>
        </p:spPr>
      </p:pic>
      <p:sp>
        <p:nvSpPr>
          <p:cNvPr id="3" name="s26_2"/>
          <p:cNvSpPr txBox="1"/>
          <p:nvPr/>
        </p:nvSpPr>
        <p:spPr>
          <a:xfrm>
            <a:off x="365760" y="292608"/>
            <a:ext cx="42519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العصف الذهني – التوقّع</a:t>
            </a:r>
            <a:endParaRPr lang="en-US" sz="1600" dirty="0"/>
          </a:p>
        </p:txBody>
      </p:sp>
      <p:pic>
        <p:nvPicPr>
          <p:cNvPr id="4" name="s26_3" descr="المستكشفة ببدلة الغوص">    </p:cNvPr>
          <p:cNvPicPr>
            <a:picLocks noChangeAspect="1"/>
          </p:cNvPicPr>
          <p:nvPr/>
        </p:nvPicPr>
        <p:blipFill>
          <a:blip r:embed="rId3"/>
          <a:stretch>
            <a:fillRect/>
          </a:stretch>
        </p:blipFill>
        <p:spPr>
          <a:xfrm>
            <a:off x="502920" y="1051560"/>
            <a:ext cx="3162748" cy="5120640"/>
          </a:xfrm>
          <a:prstGeom prst="rect">
            <a:avLst/>
          </a:prstGeom>
        </p:spPr>
      </p:pic>
      <p:sp>
        <p:nvSpPr>
          <p:cNvPr id="5" name="s26_4@a2%chime"/>
          <p:cNvSpPr txBox="1"/>
          <p:nvPr/>
        </p:nvSpPr>
        <p:spPr>
          <a:xfrm>
            <a:off x="3657600" y="1188720"/>
            <a:ext cx="8092440" cy="731520"/>
          </a:xfrm>
          <a:prstGeom prst="roundRect">
            <a:avLst>
              <a:gd name="adj" fmla="val 17500"/>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2000" b="1" dirty="0">
                <a:solidFill>
                  <a:srgbClr val="34405E"/>
                </a:solidFill>
                <a:latin typeface="Tahoma" pitchFamily="34" charset="0"/>
                <a:ea typeface="Tahoma" pitchFamily="34" charset="-122"/>
                <a:cs typeface="Tahoma" pitchFamily="34" charset="-120"/>
              </a:rPr>
              <a:t>نغوص أعمق… إلى المحيط! 🌊🐟</a:t>
            </a:r>
            <a:endParaRPr lang="ar-SA" sz="2000" dirty="0"/>
          </a:p>
        </p:txBody>
      </p:sp>
      <p:sp>
        <p:nvSpPr>
          <p:cNvPr id="6" name="s26_5@a2"/>
          <p:cNvSpPr txBox="1"/>
          <p:nvPr/>
        </p:nvSpPr>
        <p:spPr>
          <a:xfrm>
            <a:off x="3657600" y="2148840"/>
            <a:ext cx="8092440" cy="1508760"/>
          </a:xfrm>
          <a:prstGeom prst="roundRect">
            <a:avLst>
              <a:gd name="adj" fmla="val 8485"/>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فكّري: </a:t>
            </a:r>
            <a:r>
              <a:rPr lang="ar-SA" altLang="en-US" sz="1800" b="1" dirty="0">
                <a:solidFill>
                  <a:srgbClr val="34405E"/>
                </a:solidFill>
                <a:latin typeface="Tahoma" pitchFamily="34" charset="0"/>
                <a:ea typeface="Tahoma" pitchFamily="34" charset="-122"/>
                <a:cs typeface="Tahoma" pitchFamily="34" charset="-120"/>
              </a:rPr>
              <a:t>في المحيط تأكل سمكةُ السردين العوالقَ، ثم يأكلها أكثرُ من حيوان: التونة، والدلفين، وطائر النورس… هل تكفي سلسلة غذائية واحدة لتوضيح ذلك؟</a:t>
            </a:r>
            <a:endParaRPr lang="ar-SA" sz="1800" dirty="0"/>
          </a:p>
        </p:txBody>
      </p:sp>
      <p:sp>
        <p:nvSpPr>
          <p:cNvPr id="7" name="s26_6@a2"/>
          <p:cNvSpPr txBox="1"/>
          <p:nvPr/>
        </p:nvSpPr>
        <p:spPr>
          <a:xfrm>
            <a:off x="3657600" y="3840480"/>
            <a:ext cx="8092440" cy="594360"/>
          </a:xfrm>
          <a:prstGeom prst="roundRect">
            <a:avLst>
              <a:gd name="adj" fmla="val 21538"/>
            </a:avLst>
          </a:prstGeom>
          <a:solidFill>
            <a:srgbClr val="ECE6FB"/>
          </a:solidFill>
          <a:ln w="28575">
            <a:solidFill>
              <a:srgbClr val="34405E"/>
            </a:solidFill>
          </a:ln>
        </p:spPr>
        <p:txBody>
          <a:bodyPr wrap="square" lIns="101600" tIns="101600" rIns="101600" bIns="101600" rtlCol="0" anchor="ctr"/>
          <a:lstStyle/>
          <a:p>
            <a:pPr rtl="1" algn="ctr" indent="0" marL="0">
              <a:buNone/>
            </a:pPr>
            <a:r>
              <a:rPr lang="ar-SA" altLang="en-US" sz="1650" b="1" dirty="0">
                <a:solidFill>
                  <a:srgbClr val="34405E"/>
                </a:solidFill>
                <a:latin typeface="Tahoma" pitchFamily="34" charset="0"/>
                <a:ea typeface="Tahoma" pitchFamily="34" charset="-122"/>
                <a:cs typeface="Tahoma" pitchFamily="34" charset="-120"/>
              </a:rPr>
              <a:t>🧠 عصف ذهني: اقترحي طريقة لرسم كل هذه العلاقات معًا!</a:t>
            </a:r>
            <a:endParaRPr lang="ar-SA" sz="1650" dirty="0"/>
          </a:p>
        </p:txBody>
      </p:sp>
      <p:sp>
        <p:nvSpPr>
          <p:cNvPr id="8" name="s26_7@c1%sparkle"/>
          <p:cNvSpPr txBox="1"/>
          <p:nvPr/>
        </p:nvSpPr>
        <p:spPr>
          <a:xfrm>
            <a:off x="3657600" y="4663440"/>
            <a:ext cx="8092440" cy="868680"/>
          </a:xfrm>
          <a:prstGeom prst="roundRect">
            <a:avLst>
              <a:gd name="adj" fmla="val 14737"/>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2F8A3A"/>
                </a:solidFill>
                <a:latin typeface="Tahoma" pitchFamily="34" charset="0"/>
                <a:ea typeface="Tahoma" pitchFamily="34" charset="-122"/>
                <a:cs typeface="Tahoma" pitchFamily="34" charset="-120"/>
              </a:rPr>
              <a:t>لنكتشف: </a:t>
            </a:r>
            <a:r>
              <a:rPr lang="ar-SA" altLang="en-US" sz="1700" dirty="0">
                <a:solidFill>
                  <a:srgbClr val="34405E"/>
                </a:solidFill>
                <a:latin typeface="Tahoma" pitchFamily="34" charset="0"/>
                <a:ea typeface="Tahoma" pitchFamily="34" charset="-122"/>
                <a:cs typeface="Tahoma" pitchFamily="34" charset="-120"/>
              </a:rPr>
              <a:t>لا تكفي سلسلة واحدة؛ نحتاج إلى نموذج يجمع عدة سلاسل متداخلة… إنها </a:t>
            </a:r>
            <a:r>
              <a:rPr lang="ar-SA" altLang="en-US" sz="1700" b="1" dirty="0">
                <a:solidFill>
                  <a:srgbClr val="C2366F"/>
                </a:solidFill>
                <a:latin typeface="Tahoma" pitchFamily="34" charset="0"/>
                <a:ea typeface="Tahoma" pitchFamily="34" charset="-122"/>
                <a:cs typeface="Tahoma" pitchFamily="34" charset="-120"/>
              </a:rPr>
              <a:t>الشبكة الغذائية! 🕸️</a:t>
            </a:r>
            <a:endParaRPr lang="ar-SA" sz="1700" dirty="0"/>
          </a:p>
        </p:txBody>
      </p:sp>
      <p:sp>
        <p:nvSpPr>
          <p:cNvPr id="9" name="s26_8"/>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0" name="s26_9"/>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٤: المحيط • صفحة ١١٤</a:t>
            </a:r>
            <a:endParaRPr lang="ar-SA" sz="1300" dirty="0"/>
          </a:p>
        </p:txBody>
      </p:sp>
    </p:spTree>
  </p:cSld>
  <p:clrMapOvr>
    <a:masterClrMapping/>
  </p:clrMapOvr>
  <p:transition spd="med">
    <p:fade/>
    <p:sndAc>
      <p:stSnd>
        <p:snd r:embed="rId6" name="train.wav"/>
      </p:stSnd>
    </p:sndAc>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0" presetClass="path" presetSubtype="0" fill="hold" grpId="1" nodeType="withEffect">
                                  <p:stCondLst>
                                    <p:cond delay="0"/>
                                  </p:stCondLst>
                                  <p:childTnLst>
                                    <p:animMotion origin="layout" path="M 0 -0.85 L 0 0 E" pathEditMode="relative" ptsTypes="">
                                      <p:cBhvr>
                                        <p:cTn id="8" dur="1800" fill="hold" accel="40000" decel="40000"/>
                                        <p:tgtEl>
                                          <p:spTgt spid="4"/>
                                        </p:tgtEl>
                                        <p:attrNameLst>
                                          <p:attrName>ppt_x</p:attrName>
                                          <p:attrName>ppt_y</p:attrName>
                                        </p:attrNameLst>
                                      </p:cBhvr>
                                      <p:rCtr x="0" y="0"/>
                                    </p:animMotion>
                                  </p:childTnLst>
                                  <p:subTnLst>
                                    <p:audio>
                                      <p:cMediaNode vol="80000" showWhenStopped="0">
                                        <p:cTn id="9" display="0" masterRel="sameClick">
                                          <p:stCondLst>
                                            <p:cond evt="onBegin" delay="0">
                                              <p:tn val="7"/>
                                            </p:cond>
                                          </p:stCondLst>
                                        </p:cTn>
                                        <p:tgtEl>
                                          <p:sndTgt r:embed="rId7" name="bubbles.wav"/>
                                        </p:tgtEl>
                                      </p:cMediaNode>
                                    </p:audio>
                                  </p:subTnLst>
                                </p:cTn>
                              </p:par>
                            </p:childTnLst>
                          </p:cTn>
                        </p:par>
                        <p:par>
                          <p:cTn id="10" fill="hold">
                            <p:stCondLst>
                              <p:cond delay="18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subTnLst>
                                    <p:audio>
                                      <p:cMediaNode vol="80000" showWhenStopped="0">
                                        <p:cTn id="14" display="0" masterRel="sameClick">
                                          <p:stCondLst>
                                            <p:cond evt="onBegin" delay="0">
                                              <p:tn val="11"/>
                                            </p:cond>
                                          </p:stCondLst>
                                        </p:cTn>
                                        <p:tgtEl>
                                          <p:sndTgt r:embed="rId8" name="chime.wav"/>
                                        </p:tgtEl>
                                      </p:cMediaNode>
                                    </p:audio>
                                  </p:sub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subTnLst>
                                    <p:audio>
                                      <p:cMediaNode vol="80000" showWhenStopped="0">
                                        <p:cTn id="26" display="0" masterRel="sameClick">
                                          <p:stCondLst>
                                            <p:cond evt="onBegin" delay="0">
                                              <p:tn val="23"/>
                                            </p:cond>
                                          </p:stCondLst>
                                        </p:cTn>
                                        <p:tgtEl>
                                          <p:sndTgt r:embed="rId9" name="spark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7_1" descr="عنوان الشريحة">    </p:cNvPr>
          <p:cNvPicPr>
            <a:picLocks noChangeAspect="1"/>
          </p:cNvPicPr>
          <p:nvPr/>
        </p:nvPicPr>
        <p:blipFill>
          <a:blip r:embed="rId2"/>
          <a:stretch>
            <a:fillRect/>
          </a:stretch>
        </p:blipFill>
        <p:spPr>
          <a:xfrm>
            <a:off x="6933146" y="182880"/>
            <a:ext cx="4892790" cy="731520"/>
          </a:xfrm>
          <a:prstGeom prst="rect">
            <a:avLst/>
          </a:prstGeom>
        </p:spPr>
      </p:pic>
      <p:sp>
        <p:nvSpPr>
          <p:cNvPr id="3" name="s27_2"/>
          <p:cNvSpPr txBox="1"/>
          <p:nvPr/>
        </p:nvSpPr>
        <p:spPr>
          <a:xfrm>
            <a:off x="365760" y="292608"/>
            <a:ext cx="51663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الفهم القرائي – الدليل من النص</a:t>
            </a:r>
            <a:endParaRPr lang="en-US" sz="1600" dirty="0"/>
          </a:p>
        </p:txBody>
      </p:sp>
      <p:pic>
        <p:nvPicPr>
          <p:cNvPr id="4" name="s27_3" descr="صفحة ١١٤ من كتاب العلوم">    </p:cNvPr>
          <p:cNvPicPr>
            <a:picLocks noChangeAspect="1"/>
          </p:cNvPicPr>
          <p:nvPr/>
        </p:nvPicPr>
        <p:blipFill>
          <a:blip r:embed="rId3"/>
          <a:stretch>
            <a:fillRect/>
          </a:stretch>
        </p:blipFill>
        <p:spPr>
          <a:xfrm>
            <a:off x="365760" y="896112"/>
            <a:ext cx="4274518" cy="5486400"/>
          </a:xfrm>
          <a:prstGeom prst="rect">
            <a:avLst/>
          </a:prstGeom>
        </p:spPr>
      </p:pic>
      <p:sp>
        <p:nvSpPr>
          <p:cNvPr id="5" name="s27_4"/>
          <p:cNvSpPr txBox="1"/>
          <p:nvPr/>
        </p:nvSpPr>
        <p:spPr>
          <a:xfrm>
            <a:off x="365760" y="6364224"/>
            <a:ext cx="4274518" cy="274320"/>
          </a:xfrm>
          <a:prstGeom prst="rect">
            <a:avLst/>
          </a:prstGeom>
          <a:noFill/>
          <a:ln/>
        </p:spPr>
        <p:txBody>
          <a:bodyPr wrap="square" lIns="63500" tIns="63500" rIns="63500" bIns="63500" rtlCol="0" anchor="ctr"/>
          <a:lstStyle/>
          <a:p>
            <a:pPr rtl="1" algn="ctr" indent="0" marL="0">
              <a:buNone/>
            </a:pPr>
            <a:r>
              <a:rPr lang="ar-SA" altLang="en-US" sz="1100" dirty="0">
                <a:solidFill>
                  <a:srgbClr val="5A6785"/>
                </a:solidFill>
                <a:latin typeface="Tahoma" pitchFamily="34" charset="0"/>
                <a:ea typeface="Tahoma" pitchFamily="34" charset="-122"/>
                <a:cs typeface="Tahoma" pitchFamily="34" charset="-120"/>
              </a:rPr>
              <a:t>📖 صفحة ١١٤ من كتابي</a:t>
            </a:r>
            <a:endParaRPr lang="ar-SA" sz="1100" dirty="0"/>
          </a:p>
        </p:txBody>
      </p:sp>
      <p:sp>
        <p:nvSpPr>
          <p:cNvPr id="6" name="page114_q0"/>
          <p:cNvSpPr txBox="1"/>
          <p:nvPr/>
        </p:nvSpPr>
        <p:spPr>
          <a:xfrm>
            <a:off x="8324547" y="914400"/>
            <a:ext cx="3455669" cy="1303020"/>
          </a:xfrm>
          <a:prstGeom prst="roundRect">
            <a:avLst>
              <a:gd name="adj" fmla="val 9825"/>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سؤال استنتاجي
</a:t>
            </a:r>
            <a:r>
              <a:rPr lang="ar-SA" altLang="en-US" sz="1450" b="1" dirty="0">
                <a:solidFill>
                  <a:srgbClr val="34405E"/>
                </a:solidFill>
                <a:latin typeface="Tahoma" pitchFamily="34" charset="0"/>
                <a:ea typeface="Tahoma" pitchFamily="34" charset="-122"/>
                <a:cs typeface="Tahoma" pitchFamily="34" charset="-120"/>
              </a:rPr>
              <a:t>لماذا لا تكفي السلسلة الغذائية لتمثيل النظام البيئي كاملًا؟</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7" name="s27_5@t=page114_q0%chime"/>
          <p:cNvSpPr txBox="1"/>
          <p:nvPr/>
        </p:nvSpPr>
        <p:spPr>
          <a:xfrm>
            <a:off x="4868878" y="914400"/>
            <a:ext cx="3364229"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لأنها تبيّن مسارًا واحدًا لنقل الطاقة، ومعظم الأنظمة البيئية لها سلاسل متداخلة.</a:t>
            </a:r>
            <a:endParaRPr lang="ar-SA" sz="1400" dirty="0"/>
          </a:p>
        </p:txBody>
      </p:sp>
      <p:sp>
        <p:nvSpPr>
          <p:cNvPr id="8" name="s27_6@t=page114_q0"/>
          <p:cNvSpPr/>
          <p:nvPr/>
        </p:nvSpPr>
        <p:spPr>
          <a:xfrm>
            <a:off x="1534831" y="1515226"/>
            <a:ext cx="2710268" cy="342488"/>
          </a:xfrm>
          <a:prstGeom prst="roundRect">
            <a:avLst>
              <a:gd name="adj" fmla="val 13349"/>
            </a:avLst>
          </a:prstGeom>
          <a:solidFill>
            <a:srgbClr val="FFEB3B">
              <a:alpha val="45000"/>
            </a:srgbClr>
          </a:solidFill>
          <a:ln w="25400">
            <a:solidFill>
              <a:srgbClr val="F5A623"/>
            </a:solidFill>
            <a:prstDash val="solid"/>
          </a:ln>
        </p:spPr>
      </p:sp>
      <p:sp>
        <p:nvSpPr>
          <p:cNvPr id="9" name="page114_q1"/>
          <p:cNvSpPr txBox="1"/>
          <p:nvPr/>
        </p:nvSpPr>
        <p:spPr>
          <a:xfrm>
            <a:off x="8324547" y="2308860"/>
            <a:ext cx="3455669" cy="1303020"/>
          </a:xfrm>
          <a:prstGeom prst="roundRect">
            <a:avLst>
              <a:gd name="adj" fmla="val 9825"/>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المفردة
</a:t>
            </a:r>
            <a:r>
              <a:rPr lang="ar-SA" altLang="en-US" sz="1450" b="1" dirty="0">
                <a:solidFill>
                  <a:srgbClr val="34405E"/>
                </a:solidFill>
                <a:latin typeface="Tahoma" pitchFamily="34" charset="0"/>
                <a:ea typeface="Tahoma" pitchFamily="34" charset="-122"/>
                <a:cs typeface="Tahoma" pitchFamily="34" charset="-120"/>
              </a:rPr>
              <a:t>ما الكلمة المظلّلة؟ وماذا تعني؟</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0" name="s27_7@t=page114_q1%chime"/>
          <p:cNvSpPr txBox="1"/>
          <p:nvPr/>
        </p:nvSpPr>
        <p:spPr>
          <a:xfrm>
            <a:off x="4868878" y="2308860"/>
            <a:ext cx="3364229"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الشبكة الغذائية: سلاسل غذائية متداخلة توضّح ترابط سلاسل الغذاء في النظام البيئي.</a:t>
            </a:r>
            <a:endParaRPr lang="ar-SA" sz="1400" dirty="0"/>
          </a:p>
        </p:txBody>
      </p:sp>
      <p:sp>
        <p:nvSpPr>
          <p:cNvPr id="11" name="s27_8@t=page114_q1"/>
          <p:cNvSpPr/>
          <p:nvPr/>
        </p:nvSpPr>
        <p:spPr>
          <a:xfrm>
            <a:off x="1683023" y="1857714"/>
            <a:ext cx="2562076" cy="493974"/>
          </a:xfrm>
          <a:prstGeom prst="roundRect">
            <a:avLst>
              <a:gd name="adj" fmla="val 9256"/>
            </a:avLst>
          </a:prstGeom>
          <a:solidFill>
            <a:srgbClr val="FFEB3B">
              <a:alpha val="45000"/>
            </a:srgbClr>
          </a:solidFill>
          <a:ln w="25400">
            <a:solidFill>
              <a:srgbClr val="F5A623"/>
            </a:solidFill>
            <a:prstDash val="solid"/>
          </a:ln>
        </p:spPr>
      </p:sp>
      <p:sp>
        <p:nvSpPr>
          <p:cNvPr id="12" name="page114_q2"/>
          <p:cNvSpPr txBox="1"/>
          <p:nvPr/>
        </p:nvSpPr>
        <p:spPr>
          <a:xfrm>
            <a:off x="8324547" y="3703320"/>
            <a:ext cx="3455669" cy="1303020"/>
          </a:xfrm>
          <a:prstGeom prst="roundRect">
            <a:avLst>
              <a:gd name="adj" fmla="val 9825"/>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سؤال حرفي
</a:t>
            </a:r>
            <a:r>
              <a:rPr lang="ar-SA" altLang="en-US" sz="1450" b="1" dirty="0">
                <a:solidFill>
                  <a:srgbClr val="34405E"/>
                </a:solidFill>
                <a:latin typeface="Tahoma" pitchFamily="34" charset="0"/>
                <a:ea typeface="Tahoma" pitchFamily="34" charset="-122"/>
                <a:cs typeface="Tahoma" pitchFamily="34" charset="-120"/>
              </a:rPr>
              <a:t>ما الفرق بين المفترس والفريسة؟</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3" name="s27_9@t=page114_q2%chime"/>
          <p:cNvSpPr txBox="1"/>
          <p:nvPr/>
        </p:nvSpPr>
        <p:spPr>
          <a:xfrm>
            <a:off x="4868878" y="3703320"/>
            <a:ext cx="3364229"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المفترس آكل اللحوم الذي يصطاد ليحصل على طعامه، والفريسة المخلوق الذي تم اصطياده.</a:t>
            </a:r>
            <a:endParaRPr lang="ar-SA" sz="1400" dirty="0"/>
          </a:p>
        </p:txBody>
      </p:sp>
      <p:sp>
        <p:nvSpPr>
          <p:cNvPr id="14" name="s27_10@t=page114_q2"/>
          <p:cNvSpPr/>
          <p:nvPr/>
        </p:nvSpPr>
        <p:spPr>
          <a:xfrm>
            <a:off x="1353707" y="2384619"/>
            <a:ext cx="2891392" cy="362247"/>
          </a:xfrm>
          <a:prstGeom prst="roundRect">
            <a:avLst>
              <a:gd name="adj" fmla="val 12621"/>
            </a:avLst>
          </a:prstGeom>
          <a:solidFill>
            <a:srgbClr val="FFEB3B">
              <a:alpha val="45000"/>
            </a:srgbClr>
          </a:solidFill>
          <a:ln w="25400">
            <a:solidFill>
              <a:srgbClr val="F5A623"/>
            </a:solidFill>
            <a:prstDash val="solid"/>
          </a:ln>
        </p:spPr>
      </p:sp>
      <p:sp>
        <p:nvSpPr>
          <p:cNvPr id="15" name="page114_q3"/>
          <p:cNvSpPr txBox="1"/>
          <p:nvPr/>
        </p:nvSpPr>
        <p:spPr>
          <a:xfrm>
            <a:off x="8324547" y="5097780"/>
            <a:ext cx="3455669" cy="1303020"/>
          </a:xfrm>
          <a:prstGeom prst="roundRect">
            <a:avLst>
              <a:gd name="adj" fmla="val 9825"/>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200" b="1" dirty="0">
                <a:solidFill>
                  <a:srgbClr val="6B4FC0"/>
                </a:solidFill>
                <a:latin typeface="Tahoma" pitchFamily="34" charset="0"/>
                <a:ea typeface="Tahoma" pitchFamily="34" charset="-122"/>
                <a:cs typeface="Tahoma" pitchFamily="34" charset="-120"/>
              </a:rPr>
              <a:t>قراءة الشكل
</a:t>
            </a:r>
            <a:r>
              <a:rPr lang="ar-SA" altLang="en-US" sz="1450" b="1" dirty="0">
                <a:solidFill>
                  <a:srgbClr val="34405E"/>
                </a:solidFill>
                <a:latin typeface="Tahoma" pitchFamily="34" charset="0"/>
                <a:ea typeface="Tahoma" pitchFamily="34" charset="-122"/>
                <a:cs typeface="Tahoma" pitchFamily="34" charset="-120"/>
              </a:rPr>
              <a:t>أيّ مفترس في الشبكة الغذائية له أكبر عدد من الفرائس؟</a:t>
            </a:r>
            <a:r>
              <a:rPr lang="ar-SA" altLang="en-US" sz="1200" dirty="0">
                <a:solidFill>
                  <a:srgbClr val="34405E"/>
                </a:solidFill>
                <a:latin typeface="Tahoma" pitchFamily="34" charset="0"/>
                <a:ea typeface="Tahoma" pitchFamily="34" charset="-122"/>
                <a:cs typeface="Tahoma" pitchFamily="34" charset="-120"/>
              </a:rPr>
              <a:t>  👆</a:t>
            </a:r>
            <a:endParaRPr lang="ar-SA" sz="1450" dirty="0"/>
          </a:p>
        </p:txBody>
      </p:sp>
      <p:sp>
        <p:nvSpPr>
          <p:cNvPr id="16" name="s27_11@t=page114_q3%chime"/>
          <p:cNvSpPr txBox="1"/>
          <p:nvPr/>
        </p:nvSpPr>
        <p:spPr>
          <a:xfrm>
            <a:off x="4868878" y="5097780"/>
            <a:ext cx="3364229" cy="1303020"/>
          </a:xfrm>
          <a:prstGeom prst="roundRect">
            <a:avLst>
              <a:gd name="adj" fmla="val 982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00" b="1" dirty="0">
                <a:solidFill>
                  <a:srgbClr val="2F8A3A"/>
                </a:solidFill>
                <a:latin typeface="Tahoma" pitchFamily="34" charset="0"/>
                <a:ea typeface="Tahoma" pitchFamily="34" charset="-122"/>
                <a:cs typeface="Tahoma" pitchFamily="34" charset="-120"/>
              </a:rPr>
              <a:t>✔ </a:t>
            </a:r>
            <a:r>
              <a:rPr lang="ar-SA" altLang="en-US" sz="1400" dirty="0">
                <a:solidFill>
                  <a:srgbClr val="34405E"/>
                </a:solidFill>
                <a:latin typeface="Tahoma" pitchFamily="34" charset="0"/>
                <a:ea typeface="Tahoma" pitchFamily="34" charset="-122"/>
                <a:cs typeface="Tahoma" pitchFamily="34" charset="-120"/>
              </a:rPr>
              <a:t>الحوت القاتل؛ تتجه إليه ثلاثة أسهم (التونة، والدلفين، والنورس).</a:t>
            </a:r>
            <a:endParaRPr lang="ar-SA" sz="1400" dirty="0"/>
          </a:p>
        </p:txBody>
      </p:sp>
      <p:sp>
        <p:nvSpPr>
          <p:cNvPr id="17" name="s27_12@t=page114_q3"/>
          <p:cNvSpPr/>
          <p:nvPr/>
        </p:nvSpPr>
        <p:spPr>
          <a:xfrm>
            <a:off x="2670970" y="5029024"/>
            <a:ext cx="1942963" cy="1004413"/>
          </a:xfrm>
          <a:prstGeom prst="roundRect">
            <a:avLst>
              <a:gd name="adj" fmla="val 4552"/>
            </a:avLst>
          </a:prstGeom>
          <a:solidFill>
            <a:srgbClr val="BDE6FA">
              <a:alpha val="45000"/>
            </a:srgbClr>
          </a:solidFill>
          <a:ln w="25400">
            <a:solidFill>
              <a:srgbClr val="1E7FB8"/>
            </a:solidFill>
            <a:prstDash val="solid"/>
          </a:ln>
        </p:spPr>
      </p:sp>
      <p:sp>
        <p:nvSpPr>
          <p:cNvPr id="18" name="s27_13"/>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9" name="s27_14"/>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٤: المحيط • صفحة ١١٤</a:t>
            </a:r>
            <a:endParaRPr lang="ar-SA" sz="13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audio>
                                      <p:cMediaNode vol="80000" showWhenStopped="0">
                                        <p:cTn id="8" display="0" masterRel="sameClick">
                                          <p:stCondLst>
                                            <p:cond evt="onBegin" delay="0">
                                              <p:tn val="5"/>
                                            </p:cond>
                                          </p:stCondLst>
                                        </p:cTn>
                                        <p:tgtEl>
                                          <p:sndTgt r:embed="rId6" name="chime.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nextCondLst>
                <p:cond evt="onNext" delay="0">
                  <p:tgtEl>
                    <p:spTgt spid="6"/>
                  </p:tgtEl>
                </p:cond>
              </p:nextCondLst>
            </p:seq>
            <p:seq concurrent="1" nextAc="seek">
              <p:cTn id="12" restart="whenNotActive" fill="hold" evtFilter="cancelBubble" nodeType="interactiveSeq">
                <p:stCondLst>
                  <p:cond evt="onClick" delay="0">
                    <p:tgtEl>
                      <p:spTgt spid="9"/>
                    </p:tgtEl>
                  </p:cond>
                </p:stCondLst>
                <p:endSync evt="end" delay="0">
                  <p:rtn val="all"/>
                </p:endSync>
                <p:childTnLst>
                  <p:par>
                    <p:cTn id="13" fill="hold">
                      <p:stCondLst>
                        <p:cond delay="0"/>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subTnLst>
                                    <p:audio>
                                      <p:cMediaNode vol="80000" showWhenStopped="0">
                                        <p:cTn id="18" display="0" masterRel="sameClick">
                                          <p:stCondLst>
                                            <p:cond evt="onBegin" delay="0">
                                              <p:tn val="15"/>
                                            </p:cond>
                                          </p:stCondLst>
                                        </p:cTn>
                                        <p:tgtEl>
                                          <p:sndTgt r:embed="rId6" name="chime.wav"/>
                                        </p:tgtEl>
                                      </p:cMediaNode>
                                    </p:audio>
                                  </p:sub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nextCondLst>
                <p:cond evt="onNext" delay="0">
                  <p:tgtEl>
                    <p:spTgt spid="9"/>
                  </p:tgtEl>
                </p:cond>
              </p:nextCondLst>
            </p:seq>
            <p:seq concurrent="1" nextAc="seek">
              <p:cTn id="22" restart="whenNotActive" fill="hold" evtFilter="cancelBubble" nodeType="interactiveSeq">
                <p:stCondLst>
                  <p:cond evt="onClick" delay="0">
                    <p:tgtEl>
                      <p:spTgt spid="12"/>
                    </p:tgtEl>
                  </p:cond>
                </p:stCondLst>
                <p:endSync evt="end" delay="0">
                  <p:rtn val="all"/>
                </p:endSync>
                <p:childTnLst>
                  <p:par>
                    <p:cTn id="23" fill="hold">
                      <p:stCondLst>
                        <p:cond delay="0"/>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subTnLst>
                                    <p:audio>
                                      <p:cMediaNode vol="80000" showWhenStopped="0">
                                        <p:cTn id="28" display="0" masterRel="sameClick">
                                          <p:stCondLst>
                                            <p:cond evt="onBegin" delay="0">
                                              <p:tn val="25"/>
                                            </p:cond>
                                          </p:stCondLst>
                                        </p:cTn>
                                        <p:tgtEl>
                                          <p:sndTgt r:embed="rId6" name="chime.wav"/>
                                        </p:tgtEl>
                                      </p:cMediaNode>
                                    </p:audio>
                                  </p:sub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childTnLst>
              </p:cTn>
              <p:nextCondLst>
                <p:cond evt="onNext" delay="0">
                  <p:tgtEl>
                    <p:spTgt spid="12"/>
                  </p:tgtEl>
                </p:cond>
              </p:nextCondLst>
            </p:seq>
            <p:seq concurrent="1" nextAc="seek">
              <p:cTn id="32" restart="whenNotActive" fill="hold" evtFilter="cancelBubble" nodeType="interactiveSeq">
                <p:stCondLst>
                  <p:cond evt="onClick" delay="0">
                    <p:tgtEl>
                      <p:spTgt spid="15"/>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subTnLst>
                                    <p:audio>
                                      <p:cMediaNode vol="80000" showWhenStopped="0">
                                        <p:cTn id="38" display="0" masterRel="sameClick">
                                          <p:stCondLst>
                                            <p:cond evt="onBegin" delay="0">
                                              <p:tn val="35"/>
                                            </p:cond>
                                          </p:stCondLst>
                                        </p:cTn>
                                        <p:tgtEl>
                                          <p:sndTgt r:embed="rId6" name="chime.wav"/>
                                        </p:tgtEl>
                                      </p:cMediaNode>
                                    </p:audio>
                                  </p:sub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childTnLst>
              </p:cTn>
              <p:nextCondLst>
                <p:cond evt="onNext" delay="0">
                  <p:tgtEl>
                    <p:spTgt spid="15"/>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8_1" descr="عنوان الشريحة">    </p:cNvPr>
          <p:cNvPicPr>
            <a:picLocks noChangeAspect="1"/>
          </p:cNvPicPr>
          <p:nvPr/>
        </p:nvPicPr>
        <p:blipFill>
          <a:blip r:embed="rId2"/>
          <a:stretch>
            <a:fillRect/>
          </a:stretch>
        </p:blipFill>
        <p:spPr>
          <a:xfrm>
            <a:off x="7238945" y="182880"/>
            <a:ext cx="4586990" cy="731520"/>
          </a:xfrm>
          <a:prstGeom prst="rect">
            <a:avLst/>
          </a:prstGeom>
        </p:spPr>
      </p:pic>
      <p:sp>
        <p:nvSpPr>
          <p:cNvPr id="3" name="s28_2"/>
          <p:cNvSpPr txBox="1"/>
          <p:nvPr/>
        </p:nvSpPr>
        <p:spPr>
          <a:xfrm>
            <a:off x="365760" y="292608"/>
            <a:ext cx="53949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بطاقات المفردات – التعلّم باللعب</a:t>
            </a:r>
            <a:endParaRPr lang="en-US" sz="1600" dirty="0"/>
          </a:p>
        </p:txBody>
      </p:sp>
      <p:sp>
        <p:nvSpPr>
          <p:cNvPr id="4" name="s28_3"/>
          <p:cNvSpPr txBox="1"/>
          <p:nvPr/>
        </p:nvSpPr>
        <p:spPr>
          <a:xfrm>
            <a:off x="548640" y="1097280"/>
            <a:ext cx="11201400" cy="960120"/>
          </a:xfrm>
          <a:prstGeom prst="roundRect">
            <a:avLst>
              <a:gd name="adj" fmla="val 13333"/>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50" dirty="0">
                <a:solidFill>
                  <a:srgbClr val="34405E"/>
                </a:solidFill>
                <a:latin typeface="Tahoma" pitchFamily="34" charset="0"/>
                <a:ea typeface="Tahoma" pitchFamily="34" charset="-122"/>
                <a:cs typeface="Tahoma" pitchFamily="34" charset="-120"/>
              </a:rPr>
              <a:t>توضّحُ شبكاتُ الغذاءِ العلاقةَ بينَ المفترسِ والفريسةِ. وفي معظمِ الشبكاتِ الغذائيةِ تكونُ المخلوقاتُ الحيةُ مفترسةً لمخلوقاتٍ معيّنةٍ، وفريسةً لمخلوقاتٍ أخرى.</a:t>
            </a:r>
            <a:endParaRPr lang="ar-SA" sz="1650" dirty="0"/>
          </a:p>
        </p:txBody>
      </p:sp>
      <p:sp>
        <p:nvSpPr>
          <p:cNvPr id="5" name="s28_v0"/>
          <p:cNvSpPr txBox="1"/>
          <p:nvPr/>
        </p:nvSpPr>
        <p:spPr>
          <a:xfrm>
            <a:off x="6263640" y="2286000"/>
            <a:ext cx="5486400" cy="1188720"/>
          </a:xfrm>
          <a:prstGeom prst="roundRect">
            <a:avLst>
              <a:gd name="adj" fmla="val 10769"/>
            </a:avLst>
          </a:prstGeom>
          <a:solidFill>
            <a:srgbClr val="FFD9C2"/>
          </a:solidFill>
          <a:ln w="28575">
            <a:solidFill>
              <a:srgbClr val="34405E"/>
            </a:solidFill>
          </a:ln>
        </p:spPr>
        <p:txBody>
          <a:bodyPr wrap="square" lIns="101600" tIns="101600" rIns="101600" bIns="101600" rtlCol="0" anchor="ctr"/>
          <a:lstStyle/>
          <a:p>
            <a:pPr rtl="1" algn="ctr" indent="0" marL="0">
              <a:buNone/>
            </a:pPr>
            <a:r>
              <a:rPr lang="ar-SA" altLang="en-US" sz="2400" b="1" dirty="0">
                <a:solidFill>
                  <a:srgbClr val="34405E"/>
                </a:solidFill>
                <a:latin typeface="Tahoma" pitchFamily="34" charset="0"/>
                <a:ea typeface="Tahoma" pitchFamily="34" charset="-122"/>
                <a:cs typeface="Tahoma" pitchFamily="34" charset="-120"/>
              </a:rPr>
              <a:t>🦈 المفترس
</a:t>
            </a:r>
            <a:r>
              <a:rPr lang="ar-SA" altLang="en-US" sz="1250" dirty="0">
                <a:solidFill>
                  <a:srgbClr val="7A869E"/>
                </a:solidFill>
                <a:latin typeface="Tahoma" pitchFamily="34" charset="0"/>
                <a:ea typeface="Tahoma" pitchFamily="34" charset="-122"/>
                <a:cs typeface="Tahoma" pitchFamily="34" charset="-120"/>
              </a:rPr>
              <a:t>👆 اضغطي لتظهر المفردة</a:t>
            </a:r>
            <a:endParaRPr lang="ar-SA" sz="1800" dirty="0"/>
          </a:p>
        </p:txBody>
      </p:sp>
      <p:sp>
        <p:nvSpPr>
          <p:cNvPr id="6" name="s28_4@t=s28_v0%chime"/>
          <p:cNvSpPr txBox="1"/>
          <p:nvPr/>
        </p:nvSpPr>
        <p:spPr>
          <a:xfrm>
            <a:off x="6263640" y="3611880"/>
            <a:ext cx="5486400" cy="777240"/>
          </a:xfrm>
          <a:prstGeom prst="roundRect">
            <a:avLst>
              <a:gd name="adj" fmla="val 16471"/>
            </a:avLst>
          </a:prstGeom>
          <a:solidFill>
            <a:srgbClr val="FFFDF7"/>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آكلُ اللحومِ الذي يصطادُ ليحصلَ على طعامِه.</a:t>
            </a:r>
            <a:endParaRPr lang="ar-SA" sz="1700" dirty="0"/>
          </a:p>
        </p:txBody>
      </p:sp>
      <p:sp>
        <p:nvSpPr>
          <p:cNvPr id="7" name="s28_v1"/>
          <p:cNvSpPr txBox="1"/>
          <p:nvPr/>
        </p:nvSpPr>
        <p:spPr>
          <a:xfrm>
            <a:off x="548640" y="2286000"/>
            <a:ext cx="5486400" cy="1188720"/>
          </a:xfrm>
          <a:prstGeom prst="roundRect">
            <a:avLst>
              <a:gd name="adj" fmla="val 10769"/>
            </a:avLst>
          </a:prstGeom>
          <a:solidFill>
            <a:srgbClr val="CFE8FF"/>
          </a:solidFill>
          <a:ln w="28575">
            <a:solidFill>
              <a:srgbClr val="34405E"/>
            </a:solidFill>
          </a:ln>
        </p:spPr>
        <p:txBody>
          <a:bodyPr wrap="square" lIns="101600" tIns="101600" rIns="101600" bIns="101600" rtlCol="0" anchor="ctr"/>
          <a:lstStyle/>
          <a:p>
            <a:pPr rtl="1" algn="ctr" indent="0" marL="0">
              <a:buNone/>
            </a:pPr>
            <a:r>
              <a:rPr lang="ar-SA" altLang="en-US" sz="2400" b="1" dirty="0">
                <a:solidFill>
                  <a:srgbClr val="34405E"/>
                </a:solidFill>
                <a:latin typeface="Tahoma" pitchFamily="34" charset="0"/>
                <a:ea typeface="Tahoma" pitchFamily="34" charset="-122"/>
                <a:cs typeface="Tahoma" pitchFamily="34" charset="-120"/>
              </a:rPr>
              <a:t>🐟 الفريسة
</a:t>
            </a:r>
            <a:r>
              <a:rPr lang="ar-SA" altLang="en-US" sz="1250" dirty="0">
                <a:solidFill>
                  <a:srgbClr val="7A869E"/>
                </a:solidFill>
                <a:latin typeface="Tahoma" pitchFamily="34" charset="0"/>
                <a:ea typeface="Tahoma" pitchFamily="34" charset="-122"/>
                <a:cs typeface="Tahoma" pitchFamily="34" charset="-120"/>
              </a:rPr>
              <a:t>👆 اضغطي لتظهر المفردة</a:t>
            </a:r>
            <a:endParaRPr lang="ar-SA" sz="1800" dirty="0"/>
          </a:p>
        </p:txBody>
      </p:sp>
      <p:sp>
        <p:nvSpPr>
          <p:cNvPr id="8" name="s28_5@t=s28_v1%chime"/>
          <p:cNvSpPr txBox="1"/>
          <p:nvPr/>
        </p:nvSpPr>
        <p:spPr>
          <a:xfrm>
            <a:off x="548640" y="3611880"/>
            <a:ext cx="5486400" cy="777240"/>
          </a:xfrm>
          <a:prstGeom prst="roundRect">
            <a:avLst>
              <a:gd name="adj" fmla="val 16471"/>
            </a:avLst>
          </a:prstGeom>
          <a:solidFill>
            <a:srgbClr val="FFFDF7"/>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المخلوقُ الحيُّ الذي تمّ اصطيادُه.</a:t>
            </a:r>
            <a:endParaRPr lang="ar-SA" sz="1700" dirty="0"/>
          </a:p>
        </p:txBody>
      </p:sp>
      <p:sp>
        <p:nvSpPr>
          <p:cNvPr id="9" name="s28_6@c1%sparkle"/>
          <p:cNvSpPr txBox="1"/>
          <p:nvPr/>
        </p:nvSpPr>
        <p:spPr>
          <a:xfrm>
            <a:off x="548640" y="4617720"/>
            <a:ext cx="1120140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C2366F"/>
                </a:solidFill>
                <a:latin typeface="Tahoma" pitchFamily="34" charset="0"/>
                <a:ea typeface="Tahoma" pitchFamily="34" charset="-122"/>
                <a:cs typeface="Tahoma" pitchFamily="34" charset="-120"/>
              </a:rPr>
              <a:t>مثال من شبكة المحيط: </a:t>
            </a:r>
            <a:r>
              <a:rPr lang="ar-SA" altLang="en-US" sz="1650" b="1" dirty="0">
                <a:solidFill>
                  <a:srgbClr val="34405E"/>
                </a:solidFill>
                <a:latin typeface="Tahoma" pitchFamily="34" charset="0"/>
                <a:ea typeface="Tahoma" pitchFamily="34" charset="-122"/>
                <a:cs typeface="Tahoma" pitchFamily="34" charset="-120"/>
              </a:rPr>
              <a:t>سمكة السردين </a:t>
            </a:r>
            <a:r>
              <a:rPr lang="ar-SA" altLang="en-US" sz="1650" b="1" dirty="0">
                <a:solidFill>
                  <a:srgbClr val="C0392B"/>
                </a:solidFill>
                <a:latin typeface="Tahoma" pitchFamily="34" charset="0"/>
                <a:ea typeface="Tahoma" pitchFamily="34" charset="-122"/>
                <a:cs typeface="Tahoma" pitchFamily="34" charset="-120"/>
              </a:rPr>
              <a:t>مفترسة</a:t>
            </a:r>
            <a:r>
              <a:rPr lang="ar-SA" altLang="en-US" sz="1650" dirty="0">
                <a:solidFill>
                  <a:srgbClr val="34405E"/>
                </a:solidFill>
                <a:latin typeface="Tahoma" pitchFamily="34" charset="0"/>
                <a:ea typeface="Tahoma" pitchFamily="34" charset="-122"/>
                <a:cs typeface="Tahoma" pitchFamily="34" charset="-120"/>
              </a:rPr>
              <a:t> للعوالق، و</a:t>
            </a:r>
            <a:r>
              <a:rPr lang="ar-SA" altLang="en-US" sz="1650" b="1" dirty="0">
                <a:solidFill>
                  <a:srgbClr val="1E7FB8"/>
                </a:solidFill>
                <a:latin typeface="Tahoma" pitchFamily="34" charset="0"/>
                <a:ea typeface="Tahoma" pitchFamily="34" charset="-122"/>
                <a:cs typeface="Tahoma" pitchFamily="34" charset="-120"/>
              </a:rPr>
              <a:t>فريسة</a:t>
            </a:r>
            <a:r>
              <a:rPr lang="ar-SA" altLang="en-US" sz="1650" dirty="0">
                <a:solidFill>
                  <a:srgbClr val="34405E"/>
                </a:solidFill>
                <a:latin typeface="Tahoma" pitchFamily="34" charset="0"/>
                <a:ea typeface="Tahoma" pitchFamily="34" charset="-122"/>
                <a:cs typeface="Tahoma" pitchFamily="34" charset="-120"/>
              </a:rPr>
              <a:t> للتونة والدلفين وطائر النورس… فهي مفترسة وفريسة في الوقت نفسه!</a:t>
            </a:r>
            <a:endParaRPr lang="ar-SA" sz="1650" dirty="0"/>
          </a:p>
        </p:txBody>
      </p:sp>
      <p:sp>
        <p:nvSpPr>
          <p:cNvPr id="10" name="s28_7"/>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1" name="s28_8"/>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٤: المحيط • صفحة ١١٤</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subTnLst>
                                    <p:audio>
                                      <p:cMediaNode vol="80000" showWhenStopped="0">
                                        <p:cTn id="8" display="0" masterRel="sameClick">
                                          <p:stCondLst>
                                            <p:cond evt="onBegin" delay="0">
                                              <p:tn val="5"/>
                                            </p:cond>
                                          </p:stCondLst>
                                        </p:cTn>
                                        <p:tgtEl>
                                          <p:sndTgt r:embed="rId5" name="sparkle.wav"/>
                                        </p:tgtEl>
                                      </p:cMediaNode>
                                    </p:audio>
                                  </p:subTnLst>
                                </p:cTn>
                              </p:par>
                            </p:childTnLst>
                          </p:cTn>
                        </p:par>
                      </p:childTnLst>
                    </p:cTn>
                  </p:par>
                </p:childTnLst>
              </p:cTn>
              <p:prevCondLst>
                <p:cond evt="onPrev" delay="0">
                  <p:tgtEl>
                    <p:sldTgt/>
                  </p:tgtEl>
                </p:cond>
              </p:prevCondLst>
              <p:nextCondLst>
                <p:cond evt="onNext" delay="0">
                  <p:tgtEl>
                    <p:sldTgt/>
                  </p:tgtEl>
                </p:cond>
              </p:nextCondLst>
            </p:seq>
            <p:seq concurrent="1" nextAc="seek">
              <p:cTn id="9" restart="whenNotActive" fill="hold" evtFilter="cancelBubble" nodeType="interactiveSeq">
                <p:stCondLst>
                  <p:cond evt="onClick" delay="0">
                    <p:tgtEl>
                      <p:spTgt spid="5"/>
                    </p:tgtEl>
                  </p:cond>
                </p:stCondLst>
                <p:endSync evt="end" delay="0">
                  <p:rtn val="all"/>
                </p:endSync>
                <p:childTnLst>
                  <p:par>
                    <p:cTn id="10" fill="hold">
                      <p:stCondLst>
                        <p:cond delay="0"/>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subTnLst>
                                    <p:audio>
                                      <p:cMediaNode vol="80000" showWhenStopped="0">
                                        <p:cTn id="15" display="0" masterRel="sameClick">
                                          <p:stCondLst>
                                            <p:cond evt="onBegin" delay="0">
                                              <p:tn val="12"/>
                                            </p:cond>
                                          </p:stCondLst>
                                        </p:cTn>
                                        <p:tgtEl>
                                          <p:sndTgt r:embed="rId6" name="chime.wav"/>
                                        </p:tgtEl>
                                      </p:cMediaNode>
                                    </p:audio>
                                  </p:subTnLst>
                                </p:cTn>
                              </p:par>
                            </p:childTnLst>
                          </p:cTn>
                        </p:par>
                      </p:childTnLst>
                    </p:cTn>
                  </p:par>
                </p:childTnLst>
              </p:cTn>
              <p:nextCondLst>
                <p:cond evt="onNext" delay="0">
                  <p:tgtEl>
                    <p:spTgt spid="5"/>
                  </p:tgtEl>
                </p:cond>
              </p:nextCondLst>
            </p:seq>
            <p:seq concurrent="1" nextAc="seek">
              <p:cTn id="16" restart="whenNotActive" fill="hold" evtFilter="cancelBubble" nodeType="interactiveSeq">
                <p:stCondLst>
                  <p:cond evt="onClick" delay="0">
                    <p:tgtEl>
                      <p:spTgt spid="7"/>
                    </p:tgtEl>
                  </p:cond>
                </p:stCondLst>
                <p:endSync evt="end" delay="0">
                  <p:rtn val="all"/>
                </p:endSync>
                <p:childTnLst>
                  <p:par>
                    <p:cTn id="17" fill="hold">
                      <p:stCondLst>
                        <p:cond delay="0"/>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subTnLst>
                                    <p:audio>
                                      <p:cMediaNode vol="80000" showWhenStopped="0">
                                        <p:cTn id="22" display="0" masterRel="sameClick">
                                          <p:stCondLst>
                                            <p:cond evt="onBegin" delay="0">
                                              <p:tn val="19"/>
                                            </p:cond>
                                          </p:stCondLst>
                                        </p:cTn>
                                        <p:tgtEl>
                                          <p:sndTgt r:embed="rId6" name="chime.wav"/>
                                        </p:tgtEl>
                                      </p:cMediaNode>
                                    </p:audio>
                                  </p:subTnLst>
                                </p:cTn>
                              </p:par>
                            </p:childTnLst>
                          </p:cTn>
                        </p:par>
                      </p:childTnLst>
                    </p:cTn>
                  </p:par>
                </p:childTnLst>
              </p:cTn>
              <p:nextCondLst>
                <p:cond evt="onNext" delay="0">
                  <p:tgtEl>
                    <p:spTgt spid="7"/>
                  </p:tgtEl>
                </p:cond>
              </p:nextCondLst>
            </p:seq>
          </p:childTnLst>
        </p:cTn>
      </p:par>
    </p:tnLst>
    <p:bldLst>
      <p:bldP spid="6"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9_1" descr="عنوان الشريحة">    </p:cNvPr>
          <p:cNvPicPr>
            <a:picLocks noChangeAspect="1"/>
          </p:cNvPicPr>
          <p:nvPr/>
        </p:nvPicPr>
        <p:blipFill>
          <a:blip r:embed="rId2"/>
          <a:stretch>
            <a:fillRect/>
          </a:stretch>
        </p:blipFill>
        <p:spPr>
          <a:xfrm>
            <a:off x="6705295" y="203492"/>
            <a:ext cx="5120640" cy="690296"/>
          </a:xfrm>
          <a:prstGeom prst="rect">
            <a:avLst/>
          </a:prstGeom>
        </p:spPr>
      </p:pic>
      <p:sp>
        <p:nvSpPr>
          <p:cNvPr id="3" name="s29_2"/>
          <p:cNvSpPr txBox="1"/>
          <p:nvPr/>
        </p:nvSpPr>
        <p:spPr>
          <a:xfrm>
            <a:off x="365760" y="292608"/>
            <a:ext cx="43662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المحاكاة – تتبّع الأسهم</a:t>
            </a:r>
            <a:endParaRPr lang="en-US" sz="1600" dirty="0"/>
          </a:p>
        </p:txBody>
      </p:sp>
      <p:pic>
        <p:nvPicPr>
          <p:cNvPr id="4" name="s29_3" descr="شبكة غذائية في المحيط من الكتاب">    </p:cNvPr>
          <p:cNvPicPr>
            <a:picLocks noChangeAspect="1"/>
          </p:cNvPicPr>
          <p:nvPr/>
        </p:nvPicPr>
        <p:blipFill>
          <a:blip r:embed="rId3"/>
          <a:stretch>
            <a:fillRect/>
          </a:stretch>
        </p:blipFill>
        <p:spPr>
          <a:xfrm>
            <a:off x="411480" y="960120"/>
            <a:ext cx="6681179" cy="5349240"/>
          </a:xfrm>
          <a:prstGeom prst="rect">
            <a:avLst/>
          </a:prstGeom>
        </p:spPr>
      </p:pic>
      <p:sp>
        <p:nvSpPr>
          <p:cNvPr id="5" name="s29_4"/>
          <p:cNvSpPr txBox="1"/>
          <p:nvPr/>
        </p:nvSpPr>
        <p:spPr>
          <a:xfrm>
            <a:off x="411480" y="6291072"/>
            <a:ext cx="2743200" cy="256032"/>
          </a:xfrm>
          <a:prstGeom prst="rect">
            <a:avLst/>
          </a:prstGeom>
          <a:noFill/>
          <a:ln/>
        </p:spPr>
        <p:txBody>
          <a:bodyPr wrap="square" lIns="63500" tIns="63500" rIns="63500" bIns="63500" rtlCol="0" anchor="ctr"/>
          <a:lstStyle/>
          <a:p>
            <a:pPr rtl="1" algn="l" indent="0" marL="0">
              <a:buNone/>
            </a:pPr>
            <a:r>
              <a:rPr lang="ar-SA" altLang="en-US" sz="1100" dirty="0">
                <a:solidFill>
                  <a:srgbClr val="0E5E8A"/>
                </a:solidFill>
                <a:latin typeface="Tahoma" pitchFamily="34" charset="0"/>
                <a:ea typeface="Tahoma" pitchFamily="34" charset="-122"/>
                <a:cs typeface="Tahoma" pitchFamily="34" charset="-120"/>
              </a:rPr>
              <a:t>شكل من كتابي – صفحة ١١٤</a:t>
            </a:r>
            <a:endParaRPr lang="ar-SA" sz="1100" dirty="0"/>
          </a:p>
        </p:txBody>
      </p:sp>
      <p:sp>
        <p:nvSpPr>
          <p:cNvPr id="6" name="s29_5"/>
          <p:cNvSpPr/>
          <p:nvPr/>
        </p:nvSpPr>
        <p:spPr>
          <a:xfrm>
            <a:off x="488598" y="2089900"/>
            <a:ext cx="1005840" cy="1005840"/>
          </a:xfrm>
          <a:prstGeom prst="ellipse">
            <a:avLst/>
          </a:prstGeom>
          <a:solidFill>
            <a:srgbClr val="FFF59D">
              <a:alpha val="30000"/>
            </a:srgbClr>
          </a:solidFill>
          <a:ln w="50800">
            <a:solidFill>
              <a:srgbClr val="FFC107"/>
            </a:solidFill>
            <a:prstDash val="solid"/>
          </a:ln>
        </p:spPr>
      </p:sp>
      <p:sp>
        <p:nvSpPr>
          <p:cNvPr id="7" name="s29_6"/>
          <p:cNvSpPr/>
          <p:nvPr/>
        </p:nvSpPr>
        <p:spPr>
          <a:xfrm>
            <a:off x="2663741" y="1848217"/>
            <a:ext cx="1005840" cy="1005840"/>
          </a:xfrm>
          <a:prstGeom prst="ellipse">
            <a:avLst/>
          </a:prstGeom>
          <a:solidFill>
            <a:srgbClr val="FFF59D">
              <a:alpha val="30000"/>
            </a:srgbClr>
          </a:solidFill>
          <a:ln w="50800">
            <a:solidFill>
              <a:srgbClr val="FFC107"/>
            </a:solidFill>
            <a:prstDash val="solid"/>
          </a:ln>
        </p:spPr>
      </p:sp>
      <p:sp>
        <p:nvSpPr>
          <p:cNvPr id="8" name="s29_7"/>
          <p:cNvSpPr/>
          <p:nvPr/>
        </p:nvSpPr>
        <p:spPr>
          <a:xfrm>
            <a:off x="3904102" y="2551507"/>
            <a:ext cx="1371600" cy="1371600"/>
          </a:xfrm>
          <a:prstGeom prst="ellipse">
            <a:avLst/>
          </a:prstGeom>
          <a:solidFill>
            <a:srgbClr val="FFF59D">
              <a:alpha val="30000"/>
            </a:srgbClr>
          </a:solidFill>
          <a:ln w="50800">
            <a:solidFill>
              <a:srgbClr val="FFC107"/>
            </a:solidFill>
            <a:prstDash val="solid"/>
          </a:ln>
        </p:spPr>
      </p:sp>
      <p:sp>
        <p:nvSpPr>
          <p:cNvPr id="9" name="s29_8"/>
          <p:cNvSpPr/>
          <p:nvPr/>
        </p:nvSpPr>
        <p:spPr>
          <a:xfrm>
            <a:off x="1165034" y="3115432"/>
            <a:ext cx="1371600" cy="1371600"/>
          </a:xfrm>
          <a:prstGeom prst="ellipse">
            <a:avLst/>
          </a:prstGeom>
          <a:solidFill>
            <a:srgbClr val="FFF59D">
              <a:alpha val="30000"/>
            </a:srgbClr>
          </a:solidFill>
          <a:ln w="50800">
            <a:solidFill>
              <a:srgbClr val="FFC107"/>
            </a:solidFill>
            <a:prstDash val="solid"/>
          </a:ln>
        </p:spPr>
      </p:sp>
      <p:sp>
        <p:nvSpPr>
          <p:cNvPr id="10" name="s29_9"/>
          <p:cNvSpPr/>
          <p:nvPr/>
        </p:nvSpPr>
        <p:spPr>
          <a:xfrm>
            <a:off x="1876999" y="685525"/>
            <a:ext cx="914400" cy="914400"/>
          </a:xfrm>
          <a:prstGeom prst="ellipse">
            <a:avLst/>
          </a:prstGeom>
          <a:solidFill>
            <a:srgbClr val="FFF59D">
              <a:alpha val="30000"/>
            </a:srgbClr>
          </a:solidFill>
          <a:ln w="50800">
            <a:solidFill>
              <a:srgbClr val="FFC107"/>
            </a:solidFill>
            <a:prstDash val="solid"/>
          </a:ln>
        </p:spPr>
      </p:sp>
      <p:sp>
        <p:nvSpPr>
          <p:cNvPr id="11" name="s29_10"/>
          <p:cNvSpPr/>
          <p:nvPr/>
        </p:nvSpPr>
        <p:spPr>
          <a:xfrm>
            <a:off x="4736427" y="4318337"/>
            <a:ext cx="1554480" cy="1554480"/>
          </a:xfrm>
          <a:prstGeom prst="ellipse">
            <a:avLst/>
          </a:prstGeom>
          <a:solidFill>
            <a:srgbClr val="FFF59D">
              <a:alpha val="30000"/>
            </a:srgbClr>
          </a:solidFill>
          <a:ln w="50800">
            <a:solidFill>
              <a:srgbClr val="FFC107"/>
            </a:solidFill>
            <a:prstDash val="solid"/>
          </a:ln>
        </p:spPr>
      </p:sp>
      <p:pic>
        <p:nvPicPr>
          <p:cNvPr id="12" name="s29_11" descr="كرة الطاقة">    </p:cNvPr>
          <p:cNvPicPr>
            <a:picLocks noChangeAspect="1"/>
          </p:cNvPicPr>
          <p:nvPr/>
        </p:nvPicPr>
        <p:blipFill>
          <a:blip r:embed="rId4"/>
          <a:stretch>
            <a:fillRect/>
          </a:stretch>
        </p:blipFill>
        <p:spPr>
          <a:xfrm>
            <a:off x="283409" y="402391"/>
            <a:ext cx="685800" cy="685800"/>
          </a:xfrm>
          <a:prstGeom prst="rect">
            <a:avLst/>
          </a:prstGeom>
        </p:spPr>
      </p:pic>
      <p:pic>
        <p:nvPicPr>
          <p:cNvPr id="13" name="s29_12" descr="كرة الطاقة">    </p:cNvPr>
          <p:cNvPicPr>
            <a:picLocks noChangeAspect="1"/>
          </p:cNvPicPr>
          <p:nvPr/>
        </p:nvPicPr>
        <p:blipFill>
          <a:blip r:embed="rId5"/>
          <a:stretch>
            <a:fillRect/>
          </a:stretch>
        </p:blipFill>
        <p:spPr>
          <a:xfrm>
            <a:off x="717198" y="2318500"/>
            <a:ext cx="548640" cy="548640"/>
          </a:xfrm>
          <a:prstGeom prst="rect">
            <a:avLst/>
          </a:prstGeom>
        </p:spPr>
      </p:pic>
      <p:pic>
        <p:nvPicPr>
          <p:cNvPr id="14" name="s29_13" descr="كرة الطاقة">    </p:cNvPr>
          <p:cNvPicPr>
            <a:picLocks noChangeAspect="1"/>
          </p:cNvPicPr>
          <p:nvPr/>
        </p:nvPicPr>
        <p:blipFill>
          <a:blip r:embed="rId6"/>
          <a:stretch>
            <a:fillRect/>
          </a:stretch>
        </p:blipFill>
        <p:spPr>
          <a:xfrm>
            <a:off x="2960921" y="2145397"/>
            <a:ext cx="411480" cy="411480"/>
          </a:xfrm>
          <a:prstGeom prst="rect">
            <a:avLst/>
          </a:prstGeom>
        </p:spPr>
      </p:pic>
      <p:pic>
        <p:nvPicPr>
          <p:cNvPr id="15" name="s29_14" descr="كرة الطاقة">    </p:cNvPr>
          <p:cNvPicPr>
            <a:picLocks noChangeAspect="1"/>
          </p:cNvPicPr>
          <p:nvPr/>
        </p:nvPicPr>
        <p:blipFill>
          <a:blip r:embed="rId7"/>
          <a:stretch>
            <a:fillRect/>
          </a:stretch>
        </p:blipFill>
        <p:spPr>
          <a:xfrm>
            <a:off x="2960921" y="2145397"/>
            <a:ext cx="411480" cy="411480"/>
          </a:xfrm>
          <a:prstGeom prst="rect">
            <a:avLst/>
          </a:prstGeom>
        </p:spPr>
      </p:pic>
      <p:pic>
        <p:nvPicPr>
          <p:cNvPr id="16" name="s29_15" descr="كرة الطاقة">    </p:cNvPr>
          <p:cNvPicPr>
            <a:picLocks noChangeAspect="1"/>
          </p:cNvPicPr>
          <p:nvPr/>
        </p:nvPicPr>
        <p:blipFill>
          <a:blip r:embed="rId8"/>
          <a:stretch>
            <a:fillRect/>
          </a:stretch>
        </p:blipFill>
        <p:spPr>
          <a:xfrm>
            <a:off x="2960921" y="2145397"/>
            <a:ext cx="411480" cy="411480"/>
          </a:xfrm>
          <a:prstGeom prst="rect">
            <a:avLst/>
          </a:prstGeom>
        </p:spPr>
      </p:pic>
      <p:pic>
        <p:nvPicPr>
          <p:cNvPr id="17" name="s29_16" descr="كرة الطاقة">    </p:cNvPr>
          <p:cNvPicPr>
            <a:picLocks noChangeAspect="1"/>
          </p:cNvPicPr>
          <p:nvPr/>
        </p:nvPicPr>
        <p:blipFill>
          <a:blip r:embed="rId9"/>
          <a:stretch>
            <a:fillRect/>
          </a:stretch>
        </p:blipFill>
        <p:spPr>
          <a:xfrm>
            <a:off x="4425310" y="3072715"/>
            <a:ext cx="329184" cy="329184"/>
          </a:xfrm>
          <a:prstGeom prst="rect">
            <a:avLst/>
          </a:prstGeom>
        </p:spPr>
      </p:pic>
      <p:pic>
        <p:nvPicPr>
          <p:cNvPr id="18" name="s29_17" descr="كرة الطاقة">    </p:cNvPr>
          <p:cNvPicPr>
            <a:picLocks noChangeAspect="1"/>
          </p:cNvPicPr>
          <p:nvPr/>
        </p:nvPicPr>
        <p:blipFill>
          <a:blip r:embed="rId10"/>
          <a:stretch>
            <a:fillRect/>
          </a:stretch>
        </p:blipFill>
        <p:spPr>
          <a:xfrm>
            <a:off x="1686242" y="3636640"/>
            <a:ext cx="329184" cy="329184"/>
          </a:xfrm>
          <a:prstGeom prst="rect">
            <a:avLst/>
          </a:prstGeom>
        </p:spPr>
      </p:pic>
      <p:pic>
        <p:nvPicPr>
          <p:cNvPr id="19" name="s29_18" descr="كرة الطاقة">    </p:cNvPr>
          <p:cNvPicPr>
            <a:picLocks noChangeAspect="1"/>
          </p:cNvPicPr>
          <p:nvPr/>
        </p:nvPicPr>
        <p:blipFill>
          <a:blip r:embed="rId11"/>
          <a:stretch>
            <a:fillRect/>
          </a:stretch>
        </p:blipFill>
        <p:spPr>
          <a:xfrm>
            <a:off x="2169607" y="978133"/>
            <a:ext cx="329184" cy="329184"/>
          </a:xfrm>
          <a:prstGeom prst="rect">
            <a:avLst/>
          </a:prstGeom>
        </p:spPr>
      </p:pic>
      <p:sp>
        <p:nvSpPr>
          <p:cNvPr id="20" name="s29_19"/>
          <p:cNvSpPr txBox="1"/>
          <p:nvPr/>
        </p:nvSpPr>
        <p:spPr>
          <a:xfrm>
            <a:off x="7452360" y="1005840"/>
            <a:ext cx="429768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C2366F"/>
                </a:solidFill>
                <a:latin typeface="Tahoma" pitchFamily="34" charset="0"/>
                <a:ea typeface="Tahoma" pitchFamily="34" charset="-122"/>
                <a:cs typeface="Tahoma" pitchFamily="34" charset="-120"/>
              </a:rPr>
              <a:t>أقرأ الشكل: </a:t>
            </a:r>
            <a:r>
              <a:rPr lang="ar-SA" altLang="en-US" sz="1600" b="1" dirty="0">
                <a:solidFill>
                  <a:srgbClr val="34405E"/>
                </a:solidFill>
                <a:latin typeface="Tahoma" pitchFamily="34" charset="0"/>
                <a:ea typeface="Tahoma" pitchFamily="34" charset="-122"/>
                <a:cs typeface="Tahoma" pitchFamily="34" charset="-120"/>
              </a:rPr>
              <a:t>أيُّ مفترسٍ له أكبرُ عددٍ من الفرائس؟</a:t>
            </a:r>
            <a:endParaRPr lang="ar-SA" sz="1600" dirty="0"/>
          </a:p>
        </p:txBody>
      </p:sp>
      <p:sp>
        <p:nvSpPr>
          <p:cNvPr id="21" name="s29_20"/>
          <p:cNvSpPr txBox="1"/>
          <p:nvPr/>
        </p:nvSpPr>
        <p:spPr>
          <a:xfrm>
            <a:off x="7452360" y="2011680"/>
            <a:ext cx="4297680" cy="804672"/>
          </a:xfrm>
          <a:prstGeom prst="roundRect">
            <a:avLst>
              <a:gd name="adj" fmla="val 15909"/>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34405E"/>
                </a:solidFill>
                <a:latin typeface="Tahoma" pitchFamily="34" charset="0"/>
                <a:ea typeface="Tahoma" pitchFamily="34" charset="-122"/>
                <a:cs typeface="Tahoma" pitchFamily="34" charset="-120"/>
              </a:rPr>
              <a:t>☀️ ١) تلتقط العوالق النباتية طاقة الشمس.</a:t>
            </a:r>
            <a:endParaRPr lang="ar-SA" sz="1450" dirty="0"/>
          </a:p>
        </p:txBody>
      </p:sp>
      <p:sp>
        <p:nvSpPr>
          <p:cNvPr id="22" name="s29_21"/>
          <p:cNvSpPr txBox="1"/>
          <p:nvPr/>
        </p:nvSpPr>
        <p:spPr>
          <a:xfrm>
            <a:off x="7452360" y="2926080"/>
            <a:ext cx="4297680" cy="804672"/>
          </a:xfrm>
          <a:prstGeom prst="roundRect">
            <a:avLst>
              <a:gd name="adj" fmla="val 15909"/>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34405E"/>
                </a:solidFill>
                <a:latin typeface="Tahoma" pitchFamily="34" charset="0"/>
                <a:ea typeface="Tahoma" pitchFamily="34" charset="-122"/>
                <a:cs typeface="Tahoma" pitchFamily="34" charset="-120"/>
              </a:rPr>
              <a:t>🐟 ٢) تأكل سمكة السردين العوالق.</a:t>
            </a:r>
            <a:endParaRPr lang="ar-SA" sz="1450" dirty="0"/>
          </a:p>
        </p:txBody>
      </p:sp>
      <p:sp>
        <p:nvSpPr>
          <p:cNvPr id="23" name="s29_22"/>
          <p:cNvSpPr txBox="1"/>
          <p:nvPr/>
        </p:nvSpPr>
        <p:spPr>
          <a:xfrm>
            <a:off x="7452360" y="3840480"/>
            <a:ext cx="4297680" cy="804672"/>
          </a:xfrm>
          <a:prstGeom prst="roundRect">
            <a:avLst>
              <a:gd name="adj" fmla="val 15909"/>
            </a:avLst>
          </a:prstGeom>
          <a:solidFill>
            <a:srgbClr val="ECE6FB"/>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34405E"/>
                </a:solidFill>
                <a:latin typeface="Tahoma" pitchFamily="34" charset="0"/>
                <a:ea typeface="Tahoma" pitchFamily="34" charset="-122"/>
                <a:cs typeface="Tahoma" pitchFamily="34" charset="-120"/>
              </a:rPr>
              <a:t>🔀 ٣) تتفرّع الطاقة: التونة والدلفين والنورس تأكل السردين!</a:t>
            </a:r>
            <a:endParaRPr lang="ar-SA" sz="1450" dirty="0"/>
          </a:p>
        </p:txBody>
      </p:sp>
      <p:sp>
        <p:nvSpPr>
          <p:cNvPr id="24" name="s29_23"/>
          <p:cNvSpPr txBox="1"/>
          <p:nvPr/>
        </p:nvSpPr>
        <p:spPr>
          <a:xfrm>
            <a:off x="7452360" y="4754880"/>
            <a:ext cx="4297680" cy="804672"/>
          </a:xfrm>
          <a:prstGeom prst="roundRect">
            <a:avLst>
              <a:gd name="adj" fmla="val 15909"/>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34405E"/>
                </a:solidFill>
                <a:latin typeface="Tahoma" pitchFamily="34" charset="0"/>
                <a:ea typeface="Tahoma" pitchFamily="34" charset="-122"/>
                <a:cs typeface="Tahoma" pitchFamily="34" charset="-120"/>
              </a:rPr>
              <a:t>🐋 ٤) ثلاثة أسهم تصل إلى الحوت القاتل؛ فهو صاحب أكبر عدد من الفرائس ✔</a:t>
            </a:r>
            <a:endParaRPr lang="ar-SA" sz="1450" dirty="0"/>
          </a:p>
        </p:txBody>
      </p:sp>
      <p:sp>
        <p:nvSpPr>
          <p:cNvPr id="25" name="s29_24"/>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26" name="s29_25"/>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٤: المحيط • صفحة ١١٤</a:t>
            </a:r>
            <a:endParaRPr lang="ar-SA" sz="13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300" fill="hold"/>
                                        <p:tgtEl>
                                          <p:spTgt spid="12"/>
                                        </p:tgtEl>
                                        <p:attrNameLst>
                                          <p:attrName>ppt_w</p:attrName>
                                        </p:attrNameLst>
                                      </p:cBhvr>
                                      <p:tavLst>
                                        <p:tav tm="0">
                                          <p:val>
                                            <p:strVal val="0"/>
                                          </p:val>
                                        </p:tav>
                                        <p:tav tm="100000">
                                          <p:val>
                                            <p:strVal val="#ppt_w"/>
                                          </p:val>
                                        </p:tav>
                                      </p:tavLst>
                                    </p:anim>
                                    <p:anim calcmode="lin" valueType="num">
                                      <p:cBhvr additive="base">
                                        <p:cTn id="28" dur="300" fill="hold"/>
                                        <p:tgtEl>
                                          <p:spTgt spid="12"/>
                                        </p:tgtEl>
                                        <p:attrNameLst>
                                          <p:attrName>ppt_h</p:attrName>
                                        </p:attrNameLst>
                                      </p:cBhvr>
                                      <p:tavLst>
                                        <p:tav tm="0">
                                          <p:val>
                                            <p:strVal val="0"/>
                                          </p:val>
                                        </p:tav>
                                        <p:tav tm="100000">
                                          <p:val>
                                            <p:strVal val="#ppt_h"/>
                                          </p:val>
                                        </p:tav>
                                      </p:tavLst>
                                    </p:anim>
                                    <p:animEffect transition="in" filter="fade">
                                      <p:cBhvr>
                                        <p:cTn id="29" dur="300"/>
                                        <p:tgtEl>
                                          <p:spTgt spid="12"/>
                                        </p:tgtEl>
                                      </p:cBhvr>
                                    </p:animEffect>
                                  </p:childTnLst>
                                </p:cTn>
                              </p:par>
                              <p:par>
                                <p:cTn id="30" presetID="0" presetClass="path" presetSubtype="0" fill="hold" grpId="1" nodeType="withEffect">
                                  <p:stCondLst>
                                    <p:cond delay="300"/>
                                  </p:stCondLst>
                                  <p:childTnLst>
                                    <p:animMotion origin="layout" path="M 0 0 L 0.0300 0.2694 E" pathEditMode="relative" ptsTypes="">
                                      <p:cBhvr>
                                        <p:cTn id="31" dur="1500" fill="hold" accel="40000" decel="40000"/>
                                        <p:tgtEl>
                                          <p:spTgt spid="12"/>
                                        </p:tgtEl>
                                        <p:attrNameLst>
                                          <p:attrName>ppt_x</p:attrName>
                                          <p:attrName>ppt_y</p:attrName>
                                        </p:attrNameLst>
                                      </p:cBhvr>
                                      <p:rCtr x="0" y="0"/>
                                    </p:animMotion>
                                  </p:childTnLst>
                                </p:cTn>
                              </p:par>
                              <p:par>
                                <p:cTn id="32" presetID="10" presetClass="exit" presetSubtype="0" fill="hold" grpId="2" nodeType="withEffect">
                                  <p:stCondLst>
                                    <p:cond delay="1900"/>
                                  </p:stCondLst>
                                  <p:childTnLst>
                                    <p:animEffect transition="out" filter="fade">
                                      <p:cBhvr>
                                        <p:cTn id="33" dur="300"/>
                                        <p:tgtEl>
                                          <p:spTgt spid="12"/>
                                        </p:tgtEl>
                                      </p:cBhvr>
                                    </p:animEffect>
                                    <p:set>
                                      <p:cBhvr>
                                        <p:cTn id="34" dur="1" fill="hold">
                                          <p:stCondLst>
                                            <p:cond delay="299"/>
                                          </p:stCondLst>
                                        </p:cTn>
                                        <p:tgtEl>
                                          <p:spTgt spid="12"/>
                                        </p:tgtEl>
                                        <p:attrNameLst>
                                          <p:attrName>style.visibility</p:attrName>
                                        </p:attrNameLst>
                                      </p:cBhvr>
                                      <p:to>
                                        <p:strVal val="hidden"/>
                                      </p:to>
                                    </p:set>
                                  </p:childTnLst>
                                </p:cTn>
                              </p:par>
                              <p:par>
                                <p:cTn id="35" presetID="6" presetClass="emph" presetSubtype="0" fill="hold" grpId="1" nodeType="withEffect">
                                  <p:stCondLst>
                                    <p:cond delay="1800"/>
                                  </p:stCondLst>
                                  <p:childTnLst>
                                    <p:animScale>
                                      <p:cBhvr>
                                        <p:cTn id="36" dur="400" autoRev="1" fill="hold"/>
                                        <p:tgtEl>
                                          <p:spTgt spid="6"/>
                                        </p:tgtEl>
                                      </p:cBhvr>
                                      <p:by x="118000" y="118000"/>
                                    </p:animScale>
                                  </p:childTnLst>
                                  <p:subTnLst>
                                    <p:audio>
                                      <p:cMediaNode vol="80000" showWhenStopped="0">
                                        <p:cTn id="37" display="0" masterRel="sameClick">
                                          <p:stCondLst>
                                            <p:cond evt="onBegin" delay="0">
                                              <p:tn val="35"/>
                                            </p:cond>
                                          </p:stCondLst>
                                        </p:cTn>
                                        <p:tgtEl>
                                          <p:sndTgt r:embed="rId14" name="pop.wav"/>
                                        </p:tgtEl>
                                      </p:cMediaNode>
                                    </p:audio>
                                  </p:subTnLst>
                                </p:cTn>
                              </p:par>
                              <p:par>
                                <p:cTn id="38" presetID="10" presetClass="entr" presetSubtype="0" fill="hold" grpId="0" nodeType="withEffect">
                                  <p:stCondLst>
                                    <p:cond delay="180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300" fill="hold"/>
                                        <p:tgtEl>
                                          <p:spTgt spid="13"/>
                                        </p:tgtEl>
                                        <p:attrNameLst>
                                          <p:attrName>ppt_w</p:attrName>
                                        </p:attrNameLst>
                                      </p:cBhvr>
                                      <p:tavLst>
                                        <p:tav tm="0">
                                          <p:val>
                                            <p:strVal val="0"/>
                                          </p:val>
                                        </p:tav>
                                        <p:tav tm="100000">
                                          <p:val>
                                            <p:strVal val="#ppt_w"/>
                                          </p:val>
                                        </p:tav>
                                      </p:tavLst>
                                    </p:anim>
                                    <p:anim calcmode="lin" valueType="num">
                                      <p:cBhvr additive="base">
                                        <p:cTn id="46" dur="300" fill="hold"/>
                                        <p:tgtEl>
                                          <p:spTgt spid="13"/>
                                        </p:tgtEl>
                                        <p:attrNameLst>
                                          <p:attrName>ppt_h</p:attrName>
                                        </p:attrNameLst>
                                      </p:cBhvr>
                                      <p:tavLst>
                                        <p:tav tm="0">
                                          <p:val>
                                            <p:strVal val="0"/>
                                          </p:val>
                                        </p:tav>
                                        <p:tav tm="100000">
                                          <p:val>
                                            <p:strVal val="#ppt_h"/>
                                          </p:val>
                                        </p:tav>
                                      </p:tavLst>
                                    </p:anim>
                                    <p:animEffect transition="in" filter="fade">
                                      <p:cBhvr>
                                        <p:cTn id="47" dur="300"/>
                                        <p:tgtEl>
                                          <p:spTgt spid="13"/>
                                        </p:tgtEl>
                                      </p:cBhvr>
                                    </p:animEffect>
                                  </p:childTnLst>
                                </p:cTn>
                              </p:par>
                              <p:par>
                                <p:cTn id="48" presetID="0" presetClass="path" presetSubtype="0" fill="hold" grpId="1" nodeType="withEffect">
                                  <p:stCondLst>
                                    <p:cond delay="300"/>
                                  </p:stCondLst>
                                  <p:childTnLst>
                                    <p:animMotion origin="layout" path="M 0 0 L 0.1784 -0.0352 E" pathEditMode="relative" ptsTypes="">
                                      <p:cBhvr>
                                        <p:cTn id="49" dur="1500" fill="hold" accel="40000" decel="40000"/>
                                        <p:tgtEl>
                                          <p:spTgt spid="13"/>
                                        </p:tgtEl>
                                        <p:attrNameLst>
                                          <p:attrName>ppt_x</p:attrName>
                                          <p:attrName>ppt_y</p:attrName>
                                        </p:attrNameLst>
                                      </p:cBhvr>
                                      <p:rCtr x="0" y="0"/>
                                    </p:animMotion>
                                  </p:childTnLst>
                                </p:cTn>
                              </p:par>
                              <p:par>
                                <p:cTn id="50" presetID="10" presetClass="exit" presetSubtype="0" fill="hold" grpId="2" nodeType="withEffect">
                                  <p:stCondLst>
                                    <p:cond delay="1900"/>
                                  </p:stCondLst>
                                  <p:childTnLst>
                                    <p:animEffect transition="out" filter="fade">
                                      <p:cBhvr>
                                        <p:cTn id="51" dur="300"/>
                                        <p:tgtEl>
                                          <p:spTgt spid="13"/>
                                        </p:tgtEl>
                                      </p:cBhvr>
                                    </p:animEffect>
                                    <p:set>
                                      <p:cBhvr>
                                        <p:cTn id="52" dur="1" fill="hold">
                                          <p:stCondLst>
                                            <p:cond delay="299"/>
                                          </p:stCondLst>
                                        </p:cTn>
                                        <p:tgtEl>
                                          <p:spTgt spid="13"/>
                                        </p:tgtEl>
                                        <p:attrNameLst>
                                          <p:attrName>style.visibility</p:attrName>
                                        </p:attrNameLst>
                                      </p:cBhvr>
                                      <p:to>
                                        <p:strVal val="hidden"/>
                                      </p:to>
                                    </p:set>
                                  </p:childTnLst>
                                </p:cTn>
                              </p:par>
                              <p:par>
                                <p:cTn id="53" presetID="6" presetClass="emph" presetSubtype="0" fill="hold" grpId="1" nodeType="withEffect">
                                  <p:stCondLst>
                                    <p:cond delay="1800"/>
                                  </p:stCondLst>
                                  <p:childTnLst>
                                    <p:animScale>
                                      <p:cBhvr>
                                        <p:cTn id="54" dur="400" autoRev="1" fill="hold"/>
                                        <p:tgtEl>
                                          <p:spTgt spid="7"/>
                                        </p:tgtEl>
                                      </p:cBhvr>
                                      <p:by x="118000" y="118000"/>
                                    </p:animScale>
                                  </p:childTnLst>
                                  <p:subTnLst>
                                    <p:audio>
                                      <p:cMediaNode vol="80000" showWhenStopped="0">
                                        <p:cTn id="55" display="0" masterRel="sameClick">
                                          <p:stCondLst>
                                            <p:cond evt="onBegin" delay="0">
                                              <p:tn val="53"/>
                                            </p:cond>
                                          </p:stCondLst>
                                        </p:cTn>
                                        <p:tgtEl>
                                          <p:sndTgt r:embed="rId14" name="pop.wav"/>
                                        </p:tgtEl>
                                      </p:cMediaNode>
                                    </p:audio>
                                  </p:subTnLst>
                                </p:cTn>
                              </p:par>
                              <p:par>
                                <p:cTn id="56" presetID="10" presetClass="entr" presetSubtype="0" fill="hold" grpId="0" nodeType="withEffect">
                                  <p:stCondLst>
                                    <p:cond delay="18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300" fill="hold"/>
                                        <p:tgtEl>
                                          <p:spTgt spid="14"/>
                                        </p:tgtEl>
                                        <p:attrNameLst>
                                          <p:attrName>ppt_w</p:attrName>
                                        </p:attrNameLst>
                                      </p:cBhvr>
                                      <p:tavLst>
                                        <p:tav tm="0">
                                          <p:val>
                                            <p:strVal val="0"/>
                                          </p:val>
                                        </p:tav>
                                        <p:tav tm="100000">
                                          <p:val>
                                            <p:strVal val="#ppt_w"/>
                                          </p:val>
                                        </p:tav>
                                      </p:tavLst>
                                    </p:anim>
                                    <p:anim calcmode="lin" valueType="num">
                                      <p:cBhvr additive="base">
                                        <p:cTn id="64" dur="300" fill="hold"/>
                                        <p:tgtEl>
                                          <p:spTgt spid="14"/>
                                        </p:tgtEl>
                                        <p:attrNameLst>
                                          <p:attrName>ppt_h</p:attrName>
                                        </p:attrNameLst>
                                      </p:cBhvr>
                                      <p:tavLst>
                                        <p:tav tm="0">
                                          <p:val>
                                            <p:strVal val="0"/>
                                          </p:val>
                                        </p:tav>
                                        <p:tav tm="100000">
                                          <p:val>
                                            <p:strVal val="#ppt_h"/>
                                          </p:val>
                                        </p:tav>
                                      </p:tavLst>
                                    </p:anim>
                                    <p:animEffect transition="in" filter="fade">
                                      <p:cBhvr>
                                        <p:cTn id="65" dur="300"/>
                                        <p:tgtEl>
                                          <p:spTgt spid="14"/>
                                        </p:tgtEl>
                                      </p:cBhvr>
                                    </p:animEffect>
                                  </p:childTnLst>
                                </p:cTn>
                              </p:par>
                              <p:par>
                                <p:cTn id="66" presetID="0" presetClass="path" presetSubtype="0" fill="hold" grpId="1" nodeType="withEffect">
                                  <p:stCondLst>
                                    <p:cond delay="300"/>
                                  </p:stCondLst>
                                  <p:childTnLst>
                                    <p:animMotion origin="layout" path="M 0 0 L 0.1167 0.1292 E" pathEditMode="relative" ptsTypes="">
                                      <p:cBhvr>
                                        <p:cTn id="67" dur="1500" fill="hold" accel="40000" decel="40000"/>
                                        <p:tgtEl>
                                          <p:spTgt spid="14"/>
                                        </p:tgtEl>
                                        <p:attrNameLst>
                                          <p:attrName>ppt_x</p:attrName>
                                          <p:attrName>ppt_y</p:attrName>
                                        </p:attrNameLst>
                                      </p:cBhvr>
                                      <p:rCtr x="0" y="0"/>
                                    </p:animMotion>
                                  </p:childTnLst>
                                </p:cTn>
                              </p:par>
                              <p:par>
                                <p:cTn id="68" presetID="10" presetClass="exit" presetSubtype="0" fill="hold" grpId="2" nodeType="withEffect">
                                  <p:stCondLst>
                                    <p:cond delay="1900"/>
                                  </p:stCondLst>
                                  <p:childTnLst>
                                    <p:animEffect transition="out" filter="fade">
                                      <p:cBhvr>
                                        <p:cTn id="69" dur="300"/>
                                        <p:tgtEl>
                                          <p:spTgt spid="14"/>
                                        </p:tgtEl>
                                      </p:cBhvr>
                                    </p:animEffect>
                                    <p:set>
                                      <p:cBhvr>
                                        <p:cTn id="70" dur="1" fill="hold">
                                          <p:stCondLst>
                                            <p:cond delay="299"/>
                                          </p:stCondLst>
                                        </p:cTn>
                                        <p:tgtEl>
                                          <p:spTgt spid="14"/>
                                        </p:tgtEl>
                                        <p:attrNameLst>
                                          <p:attrName>style.visibility</p:attrName>
                                        </p:attrNameLst>
                                      </p:cBhvr>
                                      <p:to>
                                        <p:strVal val="hidden"/>
                                      </p:to>
                                    </p:set>
                                  </p:childTnLst>
                                </p:cTn>
                              </p:par>
                              <p:par>
                                <p:cTn id="71" presetID="53" presetClass="entr" presetSubtype="16"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additive="base">
                                        <p:cTn id="73" dur="300" fill="hold"/>
                                        <p:tgtEl>
                                          <p:spTgt spid="15"/>
                                        </p:tgtEl>
                                        <p:attrNameLst>
                                          <p:attrName>ppt_w</p:attrName>
                                        </p:attrNameLst>
                                      </p:cBhvr>
                                      <p:tavLst>
                                        <p:tav tm="0">
                                          <p:val>
                                            <p:strVal val="0"/>
                                          </p:val>
                                        </p:tav>
                                        <p:tav tm="100000">
                                          <p:val>
                                            <p:strVal val="#ppt_w"/>
                                          </p:val>
                                        </p:tav>
                                      </p:tavLst>
                                    </p:anim>
                                    <p:anim calcmode="lin" valueType="num">
                                      <p:cBhvr additive="base">
                                        <p:cTn id="74" dur="300" fill="hold"/>
                                        <p:tgtEl>
                                          <p:spTgt spid="15"/>
                                        </p:tgtEl>
                                        <p:attrNameLst>
                                          <p:attrName>ppt_h</p:attrName>
                                        </p:attrNameLst>
                                      </p:cBhvr>
                                      <p:tavLst>
                                        <p:tav tm="0">
                                          <p:val>
                                            <p:strVal val="0"/>
                                          </p:val>
                                        </p:tav>
                                        <p:tav tm="100000">
                                          <p:val>
                                            <p:strVal val="#ppt_h"/>
                                          </p:val>
                                        </p:tav>
                                      </p:tavLst>
                                    </p:anim>
                                    <p:animEffect transition="in" filter="fade">
                                      <p:cBhvr>
                                        <p:cTn id="75" dur="300"/>
                                        <p:tgtEl>
                                          <p:spTgt spid="15"/>
                                        </p:tgtEl>
                                      </p:cBhvr>
                                    </p:animEffect>
                                  </p:childTnLst>
                                </p:cTn>
                              </p:par>
                              <p:par>
                                <p:cTn id="76" presetID="0" presetClass="path" presetSubtype="0" fill="hold" grpId="1" nodeType="withEffect">
                                  <p:stCondLst>
                                    <p:cond delay="300"/>
                                  </p:stCondLst>
                                  <p:childTnLst>
                                    <p:animMotion origin="layout" path="M 0 0 L -0.1079 0.2114 E" pathEditMode="relative" ptsTypes="">
                                      <p:cBhvr>
                                        <p:cTn id="77" dur="1500" fill="hold" accel="40000" decel="40000"/>
                                        <p:tgtEl>
                                          <p:spTgt spid="15"/>
                                        </p:tgtEl>
                                        <p:attrNameLst>
                                          <p:attrName>ppt_x</p:attrName>
                                          <p:attrName>ppt_y</p:attrName>
                                        </p:attrNameLst>
                                      </p:cBhvr>
                                      <p:rCtr x="0" y="0"/>
                                    </p:animMotion>
                                  </p:childTnLst>
                                </p:cTn>
                              </p:par>
                              <p:par>
                                <p:cTn id="78" presetID="10" presetClass="exit" presetSubtype="0" fill="hold" grpId="2" nodeType="withEffect">
                                  <p:stCondLst>
                                    <p:cond delay="1900"/>
                                  </p:stCondLst>
                                  <p:childTnLst>
                                    <p:animEffect transition="out" filter="fade">
                                      <p:cBhvr>
                                        <p:cTn id="79" dur="300"/>
                                        <p:tgtEl>
                                          <p:spTgt spid="15"/>
                                        </p:tgtEl>
                                      </p:cBhvr>
                                    </p:animEffect>
                                    <p:set>
                                      <p:cBhvr>
                                        <p:cTn id="80" dur="1" fill="hold">
                                          <p:stCondLst>
                                            <p:cond delay="299"/>
                                          </p:stCondLst>
                                        </p:cTn>
                                        <p:tgtEl>
                                          <p:spTgt spid="15"/>
                                        </p:tgtEl>
                                        <p:attrNameLst>
                                          <p:attrName>style.visibility</p:attrName>
                                        </p:attrNameLst>
                                      </p:cBhvr>
                                      <p:to>
                                        <p:strVal val="hidden"/>
                                      </p:to>
                                    </p:set>
                                  </p:childTnLst>
                                </p:cTn>
                              </p:par>
                              <p:par>
                                <p:cTn id="81" presetID="53" presetClass="entr" presetSubtype="16"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300" fill="hold"/>
                                        <p:tgtEl>
                                          <p:spTgt spid="16"/>
                                        </p:tgtEl>
                                        <p:attrNameLst>
                                          <p:attrName>ppt_w</p:attrName>
                                        </p:attrNameLst>
                                      </p:cBhvr>
                                      <p:tavLst>
                                        <p:tav tm="0">
                                          <p:val>
                                            <p:strVal val="0"/>
                                          </p:val>
                                        </p:tav>
                                        <p:tav tm="100000">
                                          <p:val>
                                            <p:strVal val="#ppt_w"/>
                                          </p:val>
                                        </p:tav>
                                      </p:tavLst>
                                    </p:anim>
                                    <p:anim calcmode="lin" valueType="num">
                                      <p:cBhvr additive="base">
                                        <p:cTn id="84" dur="300" fill="hold"/>
                                        <p:tgtEl>
                                          <p:spTgt spid="16"/>
                                        </p:tgtEl>
                                        <p:attrNameLst>
                                          <p:attrName>ppt_h</p:attrName>
                                        </p:attrNameLst>
                                      </p:cBhvr>
                                      <p:tavLst>
                                        <p:tav tm="0">
                                          <p:val>
                                            <p:strVal val="0"/>
                                          </p:val>
                                        </p:tav>
                                        <p:tav tm="100000">
                                          <p:val>
                                            <p:strVal val="#ppt_h"/>
                                          </p:val>
                                        </p:tav>
                                      </p:tavLst>
                                    </p:anim>
                                    <p:animEffect transition="in" filter="fade">
                                      <p:cBhvr>
                                        <p:cTn id="85" dur="300"/>
                                        <p:tgtEl>
                                          <p:spTgt spid="16"/>
                                        </p:tgtEl>
                                      </p:cBhvr>
                                    </p:animEffect>
                                  </p:childTnLst>
                                </p:cTn>
                              </p:par>
                              <p:par>
                                <p:cTn id="86" presetID="0" presetClass="path" presetSubtype="0" fill="hold" grpId="1" nodeType="withEffect">
                                  <p:stCondLst>
                                    <p:cond delay="300"/>
                                  </p:stCondLst>
                                  <p:childTnLst>
                                    <p:animMotion origin="layout" path="M 0 0 L -0.0683 -0.1762 E" pathEditMode="relative" ptsTypes="">
                                      <p:cBhvr>
                                        <p:cTn id="87" dur="1500" fill="hold" accel="40000" decel="40000"/>
                                        <p:tgtEl>
                                          <p:spTgt spid="16"/>
                                        </p:tgtEl>
                                        <p:attrNameLst>
                                          <p:attrName>ppt_x</p:attrName>
                                          <p:attrName>ppt_y</p:attrName>
                                        </p:attrNameLst>
                                      </p:cBhvr>
                                      <p:rCtr x="0" y="0"/>
                                    </p:animMotion>
                                  </p:childTnLst>
                                </p:cTn>
                              </p:par>
                              <p:par>
                                <p:cTn id="88" presetID="10" presetClass="exit" presetSubtype="0" fill="hold" grpId="2" nodeType="withEffect">
                                  <p:stCondLst>
                                    <p:cond delay="1900"/>
                                  </p:stCondLst>
                                  <p:childTnLst>
                                    <p:animEffect transition="out" filter="fade">
                                      <p:cBhvr>
                                        <p:cTn id="89" dur="300"/>
                                        <p:tgtEl>
                                          <p:spTgt spid="16"/>
                                        </p:tgtEl>
                                      </p:cBhvr>
                                    </p:animEffect>
                                    <p:set>
                                      <p:cBhvr>
                                        <p:cTn id="90" dur="1" fill="hold">
                                          <p:stCondLst>
                                            <p:cond delay="299"/>
                                          </p:stCondLst>
                                        </p:cTn>
                                        <p:tgtEl>
                                          <p:spTgt spid="16"/>
                                        </p:tgtEl>
                                        <p:attrNameLst>
                                          <p:attrName>style.visibility</p:attrName>
                                        </p:attrNameLst>
                                      </p:cBhvr>
                                      <p:to>
                                        <p:strVal val="hidden"/>
                                      </p:to>
                                    </p:set>
                                  </p:childTnLst>
                                </p:cTn>
                              </p:par>
                              <p:par>
                                <p:cTn id="91" presetID="6" presetClass="emph" presetSubtype="0" fill="hold" grpId="1" nodeType="withEffect">
                                  <p:stCondLst>
                                    <p:cond delay="1800"/>
                                  </p:stCondLst>
                                  <p:childTnLst>
                                    <p:animScale>
                                      <p:cBhvr>
                                        <p:cTn id="92" dur="400" autoRev="1" fill="hold"/>
                                        <p:tgtEl>
                                          <p:spTgt spid="8"/>
                                        </p:tgtEl>
                                      </p:cBhvr>
                                      <p:by x="118000" y="118000"/>
                                    </p:animScale>
                                  </p:childTnLst>
                                  <p:subTnLst>
                                    <p:audio>
                                      <p:cMediaNode vol="80000" showWhenStopped="0">
                                        <p:cTn id="93" display="0" masterRel="sameClick">
                                          <p:stCondLst>
                                            <p:cond evt="onBegin" delay="0">
                                              <p:tn val="91"/>
                                            </p:cond>
                                          </p:stCondLst>
                                        </p:cTn>
                                        <p:tgtEl>
                                          <p:sndTgt r:embed="rId15" name="sparkle.wav"/>
                                        </p:tgtEl>
                                      </p:cMediaNode>
                                    </p:audio>
                                  </p:subTnLst>
                                </p:cTn>
                              </p:par>
                              <p:par>
                                <p:cTn id="94" presetID="6" presetClass="emph" presetSubtype="0" fill="hold" grpId="1" nodeType="withEffect">
                                  <p:stCondLst>
                                    <p:cond delay="1800"/>
                                  </p:stCondLst>
                                  <p:childTnLst>
                                    <p:animScale>
                                      <p:cBhvr>
                                        <p:cTn id="95" dur="400" autoRev="1" fill="hold"/>
                                        <p:tgtEl>
                                          <p:spTgt spid="9"/>
                                        </p:tgtEl>
                                      </p:cBhvr>
                                      <p:by x="118000" y="118000"/>
                                    </p:animScale>
                                  </p:childTnLst>
                                </p:cTn>
                              </p:par>
                              <p:par>
                                <p:cTn id="96" presetID="6" presetClass="emph" presetSubtype="0" fill="hold" grpId="1" nodeType="withEffect">
                                  <p:stCondLst>
                                    <p:cond delay="1800"/>
                                  </p:stCondLst>
                                  <p:childTnLst>
                                    <p:animScale>
                                      <p:cBhvr>
                                        <p:cTn id="97" dur="400" autoRev="1" fill="hold"/>
                                        <p:tgtEl>
                                          <p:spTgt spid="10"/>
                                        </p:tgtEl>
                                      </p:cBhvr>
                                      <p:by x="118000" y="118000"/>
                                    </p:animScale>
                                  </p:childTnLst>
                                </p:cTn>
                              </p:par>
                              <p:par>
                                <p:cTn id="98" presetID="10" presetClass="entr" presetSubtype="0" fill="hold" grpId="0" nodeType="withEffect">
                                  <p:stCondLst>
                                    <p:cond delay="18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17"/>
                                        </p:tgtEl>
                                        <p:attrNameLst>
                                          <p:attrName>style.visibility</p:attrName>
                                        </p:attrNameLst>
                                      </p:cBhvr>
                                      <p:to>
                                        <p:strVal val="visible"/>
                                      </p:to>
                                    </p:set>
                                    <p:anim calcmode="lin" valueType="num">
                                      <p:cBhvr additive="base">
                                        <p:cTn id="105" dur="300" fill="hold"/>
                                        <p:tgtEl>
                                          <p:spTgt spid="17"/>
                                        </p:tgtEl>
                                        <p:attrNameLst>
                                          <p:attrName>ppt_w</p:attrName>
                                        </p:attrNameLst>
                                      </p:cBhvr>
                                      <p:tavLst>
                                        <p:tav tm="0">
                                          <p:val>
                                            <p:strVal val="0"/>
                                          </p:val>
                                        </p:tav>
                                        <p:tav tm="100000">
                                          <p:val>
                                            <p:strVal val="#ppt_w"/>
                                          </p:val>
                                        </p:tav>
                                      </p:tavLst>
                                    </p:anim>
                                    <p:anim calcmode="lin" valueType="num">
                                      <p:cBhvr additive="base">
                                        <p:cTn id="106" dur="300" fill="hold"/>
                                        <p:tgtEl>
                                          <p:spTgt spid="17"/>
                                        </p:tgtEl>
                                        <p:attrNameLst>
                                          <p:attrName>ppt_h</p:attrName>
                                        </p:attrNameLst>
                                      </p:cBhvr>
                                      <p:tavLst>
                                        <p:tav tm="0">
                                          <p:val>
                                            <p:strVal val="0"/>
                                          </p:val>
                                        </p:tav>
                                        <p:tav tm="100000">
                                          <p:val>
                                            <p:strVal val="#ppt_h"/>
                                          </p:val>
                                        </p:tav>
                                      </p:tavLst>
                                    </p:anim>
                                    <p:animEffect transition="in" filter="fade">
                                      <p:cBhvr>
                                        <p:cTn id="107" dur="300"/>
                                        <p:tgtEl>
                                          <p:spTgt spid="17"/>
                                        </p:tgtEl>
                                      </p:cBhvr>
                                    </p:animEffect>
                                  </p:childTnLst>
                                </p:cTn>
                              </p:par>
                              <p:par>
                                <p:cTn id="108" presetID="0" presetClass="path" presetSubtype="0" fill="hold" grpId="1" nodeType="withEffect">
                                  <p:stCondLst>
                                    <p:cond delay="300"/>
                                  </p:stCondLst>
                                  <p:childTnLst>
                                    <p:animMotion origin="layout" path="M 0 0 L 0.0758 0.2710 E" pathEditMode="relative" ptsTypes="">
                                      <p:cBhvr>
                                        <p:cTn id="109" dur="1500" fill="hold" accel="40000" decel="40000"/>
                                        <p:tgtEl>
                                          <p:spTgt spid="17"/>
                                        </p:tgtEl>
                                        <p:attrNameLst>
                                          <p:attrName>ppt_x</p:attrName>
                                          <p:attrName>ppt_y</p:attrName>
                                        </p:attrNameLst>
                                      </p:cBhvr>
                                      <p:rCtr x="0" y="0"/>
                                    </p:animMotion>
                                  </p:childTnLst>
                                </p:cTn>
                              </p:par>
                              <p:par>
                                <p:cTn id="110" presetID="10" presetClass="exit" presetSubtype="0" fill="hold" grpId="2" nodeType="withEffect">
                                  <p:stCondLst>
                                    <p:cond delay="1900"/>
                                  </p:stCondLst>
                                  <p:childTnLst>
                                    <p:animEffect transition="out" filter="fade">
                                      <p:cBhvr>
                                        <p:cTn id="111" dur="300"/>
                                        <p:tgtEl>
                                          <p:spTgt spid="17"/>
                                        </p:tgtEl>
                                      </p:cBhvr>
                                    </p:animEffect>
                                    <p:set>
                                      <p:cBhvr>
                                        <p:cTn id="112" dur="1" fill="hold">
                                          <p:stCondLst>
                                            <p:cond delay="299"/>
                                          </p:stCondLst>
                                        </p:cTn>
                                        <p:tgtEl>
                                          <p:spTgt spid="17"/>
                                        </p:tgtEl>
                                        <p:attrNameLst>
                                          <p:attrName>style.visibility</p:attrName>
                                        </p:attrNameLst>
                                      </p:cBhvr>
                                      <p:to>
                                        <p:strVal val="hidden"/>
                                      </p:to>
                                    </p:set>
                                  </p:childTnLst>
                                </p:cTn>
                              </p:par>
                              <p:par>
                                <p:cTn id="113" presetID="53" presetClass="entr" presetSubtype="16" fill="hold" grpId="0" nodeType="withEffect">
                                  <p:stCondLst>
                                    <p:cond delay="0"/>
                                  </p:stCondLst>
                                  <p:childTnLst>
                                    <p:set>
                                      <p:cBhvr>
                                        <p:cTn id="114" dur="1" fill="hold">
                                          <p:stCondLst>
                                            <p:cond delay="0"/>
                                          </p:stCondLst>
                                        </p:cTn>
                                        <p:tgtEl>
                                          <p:spTgt spid="18"/>
                                        </p:tgtEl>
                                        <p:attrNameLst>
                                          <p:attrName>style.visibility</p:attrName>
                                        </p:attrNameLst>
                                      </p:cBhvr>
                                      <p:to>
                                        <p:strVal val="visible"/>
                                      </p:to>
                                    </p:set>
                                    <p:anim calcmode="lin" valueType="num">
                                      <p:cBhvr additive="base">
                                        <p:cTn id="115" dur="300" fill="hold"/>
                                        <p:tgtEl>
                                          <p:spTgt spid="18"/>
                                        </p:tgtEl>
                                        <p:attrNameLst>
                                          <p:attrName>ppt_w</p:attrName>
                                        </p:attrNameLst>
                                      </p:cBhvr>
                                      <p:tavLst>
                                        <p:tav tm="0">
                                          <p:val>
                                            <p:strVal val="0"/>
                                          </p:val>
                                        </p:tav>
                                        <p:tav tm="100000">
                                          <p:val>
                                            <p:strVal val="#ppt_w"/>
                                          </p:val>
                                        </p:tav>
                                      </p:tavLst>
                                    </p:anim>
                                    <p:anim calcmode="lin" valueType="num">
                                      <p:cBhvr additive="base">
                                        <p:cTn id="116" dur="300" fill="hold"/>
                                        <p:tgtEl>
                                          <p:spTgt spid="18"/>
                                        </p:tgtEl>
                                        <p:attrNameLst>
                                          <p:attrName>ppt_h</p:attrName>
                                        </p:attrNameLst>
                                      </p:cBhvr>
                                      <p:tavLst>
                                        <p:tav tm="0">
                                          <p:val>
                                            <p:strVal val="0"/>
                                          </p:val>
                                        </p:tav>
                                        <p:tav tm="100000">
                                          <p:val>
                                            <p:strVal val="#ppt_h"/>
                                          </p:val>
                                        </p:tav>
                                      </p:tavLst>
                                    </p:anim>
                                    <p:animEffect transition="in" filter="fade">
                                      <p:cBhvr>
                                        <p:cTn id="117" dur="300"/>
                                        <p:tgtEl>
                                          <p:spTgt spid="18"/>
                                        </p:tgtEl>
                                      </p:cBhvr>
                                    </p:animEffect>
                                  </p:childTnLst>
                                </p:cTn>
                              </p:par>
                              <p:par>
                                <p:cTn id="118" presetID="0" presetClass="path" presetSubtype="0" fill="hold" grpId="1" nodeType="withEffect">
                                  <p:stCondLst>
                                    <p:cond delay="300"/>
                                  </p:stCondLst>
                                  <p:childTnLst>
                                    <p:animMotion origin="layout" path="M 0 0 L 0.3004 0.1887 E" pathEditMode="relative" ptsTypes="">
                                      <p:cBhvr>
                                        <p:cTn id="119" dur="1500" fill="hold" accel="40000" decel="40000"/>
                                        <p:tgtEl>
                                          <p:spTgt spid="18"/>
                                        </p:tgtEl>
                                        <p:attrNameLst>
                                          <p:attrName>ppt_x</p:attrName>
                                          <p:attrName>ppt_y</p:attrName>
                                        </p:attrNameLst>
                                      </p:cBhvr>
                                      <p:rCtr x="0" y="0"/>
                                    </p:animMotion>
                                  </p:childTnLst>
                                </p:cTn>
                              </p:par>
                              <p:par>
                                <p:cTn id="120" presetID="10" presetClass="exit" presetSubtype="0" fill="hold" grpId="2" nodeType="withEffect">
                                  <p:stCondLst>
                                    <p:cond delay="1900"/>
                                  </p:stCondLst>
                                  <p:childTnLst>
                                    <p:animEffect transition="out" filter="fade">
                                      <p:cBhvr>
                                        <p:cTn id="121" dur="300"/>
                                        <p:tgtEl>
                                          <p:spTgt spid="18"/>
                                        </p:tgtEl>
                                      </p:cBhvr>
                                    </p:animEffect>
                                    <p:set>
                                      <p:cBhvr>
                                        <p:cTn id="122" dur="1" fill="hold">
                                          <p:stCondLst>
                                            <p:cond delay="299"/>
                                          </p:stCondLst>
                                        </p:cTn>
                                        <p:tgtEl>
                                          <p:spTgt spid="18"/>
                                        </p:tgtEl>
                                        <p:attrNameLst>
                                          <p:attrName>style.visibility</p:attrName>
                                        </p:attrNameLst>
                                      </p:cBhvr>
                                      <p:to>
                                        <p:strVal val="hidden"/>
                                      </p:to>
                                    </p:set>
                                  </p:childTnLst>
                                </p:cTn>
                              </p:par>
                              <p:par>
                                <p:cTn id="123" presetID="53" presetClass="entr" presetSubtype="16" fill="hold" grpId="0" nodeType="withEffect">
                                  <p:stCondLst>
                                    <p:cond delay="0"/>
                                  </p:stCondLst>
                                  <p:childTnLst>
                                    <p:set>
                                      <p:cBhvr>
                                        <p:cTn id="124" dur="1" fill="hold">
                                          <p:stCondLst>
                                            <p:cond delay="0"/>
                                          </p:stCondLst>
                                        </p:cTn>
                                        <p:tgtEl>
                                          <p:spTgt spid="19"/>
                                        </p:tgtEl>
                                        <p:attrNameLst>
                                          <p:attrName>style.visibility</p:attrName>
                                        </p:attrNameLst>
                                      </p:cBhvr>
                                      <p:to>
                                        <p:strVal val="visible"/>
                                      </p:to>
                                    </p:set>
                                    <p:anim calcmode="lin" valueType="num">
                                      <p:cBhvr additive="base">
                                        <p:cTn id="125" dur="300" fill="hold"/>
                                        <p:tgtEl>
                                          <p:spTgt spid="19"/>
                                        </p:tgtEl>
                                        <p:attrNameLst>
                                          <p:attrName>ppt_w</p:attrName>
                                        </p:attrNameLst>
                                      </p:cBhvr>
                                      <p:tavLst>
                                        <p:tav tm="0">
                                          <p:val>
                                            <p:strVal val="0"/>
                                          </p:val>
                                        </p:tav>
                                        <p:tav tm="100000">
                                          <p:val>
                                            <p:strVal val="#ppt_w"/>
                                          </p:val>
                                        </p:tav>
                                      </p:tavLst>
                                    </p:anim>
                                    <p:anim calcmode="lin" valueType="num">
                                      <p:cBhvr additive="base">
                                        <p:cTn id="126" dur="300" fill="hold"/>
                                        <p:tgtEl>
                                          <p:spTgt spid="19"/>
                                        </p:tgtEl>
                                        <p:attrNameLst>
                                          <p:attrName>ppt_h</p:attrName>
                                        </p:attrNameLst>
                                      </p:cBhvr>
                                      <p:tavLst>
                                        <p:tav tm="0">
                                          <p:val>
                                            <p:strVal val="0"/>
                                          </p:val>
                                        </p:tav>
                                        <p:tav tm="100000">
                                          <p:val>
                                            <p:strVal val="#ppt_h"/>
                                          </p:val>
                                        </p:tav>
                                      </p:tavLst>
                                    </p:anim>
                                    <p:animEffect transition="in" filter="fade">
                                      <p:cBhvr>
                                        <p:cTn id="127" dur="300"/>
                                        <p:tgtEl>
                                          <p:spTgt spid="19"/>
                                        </p:tgtEl>
                                      </p:cBhvr>
                                    </p:animEffect>
                                  </p:childTnLst>
                                </p:cTn>
                              </p:par>
                              <p:par>
                                <p:cTn id="128" presetID="0" presetClass="path" presetSubtype="0" fill="hold" grpId="1" nodeType="withEffect">
                                  <p:stCondLst>
                                    <p:cond delay="300"/>
                                  </p:stCondLst>
                                  <p:childTnLst>
                                    <p:animMotion origin="layout" path="M 0 0 L 0.2608 0.5764 E" pathEditMode="relative" ptsTypes="">
                                      <p:cBhvr>
                                        <p:cTn id="129" dur="1500" fill="hold" accel="40000" decel="40000"/>
                                        <p:tgtEl>
                                          <p:spTgt spid="19"/>
                                        </p:tgtEl>
                                        <p:attrNameLst>
                                          <p:attrName>ppt_x</p:attrName>
                                          <p:attrName>ppt_y</p:attrName>
                                        </p:attrNameLst>
                                      </p:cBhvr>
                                      <p:rCtr x="0" y="0"/>
                                    </p:animMotion>
                                  </p:childTnLst>
                                </p:cTn>
                              </p:par>
                              <p:par>
                                <p:cTn id="130" presetID="10" presetClass="exit" presetSubtype="0" fill="hold" grpId="2" nodeType="withEffect">
                                  <p:stCondLst>
                                    <p:cond delay="1900"/>
                                  </p:stCondLst>
                                  <p:childTnLst>
                                    <p:animEffect transition="out" filter="fade">
                                      <p:cBhvr>
                                        <p:cTn id="131" dur="300"/>
                                        <p:tgtEl>
                                          <p:spTgt spid="19"/>
                                        </p:tgtEl>
                                      </p:cBhvr>
                                    </p:animEffect>
                                    <p:set>
                                      <p:cBhvr>
                                        <p:cTn id="132" dur="1" fill="hold">
                                          <p:stCondLst>
                                            <p:cond delay="299"/>
                                          </p:stCondLst>
                                        </p:cTn>
                                        <p:tgtEl>
                                          <p:spTgt spid="19"/>
                                        </p:tgtEl>
                                        <p:attrNameLst>
                                          <p:attrName>style.visibility</p:attrName>
                                        </p:attrNameLst>
                                      </p:cBhvr>
                                      <p:to>
                                        <p:strVal val="hidden"/>
                                      </p:to>
                                    </p:set>
                                  </p:childTnLst>
                                </p:cTn>
                              </p:par>
                              <p:par>
                                <p:cTn id="133" presetID="6" presetClass="emph" presetSubtype="0" fill="hold" grpId="1" nodeType="withEffect" repeatCount="2000">
                                  <p:stCondLst>
                                    <p:cond delay="1800"/>
                                  </p:stCondLst>
                                  <p:childTnLst>
                                    <p:animScale>
                                      <p:cBhvr>
                                        <p:cTn id="134" dur="500" autoRev="1" fill="hold"/>
                                        <p:tgtEl>
                                          <p:spTgt spid="11"/>
                                        </p:tgtEl>
                                      </p:cBhvr>
                                      <p:by x="118000" y="118000"/>
                                    </p:animScale>
                                  </p:childTnLst>
                                  <p:subTnLst>
                                    <p:audio>
                                      <p:cMediaNode vol="80000" showWhenStopped="0">
                                        <p:cTn id="135" display="0" masterRel="sameClick">
                                          <p:stCondLst>
                                            <p:cond evt="onBegin" delay="0">
                                              <p:tn val="133"/>
                                            </p:cond>
                                          </p:stCondLst>
                                        </p:cTn>
                                        <p:tgtEl>
                                          <p:sndTgt r:embed="rId16" name="chime.wav"/>
                                        </p:tgtEl>
                                      </p:cMediaNode>
                                    </p:audio>
                                  </p:subTnLst>
                                </p:cTn>
                              </p:par>
                              <p:par>
                                <p:cTn id="136" presetID="10" presetClass="entr" presetSubtype="0" fill="hold" grpId="0" nodeType="withEffect">
                                  <p:stCondLst>
                                    <p:cond delay="180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21" grpId="0" animBg="1"/>
      <p:bldP spid="22" grpId="0" animBg="1"/>
      <p:bldP spid="23" grpId="0" animBg="1"/>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0_1" descr="عنوان الشريحة">    </p:cNvPr>
          <p:cNvPicPr>
            <a:picLocks noChangeAspect="1"/>
          </p:cNvPicPr>
          <p:nvPr/>
        </p:nvPicPr>
        <p:blipFill>
          <a:blip r:embed="rId2"/>
          <a:stretch>
            <a:fillRect/>
          </a:stretch>
        </p:blipFill>
        <p:spPr>
          <a:xfrm>
            <a:off x="8636028" y="182880"/>
            <a:ext cx="3189907" cy="731520"/>
          </a:xfrm>
          <a:prstGeom prst="rect">
            <a:avLst/>
          </a:prstGeom>
        </p:spPr>
      </p:pic>
      <p:sp>
        <p:nvSpPr>
          <p:cNvPr id="3" name="s30_2"/>
          <p:cNvSpPr txBox="1"/>
          <p:nvPr/>
        </p:nvSpPr>
        <p:spPr>
          <a:xfrm>
            <a:off x="365760" y="292608"/>
            <a:ext cx="44805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التعلّم باللعب – من أنا؟</a:t>
            </a:r>
            <a:endParaRPr lang="en-US" sz="1600" dirty="0"/>
          </a:p>
        </p:txBody>
      </p:sp>
      <p:sp>
        <p:nvSpPr>
          <p:cNvPr id="4" name="s30_3"/>
          <p:cNvSpPr txBox="1"/>
          <p:nvPr/>
        </p:nvSpPr>
        <p:spPr>
          <a:xfrm>
            <a:off x="4160520" y="1097280"/>
            <a:ext cx="7589520" cy="1033272"/>
          </a:xfrm>
          <a:prstGeom prst="roundRect">
            <a:avLst>
              <a:gd name="adj" fmla="val 12389"/>
            </a:avLst>
          </a:prstGeom>
          <a:solidFill>
            <a:srgbClr val="D5F5EA"/>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C2366F"/>
                </a:solidFill>
                <a:latin typeface="Tahoma" pitchFamily="34" charset="0"/>
                <a:ea typeface="Tahoma" pitchFamily="34" charset="-122"/>
                <a:cs typeface="Tahoma" pitchFamily="34" charset="-120"/>
              </a:rPr>
              <a:t>١  </a:t>
            </a:r>
            <a:r>
              <a:rPr lang="ar-SA" altLang="en-US" sz="1650" b="1" dirty="0">
                <a:solidFill>
                  <a:srgbClr val="1E7FB8"/>
                </a:solidFill>
                <a:latin typeface="Tahoma" pitchFamily="34" charset="0"/>
                <a:ea typeface="Tahoma" pitchFamily="34" charset="-122"/>
                <a:cs typeface="Tahoma" pitchFamily="34" charset="-120"/>
              </a:rPr>
              <a:t>أنا: </a:t>
            </a:r>
            <a:r>
              <a:rPr lang="ar-SA" altLang="en-US" sz="1650" dirty="0">
                <a:solidFill>
                  <a:srgbClr val="34405E"/>
                </a:solidFill>
                <a:latin typeface="Tahoma" pitchFamily="34" charset="0"/>
                <a:ea typeface="Tahoma" pitchFamily="34" charset="-122"/>
                <a:cs typeface="Tahoma" pitchFamily="34" charset="-120"/>
              </a:rPr>
              <a:t>ألتقطُ طاقةَ الشمس وأطفو في مياه المحيط، وأنا بداية الشبكة.</a:t>
            </a:r>
            <a:endParaRPr lang="ar-SA" sz="1650" dirty="0"/>
          </a:p>
        </p:txBody>
      </p:sp>
      <p:sp>
        <p:nvSpPr>
          <p:cNvPr id="5" name="s30_w0"/>
          <p:cNvSpPr txBox="1"/>
          <p:nvPr/>
        </p:nvSpPr>
        <p:spPr>
          <a:xfrm>
            <a:off x="2057400" y="1234440"/>
            <a:ext cx="1965960" cy="758952"/>
          </a:xfrm>
          <a:prstGeom prst="roundRect">
            <a:avLst>
              <a:gd name="adj" fmla="val 49398"/>
            </a:avLst>
          </a:prstGeom>
          <a:solidFill>
            <a:srgbClr val="FFD34D"/>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من أنا؟</a:t>
            </a:r>
            <a:endParaRPr lang="ar-SA" sz="1700" dirty="0"/>
          </a:p>
        </p:txBody>
      </p:sp>
      <p:sp>
        <p:nvSpPr>
          <p:cNvPr id="6" name="s30_4@t=s30_w0%chime"/>
          <p:cNvSpPr txBox="1"/>
          <p:nvPr/>
        </p:nvSpPr>
        <p:spPr>
          <a:xfrm>
            <a:off x="2057400" y="1234440"/>
            <a:ext cx="1965960" cy="758952"/>
          </a:xfrm>
          <a:prstGeom prst="roundRect">
            <a:avLst>
              <a:gd name="adj" fmla="val 49398"/>
            </a:avLst>
          </a:prstGeom>
          <a:solidFill>
            <a:srgbClr val="2F8A3A"/>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FFFFFF"/>
                </a:solidFill>
                <a:latin typeface="Tahoma" pitchFamily="34" charset="0"/>
                <a:ea typeface="Tahoma" pitchFamily="34" charset="-122"/>
                <a:cs typeface="Tahoma" pitchFamily="34" charset="-120"/>
              </a:rPr>
              <a:t>العوالق النباتية 🌿</a:t>
            </a:r>
            <a:endParaRPr lang="ar-SA" sz="1500" dirty="0"/>
          </a:p>
        </p:txBody>
      </p:sp>
      <p:sp>
        <p:nvSpPr>
          <p:cNvPr id="7" name="s30_5"/>
          <p:cNvSpPr txBox="1"/>
          <p:nvPr/>
        </p:nvSpPr>
        <p:spPr>
          <a:xfrm>
            <a:off x="4160520" y="2313432"/>
            <a:ext cx="7589520" cy="1033272"/>
          </a:xfrm>
          <a:prstGeom prst="roundRect">
            <a:avLst>
              <a:gd name="adj" fmla="val 12389"/>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C2366F"/>
                </a:solidFill>
                <a:latin typeface="Tahoma" pitchFamily="34" charset="0"/>
                <a:ea typeface="Tahoma" pitchFamily="34" charset="-122"/>
                <a:cs typeface="Tahoma" pitchFamily="34" charset="-120"/>
              </a:rPr>
              <a:t>٢  </a:t>
            </a:r>
            <a:r>
              <a:rPr lang="ar-SA" altLang="en-US" sz="1650" b="1" dirty="0">
                <a:solidFill>
                  <a:srgbClr val="1E7FB8"/>
                </a:solidFill>
                <a:latin typeface="Tahoma" pitchFamily="34" charset="0"/>
                <a:ea typeface="Tahoma" pitchFamily="34" charset="-122"/>
                <a:cs typeface="Tahoma" pitchFamily="34" charset="-120"/>
              </a:rPr>
              <a:t>أنا: </a:t>
            </a:r>
            <a:r>
              <a:rPr lang="ar-SA" altLang="en-US" sz="1650" dirty="0">
                <a:solidFill>
                  <a:srgbClr val="34405E"/>
                </a:solidFill>
                <a:latin typeface="Tahoma" pitchFamily="34" charset="0"/>
                <a:ea typeface="Tahoma" pitchFamily="34" charset="-122"/>
                <a:cs typeface="Tahoma" pitchFamily="34" charset="-120"/>
              </a:rPr>
              <a:t>آكلُ العوالق، وتأكلني التونة والدلفين والنورس؛ فأنا مفترسة وفريسة!</a:t>
            </a:r>
            <a:endParaRPr lang="ar-SA" sz="1650" dirty="0"/>
          </a:p>
        </p:txBody>
      </p:sp>
      <p:sp>
        <p:nvSpPr>
          <p:cNvPr id="8" name="s30_w1"/>
          <p:cNvSpPr txBox="1"/>
          <p:nvPr/>
        </p:nvSpPr>
        <p:spPr>
          <a:xfrm>
            <a:off x="2057400" y="2450592"/>
            <a:ext cx="1965960" cy="758952"/>
          </a:xfrm>
          <a:prstGeom prst="roundRect">
            <a:avLst>
              <a:gd name="adj" fmla="val 49398"/>
            </a:avLst>
          </a:prstGeom>
          <a:solidFill>
            <a:srgbClr val="FFD34D"/>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من أنا؟</a:t>
            </a:r>
            <a:endParaRPr lang="ar-SA" sz="1700" dirty="0"/>
          </a:p>
        </p:txBody>
      </p:sp>
      <p:sp>
        <p:nvSpPr>
          <p:cNvPr id="9" name="s30_6@t=s30_w1%chime"/>
          <p:cNvSpPr txBox="1"/>
          <p:nvPr/>
        </p:nvSpPr>
        <p:spPr>
          <a:xfrm>
            <a:off x="2057400" y="2450592"/>
            <a:ext cx="1965960" cy="758952"/>
          </a:xfrm>
          <a:prstGeom prst="roundRect">
            <a:avLst>
              <a:gd name="adj" fmla="val 49398"/>
            </a:avLst>
          </a:prstGeom>
          <a:solidFill>
            <a:srgbClr val="2F8A3A"/>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FFFFFF"/>
                </a:solidFill>
                <a:latin typeface="Tahoma" pitchFamily="34" charset="0"/>
                <a:ea typeface="Tahoma" pitchFamily="34" charset="-122"/>
                <a:cs typeface="Tahoma" pitchFamily="34" charset="-120"/>
              </a:rPr>
              <a:t>سمكة السردين 🐟</a:t>
            </a:r>
            <a:endParaRPr lang="ar-SA" sz="1500" dirty="0"/>
          </a:p>
        </p:txBody>
      </p:sp>
      <p:sp>
        <p:nvSpPr>
          <p:cNvPr id="10" name="s30_7"/>
          <p:cNvSpPr txBox="1"/>
          <p:nvPr/>
        </p:nvSpPr>
        <p:spPr>
          <a:xfrm>
            <a:off x="4160520" y="3529584"/>
            <a:ext cx="7589520" cy="1033272"/>
          </a:xfrm>
          <a:prstGeom prst="roundRect">
            <a:avLst>
              <a:gd name="adj" fmla="val 12389"/>
            </a:avLst>
          </a:prstGeom>
          <a:solidFill>
            <a:srgbClr val="ECE6FB"/>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C2366F"/>
                </a:solidFill>
                <a:latin typeface="Tahoma" pitchFamily="34" charset="0"/>
                <a:ea typeface="Tahoma" pitchFamily="34" charset="-122"/>
                <a:cs typeface="Tahoma" pitchFamily="34" charset="-120"/>
              </a:rPr>
              <a:t>٣  </a:t>
            </a:r>
            <a:r>
              <a:rPr lang="ar-SA" altLang="en-US" sz="1650" b="1" dirty="0">
                <a:solidFill>
                  <a:srgbClr val="1E7FB8"/>
                </a:solidFill>
                <a:latin typeface="Tahoma" pitchFamily="34" charset="0"/>
                <a:ea typeface="Tahoma" pitchFamily="34" charset="-122"/>
                <a:cs typeface="Tahoma" pitchFamily="34" charset="-120"/>
              </a:rPr>
              <a:t>أنا: </a:t>
            </a:r>
            <a:r>
              <a:rPr lang="ar-SA" altLang="en-US" sz="1650" dirty="0">
                <a:solidFill>
                  <a:srgbClr val="34405E"/>
                </a:solidFill>
                <a:latin typeface="Tahoma" pitchFamily="34" charset="0"/>
                <a:ea typeface="Tahoma" pitchFamily="34" charset="-122"/>
                <a:cs typeface="Tahoma" pitchFamily="34" charset="-120"/>
              </a:rPr>
              <a:t>طائرٌ أصطاد الأسماك من سطح البحر، لكنني فريسة للحوت القاتل.</a:t>
            </a:r>
            <a:endParaRPr lang="ar-SA" sz="1650" dirty="0"/>
          </a:p>
        </p:txBody>
      </p:sp>
      <p:sp>
        <p:nvSpPr>
          <p:cNvPr id="11" name="s30_w2"/>
          <p:cNvSpPr txBox="1"/>
          <p:nvPr/>
        </p:nvSpPr>
        <p:spPr>
          <a:xfrm>
            <a:off x="2057400" y="3666744"/>
            <a:ext cx="1965960" cy="758952"/>
          </a:xfrm>
          <a:prstGeom prst="roundRect">
            <a:avLst>
              <a:gd name="adj" fmla="val 49398"/>
            </a:avLst>
          </a:prstGeom>
          <a:solidFill>
            <a:srgbClr val="FFD34D"/>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من أنا؟</a:t>
            </a:r>
            <a:endParaRPr lang="ar-SA" sz="1700" dirty="0"/>
          </a:p>
        </p:txBody>
      </p:sp>
      <p:sp>
        <p:nvSpPr>
          <p:cNvPr id="12" name="s30_8@t=s30_w2%chime"/>
          <p:cNvSpPr txBox="1"/>
          <p:nvPr/>
        </p:nvSpPr>
        <p:spPr>
          <a:xfrm>
            <a:off x="2057400" y="3666744"/>
            <a:ext cx="1965960" cy="758952"/>
          </a:xfrm>
          <a:prstGeom prst="roundRect">
            <a:avLst>
              <a:gd name="adj" fmla="val 49398"/>
            </a:avLst>
          </a:prstGeom>
          <a:solidFill>
            <a:srgbClr val="2F8A3A"/>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FFFFFF"/>
                </a:solidFill>
                <a:latin typeface="Tahoma" pitchFamily="34" charset="0"/>
                <a:ea typeface="Tahoma" pitchFamily="34" charset="-122"/>
                <a:cs typeface="Tahoma" pitchFamily="34" charset="-120"/>
              </a:rPr>
              <a:t>طائر النورس 🕊️</a:t>
            </a:r>
            <a:endParaRPr lang="ar-SA" sz="1500" dirty="0"/>
          </a:p>
        </p:txBody>
      </p:sp>
      <p:sp>
        <p:nvSpPr>
          <p:cNvPr id="13" name="s30_9"/>
          <p:cNvSpPr txBox="1"/>
          <p:nvPr/>
        </p:nvSpPr>
        <p:spPr>
          <a:xfrm>
            <a:off x="4160520" y="4745736"/>
            <a:ext cx="7589520" cy="1033272"/>
          </a:xfrm>
          <a:prstGeom prst="roundRect">
            <a:avLst>
              <a:gd name="adj" fmla="val 12389"/>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C2366F"/>
                </a:solidFill>
                <a:latin typeface="Tahoma" pitchFamily="34" charset="0"/>
                <a:ea typeface="Tahoma" pitchFamily="34" charset="-122"/>
                <a:cs typeface="Tahoma" pitchFamily="34" charset="-120"/>
              </a:rPr>
              <a:t>٤  </a:t>
            </a:r>
            <a:r>
              <a:rPr lang="ar-SA" altLang="en-US" sz="1650" b="1" dirty="0">
                <a:solidFill>
                  <a:srgbClr val="1E7FB8"/>
                </a:solidFill>
                <a:latin typeface="Tahoma" pitchFamily="34" charset="0"/>
                <a:ea typeface="Tahoma" pitchFamily="34" charset="-122"/>
                <a:cs typeface="Tahoma" pitchFamily="34" charset="-120"/>
              </a:rPr>
              <a:t>أنا: </a:t>
            </a:r>
            <a:r>
              <a:rPr lang="ar-SA" altLang="en-US" sz="1650" dirty="0">
                <a:solidFill>
                  <a:srgbClr val="34405E"/>
                </a:solidFill>
                <a:latin typeface="Tahoma" pitchFamily="34" charset="0"/>
                <a:ea typeface="Tahoma" pitchFamily="34" charset="-122"/>
                <a:cs typeface="Tahoma" pitchFamily="34" charset="-120"/>
              </a:rPr>
              <a:t>أنا في قمة الشبكة؛ لا يفترسني أحد فيها، ولي أكبر عدد من الفرائس.</a:t>
            </a:r>
            <a:endParaRPr lang="ar-SA" sz="1650" dirty="0"/>
          </a:p>
        </p:txBody>
      </p:sp>
      <p:sp>
        <p:nvSpPr>
          <p:cNvPr id="14" name="s30_w3"/>
          <p:cNvSpPr txBox="1"/>
          <p:nvPr/>
        </p:nvSpPr>
        <p:spPr>
          <a:xfrm>
            <a:off x="2057400" y="4882896"/>
            <a:ext cx="1965960" cy="758952"/>
          </a:xfrm>
          <a:prstGeom prst="roundRect">
            <a:avLst>
              <a:gd name="adj" fmla="val 49398"/>
            </a:avLst>
          </a:prstGeom>
          <a:solidFill>
            <a:srgbClr val="FFD34D"/>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من أنا؟</a:t>
            </a:r>
            <a:endParaRPr lang="ar-SA" sz="1700" dirty="0"/>
          </a:p>
        </p:txBody>
      </p:sp>
      <p:sp>
        <p:nvSpPr>
          <p:cNvPr id="15" name="s30_10@t=s30_w3%chime"/>
          <p:cNvSpPr txBox="1"/>
          <p:nvPr/>
        </p:nvSpPr>
        <p:spPr>
          <a:xfrm>
            <a:off x="2057400" y="4882896"/>
            <a:ext cx="1965960" cy="758952"/>
          </a:xfrm>
          <a:prstGeom prst="roundRect">
            <a:avLst>
              <a:gd name="adj" fmla="val 49398"/>
            </a:avLst>
          </a:prstGeom>
          <a:solidFill>
            <a:srgbClr val="2F8A3A"/>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FFFFFF"/>
                </a:solidFill>
                <a:latin typeface="Tahoma" pitchFamily="34" charset="0"/>
                <a:ea typeface="Tahoma" pitchFamily="34" charset="-122"/>
                <a:cs typeface="Tahoma" pitchFamily="34" charset="-120"/>
              </a:rPr>
              <a:t>الحوت القاتل 🐋</a:t>
            </a:r>
            <a:endParaRPr lang="ar-SA" sz="1500" dirty="0"/>
          </a:p>
        </p:txBody>
      </p:sp>
      <p:pic>
        <p:nvPicPr>
          <p:cNvPr id="16" name="s30_11" descr="المستكشفة ببدلة الغوص">    </p:cNvPr>
          <p:cNvPicPr>
            <a:picLocks noChangeAspect="1"/>
          </p:cNvPicPr>
          <p:nvPr/>
        </p:nvPicPr>
        <p:blipFill>
          <a:blip r:embed="rId3"/>
          <a:stretch>
            <a:fillRect/>
          </a:stretch>
        </p:blipFill>
        <p:spPr>
          <a:xfrm>
            <a:off x="182880" y="3520440"/>
            <a:ext cx="1666091" cy="2697480"/>
          </a:xfrm>
          <a:prstGeom prst="rect">
            <a:avLst/>
          </a:prstGeom>
        </p:spPr>
      </p:pic>
      <p:sp>
        <p:nvSpPr>
          <p:cNvPr id="17" name="s30_12"/>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8" name="s30_13"/>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٤: المحيط • صفحة ١١٤</a:t>
            </a:r>
            <a:endParaRPr lang="ar-SA" sz="13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audio>
                                      <p:cMediaNode vol="80000" showWhenStopped="0">
                                        <p:cTn id="8" display="0" masterRel="sameClick">
                                          <p:stCondLst>
                                            <p:cond evt="onBegin" delay="0">
                                              <p:tn val="5"/>
                                            </p:cond>
                                          </p:stCondLst>
                                        </p:cTn>
                                        <p:tgtEl>
                                          <p:sndTgt r:embed="rId6" name="chime.wav"/>
                                        </p:tgtEl>
                                      </p:cMediaNode>
                                    </p:audio>
                                  </p:subTnLst>
                                </p:cTn>
                              </p:par>
                            </p:childTnLst>
                          </p:cTn>
                        </p:par>
                      </p:childTnLst>
                    </p:cTn>
                  </p:par>
                </p:childTnLst>
              </p:cTn>
              <p:nextCondLst>
                <p:cond evt="onNext" delay="0">
                  <p:tgtEl>
                    <p:spTgt spid="5"/>
                  </p:tgtEl>
                </p:cond>
              </p:nextCondLst>
            </p:seq>
            <p:seq concurrent="1" nextAc="seek">
              <p:cTn id="9" restart="whenNotActive" fill="hold" evtFilter="cancelBubble" nodeType="interactiveSeq">
                <p:stCondLst>
                  <p:cond evt="onClick" delay="0">
                    <p:tgtEl>
                      <p:spTgt spid="8"/>
                    </p:tgtEl>
                  </p:cond>
                </p:stCondLst>
                <p:endSync evt="end" delay="0">
                  <p:rtn val="all"/>
                </p:endSync>
                <p:childTnLst>
                  <p:par>
                    <p:cTn id="10" fill="hold">
                      <p:stCondLst>
                        <p:cond delay="0"/>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subTnLst>
                                    <p:audio>
                                      <p:cMediaNode vol="80000" showWhenStopped="0">
                                        <p:cTn id="15" display="0" masterRel="sameClick">
                                          <p:stCondLst>
                                            <p:cond evt="onBegin" delay="0">
                                              <p:tn val="12"/>
                                            </p:cond>
                                          </p:stCondLst>
                                        </p:cTn>
                                        <p:tgtEl>
                                          <p:sndTgt r:embed="rId6" name="chime.wav"/>
                                        </p:tgtEl>
                                      </p:cMediaNode>
                                    </p:audio>
                                  </p:subTnLst>
                                </p:cTn>
                              </p:par>
                            </p:childTnLst>
                          </p:cTn>
                        </p:par>
                      </p:childTnLst>
                    </p:cTn>
                  </p:par>
                </p:childTnLst>
              </p:cTn>
              <p:nextCondLst>
                <p:cond evt="onNext" delay="0">
                  <p:tgtEl>
                    <p:spTgt spid="8"/>
                  </p:tgtEl>
                </p:cond>
              </p:nextCondLst>
            </p:seq>
            <p:seq concurrent="1" nextAc="seek">
              <p:cTn id="16" restart="whenNotActive" fill="hold" evtFilter="cancelBubble" nodeType="interactiveSeq">
                <p:stCondLst>
                  <p:cond evt="onClick" delay="0">
                    <p:tgtEl>
                      <p:spTgt spid="11"/>
                    </p:tgtEl>
                  </p:cond>
                </p:stCondLst>
                <p:endSync evt="end" delay="0">
                  <p:rtn val="all"/>
                </p:endSync>
                <p:childTnLst>
                  <p:par>
                    <p:cTn id="17" fill="hold">
                      <p:stCondLst>
                        <p:cond delay="0"/>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subTnLst>
                                    <p:audio>
                                      <p:cMediaNode vol="80000" showWhenStopped="0">
                                        <p:cTn id="22" display="0" masterRel="sameClick">
                                          <p:stCondLst>
                                            <p:cond evt="onBegin" delay="0">
                                              <p:tn val="19"/>
                                            </p:cond>
                                          </p:stCondLst>
                                        </p:cTn>
                                        <p:tgtEl>
                                          <p:sndTgt r:embed="rId6" name="chime.wav"/>
                                        </p:tgtEl>
                                      </p:cMediaNode>
                                    </p:audio>
                                  </p:subTnLst>
                                </p:cTn>
                              </p:par>
                            </p:childTnLst>
                          </p:cTn>
                        </p:par>
                      </p:childTnLst>
                    </p:cTn>
                  </p:par>
                </p:childTnLst>
              </p:cTn>
              <p:nextCondLst>
                <p:cond evt="onNext" delay="0">
                  <p:tgtEl>
                    <p:spTgt spid="11"/>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subTnLst>
                                    <p:audio>
                                      <p:cMediaNode vol="80000" showWhenStopped="0">
                                        <p:cTn id="29" display="0" masterRel="sameClick">
                                          <p:stCondLst>
                                            <p:cond evt="onBegin" delay="0">
                                              <p:tn val="26"/>
                                            </p:cond>
                                          </p:stCondLst>
                                        </p:cTn>
                                        <p:tgtEl>
                                          <p:sndTgt r:embed="rId6" name="chime.wav"/>
                                        </p:tgtEl>
                                      </p:cMediaNode>
                                    </p:audio>
                                  </p:subTnLst>
                                </p:cTn>
                              </p:par>
                            </p:childTnLst>
                          </p:cTn>
                        </p:par>
                      </p:childTnLst>
                    </p:cTn>
                  </p:par>
                </p:childTnLst>
              </p:cTn>
              <p:nextCondLst>
                <p:cond evt="onNext" delay="0">
                  <p:tgtEl>
                    <p:spTgt spid="14"/>
                  </p:tgtEl>
                </p:cond>
              </p:nextCondLst>
            </p:seq>
          </p:childTnLst>
        </p:cTn>
      </p:par>
    </p:tnLst>
    <p:bldLst>
      <p:bldP spid="6" grpId="0" animBg="1"/>
      <p:bldP spid="9" grpId="0" animBg="1"/>
      <p:bldP spid="12"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1_1" descr="عنوان الشريحة">    </p:cNvPr>
          <p:cNvPicPr>
            <a:picLocks noChangeAspect="1"/>
          </p:cNvPicPr>
          <p:nvPr/>
        </p:nvPicPr>
        <p:blipFill>
          <a:blip r:embed="rId2"/>
          <a:stretch>
            <a:fillRect/>
          </a:stretch>
        </p:blipFill>
        <p:spPr>
          <a:xfrm>
            <a:off x="7706638" y="182880"/>
            <a:ext cx="4119297" cy="731520"/>
          </a:xfrm>
          <a:prstGeom prst="rect">
            <a:avLst/>
          </a:prstGeom>
        </p:spPr>
      </p:pic>
      <p:sp>
        <p:nvSpPr>
          <p:cNvPr id="3" name="s31_2"/>
          <p:cNvSpPr txBox="1"/>
          <p:nvPr/>
        </p:nvSpPr>
        <p:spPr>
          <a:xfrm>
            <a:off x="365760" y="292608"/>
            <a:ext cx="47091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السبورة المنظمة – المقارنة</a:t>
            </a:r>
            <a:endParaRPr lang="en-US" sz="1600" dirty="0"/>
          </a:p>
        </p:txBody>
      </p:sp>
      <p:pic>
        <p:nvPicPr>
          <p:cNvPr id="4" name="s31_3" descr="قطار الرحلة">    </p:cNvPr>
          <p:cNvPicPr>
            <a:picLocks noChangeAspect="1"/>
          </p:cNvPicPr>
          <p:nvPr/>
        </p:nvPicPr>
        <p:blipFill>
          <a:blip r:embed="rId3"/>
          <a:stretch>
            <a:fillRect/>
          </a:stretch>
        </p:blipFill>
        <p:spPr>
          <a:xfrm>
            <a:off x="3108960" y="2743200"/>
            <a:ext cx="5943600" cy="1367028"/>
          </a:xfrm>
          <a:prstGeom prst="rect">
            <a:avLst/>
          </a:prstGeom>
        </p:spPr>
      </p:pic>
      <p:sp>
        <p:nvSpPr>
          <p:cNvPr id="5" name="s31_4"/>
          <p:cNvSpPr txBox="1"/>
          <p:nvPr/>
        </p:nvSpPr>
        <p:spPr>
          <a:xfrm>
            <a:off x="3566160" y="1417320"/>
            <a:ext cx="5029200" cy="914400"/>
          </a:xfrm>
          <a:prstGeom prst="roundRect">
            <a:avLst>
              <a:gd name="adj" fmla="val 30000"/>
            </a:avLst>
          </a:prstGeom>
          <a:solidFill>
            <a:srgbClr val="FFC48C"/>
          </a:solidFill>
          <a:ln w="38100">
            <a:solidFill>
              <a:srgbClr val="34405E"/>
            </a:solidFill>
          </a:ln>
        </p:spPr>
        <p:txBody>
          <a:bodyPr wrap="square" lIns="101600" tIns="101600" rIns="101600" bIns="101600" rtlCol="0" anchor="ctr"/>
          <a:lstStyle/>
          <a:p>
            <a:pPr rtl="1" algn="ctr" indent="0" marL="0">
              <a:buNone/>
            </a:pPr>
            <a:r>
              <a:rPr lang="ar-SA" altLang="en-US" sz="2600" b="1" dirty="0">
                <a:solidFill>
                  <a:srgbClr val="34405E"/>
                </a:solidFill>
                <a:latin typeface="Tahoma" pitchFamily="34" charset="0"/>
                <a:ea typeface="Tahoma" pitchFamily="34" charset="-122"/>
                <a:cs typeface="Tahoma" pitchFamily="34" charset="-120"/>
              </a:rPr>
              <a:t>🏆 وصلنا إلى محطة كنز المعرفة!</a:t>
            </a:r>
            <a:endParaRPr lang="ar-SA" sz="2600" dirty="0"/>
          </a:p>
        </p:txBody>
      </p:sp>
      <p:sp>
        <p:nvSpPr>
          <p:cNvPr id="6" name="s31_5@a4"/>
          <p:cNvSpPr txBox="1"/>
          <p:nvPr/>
        </p:nvSpPr>
        <p:spPr>
          <a:xfrm>
            <a:off x="548640" y="1051560"/>
            <a:ext cx="11201400" cy="5074920"/>
          </a:xfrm>
          <a:prstGeom prst="roundRect">
            <a:avLst>
              <a:gd name="adj" fmla="val 2523"/>
            </a:avLst>
          </a:prstGeom>
          <a:solidFill>
            <a:srgbClr val="FFFFFF"/>
          </a:solidFill>
          <a:ln w="38100">
            <a:solidFill>
              <a:srgbClr val="9AA5B8"/>
            </a:solidFill>
          </a:ln>
        </p:spPr>
        <p:txBody>
          <a:bodyPr wrap="square" lIns="101600" tIns="101600" rIns="101600" bIns="101600" rtlCol="0" anchor="ctr"/>
          <a:lstStyle/>
          <a:p>
            <a:pPr rtl="1" algn="r" indent="0" marL="0">
              <a:buNone/>
            </a:pPr>
            <a:endParaRPr lang="ar-SA" sz="1800" dirty="0"/>
          </a:p>
        </p:txBody>
      </p:sp>
      <p:sp>
        <p:nvSpPr>
          <p:cNvPr id="7" name="s31_6@a4"/>
          <p:cNvSpPr/>
          <p:nvPr/>
        </p:nvSpPr>
        <p:spPr>
          <a:xfrm>
            <a:off x="5029200" y="1417320"/>
            <a:ext cx="6309360" cy="4069080"/>
          </a:xfrm>
          <a:prstGeom prst="ellipse">
            <a:avLst/>
          </a:prstGeom>
          <a:solidFill>
            <a:srgbClr val="FFE8A3">
              <a:alpha val="65000"/>
            </a:srgbClr>
          </a:solidFill>
          <a:ln w="31750">
            <a:solidFill>
              <a:srgbClr val="A87400"/>
            </a:solidFill>
            <a:prstDash val="solid"/>
          </a:ln>
        </p:spPr>
      </p:sp>
      <p:sp>
        <p:nvSpPr>
          <p:cNvPr id="8" name="s31_7@a4"/>
          <p:cNvSpPr/>
          <p:nvPr/>
        </p:nvSpPr>
        <p:spPr>
          <a:xfrm>
            <a:off x="868680" y="1417320"/>
            <a:ext cx="6309360" cy="4069080"/>
          </a:xfrm>
          <a:prstGeom prst="ellipse">
            <a:avLst/>
          </a:prstGeom>
          <a:solidFill>
            <a:srgbClr val="BDE6FA">
              <a:alpha val="65000"/>
            </a:srgbClr>
          </a:solidFill>
          <a:ln w="31750">
            <a:solidFill>
              <a:srgbClr val="0E6F86"/>
            </a:solidFill>
            <a:prstDash val="solid"/>
          </a:ln>
        </p:spPr>
      </p:sp>
      <p:sp>
        <p:nvSpPr>
          <p:cNvPr id="9" name="s31_8@a4"/>
          <p:cNvSpPr txBox="1"/>
          <p:nvPr/>
        </p:nvSpPr>
        <p:spPr>
          <a:xfrm>
            <a:off x="7726680" y="1783080"/>
            <a:ext cx="2926080" cy="457200"/>
          </a:xfrm>
          <a:prstGeom prst="rect">
            <a:avLst/>
          </a:prstGeom>
          <a:noFill/>
          <a:ln/>
        </p:spPr>
        <p:txBody>
          <a:bodyPr wrap="square" lIns="63500" tIns="63500" rIns="63500" bIns="63500" rtlCol="0" anchor="ctr"/>
          <a:lstStyle/>
          <a:p>
            <a:pPr rtl="1" algn="ctr" indent="0" marL="0">
              <a:buNone/>
            </a:pPr>
            <a:r>
              <a:rPr lang="ar-SA" altLang="en-US" sz="1900" b="1" dirty="0">
                <a:solidFill>
                  <a:srgbClr val="A87400"/>
                </a:solidFill>
                <a:latin typeface="Tahoma" pitchFamily="34" charset="0"/>
                <a:ea typeface="Tahoma" pitchFamily="34" charset="-122"/>
                <a:cs typeface="Tahoma" pitchFamily="34" charset="-120"/>
              </a:rPr>
              <a:t>السلسلة الغذائية</a:t>
            </a:r>
            <a:endParaRPr lang="ar-SA" sz="1900" dirty="0"/>
          </a:p>
        </p:txBody>
      </p:sp>
      <p:sp>
        <p:nvSpPr>
          <p:cNvPr id="10" name="s31_9@a4"/>
          <p:cNvSpPr txBox="1"/>
          <p:nvPr/>
        </p:nvSpPr>
        <p:spPr>
          <a:xfrm>
            <a:off x="1554480" y="1783080"/>
            <a:ext cx="2926080" cy="457200"/>
          </a:xfrm>
          <a:prstGeom prst="rect">
            <a:avLst/>
          </a:prstGeom>
          <a:noFill/>
          <a:ln/>
        </p:spPr>
        <p:txBody>
          <a:bodyPr wrap="square" lIns="63500" tIns="63500" rIns="63500" bIns="63500" rtlCol="0" anchor="ctr"/>
          <a:lstStyle/>
          <a:p>
            <a:pPr rtl="1" algn="ctr" indent="0" marL="0">
              <a:buNone/>
            </a:pPr>
            <a:r>
              <a:rPr lang="ar-SA" altLang="en-US" sz="1900" b="1" dirty="0">
                <a:solidFill>
                  <a:srgbClr val="0E6F86"/>
                </a:solidFill>
                <a:latin typeface="Tahoma" pitchFamily="34" charset="0"/>
                <a:ea typeface="Tahoma" pitchFamily="34" charset="-122"/>
                <a:cs typeface="Tahoma" pitchFamily="34" charset="-120"/>
              </a:rPr>
              <a:t>الشبكة الغذائية</a:t>
            </a:r>
            <a:endParaRPr lang="ar-SA" sz="1900" dirty="0"/>
          </a:p>
        </p:txBody>
      </p:sp>
      <p:sp>
        <p:nvSpPr>
          <p:cNvPr id="11" name="s31_10@a4"/>
          <p:cNvSpPr txBox="1"/>
          <p:nvPr/>
        </p:nvSpPr>
        <p:spPr>
          <a:xfrm>
            <a:off x="5166360" y="2057400"/>
            <a:ext cx="1828800" cy="457200"/>
          </a:xfrm>
          <a:prstGeom prst="rect">
            <a:avLst/>
          </a:prstGeom>
          <a:noFill/>
          <a:ln/>
        </p:spPr>
        <p:txBody>
          <a:bodyPr wrap="square" lIns="63500" tIns="63500" rIns="63500" bIns="63500" rtlCol="0" anchor="ctr"/>
          <a:lstStyle/>
          <a:p>
            <a:pPr rtl="1" algn="ctr" indent="0" marL="0">
              <a:buNone/>
            </a:pPr>
            <a:r>
              <a:rPr lang="ar-SA" altLang="en-US" sz="1700" b="1" dirty="0">
                <a:solidFill>
                  <a:srgbClr val="C2366F"/>
                </a:solidFill>
                <a:latin typeface="Tahoma" pitchFamily="34" charset="0"/>
                <a:ea typeface="Tahoma" pitchFamily="34" charset="-122"/>
                <a:cs typeface="Tahoma" pitchFamily="34" charset="-120"/>
              </a:rPr>
              <a:t>مشتركة</a:t>
            </a:r>
            <a:endParaRPr lang="ar-SA" sz="1700" dirty="0"/>
          </a:p>
        </p:txBody>
      </p:sp>
      <p:sp>
        <p:nvSpPr>
          <p:cNvPr id="12" name="s31_11@c1%pop"/>
          <p:cNvSpPr txBox="1"/>
          <p:nvPr/>
        </p:nvSpPr>
        <p:spPr>
          <a:xfrm>
            <a:off x="7315200" y="2331720"/>
            <a:ext cx="3566160" cy="2377440"/>
          </a:xfrm>
          <a:prstGeom prst="rect">
            <a:avLst/>
          </a:prstGeom>
          <a:noFill/>
          <a:ln/>
        </p:spPr>
        <p:txBody>
          <a:bodyPr wrap="square" lIns="63500" tIns="63500" rIns="63500" bIns="63500" rtlCol="0" anchor="ctr"/>
          <a:lstStyle/>
          <a:p>
            <a:pPr rtl="1" algn="r" indent="0" marL="0">
              <a:buNone/>
            </a:pPr>
            <a:r>
              <a:rPr lang="ar-SA" altLang="en-US" sz="1500" dirty="0">
                <a:solidFill>
                  <a:srgbClr val="34405E"/>
                </a:solidFill>
                <a:latin typeface="Tahoma" pitchFamily="34" charset="0"/>
                <a:ea typeface="Tahoma" pitchFamily="34" charset="-122"/>
                <a:cs typeface="Tahoma" pitchFamily="34" charset="-120"/>
              </a:rPr>
              <a:t>• مسار واحد لانتقال الطاقة.</a:t>
            </a:r>
            <a:endParaRPr lang="ar-SA" sz="1500" dirty="0"/>
          </a:p>
          <a:p>
            <a:pPr rtl="1" algn="r" indent="0" marL="0">
              <a:buNone/>
            </a:pPr>
            <a:r>
              <a:rPr lang="ar-SA" altLang="en-US" sz="1500" dirty="0">
                <a:solidFill>
                  <a:srgbClr val="34405E"/>
                </a:solidFill>
                <a:latin typeface="Tahoma" pitchFamily="34" charset="0"/>
                <a:ea typeface="Tahoma" pitchFamily="34" charset="-122"/>
                <a:cs typeface="Tahoma" pitchFamily="34" charset="-120"/>
              </a:rPr>
              <a:t>• كل مخلوق يأكل نوعًا واحدًا فيها.</a:t>
            </a:r>
            <a:endParaRPr lang="ar-SA" sz="1500" dirty="0"/>
          </a:p>
          <a:p>
            <a:pPr rtl="1" algn="r" indent="0" marL="0">
              <a:buNone/>
            </a:pPr>
            <a:r>
              <a:rPr lang="ar-SA" altLang="en-US" sz="1500" dirty="0">
                <a:solidFill>
                  <a:srgbClr val="34405E"/>
                </a:solidFill>
                <a:latin typeface="Tahoma" pitchFamily="34" charset="0"/>
                <a:ea typeface="Tahoma" pitchFamily="34" charset="-122"/>
                <a:cs typeface="Tahoma" pitchFamily="34" charset="-120"/>
              </a:rPr>
              <a:t>• مثال: نبات الشوك ← اليرقة ← … ← البومة</a:t>
            </a:r>
            <a:endParaRPr lang="ar-SA" sz="1500" dirty="0"/>
          </a:p>
        </p:txBody>
      </p:sp>
      <p:sp>
        <p:nvSpPr>
          <p:cNvPr id="13" name="s31_12@c2%pop"/>
          <p:cNvSpPr txBox="1"/>
          <p:nvPr/>
        </p:nvSpPr>
        <p:spPr>
          <a:xfrm>
            <a:off x="1280160" y="2331720"/>
            <a:ext cx="3611880" cy="2377440"/>
          </a:xfrm>
          <a:prstGeom prst="rect">
            <a:avLst/>
          </a:prstGeom>
          <a:noFill/>
          <a:ln/>
        </p:spPr>
        <p:txBody>
          <a:bodyPr wrap="square" lIns="63500" tIns="63500" rIns="63500" bIns="63500" rtlCol="0" anchor="ctr"/>
          <a:lstStyle/>
          <a:p>
            <a:pPr rtl="1" algn="r" indent="0" marL="0">
              <a:buNone/>
            </a:pPr>
            <a:r>
              <a:rPr lang="ar-SA" altLang="en-US" sz="1500" dirty="0">
                <a:solidFill>
                  <a:srgbClr val="34405E"/>
                </a:solidFill>
                <a:latin typeface="Tahoma" pitchFamily="34" charset="0"/>
                <a:ea typeface="Tahoma" pitchFamily="34" charset="-122"/>
                <a:cs typeface="Tahoma" pitchFamily="34" charset="-120"/>
              </a:rPr>
              <a:t>• سلاسل غذائية متداخلة.</a:t>
            </a:r>
            <a:endParaRPr lang="ar-SA" sz="1500" dirty="0"/>
          </a:p>
          <a:p>
            <a:pPr rtl="1" algn="r" indent="0" marL="0">
              <a:buNone/>
            </a:pPr>
            <a:r>
              <a:rPr lang="ar-SA" altLang="en-US" sz="1500" dirty="0">
                <a:solidFill>
                  <a:srgbClr val="34405E"/>
                </a:solidFill>
                <a:latin typeface="Tahoma" pitchFamily="34" charset="0"/>
                <a:ea typeface="Tahoma" pitchFamily="34" charset="-122"/>
                <a:cs typeface="Tahoma" pitchFamily="34" charset="-120"/>
              </a:rPr>
              <a:t>• مسارات متعددة لانتقال الطاقة.</a:t>
            </a:r>
            <a:endParaRPr lang="ar-SA" sz="1500" dirty="0"/>
          </a:p>
          <a:p>
            <a:pPr rtl="1" algn="r" indent="0" marL="0">
              <a:buNone/>
            </a:pPr>
            <a:r>
              <a:rPr lang="ar-SA" altLang="en-US" sz="1500" dirty="0">
                <a:solidFill>
                  <a:srgbClr val="34405E"/>
                </a:solidFill>
                <a:latin typeface="Tahoma" pitchFamily="34" charset="0"/>
                <a:ea typeface="Tahoma" pitchFamily="34" charset="-122"/>
                <a:cs typeface="Tahoma" pitchFamily="34" charset="-120"/>
              </a:rPr>
              <a:t>• توضّح علاقة المفترس والفريسة.</a:t>
            </a:r>
            <a:endParaRPr lang="ar-SA" sz="1500" dirty="0"/>
          </a:p>
          <a:p>
            <a:pPr rtl="1" algn="r" indent="0" marL="0">
              <a:buNone/>
            </a:pPr>
            <a:r>
              <a:rPr lang="ar-SA" altLang="en-US" sz="1500" dirty="0">
                <a:solidFill>
                  <a:srgbClr val="34405E"/>
                </a:solidFill>
                <a:latin typeface="Tahoma" pitchFamily="34" charset="0"/>
                <a:ea typeface="Tahoma" pitchFamily="34" charset="-122"/>
                <a:cs typeface="Tahoma" pitchFamily="34" charset="-120"/>
              </a:rPr>
              <a:t>• مثال: شبكة المحيط</a:t>
            </a:r>
            <a:endParaRPr lang="ar-SA" sz="1500" dirty="0"/>
          </a:p>
        </p:txBody>
      </p:sp>
      <p:sp>
        <p:nvSpPr>
          <p:cNvPr id="14" name="s31_13@c3%pop"/>
          <p:cNvSpPr txBox="1"/>
          <p:nvPr/>
        </p:nvSpPr>
        <p:spPr>
          <a:xfrm>
            <a:off x="5074920" y="2606040"/>
            <a:ext cx="2011680" cy="2194560"/>
          </a:xfrm>
          <a:prstGeom prst="rect">
            <a:avLst/>
          </a:prstGeom>
          <a:noFill/>
          <a:ln/>
        </p:spPr>
        <p:txBody>
          <a:bodyPr wrap="square" lIns="63500" tIns="63500" rIns="63500" bIns="63500" rtlCol="0" anchor="ctr"/>
          <a:lstStyle/>
          <a:p>
            <a:pPr rtl="1" algn="ctr" indent="0" marL="0">
              <a:buNone/>
            </a:pPr>
            <a:r>
              <a:rPr lang="ar-SA" altLang="en-US" sz="1400" b="1" dirty="0">
                <a:solidFill>
                  <a:srgbClr val="34405E"/>
                </a:solidFill>
                <a:latin typeface="Tahoma" pitchFamily="34" charset="0"/>
                <a:ea typeface="Tahoma" pitchFamily="34" charset="-122"/>
                <a:cs typeface="Tahoma" pitchFamily="34" charset="-120"/>
              </a:rPr>
              <a:t>• تبدأ بالشمس والمنتِجات.</a:t>
            </a:r>
            <a:endParaRPr lang="ar-SA" sz="1400" dirty="0"/>
          </a:p>
          <a:p>
            <a:pPr rtl="1" algn="ctr" indent="0" marL="0">
              <a:buNone/>
            </a:pPr>
            <a:r>
              <a:rPr lang="ar-SA" altLang="en-US" sz="1400" b="1" dirty="0">
                <a:solidFill>
                  <a:srgbClr val="34405E"/>
                </a:solidFill>
                <a:latin typeface="Tahoma" pitchFamily="34" charset="0"/>
                <a:ea typeface="Tahoma" pitchFamily="34" charset="-122"/>
                <a:cs typeface="Tahoma" pitchFamily="34" charset="-120"/>
              </a:rPr>
              <a:t>• الأسهم تبيّن اتجاه انتقال الطاقة.</a:t>
            </a:r>
            <a:endParaRPr lang="ar-SA" sz="1400" dirty="0"/>
          </a:p>
        </p:txBody>
      </p:sp>
      <p:sp>
        <p:nvSpPr>
          <p:cNvPr id="15" name="s31_14@c4%chime"/>
          <p:cNvSpPr txBox="1"/>
          <p:nvPr/>
        </p:nvSpPr>
        <p:spPr>
          <a:xfrm>
            <a:off x="3840480" y="5486400"/>
            <a:ext cx="4526280" cy="548640"/>
          </a:xfrm>
          <a:prstGeom prst="rect">
            <a:avLst/>
          </a:prstGeom>
          <a:noFill/>
          <a:ln/>
        </p:spPr>
        <p:txBody>
          <a:bodyPr wrap="square" lIns="63500" tIns="63500" rIns="63500" bIns="63500" rtlCol="0" anchor="ctr"/>
          <a:lstStyle/>
          <a:p>
            <a:pPr rtl="1" algn="ctr" indent="0" marL="0">
              <a:buNone/>
            </a:pPr>
            <a:r>
              <a:rPr lang="ar-SA" altLang="en-US" sz="2200" dirty="0">
                <a:solidFill>
                  <a:srgbClr val="34405E"/>
                </a:solidFill>
                <a:latin typeface="Tahoma" pitchFamily="34" charset="0"/>
                <a:ea typeface="Tahoma" pitchFamily="34" charset="-122"/>
                <a:cs typeface="Tahoma" pitchFamily="34" charset="-120"/>
              </a:rPr>
              <a:t>☀️ ← 🌿 ← 🐛 ← 🦎 ← 🦉</a:t>
            </a:r>
            <a:endParaRPr lang="ar-SA" sz="2200" dirty="0"/>
          </a:p>
        </p:txBody>
      </p:sp>
      <p:sp>
        <p:nvSpPr>
          <p:cNvPr id="16" name="s31_15"/>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7" name="s31_16"/>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wheel/>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0" presetClass="path" presetSubtype="0" fill="hold" grpId="1" nodeType="withEffect">
                                  <p:stCondLst>
                                    <p:cond delay="0"/>
                                  </p:stCondLst>
                                  <p:childTnLst>
                                    <p:animMotion origin="layout" path="M 0.75 0 L 0 0 E" pathEditMode="relative" ptsTypes="">
                                      <p:cBhvr>
                                        <p:cTn id="8" dur="2200" fill="hold" accel="40000" decel="40000"/>
                                        <p:tgtEl>
                                          <p:spTgt spid="4"/>
                                        </p:tgtEl>
                                        <p:attrNameLst>
                                          <p:attrName>ppt_x</p:attrName>
                                          <p:attrName>ppt_y</p:attrName>
                                        </p:attrNameLst>
                                      </p:cBhvr>
                                      <p:rCtr x="0" y="0"/>
                                    </p:animMotion>
                                  </p:childTnLst>
                                  <p:subTnLst>
                                    <p:audio>
                                      <p:cMediaNode vol="80000" showWhenStopped="0">
                                        <p:cTn id="9" display="0" masterRel="sameClick">
                                          <p:stCondLst>
                                            <p:cond evt="onBegin" delay="0">
                                              <p:tn val="7"/>
                                            </p:cond>
                                          </p:stCondLst>
                                        </p:cTn>
                                        <p:tgtEl>
                                          <p:sndTgt r:embed="rId6" name="train.wav"/>
                                        </p:tgtEl>
                                      </p:cMediaNode>
                                    </p:audio>
                                  </p:subTnLst>
                                </p:cTn>
                              </p:par>
                            </p:childTnLst>
                          </p:cTn>
                        </p:par>
                        <p:par>
                          <p:cTn id="10" fill="hold">
                            <p:stCondLst>
                              <p:cond delay="22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ppt_w</p:attrName>
                                        </p:attrNameLst>
                                      </p:cBhvr>
                                      <p:tavLst>
                                        <p:tav tm="0">
                                          <p:val>
                                            <p:strVal val="0"/>
                                          </p:val>
                                        </p:tav>
                                        <p:tav tm="100000">
                                          <p:val>
                                            <p:strVal val="#ppt_w"/>
                                          </p:val>
                                        </p:tav>
                                      </p:tavLst>
                                    </p:anim>
                                    <p:anim calcmode="lin" valueType="num">
                                      <p:cBhvr additive="base">
                                        <p:cTn id="14" dur="500" fill="hold"/>
                                        <p:tgtEl>
                                          <p:spTgt spid="5"/>
                                        </p:tgtEl>
                                        <p:attrNameLst>
                                          <p:attrName>ppt_h</p:attrName>
                                        </p:attrNameLst>
                                      </p:cBhvr>
                                      <p:tavLst>
                                        <p:tav tm="0">
                                          <p:val>
                                            <p:strVal val="0"/>
                                          </p:val>
                                        </p:tav>
                                        <p:tav tm="100000">
                                          <p:val>
                                            <p:strVal val="#ppt_h"/>
                                          </p:val>
                                        </p:tav>
                                      </p:tavLst>
                                    </p:anim>
                                    <p:animEffect transition="in" filter="fade">
                                      <p:cBhvr>
                                        <p:cTn id="15" dur="500"/>
                                        <p:tgtEl>
                                          <p:spTgt spid="5"/>
                                        </p:tgtEl>
                                      </p:cBhvr>
                                    </p:animEffect>
                                  </p:childTnLst>
                                  <p:subTnLst>
                                    <p:audio>
                                      <p:cMediaNode vol="80000" showWhenStopped="0">
                                        <p:cTn id="16" display="0" masterRel="sameClick">
                                          <p:stCondLst>
                                            <p:cond evt="onBegin" delay="0">
                                              <p:tn val="11"/>
                                            </p:cond>
                                          </p:stCondLst>
                                        </p:cTn>
                                        <p:tgtEl>
                                          <p:sndTgt r:embed="rId7" name="chime.wav"/>
                                        </p:tgtEl>
                                      </p:cMediaNode>
                                    </p:audio>
                                  </p:subTnLst>
                                </p:cTn>
                              </p:par>
                            </p:childTnLst>
                          </p:cTn>
                        </p:par>
                        <p:par>
                          <p:cTn id="17" fill="hold">
                            <p:stCondLst>
                              <p:cond delay="2700"/>
                            </p:stCondLst>
                            <p:childTnLst>
                              <p:par>
                                <p:cTn id="18" presetID="0" presetClass="path" presetSubtype="0" fill="hold" grpId="2" nodeType="afterEffect">
                                  <p:stCondLst>
                                    <p:cond delay="400"/>
                                  </p:stCondLst>
                                  <p:childTnLst>
                                    <p:animMotion origin="layout" path="M 0 0 L -0.8 0 E" pathEditMode="relative" ptsTypes="">
                                      <p:cBhvr>
                                        <p:cTn id="19" dur="1600" fill="hold"/>
                                        <p:tgtEl>
                                          <p:spTgt spid="4"/>
                                        </p:tgtEl>
                                        <p:attrNameLst>
                                          <p:attrName>ppt_x</p:attrName>
                                          <p:attrName>ppt_y</p:attrName>
                                        </p:attrNameLst>
                                      </p:cBhvr>
                                      <p:rCtr x="0" y="0"/>
                                    </p:animMotion>
                                  </p:childTnLst>
                                </p:cTn>
                              </p:par>
                              <p:par>
                                <p:cTn id="20" presetID="10" presetClass="exit" presetSubtype="0" fill="hold" grpId="1" nodeType="withEffect">
                                  <p:stCondLst>
                                    <p:cond delay="1300"/>
                                  </p:stCondLst>
                                  <p:childTnLst>
                                    <p:animEffect transition="out" filter="fade">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par>
                          <p:cTn id="23" fill="hold">
                            <p:stCondLst>
                              <p:cond delay="4700"/>
                            </p:stCondLst>
                            <p:childTnLst>
                              <p:par>
                                <p:cTn id="24" presetID="10"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subTnLst>
                                    <p:audio>
                                      <p:cMediaNode vol="80000" showWhenStopped="0">
                                        <p:cTn id="47" display="0" masterRel="sameClick">
                                          <p:stCondLst>
                                            <p:cond evt="onBegin" delay="0">
                                              <p:tn val="44"/>
                                            </p:cond>
                                          </p:stCondLst>
                                        </p:cTn>
                                        <p:tgtEl>
                                          <p:sndTgt r:embed="rId8" name="pop.wav"/>
                                        </p:tgtEl>
                                      </p:cMediaNode>
                                    </p:audio>
                                  </p:sub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subTnLst>
                                    <p:audio>
                                      <p:cMediaNode vol="80000" showWhenStopped="0">
                                        <p:cTn id="53" display="0" masterRel="sameClick">
                                          <p:stCondLst>
                                            <p:cond evt="onBegin" delay="0">
                                              <p:tn val="50"/>
                                            </p:cond>
                                          </p:stCondLst>
                                        </p:cTn>
                                        <p:tgtEl>
                                          <p:sndTgt r:embed="rId8" name="pop.wav"/>
                                        </p:tgtEl>
                                      </p:cMediaNode>
                                    </p:audio>
                                  </p:sub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subTnLst>
                                    <p:audio>
                                      <p:cMediaNode vol="80000" showWhenStopped="0">
                                        <p:cTn id="59" display="0" masterRel="sameClick">
                                          <p:stCondLst>
                                            <p:cond evt="onBegin" delay="0">
                                              <p:tn val="56"/>
                                            </p:cond>
                                          </p:stCondLst>
                                        </p:cTn>
                                        <p:tgtEl>
                                          <p:sndTgt r:embed="rId8" name="pop.wav"/>
                                        </p:tgtEl>
                                      </p:cMediaNode>
                                    </p:audio>
                                  </p:sub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subTnLst>
                                    <p:audio>
                                      <p:cMediaNode vol="80000" showWhenStopped="0">
                                        <p:cTn id="65" display="0" masterRel="sameClick">
                                          <p:stCondLst>
                                            <p:cond evt="onBegin" delay="0">
                                              <p:tn val="62"/>
                                            </p:cond>
                                          </p:stCondLst>
                                        </p:cTn>
                                        <p:tgtEl>
                                          <p:sndTgt r:embed="rId7"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2_1" descr="عنوان الشريحة">    </p:cNvPr>
          <p:cNvPicPr>
            <a:picLocks noChangeAspect="1"/>
          </p:cNvPicPr>
          <p:nvPr/>
        </p:nvPicPr>
        <p:blipFill>
          <a:blip r:embed="rId2"/>
          <a:stretch>
            <a:fillRect/>
          </a:stretch>
        </p:blipFill>
        <p:spPr>
          <a:xfrm>
            <a:off x="8462142" y="182880"/>
            <a:ext cx="3363793" cy="731520"/>
          </a:xfrm>
          <a:prstGeom prst="rect">
            <a:avLst/>
          </a:prstGeom>
        </p:spPr>
      </p:pic>
      <p:sp>
        <p:nvSpPr>
          <p:cNvPr id="3" name="s32_2"/>
          <p:cNvSpPr txBox="1"/>
          <p:nvPr/>
        </p:nvSpPr>
        <p:spPr>
          <a:xfrm>
            <a:off x="365760" y="292608"/>
            <a:ext cx="41376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مهارات التفكير العليا</a:t>
            </a:r>
            <a:endParaRPr lang="en-US" sz="1600" dirty="0"/>
          </a:p>
        </p:txBody>
      </p:sp>
      <p:sp>
        <p:nvSpPr>
          <p:cNvPr id="4" name="s32_3"/>
          <p:cNvSpPr txBox="1"/>
          <p:nvPr/>
        </p:nvSpPr>
        <p:spPr>
          <a:xfrm>
            <a:off x="10241280" y="1097280"/>
            <a:ext cx="1508760" cy="1508760"/>
          </a:xfrm>
          <a:prstGeom prst="roundRect">
            <a:avLst>
              <a:gd name="adj" fmla="val 8485"/>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أحلّل</a:t>
            </a:r>
            <a:endParaRPr lang="ar-SA" sz="1700" dirty="0"/>
          </a:p>
        </p:txBody>
      </p:sp>
      <p:sp>
        <p:nvSpPr>
          <p:cNvPr id="5" name="s32_4"/>
          <p:cNvSpPr txBox="1"/>
          <p:nvPr/>
        </p:nvSpPr>
        <p:spPr>
          <a:xfrm>
            <a:off x="5074920" y="1097280"/>
            <a:ext cx="502920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34405E"/>
                </a:solidFill>
                <a:latin typeface="Tahoma" pitchFamily="34" charset="0"/>
                <a:ea typeface="Tahoma" pitchFamily="34" charset="-122"/>
                <a:cs typeface="Tahoma" pitchFamily="34" charset="-120"/>
              </a:rPr>
              <a:t>لو اختفت سمكة السردين من شبكة المحيط، فأيّ المخلوقات تتأثر أولًا؟ ولماذا؟</a:t>
            </a:r>
            <a:endParaRPr lang="ar-SA" sz="1600" dirty="0"/>
          </a:p>
        </p:txBody>
      </p:sp>
      <p:sp>
        <p:nvSpPr>
          <p:cNvPr id="6" name="s32_5@c1%chime"/>
          <p:cNvSpPr txBox="1"/>
          <p:nvPr/>
        </p:nvSpPr>
        <p:spPr>
          <a:xfrm>
            <a:off x="548640" y="1097280"/>
            <a:ext cx="4389120" cy="1508760"/>
          </a:xfrm>
          <a:prstGeom prst="roundRect">
            <a:avLst>
              <a:gd name="adj" fmla="val 848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50" b="1" dirty="0">
                <a:solidFill>
                  <a:srgbClr val="2F8A3A"/>
                </a:solidFill>
                <a:latin typeface="Tahoma" pitchFamily="34" charset="0"/>
                <a:ea typeface="Tahoma" pitchFamily="34" charset="-122"/>
                <a:cs typeface="Tahoma" pitchFamily="34" charset="-120"/>
              </a:rPr>
              <a:t>✔ </a:t>
            </a:r>
            <a:r>
              <a:rPr lang="ar-SA" altLang="en-US" sz="1450" dirty="0">
                <a:solidFill>
                  <a:srgbClr val="34405E"/>
                </a:solidFill>
                <a:latin typeface="Tahoma" pitchFamily="34" charset="0"/>
                <a:ea typeface="Tahoma" pitchFamily="34" charset="-122"/>
                <a:cs typeface="Tahoma" pitchFamily="34" charset="-120"/>
              </a:rPr>
              <a:t>التونة والدلفين وطائر النورس؛ لأنها تتغذى عليها، ثم يتأثر الحوت القاتل. وقد تزداد العوالق لقلّة من يأكلها.</a:t>
            </a:r>
            <a:endParaRPr lang="ar-SA" sz="1450" dirty="0"/>
          </a:p>
        </p:txBody>
      </p:sp>
      <p:sp>
        <p:nvSpPr>
          <p:cNvPr id="7" name="s32_6"/>
          <p:cNvSpPr txBox="1"/>
          <p:nvPr/>
        </p:nvSpPr>
        <p:spPr>
          <a:xfrm>
            <a:off x="10241280" y="2788920"/>
            <a:ext cx="1508760" cy="1508760"/>
          </a:xfrm>
          <a:prstGeom prst="roundRect">
            <a:avLst>
              <a:gd name="adj" fmla="val 8485"/>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أقيّم</a:t>
            </a:r>
            <a:endParaRPr lang="ar-SA" sz="1700" dirty="0"/>
          </a:p>
        </p:txBody>
      </p:sp>
      <p:sp>
        <p:nvSpPr>
          <p:cNvPr id="8" name="s32_7"/>
          <p:cNvSpPr txBox="1"/>
          <p:nvPr/>
        </p:nvSpPr>
        <p:spPr>
          <a:xfrm>
            <a:off x="5074920" y="2788920"/>
            <a:ext cx="502920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34405E"/>
                </a:solidFill>
                <a:latin typeface="Tahoma" pitchFamily="34" charset="0"/>
                <a:ea typeface="Tahoma" pitchFamily="34" charset="-122"/>
                <a:cs typeface="Tahoma" pitchFamily="34" charset="-120"/>
              </a:rPr>
              <a:t>أيّهما يتأثر أكثر باختفاء مخلوق واحد: سلسلة غذائية منفردة أم شبكة غذائية؟ دافعي عن رأيك.</a:t>
            </a:r>
            <a:endParaRPr lang="ar-SA" sz="1600" dirty="0"/>
          </a:p>
        </p:txBody>
      </p:sp>
      <p:sp>
        <p:nvSpPr>
          <p:cNvPr id="9" name="s32_8@c2%chime"/>
          <p:cNvSpPr txBox="1"/>
          <p:nvPr/>
        </p:nvSpPr>
        <p:spPr>
          <a:xfrm>
            <a:off x="548640" y="2788920"/>
            <a:ext cx="4389120" cy="1508760"/>
          </a:xfrm>
          <a:prstGeom prst="roundRect">
            <a:avLst>
              <a:gd name="adj" fmla="val 848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50" b="1" dirty="0">
                <a:solidFill>
                  <a:srgbClr val="2F8A3A"/>
                </a:solidFill>
                <a:latin typeface="Tahoma" pitchFamily="34" charset="0"/>
                <a:ea typeface="Tahoma" pitchFamily="34" charset="-122"/>
                <a:cs typeface="Tahoma" pitchFamily="34" charset="-120"/>
              </a:rPr>
              <a:t>✔ </a:t>
            </a:r>
            <a:r>
              <a:rPr lang="ar-SA" altLang="en-US" sz="1450" dirty="0">
                <a:solidFill>
                  <a:srgbClr val="34405E"/>
                </a:solidFill>
                <a:latin typeface="Tahoma" pitchFamily="34" charset="0"/>
                <a:ea typeface="Tahoma" pitchFamily="34" charset="-122"/>
                <a:cs typeface="Tahoma" pitchFamily="34" charset="-120"/>
              </a:rPr>
              <a:t>السلسلة المنفردة؛ لأن لها مسارًا واحدًا، أما في الشبكة فقد يجد المفترس غذاءً بديلًا.</a:t>
            </a:r>
            <a:endParaRPr lang="ar-SA" sz="1450" dirty="0"/>
          </a:p>
        </p:txBody>
      </p:sp>
      <p:sp>
        <p:nvSpPr>
          <p:cNvPr id="10" name="s32_9"/>
          <p:cNvSpPr txBox="1"/>
          <p:nvPr/>
        </p:nvSpPr>
        <p:spPr>
          <a:xfrm>
            <a:off x="10241280" y="4480560"/>
            <a:ext cx="1508760" cy="1508760"/>
          </a:xfrm>
          <a:prstGeom prst="roundRect">
            <a:avLst>
              <a:gd name="adj" fmla="val 8485"/>
            </a:avLst>
          </a:prstGeom>
          <a:solidFill>
            <a:srgbClr val="FFE0EC"/>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 أبتكر</a:t>
            </a:r>
            <a:endParaRPr lang="ar-SA" sz="1700" dirty="0"/>
          </a:p>
        </p:txBody>
      </p:sp>
      <p:sp>
        <p:nvSpPr>
          <p:cNvPr id="11" name="s32_10"/>
          <p:cNvSpPr txBox="1"/>
          <p:nvPr/>
        </p:nvSpPr>
        <p:spPr>
          <a:xfrm>
            <a:off x="5074920" y="4480560"/>
            <a:ext cx="502920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34405E"/>
                </a:solidFill>
                <a:latin typeface="Tahoma" pitchFamily="34" charset="0"/>
                <a:ea typeface="Tahoma" pitchFamily="34" charset="-122"/>
                <a:cs typeface="Tahoma" pitchFamily="34" charset="-120"/>
              </a:rPr>
              <a:t>صمّمي شبكة غذائية صغيرة لصحراء وطني من: العشب، الجرادة، الضب، الثعبان، الصقر.</a:t>
            </a:r>
            <a:endParaRPr lang="ar-SA" sz="1600" dirty="0"/>
          </a:p>
        </p:txBody>
      </p:sp>
      <p:sp>
        <p:nvSpPr>
          <p:cNvPr id="12" name="s32_11@c3%chime"/>
          <p:cNvSpPr txBox="1"/>
          <p:nvPr/>
        </p:nvSpPr>
        <p:spPr>
          <a:xfrm>
            <a:off x="548640" y="4480560"/>
            <a:ext cx="4389120" cy="1508760"/>
          </a:xfrm>
          <a:prstGeom prst="roundRect">
            <a:avLst>
              <a:gd name="adj" fmla="val 8485"/>
            </a:avLst>
          </a:prstGeom>
          <a:solidFill>
            <a:srgbClr val="FFFDF7"/>
          </a:solidFill>
          <a:ln w="25400">
            <a:solidFill>
              <a:srgbClr val="2F8A3A"/>
            </a:solidFill>
          </a:ln>
        </p:spPr>
        <p:txBody>
          <a:bodyPr wrap="square" lIns="101600" tIns="101600" rIns="101600" bIns="101600" rtlCol="0" anchor="ctr"/>
          <a:lstStyle/>
          <a:p>
            <a:pPr rtl="1" algn="r" indent="0" marL="0">
              <a:buNone/>
            </a:pPr>
            <a:r>
              <a:rPr lang="ar-SA" altLang="en-US" sz="1450" b="1" dirty="0">
                <a:solidFill>
                  <a:srgbClr val="2F8A3A"/>
                </a:solidFill>
                <a:latin typeface="Tahoma" pitchFamily="34" charset="0"/>
                <a:ea typeface="Tahoma" pitchFamily="34" charset="-122"/>
                <a:cs typeface="Tahoma" pitchFamily="34" charset="-120"/>
              </a:rPr>
              <a:t>✔ </a:t>
            </a:r>
            <a:r>
              <a:rPr lang="ar-SA" altLang="en-US" sz="1450" dirty="0">
                <a:solidFill>
                  <a:srgbClr val="34405E"/>
                </a:solidFill>
                <a:latin typeface="Tahoma" pitchFamily="34" charset="0"/>
                <a:ea typeface="Tahoma" pitchFamily="34" charset="-122"/>
                <a:cs typeface="Tahoma" pitchFamily="34" charset="-120"/>
              </a:rPr>
              <a:t>مثال: العشب ← الجرادة ← الضب ← الثعبان ← الصقر، والعشب ← الضب، والضب ← الصقر.</a:t>
            </a:r>
            <a:endParaRPr lang="ar-SA" sz="1450" dirty="0"/>
          </a:p>
        </p:txBody>
      </p:sp>
      <p:sp>
        <p:nvSpPr>
          <p:cNvPr id="13" name="s32_12"/>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4" name="s32_13"/>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audio>
                                      <p:cMediaNode vol="80000" showWhenStopped="0">
                                        <p:cTn id="8" display="0" masterRel="sameClick">
                                          <p:stCondLst>
                                            <p:cond evt="onBegin" delay="0">
                                              <p:tn val="5"/>
                                            </p:cond>
                                          </p:stCondLst>
                                        </p:cTn>
                                        <p:tgtEl>
                                          <p:sndTgt r:embed="rId5" name="chime.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subTnLst>
                                    <p:audio>
                                      <p:cMediaNode vol="80000" showWhenStopped="0">
                                        <p:cTn id="14" display="0" masterRel="sameClick">
                                          <p:stCondLst>
                                            <p:cond evt="onBegin" delay="0">
                                              <p:tn val="11"/>
                                            </p:cond>
                                          </p:stCondLst>
                                        </p:cTn>
                                        <p:tgtEl>
                                          <p:sndTgt r:embed="rId5" name="chime.wav"/>
                                        </p:tgtEl>
                                      </p:cMediaNode>
                                    </p:audio>
                                  </p:sub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subTnLst>
                                    <p:audio>
                                      <p:cMediaNode vol="80000" showWhenStopped="0">
                                        <p:cTn id="20" display="0" masterRel="sameClick">
                                          <p:stCondLst>
                                            <p:cond evt="onBegin" delay="0">
                                              <p:tn val="17"/>
                                            </p:cond>
                                          </p:stCondLst>
                                        </p:cTn>
                                        <p:tgtEl>
                                          <p:sndTgt r:embed="rId5"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3_1" descr="عنوان الشريحة">    </p:cNvPr>
          <p:cNvPicPr>
            <a:picLocks noChangeAspect="1"/>
          </p:cNvPicPr>
          <p:nvPr/>
        </p:nvPicPr>
        <p:blipFill>
          <a:blip r:embed="rId2"/>
          <a:stretch>
            <a:fillRect/>
          </a:stretch>
        </p:blipFill>
        <p:spPr>
          <a:xfrm>
            <a:off x="8642024" y="182880"/>
            <a:ext cx="3183911" cy="731520"/>
          </a:xfrm>
          <a:prstGeom prst="rect">
            <a:avLst/>
          </a:prstGeom>
        </p:spPr>
      </p:pic>
      <p:sp>
        <p:nvSpPr>
          <p:cNvPr id="3" name="s33_2"/>
          <p:cNvSpPr txBox="1"/>
          <p:nvPr/>
        </p:nvSpPr>
        <p:spPr>
          <a:xfrm>
            <a:off x="365760" y="292608"/>
            <a:ext cx="48234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التعلّم من المواقف الحياتية</a:t>
            </a:r>
            <a:endParaRPr lang="en-US" sz="1600" dirty="0"/>
          </a:p>
        </p:txBody>
      </p:sp>
      <p:sp>
        <p:nvSpPr>
          <p:cNvPr id="4" name="s33_3@c1%pop"/>
          <p:cNvSpPr txBox="1"/>
          <p:nvPr/>
        </p:nvSpPr>
        <p:spPr>
          <a:xfrm>
            <a:off x="3108960" y="1143000"/>
            <a:ext cx="8641080" cy="1188720"/>
          </a:xfrm>
          <a:prstGeom prst="roundRect">
            <a:avLst>
              <a:gd name="adj" fmla="val 10769"/>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C2366F"/>
                </a:solidFill>
                <a:latin typeface="Tahoma" pitchFamily="34" charset="0"/>
                <a:ea typeface="Tahoma" pitchFamily="34" charset="-122"/>
                <a:cs typeface="Tahoma" pitchFamily="34" charset="-120"/>
              </a:rPr>
              <a:t>🍛 في وجبتي: </a:t>
            </a:r>
            <a:r>
              <a:rPr lang="ar-SA" altLang="en-US" sz="1700" dirty="0">
                <a:solidFill>
                  <a:srgbClr val="34405E"/>
                </a:solidFill>
                <a:latin typeface="Tahoma" pitchFamily="34" charset="0"/>
                <a:ea typeface="Tahoma" pitchFamily="34" charset="-122"/>
                <a:cs typeface="Tahoma" pitchFamily="34" charset="-120"/>
              </a:rPr>
              <a:t>الشمس ← العشب ← الخروف ← أنا! فأنا حلقة في سلسلة غذائية عندما آكل الكبسة.</a:t>
            </a:r>
            <a:endParaRPr lang="ar-SA" sz="1700" dirty="0"/>
          </a:p>
        </p:txBody>
      </p:sp>
      <p:sp>
        <p:nvSpPr>
          <p:cNvPr id="5" name="s33_4@c2%pop"/>
          <p:cNvSpPr txBox="1"/>
          <p:nvPr/>
        </p:nvSpPr>
        <p:spPr>
          <a:xfrm>
            <a:off x="3108960" y="2514600"/>
            <a:ext cx="8641080" cy="1188720"/>
          </a:xfrm>
          <a:prstGeom prst="roundRect">
            <a:avLst>
              <a:gd name="adj" fmla="val 10769"/>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C2366F"/>
                </a:solidFill>
                <a:latin typeface="Tahoma" pitchFamily="34" charset="0"/>
                <a:ea typeface="Tahoma" pitchFamily="34" charset="-122"/>
                <a:cs typeface="Tahoma" pitchFamily="34" charset="-120"/>
              </a:rPr>
              <a:t>🐟 في سوق السمك: </a:t>
            </a:r>
            <a:r>
              <a:rPr lang="ar-SA" altLang="en-US" sz="1700" dirty="0">
                <a:solidFill>
                  <a:srgbClr val="34405E"/>
                </a:solidFill>
                <a:latin typeface="Tahoma" pitchFamily="34" charset="0"/>
                <a:ea typeface="Tahoma" pitchFamily="34" charset="-122"/>
                <a:cs typeface="Tahoma" pitchFamily="34" charset="-120"/>
              </a:rPr>
              <a:t>الأسماك التي نشتريها كانت جزءًا من شبكة غذائية في البحر، ونحن نشارك فيها حين نأكلها.</a:t>
            </a:r>
            <a:endParaRPr lang="ar-SA" sz="1700" dirty="0"/>
          </a:p>
        </p:txBody>
      </p:sp>
      <p:sp>
        <p:nvSpPr>
          <p:cNvPr id="6" name="s33_5@c3%pop"/>
          <p:cNvSpPr txBox="1"/>
          <p:nvPr/>
        </p:nvSpPr>
        <p:spPr>
          <a:xfrm>
            <a:off x="3108960" y="3886200"/>
            <a:ext cx="8641080" cy="1188720"/>
          </a:xfrm>
          <a:prstGeom prst="roundRect">
            <a:avLst>
              <a:gd name="adj" fmla="val 10769"/>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C2366F"/>
                </a:solidFill>
                <a:latin typeface="Tahoma" pitchFamily="34" charset="0"/>
                <a:ea typeface="Tahoma" pitchFamily="34" charset="-122"/>
                <a:cs typeface="Tahoma" pitchFamily="34" charset="-120"/>
              </a:rPr>
              <a:t>🧴 على الشاطئ: </a:t>
            </a:r>
            <a:r>
              <a:rPr lang="ar-SA" altLang="en-US" sz="1700" dirty="0">
                <a:solidFill>
                  <a:srgbClr val="34405E"/>
                </a:solidFill>
                <a:latin typeface="Tahoma" pitchFamily="34" charset="0"/>
                <a:ea typeface="Tahoma" pitchFamily="34" charset="-122"/>
                <a:cs typeface="Tahoma" pitchFamily="34" charset="-120"/>
              </a:rPr>
              <a:t>النفايات البلاستيكية في البحر تضرّ العوالق والأسماك، فتتأثر الشبكة الغذائية كلها.</a:t>
            </a:r>
            <a:endParaRPr lang="ar-SA" sz="1700" dirty="0"/>
          </a:p>
        </p:txBody>
      </p:sp>
      <p:sp>
        <p:nvSpPr>
          <p:cNvPr id="7" name="s33_6@c4"/>
          <p:cNvSpPr txBox="1"/>
          <p:nvPr/>
        </p:nvSpPr>
        <p:spPr>
          <a:xfrm>
            <a:off x="3108960" y="5349240"/>
            <a:ext cx="8641080" cy="685800"/>
          </a:xfrm>
          <a:prstGeom prst="roundRect">
            <a:avLst>
              <a:gd name="adj" fmla="val 1866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C2366F"/>
                </a:solidFill>
                <a:latin typeface="Tahoma" pitchFamily="34" charset="0"/>
                <a:ea typeface="Tahoma" pitchFamily="34" charset="-122"/>
                <a:cs typeface="Tahoma" pitchFamily="34" charset="-120"/>
              </a:rPr>
              <a:t>سؤال: </a:t>
            </a:r>
            <a:r>
              <a:rPr lang="ar-SA" altLang="en-US" sz="1600" b="1" dirty="0">
                <a:solidFill>
                  <a:srgbClr val="34405E"/>
                </a:solidFill>
                <a:latin typeface="Tahoma" pitchFamily="34" charset="0"/>
                <a:ea typeface="Tahoma" pitchFamily="34" charset="-122"/>
                <a:cs typeface="Tahoma" pitchFamily="34" charset="-120"/>
              </a:rPr>
              <a:t>اكتبي سلسلة غذائية لوجبة فطورك اليوم ✍️  (مثل: الشمس ← القمح ← الخبز ← أنا)</a:t>
            </a:r>
            <a:endParaRPr lang="ar-SA" sz="1600" dirty="0"/>
          </a:p>
        </p:txBody>
      </p:sp>
      <p:pic>
        <p:nvPicPr>
          <p:cNvPr id="8" name="s33_7" descr="المستكشفة تلوّح">    </p:cNvPr>
          <p:cNvPicPr>
            <a:picLocks noChangeAspect="1"/>
          </p:cNvPicPr>
          <p:nvPr/>
        </p:nvPicPr>
        <p:blipFill>
          <a:blip r:embed="rId3"/>
          <a:stretch>
            <a:fillRect/>
          </a:stretch>
        </p:blipFill>
        <p:spPr>
          <a:xfrm>
            <a:off x="411480" y="1463040"/>
            <a:ext cx="2767405" cy="4480560"/>
          </a:xfrm>
          <a:prstGeom prst="rect">
            <a:avLst/>
          </a:prstGeom>
        </p:spPr>
      </p:pic>
      <p:sp>
        <p:nvSpPr>
          <p:cNvPr id="9" name="s33_8"/>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0" name="s33_9"/>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subTnLst>
                                    <p:audio>
                                      <p:cMediaNode vol="80000" showWhenStopped="0">
                                        <p:cTn id="8" display="0" masterRel="sameClick">
                                          <p:stCondLst>
                                            <p:cond evt="onBegin" delay="0">
                                              <p:tn val="5"/>
                                            </p:cond>
                                          </p:stCondLst>
                                        </p:cTn>
                                        <p:tgtEl>
                                          <p:sndTgt r:embed="rId6" name="pop.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subTnLst>
                                    <p:audio>
                                      <p:cMediaNode vol="80000" showWhenStopped="0">
                                        <p:cTn id="14" display="0" masterRel="sameClick">
                                          <p:stCondLst>
                                            <p:cond evt="onBegin" delay="0">
                                              <p:tn val="11"/>
                                            </p:cond>
                                          </p:stCondLst>
                                        </p:cTn>
                                        <p:tgtEl>
                                          <p:sndTgt r:embed="rId6" name="pop.wav"/>
                                        </p:tgtEl>
                                      </p:cMediaNode>
                                    </p:audio>
                                  </p:sub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subTnLst>
                                    <p:audio>
                                      <p:cMediaNode vol="80000" showWhenStopped="0">
                                        <p:cTn id="20" display="0" masterRel="sameClick">
                                          <p:stCondLst>
                                            <p:cond evt="onBegin" delay="0">
                                              <p:tn val="17"/>
                                            </p:cond>
                                          </p:stCondLst>
                                        </p:cTn>
                                        <p:tgtEl>
                                          <p:sndTgt r:embed="rId6" name="pop.wav"/>
                                        </p:tgtEl>
                                      </p:cMediaNode>
                                    </p:audio>
                                  </p:sub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4_1" descr="عنوان الشريحة">    </p:cNvPr>
          <p:cNvPicPr>
            <a:picLocks noChangeAspect="1"/>
          </p:cNvPicPr>
          <p:nvPr/>
        </p:nvPicPr>
        <p:blipFill>
          <a:blip r:embed="rId2"/>
          <a:stretch>
            <a:fillRect/>
          </a:stretch>
        </p:blipFill>
        <p:spPr>
          <a:xfrm>
            <a:off x="8630032" y="182880"/>
            <a:ext cx="3195903" cy="731520"/>
          </a:xfrm>
          <a:prstGeom prst="rect">
            <a:avLst/>
          </a:prstGeom>
        </p:spPr>
      </p:pic>
      <p:sp>
        <p:nvSpPr>
          <p:cNvPr id="3" name="s34_2"/>
          <p:cNvSpPr txBox="1"/>
          <p:nvPr/>
        </p:nvSpPr>
        <p:spPr>
          <a:xfrm>
            <a:off x="365760" y="292608"/>
            <a:ext cx="31089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ربط وطني</a:t>
            </a:r>
            <a:endParaRPr lang="en-US" sz="1600" dirty="0"/>
          </a:p>
        </p:txBody>
      </p:sp>
      <p:pic>
        <p:nvPicPr>
          <p:cNvPr id="4" name="s34_3" descr="علم المملكة العربية السعودية">    </p:cNvPr>
          <p:cNvPicPr>
            <a:picLocks noChangeAspect="1"/>
          </p:cNvPicPr>
          <p:nvPr/>
        </p:nvPicPr>
        <p:blipFill>
          <a:blip r:embed="rId3"/>
          <a:stretch>
            <a:fillRect/>
          </a:stretch>
        </p:blipFill>
        <p:spPr>
          <a:xfrm>
            <a:off x="9921240" y="1143000"/>
            <a:ext cx="1783080" cy="1337310"/>
          </a:xfrm>
          <a:prstGeom prst="rect">
            <a:avLst/>
          </a:prstGeom>
        </p:spPr>
      </p:pic>
      <p:sp>
        <p:nvSpPr>
          <p:cNvPr id="5" name="s34_4@c1"/>
          <p:cNvSpPr txBox="1"/>
          <p:nvPr/>
        </p:nvSpPr>
        <p:spPr>
          <a:xfrm>
            <a:off x="2377440" y="1143000"/>
            <a:ext cx="7360920" cy="1508760"/>
          </a:xfrm>
          <a:prstGeom prst="roundRect">
            <a:avLst>
              <a:gd name="adj" fmla="val 8485"/>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1B5E20"/>
                </a:solidFill>
                <a:latin typeface="Tahoma" pitchFamily="34" charset="0"/>
                <a:ea typeface="Tahoma" pitchFamily="34" charset="-122"/>
                <a:cs typeface="Tahoma" pitchFamily="34" charset="-120"/>
              </a:rPr>
              <a:t>🇸🇦 في وطني… </a:t>
            </a:r>
            <a:r>
              <a:rPr lang="ar-SA" altLang="en-US" sz="1650" dirty="0">
                <a:solidFill>
                  <a:srgbClr val="34405E"/>
                </a:solidFill>
                <a:latin typeface="Tahoma" pitchFamily="34" charset="0"/>
                <a:ea typeface="Tahoma" pitchFamily="34" charset="-122"/>
                <a:cs typeface="Tahoma" pitchFamily="34" charset="-120"/>
              </a:rPr>
              <a:t>يعمل المركز الوطني لتنمية الحياة الفطرية على حماية الحياة الفطرية في المملكة وتنميتها؛ في البرّ والبحر، ومنها المخلوقات البحرية في البحر الأحمر والخليج العربي.</a:t>
            </a:r>
            <a:endParaRPr lang="ar-SA" sz="1650" dirty="0"/>
          </a:p>
        </p:txBody>
      </p:sp>
      <p:sp>
        <p:nvSpPr>
          <p:cNvPr id="6" name="s34_5@c2"/>
          <p:cNvSpPr txBox="1"/>
          <p:nvPr/>
        </p:nvSpPr>
        <p:spPr>
          <a:xfrm>
            <a:off x="2377440" y="2834640"/>
            <a:ext cx="9372600" cy="868680"/>
          </a:xfrm>
          <a:prstGeom prst="roundRect">
            <a:avLst>
              <a:gd name="adj" fmla="val 14737"/>
            </a:avLst>
          </a:prstGeom>
          <a:solidFill>
            <a:srgbClr val="FFF1B8"/>
          </a:solidFill>
          <a:ln w="28575">
            <a:solidFill>
              <a:srgbClr val="34405E"/>
            </a:solidFill>
          </a:ln>
        </p:spPr>
        <p:txBody>
          <a:bodyPr wrap="square" lIns="101600" tIns="101600" rIns="101600" bIns="101600" rtlCol="0" anchor="ctr"/>
          <a:lstStyle/>
          <a:p>
            <a:pPr rtl="1" algn="r" indent="0" marL="0">
              <a:buNone/>
            </a:pPr>
            <a:r>
              <a:rPr lang="ar-SA" altLang="en-US" sz="1650" b="1" dirty="0">
                <a:solidFill>
                  <a:srgbClr val="C2366F"/>
                </a:solidFill>
                <a:latin typeface="Tahoma" pitchFamily="34" charset="0"/>
                <a:ea typeface="Tahoma" pitchFamily="34" charset="-122"/>
                <a:cs typeface="Tahoma" pitchFamily="34" charset="-120"/>
              </a:rPr>
              <a:t>الربط بالدرس: </a:t>
            </a:r>
            <a:r>
              <a:rPr lang="ar-SA" altLang="en-US" sz="1650" dirty="0">
                <a:solidFill>
                  <a:srgbClr val="34405E"/>
                </a:solidFill>
                <a:latin typeface="Tahoma" pitchFamily="34" charset="0"/>
                <a:ea typeface="Tahoma" pitchFamily="34" charset="-122"/>
                <a:cs typeface="Tahoma" pitchFamily="34" charset="-120"/>
              </a:rPr>
              <a:t>حماية مخلوق واحد تحمي الشبكة الغذائية كلها؛ لأن المخلوقات مترابطة بالطاقة والغذاء.</a:t>
            </a:r>
            <a:endParaRPr lang="ar-SA" sz="1650" dirty="0"/>
          </a:p>
        </p:txBody>
      </p:sp>
      <p:sp>
        <p:nvSpPr>
          <p:cNvPr id="7" name="s34_6@c2"/>
          <p:cNvSpPr txBox="1"/>
          <p:nvPr/>
        </p:nvSpPr>
        <p:spPr>
          <a:xfrm>
            <a:off x="8229600" y="3931920"/>
            <a:ext cx="3520440" cy="594360"/>
          </a:xfrm>
          <a:prstGeom prst="roundRect">
            <a:avLst>
              <a:gd name="adj" fmla="val 49231"/>
            </a:avLst>
          </a:prstGeom>
          <a:solidFill>
            <a:srgbClr val="1B5E20"/>
          </a:solidFill>
          <a:ln w="25400">
            <a:solidFill>
              <a:srgbClr val="FFFFFF"/>
            </a:solidFill>
          </a:ln>
        </p:spPr>
        <p:txBody>
          <a:bodyPr wrap="square" lIns="101600" tIns="101600" rIns="101600" bIns="101600" rtlCol="0" anchor="ctr"/>
          <a:lstStyle/>
          <a:p>
            <a:pPr rtl="1" algn="ctr" indent="0" marL="0">
              <a:buNone/>
            </a:pPr>
            <a:r>
              <a:rPr lang="ar-SA" altLang="en-US" sz="1700" b="1" u="sng" dirty="0">
                <a:solidFill>
                  <a:srgbClr val="FFFFFF"/>
                </a:solidFill>
                <a:latin typeface="Tahoma" pitchFamily="34" charset="0"/>
                <a:ea typeface="Tahoma" pitchFamily="34" charset="-122"/>
                <a:cs typeface="Tahoma" pitchFamily="34" charset="-120"/>
                <a:hlinkClick r:id="rId4" invalidUrl="" action="" tgtFrame="" tooltip="المركز الوطني لتنمية الحياة الفطرية" history="1" highlightClick="0" endSnd="0">
                  <a:extLst>
                    <a:ext uri="{A12FA001-AC4F-418D-AE19-62706E023703}">
                      <ahyp:hlinkClr xmlns:ahyp="http://schemas.microsoft.com/office/drawing/2018/hyperlinkcolor" val="tx"/>
                    </a:ext>
                  </a:extLst>
                </a:hlinkClick>
              </a:rPr>
              <a:t>🔗 تعرّفي على المركز</a:t>
            </a:r>
            <a:endParaRPr lang="ar-SA" sz="1700" dirty="0"/>
          </a:p>
        </p:txBody>
      </p:sp>
      <p:sp>
        <p:nvSpPr>
          <p:cNvPr id="8" name="s34_7@c3%chime"/>
          <p:cNvSpPr txBox="1"/>
          <p:nvPr/>
        </p:nvSpPr>
        <p:spPr>
          <a:xfrm>
            <a:off x="2377440" y="4754880"/>
            <a:ext cx="9372600" cy="868680"/>
          </a:xfrm>
          <a:prstGeom prst="roundRect">
            <a:avLst>
              <a:gd name="adj" fmla="val 14737"/>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C2366F"/>
                </a:solidFill>
                <a:latin typeface="Tahoma" pitchFamily="34" charset="0"/>
                <a:ea typeface="Tahoma" pitchFamily="34" charset="-122"/>
                <a:cs typeface="Tahoma" pitchFamily="34" charset="-120"/>
              </a:rPr>
              <a:t>سؤال: </a:t>
            </a:r>
            <a:r>
              <a:rPr lang="ar-SA" altLang="en-US" sz="1600" dirty="0">
                <a:solidFill>
                  <a:srgbClr val="34405E"/>
                </a:solidFill>
                <a:latin typeface="Tahoma" pitchFamily="34" charset="0"/>
                <a:ea typeface="Tahoma" pitchFamily="34" charset="-122"/>
                <a:cs typeface="Tahoma" pitchFamily="34" charset="-120"/>
              </a:rPr>
              <a:t>لماذا يُمنع الصيد الجائر؟  </a:t>
            </a:r>
            <a:r>
              <a:rPr lang="ar-SA" altLang="en-US" sz="1600" b="1" dirty="0">
                <a:solidFill>
                  <a:srgbClr val="2F8A3A"/>
                </a:solidFill>
                <a:latin typeface="Tahoma" pitchFamily="34" charset="0"/>
                <a:ea typeface="Tahoma" pitchFamily="34" charset="-122"/>
                <a:cs typeface="Tahoma" pitchFamily="34" charset="-120"/>
              </a:rPr>
              <a:t>✔ لأن اختفاء مخلوق من الشبكة الغذائية يؤثر في بقية المخلوقات.</a:t>
            </a:r>
            <a:endParaRPr lang="ar-SA" sz="1600" dirty="0"/>
          </a:p>
        </p:txBody>
      </p:sp>
      <p:pic>
        <p:nvPicPr>
          <p:cNvPr id="9" name="s34_8" descr="المستكشفة ببدلة الغوص">    </p:cNvPr>
          <p:cNvPicPr>
            <a:picLocks noChangeAspect="1"/>
          </p:cNvPicPr>
          <p:nvPr/>
        </p:nvPicPr>
        <p:blipFill>
          <a:blip r:embed="rId5"/>
          <a:stretch>
            <a:fillRect/>
          </a:stretch>
        </p:blipFill>
        <p:spPr>
          <a:xfrm>
            <a:off x="320040" y="3200400"/>
            <a:ext cx="1863762" cy="3017520"/>
          </a:xfrm>
          <a:prstGeom prst="rect">
            <a:avLst/>
          </a:prstGeom>
        </p:spPr>
      </p:pic>
      <p:sp>
        <p:nvSpPr>
          <p:cNvPr id="10" name="s34_9"/>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1" name="s34_10"/>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subTnLst>
                                    <p:audio>
                                      <p:cMediaNode vol="80000" showWhenStopped="0">
                                        <p:cTn id="21" display="0" masterRel="sameClick">
                                          <p:stCondLst>
                                            <p:cond evt="onBegin" delay="0">
                                              <p:tn val="18"/>
                                            </p:cond>
                                          </p:stCondLst>
                                        </p:cTn>
                                        <p:tgtEl>
                                          <p:sndTgt r:embed="rId8"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5_1" descr="عنوان الشريحة">    </p:cNvPr>
          <p:cNvPicPr>
            <a:picLocks noChangeAspect="1"/>
          </p:cNvPicPr>
          <p:nvPr/>
        </p:nvPicPr>
        <p:blipFill>
          <a:blip r:embed="rId2"/>
          <a:stretch>
            <a:fillRect/>
          </a:stretch>
        </p:blipFill>
        <p:spPr>
          <a:xfrm>
            <a:off x="5425135" y="216908"/>
            <a:ext cx="6400800" cy="663464"/>
          </a:xfrm>
          <a:prstGeom prst="rect">
            <a:avLst/>
          </a:prstGeom>
        </p:spPr>
      </p:pic>
      <p:sp>
        <p:nvSpPr>
          <p:cNvPr id="3" name="s35_2"/>
          <p:cNvSpPr txBox="1"/>
          <p:nvPr/>
        </p:nvSpPr>
        <p:spPr>
          <a:xfrm>
            <a:off x="365760" y="292608"/>
            <a:ext cx="37947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التكامل بين المواد</a:t>
            </a:r>
            <a:endParaRPr lang="en-US" sz="1600" dirty="0"/>
          </a:p>
        </p:txBody>
      </p:sp>
      <p:sp>
        <p:nvSpPr>
          <p:cNvPr id="4" name="s35_3"/>
          <p:cNvSpPr txBox="1"/>
          <p:nvPr/>
        </p:nvSpPr>
        <p:spPr>
          <a:xfrm>
            <a:off x="6263640" y="1143000"/>
            <a:ext cx="5486400" cy="1600200"/>
          </a:xfrm>
          <a:prstGeom prst="roundRect">
            <a:avLst>
              <a:gd name="adj" fmla="val 8000"/>
            </a:avLst>
          </a:prstGeom>
          <a:solidFill>
            <a:srgbClr val="DDF1FC"/>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1E7FB8"/>
                </a:solidFill>
                <a:latin typeface="Tahoma" pitchFamily="34" charset="0"/>
                <a:ea typeface="Tahoma" pitchFamily="34" charset="-122"/>
                <a:cs typeface="Tahoma" pitchFamily="34" charset="-120"/>
              </a:rPr>
              <a:t>🔢 الرياضيات
</a:t>
            </a:r>
            <a:r>
              <a:rPr lang="ar-SA" altLang="en-US" sz="1550" dirty="0">
                <a:solidFill>
                  <a:srgbClr val="34405E"/>
                </a:solidFill>
                <a:latin typeface="Tahoma" pitchFamily="34" charset="0"/>
                <a:ea typeface="Tahoma" pitchFamily="34" charset="-122"/>
                <a:cs typeface="Tahoma" pitchFamily="34" charset="-120"/>
              </a:rPr>
              <a:t>سلسلة اليابسة: نبات الشوك ← اليرقة ← السرعوف ← السحلية ← البومة. كم حلقة فيها؟ وكم سهمًا؟</a:t>
            </a:r>
            <a:endParaRPr lang="ar-SA" sz="1550" dirty="0"/>
          </a:p>
        </p:txBody>
      </p:sp>
      <p:sp>
        <p:nvSpPr>
          <p:cNvPr id="5" name="s35_4@c1%chime"/>
          <p:cNvSpPr txBox="1"/>
          <p:nvPr/>
        </p:nvSpPr>
        <p:spPr>
          <a:xfrm>
            <a:off x="6263640" y="2834640"/>
            <a:ext cx="5486400" cy="594360"/>
          </a:xfrm>
          <a:prstGeom prst="roundRect">
            <a:avLst>
              <a:gd name="adj" fmla="val 21538"/>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٥ حلقات، و٤ أسهم (عدد الأسهم = عدد الحلقات − ١).</a:t>
            </a:r>
            <a:endParaRPr lang="ar-SA" sz="1500" dirty="0"/>
          </a:p>
        </p:txBody>
      </p:sp>
      <p:sp>
        <p:nvSpPr>
          <p:cNvPr id="6" name="s35_5"/>
          <p:cNvSpPr txBox="1"/>
          <p:nvPr/>
        </p:nvSpPr>
        <p:spPr>
          <a:xfrm>
            <a:off x="548640" y="1143000"/>
            <a:ext cx="5532120" cy="1600200"/>
          </a:xfrm>
          <a:prstGeom prst="roundRect">
            <a:avLst>
              <a:gd name="adj" fmla="val 8000"/>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C2366F"/>
                </a:solidFill>
                <a:latin typeface="Tahoma" pitchFamily="34" charset="0"/>
                <a:ea typeface="Tahoma" pitchFamily="34" charset="-122"/>
                <a:cs typeface="Tahoma" pitchFamily="34" charset="-120"/>
              </a:rPr>
              <a:t>✍️ لغتي
</a:t>
            </a:r>
            <a:r>
              <a:rPr lang="ar-SA" altLang="en-US" sz="1550" dirty="0">
                <a:solidFill>
                  <a:srgbClr val="34405E"/>
                </a:solidFill>
                <a:latin typeface="Tahoma" pitchFamily="34" charset="0"/>
                <a:ea typeface="Tahoma" pitchFamily="34" charset="-122"/>
                <a:cs typeface="Tahoma" pitchFamily="34" charset="-120"/>
              </a:rPr>
              <a:t>أكملي الجملة العلمية: «الشبكة الغذائية هي ..........................»</a:t>
            </a:r>
            <a:endParaRPr lang="ar-SA" sz="1550" dirty="0"/>
          </a:p>
        </p:txBody>
      </p:sp>
      <p:sp>
        <p:nvSpPr>
          <p:cNvPr id="7" name="s35_6@c2%chime"/>
          <p:cNvSpPr txBox="1"/>
          <p:nvPr/>
        </p:nvSpPr>
        <p:spPr>
          <a:xfrm>
            <a:off x="548640" y="2834640"/>
            <a:ext cx="5532120" cy="594360"/>
          </a:xfrm>
          <a:prstGeom prst="roundRect">
            <a:avLst>
              <a:gd name="adj" fmla="val 21538"/>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450" b="1" dirty="0">
                <a:solidFill>
                  <a:srgbClr val="2F8A3A"/>
                </a:solidFill>
                <a:latin typeface="Tahoma" pitchFamily="34" charset="0"/>
                <a:ea typeface="Tahoma" pitchFamily="34" charset="-122"/>
                <a:cs typeface="Tahoma" pitchFamily="34" charset="-120"/>
              </a:rPr>
              <a:t>✔ سلاسل غذائية متداخلة توضّح ترابط سلاسل الغذاء في النظام البيئي.</a:t>
            </a:r>
            <a:endParaRPr lang="ar-SA" sz="1450" dirty="0"/>
          </a:p>
        </p:txBody>
      </p:sp>
      <p:sp>
        <p:nvSpPr>
          <p:cNvPr id="8" name="s35_7@c3%sparkle"/>
          <p:cNvSpPr txBox="1"/>
          <p:nvPr/>
        </p:nvSpPr>
        <p:spPr>
          <a:xfrm>
            <a:off x="3017520" y="3657600"/>
            <a:ext cx="8732520" cy="1463040"/>
          </a:xfrm>
          <a:prstGeom prst="roundRect">
            <a:avLst>
              <a:gd name="adj" fmla="val 8750"/>
            </a:avLst>
          </a:prstGeom>
          <a:solidFill>
            <a:srgbClr val="D5F5EA"/>
          </a:solidFill>
          <a:ln w="28575">
            <a:solidFill>
              <a:srgbClr val="34405E"/>
            </a:solidFill>
          </a:ln>
        </p:spPr>
        <p:txBody>
          <a:bodyPr wrap="square" lIns="101600" tIns="101600" rIns="101600" bIns="101600" rtlCol="0" anchor="ctr"/>
          <a:lstStyle/>
          <a:p>
            <a:pPr rtl="1" algn="r" indent="0" marL="0">
              <a:buNone/>
            </a:pPr>
            <a:r>
              <a:rPr lang="ar-SA" altLang="en-US" sz="1800" b="1" dirty="0">
                <a:solidFill>
                  <a:srgbClr val="0E6F86"/>
                </a:solidFill>
                <a:latin typeface="Tahoma" pitchFamily="34" charset="0"/>
                <a:ea typeface="Tahoma" pitchFamily="34" charset="-122"/>
                <a:cs typeface="Tahoma" pitchFamily="34" charset="-120"/>
              </a:rPr>
              <a:t>👩‍🔬 مهنتي في المستقبل: عالمة الأحياء البحرية
</a:t>
            </a:r>
            <a:r>
              <a:rPr lang="ar-SA" altLang="en-US" sz="1550" dirty="0">
                <a:solidFill>
                  <a:srgbClr val="34405E"/>
                </a:solidFill>
                <a:latin typeface="Tahoma" pitchFamily="34" charset="0"/>
                <a:ea typeface="Tahoma" pitchFamily="34" charset="-122"/>
                <a:cs typeface="Tahoma" pitchFamily="34" charset="-120"/>
              </a:rPr>
              <a:t>تغوص لتدرس المخلوقات البحرية والعلاقات الغذائية بينها، وتساعد على حماية الشعاب المرجانية والأسماك في بحار وطني.</a:t>
            </a:r>
            <a:endParaRPr lang="ar-SA" sz="1550" dirty="0"/>
          </a:p>
        </p:txBody>
      </p:sp>
      <p:pic>
        <p:nvPicPr>
          <p:cNvPr id="9" name="s35_8@c3" descr="المستكشفة ببدلة الغوص">    </p:cNvPr>
          <p:cNvPicPr>
            <a:picLocks noChangeAspect="1"/>
          </p:cNvPicPr>
          <p:nvPr/>
        </p:nvPicPr>
        <p:blipFill>
          <a:blip r:embed="rId3"/>
          <a:stretch>
            <a:fillRect/>
          </a:stretch>
        </p:blipFill>
        <p:spPr>
          <a:xfrm>
            <a:off x="822960" y="3611880"/>
            <a:ext cx="1637852" cy="2651760"/>
          </a:xfrm>
          <a:prstGeom prst="rect">
            <a:avLst/>
          </a:prstGeom>
        </p:spPr>
      </p:pic>
      <p:sp>
        <p:nvSpPr>
          <p:cNvPr id="10" name="s35_9"/>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1" name="s35_10"/>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subTnLst>
                                    <p:audio>
                                      <p:cMediaNode vol="80000" showWhenStopped="0">
                                        <p:cTn id="8" display="0" masterRel="sameClick">
                                          <p:stCondLst>
                                            <p:cond evt="onBegin" delay="0">
                                              <p:tn val="5"/>
                                            </p:cond>
                                          </p:stCondLst>
                                        </p:cTn>
                                        <p:tgtEl>
                                          <p:sndTgt r:embed="rId6" name="chime.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subTnLst>
                                    <p:audio>
                                      <p:cMediaNode vol="80000" showWhenStopped="0">
                                        <p:cTn id="14" display="0" masterRel="sameClick">
                                          <p:stCondLst>
                                            <p:cond evt="onBegin" delay="0">
                                              <p:tn val="11"/>
                                            </p:cond>
                                          </p:stCondLst>
                                        </p:cTn>
                                        <p:tgtEl>
                                          <p:sndTgt r:embed="rId6" name="chime.wav"/>
                                        </p:tgtEl>
                                      </p:cMediaNode>
                                    </p:audio>
                                  </p:sub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subTnLst>
                                    <p:audio>
                                      <p:cMediaNode vol="80000" showWhenStopped="0">
                                        <p:cTn id="20" display="0" masterRel="sameClick">
                                          <p:stCondLst>
                                            <p:cond evt="onBegin" delay="0">
                                              <p:tn val="17"/>
                                            </p:cond>
                                          </p:stCondLst>
                                        </p:cTn>
                                        <p:tgtEl>
                                          <p:sndTgt r:embed="rId7" name="sparkle.wav"/>
                                        </p:tgtEl>
                                      </p:cMediaNode>
                                    </p:audio>
                                  </p:sub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6_1" descr="عنوان الشريحة">    </p:cNvPr>
          <p:cNvPicPr>
            <a:picLocks noChangeAspect="1"/>
          </p:cNvPicPr>
          <p:nvPr/>
        </p:nvPicPr>
        <p:blipFill>
          <a:blip r:embed="rId2"/>
          <a:stretch>
            <a:fillRect/>
          </a:stretch>
        </p:blipFill>
        <p:spPr>
          <a:xfrm>
            <a:off x="8246284" y="182880"/>
            <a:ext cx="3579651" cy="731520"/>
          </a:xfrm>
          <a:prstGeom prst="rect">
            <a:avLst/>
          </a:prstGeom>
        </p:spPr>
      </p:pic>
      <p:sp>
        <p:nvSpPr>
          <p:cNvPr id="3" name="s36_2"/>
          <p:cNvSpPr txBox="1"/>
          <p:nvPr/>
        </p:nvSpPr>
        <p:spPr>
          <a:xfrm>
            <a:off x="365760" y="292608"/>
            <a:ext cx="34518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التقويم الختامي</a:t>
            </a:r>
            <a:endParaRPr lang="en-US" sz="1600" dirty="0"/>
          </a:p>
        </p:txBody>
      </p:sp>
      <p:sp>
        <p:nvSpPr>
          <p:cNvPr id="4" name="s36_3"/>
          <p:cNvSpPr txBox="1"/>
          <p:nvPr/>
        </p:nvSpPr>
        <p:spPr>
          <a:xfrm>
            <a:off x="10104120" y="1234440"/>
            <a:ext cx="1645920" cy="822960"/>
          </a:xfrm>
          <a:prstGeom prst="roundRect">
            <a:avLst>
              <a:gd name="adj" fmla="val 15556"/>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فهم</a:t>
            </a:r>
            <a:endParaRPr lang="ar-SA" sz="1600" dirty="0"/>
          </a:p>
        </p:txBody>
      </p:sp>
      <p:sp>
        <p:nvSpPr>
          <p:cNvPr id="5" name="s36_4"/>
          <p:cNvSpPr txBox="1"/>
          <p:nvPr/>
        </p:nvSpPr>
        <p:spPr>
          <a:xfrm>
            <a:off x="5074920" y="1097280"/>
            <a:ext cx="4892040" cy="1097280"/>
          </a:xfrm>
          <a:prstGeom prst="roundRect">
            <a:avLst>
              <a:gd name="adj" fmla="val 11667"/>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34405E"/>
                </a:solidFill>
                <a:latin typeface="Tahoma" pitchFamily="34" charset="0"/>
                <a:ea typeface="Tahoma" pitchFamily="34" charset="-122"/>
                <a:cs typeface="Tahoma" pitchFamily="34" charset="-120"/>
              </a:rPr>
              <a:t>ما مصدر الطاقة في السلسلة الغذائية؟</a:t>
            </a:r>
            <a:endParaRPr lang="ar-SA" sz="1600" dirty="0"/>
          </a:p>
        </p:txBody>
      </p:sp>
      <p:sp>
        <p:nvSpPr>
          <p:cNvPr id="6" name="s36_5@c1%chime"/>
          <p:cNvSpPr txBox="1"/>
          <p:nvPr/>
        </p:nvSpPr>
        <p:spPr>
          <a:xfrm>
            <a:off x="548640" y="1097280"/>
            <a:ext cx="4389120" cy="1097280"/>
          </a:xfrm>
          <a:prstGeom prst="roundRect">
            <a:avLst>
              <a:gd name="adj" fmla="val 11667"/>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الشمس.</a:t>
            </a:r>
            <a:endParaRPr lang="ar-SA" sz="1500" dirty="0"/>
          </a:p>
        </p:txBody>
      </p:sp>
      <p:sp>
        <p:nvSpPr>
          <p:cNvPr id="7" name="s36_6"/>
          <p:cNvSpPr txBox="1"/>
          <p:nvPr/>
        </p:nvSpPr>
        <p:spPr>
          <a:xfrm>
            <a:off x="10104120" y="2496312"/>
            <a:ext cx="1645920" cy="822960"/>
          </a:xfrm>
          <a:prstGeom prst="roundRect">
            <a:avLst>
              <a:gd name="adj" fmla="val 15556"/>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تطبيق</a:t>
            </a:r>
            <a:endParaRPr lang="ar-SA" sz="1600" dirty="0"/>
          </a:p>
        </p:txBody>
      </p:sp>
      <p:sp>
        <p:nvSpPr>
          <p:cNvPr id="8" name="s36_7"/>
          <p:cNvSpPr txBox="1"/>
          <p:nvPr/>
        </p:nvSpPr>
        <p:spPr>
          <a:xfrm>
            <a:off x="5074920" y="2359152"/>
            <a:ext cx="4892040" cy="1097280"/>
          </a:xfrm>
          <a:prstGeom prst="roundRect">
            <a:avLst>
              <a:gd name="adj" fmla="val 11667"/>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34405E"/>
                </a:solidFill>
                <a:latin typeface="Tahoma" pitchFamily="34" charset="0"/>
                <a:ea typeface="Tahoma" pitchFamily="34" charset="-122"/>
                <a:cs typeface="Tahoma" pitchFamily="34" charset="-120"/>
              </a:rPr>
              <a:t>رتّبي: سمكة الشمس، طحالب، مالك الحزين، ذبابة مائية.</a:t>
            </a:r>
            <a:endParaRPr lang="ar-SA" sz="1600" dirty="0"/>
          </a:p>
        </p:txBody>
      </p:sp>
      <p:sp>
        <p:nvSpPr>
          <p:cNvPr id="9" name="s36_8@c2%chime"/>
          <p:cNvSpPr txBox="1"/>
          <p:nvPr/>
        </p:nvSpPr>
        <p:spPr>
          <a:xfrm>
            <a:off x="548640" y="2359152"/>
            <a:ext cx="4389120" cy="1097280"/>
          </a:xfrm>
          <a:prstGeom prst="roundRect">
            <a:avLst>
              <a:gd name="adj" fmla="val 11667"/>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طحالب ← ذبابة مائية ← سمكة الشمس ← مالك الحزين.</a:t>
            </a:r>
            <a:endParaRPr lang="ar-SA" sz="1500" dirty="0"/>
          </a:p>
        </p:txBody>
      </p:sp>
      <p:sp>
        <p:nvSpPr>
          <p:cNvPr id="10" name="s36_9"/>
          <p:cNvSpPr txBox="1"/>
          <p:nvPr/>
        </p:nvSpPr>
        <p:spPr>
          <a:xfrm>
            <a:off x="10104120" y="3758184"/>
            <a:ext cx="1645920" cy="822960"/>
          </a:xfrm>
          <a:prstGeom prst="roundRect">
            <a:avLst>
              <a:gd name="adj" fmla="val 15556"/>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تحليل</a:t>
            </a:r>
            <a:endParaRPr lang="ar-SA" sz="1600" dirty="0"/>
          </a:p>
        </p:txBody>
      </p:sp>
      <p:sp>
        <p:nvSpPr>
          <p:cNvPr id="11" name="s36_10"/>
          <p:cNvSpPr txBox="1"/>
          <p:nvPr/>
        </p:nvSpPr>
        <p:spPr>
          <a:xfrm>
            <a:off x="5074920" y="3621024"/>
            <a:ext cx="4892040" cy="1097280"/>
          </a:xfrm>
          <a:prstGeom prst="roundRect">
            <a:avLst>
              <a:gd name="adj" fmla="val 11667"/>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34405E"/>
                </a:solidFill>
                <a:latin typeface="Tahoma" pitchFamily="34" charset="0"/>
                <a:ea typeface="Tahoma" pitchFamily="34" charset="-122"/>
                <a:cs typeface="Tahoma" pitchFamily="34" charset="-120"/>
              </a:rPr>
              <a:t>من شبكة المحيط: اذكري مخلوقًا مفترسًا وفريسةً في الوقت نفسه.</a:t>
            </a:r>
            <a:endParaRPr lang="ar-SA" sz="1600" dirty="0"/>
          </a:p>
        </p:txBody>
      </p:sp>
      <p:sp>
        <p:nvSpPr>
          <p:cNvPr id="12" name="s36_11@c3%chime"/>
          <p:cNvSpPr txBox="1"/>
          <p:nvPr/>
        </p:nvSpPr>
        <p:spPr>
          <a:xfrm>
            <a:off x="548640" y="3621024"/>
            <a:ext cx="4389120" cy="1097280"/>
          </a:xfrm>
          <a:prstGeom prst="roundRect">
            <a:avLst>
              <a:gd name="adj" fmla="val 11667"/>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سمكة السردين (أو التونة، أو الدلفين، أو طائر النورس).</a:t>
            </a:r>
            <a:endParaRPr lang="ar-SA" sz="1500" dirty="0"/>
          </a:p>
        </p:txBody>
      </p:sp>
      <p:sp>
        <p:nvSpPr>
          <p:cNvPr id="13" name="s36_12"/>
          <p:cNvSpPr txBox="1"/>
          <p:nvPr/>
        </p:nvSpPr>
        <p:spPr>
          <a:xfrm>
            <a:off x="10104120" y="5020056"/>
            <a:ext cx="1645920" cy="822960"/>
          </a:xfrm>
          <a:prstGeom prst="roundRect">
            <a:avLst>
              <a:gd name="adj" fmla="val 15556"/>
            </a:avLst>
          </a:prstGeom>
          <a:solidFill>
            <a:srgbClr val="FFE0EC"/>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34405E"/>
                </a:solidFill>
                <a:latin typeface="Tahoma" pitchFamily="34" charset="0"/>
                <a:ea typeface="Tahoma" pitchFamily="34" charset="-122"/>
                <a:cs typeface="Tahoma" pitchFamily="34" charset="-120"/>
              </a:rPr>
              <a:t>تصحيح مفهوم</a:t>
            </a:r>
            <a:endParaRPr lang="ar-SA" sz="1600" dirty="0"/>
          </a:p>
        </p:txBody>
      </p:sp>
      <p:sp>
        <p:nvSpPr>
          <p:cNvPr id="14" name="s36_13"/>
          <p:cNvSpPr txBox="1"/>
          <p:nvPr/>
        </p:nvSpPr>
        <p:spPr>
          <a:xfrm>
            <a:off x="5074920" y="4882896"/>
            <a:ext cx="4892040" cy="1097280"/>
          </a:xfrm>
          <a:prstGeom prst="roundRect">
            <a:avLst>
              <a:gd name="adj" fmla="val 11667"/>
            </a:avLst>
          </a:prstGeom>
          <a:solidFill>
            <a:srgbClr val="FFFFFF"/>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34405E"/>
                </a:solidFill>
                <a:latin typeface="Tahoma" pitchFamily="34" charset="0"/>
                <a:ea typeface="Tahoma" pitchFamily="34" charset="-122"/>
                <a:cs typeface="Tahoma" pitchFamily="34" charset="-120"/>
              </a:rPr>
              <a:t>صحّحي: «الشبكة الغذائية سلسلة غذائية واحدة طويلة».</a:t>
            </a:r>
            <a:endParaRPr lang="ar-SA" sz="1600" dirty="0"/>
          </a:p>
        </p:txBody>
      </p:sp>
      <p:sp>
        <p:nvSpPr>
          <p:cNvPr id="15" name="s36_14@c4%chime"/>
          <p:cNvSpPr txBox="1"/>
          <p:nvPr/>
        </p:nvSpPr>
        <p:spPr>
          <a:xfrm>
            <a:off x="548640" y="4882896"/>
            <a:ext cx="4389120" cy="1097280"/>
          </a:xfrm>
          <a:prstGeom prst="roundRect">
            <a:avLst>
              <a:gd name="adj" fmla="val 11667"/>
            </a:avLst>
          </a:prstGeom>
          <a:solidFill>
            <a:srgbClr val="FFFDF7"/>
          </a:solidFill>
          <a:ln w="28575">
            <a:solidFill>
              <a:srgbClr val="34405E"/>
            </a:solidFill>
          </a:ln>
        </p:spPr>
        <p:txBody>
          <a:bodyPr wrap="square" lIns="101600" tIns="101600" rIns="101600" bIns="101600" rtlCol="0" anchor="ctr"/>
          <a:lstStyle/>
          <a:p>
            <a:pPr rtl="1" algn="r" indent="0" marL="0">
              <a:buNone/>
            </a:pPr>
            <a:r>
              <a:rPr lang="ar-SA" altLang="en-US" sz="1500" b="1" dirty="0">
                <a:solidFill>
                  <a:srgbClr val="2F8A3A"/>
                </a:solidFill>
                <a:latin typeface="Tahoma" pitchFamily="34" charset="0"/>
                <a:ea typeface="Tahoma" pitchFamily="34" charset="-122"/>
                <a:cs typeface="Tahoma" pitchFamily="34" charset="-120"/>
              </a:rPr>
              <a:t>✔ </a:t>
            </a:r>
            <a:r>
              <a:rPr lang="ar-SA" altLang="en-US" sz="1500" dirty="0">
                <a:solidFill>
                  <a:srgbClr val="34405E"/>
                </a:solidFill>
                <a:latin typeface="Tahoma" pitchFamily="34" charset="0"/>
                <a:ea typeface="Tahoma" pitchFamily="34" charset="-122"/>
                <a:cs typeface="Tahoma" pitchFamily="34" charset="-120"/>
              </a:rPr>
              <a:t>الشبكة الغذائية سلاسل غذائية متداخلة.</a:t>
            </a:r>
            <a:endParaRPr lang="ar-SA" sz="1500" dirty="0"/>
          </a:p>
        </p:txBody>
      </p:sp>
      <p:sp>
        <p:nvSpPr>
          <p:cNvPr id="16" name="s36_15"/>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7" name="s36_16"/>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audio>
                                      <p:cMediaNode vol="80000" showWhenStopped="0">
                                        <p:cTn id="8" display="0" masterRel="sameClick">
                                          <p:stCondLst>
                                            <p:cond evt="onBegin" delay="0">
                                              <p:tn val="5"/>
                                            </p:cond>
                                          </p:stCondLst>
                                        </p:cTn>
                                        <p:tgtEl>
                                          <p:sndTgt r:embed="rId5" name="chime.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subTnLst>
                                    <p:audio>
                                      <p:cMediaNode vol="80000" showWhenStopped="0">
                                        <p:cTn id="14" display="0" masterRel="sameClick">
                                          <p:stCondLst>
                                            <p:cond evt="onBegin" delay="0">
                                              <p:tn val="11"/>
                                            </p:cond>
                                          </p:stCondLst>
                                        </p:cTn>
                                        <p:tgtEl>
                                          <p:sndTgt r:embed="rId5" name="chime.wav"/>
                                        </p:tgtEl>
                                      </p:cMediaNode>
                                    </p:audio>
                                  </p:sub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subTnLst>
                                    <p:audio>
                                      <p:cMediaNode vol="80000" showWhenStopped="0">
                                        <p:cTn id="20" display="0" masterRel="sameClick">
                                          <p:stCondLst>
                                            <p:cond evt="onBegin" delay="0">
                                              <p:tn val="17"/>
                                            </p:cond>
                                          </p:stCondLst>
                                        </p:cTn>
                                        <p:tgtEl>
                                          <p:sndTgt r:embed="rId5" name="chime.wav"/>
                                        </p:tgtEl>
                                      </p:cMediaNode>
                                    </p:audio>
                                  </p:sub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subTnLst>
                                    <p:audio>
                                      <p:cMediaNode vol="80000" showWhenStopped="0">
                                        <p:cTn id="26" display="0" masterRel="sameClick">
                                          <p:stCondLst>
                                            <p:cond evt="onBegin" delay="0">
                                              <p:tn val="23"/>
                                            </p:cond>
                                          </p:stCondLst>
                                        </p:cTn>
                                        <p:tgtEl>
                                          <p:sndTgt r:embed="rId5" name="chim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7_1" descr="عنوان الشريحة">    </p:cNvPr>
          <p:cNvPicPr>
            <a:picLocks noChangeAspect="1"/>
          </p:cNvPicPr>
          <p:nvPr/>
        </p:nvPicPr>
        <p:blipFill>
          <a:blip r:embed="rId2"/>
          <a:stretch>
            <a:fillRect/>
          </a:stretch>
        </p:blipFill>
        <p:spPr>
          <a:xfrm>
            <a:off x="6417484" y="182880"/>
            <a:ext cx="5408451" cy="731520"/>
          </a:xfrm>
          <a:prstGeom prst="rect">
            <a:avLst/>
          </a:prstGeom>
        </p:spPr>
      </p:pic>
      <p:sp>
        <p:nvSpPr>
          <p:cNvPr id="3" name="s37_2"/>
          <p:cNvSpPr txBox="1"/>
          <p:nvPr/>
        </p:nvSpPr>
        <p:spPr>
          <a:xfrm>
            <a:off x="365760" y="292608"/>
            <a:ext cx="37947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الخرائط المفاهيمية</a:t>
            </a:r>
            <a:endParaRPr lang="en-US" sz="1600" dirty="0"/>
          </a:p>
        </p:txBody>
      </p:sp>
      <p:sp>
        <p:nvSpPr>
          <p:cNvPr id="4" name="s37_3"/>
          <p:cNvSpPr txBox="1"/>
          <p:nvPr/>
        </p:nvSpPr>
        <p:spPr>
          <a:xfrm>
            <a:off x="3794760" y="1097280"/>
            <a:ext cx="4572000" cy="566928"/>
          </a:xfrm>
          <a:prstGeom prst="roundRect">
            <a:avLst>
              <a:gd name="adj" fmla="val 22581"/>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انتقال الطاقة في النظام البيئي</a:t>
            </a:r>
            <a:endParaRPr lang="ar-SA" sz="1550" dirty="0"/>
          </a:p>
        </p:txBody>
      </p:sp>
      <p:sp>
        <p:nvSpPr>
          <p:cNvPr id="5" name="s37_4"/>
          <p:cNvSpPr txBox="1"/>
          <p:nvPr/>
        </p:nvSpPr>
        <p:spPr>
          <a:xfrm>
            <a:off x="8595360" y="1783080"/>
            <a:ext cx="182880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يبدأ من ↓</a:t>
            </a:r>
            <a:endParaRPr lang="ar-SA" sz="1350" dirty="0"/>
          </a:p>
        </p:txBody>
      </p:sp>
      <p:sp>
        <p:nvSpPr>
          <p:cNvPr id="6" name="s37_5"/>
          <p:cNvSpPr txBox="1"/>
          <p:nvPr/>
        </p:nvSpPr>
        <p:spPr>
          <a:xfrm>
            <a:off x="8595360" y="2194560"/>
            <a:ext cx="292608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7" name="s37_6@c1%pop"/>
          <p:cNvSpPr txBox="1"/>
          <p:nvPr/>
        </p:nvSpPr>
        <p:spPr>
          <a:xfrm>
            <a:off x="8595360" y="2194560"/>
            <a:ext cx="2926080" cy="566928"/>
          </a:xfrm>
          <a:prstGeom prst="roundRect">
            <a:avLst>
              <a:gd name="adj" fmla="val 22581"/>
            </a:avLst>
          </a:prstGeom>
          <a:solidFill>
            <a:srgbClr val="FFE08A"/>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 الشمس</a:t>
            </a:r>
            <a:endParaRPr lang="ar-SA" sz="1550" dirty="0"/>
          </a:p>
        </p:txBody>
      </p:sp>
      <p:sp>
        <p:nvSpPr>
          <p:cNvPr id="8" name="s37_7"/>
          <p:cNvSpPr txBox="1"/>
          <p:nvPr/>
        </p:nvSpPr>
        <p:spPr>
          <a:xfrm>
            <a:off x="5166360" y="1783080"/>
            <a:ext cx="182880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يُمثَّل بـ ↓</a:t>
            </a:r>
            <a:endParaRPr lang="ar-SA" sz="1350" dirty="0"/>
          </a:p>
        </p:txBody>
      </p:sp>
      <p:sp>
        <p:nvSpPr>
          <p:cNvPr id="9" name="s37_8"/>
          <p:cNvSpPr txBox="1"/>
          <p:nvPr/>
        </p:nvSpPr>
        <p:spPr>
          <a:xfrm>
            <a:off x="6172200" y="2194560"/>
            <a:ext cx="219456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10" name="s37_9@c2%pop"/>
          <p:cNvSpPr txBox="1"/>
          <p:nvPr/>
        </p:nvSpPr>
        <p:spPr>
          <a:xfrm>
            <a:off x="6172200" y="2194560"/>
            <a:ext cx="2194560" cy="566928"/>
          </a:xfrm>
          <a:prstGeom prst="roundRect">
            <a:avLst>
              <a:gd name="adj" fmla="val 22581"/>
            </a:avLst>
          </a:prstGeom>
          <a:solidFill>
            <a:srgbClr val="DDF5C8"/>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السلسلة الغذائية</a:t>
            </a:r>
            <a:endParaRPr lang="ar-SA" sz="1550" dirty="0"/>
          </a:p>
        </p:txBody>
      </p:sp>
      <p:sp>
        <p:nvSpPr>
          <p:cNvPr id="11" name="s37_10"/>
          <p:cNvSpPr txBox="1"/>
          <p:nvPr/>
        </p:nvSpPr>
        <p:spPr>
          <a:xfrm>
            <a:off x="3794760" y="2194560"/>
            <a:ext cx="219456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12" name="s37_11@c3%pop"/>
          <p:cNvSpPr txBox="1"/>
          <p:nvPr/>
        </p:nvSpPr>
        <p:spPr>
          <a:xfrm>
            <a:off x="3794760" y="2194560"/>
            <a:ext cx="2194560" cy="566928"/>
          </a:xfrm>
          <a:prstGeom prst="roundRect">
            <a:avLst>
              <a:gd name="adj" fmla="val 22581"/>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الشبكة الغذائية</a:t>
            </a:r>
            <a:endParaRPr lang="ar-SA" sz="1550" dirty="0"/>
          </a:p>
        </p:txBody>
      </p:sp>
      <p:sp>
        <p:nvSpPr>
          <p:cNvPr id="13" name="s37_12@c2"/>
          <p:cNvSpPr txBox="1"/>
          <p:nvPr/>
        </p:nvSpPr>
        <p:spPr>
          <a:xfrm>
            <a:off x="6172200" y="2834640"/>
            <a:ext cx="219456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34405E"/>
                </a:solidFill>
                <a:latin typeface="Tahoma" pitchFamily="34" charset="0"/>
                <a:ea typeface="Tahoma" pitchFamily="34" charset="-122"/>
                <a:cs typeface="Tahoma" pitchFamily="34" charset="-120"/>
              </a:rPr>
              <a:t>مسار واحد</a:t>
            </a:r>
            <a:endParaRPr lang="ar-SA" sz="1350" dirty="0"/>
          </a:p>
        </p:txBody>
      </p:sp>
      <p:sp>
        <p:nvSpPr>
          <p:cNvPr id="14" name="s37_13@c3"/>
          <p:cNvSpPr txBox="1"/>
          <p:nvPr/>
        </p:nvSpPr>
        <p:spPr>
          <a:xfrm>
            <a:off x="3794760" y="2834640"/>
            <a:ext cx="219456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34405E"/>
                </a:solidFill>
                <a:latin typeface="Tahoma" pitchFamily="34" charset="0"/>
                <a:ea typeface="Tahoma" pitchFamily="34" charset="-122"/>
                <a:cs typeface="Tahoma" pitchFamily="34" charset="-120"/>
              </a:rPr>
              <a:t>سلاسل متداخلة</a:t>
            </a:r>
            <a:endParaRPr lang="ar-SA" sz="1350" dirty="0"/>
          </a:p>
        </p:txBody>
      </p:sp>
      <p:sp>
        <p:nvSpPr>
          <p:cNvPr id="15" name="s37_14"/>
          <p:cNvSpPr txBox="1"/>
          <p:nvPr/>
        </p:nvSpPr>
        <p:spPr>
          <a:xfrm>
            <a:off x="685800" y="1783080"/>
            <a:ext cx="2743200" cy="365760"/>
          </a:xfrm>
          <a:prstGeom prst="rect">
            <a:avLst/>
          </a:prstGeom>
          <a:noFill/>
          <a:ln/>
        </p:spPr>
        <p:txBody>
          <a:bodyPr wrap="square" lIns="63500" tIns="63500" rIns="63500" bIns="63500" rtlCol="0" anchor="ctr"/>
          <a:lstStyle/>
          <a:p>
            <a:pPr rtl="1" algn="ctr" indent="0" marL="0">
              <a:buNone/>
            </a:pPr>
            <a:r>
              <a:rPr lang="ar-SA" altLang="en-US" sz="1350" dirty="0">
                <a:solidFill>
                  <a:srgbClr val="5A6785"/>
                </a:solidFill>
                <a:latin typeface="Tahoma" pitchFamily="34" charset="0"/>
                <a:ea typeface="Tahoma" pitchFamily="34" charset="-122"/>
                <a:cs typeface="Tahoma" pitchFamily="34" charset="-120"/>
              </a:rPr>
              <a:t>العلاقات فيها ↓</a:t>
            </a:r>
            <a:endParaRPr lang="ar-SA" sz="1350" dirty="0"/>
          </a:p>
        </p:txBody>
      </p:sp>
      <p:sp>
        <p:nvSpPr>
          <p:cNvPr id="16" name="s37_15"/>
          <p:cNvSpPr txBox="1"/>
          <p:nvPr/>
        </p:nvSpPr>
        <p:spPr>
          <a:xfrm>
            <a:off x="2103120" y="2194560"/>
            <a:ext cx="146304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17" name="s37_16@c4%pop"/>
          <p:cNvSpPr txBox="1"/>
          <p:nvPr/>
        </p:nvSpPr>
        <p:spPr>
          <a:xfrm>
            <a:off x="2103120" y="2194560"/>
            <a:ext cx="1463040" cy="566928"/>
          </a:xfrm>
          <a:prstGeom prst="roundRect">
            <a:avLst>
              <a:gd name="adj" fmla="val 22581"/>
            </a:avLst>
          </a:prstGeom>
          <a:solidFill>
            <a:srgbClr val="FFD9C2"/>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المفترس</a:t>
            </a:r>
            <a:endParaRPr lang="ar-SA" sz="1550" dirty="0"/>
          </a:p>
        </p:txBody>
      </p:sp>
      <p:sp>
        <p:nvSpPr>
          <p:cNvPr id="18" name="s37_17"/>
          <p:cNvSpPr txBox="1"/>
          <p:nvPr/>
        </p:nvSpPr>
        <p:spPr>
          <a:xfrm>
            <a:off x="548640" y="2194560"/>
            <a:ext cx="146304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19" name="s37_18@c4%pop"/>
          <p:cNvSpPr txBox="1"/>
          <p:nvPr/>
        </p:nvSpPr>
        <p:spPr>
          <a:xfrm>
            <a:off x="548640" y="2194560"/>
            <a:ext cx="1463040" cy="566928"/>
          </a:xfrm>
          <a:prstGeom prst="roundRect">
            <a:avLst>
              <a:gd name="adj" fmla="val 22581"/>
            </a:avLst>
          </a:prstGeom>
          <a:solidFill>
            <a:srgbClr val="CFE8FF"/>
          </a:solidFill>
          <a:ln w="28575">
            <a:solidFill>
              <a:srgbClr val="34405E"/>
            </a:solidFill>
          </a:ln>
        </p:spPr>
        <p:txBody>
          <a:bodyPr wrap="square" lIns="101600" tIns="101600" rIns="101600" bIns="101600" rtlCol="0" anchor="ctr"/>
          <a:lstStyle/>
          <a:p>
            <a:pPr rtl="1" algn="ctr" indent="0" marL="0">
              <a:buNone/>
            </a:pPr>
            <a:r>
              <a:rPr lang="ar-SA" altLang="en-US" sz="1550" b="1" dirty="0">
                <a:solidFill>
                  <a:srgbClr val="34405E"/>
                </a:solidFill>
                <a:latin typeface="Tahoma" pitchFamily="34" charset="0"/>
                <a:ea typeface="Tahoma" pitchFamily="34" charset="-122"/>
                <a:cs typeface="Tahoma" pitchFamily="34" charset="-120"/>
              </a:rPr>
              <a:t>الفريسة</a:t>
            </a:r>
            <a:endParaRPr lang="ar-SA" sz="1550" dirty="0"/>
          </a:p>
        </p:txBody>
      </p:sp>
      <p:sp>
        <p:nvSpPr>
          <p:cNvPr id="20" name="s37_19"/>
          <p:cNvSpPr txBox="1"/>
          <p:nvPr/>
        </p:nvSpPr>
        <p:spPr>
          <a:xfrm>
            <a:off x="3794760" y="3429000"/>
            <a:ext cx="4572000" cy="411480"/>
          </a:xfrm>
          <a:prstGeom prst="rect">
            <a:avLst/>
          </a:prstGeom>
          <a:noFill/>
          <a:ln/>
        </p:spPr>
        <p:txBody>
          <a:bodyPr wrap="square" lIns="63500" tIns="63500" rIns="63500" bIns="63500" rtlCol="0" anchor="ctr"/>
          <a:lstStyle/>
          <a:p>
            <a:pPr rtl="1" algn="ctr" indent="0" marL="0">
              <a:buNone/>
            </a:pPr>
            <a:r>
              <a:rPr lang="ar-SA" altLang="en-US" sz="1500" b="1" dirty="0">
                <a:solidFill>
                  <a:srgbClr val="C2366F"/>
                </a:solidFill>
                <a:latin typeface="Tahoma" pitchFamily="34" charset="0"/>
                <a:ea typeface="Tahoma" pitchFamily="34" charset="-122"/>
                <a:cs typeface="Tahoma" pitchFamily="34" charset="-120"/>
              </a:rPr>
              <a:t>أمثلة من رحلتنا:</a:t>
            </a:r>
            <a:endParaRPr lang="ar-SA" sz="1500" dirty="0"/>
          </a:p>
        </p:txBody>
      </p:sp>
      <p:sp>
        <p:nvSpPr>
          <p:cNvPr id="21" name="s37_20"/>
          <p:cNvSpPr txBox="1"/>
          <p:nvPr/>
        </p:nvSpPr>
        <p:spPr>
          <a:xfrm>
            <a:off x="9555480" y="3931920"/>
            <a:ext cx="2194560" cy="594360"/>
          </a:xfrm>
          <a:prstGeom prst="roundRect">
            <a:avLst>
              <a:gd name="adj" fmla="val 21538"/>
            </a:avLst>
          </a:prstGeom>
          <a:solidFill>
            <a:srgbClr val="FFF1D6"/>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 اليابسة</a:t>
            </a:r>
            <a:endParaRPr lang="ar-SA" sz="1500" dirty="0"/>
          </a:p>
        </p:txBody>
      </p:sp>
      <p:sp>
        <p:nvSpPr>
          <p:cNvPr id="22" name="s37_21"/>
          <p:cNvSpPr txBox="1"/>
          <p:nvPr/>
        </p:nvSpPr>
        <p:spPr>
          <a:xfrm>
            <a:off x="548640" y="3931920"/>
            <a:ext cx="886968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23" name="s37_22@c5%pop"/>
          <p:cNvSpPr txBox="1"/>
          <p:nvPr/>
        </p:nvSpPr>
        <p:spPr>
          <a:xfrm>
            <a:off x="548640" y="3931920"/>
            <a:ext cx="8869680" cy="594360"/>
          </a:xfrm>
          <a:prstGeom prst="roundRect">
            <a:avLst>
              <a:gd name="adj" fmla="val 21538"/>
            </a:avLst>
          </a:prstGeom>
          <a:solidFill>
            <a:srgbClr val="FFF1D6"/>
          </a:solidFill>
          <a:ln w="28575">
            <a:solidFill>
              <a:srgbClr val="34405E"/>
            </a:solidFill>
          </a:ln>
        </p:spPr>
        <p:txBody>
          <a:bodyPr wrap="square" lIns="101600" tIns="101600" rIns="101600" bIns="101600" rtlCol="0" anchor="ctr"/>
          <a:lstStyle/>
          <a:p>
            <a:pPr rtl="1" algn="ctr" indent="0" marL="0">
              <a:buNone/>
            </a:pPr>
            <a:r>
              <a:rPr lang="ar-SA" altLang="en-US" sz="1500" dirty="0">
                <a:solidFill>
                  <a:srgbClr val="34405E"/>
                </a:solidFill>
                <a:latin typeface="Tahoma" pitchFamily="34" charset="0"/>
                <a:ea typeface="Tahoma" pitchFamily="34" charset="-122"/>
                <a:cs typeface="Tahoma" pitchFamily="34" charset="-120"/>
              </a:rPr>
              <a:t>نبات الشوك ← اليرقة ← السرعوف ← السحلية ← البومة</a:t>
            </a:r>
            <a:endParaRPr lang="ar-SA" sz="1500" dirty="0"/>
          </a:p>
        </p:txBody>
      </p:sp>
      <p:sp>
        <p:nvSpPr>
          <p:cNvPr id="24" name="s37_23"/>
          <p:cNvSpPr txBox="1"/>
          <p:nvPr/>
        </p:nvSpPr>
        <p:spPr>
          <a:xfrm>
            <a:off x="9555480" y="4645152"/>
            <a:ext cx="2194560" cy="594360"/>
          </a:xfrm>
          <a:prstGeom prst="roundRect">
            <a:avLst>
              <a:gd name="adj" fmla="val 21538"/>
            </a:avLst>
          </a:prstGeom>
          <a:solidFill>
            <a:srgbClr val="D5F5EA"/>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 البركة</a:t>
            </a:r>
            <a:endParaRPr lang="ar-SA" sz="1500" dirty="0"/>
          </a:p>
        </p:txBody>
      </p:sp>
      <p:sp>
        <p:nvSpPr>
          <p:cNvPr id="25" name="s37_24"/>
          <p:cNvSpPr txBox="1"/>
          <p:nvPr/>
        </p:nvSpPr>
        <p:spPr>
          <a:xfrm>
            <a:off x="548640" y="4645152"/>
            <a:ext cx="886968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26" name="s37_25@c6%pop"/>
          <p:cNvSpPr txBox="1"/>
          <p:nvPr/>
        </p:nvSpPr>
        <p:spPr>
          <a:xfrm>
            <a:off x="548640" y="4645152"/>
            <a:ext cx="8869680" cy="594360"/>
          </a:xfrm>
          <a:prstGeom prst="roundRect">
            <a:avLst>
              <a:gd name="adj" fmla="val 21538"/>
            </a:avLst>
          </a:prstGeom>
          <a:solidFill>
            <a:srgbClr val="D5F5EA"/>
          </a:solidFill>
          <a:ln w="28575">
            <a:solidFill>
              <a:srgbClr val="34405E"/>
            </a:solidFill>
          </a:ln>
        </p:spPr>
        <p:txBody>
          <a:bodyPr wrap="square" lIns="101600" tIns="101600" rIns="101600" bIns="101600" rtlCol="0" anchor="ctr"/>
          <a:lstStyle/>
          <a:p>
            <a:pPr rtl="1" algn="ctr" indent="0" marL="0">
              <a:buNone/>
            </a:pPr>
            <a:r>
              <a:rPr lang="ar-SA" altLang="en-US" sz="1500" dirty="0">
                <a:solidFill>
                  <a:srgbClr val="34405E"/>
                </a:solidFill>
                <a:latin typeface="Tahoma" pitchFamily="34" charset="0"/>
                <a:ea typeface="Tahoma" pitchFamily="34" charset="-122"/>
                <a:cs typeface="Tahoma" pitchFamily="34" charset="-120"/>
              </a:rPr>
              <a:t>طحالب ← ذبابة مائية ← سمكة الشمس ← مالك الحزين</a:t>
            </a:r>
            <a:endParaRPr lang="ar-SA" sz="1500" dirty="0"/>
          </a:p>
        </p:txBody>
      </p:sp>
      <p:sp>
        <p:nvSpPr>
          <p:cNvPr id="27" name="s37_26"/>
          <p:cNvSpPr txBox="1"/>
          <p:nvPr/>
        </p:nvSpPr>
        <p:spPr>
          <a:xfrm>
            <a:off x="9555480" y="5358384"/>
            <a:ext cx="2194560" cy="594360"/>
          </a:xfrm>
          <a:prstGeom prst="roundRect">
            <a:avLst>
              <a:gd name="adj" fmla="val 21538"/>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500" b="1" dirty="0">
                <a:solidFill>
                  <a:srgbClr val="34405E"/>
                </a:solidFill>
                <a:latin typeface="Tahoma" pitchFamily="34" charset="0"/>
                <a:ea typeface="Tahoma" pitchFamily="34" charset="-122"/>
                <a:cs typeface="Tahoma" pitchFamily="34" charset="-120"/>
              </a:rPr>
              <a:t>🌊 المحيط</a:t>
            </a:r>
            <a:endParaRPr lang="ar-SA" sz="1500" dirty="0"/>
          </a:p>
        </p:txBody>
      </p:sp>
      <p:sp>
        <p:nvSpPr>
          <p:cNvPr id="28" name="s37_27"/>
          <p:cNvSpPr txBox="1"/>
          <p:nvPr/>
        </p:nvSpPr>
        <p:spPr>
          <a:xfrm>
            <a:off x="548640" y="5358384"/>
            <a:ext cx="8869680" cy="566928"/>
          </a:xfrm>
          <a:prstGeom prst="roundRect">
            <a:avLst>
              <a:gd name="adj" fmla="val 22581"/>
            </a:avLst>
          </a:prstGeom>
          <a:solidFill>
            <a:srgbClr val="FFFFFF"/>
          </a:solidFill>
          <a:ln w="25400">
            <a:solidFill>
              <a:srgbClr val="9AA5B8"/>
            </a:solidFill>
            <a:prstDash val="dash"/>
          </a:ln>
        </p:spPr>
        <p:txBody>
          <a:bodyPr wrap="square" lIns="101600" tIns="101600" rIns="101600" bIns="101600" rtlCol="0" anchor="ctr"/>
          <a:lstStyle/>
          <a:p>
            <a:pPr rtl="1" algn="r" indent="0" marL="0">
              <a:buNone/>
            </a:pPr>
            <a:endParaRPr lang="ar-SA" sz="1800" dirty="0"/>
          </a:p>
        </p:txBody>
      </p:sp>
      <p:sp>
        <p:nvSpPr>
          <p:cNvPr id="29" name="s37_28@c7%pop"/>
          <p:cNvSpPr txBox="1"/>
          <p:nvPr/>
        </p:nvSpPr>
        <p:spPr>
          <a:xfrm>
            <a:off x="548640" y="5358384"/>
            <a:ext cx="8869680" cy="594360"/>
          </a:xfrm>
          <a:prstGeom prst="roundRect">
            <a:avLst>
              <a:gd name="adj" fmla="val 21538"/>
            </a:avLst>
          </a:prstGeom>
          <a:solidFill>
            <a:srgbClr val="DDF1FC"/>
          </a:solidFill>
          <a:ln w="28575">
            <a:solidFill>
              <a:srgbClr val="34405E"/>
            </a:solidFill>
          </a:ln>
        </p:spPr>
        <p:txBody>
          <a:bodyPr wrap="square" lIns="101600" tIns="101600" rIns="101600" bIns="101600" rtlCol="0" anchor="ctr"/>
          <a:lstStyle/>
          <a:p>
            <a:pPr rtl="1" algn="ctr" indent="0" marL="0">
              <a:buNone/>
            </a:pPr>
            <a:r>
              <a:rPr lang="ar-SA" altLang="en-US" sz="1500" dirty="0">
                <a:solidFill>
                  <a:srgbClr val="34405E"/>
                </a:solidFill>
                <a:latin typeface="Tahoma" pitchFamily="34" charset="0"/>
                <a:ea typeface="Tahoma" pitchFamily="34" charset="-122"/>
                <a:cs typeface="Tahoma" pitchFamily="34" charset="-120"/>
              </a:rPr>
              <a:t>شبكة: العوالق، السردين، التونة، الدلفين، النورس، الحوت القاتل</a:t>
            </a:r>
            <a:endParaRPr lang="ar-SA" sz="1500" dirty="0"/>
          </a:p>
        </p:txBody>
      </p:sp>
      <p:sp>
        <p:nvSpPr>
          <p:cNvPr id="30" name="s37_29"/>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31" name="s37_30"/>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audio>
                                      <p:cMediaNode vol="80000" showWhenStopped="0">
                                        <p:cTn id="8" display="0" masterRel="sameClick">
                                          <p:stCondLst>
                                            <p:cond evt="onBegin" delay="0">
                                              <p:tn val="5"/>
                                            </p:cond>
                                          </p:stCondLst>
                                        </p:cTn>
                                        <p:tgtEl>
                                          <p:sndTgt r:embed="rId5" name="pop.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subTnLst>
                                    <p:audio>
                                      <p:cMediaNode vol="80000" showWhenStopped="0">
                                        <p:cTn id="14" display="0" masterRel="sameClick">
                                          <p:stCondLst>
                                            <p:cond evt="onBegin" delay="0">
                                              <p:tn val="11"/>
                                            </p:cond>
                                          </p:stCondLst>
                                        </p:cTn>
                                        <p:tgtEl>
                                          <p:sndTgt r:embed="rId5" name="pop.wav"/>
                                        </p:tgtEl>
                                      </p:cMediaNode>
                                    </p:audio>
                                  </p:sub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subTnLst>
                                    <p:audio>
                                      <p:cMediaNode vol="80000" showWhenStopped="0">
                                        <p:cTn id="23" display="0" masterRel="sameClick">
                                          <p:stCondLst>
                                            <p:cond evt="onBegin" delay="0">
                                              <p:tn val="20"/>
                                            </p:cond>
                                          </p:stCondLst>
                                        </p:cTn>
                                        <p:tgtEl>
                                          <p:sndTgt r:embed="rId5" name="pop.wav"/>
                                        </p:tgtEl>
                                      </p:cMediaNode>
                                    </p:audio>
                                  </p:sub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subTnLst>
                                    <p:audio>
                                      <p:cMediaNode vol="80000" showWhenStopped="0">
                                        <p:cTn id="32" display="0" masterRel="sameClick">
                                          <p:stCondLst>
                                            <p:cond evt="onBegin" delay="0">
                                              <p:tn val="29"/>
                                            </p:cond>
                                          </p:stCondLst>
                                        </p:cTn>
                                        <p:tgtEl>
                                          <p:sndTgt r:embed="rId5" name="pop.wav"/>
                                        </p:tgtEl>
                                      </p:cMediaNode>
                                    </p:audio>
                                  </p:sub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subTnLst>
                                    <p:audio>
                                      <p:cMediaNode vol="80000" showWhenStopped="0">
                                        <p:cTn id="36" display="0" masterRel="sameClick">
                                          <p:stCondLst>
                                            <p:cond evt="onBegin" delay="0">
                                              <p:tn val="33"/>
                                            </p:cond>
                                          </p:stCondLst>
                                        </p:cTn>
                                        <p:tgtEl>
                                          <p:sndTgt r:embed="rId5" name="pop.wav"/>
                                        </p:tgtEl>
                                      </p:cMediaNode>
                                    </p:audio>
                                  </p:sub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subTnLst>
                                    <p:audio>
                                      <p:cMediaNode vol="80000" showWhenStopped="0">
                                        <p:cTn id="42" display="0" masterRel="sameClick">
                                          <p:stCondLst>
                                            <p:cond evt="onBegin" delay="0">
                                              <p:tn val="39"/>
                                            </p:cond>
                                          </p:stCondLst>
                                        </p:cTn>
                                        <p:tgtEl>
                                          <p:sndTgt r:embed="rId5" name="pop.wav"/>
                                        </p:tgtEl>
                                      </p:cMediaNode>
                                    </p:audio>
                                  </p:sub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subTnLst>
                                    <p:audio>
                                      <p:cMediaNode vol="80000" showWhenStopped="0">
                                        <p:cTn id="48" display="0" masterRel="sameClick">
                                          <p:stCondLst>
                                            <p:cond evt="onBegin" delay="0">
                                              <p:tn val="45"/>
                                            </p:cond>
                                          </p:stCondLst>
                                        </p:cTn>
                                        <p:tgtEl>
                                          <p:sndTgt r:embed="rId5" name="pop.wav"/>
                                        </p:tgtEl>
                                      </p:cMediaNode>
                                    </p:audio>
                                  </p:sub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subTnLst>
                                    <p:audio>
                                      <p:cMediaNode vol="80000" showWhenStopped="0">
                                        <p:cTn id="54" display="0" masterRel="sameClick">
                                          <p:stCondLst>
                                            <p:cond evt="onBegin" delay="0">
                                              <p:tn val="51"/>
                                            </p:cond>
                                          </p:stCondLst>
                                        </p:cTn>
                                        <p:tgtEl>
                                          <p:sndTgt r:embed="rId5" name="pop.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3" grpId="0" animBg="1"/>
      <p:bldP spid="14" grpId="0" animBg="1"/>
      <p:bldP spid="17" grpId="0" animBg="1"/>
      <p:bldP spid="19" grpId="0" animBg="1"/>
      <p:bldP spid="23" grpId="0" animBg="1"/>
      <p:bldP spid="26"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8_1" descr="عنوان الشريحة">    </p:cNvPr>
          <p:cNvPicPr>
            <a:picLocks noChangeAspect="1"/>
          </p:cNvPicPr>
          <p:nvPr/>
        </p:nvPicPr>
        <p:blipFill>
          <a:blip r:embed="rId2"/>
          <a:stretch>
            <a:fillRect/>
          </a:stretch>
        </p:blipFill>
        <p:spPr>
          <a:xfrm>
            <a:off x="7958473" y="182880"/>
            <a:ext cx="3867462" cy="731520"/>
          </a:xfrm>
          <a:prstGeom prst="rect">
            <a:avLst/>
          </a:prstGeom>
        </p:spPr>
      </p:pic>
      <p:sp>
        <p:nvSpPr>
          <p:cNvPr id="3" name="s38_2"/>
          <p:cNvSpPr txBox="1"/>
          <p:nvPr/>
        </p:nvSpPr>
        <p:spPr>
          <a:xfrm>
            <a:off x="365760" y="292608"/>
            <a:ext cx="4251960" cy="502920"/>
          </a:xfrm>
          <a:prstGeom prst="roundRect">
            <a:avLst>
              <a:gd name="adj" fmla="val 49091"/>
            </a:avLst>
          </a:prstGeom>
          <a:solidFill>
            <a:srgbClr val="FFF6D6"/>
          </a:solidFill>
          <a:ln w="25400">
            <a:solidFill>
              <a:srgbClr val="F5C242"/>
            </a:solidFill>
            <a:prstDash val="dash"/>
          </a:ln>
        </p:spPr>
        <p:txBody>
          <a:bodyPr wrap="square" lIns="38100" tIns="38100" rIns="38100" bIns="38100" rtlCol="0" anchor="ctr"/>
          <a:lstStyle/>
          <a:p>
            <a:pPr rtl="1" algn="ctr" indent="0" marL="0">
              <a:buNone/>
            </a:pPr>
            <a:r>
              <a:rPr lang="en-US" sz="1600" b="1" dirty="0">
                <a:solidFill>
                  <a:srgbClr val="C2366F"/>
                </a:solidFill>
                <a:latin typeface="Tahoma" pitchFamily="34" charset="0"/>
                <a:ea typeface="Tahoma" pitchFamily="34" charset="-122"/>
                <a:cs typeface="Tahoma" pitchFamily="34" charset="-120"/>
              </a:rPr>
              <a:t>الاستراتيجية: </a:t>
            </a:r>
            <a:r>
              <a:rPr lang="en-US" sz="1600" b="1" dirty="0">
                <a:solidFill>
                  <a:srgbClr val="34405E"/>
                </a:solidFill>
                <a:latin typeface="Tahoma" pitchFamily="34" charset="0"/>
                <a:ea typeface="Tahoma" pitchFamily="34" charset="-122"/>
                <a:cs typeface="Tahoma" pitchFamily="34" charset="-120"/>
              </a:rPr>
              <a:t>قبلي – بعدي: أعرف الآن</a:t>
            </a:r>
            <a:endParaRPr lang="en-US" sz="1600" dirty="0"/>
          </a:p>
        </p:txBody>
      </p:sp>
      <p:sp>
        <p:nvSpPr>
          <p:cNvPr id="4" name="s38_3"/>
          <p:cNvSpPr txBox="1"/>
          <p:nvPr/>
        </p:nvSpPr>
        <p:spPr>
          <a:xfrm>
            <a:off x="2926080" y="1097280"/>
            <a:ext cx="8823960" cy="960120"/>
          </a:xfrm>
          <a:prstGeom prst="roundRect">
            <a:avLst>
              <a:gd name="adj" fmla="val 13333"/>
            </a:avLst>
          </a:prstGeom>
          <a:solidFill>
            <a:srgbClr val="FFE0EC"/>
          </a:solidFill>
          <a:ln w="28575">
            <a:solidFill>
              <a:srgbClr val="34405E"/>
            </a:solidFill>
          </a:ln>
        </p:spPr>
        <p:txBody>
          <a:bodyPr wrap="square" lIns="101600" tIns="101600" rIns="101600" bIns="101600" rtlCol="0" anchor="ctr"/>
          <a:lstStyle/>
          <a:p>
            <a:pPr rtl="1" algn="r" indent="0" marL="0">
              <a:buNone/>
            </a:pPr>
            <a:r>
              <a:rPr lang="ar-SA" altLang="en-US" sz="1700" b="1" dirty="0">
                <a:solidFill>
                  <a:srgbClr val="C2366F"/>
                </a:solidFill>
                <a:latin typeface="Tahoma" pitchFamily="34" charset="0"/>
                <a:ea typeface="Tahoma" pitchFamily="34" charset="-122"/>
                <a:cs typeface="Tahoma" pitchFamily="34" charset="-120"/>
              </a:rPr>
              <a:t>تذكّرن لغز الرحلة: </a:t>
            </a:r>
            <a:r>
              <a:rPr lang="ar-SA" altLang="en-US" sz="1700" b="1" dirty="0">
                <a:solidFill>
                  <a:srgbClr val="34405E"/>
                </a:solidFill>
                <a:latin typeface="Tahoma" pitchFamily="34" charset="0"/>
                <a:ea typeface="Tahoma" pitchFamily="34" charset="-122"/>
                <a:cs typeface="Tahoma" pitchFamily="34" charset="-120"/>
              </a:rPr>
              <a:t>أيّ المخلوقات يصل إليه أقلّ قدر من طاقة الشمس؟  (أ) نبات الشوك  (ب) اليرقة  (ج) البومة</a:t>
            </a:r>
            <a:endParaRPr lang="ar-SA" sz="1700" dirty="0"/>
          </a:p>
        </p:txBody>
      </p:sp>
      <p:sp>
        <p:nvSpPr>
          <p:cNvPr id="5" name="s38_4@c1%sparkle"/>
          <p:cNvSpPr txBox="1"/>
          <p:nvPr/>
        </p:nvSpPr>
        <p:spPr>
          <a:xfrm>
            <a:off x="2926080" y="2194560"/>
            <a:ext cx="8823960" cy="1417320"/>
          </a:xfrm>
          <a:prstGeom prst="roundRect">
            <a:avLst>
              <a:gd name="adj" fmla="val 9032"/>
            </a:avLst>
          </a:prstGeom>
          <a:solidFill>
            <a:srgbClr val="DDF5C8"/>
          </a:solidFill>
          <a:ln w="28575">
            <a:solidFill>
              <a:srgbClr val="34405E"/>
            </a:solidFill>
          </a:ln>
        </p:spPr>
        <p:txBody>
          <a:bodyPr wrap="square" lIns="101600" tIns="101600" rIns="101600" bIns="101600" rtlCol="0" anchor="ctr"/>
          <a:lstStyle/>
          <a:p>
            <a:pPr rtl="1" algn="r" indent="0" marL="0">
              <a:buNone/>
            </a:pPr>
            <a:r>
              <a:rPr lang="ar-SA" altLang="en-US" sz="1900" b="1" dirty="0">
                <a:solidFill>
                  <a:srgbClr val="2F8A3A"/>
                </a:solidFill>
                <a:latin typeface="Tahoma" pitchFamily="34" charset="0"/>
                <a:ea typeface="Tahoma" pitchFamily="34" charset="-122"/>
                <a:cs typeface="Tahoma" pitchFamily="34" charset="-120"/>
              </a:rPr>
              <a:t>✔ (ج) البومة 🦉
</a:t>
            </a:r>
            <a:r>
              <a:rPr lang="ar-SA" altLang="en-US" sz="1550" dirty="0">
                <a:solidFill>
                  <a:srgbClr val="34405E"/>
                </a:solidFill>
                <a:latin typeface="Tahoma" pitchFamily="34" charset="0"/>
                <a:ea typeface="Tahoma" pitchFamily="34" charset="-122"/>
                <a:cs typeface="Tahoma" pitchFamily="34" charset="-120"/>
              </a:rPr>
              <a:t>لأنها في آخر السلسلة؛ وكل مخلوق يستخدم معظم الطاقة التي يحصل عليها، فلا ينتقل إلى المخلوق التالي إلا جزء صغير (تذكّرن كيف صغُرت كرة الطاقة في جولة الواقع الافتراضي!).</a:t>
            </a:r>
            <a:endParaRPr lang="ar-SA" sz="1550" dirty="0"/>
          </a:p>
        </p:txBody>
      </p:sp>
      <p:sp>
        <p:nvSpPr>
          <p:cNvPr id="6" name="s38_5@c2"/>
          <p:cNvSpPr txBox="1"/>
          <p:nvPr/>
        </p:nvSpPr>
        <p:spPr>
          <a:xfrm>
            <a:off x="2926080" y="3794760"/>
            <a:ext cx="8823960" cy="914400"/>
          </a:xfrm>
          <a:prstGeom prst="roundRect">
            <a:avLst>
              <a:gd name="adj" fmla="val 14000"/>
            </a:avLst>
          </a:prstGeom>
          <a:solidFill>
            <a:srgbClr val="ECE6FB"/>
          </a:solidFill>
          <a:ln w="28575">
            <a:solidFill>
              <a:srgbClr val="34405E"/>
            </a:solidFill>
          </a:ln>
        </p:spPr>
        <p:txBody>
          <a:bodyPr wrap="square" lIns="101600" tIns="101600" rIns="101600" bIns="101600" rtlCol="0" anchor="ctr"/>
          <a:lstStyle/>
          <a:p>
            <a:pPr rtl="1" algn="r" indent="0" marL="0">
              <a:buNone/>
            </a:pPr>
            <a:r>
              <a:rPr lang="ar-SA" altLang="en-US" sz="1600" b="1" dirty="0">
                <a:solidFill>
                  <a:srgbClr val="6B4FC0"/>
                </a:solidFill>
                <a:latin typeface="Tahoma" pitchFamily="34" charset="0"/>
                <a:ea typeface="Tahoma" pitchFamily="34" charset="-122"/>
                <a:cs typeface="Tahoma" pitchFamily="34" charset="-120"/>
              </a:rPr>
              <a:t>✍️ بطاقة «أعرف الآن»: </a:t>
            </a:r>
            <a:r>
              <a:rPr lang="ar-SA" altLang="en-US" sz="1600" dirty="0">
                <a:solidFill>
                  <a:srgbClr val="34405E"/>
                </a:solidFill>
                <a:latin typeface="Tahoma" pitchFamily="34" charset="0"/>
                <a:ea typeface="Tahoma" pitchFamily="34" charset="-122"/>
                <a:cs typeface="Tahoma" pitchFamily="34" charset="-120"/>
              </a:rPr>
              <a:t>قبل الرحلة كنت أظن أن .................... ، والآن أعرف أن .................... .</a:t>
            </a:r>
            <a:endParaRPr lang="ar-SA" sz="1600" dirty="0"/>
          </a:p>
        </p:txBody>
      </p:sp>
      <p:sp>
        <p:nvSpPr>
          <p:cNvPr id="7" name="s38_6@c3"/>
          <p:cNvSpPr txBox="1"/>
          <p:nvPr/>
        </p:nvSpPr>
        <p:spPr>
          <a:xfrm>
            <a:off x="2926080" y="4892040"/>
            <a:ext cx="8823960" cy="685800"/>
          </a:xfrm>
          <a:prstGeom prst="roundRect">
            <a:avLst>
              <a:gd name="adj" fmla="val 18667"/>
            </a:avLst>
          </a:prstGeom>
          <a:solidFill>
            <a:srgbClr val="FFF1B8"/>
          </a:solidFill>
          <a:ln w="28575">
            <a:solidFill>
              <a:srgbClr val="34405E"/>
            </a:solidFill>
          </a:ln>
        </p:spPr>
        <p:txBody>
          <a:bodyPr wrap="square" lIns="101600" tIns="101600" rIns="101600" bIns="101600" rtlCol="0" anchor="ctr"/>
          <a:lstStyle/>
          <a:p>
            <a:pPr rtl="1" algn="ctr" indent="0" marL="0">
              <a:buNone/>
            </a:pPr>
            <a:r>
              <a:rPr lang="ar-SA" altLang="en-US" sz="1600" b="1" dirty="0">
                <a:solidFill>
                  <a:srgbClr val="C2366F"/>
                </a:solidFill>
                <a:latin typeface="Tahoma" pitchFamily="34" charset="0"/>
                <a:ea typeface="Tahoma" pitchFamily="34" charset="-122"/>
                <a:cs typeface="Tahoma" pitchFamily="34" charset="-120"/>
              </a:rPr>
              <a:t>قيّمي فهمك: </a:t>
            </a:r>
            <a:r>
              <a:rPr lang="ar-SA" altLang="en-US" sz="1600" dirty="0">
                <a:solidFill>
                  <a:srgbClr val="34405E"/>
                </a:solidFill>
                <a:latin typeface="Tahoma" pitchFamily="34" charset="0"/>
                <a:ea typeface="Tahoma" pitchFamily="34" charset="-122"/>
                <a:cs typeface="Tahoma" pitchFamily="34" charset="-120"/>
              </a:rPr>
              <a:t>⭐⭐⭐ فهمت تمامًا  •  ⭐⭐ فهمت  •  ⭐ أحتاج مساعدة</a:t>
            </a:r>
            <a:endParaRPr lang="ar-SA" sz="1600" dirty="0"/>
          </a:p>
        </p:txBody>
      </p:sp>
      <p:pic>
        <p:nvPicPr>
          <p:cNvPr id="8" name="s38_7" descr="المستكشفة تشير">    </p:cNvPr>
          <p:cNvPicPr>
            <a:picLocks noChangeAspect="1"/>
          </p:cNvPicPr>
          <p:nvPr/>
        </p:nvPicPr>
        <p:blipFill>
          <a:blip r:embed="rId3"/>
          <a:stretch>
            <a:fillRect/>
          </a:stretch>
        </p:blipFill>
        <p:spPr>
          <a:xfrm>
            <a:off x="320040" y="1463040"/>
            <a:ext cx="2767405" cy="4480560"/>
          </a:xfrm>
          <a:prstGeom prst="rect">
            <a:avLst/>
          </a:prstGeom>
        </p:spPr>
      </p:pic>
      <p:sp>
        <p:nvSpPr>
          <p:cNvPr id="9" name="s38_8"/>
          <p:cNvSpPr txBox="1"/>
          <p:nvPr/>
        </p:nvSpPr>
        <p:spPr>
          <a:xfrm>
            <a:off x="274320" y="6382512"/>
            <a:ext cx="2377440" cy="384048"/>
          </a:xfrm>
          <a:prstGeom prst="rect">
            <a:avLst/>
          </a:prstGeom>
          <a:noFill/>
          <a:ln/>
        </p:spPr>
        <p:txBody>
          <a:bodyPr wrap="square" lIns="63500" tIns="63500" rIns="63500" bIns="63500" rtlCol="0" anchor="ctr"/>
          <a:lstStyle/>
          <a:p>
            <a:pPr rtl="1" algn="l" indent="0" marL="0">
              <a:buNone/>
            </a:pPr>
            <a:r>
              <a:rPr lang="ar-SA" altLang="en-US" sz="1500" b="1" dirty="0">
                <a:solidFill>
                  <a:srgbClr val="6B4FC0"/>
                </a:solidFill>
                <a:latin typeface="Tahoma" pitchFamily="34" charset="0"/>
                <a:ea typeface="Tahoma" pitchFamily="34" charset="-122"/>
                <a:cs typeface="Tahoma" pitchFamily="34" charset="-120"/>
              </a:rPr>
              <a:t>أ/ شامه البقمي</a:t>
            </a:r>
            <a:endParaRPr lang="ar-SA" sz="1500" dirty="0"/>
          </a:p>
        </p:txBody>
      </p:sp>
      <p:sp>
        <p:nvSpPr>
          <p:cNvPr id="10" name="s38_9"/>
          <p:cNvSpPr txBox="1"/>
          <p:nvPr/>
        </p:nvSpPr>
        <p:spPr>
          <a:xfrm>
            <a:off x="4267048" y="6400800"/>
            <a:ext cx="3657600" cy="347472"/>
          </a:xfrm>
          <a:prstGeom prst="roundRect">
            <a:avLst>
              <a:gd name="adj" fmla="val 50000"/>
            </a:avLst>
          </a:prstGeom>
          <a:solidFill>
            <a:srgbClr val="1E7FB8"/>
          </a:solidFill>
          <a:ln w="19050">
            <a:solidFill>
              <a:srgbClr val="FFFFFF"/>
            </a:solidFill>
          </a:ln>
        </p:spPr>
        <p:txBody>
          <a:bodyPr wrap="square" lIns="12700" tIns="12700" rIns="12700" bIns="12700" rtlCol="0" anchor="ctr"/>
          <a:lstStyle/>
          <a:p>
            <a:pPr rtl="1" algn="ctr" indent="0" marL="0">
              <a:buNone/>
            </a:pPr>
            <a:r>
              <a:rPr lang="ar-SA" altLang="en-US" sz="1300" b="1" dirty="0">
                <a:solidFill>
                  <a:srgbClr val="FFFFFF"/>
                </a:solidFill>
                <a:latin typeface="Tahoma" pitchFamily="34" charset="0"/>
                <a:ea typeface="Tahoma" pitchFamily="34" charset="-122"/>
                <a:cs typeface="Tahoma" pitchFamily="34" charset="-120"/>
              </a:rPr>
              <a:t>🏆 المحطة الأخيرة: كنز المعرفة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subTnLst>
                                    <p:audio>
                                      <p:cMediaNode vol="80000" showWhenStopped="0">
                                        <p:cTn id="8" display="0" masterRel="sameClick">
                                          <p:stCondLst>
                                            <p:cond evt="onBegin" delay="0">
                                              <p:tn val="5"/>
                                            </p:cond>
                                          </p:stCondLst>
                                        </p:cTn>
                                        <p:tgtEl>
                                          <p:sndTgt r:embed="rId6" name="sparkle.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9_1" descr="عنوان الشريحة">    </p:cNvPr>
          <p:cNvPicPr>
            <a:picLocks noChangeAspect="1"/>
          </p:cNvPicPr>
          <p:nvPr/>
        </p:nvPicPr>
        <p:blipFill>
          <a:blip r:embed="rId2"/>
          <a:stretch>
            <a:fillRect/>
          </a:stretch>
        </p:blipFill>
        <p:spPr>
          <a:xfrm>
            <a:off x="3523535" y="274320"/>
            <a:ext cx="5144624" cy="731520"/>
          </a:xfrm>
          <a:prstGeom prst="rect">
            <a:avLst/>
          </a:prstGeom>
        </p:spPr>
      </p:pic>
      <p:sp>
        <p:nvSpPr>
          <p:cNvPr id="3" name="s39_2@a1%sparkle"/>
          <p:cNvSpPr txBox="1"/>
          <p:nvPr/>
        </p:nvSpPr>
        <p:spPr>
          <a:xfrm>
            <a:off x="2834640" y="1234440"/>
            <a:ext cx="6537960" cy="1371600"/>
          </a:xfrm>
          <a:prstGeom prst="roundRect">
            <a:avLst>
              <a:gd name="adj" fmla="val 9333"/>
            </a:avLst>
          </a:prstGeom>
          <a:solidFill>
            <a:srgbClr val="FFFFFF"/>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34405E"/>
                </a:solidFill>
                <a:latin typeface="Tahoma" pitchFamily="34" charset="0"/>
                <a:ea typeface="Tahoma" pitchFamily="34" charset="-122"/>
                <a:cs typeface="Tahoma" pitchFamily="34" charset="-120"/>
              </a:rPr>
              <a:t>تعلّمنا اليوم أن الطاقة تنتقل من الشمس إلى المنتِجات ثم إلى المستهلِكات في سلسلة غذائية، وأن السلاسل المتداخلة تكوّن شبكة غذائية فيها مفترس وفريسة.</a:t>
            </a:r>
            <a:endParaRPr lang="ar-SA" sz="1700" dirty="0"/>
          </a:p>
        </p:txBody>
      </p:sp>
      <p:sp>
        <p:nvSpPr>
          <p:cNvPr id="4" name="s39_3@a2"/>
          <p:cNvSpPr txBox="1"/>
          <p:nvPr/>
        </p:nvSpPr>
        <p:spPr>
          <a:xfrm>
            <a:off x="3291840" y="2743200"/>
            <a:ext cx="5577840" cy="594360"/>
          </a:xfrm>
          <a:prstGeom prst="rect">
            <a:avLst/>
          </a:prstGeom>
          <a:noFill/>
          <a:ln/>
        </p:spPr>
        <p:txBody>
          <a:bodyPr wrap="square" lIns="63500" tIns="63500" rIns="63500" bIns="63500" rtlCol="0" anchor="ctr"/>
          <a:lstStyle/>
          <a:p>
            <a:pPr rtl="1" algn="ctr" indent="0" marL="0">
              <a:buNone/>
            </a:pPr>
            <a:r>
              <a:rPr lang="ar-SA" altLang="en-US" sz="2400" dirty="0">
                <a:solidFill>
                  <a:srgbClr val="34405E"/>
                </a:solidFill>
                <a:latin typeface="Tahoma" pitchFamily="34" charset="0"/>
                <a:ea typeface="Tahoma" pitchFamily="34" charset="-122"/>
                <a:cs typeface="Tahoma" pitchFamily="34" charset="-120"/>
              </a:rPr>
              <a:t>☀️ ← 🌿 ← 🐛 ← 🦎 ← 🦉</a:t>
            </a:r>
            <a:endParaRPr lang="ar-SA" sz="2400" dirty="0"/>
          </a:p>
        </p:txBody>
      </p:sp>
      <p:sp>
        <p:nvSpPr>
          <p:cNvPr id="5" name="s39_4@a2"/>
          <p:cNvSpPr txBox="1"/>
          <p:nvPr/>
        </p:nvSpPr>
        <p:spPr>
          <a:xfrm>
            <a:off x="3794760" y="3474720"/>
            <a:ext cx="4617720" cy="548640"/>
          </a:xfrm>
          <a:prstGeom prst="roundRect">
            <a:avLst>
              <a:gd name="adj" fmla="val 50000"/>
            </a:avLst>
          </a:prstGeom>
          <a:solidFill>
            <a:srgbClr val="FFE8A3"/>
          </a:solidFill>
          <a:ln w="28575">
            <a:solidFill>
              <a:srgbClr val="34405E"/>
            </a:solidFill>
          </a:ln>
        </p:spPr>
        <p:txBody>
          <a:bodyPr wrap="square" lIns="101600" tIns="101600" rIns="101600" bIns="101600" rtlCol="0" anchor="ctr"/>
          <a:lstStyle/>
          <a:p>
            <a:pPr rtl="1" algn="ctr" indent="0" marL="0">
              <a:buNone/>
            </a:pPr>
            <a:r>
              <a:rPr lang="ar-SA" altLang="en-US" sz="1700" b="1" dirty="0">
                <a:solidFill>
                  <a:srgbClr val="C2366F"/>
                </a:solidFill>
                <a:latin typeface="Tahoma" pitchFamily="34" charset="0"/>
                <a:ea typeface="Tahoma" pitchFamily="34" charset="-122"/>
                <a:cs typeface="Tahoma" pitchFamily="34" charset="-120"/>
              </a:rPr>
              <a:t>بالعلم نرتقي، وبالإبداع نتميّز ✨</a:t>
            </a:r>
            <a:endParaRPr lang="ar-SA" sz="1700" dirty="0"/>
          </a:p>
        </p:txBody>
      </p:sp>
      <p:sp>
        <p:nvSpPr>
          <p:cNvPr id="6" name="s39_5@a3"/>
          <p:cNvSpPr txBox="1"/>
          <p:nvPr/>
        </p:nvSpPr>
        <p:spPr>
          <a:xfrm>
            <a:off x="4251960" y="4160520"/>
            <a:ext cx="3703320" cy="502920"/>
          </a:xfrm>
          <a:prstGeom prst="roundRect">
            <a:avLst>
              <a:gd name="adj" fmla="val 49091"/>
            </a:avLst>
          </a:prstGeom>
          <a:solidFill>
            <a:srgbClr val="1B5E20"/>
          </a:solidFill>
          <a:ln w="19050">
            <a:solidFill>
              <a:srgbClr val="FFFFFF"/>
            </a:solidFill>
          </a:ln>
        </p:spPr>
        <p:txBody>
          <a:bodyPr wrap="square" lIns="101600" tIns="101600" rIns="101600" bIns="101600" rtlCol="0" anchor="ctr"/>
          <a:lstStyle/>
          <a:p>
            <a:pPr rtl="1" algn="ctr" indent="0" marL="0">
              <a:buNone/>
            </a:pPr>
            <a:r>
              <a:rPr lang="ar-SA" altLang="en-US" sz="1600" b="1" dirty="0">
                <a:solidFill>
                  <a:srgbClr val="FFFFFF"/>
                </a:solidFill>
                <a:latin typeface="Tahoma" pitchFamily="34" charset="0"/>
                <a:ea typeface="Tahoma" pitchFamily="34" charset="-122"/>
                <a:cs typeface="Tahoma" pitchFamily="34" charset="-120"/>
              </a:rPr>
              <a:t>معلمة العلوم: أ/ شامه البقمي</a:t>
            </a:r>
            <a:endParaRPr lang="ar-SA" sz="1600" dirty="0"/>
          </a:p>
        </p:txBody>
      </p:sp>
      <p:pic>
        <p:nvPicPr>
          <p:cNvPr id="7" name="s39_6@a1" descr="المستكشفة تلوّح">    </p:cNvPr>
          <p:cNvPicPr>
            <a:picLocks noChangeAspect="1"/>
          </p:cNvPicPr>
          <p:nvPr/>
        </p:nvPicPr>
        <p:blipFill>
          <a:blip r:embed="rId3"/>
          <a:stretch>
            <a:fillRect/>
          </a:stretch>
        </p:blipFill>
        <p:spPr>
          <a:xfrm>
            <a:off x="9555480" y="1188720"/>
            <a:ext cx="2400300" cy="3886200"/>
          </a:xfrm>
          <a:prstGeom prst="rect">
            <a:avLst/>
          </a:prstGeom>
        </p:spPr>
      </p:pic>
      <p:pic>
        <p:nvPicPr>
          <p:cNvPr id="8" name="s39_7@a1" descr="المستكشفة ببدلة الغوص">    </p:cNvPr>
          <p:cNvPicPr>
            <a:picLocks noChangeAspect="1"/>
          </p:cNvPicPr>
          <p:nvPr/>
        </p:nvPicPr>
        <p:blipFill>
          <a:blip r:embed="rId4"/>
          <a:stretch>
            <a:fillRect/>
          </a:stretch>
        </p:blipFill>
        <p:spPr>
          <a:xfrm>
            <a:off x="411480" y="1188720"/>
            <a:ext cx="2400300" cy="3886200"/>
          </a:xfrm>
          <a:prstGeom prst="rect">
            <a:avLst/>
          </a:prstGeom>
        </p:spPr>
      </p:pic>
      <p:pic>
        <p:nvPicPr>
          <p:cNvPr id="9" name="s39_8" descr="قطار الرحلة">    </p:cNvPr>
          <p:cNvPicPr>
            <a:picLocks noChangeAspect="1"/>
          </p:cNvPicPr>
          <p:nvPr/>
        </p:nvPicPr>
        <p:blipFill>
          <a:blip r:embed="rId5"/>
          <a:stretch>
            <a:fillRect/>
          </a:stretch>
        </p:blipFill>
        <p:spPr>
          <a:xfrm>
            <a:off x="3429000" y="4754880"/>
            <a:ext cx="5349240" cy="1230325"/>
          </a:xfrm>
          <a:prstGeom prst="rect">
            <a:avLst/>
          </a:prstGeom>
        </p:spPr>
      </p:pic>
    </p:spTree>
  </p:cSld>
  <p:clrMapOvr>
    <a:masterClrMapping/>
  </p:clrMapOvr>
  <p:transition spd="med">
    <p:circle/>
  </p:transition>
  <p:timing>
    <p:tnLst>
      <p:par>
        <p:cTn id="1" dur="indefinite" restart="never" nodeType="tmRoot">
          <p:childTnLst>
            <p:seq concurrent="1" nextAc="seek">
              <p:cTn id="2" dur="indefinite" nodeType="mainSeq">
                <p:childTnLst>
                  <p:par>
                    <p:cTn id="3" fill="hold">
                      <p:stCondLst>
                        <p:cond delay="indefinite"/>
                        <p:cond evt="onBegin" delay="0">
                          <p:tgtEl>
                            <p:sldTgt/>
                          </p:tgtEl>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subTnLst>
                                    <p:audio>
                                      <p:cMediaNode vol="80000" showWhenStopped="0">
                                        <p:cTn id="8" display="0" masterRel="sameClick">
                                          <p:stCondLst>
                                            <p:cond evt="onBegin" delay="0">
                                              <p:tn val="5"/>
                                            </p:cond>
                                          </p:stCondLst>
                                        </p:cTn>
                                        <p:tgtEl>
                                          <p:sndTgt r:embed="rId8" name="sparkle.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0" presetClass="path" presetSubtype="0" fill="hold" grpId="0" nodeType="clickEffect">
                                  <p:stCondLst>
                                    <p:cond delay="0"/>
                                  </p:stCondLst>
                                  <p:childTnLst>
                                    <p:animMotion origin="layout" path="M 0 0 L -0.85 0 E" pathEditMode="relative" ptsTypes="">
                                      <p:cBhvr>
                                        <p:cTn id="29" dur="2600" fill="hold" accel="40000" decel="40000"/>
                                        <p:tgtEl>
                                          <p:spTgt spid="9"/>
                                        </p:tgtEl>
                                        <p:attrNameLst>
                                          <p:attrName>ppt_x</p:attrName>
                                          <p:attrName>ppt_y</p:attrName>
                                        </p:attrNameLst>
                                      </p:cBhvr>
                                      <p:rCtr x="0" y="0"/>
                                    </p:animMotion>
                                  </p:childTnLst>
                                  <p:subTnLst>
                                    <p:audio>
                                      <p:cMediaNode vol="80000" showWhenStopped="0">
                                        <p:cTn id="30" display="0" masterRel="sameClick">
                                          <p:stCondLst>
                                            <p:cond evt="onBegin" delay="0">
                                              <p:tn val="28"/>
                                            </p:cond>
                                          </p:stCondLst>
                                        </p:cTn>
                                        <p:tgtEl>
                                          <p:sndTgt r:embed="rId9" name="train.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رحلة المستكشفة في عالم الطاقة – السلسلة الغذائية والشبكة الغذائية</dc:title>
  <dc:subject>PptxGenJS Presentation</dc:subject>
  <dc:creator>أ/ شامه البقمي</dc:creator>
  <cp:lastModifiedBy>أ/ شامه البقمي</cp:lastModifiedBy>
  <cp:revision>1</cp:revision>
  <dcterms:created xsi:type="dcterms:W3CDTF">2026-10-25T13:36:19Z</dcterms:created>
  <dcterms:modified xsi:type="dcterms:W3CDTF">2026-10-25T13:36:20Z</dcterms:modified>
</cp:coreProperties>
</file>