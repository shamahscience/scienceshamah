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chime.wav" ContentType="audio/wav"/>
  <Override PartName="/ppt/media/snd_cold_wind.wav" ContentType="audio/wav"/>
  <Override PartName="/ppt/media/snd_desert_wind.wav" ContentType="audio/wav"/>
  <Override PartName="/ppt/media/snd_pop.wav" ContentType="audio/wav"/>
  <Override PartName="/ppt/media/snd_sparkle.wav" ContentType="audio/wav"/>
  <Override PartName="/ppt/media/snd_train.wav" ContentType="audio/wav"/>
  <Override PartName="/ppt/media/snd_whoosh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الأولى – بوابة المغامرات (دقيقة واحدة).</a:t>
            </a:r>
          </a:p>
          <a:p>
            <a:r>
              <a:t>رحّبي بالطالبات مع نورة، ثم اضغطي زر «هيا ننطلق!» للانتقال إلى قطار الذكريات.</a:t>
            </a:r>
          </a:p>
          <a:p>
            <a:r>
              <a:t>القطار ونورة يظهران تلقائيًا عند بداية الشريحة.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الثانية – قطار الذكريات (٣ دقائق). استراتيجية: شريط الذكريات.</a:t>
            </a:r>
          </a:p>
          <a:p>
            <a:r>
              <a:t>اقرئي سؤال كل نافذة، واستمعي لإجابات الطالبات، ثم انقري على النافذة نفسها لتظهر الإجابة مع «أحسنتِ يا مستكشفة!».</a:t>
            </a:r>
          </a:p>
          <a:p>
            <a:r>
              <a:t>ابدئي من النافذة اليمنى.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الثالثة – نافذة الصحراء (٣ دقائق). استراتيجية: أنظر وأتساءل + ألاحظ – أتوقع – أفسر.</a:t>
            </a:r>
          </a:p>
          <a:p>
            <a:r>
              <a:t>دعي الطالبات يتأملن الصورة والعدسة تتحرك فوق النباتات. لا تذكري الإجابة الآن؛ اكتفي بجمع التوقعات.</a:t>
            </a:r>
          </a:p>
          <a:p>
            <a:r>
              <a:t>كل نقرة تُظهر خطوة: ألاحظ ثم أتوقع ثم أفسر.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الرابعة – مختبر المستكشفات: الأدوات (دقيقة واحدة). استراتيجية: الاستقصاء العلمي (أستكشف ص ٩٧).</a:t>
            </a:r>
          </a:p>
          <a:p>
            <a:r>
              <a:t>تظهر الأدوات تلقائيًا واحدة بعد الأخرى. اطلبي من الطالبات تسمية كل أداة.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خطوات التجربة كما في الكتاب ص ٩٧. كل نقرة تُظهر خطوة جديدة وصورتها.</a:t>
            </a:r>
          </a:p>
          <a:p>
            <a:r>
              <a:t>نفّذي الخطوات عمليًا مع الطالبات أثناء ظهورها.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المؤقت البصري: انقري على زر «ابدئي المؤقت» فيدور العقرب دورة كاملة ويقصر الشريط خلال ٣ دقائق (مدة مختصرة للحصة؛ في الكتاب كل ١٥ دقيقة).</a:t>
            </a:r>
          </a:p>
          <a:p>
            <a:r>
              <a:t>بعد الملاحظة انقري على بطاقة السؤال لتظهر الإجابة.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أستكشف أكثر (ص ٩٧). اطرحي السؤال واستمعي للطالبات، ثم انقري على بطاقة السؤال لتظهر الإجابة.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الاستنتاج العلمي. كل نقرة تُظهر جزءًا من الاستنتاج. اربطي النتيجة بمحافظة النبات على الماء.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الخامسة – الصحراء الحارة (٤ دقائق). استراتيجية: الملاحظة والاكتشاف (ص ٩٨).</a:t>
            </a:r>
          </a:p>
          <a:p>
            <a:r>
              <a:t>تبدأ الشريحة بعبور البوابة الرملية تلقائيًا. كل نقرة تُظهر معلومة.</a:t>
            </a:r>
          </a:p>
          <a:p>
            <a:r>
              <a:t>زرا «النهار» و«الليل» يغيّران المشهد في أي وقت لتوضيح أن الصحراء حارة نهارًا وباردة ليلًا.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بطاقات المفردات (ص ٩٨). انقري على كل بطاقة ليظهر معنى المفردة كما في الكتاب.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السادسة – سر البقاء (ص ٩٨). كل نقرة تُظهر صفة من صفات النباتات الصحراوية.</a:t>
            </a:r>
          </a:p>
          <a:p>
            <a:r>
              <a:t>الشريحة التالية تكبّر الجذور تدريجيًا (انتقال Morph).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أقرأ الشكل (ص ٩٨): يتكبّر النبات لتظهر الجذور. تظهر أسهم الماء تلقائيًا.</a:t>
            </a:r>
          </a:p>
          <a:p>
            <a:r>
              <a:t>لاحظي مع الطالبات اتجاه وصول الماء إلى الجذور، ثم انقري على بطاقة السؤال لتظهر الإجابة.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السابعة – من يسكن الصحراء؟ استراتيجية: من أنا؟</a:t>
            </a:r>
          </a:p>
          <a:p>
            <a:r>
              <a:t>اقرئي اللغز، ودعي الطالبات يخمّنّ، ثم انقري على البطاقة ليظهر الحيوان واسمه.</a:t>
            </a:r>
          </a:p>
          <a:p>
            <a:r>
              <a:t>(حيوانات الصفحة ٩٩ كما وردت في خطة الدرس: الضب، الذئب، القط البري، العقرب.)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تقويم تكويني: اطرحي السؤال واستمعي للطالبات. النقرة الأولى تُظهر لوحة النهار، والثانية لوحة الليل، والثالثة الإجابة الكاملة.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الثامنة – بوابة الثلوج. يصل القطار من الصحراء وتسأل نورة: هل جميع الصحاري حارة؟</a:t>
            </a:r>
          </a:p>
          <a:p>
            <a:r>
              <a:t>اتركي للطالبات فرصة للتوقع، ثم انتقلي للشريحة التالية (Morph) لتتحول الرمال إلى ثلوج.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انتقال Morph: تختفي الرمال وتظهر الجبال الثلجية وتتساقط رقاقات الثلج باستمرار. أعلني: ليست كل الصحاري حارة!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التاسعة – الصحراء الباردة (ص ١٠٠). استراتيجية: ألاحظ وأقارن.</a:t>
            </a:r>
          </a:p>
          <a:p>
            <a:r>
              <a:t>تظهر الحيوانات في موطنها تلقائيًا، ثم كل نقرة تُظهر معلومة من الكتاب.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ألاحظ وأقارن: كيف تتكيف الحيوانات مع البرد؟ كل نقرة تُظهر تكيّفًا.</a:t>
            </a:r>
          </a:p>
          <a:p>
            <a:r>
              <a:t>ثم تسأل نورة عن الثعلب القطبي: انقري على فقاعتها لتظهر الإجابة.</a:t>
            </a:r>
          </a:p>
          <a:p>
            <a:r>
              <a:t>نشاط الكتاب (أستقصي): كيف تستطيع الحيوانات العيش في المنطقة القطبية؟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العاشرة – النباتات القطبية (ص ١٠١). استراتيجية: أقرأ وأستنتج.</a:t>
            </a:r>
          </a:p>
          <a:p>
            <a:r>
              <a:t>كل نقرة تُظهر معلومة، ثم تظهر بطاقة «حقيقة» من الكتاب.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سؤال الكتاب ✔ (ص ١٠١). استمعي لإجابات الطالبات، ثم انقري على بطاقة السؤال لتظهر الإجابة المبسطة.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الحادية عشرة – اكتشفي الخطأ. استراتيجية: تصحيح المفاهيم.</a:t>
            </a:r>
          </a:p>
          <a:p>
            <a:r>
              <a:t>اقرئي كل عبارة، واسألي: صح أم خطأ؟ ثم انقري على العبارة لتظهر علامة الخطأ والتصحيح العلمي.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الثانية عشرة – تحدي المواطن. استراتيجية: التصنيف والمقارنة.</a:t>
            </a:r>
          </a:p>
          <a:p>
            <a:r>
              <a:t>تختار الطالبة بطاقة وتقول موطنها، ثم تنقر عليها فتنتقل البطاقة إلى موطنها الصحيح مع صوت التعزيز (التحقق الذاتي).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الثالثة عشرة – السبورة المنظمة: مقارنة بين الصحاري. كل نقرة تكتب صفًا جديدًا على السبورة.</a:t>
            </a:r>
          </a:p>
          <a:p>
            <a:r>
              <a:t>اطلبي من الطالبات الإجابة قبل إظهار كل صف.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الرابعة عشرة – تقويم الكتاب (أفكر وأتحدث وأكتب ص ١٠١). أسئلة الكتاب كما هي.</a:t>
            </a:r>
          </a:p>
          <a:p>
            <a:r>
              <a:t>انقري على بطاقة كل سؤال لتظهر إجابته تدريجيًا.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العلوم والفن (ص ١٠١): نشاط كما ورد في الكتاب. يمكن تنفيذه في نهاية الحصة أو واجبًا منزليًا.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الخامسة عشرة – كنز المعرفة. استراتيجية: تذكرة الخروج.</a:t>
            </a:r>
          </a:p>
          <a:p>
            <a:r>
              <a:t>انقري على كل سؤال لتظهر إجابته، وبعد الأسئلة الثلاثة انقري على صندوق الكنز ليُفتح وتخرج النجوم الذهبية.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الخاتمة: يعود القطار إلى المدرسة. راجعي مع الطالبات المواطن على الخريطة الصغيرة، وودّعيهن مع نورة.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audio" Target="../media/snd_pop.wav"/><Relationship Id="rId9" Type="http://schemas.openxmlformats.org/officeDocument/2006/relationships/audio" Target="../media/snd_chime.wav"/><Relationship Id="rId10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audio" Target="../media/snd_chime.wav"/><Relationship Id="rId8" Type="http://schemas.openxmlformats.org/officeDocument/2006/relationships/audio" Target="../media/snd_train.wav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0.png"/><Relationship Id="rId5" Type="http://schemas.openxmlformats.org/officeDocument/2006/relationships/image" Target="../media/image11.jpg"/><Relationship Id="rId6" Type="http://schemas.openxmlformats.org/officeDocument/2006/relationships/image" Target="../media/image12.png"/><Relationship Id="rId7" Type="http://schemas.openxmlformats.org/officeDocument/2006/relationships/audio" Target="../media/snd_pop.wav"/><Relationship Id="rId8" Type="http://schemas.openxmlformats.org/officeDocument/2006/relationships/image" Target="../media/image5.png"/><Relationship Id="rId9" Type="http://schemas.openxmlformats.org/officeDocument/2006/relationships/audio" Target="../media/snd_desert_wind.wav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audio" Target="../media/snd_whoosh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audio" Target="../media/snd_pop.wav"/><Relationship Id="rId8" Type="http://schemas.openxmlformats.org/officeDocument/2006/relationships/image" Target="../media/image21.jp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4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0.png"/><Relationship Id="rId8" Type="http://schemas.openxmlformats.org/officeDocument/2006/relationships/image" Target="../media/image22.png"/><Relationship Id="rId9" Type="http://schemas.openxmlformats.org/officeDocument/2006/relationships/image" Target="../media/image8.png"/><Relationship Id="rId10" Type="http://schemas.openxmlformats.org/officeDocument/2006/relationships/audio" Target="../media/snd_chime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26.png"/><Relationship Id="rId7" Type="http://schemas.openxmlformats.org/officeDocument/2006/relationships/image" Target="../media/image22.png"/><Relationship Id="rId8" Type="http://schemas.openxmlformats.org/officeDocument/2006/relationships/image" Target="../media/image5.png"/><Relationship Id="rId9" Type="http://schemas.openxmlformats.org/officeDocument/2006/relationships/audio" Target="../media/snd_chime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7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audio" Target="../media/snd_chime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23.png"/><Relationship Id="rId8" Type="http://schemas.openxmlformats.org/officeDocument/2006/relationships/image" Target="../media/image32.png"/><Relationship Id="rId9" Type="http://schemas.openxmlformats.org/officeDocument/2006/relationships/image" Target="../media/image26.png"/><Relationship Id="rId10" Type="http://schemas.openxmlformats.org/officeDocument/2006/relationships/image" Target="../media/image5.png"/><Relationship Id="rId11" Type="http://schemas.openxmlformats.org/officeDocument/2006/relationships/image" Target="../media/image33.png"/><Relationship Id="rId12" Type="http://schemas.openxmlformats.org/officeDocument/2006/relationships/audio" Target="../media/snd_desert_wind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34.png"/><Relationship Id="rId5" Type="http://schemas.openxmlformats.org/officeDocument/2006/relationships/image" Target="../media/image26.png"/><Relationship Id="rId6" Type="http://schemas.openxmlformats.org/officeDocument/2006/relationships/audio" Target="../media/snd_pop.wav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23.png"/><Relationship Id="rId7" Type="http://schemas.openxmlformats.org/officeDocument/2006/relationships/image" Target="../media/image38.png"/><Relationship Id="rId8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23.png"/><Relationship Id="rId7" Type="http://schemas.openxmlformats.org/officeDocument/2006/relationships/image" Target="../media/image39.jpg"/><Relationship Id="rId8" Type="http://schemas.openxmlformats.org/officeDocument/2006/relationships/audio" Target="../media/snd_chime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audio" Target="../media/snd_chime.wav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45.png"/><Relationship Id="rId5" Type="http://schemas.openxmlformats.org/officeDocument/2006/relationships/image" Target="../media/image41.png"/><Relationship Id="rId6" Type="http://schemas.openxmlformats.org/officeDocument/2006/relationships/image" Target="../media/image29.png"/><Relationship Id="rId7" Type="http://schemas.openxmlformats.org/officeDocument/2006/relationships/image" Target="../media/image42.png"/><Relationship Id="rId8" Type="http://schemas.openxmlformats.org/officeDocument/2006/relationships/image" Target="../media/image30.png"/><Relationship Id="rId9" Type="http://schemas.openxmlformats.org/officeDocument/2006/relationships/audio" Target="../media/snd_chime.wav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Relationship Id="rId4" Type="http://schemas.openxmlformats.org/officeDocument/2006/relationships/image" Target="../media/image29.png"/><Relationship Id="rId5" Type="http://schemas.openxmlformats.org/officeDocument/2006/relationships/image" Target="../media/image46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audio" Target="../media/snd_pop.wav"/><Relationship Id="rId9" Type="http://schemas.openxmlformats.org/officeDocument/2006/relationships/audio" Target="../media/snd_train.wav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7.jpg"/><Relationship Id="rId4" Type="http://schemas.openxmlformats.org/officeDocument/2006/relationships/image" Target="../media/image29.png"/><Relationship Id="rId5" Type="http://schemas.openxmlformats.org/officeDocument/2006/relationships/image" Target="../media/image46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48.png"/><Relationship Id="rId9" Type="http://schemas.openxmlformats.org/officeDocument/2006/relationships/audio" Target="../media/snd_cold_wind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35.png"/><Relationship Id="rId8" Type="http://schemas.openxmlformats.org/officeDocument/2006/relationships/image" Target="../media/image52.png"/><Relationship Id="rId9" Type="http://schemas.openxmlformats.org/officeDocument/2006/relationships/audio" Target="../media/snd_cold_wind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image" Target="../media/image35.png"/><Relationship Id="rId7" Type="http://schemas.openxmlformats.org/officeDocument/2006/relationships/image" Target="../media/image51.png"/><Relationship Id="rId8" Type="http://schemas.openxmlformats.org/officeDocument/2006/relationships/image" Target="../media/image5.png"/><Relationship Id="rId9" Type="http://schemas.openxmlformats.org/officeDocument/2006/relationships/audio" Target="../media/snd_chime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56.png"/><Relationship Id="rId5" Type="http://schemas.openxmlformats.org/officeDocument/2006/relationships/image" Target="../media/image57.jpg"/><Relationship Id="rId6" Type="http://schemas.openxmlformats.org/officeDocument/2006/relationships/image" Target="../media/image58.png"/><Relationship Id="rId7" Type="http://schemas.openxmlformats.org/officeDocument/2006/relationships/audio" Target="../media/snd_pop.wav"/><Relationship Id="rId8" Type="http://schemas.openxmlformats.org/officeDocument/2006/relationships/audio" Target="../media/snd_cold_wind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56.png"/><Relationship Id="rId5" Type="http://schemas.openxmlformats.org/officeDocument/2006/relationships/image" Target="../media/image59.png"/><Relationship Id="rId6" Type="http://schemas.openxmlformats.org/officeDocument/2006/relationships/image" Target="../media/image58.png"/><Relationship Id="rId7" Type="http://schemas.openxmlformats.org/officeDocument/2006/relationships/image" Target="../media/image35.png"/><Relationship Id="rId8" Type="http://schemas.openxmlformats.org/officeDocument/2006/relationships/image" Target="../media/image5.png"/><Relationship Id="rId9" Type="http://schemas.openxmlformats.org/officeDocument/2006/relationships/audio" Target="../media/snd_chime.wav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audio" Target="../media/snd_pop.wav"/><Relationship Id="rId7" Type="http://schemas.openxmlformats.org/officeDocument/2006/relationships/audio" Target="../media/snd_chime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7.jpg"/><Relationship Id="rId4" Type="http://schemas.openxmlformats.org/officeDocument/2006/relationships/image" Target="../media/image9.jpg"/><Relationship Id="rId5" Type="http://schemas.openxmlformats.org/officeDocument/2006/relationships/image" Target="../media/image63.png"/><Relationship Id="rId6" Type="http://schemas.openxmlformats.org/officeDocument/2006/relationships/image" Target="../media/image41.png"/><Relationship Id="rId7" Type="http://schemas.openxmlformats.org/officeDocument/2006/relationships/audio" Target="../media/snd_chime.wav"/><Relationship Id="rId8" Type="http://schemas.openxmlformats.org/officeDocument/2006/relationships/image" Target="../media/image35.png"/><Relationship Id="rId9" Type="http://schemas.openxmlformats.org/officeDocument/2006/relationships/image" Target="../media/image26.png"/><Relationship Id="rId10" Type="http://schemas.openxmlformats.org/officeDocument/2006/relationships/image" Target="../media/image50.png"/><Relationship Id="rId11" Type="http://schemas.openxmlformats.org/officeDocument/2006/relationships/image" Target="../media/image44.png"/><Relationship Id="rId12" Type="http://schemas.openxmlformats.org/officeDocument/2006/relationships/image" Target="../media/image58.png"/><Relationship Id="rId13" Type="http://schemas.openxmlformats.org/officeDocument/2006/relationships/audio" Target="../media/snd_whoosh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Relationship Id="rId3" Type="http://schemas.openxmlformats.org/officeDocument/2006/relationships/notesSlide" Target="../notesSlides/notesSlide23.xml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29.png"/><Relationship Id="rId11" Type="http://schemas.openxmlformats.org/officeDocument/2006/relationships/image" Target="../media/image52.png"/><Relationship Id="rId12" Type="http://schemas.openxmlformats.org/officeDocument/2006/relationships/image" Target="../media/image70.png"/><Relationship Id="rId13" Type="http://schemas.openxmlformats.org/officeDocument/2006/relationships/image" Target="../media/image71.png"/><Relationship Id="rId14" Type="http://schemas.openxmlformats.org/officeDocument/2006/relationships/image" Target="../media/image72.png"/><Relationship Id="rId15" Type="http://schemas.openxmlformats.org/officeDocument/2006/relationships/image" Target="../media/image26.png"/><Relationship Id="rId16" Type="http://schemas.openxmlformats.org/officeDocument/2006/relationships/image" Target="../media/image58.png"/><Relationship Id="rId17" Type="http://schemas.openxmlformats.org/officeDocument/2006/relationships/image" Target="../media/image73.png"/><Relationship Id="rId18" Type="http://schemas.openxmlformats.org/officeDocument/2006/relationships/image" Target="../media/image74.png"/><Relationship Id="rId19" Type="http://schemas.openxmlformats.org/officeDocument/2006/relationships/image" Target="../media/image75.png"/><Relationship Id="rId20" Type="http://schemas.openxmlformats.org/officeDocument/2006/relationships/image" Target="../media/image41.png"/><Relationship Id="rId21" Type="http://schemas.openxmlformats.org/officeDocument/2006/relationships/image" Target="../media/image35.png"/><Relationship Id="rId22" Type="http://schemas.openxmlformats.org/officeDocument/2006/relationships/image" Target="../media/image76.png"/><Relationship Id="rId23" Type="http://schemas.openxmlformats.org/officeDocument/2006/relationships/image" Target="../media/image77.png"/><Relationship Id="rId24" Type="http://schemas.openxmlformats.org/officeDocument/2006/relationships/image" Target="../media/image78.png"/><Relationship Id="rId25" Type="http://schemas.openxmlformats.org/officeDocument/2006/relationships/image" Target="../media/image30.png"/><Relationship Id="rId26" Type="http://schemas.openxmlformats.org/officeDocument/2006/relationships/image" Target="../media/image5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79.png"/><Relationship Id="rId5" Type="http://schemas.openxmlformats.org/officeDocument/2006/relationships/audio" Target="../media/snd_chime.wav"/><Relationship Id="rId6" Type="http://schemas.openxmlformats.org/officeDocument/2006/relationships/audio" Target="../media/snd_whoosh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5.xml"/><Relationship Id="rId4" Type="http://schemas.openxmlformats.org/officeDocument/2006/relationships/image" Target="../media/image80.png"/><Relationship Id="rId5" Type="http://schemas.openxmlformats.org/officeDocument/2006/relationships/image" Target="../media/image29.png"/><Relationship Id="rId6" Type="http://schemas.openxmlformats.org/officeDocument/2006/relationships/image" Target="../media/image26.png"/><Relationship Id="rId7" Type="http://schemas.openxmlformats.org/officeDocument/2006/relationships/image" Target="../media/image41.png"/><Relationship Id="rId8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Relationship Id="rId3" Type="http://schemas.openxmlformats.org/officeDocument/2006/relationships/notesSlide" Target="../notesSlides/notesSlide26.xml"/><Relationship Id="rId4" Type="http://schemas.openxmlformats.org/officeDocument/2006/relationships/image" Target="../media/image82.png"/><Relationship Id="rId5" Type="http://schemas.openxmlformats.org/officeDocument/2006/relationships/audio" Target="../media/snd_pop.wav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audio" Target="../media/snd_sparkle.wav"/><Relationship Id="rId9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Relationship Id="rId3" Type="http://schemas.openxmlformats.org/officeDocument/2006/relationships/notesSlide" Target="../notesSlides/notesSlide27.xml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audio" Target="../media/snd_chime.wav"/><Relationship Id="rId9" Type="http://schemas.openxmlformats.org/officeDocument/2006/relationships/audio" Target="../media/snd_train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خلفية" descr="خلفية المشه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البوابة" descr="ga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603250"/>
            <a:ext cx="7112000" cy="4741333"/>
          </a:xfrm>
          <a:prstGeom prst="rect">
            <a:avLst/>
          </a:prstGeom>
        </p:spPr>
      </p:pic>
      <p:pic>
        <p:nvPicPr>
          <p:cNvPr id="4" name="عنوان الرحلة" descr="t_ga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1047" y="1270000"/>
            <a:ext cx="3789905" cy="63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32200" y="1905000"/>
            <a:ext cx="4927600" cy="4064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2400" b="1" lang="ar-SA">
                <a:solidFill>
                  <a:srgbClr val="FFE27A"/>
                </a:solidFill>
                <a:latin typeface="Arial"/>
                <a:cs typeface="Arial"/>
              </a:rPr>
              <a:t>مغامرة المستكشفات الصغيرات</a:t>
            </a:r>
          </a:p>
        </p:txBody>
      </p:sp>
      <p:sp>
        <p:nvSpPr>
          <p:cNvPr id="6" name="بطاقة الدرس"/>
          <p:cNvSpPr/>
          <p:nvPr/>
        </p:nvSpPr>
        <p:spPr>
          <a:xfrm>
            <a:off x="4064000" y="2698750"/>
            <a:ext cx="4064000" cy="1270000"/>
          </a:xfrm>
          <a:prstGeom prst="roundRect">
            <a:avLst>
              <a:gd name="adj" fmla="val 18000"/>
            </a:avLst>
          </a:prstGeom>
          <a:solidFill>
            <a:srgbClr val="FFFFFF">
              <a:alpha val="92000"/>
            </a:srgbClr>
          </a:solidFill>
          <a:ln w="38100">
            <a:solidFill>
              <a:srgbClr val="8E44AD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100" b="1" lang="ar-SA">
                <a:solidFill>
                  <a:srgbClr val="E8505B"/>
                </a:solidFill>
                <a:latin typeface="Arial"/>
                <a:cs typeface="Arial"/>
              </a:rPr>
              <a:t>المادة: </a:t>
            </a:r>
            <a:r>
              <a:rPr sz="2100" b="1" lang="ar-SA">
                <a:solidFill>
                  <a:srgbClr val="1E2A3A"/>
                </a:solidFill>
                <a:latin typeface="Arial"/>
                <a:cs typeface="Arial"/>
              </a:rPr>
              <a:t>العلوم</a:t>
            </a:r>
          </a:p>
          <a:p>
            <a:pPr algn="ctr" rtl="1">
              <a:lnSpc>
                <a:spcPct val="100000"/>
              </a:lnSpc>
            </a:pPr>
            <a:r>
              <a:rPr sz="2100" b="1" lang="ar-SA">
                <a:solidFill>
                  <a:srgbClr val="E8505B"/>
                </a:solidFill>
                <a:latin typeface="Arial"/>
                <a:cs typeface="Arial"/>
              </a:rPr>
              <a:t>الصف: </a:t>
            </a:r>
            <a:r>
              <a:rPr sz="2100" b="1" lang="ar-SA">
                <a:solidFill>
                  <a:srgbClr val="1E2A3A"/>
                </a:solidFill>
                <a:latin typeface="Arial"/>
                <a:cs typeface="Arial"/>
              </a:rPr>
              <a:t>الثاني الابتدائي</a:t>
            </a:r>
          </a:p>
          <a:p>
            <a:pPr algn="ctr" rtl="1">
              <a:lnSpc>
                <a:spcPct val="100000"/>
              </a:lnSpc>
            </a:pPr>
            <a:r>
              <a:rPr sz="2100" b="1" lang="ar-SA">
                <a:solidFill>
                  <a:srgbClr val="E8505B"/>
                </a:solidFill>
                <a:latin typeface="Arial"/>
                <a:cs typeface="Arial"/>
              </a:rPr>
              <a:t>الدرس: </a:t>
            </a:r>
            <a:r>
              <a:rPr sz="2100" b="1" lang="ar-SA">
                <a:solidFill>
                  <a:srgbClr val="1E2A3A"/>
                </a:solidFill>
                <a:latin typeface="Arial"/>
                <a:cs typeface="Arial"/>
              </a:rPr>
              <a:t>الصحاري الحارة والباردة</a:t>
            </a:r>
          </a:p>
        </p:txBody>
      </p:sp>
      <p:sp>
        <p:nvSpPr>
          <p:cNvPr id="7" name="خانة اليوم"/>
          <p:cNvSpPr/>
          <p:nvPr/>
        </p:nvSpPr>
        <p:spPr>
          <a:xfrm>
            <a:off x="4127500" y="4064000"/>
            <a:ext cx="1905000" cy="381000"/>
          </a:xfrm>
          <a:prstGeom prst="roundRect">
            <a:avLst>
              <a:gd name="adj" fmla="val 18000"/>
            </a:avLst>
          </a:prstGeom>
          <a:solidFill>
            <a:srgbClr val="FFFFFF">
              <a:alpha val="92000"/>
            </a:srgbClr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1900" b="1" lang="ar-SA">
                <a:solidFill>
                  <a:srgbClr val="1E2A3A"/>
                </a:solidFill>
                <a:latin typeface="Arial"/>
                <a:cs typeface="Arial"/>
              </a:rPr>
              <a:t>اليوم: ........</a:t>
            </a:r>
          </a:p>
        </p:txBody>
      </p:sp>
      <p:sp>
        <p:nvSpPr>
          <p:cNvPr id="8" name="خانة التاريخ"/>
          <p:cNvSpPr/>
          <p:nvPr/>
        </p:nvSpPr>
        <p:spPr>
          <a:xfrm>
            <a:off x="6159500" y="4064000"/>
            <a:ext cx="1905000" cy="381000"/>
          </a:xfrm>
          <a:prstGeom prst="roundRect">
            <a:avLst>
              <a:gd name="adj" fmla="val 18000"/>
            </a:avLst>
          </a:prstGeom>
          <a:solidFill>
            <a:srgbClr val="FFFFFF">
              <a:alpha val="92000"/>
            </a:srgbClr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1900" b="1" lang="ar-SA">
                <a:solidFill>
                  <a:srgbClr val="1E2A3A"/>
                </a:solidFill>
                <a:latin typeface="Arial"/>
                <a:cs typeface="Arial"/>
              </a:rPr>
              <a:t>التاريخ: ........</a:t>
            </a:r>
          </a:p>
        </p:txBody>
      </p:sp>
      <p:pic>
        <p:nvPicPr>
          <p:cNvPr id="9" name="!!train" descr="قطار المستكشفات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7640" y="5143500"/>
            <a:ext cx="4826000" cy="1246717"/>
          </a:xfrm>
          <a:prstGeom prst="rect">
            <a:avLst/>
          </a:prstGeom>
        </p:spPr>
      </p:pic>
      <p:pic>
        <p:nvPicPr>
          <p:cNvPr id="10" name="!!noura" descr="المستكشفة نورة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4250" y="3175000"/>
            <a:ext cx="2286000" cy="3429000"/>
          </a:xfrm>
          <a:prstGeom prst="rect">
            <a:avLst/>
          </a:prstGeom>
        </p:spPr>
      </p:pic>
      <p:sp>
        <p:nvSpPr>
          <p:cNvPr id="11" name="فقاعة نورة"/>
          <p:cNvSpPr/>
          <p:nvPr/>
        </p:nvSpPr>
        <p:spPr>
          <a:xfrm>
            <a:off x="8255000" y="889000"/>
            <a:ext cx="3810000" cy="1587500"/>
          </a:xfrm>
          <a:prstGeom prst="wedgeRoundRectCallout">
            <a:avLst>
              <a:gd name="adj1" fmla="val 16666"/>
              <a:gd name="adj2" fmla="val 102000"/>
              <a:gd name="adj3" fmla="val 16667"/>
            </a:avLst>
          </a:prstGeom>
          <a:solidFill>
            <a:srgbClr val="FFFFFF"/>
          </a:solidFill>
          <a:ln w="50800">
            <a:solidFill>
              <a:srgbClr val="F5A623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 rtl="1"/>
            <a:r>
              <a:rPr sz="2200" b="1" lang="ar-SA">
                <a:solidFill>
                  <a:srgbClr val="E8505B"/>
                </a:solidFill>
                <a:latin typeface="Arial"/>
                <a:cs typeface="Arial"/>
              </a:rPr>
              <a:t>نورة: </a:t>
            </a:r>
            <a:r>
              <a:rPr sz="2200" b="1" lang="ar-SA">
                <a:solidFill>
                  <a:srgbClr val="1E2A3A"/>
                </a:solidFill>
                <a:latin typeface="Arial"/>
                <a:cs typeface="Arial"/>
              </a:rPr>
              <a:t>مرحبًا بمستكشفاتي الصغيرات! هل أنتن مستعدات لرحلة علمية ممتعة؟</a:t>
            </a:r>
          </a:p>
        </p:txBody>
      </p:sp>
      <p:sp>
        <p:nvSpPr>
          <p:cNvPr id="12" name="زر هيا ننطلق">
            <a:hlinkClick action="ppaction://hlinksldjump" r:id="rId10"/>
          </p:cNvPr>
          <p:cNvSpPr/>
          <p:nvPr/>
        </p:nvSpPr>
        <p:spPr>
          <a:xfrm>
            <a:off x="5080000" y="5651500"/>
            <a:ext cx="2413000" cy="609600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 w="635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3400" b="1" lang="ar-SA">
                <a:solidFill>
                  <a:srgbClr val="FFFFFF"/>
                </a:solidFill>
                <a:latin typeface="Arial"/>
                <a:cs typeface="Arial"/>
              </a:rPr>
              <a:t>هيا ننطلق!</a:t>
            </a:r>
          </a:p>
        </p:txBody>
      </p:sp>
      <p:sp>
        <p:nvSpPr>
          <p:cNvPr id="13" name="توقيع المعلمة"/>
          <p:cNvSpPr/>
          <p:nvPr/>
        </p:nvSpPr>
        <p:spPr>
          <a:xfrm>
            <a:off x="177800" y="6426200"/>
            <a:ext cx="2794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إعداد وتنفيذ: أ/ شامه البقمي</a:t>
            </a:r>
          </a:p>
        </p:txBody>
      </p:sp>
    </p:spTree>
  </p:cSld>
  <p:clrMapOvr>
    <a:masterClrMapping/>
  </p:clrMapOvr>
  <p:transition xmlns:mc="http://schemas.openxmlformats.org/markup-compatibility/2006" xmlns:p14="http://schemas.microsoft.com/office/powerpoint/2010/main" xmlns:p159="http://schemas.microsoft.com/office/powerpoint/2015/09/main" spd="slow">
    <p:fade/>
    <p:sndAc>
      <p:stSnd>
        <p:snd r:embed="rId9" name="chime.wav"/>
      </p:stSnd>
    </p:sndAc>
  </p:transition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200 0.0000 E" pathEditMode="relative" ptsTypes="">
                                      <p:cBhvr>
                                        <p:cTn id="6" dur="2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"/>
                            </p:stCondLst>
                            <p:childTnLst>
                              <p:par>
                                <p:cTn id="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19" display="0" masterRel="sameClick">
                                          <p:stCondLst>
                                            <p:cond evt="onBegin" delay="0">
                                              <p:tn val="14"/>
                                            </p:cond>
                                          </p:stCondLst>
                                        </p:cTn>
                                        <p:tgtEl>
                                          <p:sndTgt r:embed="rId8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6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70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خلفية" descr="خلفية المشه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عنوان" descr="عنوان المحطة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0159" y="139700"/>
            <a:ext cx="3411682" cy="952500"/>
          </a:xfrm>
          <a:prstGeom prst="rect">
            <a:avLst/>
          </a:prstGeom>
        </p:spPr>
      </p:pic>
      <p:sp>
        <p:nvSpPr>
          <p:cNvPr id="4" name="رقم المحطة"/>
          <p:cNvSpPr/>
          <p:nvPr/>
        </p:nvSpPr>
        <p:spPr>
          <a:xfrm>
            <a:off x="10414000" y="215900"/>
            <a:ext cx="1587500" cy="4064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المحطة ٢</a:t>
            </a:r>
          </a:p>
        </p:txBody>
      </p:sp>
      <p:pic>
        <p:nvPicPr>
          <p:cNvPr id="5" name="!!train" descr="قطار الذكريات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7500" y="2959100"/>
            <a:ext cx="12065000" cy="3116792"/>
          </a:xfrm>
          <a:prstGeom prst="rect">
            <a:avLst/>
          </a:prstGeom>
        </p:spPr>
      </p:pic>
      <p:sp>
        <p:nvSpPr>
          <p:cNvPr id="6" name="نافذة 1"/>
          <p:cNvSpPr txBox="1"/>
          <p:nvPr/>
        </p:nvSpPr>
        <p:spPr>
          <a:xfrm>
            <a:off x="18593329" y="3695700"/>
            <a:ext cx="2343150" cy="12446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3000" b="1" lang="ar-SA">
                <a:solidFill>
                  <a:srgbClr val="E8505B"/>
                </a:solidFill>
                <a:latin typeface="Arial"/>
                <a:cs typeface="Arial"/>
              </a:rPr>
              <a:t>١  </a:t>
            </a:r>
            <a:r>
              <a:rPr sz="2400" b="1" lang="ar-SA">
                <a:solidFill>
                  <a:srgbClr val="1E2A3A"/>
                </a:solidFill>
                <a:latin typeface="Arial"/>
                <a:cs typeface="Arial"/>
              </a:rPr>
              <a:t>ما الموطن؟</a:t>
            </a:r>
          </a:p>
        </p:txBody>
      </p:sp>
      <p:sp>
        <p:nvSpPr>
          <p:cNvPr id="7" name="إجابة 1"/>
          <p:cNvSpPr/>
          <p:nvPr/>
        </p:nvSpPr>
        <p:spPr>
          <a:xfrm>
            <a:off x="9157229" y="1244600"/>
            <a:ext cx="2933700" cy="1587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50800">
            <a:solidFill>
              <a:srgbClr val="F5A623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1900" b="1" lang="ar-SA">
                <a:solidFill>
                  <a:srgbClr val="1E2A3A"/>
                </a:solidFill>
                <a:latin typeface="Arial"/>
                <a:cs typeface="Arial"/>
              </a:rPr>
              <a:t>الموطن هو المكان الذي يعيش فيه المخلوق الحي، ويجد فيه ما يحتاج إليه.</a:t>
            </a:r>
          </a:p>
          <a:p>
            <a:pPr algn="ctr" rtl="1">
              <a:lnSpc>
                <a:spcPct val="100000"/>
              </a:lnSpc>
            </a:pPr>
            <a:r>
              <a:rPr sz="1900" b="1" lang="ar-SA">
                <a:solidFill>
                  <a:srgbClr val="27AE60"/>
                </a:solidFill>
                <a:latin typeface="Arial"/>
                <a:cs typeface="Arial"/>
              </a:rPr>
              <a:t>أحسنتِ يا مستكشفة!</a:t>
            </a:r>
          </a:p>
        </p:txBody>
      </p:sp>
      <p:pic>
        <p:nvPicPr>
          <p:cNvPr id="8" name="نجمة 1" descr="sta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46429" y="1079500"/>
            <a:ext cx="533400" cy="533400"/>
          </a:xfrm>
          <a:prstGeom prst="rect">
            <a:avLst/>
          </a:prstGeom>
        </p:spPr>
      </p:pic>
      <p:sp>
        <p:nvSpPr>
          <p:cNvPr id="9" name="نافذة 2"/>
          <p:cNvSpPr txBox="1"/>
          <p:nvPr/>
        </p:nvSpPr>
        <p:spPr>
          <a:xfrm>
            <a:off x="15526808" y="3695700"/>
            <a:ext cx="2343150" cy="12446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3000" b="1" lang="ar-SA">
                <a:solidFill>
                  <a:srgbClr val="E8505B"/>
                </a:solidFill>
                <a:latin typeface="Arial"/>
                <a:cs typeface="Arial"/>
              </a:rPr>
              <a:t>٢  </a:t>
            </a:r>
            <a:r>
              <a:rPr sz="2400" b="1" lang="ar-SA">
                <a:solidFill>
                  <a:srgbClr val="1E2A3A"/>
                </a:solidFill>
                <a:latin typeface="Arial"/>
                <a:cs typeface="Arial"/>
              </a:rPr>
              <a:t>ماذا تحتاج المخلوقات الحية لتعيش؟</a:t>
            </a:r>
          </a:p>
        </p:txBody>
      </p:sp>
      <p:sp>
        <p:nvSpPr>
          <p:cNvPr id="10" name="إجابة 2"/>
          <p:cNvSpPr/>
          <p:nvPr/>
        </p:nvSpPr>
        <p:spPr>
          <a:xfrm>
            <a:off x="6090708" y="1244600"/>
            <a:ext cx="2933700" cy="1587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50800">
            <a:solidFill>
              <a:srgbClr val="F5A623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1900" b="1" lang="ar-SA">
                <a:solidFill>
                  <a:srgbClr val="1E2A3A"/>
                </a:solidFill>
                <a:latin typeface="Arial"/>
                <a:cs typeface="Arial"/>
              </a:rPr>
              <a:t>تحتاج إلى الماء والغذاء والهواء والمأوى.</a:t>
            </a:r>
          </a:p>
          <a:p>
            <a:pPr algn="ctr" rtl="1">
              <a:lnSpc>
                <a:spcPct val="100000"/>
              </a:lnSpc>
            </a:pPr>
            <a:r>
              <a:rPr sz="1900" b="1" lang="ar-SA">
                <a:solidFill>
                  <a:srgbClr val="27AE60"/>
                </a:solidFill>
                <a:latin typeface="Arial"/>
                <a:cs typeface="Arial"/>
              </a:rPr>
              <a:t>أحسنتِ يا مستكشفة!</a:t>
            </a:r>
          </a:p>
        </p:txBody>
      </p:sp>
      <p:pic>
        <p:nvPicPr>
          <p:cNvPr id="11" name="نجمة 2" descr="sta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9908" y="1079500"/>
            <a:ext cx="533400" cy="533400"/>
          </a:xfrm>
          <a:prstGeom prst="rect">
            <a:avLst/>
          </a:prstGeom>
        </p:spPr>
      </p:pic>
      <p:sp>
        <p:nvSpPr>
          <p:cNvPr id="12" name="نافذة 3"/>
          <p:cNvSpPr txBox="1"/>
          <p:nvPr/>
        </p:nvSpPr>
        <p:spPr>
          <a:xfrm>
            <a:off x="12460288" y="3695700"/>
            <a:ext cx="2343150" cy="12446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3000" b="1" lang="ar-SA">
                <a:solidFill>
                  <a:srgbClr val="E8505B"/>
                </a:solidFill>
                <a:latin typeface="Arial"/>
                <a:cs typeface="Arial"/>
              </a:rPr>
              <a:t>٣  </a:t>
            </a:r>
            <a:r>
              <a:rPr sz="2400" b="1" lang="ar-SA">
                <a:solidFill>
                  <a:srgbClr val="1E2A3A"/>
                </a:solidFill>
                <a:latin typeface="Arial"/>
                <a:cs typeface="Arial"/>
              </a:rPr>
              <a:t>هل تعيش جميع الحيوانات في المكان نفسه؟</a:t>
            </a:r>
          </a:p>
        </p:txBody>
      </p:sp>
      <p:sp>
        <p:nvSpPr>
          <p:cNvPr id="13" name="إجابة 3"/>
          <p:cNvSpPr/>
          <p:nvPr/>
        </p:nvSpPr>
        <p:spPr>
          <a:xfrm>
            <a:off x="3024188" y="1244600"/>
            <a:ext cx="2933700" cy="1587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50800">
            <a:solidFill>
              <a:srgbClr val="F5A623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1900" b="1" lang="ar-SA">
                <a:solidFill>
                  <a:srgbClr val="1E2A3A"/>
                </a:solidFill>
                <a:latin typeface="Arial"/>
                <a:cs typeface="Arial"/>
              </a:rPr>
              <a:t>لا، لكل حيوان موطن يناسبه؛ بعضها في الصحراء، وبعضها في المناطق الباردة.</a:t>
            </a:r>
          </a:p>
          <a:p>
            <a:pPr algn="ctr" rtl="1">
              <a:lnSpc>
                <a:spcPct val="100000"/>
              </a:lnSpc>
            </a:pPr>
            <a:r>
              <a:rPr sz="1900" b="1" lang="ar-SA">
                <a:solidFill>
                  <a:srgbClr val="27AE60"/>
                </a:solidFill>
                <a:latin typeface="Arial"/>
                <a:cs typeface="Arial"/>
              </a:rPr>
              <a:t>أحسنتِ يا مستكشفة!</a:t>
            </a:r>
          </a:p>
        </p:txBody>
      </p:sp>
      <p:pic>
        <p:nvPicPr>
          <p:cNvPr id="14" name="نجمة 3" descr="sta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3388" y="1079500"/>
            <a:ext cx="533400" cy="533400"/>
          </a:xfrm>
          <a:prstGeom prst="rect">
            <a:avLst/>
          </a:prstGeom>
        </p:spPr>
      </p:pic>
      <p:sp>
        <p:nvSpPr>
          <p:cNvPr id="15" name="توقيع المعلمة"/>
          <p:cNvSpPr/>
          <p:nvPr/>
        </p:nvSpPr>
        <p:spPr>
          <a:xfrm>
            <a:off x="177800" y="64262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أ/ شامه البقمي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1800">
        <p14:conveyor dir="l"/>
        <p:sndAc>
          <p:stSnd>
            <p:snd r:embed="rId8" name="train.wav"/>
          </p:stSnd>
        </p:sndAc>
      </p:transition>
    </mc:Choice>
    <mc:Fallback>
      <p:transition spd="slow">
        <p:push dir="l"/>
        <p:sndAc>
          <p:stSnd>
            <p:snd r:embed="rId8" name="train.wav"/>
          </p:stSnd>
        </p:sndAc>
      </p:transition>
    </mc:Fallback>
  </mc:AlternateContent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7500 0.0000 E" pathEditMode="relative" ptsTypes="">
                                      <p:cBhvr>
                                        <p:cTn id="6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7500 0.0000 E" pathEditMode="relative" ptsTypes="">
                                      <p:cBhvr>
                                        <p:cTn id="8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7500 0.0000 E" pathEditMode="relative" ptsTypes="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7500 0.0000 E" pathEditMode="relative" ptsTypes="">
                                      <p:cBhvr>
                                        <p:cTn id="12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26" display="0" masterRel="sameClick">
                                          <p:stCondLst>
                                            <p:cond evt="onBegin" delay="0">
                                              <p:tn val="21"/>
                                            </p:cond>
                                          </p:stCondLst>
                                        </p:cTn>
                                        <p:tgtEl>
                                          <p:sndTgt r:embed="rId7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8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9" dur="9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43" display="0" masterRel="sameClick">
                                          <p:stCondLst>
                                            <p:cond evt="onBegin" delay="0">
                                              <p:tn val="38"/>
                                            </p:cond>
                                          </p:stCondLst>
                                        </p:cTn>
                                        <p:tgtEl>
                                          <p:sndTgt r:embed="rId7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"/>
                            </p:stCondLst>
                            <p:childTnLst>
                              <p:par>
                                <p:cTn id="45" presetID="8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6" dur="9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60" display="0" masterRel="sameClick">
                                          <p:stCondLst>
                                            <p:cond evt="onBegin" delay="0">
                                              <p:tn val="55"/>
                                            </p:cond>
                                          </p:stCondLst>
                                        </p:cTn>
                                        <p:tgtEl>
                                          <p:sndTgt r:embed="rId7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00"/>
                            </p:stCondLst>
                            <p:childTnLst>
                              <p:par>
                                <p:cTn id="62" presetID="8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3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خلفية" descr="خلفية المشه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عنوان" descr="عنوان المحطة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432" y="139700"/>
            <a:ext cx="3527136" cy="952500"/>
          </a:xfrm>
          <a:prstGeom prst="rect">
            <a:avLst/>
          </a:prstGeom>
        </p:spPr>
      </p:pic>
      <p:sp>
        <p:nvSpPr>
          <p:cNvPr id="4" name="رقم المحطة"/>
          <p:cNvSpPr/>
          <p:nvPr/>
        </p:nvSpPr>
        <p:spPr>
          <a:xfrm>
            <a:off x="10414000" y="215900"/>
            <a:ext cx="1587500" cy="4064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المحطة ٣</a:t>
            </a:r>
          </a:p>
        </p:txBody>
      </p:sp>
      <p:sp>
        <p:nvSpPr>
          <p:cNvPr id="5" name="إطار صورة الكتاب"/>
          <p:cNvSpPr/>
          <p:nvPr/>
        </p:nvSpPr>
        <p:spPr>
          <a:xfrm>
            <a:off x="444500" y="1428750"/>
            <a:ext cx="7620000" cy="4381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0">
            <a:solidFill>
              <a:srgbClr val="E67E22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صورة الكتاب" descr="صورة الكتاب: نباتات في الصحراء – محمية الملك عبدالعزيز الملكية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00" y="1568450"/>
            <a:ext cx="7340600" cy="327231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4200" y="5524500"/>
            <a:ext cx="2667000" cy="25400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5240" bIns="1524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صورة من كتابي – صفحة ٩٦</a:t>
            </a:r>
          </a:p>
        </p:txBody>
      </p:sp>
      <p:pic>
        <p:nvPicPr>
          <p:cNvPr id="8" name="العدسة المكبرة" descr="magnifi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556000"/>
            <a:ext cx="1460500" cy="14605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18500" y="1460500"/>
            <a:ext cx="3556000" cy="406400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400" b="1" lang="ar-SA">
                <a:solidFill>
                  <a:srgbClr val="FFFFFF"/>
                </a:solidFill>
                <a:latin typeface="Arial"/>
                <a:cs typeface="Arial"/>
              </a:rPr>
              <a:t>أنظر وأتساءل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18500" y="1936750"/>
            <a:ext cx="3556000" cy="762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50800">
            <a:solidFill>
              <a:srgbClr val="2E86DE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600" b="1" lang="ar-SA">
                <a:solidFill>
                  <a:srgbClr val="1E2A3A"/>
                </a:solidFill>
                <a:latin typeface="Arial"/>
                <a:cs typeface="Arial"/>
              </a:rPr>
              <a:t>كيف تبقى هذه النباتات حية؟</a:t>
            </a:r>
          </a:p>
        </p:txBody>
      </p:sp>
      <p:sp>
        <p:nvSpPr>
          <p:cNvPr id="11" name="خطوة ألاحظ"/>
          <p:cNvSpPr/>
          <p:nvPr/>
        </p:nvSpPr>
        <p:spPr>
          <a:xfrm>
            <a:off x="8318500" y="2857500"/>
            <a:ext cx="3556000" cy="584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50800">
            <a:solidFill>
              <a:srgbClr val="27AE60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600" b="1" lang="ar-SA">
                <a:solidFill>
                  <a:srgbClr val="27AE60"/>
                </a:solidFill>
                <a:latin typeface="Arial"/>
                <a:cs typeface="Arial"/>
              </a:rPr>
              <a:t>ألاحظ: </a:t>
            </a:r>
            <a:r>
              <a:rPr sz="1900" b="1" lang="ar-SA">
                <a:solidFill>
                  <a:srgbClr val="1E2A3A"/>
                </a:solidFill>
                <a:latin typeface="Arial"/>
                <a:cs typeface="Arial"/>
              </a:rPr>
              <a:t>ماذا أرى في الصورة؟</a:t>
            </a:r>
          </a:p>
        </p:txBody>
      </p:sp>
      <p:sp>
        <p:nvSpPr>
          <p:cNvPr id="12" name="خطوة أتوقع"/>
          <p:cNvSpPr/>
          <p:nvPr/>
        </p:nvSpPr>
        <p:spPr>
          <a:xfrm>
            <a:off x="8318500" y="3524250"/>
            <a:ext cx="3556000" cy="584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50800">
            <a:solidFill>
              <a:srgbClr val="F39C12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600" b="1" lang="ar-SA">
                <a:solidFill>
                  <a:srgbClr val="F39C12"/>
                </a:solidFill>
                <a:latin typeface="Arial"/>
                <a:cs typeface="Arial"/>
              </a:rPr>
              <a:t>أتوقع: </a:t>
            </a:r>
            <a:r>
              <a:rPr sz="1900" b="1" lang="ar-SA">
                <a:solidFill>
                  <a:srgbClr val="1E2A3A"/>
                </a:solidFill>
                <a:latin typeface="Arial"/>
                <a:cs typeface="Arial"/>
              </a:rPr>
              <a:t>كيف تحصل النباتات على الماء؟</a:t>
            </a:r>
          </a:p>
        </p:txBody>
      </p:sp>
      <p:sp>
        <p:nvSpPr>
          <p:cNvPr id="13" name="خطوة أفسر"/>
          <p:cNvSpPr/>
          <p:nvPr/>
        </p:nvSpPr>
        <p:spPr>
          <a:xfrm>
            <a:off x="8318500" y="4191000"/>
            <a:ext cx="3556000" cy="584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50800">
            <a:solidFill>
              <a:srgbClr val="8E44AD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600" b="1" lang="ar-SA">
                <a:solidFill>
                  <a:srgbClr val="8E44AD"/>
                </a:solidFill>
                <a:latin typeface="Arial"/>
                <a:cs typeface="Arial"/>
              </a:rPr>
              <a:t>أفسر: </a:t>
            </a:r>
            <a:r>
              <a:rPr sz="1900" b="1" lang="ar-SA">
                <a:solidFill>
                  <a:srgbClr val="1E2A3A"/>
                </a:solidFill>
                <a:latin typeface="Arial"/>
                <a:cs typeface="Arial"/>
              </a:rPr>
              <a:t>لماذا تستطيع العيش هنا؟</a:t>
            </a:r>
          </a:p>
        </p:txBody>
      </p:sp>
      <p:pic>
        <p:nvPicPr>
          <p:cNvPr id="14" name="!!noura" descr="المستكشفة نورة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6500" y="4889500"/>
            <a:ext cx="1270000" cy="1905000"/>
          </a:xfrm>
          <a:prstGeom prst="rect">
            <a:avLst/>
          </a:prstGeom>
        </p:spPr>
      </p:pic>
      <p:sp>
        <p:nvSpPr>
          <p:cNvPr id="15" name="فقاعة نورة"/>
          <p:cNvSpPr/>
          <p:nvPr/>
        </p:nvSpPr>
        <p:spPr>
          <a:xfrm>
            <a:off x="6413500" y="6000750"/>
            <a:ext cx="3556000" cy="571500"/>
          </a:xfrm>
          <a:prstGeom prst="wedgeRoundRectCallout">
            <a:avLst>
              <a:gd name="adj1" fmla="val 55357"/>
              <a:gd name="adj2" fmla="val -33333"/>
              <a:gd name="adj3" fmla="val 16667"/>
            </a:avLst>
          </a:prstGeom>
          <a:solidFill>
            <a:srgbClr val="FFFFFF"/>
          </a:solidFill>
          <a:ln w="50800">
            <a:solidFill>
              <a:srgbClr val="F5A623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 rtl="1"/>
            <a:r>
              <a:rPr sz="1900" b="1" lang="ar-SA">
                <a:solidFill>
                  <a:srgbClr val="E8505B"/>
                </a:solidFill>
                <a:latin typeface="Arial"/>
                <a:cs typeface="Arial"/>
              </a:rPr>
              <a:t>نورة: </a:t>
            </a:r>
            <a:r>
              <a:rPr sz="1900" b="1" lang="ar-SA">
                <a:solidFill>
                  <a:srgbClr val="1E2A3A"/>
                </a:solidFill>
                <a:latin typeface="Arial"/>
                <a:cs typeface="Arial"/>
              </a:rPr>
              <a:t>استخدمن العدسة... ماذا تلاحظن؟</a:t>
            </a:r>
          </a:p>
        </p:txBody>
      </p:sp>
      <p:sp>
        <p:nvSpPr>
          <p:cNvPr id="16" name="توقيع المعلمة"/>
          <p:cNvSpPr/>
          <p:nvPr/>
        </p:nvSpPr>
        <p:spPr>
          <a:xfrm>
            <a:off x="177800" y="64262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أ/ شامه البقمي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1600">
        <p14:flythrough/>
        <p:sndAc>
          <p:stSnd>
            <p:snd r:embed="rId9" name="desert_wind.wav"/>
          </p:stSnd>
        </p:sndAc>
      </p:transition>
    </mc:Choice>
    <mc:Fallback>
      <p:transition spd="slow">
        <p:zoom/>
        <p:sndAc>
          <p:stSnd>
            <p:snd r:embed="rId9" name="desert_wind.wav"/>
          </p:stSnd>
        </p:sndAc>
      </p:transition>
    </mc:Fallback>
  </mc:AlternateContent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utoRev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2 -0.1 0.25 0.05 0.4 -0.02 E" pathEditMode="relative" ptsTypes="">
                                      <p:cBhvr>
                                        <p:cTn id="6" dur="7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13" display="0" masterRel="sameClick">
                                          <p:stCondLst>
                                            <p:cond evt="onBegin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20" display="0" masterRel="sameClick">
                                          <p:stCondLst>
                                            <p:cond evt="onBegin" delay="0">
                                              <p:tn val="16"/>
                                            </p:cond>
                                          </p:st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27" display="0" masterRel="sameClick">
                                          <p:stCondLst>
                                            <p:cond evt="onBegin" delay="0">
                                              <p:tn val="23"/>
                                            </p:cond>
                                          </p:st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خلفية" descr="خلفية المشه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عنوان" descr="عنوان المحطة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4568" y="139700"/>
            <a:ext cx="5262864" cy="952500"/>
          </a:xfrm>
          <a:prstGeom prst="rect">
            <a:avLst/>
          </a:prstGeom>
        </p:spPr>
      </p:pic>
      <p:sp>
        <p:nvSpPr>
          <p:cNvPr id="4" name="رقم المحطة"/>
          <p:cNvSpPr/>
          <p:nvPr/>
        </p:nvSpPr>
        <p:spPr>
          <a:xfrm>
            <a:off x="10414000" y="215900"/>
            <a:ext cx="1587500" cy="4064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المحطة 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6000" y="1428750"/>
            <a:ext cx="10160000" cy="635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50800">
            <a:solidFill>
              <a:srgbClr val="16A085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3000" b="1" lang="ar-SA">
                <a:solidFill>
                  <a:srgbClr val="E8505B"/>
                </a:solidFill>
                <a:latin typeface="Arial"/>
                <a:cs typeface="Arial"/>
              </a:rPr>
              <a:t>أستكشف: </a:t>
            </a:r>
            <a:r>
              <a:rPr sz="3000" b="1" lang="ar-SA">
                <a:solidFill>
                  <a:srgbClr val="1E2A3A"/>
                </a:solidFill>
                <a:latin typeface="Arial"/>
                <a:cs typeface="Arial"/>
              </a:rPr>
              <a:t>كيف يساعد شكل الورقة على نمو النبات؟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79000" y="2190750"/>
            <a:ext cx="2159000" cy="41910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600" b="1" lang="ar-SA">
                <a:solidFill>
                  <a:srgbClr val="FFFFFF"/>
                </a:solidFill>
                <a:latin typeface="Arial"/>
                <a:cs typeface="Arial"/>
              </a:rPr>
              <a:t>أحتاج إلى:</a:t>
            </a:r>
          </a:p>
        </p:txBody>
      </p:sp>
      <p:sp>
        <p:nvSpPr>
          <p:cNvPr id="7" name="بطاقة مناشف ورقية"/>
          <p:cNvSpPr/>
          <p:nvPr/>
        </p:nvSpPr>
        <p:spPr>
          <a:xfrm>
            <a:off x="10033000" y="2730500"/>
            <a:ext cx="1905000" cy="241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0">
            <a:solidFill>
              <a:srgbClr val="16A085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مناشف ورقية" descr="tool_towe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1750" y="2952750"/>
            <a:ext cx="1587500" cy="1270000"/>
          </a:xfrm>
          <a:prstGeom prst="rect">
            <a:avLst/>
          </a:prstGeom>
        </p:spPr>
      </p:pic>
      <p:sp>
        <p:nvSpPr>
          <p:cNvPr id="9" name="اسم مناشف ورقية"/>
          <p:cNvSpPr txBox="1"/>
          <p:nvPr/>
        </p:nvSpPr>
        <p:spPr>
          <a:xfrm>
            <a:off x="10096500" y="4445000"/>
            <a:ext cx="1778000" cy="6096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2600" b="1" lang="ar-SA">
                <a:solidFill>
                  <a:srgbClr val="1E2A3A"/>
                </a:solidFill>
                <a:latin typeface="Arial"/>
                <a:cs typeface="Arial"/>
              </a:rPr>
              <a:t>مناشف ورقية</a:t>
            </a:r>
          </a:p>
        </p:txBody>
      </p:sp>
      <p:sp>
        <p:nvSpPr>
          <p:cNvPr id="10" name="بطاقة مقص"/>
          <p:cNvSpPr/>
          <p:nvPr/>
        </p:nvSpPr>
        <p:spPr>
          <a:xfrm>
            <a:off x="7842250" y="2730500"/>
            <a:ext cx="1905000" cy="241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0">
            <a:solidFill>
              <a:srgbClr val="16A085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مقص" descr="tool_scissor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2952750"/>
            <a:ext cx="1587500" cy="1270000"/>
          </a:xfrm>
          <a:prstGeom prst="rect">
            <a:avLst/>
          </a:prstGeom>
        </p:spPr>
      </p:pic>
      <p:sp>
        <p:nvSpPr>
          <p:cNvPr id="12" name="اسم مقص"/>
          <p:cNvSpPr txBox="1"/>
          <p:nvPr/>
        </p:nvSpPr>
        <p:spPr>
          <a:xfrm>
            <a:off x="7905750" y="4445000"/>
            <a:ext cx="1778000" cy="6096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2600" b="1" lang="ar-SA">
                <a:solidFill>
                  <a:srgbClr val="1E2A3A"/>
                </a:solidFill>
                <a:latin typeface="Arial"/>
                <a:cs typeface="Arial"/>
              </a:rPr>
              <a:t>مقص</a:t>
            </a:r>
          </a:p>
        </p:txBody>
      </p:sp>
      <p:sp>
        <p:nvSpPr>
          <p:cNvPr id="13" name="بطاقة ماء"/>
          <p:cNvSpPr/>
          <p:nvPr/>
        </p:nvSpPr>
        <p:spPr>
          <a:xfrm>
            <a:off x="5651500" y="2730500"/>
            <a:ext cx="1905000" cy="241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0">
            <a:solidFill>
              <a:srgbClr val="16A085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ماء" descr="tool_wat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8875" y="2857500"/>
            <a:ext cx="730250" cy="1460500"/>
          </a:xfrm>
          <a:prstGeom prst="rect">
            <a:avLst/>
          </a:prstGeom>
        </p:spPr>
      </p:pic>
      <p:sp>
        <p:nvSpPr>
          <p:cNvPr id="15" name="اسم ماء"/>
          <p:cNvSpPr txBox="1"/>
          <p:nvPr/>
        </p:nvSpPr>
        <p:spPr>
          <a:xfrm>
            <a:off x="5715000" y="4445000"/>
            <a:ext cx="1778000" cy="6096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2600" b="1" lang="ar-SA">
                <a:solidFill>
                  <a:srgbClr val="1E2A3A"/>
                </a:solidFill>
                <a:latin typeface="Arial"/>
                <a:cs typeface="Arial"/>
              </a:rPr>
              <a:t>ماء</a:t>
            </a:r>
          </a:p>
        </p:txBody>
      </p:sp>
      <p:sp>
        <p:nvSpPr>
          <p:cNvPr id="16" name="بطاقة شريط لاصق"/>
          <p:cNvSpPr/>
          <p:nvPr/>
        </p:nvSpPr>
        <p:spPr>
          <a:xfrm>
            <a:off x="3460750" y="2730500"/>
            <a:ext cx="1905000" cy="241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0">
            <a:solidFill>
              <a:srgbClr val="16A085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شريط لاصق" descr="tool_tap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9500" y="2952750"/>
            <a:ext cx="1587500" cy="1270000"/>
          </a:xfrm>
          <a:prstGeom prst="rect">
            <a:avLst/>
          </a:prstGeom>
        </p:spPr>
      </p:pic>
      <p:sp>
        <p:nvSpPr>
          <p:cNvPr id="18" name="اسم شريط لاصق"/>
          <p:cNvSpPr txBox="1"/>
          <p:nvPr/>
        </p:nvSpPr>
        <p:spPr>
          <a:xfrm>
            <a:off x="3524250" y="4445000"/>
            <a:ext cx="1778000" cy="6096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2600" b="1" lang="ar-SA">
                <a:solidFill>
                  <a:srgbClr val="1E2A3A"/>
                </a:solidFill>
                <a:latin typeface="Arial"/>
                <a:cs typeface="Arial"/>
              </a:rPr>
              <a:t>شريط لاصق</a:t>
            </a:r>
          </a:p>
        </p:txBody>
      </p:sp>
      <p:sp>
        <p:nvSpPr>
          <p:cNvPr id="19" name="بطاقة ورق تغليف بلاستيكي"/>
          <p:cNvSpPr/>
          <p:nvPr/>
        </p:nvSpPr>
        <p:spPr>
          <a:xfrm>
            <a:off x="1270000" y="2730500"/>
            <a:ext cx="1905000" cy="241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0">
            <a:solidFill>
              <a:srgbClr val="16A085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ورق تغليف بلاستيكي" descr="tool_wrap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8750" y="3190875"/>
            <a:ext cx="1587500" cy="793750"/>
          </a:xfrm>
          <a:prstGeom prst="rect">
            <a:avLst/>
          </a:prstGeom>
        </p:spPr>
      </p:pic>
      <p:sp>
        <p:nvSpPr>
          <p:cNvPr id="21" name="اسم ورق تغليف بلاستيكي"/>
          <p:cNvSpPr txBox="1"/>
          <p:nvPr/>
        </p:nvSpPr>
        <p:spPr>
          <a:xfrm>
            <a:off x="1333500" y="4445000"/>
            <a:ext cx="1778000" cy="6096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2200" b="1" lang="ar-SA">
                <a:solidFill>
                  <a:srgbClr val="1E2A3A"/>
                </a:solidFill>
                <a:latin typeface="Arial"/>
                <a:cs typeface="Arial"/>
              </a:rPr>
              <a:t>ورق تغليف بلاستيكي</a:t>
            </a:r>
          </a:p>
        </p:txBody>
      </p:sp>
      <p:sp>
        <p:nvSpPr>
          <p:cNvPr id="22" name="توقيع المعلمة"/>
          <p:cNvSpPr/>
          <p:nvPr/>
        </p:nvSpPr>
        <p:spPr>
          <a:xfrm>
            <a:off x="177800" y="64262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أ/ شامه البقمي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1200">
        <p14:prism/>
        <p:sndAc>
          <p:stSnd>
            <p:snd r:embed="rId10" name="whoosh.wav"/>
          </p:stSnd>
        </p:sndAc>
      </p:transition>
    </mc:Choice>
    <mc:Fallback>
      <p:transition spd="slow">
        <p:fade/>
        <p:sndAc>
          <p:stSnd>
            <p:snd r:embed="rId10" name="whoosh.wav"/>
          </p:stSnd>
        </p:sndAc>
      </p:transition>
    </mc:Fallback>
  </mc:AlternateContent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2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65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10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5" grpId="0" animBg="1"/>
      <p:bldP spid="18" grpId="0" animBg="1"/>
      <p:bldP spid="21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خلفية" descr="خلفية المشه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عنوان" descr="عنوان المحطة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4568" y="139700"/>
            <a:ext cx="5262864" cy="952500"/>
          </a:xfrm>
          <a:prstGeom prst="rect">
            <a:avLst/>
          </a:prstGeom>
        </p:spPr>
      </p:pic>
      <p:sp>
        <p:nvSpPr>
          <p:cNvPr id="4" name="رقم المحطة"/>
          <p:cNvSpPr/>
          <p:nvPr/>
        </p:nvSpPr>
        <p:spPr>
          <a:xfrm>
            <a:off x="10414000" y="215900"/>
            <a:ext cx="1587500" cy="4064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المحطة 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96500" y="1428750"/>
            <a:ext cx="1778000" cy="419100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600" b="1" lang="ar-SA">
                <a:solidFill>
                  <a:srgbClr val="FFFFFF"/>
                </a:solidFill>
                <a:latin typeface="Arial"/>
                <a:cs typeface="Arial"/>
              </a:rPr>
              <a:t>الخطوات</a:t>
            </a:r>
          </a:p>
        </p:txBody>
      </p:sp>
      <p:sp>
        <p:nvSpPr>
          <p:cNvPr id="6" name="لوحة الصور"/>
          <p:cNvSpPr/>
          <p:nvPr/>
        </p:nvSpPr>
        <p:spPr>
          <a:xfrm>
            <a:off x="444500" y="1524000"/>
            <a:ext cx="4191000" cy="4064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0">
            <a:solidFill>
              <a:srgbClr val="2E86DE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6500" y="2063750"/>
            <a:ext cx="533400" cy="53340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/>
          <a:lstStyle/>
          <a:p>
            <a:pPr algn="ctr" rtl="1">
              <a:lnSpc>
                <a:spcPct val="100000"/>
              </a:lnSpc>
            </a:pPr>
            <a:r>
              <a:rPr sz="3400" b="1" lang="ar-SA">
                <a:solidFill>
                  <a:srgbClr val="FFFFFF"/>
                </a:solidFill>
                <a:latin typeface="Arial"/>
                <a:cs typeface="Arial"/>
              </a:rPr>
              <a:t>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3000" y="1936750"/>
            <a:ext cx="6286500" cy="838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8100">
            <a:solidFill>
              <a:srgbClr val="2E86DE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200" b="1" lang="ar-SA">
                <a:solidFill>
                  <a:srgbClr val="1E2A3A"/>
                </a:solidFill>
                <a:latin typeface="Arial"/>
                <a:cs typeface="Arial"/>
              </a:rPr>
              <a:t>أقص المناشف الورقية على شكل ورقتي نبات.</a:t>
            </a:r>
          </a:p>
        </p:txBody>
      </p:sp>
      <p:pic>
        <p:nvPicPr>
          <p:cNvPr id="9" name="صورة الخطوة 1" descr="tool_scissor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1905000"/>
            <a:ext cx="1905000" cy="1524000"/>
          </a:xfrm>
          <a:prstGeom prst="rect">
            <a:avLst/>
          </a:prstGeom>
        </p:spPr>
      </p:pic>
      <p:pic>
        <p:nvPicPr>
          <p:cNvPr id="10" name="صورة الخطوة 1" descr="leaf_ope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0000" y="3556000"/>
            <a:ext cx="1651000" cy="118872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11366500" y="3016250"/>
            <a:ext cx="533400" cy="53340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/>
          <a:lstStyle/>
          <a:p>
            <a:pPr algn="ctr" rtl="1">
              <a:lnSpc>
                <a:spcPct val="100000"/>
              </a:lnSpc>
            </a:pPr>
            <a:r>
              <a:rPr sz="3400" b="1" lang="ar-SA">
                <a:solidFill>
                  <a:srgbClr val="FFFFFF"/>
                </a:solidFill>
                <a:latin typeface="Arial"/>
                <a:cs typeface="Arial"/>
              </a:rPr>
              <a:t>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53000" y="2889250"/>
            <a:ext cx="6286500" cy="838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8100">
            <a:solidFill>
              <a:srgbClr val="2E86DE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200" b="1" lang="ar-SA">
                <a:solidFill>
                  <a:srgbClr val="1E2A3A"/>
                </a:solidFill>
                <a:latin typeface="Arial"/>
                <a:cs typeface="Arial"/>
              </a:rPr>
              <a:t>ألف واحدة من الورقتين، وألصق نهايتيها لتبقى مغلقة.</a:t>
            </a:r>
          </a:p>
        </p:txBody>
      </p:sp>
      <p:pic>
        <p:nvPicPr>
          <p:cNvPr id="13" name="صورة الخطوة 2" descr="book_step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500" y="1841500"/>
            <a:ext cx="3683000" cy="2303041"/>
          </a:xfrm>
          <a:prstGeom prst="rect">
            <a:avLst/>
          </a:prstGeom>
        </p:spPr>
      </p:pic>
      <p:pic>
        <p:nvPicPr>
          <p:cNvPr id="14" name="صورة الخطوة 2" descr="leaf_rolled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1000" y="4381500"/>
            <a:ext cx="1524000" cy="109728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366500" y="3968750"/>
            <a:ext cx="533400" cy="53340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/>
          <a:lstStyle/>
          <a:p>
            <a:pPr algn="ctr" rtl="1">
              <a:lnSpc>
                <a:spcPct val="100000"/>
              </a:lnSpc>
            </a:pPr>
            <a:r>
              <a:rPr sz="3400" b="1" lang="ar-SA">
                <a:solidFill>
                  <a:srgbClr val="FFFFFF"/>
                </a:solidFill>
                <a:latin typeface="Arial"/>
                <a:cs typeface="Arial"/>
              </a:rPr>
              <a:t>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53000" y="3841750"/>
            <a:ext cx="6286500" cy="838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8100">
            <a:solidFill>
              <a:srgbClr val="2E86DE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200" b="1" lang="ar-SA">
                <a:solidFill>
                  <a:srgbClr val="1E2A3A"/>
                </a:solidFill>
                <a:latin typeface="Arial"/>
                <a:cs typeface="Arial"/>
              </a:rPr>
              <a:t>أضع الورقتين على ورق التغليف، وأبللهما بالماء.</a:t>
            </a:r>
          </a:p>
        </p:txBody>
      </p:sp>
      <p:pic>
        <p:nvPicPr>
          <p:cNvPr id="17" name="صورة الخطوة 3" descr="leaf_ope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0000" y="2984500"/>
            <a:ext cx="1778000" cy="1280160"/>
          </a:xfrm>
          <a:prstGeom prst="rect">
            <a:avLst/>
          </a:prstGeom>
        </p:spPr>
      </p:pic>
      <p:pic>
        <p:nvPicPr>
          <p:cNvPr id="18" name="صورة الخطوة 3" descr="leaf_rolled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500" y="2984500"/>
            <a:ext cx="1778000" cy="1280160"/>
          </a:xfrm>
          <a:prstGeom prst="rect">
            <a:avLst/>
          </a:prstGeom>
        </p:spPr>
      </p:pic>
      <p:pic>
        <p:nvPicPr>
          <p:cNvPr id="19" name="صورة الخطوة 3" descr="drop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5500" y="1905000"/>
            <a:ext cx="698500" cy="908050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11366500" y="4921250"/>
            <a:ext cx="533400" cy="53340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/>
          <a:lstStyle/>
          <a:p>
            <a:pPr algn="ctr" rtl="1">
              <a:lnSpc>
                <a:spcPct val="100000"/>
              </a:lnSpc>
            </a:pPr>
            <a:r>
              <a:rPr sz="3400" b="1" lang="ar-SA">
                <a:solidFill>
                  <a:srgbClr val="FFFFFF"/>
                </a:solidFill>
                <a:latin typeface="Arial"/>
                <a:cs typeface="Arial"/>
              </a:rPr>
              <a:t>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53000" y="4794250"/>
            <a:ext cx="6286500" cy="838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8100">
            <a:solidFill>
              <a:srgbClr val="2E86DE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200" b="1" lang="ar-SA">
                <a:solidFill>
                  <a:srgbClr val="E8505B"/>
                </a:solidFill>
                <a:latin typeface="Arial"/>
                <a:cs typeface="Arial"/>
              </a:rPr>
              <a:t>ألاحظ. </a:t>
            </a:r>
            <a:r>
              <a:rPr sz="2200" b="1" lang="ar-SA">
                <a:solidFill>
                  <a:srgbClr val="1E2A3A"/>
                </a:solidFill>
                <a:latin typeface="Arial"/>
                <a:cs typeface="Arial"/>
              </a:rPr>
              <a:t>أتفحص الورقتين كل ١٥ دقيقة. أيهما بقيت رطبة مدة أطول؟</a:t>
            </a:r>
          </a:p>
        </p:txBody>
      </p:sp>
      <p:pic>
        <p:nvPicPr>
          <p:cNvPr id="22" name="صورة الخطوة 4" descr="clock_fac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33500" y="2095500"/>
            <a:ext cx="1905000" cy="1905000"/>
          </a:xfrm>
          <a:prstGeom prst="rect">
            <a:avLst/>
          </a:prstGeom>
        </p:spPr>
      </p:pic>
      <p:pic>
        <p:nvPicPr>
          <p:cNvPr id="23" name="صورة الخطوة 4" descr="leaf_rolled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318000"/>
            <a:ext cx="1397000" cy="1005840"/>
          </a:xfrm>
          <a:prstGeom prst="rect">
            <a:avLst/>
          </a:prstGeom>
        </p:spPr>
      </p:pic>
      <p:pic>
        <p:nvPicPr>
          <p:cNvPr id="24" name="صورة الخطوة 4" descr="leaf_ope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000" y="4318000"/>
            <a:ext cx="1397000" cy="100584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98500" y="5270500"/>
            <a:ext cx="1905000" cy="228600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1430" bIns="11430"/>
          <a:lstStyle/>
          <a:p>
            <a:pPr algn="ctr" rtl="1">
              <a:lnSpc>
                <a:spcPct val="100000"/>
              </a:lnSpc>
            </a:pPr>
            <a:r>
              <a:rPr sz="1300" b="1" lang="ar-SA">
                <a:solidFill>
                  <a:srgbClr val="FFFFFF"/>
                </a:solidFill>
                <a:latin typeface="Arial"/>
                <a:cs typeface="Arial"/>
              </a:rPr>
              <a:t>صورة الخطوة ٢ من كتابي</a:t>
            </a:r>
          </a:p>
        </p:txBody>
      </p:sp>
      <p:sp>
        <p:nvSpPr>
          <p:cNvPr id="26" name="توقيع المعلمة"/>
          <p:cNvSpPr/>
          <p:nvPr/>
        </p:nvSpPr>
        <p:spPr>
          <a:xfrm>
            <a:off x="177800" y="64262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أ/ شامه البقمي</a:t>
            </a:r>
          </a:p>
        </p:txBody>
      </p:sp>
    </p:spTree>
  </p:cSld>
  <p:clrMapOvr>
    <a:masterClrMapping/>
  </p:clrMapOvr>
  <p:transition xmlns:mc="http://schemas.openxmlformats.org/markup-compatibility/2006" xmlns:p14="http://schemas.microsoft.com/office/powerpoint/2010/main" xmlns:p159="http://schemas.microsoft.com/office/powerpoint/2015/09/main" spd="slow">
    <p:push dir="l"/>
  </p:transition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10" display="0" masterRel="sameClick">
                                          <p:stCondLst>
                                            <p:cond evt="onBegin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33" display="0" masterRel="sameClick">
                                          <p:stCondLst>
                                            <p:cond evt="onBegin" delay="0">
                                              <p:tn val="28"/>
                                            </p:cond>
                                          </p:st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62" display="0" masterRel="sameClick">
                                          <p:stCondLst>
                                            <p:cond evt="onBegin" delay="0">
                                              <p:tn val="57"/>
                                            </p:cond>
                                          </p:st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00"/>
                            </p:stCondLst>
                            <p:childTnLst>
                              <p:par>
                                <p:cTn id="7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96" display="0" masterRel="sameClick">
                                          <p:stCondLst>
                                            <p:cond evt="onBegin" delay="0">
                                              <p:tn val="91"/>
                                            </p:cond>
                                          </p:st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خلفية" descr="خلفية المشه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عنوان" descr="عنوان المحطة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4568" y="139700"/>
            <a:ext cx="5262864" cy="952500"/>
          </a:xfrm>
          <a:prstGeom prst="rect">
            <a:avLst/>
          </a:prstGeom>
        </p:spPr>
      </p:pic>
      <p:sp>
        <p:nvSpPr>
          <p:cNvPr id="4" name="رقم المحطة"/>
          <p:cNvSpPr/>
          <p:nvPr/>
        </p:nvSpPr>
        <p:spPr>
          <a:xfrm>
            <a:off x="10414000" y="215900"/>
            <a:ext cx="1587500" cy="4064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المحطة ٤</a:t>
            </a:r>
          </a:p>
        </p:txBody>
      </p:sp>
      <p:pic>
        <p:nvPicPr>
          <p:cNvPr id="5" name="ساعة المؤقت" descr="clock_fac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1587500"/>
            <a:ext cx="2667000" cy="2667000"/>
          </a:xfrm>
          <a:prstGeom prst="rect">
            <a:avLst/>
          </a:prstGeom>
        </p:spPr>
      </p:pic>
      <p:pic>
        <p:nvPicPr>
          <p:cNvPr id="6" name="عقرب المؤقت" descr="clock_han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1587500"/>
            <a:ext cx="2667000" cy="2667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8500" y="4445000"/>
            <a:ext cx="3175000" cy="292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600" b="1" lang="ar-SA">
                <a:solidFill>
                  <a:srgbClr val="1E2A3A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8" name="شريط المؤقت"/>
          <p:cNvSpPr/>
          <p:nvPr/>
        </p:nvSpPr>
        <p:spPr>
          <a:xfrm>
            <a:off x="736600" y="4483100"/>
            <a:ext cx="3098800" cy="215900"/>
          </a:xfrm>
          <a:prstGeom prst="roundRect">
            <a:avLst>
              <a:gd name="adj" fmla="val 50000"/>
            </a:avLst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600" b="1" lang="ar-SA">
                <a:solidFill>
                  <a:srgbClr val="1E2A3A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" y="4794250"/>
            <a:ext cx="3175000" cy="3175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1E2A3A"/>
                </a:solidFill>
                <a:latin typeface="Arial"/>
                <a:cs typeface="Arial"/>
              </a:rPr>
              <a:t>مؤقت الملاحظة: ٣ دقائق</a:t>
            </a:r>
          </a:p>
        </p:txBody>
      </p:sp>
      <p:sp>
        <p:nvSpPr>
          <p:cNvPr id="10" name="زر المؤقت"/>
          <p:cNvSpPr/>
          <p:nvPr/>
        </p:nvSpPr>
        <p:spPr>
          <a:xfrm>
            <a:off x="1016000" y="5207000"/>
            <a:ext cx="2540000" cy="53340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 w="508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800" b="1" lang="ar-SA">
                <a:solidFill>
                  <a:srgbClr val="FFFFFF"/>
                </a:solidFill>
                <a:latin typeface="Arial"/>
                <a:cs typeface="Arial"/>
              </a:rPr>
              <a:t>ابدئي المؤقت</a:t>
            </a:r>
          </a:p>
        </p:txBody>
      </p:sp>
      <p:sp>
        <p:nvSpPr>
          <p:cNvPr id="11" name="الورقة المفتوحة"/>
          <p:cNvSpPr/>
          <p:nvPr/>
        </p:nvSpPr>
        <p:spPr>
          <a:xfrm>
            <a:off x="8382000" y="1524000"/>
            <a:ext cx="3302000" cy="241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0">
            <a:solidFill>
              <a:srgbClr val="16A085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الورقة المفتوحة" descr="leaf_ope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0" y="1651000"/>
            <a:ext cx="2921000" cy="2103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09000" y="3556000"/>
            <a:ext cx="3048000" cy="3302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2400" b="1" lang="ar-SA">
                <a:solidFill>
                  <a:srgbClr val="1E2A3A"/>
                </a:solidFill>
                <a:latin typeface="Arial"/>
                <a:cs typeface="Arial"/>
              </a:rPr>
              <a:t>الورقة المفتوحة</a:t>
            </a:r>
          </a:p>
        </p:txBody>
      </p:sp>
      <p:sp>
        <p:nvSpPr>
          <p:cNvPr id="14" name="الورقة الملفوفة"/>
          <p:cNvSpPr/>
          <p:nvPr/>
        </p:nvSpPr>
        <p:spPr>
          <a:xfrm>
            <a:off x="4826000" y="1524000"/>
            <a:ext cx="3302000" cy="241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0">
            <a:solidFill>
              <a:srgbClr val="16A085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الورقة الملفوفة" descr="leaf_rolle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6500" y="1651000"/>
            <a:ext cx="2921000" cy="21031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53000" y="3556000"/>
            <a:ext cx="3048000" cy="3302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2400" b="1" lang="ar-SA">
                <a:solidFill>
                  <a:srgbClr val="1E2A3A"/>
                </a:solidFill>
                <a:latin typeface="Arial"/>
                <a:cs typeface="Arial"/>
              </a:rPr>
              <a:t>الورقة الملفوفة</a:t>
            </a:r>
          </a:p>
        </p:txBody>
      </p:sp>
      <p:sp>
        <p:nvSpPr>
          <p:cNvPr id="17" name="سؤال الملاحظة"/>
          <p:cNvSpPr/>
          <p:nvPr/>
        </p:nvSpPr>
        <p:spPr>
          <a:xfrm>
            <a:off x="4826000" y="4127500"/>
            <a:ext cx="6858000" cy="635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50800">
            <a:solidFill>
              <a:srgbClr val="E8505B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3000" b="1" lang="ar-SA">
                <a:solidFill>
                  <a:srgbClr val="E8505B"/>
                </a:solidFill>
                <a:latin typeface="Arial"/>
                <a:cs typeface="Arial"/>
              </a:rPr>
              <a:t>ألاحظ: </a:t>
            </a:r>
            <a:r>
              <a:rPr sz="3000" b="1" lang="ar-SA">
                <a:solidFill>
                  <a:srgbClr val="1E2A3A"/>
                </a:solidFill>
                <a:latin typeface="Arial"/>
                <a:cs typeface="Arial"/>
              </a:rPr>
              <a:t>أيهما بقيت رطبة مدة أطول؟</a:t>
            </a:r>
          </a:p>
        </p:txBody>
      </p:sp>
      <p:sp>
        <p:nvSpPr>
          <p:cNvPr id="18" name="إجابة الملاحظة"/>
          <p:cNvSpPr/>
          <p:nvPr/>
        </p:nvSpPr>
        <p:spPr>
          <a:xfrm>
            <a:off x="4826000" y="4889500"/>
            <a:ext cx="6858000" cy="571500"/>
          </a:xfrm>
          <a:prstGeom prst="roundRect">
            <a:avLst>
              <a:gd name="adj" fmla="val 18000"/>
            </a:avLst>
          </a:prstGeom>
          <a:solidFill>
            <a:srgbClr val="27AE60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800" b="1" lang="ar-SA">
                <a:solidFill>
                  <a:srgbClr val="FFFFFF"/>
                </a:solidFill>
                <a:latin typeface="Arial"/>
                <a:cs typeface="Arial"/>
              </a:rPr>
              <a:t>الورقة الملفوفة بقيت رطبة مدة أطول.</a:t>
            </a:r>
          </a:p>
        </p:txBody>
      </p:sp>
      <p:pic>
        <p:nvPicPr>
          <p:cNvPr id="19" name="نجمة" descr="sta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03000" y="4699000"/>
            <a:ext cx="698500" cy="698500"/>
          </a:xfrm>
          <a:prstGeom prst="rect">
            <a:avLst/>
          </a:prstGeom>
        </p:spPr>
      </p:pic>
      <p:sp>
        <p:nvSpPr>
          <p:cNvPr id="20" name="توقيع المعلمة"/>
          <p:cNvSpPr/>
          <p:nvPr/>
        </p:nvSpPr>
        <p:spPr>
          <a:xfrm>
            <a:off x="177800" y="64262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أ/ شامه البقمي</a:t>
            </a:r>
          </a:p>
        </p:txBody>
      </p:sp>
    </p:spTree>
  </p:cSld>
  <p:clrMapOvr>
    <a:masterClrMapping/>
  </p:clrMapOvr>
  <p:transition xmlns:mc="http://schemas.openxmlformats.org/markup-compatibility/2006" xmlns:p14="http://schemas.microsoft.com/office/powerpoint/2010/main" xmlns:p159="http://schemas.microsoft.com/office/powerpoint/2015/09/main" spd="slow">
    <p:fade/>
  </p:transition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8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" dur="18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79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23" display="0" masterRel="sameClick">
                                          <p:stCondLst>
                                            <p:cond evt="onBegin" delay="0">
                                              <p:tn val="18"/>
                                            </p:cond>
                                          </p:stCondLst>
                                        </p:cTn>
                                        <p:tgtEl>
                                          <p:sndTgt r:embed="rId10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خلفية" descr="خلفية المشه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عنوان" descr="عنوان المحطة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4568" y="139700"/>
            <a:ext cx="5262864" cy="952500"/>
          </a:xfrm>
          <a:prstGeom prst="rect">
            <a:avLst/>
          </a:prstGeom>
        </p:spPr>
      </p:pic>
      <p:sp>
        <p:nvSpPr>
          <p:cNvPr id="4" name="رقم المحطة"/>
          <p:cNvSpPr/>
          <p:nvPr/>
        </p:nvSpPr>
        <p:spPr>
          <a:xfrm>
            <a:off x="10414000" y="215900"/>
            <a:ext cx="1587500" cy="4064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المحطة 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71000" y="1435100"/>
            <a:ext cx="2603500" cy="444500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800" b="1" lang="ar-SA">
                <a:solidFill>
                  <a:srgbClr val="FFFFFF"/>
                </a:solidFill>
                <a:latin typeface="Arial"/>
                <a:cs typeface="Arial"/>
              </a:rPr>
              <a:t>أستكشف أكثر</a:t>
            </a:r>
          </a:p>
        </p:txBody>
      </p:sp>
      <p:sp>
        <p:nvSpPr>
          <p:cNvPr id="6" name="سؤال أستخلص النتائج"/>
          <p:cNvSpPr/>
          <p:nvPr/>
        </p:nvSpPr>
        <p:spPr>
          <a:xfrm>
            <a:off x="3556000" y="2032000"/>
            <a:ext cx="8318500" cy="1079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50800">
            <a:solidFill>
              <a:srgbClr val="2E86DE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3000" b="1" lang="ar-SA">
                <a:solidFill>
                  <a:srgbClr val="E8505B"/>
                </a:solidFill>
                <a:latin typeface="Arial"/>
                <a:cs typeface="Arial"/>
              </a:rPr>
              <a:t>أستخلص النتائج. </a:t>
            </a:r>
            <a:r>
              <a:rPr sz="3000" b="1" lang="ar-SA">
                <a:solidFill>
                  <a:srgbClr val="1E2A3A"/>
                </a:solidFill>
                <a:latin typeface="Arial"/>
                <a:cs typeface="Arial"/>
              </a:rPr>
              <a:t>أي أنواع الأوراق يمكن أن أجدها في الصحراء أو المواطن الجافة؟</a:t>
            </a:r>
          </a:p>
        </p:txBody>
      </p:sp>
      <p:sp>
        <p:nvSpPr>
          <p:cNvPr id="7" name="إجابة أستخلص النتائج"/>
          <p:cNvSpPr/>
          <p:nvPr/>
        </p:nvSpPr>
        <p:spPr>
          <a:xfrm>
            <a:off x="3556000" y="3270250"/>
            <a:ext cx="8318500" cy="825500"/>
          </a:xfrm>
          <a:prstGeom prst="roundRect">
            <a:avLst>
              <a:gd name="adj" fmla="val 18000"/>
            </a:avLst>
          </a:prstGeom>
          <a:solidFill>
            <a:srgbClr val="27AE60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600" b="1" lang="ar-SA">
                <a:solidFill>
                  <a:srgbClr val="FFFFFF"/>
                </a:solidFill>
                <a:latin typeface="Arial"/>
                <a:cs typeface="Arial"/>
              </a:rPr>
              <a:t>أوراق صغيرة أو ملفوفة أو سميكة؛ تحافظ على الماء ولا تفقده بسرعة.</a:t>
            </a:r>
          </a:p>
        </p:txBody>
      </p:sp>
      <p:pic>
        <p:nvPicPr>
          <p:cNvPr id="8" name="نجمة" descr="sta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66500" y="3048000"/>
            <a:ext cx="698500" cy="698500"/>
          </a:xfrm>
          <a:prstGeom prst="rect">
            <a:avLst/>
          </a:prstGeom>
        </p:spPr>
      </p:pic>
      <p:pic>
        <p:nvPicPr>
          <p:cNvPr id="9" name="صبار" descr="cactu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8000" y="3556000"/>
            <a:ext cx="2051538" cy="2667000"/>
          </a:xfrm>
          <a:prstGeom prst="rect">
            <a:avLst/>
          </a:prstGeom>
        </p:spPr>
      </p:pic>
      <p:pic>
        <p:nvPicPr>
          <p:cNvPr id="10" name="ورقة ملفوفة" descr="leaf_rolle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5000" y="4572000"/>
            <a:ext cx="2286000" cy="1645920"/>
          </a:xfrm>
          <a:prstGeom prst="rect">
            <a:avLst/>
          </a:prstGeom>
        </p:spPr>
      </p:pic>
      <p:pic>
        <p:nvPicPr>
          <p:cNvPr id="11" name="!!noura" descr="المستكشفة نورة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000" y="1905000"/>
            <a:ext cx="1397000" cy="2095500"/>
          </a:xfrm>
          <a:prstGeom prst="rect">
            <a:avLst/>
          </a:prstGeom>
        </p:spPr>
      </p:pic>
      <p:sp>
        <p:nvSpPr>
          <p:cNvPr id="12" name="فقاعة نورة"/>
          <p:cNvSpPr/>
          <p:nvPr/>
        </p:nvSpPr>
        <p:spPr>
          <a:xfrm>
            <a:off x="1651000" y="1397000"/>
            <a:ext cx="1778000" cy="1460500"/>
          </a:xfrm>
          <a:prstGeom prst="wedgeRoundRectCallout">
            <a:avLst>
              <a:gd name="adj1" fmla="val -71428"/>
              <a:gd name="adj2" fmla="val 10869"/>
              <a:gd name="adj3" fmla="val 16667"/>
            </a:avLst>
          </a:prstGeom>
          <a:solidFill>
            <a:srgbClr val="FFFFFF"/>
          </a:solidFill>
          <a:ln w="50800">
            <a:solidFill>
              <a:srgbClr val="F5A623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 rtl="1"/>
            <a:r>
              <a:rPr sz="1900" b="1" lang="ar-SA">
                <a:solidFill>
                  <a:srgbClr val="E8505B"/>
                </a:solidFill>
                <a:latin typeface="Arial"/>
                <a:cs typeface="Arial"/>
              </a:rPr>
              <a:t>نورة: </a:t>
            </a:r>
            <a:r>
              <a:rPr sz="1900" b="1" lang="ar-SA">
                <a:solidFill>
                  <a:srgbClr val="1E2A3A"/>
                </a:solidFill>
                <a:latin typeface="Arial"/>
                <a:cs typeface="Arial"/>
              </a:rPr>
              <a:t>فكّرن: أي ورقة تشبه أوراق نباتات الصحراء؟</a:t>
            </a:r>
          </a:p>
        </p:txBody>
      </p:sp>
      <p:sp>
        <p:nvSpPr>
          <p:cNvPr id="13" name="توقيع المعلمة"/>
          <p:cNvSpPr/>
          <p:nvPr/>
        </p:nvSpPr>
        <p:spPr>
          <a:xfrm>
            <a:off x="177800" y="64262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أ/ شامه البقمي</a:t>
            </a:r>
          </a:p>
        </p:txBody>
      </p:sp>
    </p:spTree>
  </p:cSld>
  <p:clrMapOvr>
    <a:masterClrMapping/>
  </p:clrMapOvr>
  <p:transition xmlns:mc="http://schemas.openxmlformats.org/markup-compatibility/2006" xmlns:p14="http://schemas.microsoft.com/office/powerpoint/2010/main" xmlns:p159="http://schemas.microsoft.com/office/powerpoint/2015/09/main" spd="slow">
    <p:fade/>
  </p:transition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15" display="0" masterRel="sameClick">
                                          <p:stCondLst>
                                            <p:cond evt="onBegin" delay="0">
                                              <p:tn val="10"/>
                                            </p:cond>
                                          </p:stCondLst>
                                        </p:cTn>
                                        <p:tgtEl>
                                          <p:sndTgt r:embed="rId9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خلفية" descr="خلفية المشه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عنوان" descr="عنوان المحطة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99" y="139700"/>
            <a:ext cx="3706202" cy="952500"/>
          </a:xfrm>
          <a:prstGeom prst="rect">
            <a:avLst/>
          </a:prstGeom>
        </p:spPr>
      </p:pic>
      <p:sp>
        <p:nvSpPr>
          <p:cNvPr id="4" name="رقم المحطة"/>
          <p:cNvSpPr/>
          <p:nvPr/>
        </p:nvSpPr>
        <p:spPr>
          <a:xfrm>
            <a:off x="10414000" y="215900"/>
            <a:ext cx="1587500" cy="4064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المحطة ٤</a:t>
            </a:r>
          </a:p>
        </p:txBody>
      </p:sp>
      <p:sp>
        <p:nvSpPr>
          <p:cNvPr id="5" name="الورقة المفتوحة"/>
          <p:cNvSpPr/>
          <p:nvPr/>
        </p:nvSpPr>
        <p:spPr>
          <a:xfrm>
            <a:off x="6350000" y="1524000"/>
            <a:ext cx="5207000" cy="2095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0">
            <a:solidFill>
              <a:srgbClr val="E67E22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ورقة مفتوحة" descr="leaf_ope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1500" y="1841500"/>
            <a:ext cx="1905000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40500" y="1905000"/>
            <a:ext cx="2857500" cy="12700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600" b="1" lang="ar-SA">
                <a:solidFill>
                  <a:srgbClr val="E67E22"/>
                </a:solidFill>
                <a:latin typeface="Arial"/>
                <a:cs typeface="Arial"/>
              </a:rPr>
              <a:t>الورقة المفتوحة</a:t>
            </a:r>
          </a:p>
          <a:p>
            <a:pPr algn="r" rtl="1">
              <a:lnSpc>
                <a:spcPct val="100000"/>
              </a:lnSpc>
            </a:pPr>
            <a:r>
              <a:rPr sz="2600" b="1" lang="ar-SA">
                <a:solidFill>
                  <a:srgbClr val="1E2A3A"/>
                </a:solidFill>
                <a:latin typeface="Arial"/>
                <a:cs typeface="Arial"/>
              </a:rPr>
              <a:t>يجف الماء منها بسرعة.</a:t>
            </a:r>
          </a:p>
        </p:txBody>
      </p:sp>
      <p:sp>
        <p:nvSpPr>
          <p:cNvPr id="8" name="الورقة الملفوفة"/>
          <p:cNvSpPr/>
          <p:nvPr/>
        </p:nvSpPr>
        <p:spPr>
          <a:xfrm>
            <a:off x="635000" y="1524000"/>
            <a:ext cx="5207000" cy="2095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0">
            <a:solidFill>
              <a:srgbClr val="27AE60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ورقة ملفوفة" descr="leaf_rolle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6500" y="1841500"/>
            <a:ext cx="1905000" cy="137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5500" y="1905000"/>
            <a:ext cx="2857500" cy="12700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600" b="1" lang="ar-SA">
                <a:solidFill>
                  <a:srgbClr val="27AE60"/>
                </a:solidFill>
                <a:latin typeface="Arial"/>
                <a:cs typeface="Arial"/>
              </a:rPr>
              <a:t>الورقة الملفوفة</a:t>
            </a:r>
          </a:p>
          <a:p>
            <a:pPr algn="r" rtl="1">
              <a:lnSpc>
                <a:spcPct val="100000"/>
              </a:lnSpc>
            </a:pPr>
            <a:r>
              <a:rPr sz="2600" b="1" lang="ar-SA">
                <a:solidFill>
                  <a:srgbClr val="1E2A3A"/>
                </a:solidFill>
                <a:latin typeface="Arial"/>
                <a:cs typeface="Arial"/>
              </a:rPr>
              <a:t>تحتفظ بالماء مدة أطول.</a:t>
            </a:r>
          </a:p>
        </p:txBody>
      </p:sp>
      <p:sp>
        <p:nvSpPr>
          <p:cNvPr id="11" name="النتيجة"/>
          <p:cNvSpPr/>
          <p:nvPr/>
        </p:nvSpPr>
        <p:spPr>
          <a:xfrm>
            <a:off x="889000" y="3873500"/>
            <a:ext cx="10414000" cy="825500"/>
          </a:xfrm>
          <a:prstGeom prst="roundRect">
            <a:avLst>
              <a:gd name="adj" fmla="val 18000"/>
            </a:avLst>
          </a:prstGeom>
          <a:solidFill>
            <a:srgbClr val="16A085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800" b="1" lang="ar-SA">
                <a:solidFill>
                  <a:srgbClr val="FFFFFF"/>
                </a:solidFill>
                <a:latin typeface="Arial"/>
                <a:cs typeface="Arial"/>
              </a:rPr>
              <a:t>النتيجة: شكل الورقة يساعد النبات على المحافظة على الماء.</a:t>
            </a:r>
          </a:p>
        </p:txBody>
      </p:sp>
      <p:sp>
        <p:nvSpPr>
          <p:cNvPr id="12" name="الربط بالصحراء"/>
          <p:cNvSpPr/>
          <p:nvPr/>
        </p:nvSpPr>
        <p:spPr>
          <a:xfrm>
            <a:off x="889000" y="4889500"/>
            <a:ext cx="1041400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50800">
            <a:solidFill>
              <a:srgbClr val="16A085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600" b="1" lang="ar-SA">
                <a:solidFill>
                  <a:srgbClr val="1E2A3A"/>
                </a:solidFill>
                <a:latin typeface="Arial"/>
                <a:cs typeface="Arial"/>
              </a:rPr>
              <a:t>لذلك تكون أوراق كثير من نباتات الصحراء صغيرة أو ملفوفة أو سميكة؛ لتفقد كمية أقل من الماء.</a:t>
            </a:r>
          </a:p>
        </p:txBody>
      </p:sp>
      <p:pic>
        <p:nvPicPr>
          <p:cNvPr id="13" name="قطرة ماء" descr="drop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5000" y="3746500"/>
            <a:ext cx="698500" cy="908050"/>
          </a:xfrm>
          <a:prstGeom prst="rect">
            <a:avLst/>
          </a:prstGeom>
        </p:spPr>
      </p:pic>
      <p:sp>
        <p:nvSpPr>
          <p:cNvPr id="14" name="توقيع المعلمة"/>
          <p:cNvSpPr/>
          <p:nvPr/>
        </p:nvSpPr>
        <p:spPr>
          <a:xfrm>
            <a:off x="177800" y="64262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أ/ شامه البقمي</a:t>
            </a:r>
          </a:p>
        </p:txBody>
      </p:sp>
    </p:spTree>
  </p:cSld>
  <p:clrMapOvr>
    <a:masterClrMapping/>
  </p:clrMapOvr>
  <p:transition xmlns:mc="http://schemas.openxmlformats.org/markup-compatibility/2006" xmlns:p14="http://schemas.microsoft.com/office/powerpoint/2010/main" xmlns:p159="http://schemas.microsoft.com/office/powerpoint/2015/09/main" spd="slow">
    <p:fade/>
  </p:transition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15" display="0" masterRel="sameClick">
                                          <p:stCondLst>
                                            <p:cond evt="onBegin" delay="0">
                                              <p:tn val="10"/>
                                            </p:cond>
                                          </p:stCondLst>
                                        </p:cTn>
                                        <p:tgtEl>
                                          <p:sndTgt r:embed="rId8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خلفية" descr="خلفية المشه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ظلام الليل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E4A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600" b="1" lang="ar-SA">
                <a:solidFill>
                  <a:srgbClr val="1E2A3A"/>
                </a:solidFill>
                <a:latin typeface="Arial"/>
                <a:cs typeface="Arial"/>
              </a:rPr>
              <a:t/>
            </a:r>
          </a:p>
        </p:txBody>
      </p:sp>
      <p:pic>
        <p:nvPicPr>
          <p:cNvPr id="4" name="الشمس" descr="su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079500"/>
            <a:ext cx="1651000" cy="1651000"/>
          </a:xfrm>
          <a:prstGeom prst="rect">
            <a:avLst/>
          </a:prstGeom>
        </p:spPr>
      </p:pic>
      <p:pic>
        <p:nvPicPr>
          <p:cNvPr id="5" name="القمر" descr="mo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" y="1143000"/>
            <a:ext cx="1460500" cy="1460500"/>
          </a:xfrm>
          <a:prstGeom prst="rect">
            <a:avLst/>
          </a:prstGeom>
        </p:spPr>
      </p:pic>
      <p:pic>
        <p:nvPicPr>
          <p:cNvPr id="6" name="عنوان" descr="عنوان المحط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4391" y="139700"/>
            <a:ext cx="5903219" cy="952500"/>
          </a:xfrm>
          <a:prstGeom prst="rect">
            <a:avLst/>
          </a:prstGeom>
        </p:spPr>
      </p:pic>
      <p:sp>
        <p:nvSpPr>
          <p:cNvPr id="7" name="رقم المحطة"/>
          <p:cNvSpPr/>
          <p:nvPr/>
        </p:nvSpPr>
        <p:spPr>
          <a:xfrm>
            <a:off x="10414000" y="215900"/>
            <a:ext cx="1587500" cy="4064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المحطة ٥</a:t>
            </a:r>
          </a:p>
        </p:txBody>
      </p:sp>
      <p:sp>
        <p:nvSpPr>
          <p:cNvPr id="8" name="معلومة 1"/>
          <p:cNvSpPr/>
          <p:nvPr/>
        </p:nvSpPr>
        <p:spPr>
          <a:xfrm>
            <a:off x="6731000" y="1524000"/>
            <a:ext cx="5207000" cy="812800"/>
          </a:xfrm>
          <a:prstGeom prst="roundRect">
            <a:avLst>
              <a:gd name="adj" fmla="val 18000"/>
            </a:avLst>
          </a:prstGeom>
          <a:solidFill>
            <a:srgbClr val="FFFFFF">
              <a:alpha val="94000"/>
            </a:srgbClr>
          </a:solidFill>
          <a:ln w="50800">
            <a:solidFill>
              <a:srgbClr val="E67E22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25500" tIns="53340" bIns="53340"/>
          <a:lstStyle/>
          <a:p>
            <a:pPr algn="r" rtl="1">
              <a:lnSpc>
                <a:spcPct val="100000"/>
              </a:lnSpc>
            </a:pPr>
            <a:r>
              <a:rPr sz="2700" b="1" lang="ar-SA">
                <a:solidFill>
                  <a:srgbClr val="1E2A3A"/>
                </a:solidFill>
                <a:latin typeface="Arial"/>
                <a:cs typeface="Arial"/>
              </a:rPr>
              <a:t>موطن جاف، أمطاره قليلة جدًا.</a:t>
            </a:r>
          </a:p>
        </p:txBody>
      </p:sp>
      <p:pic>
        <p:nvPicPr>
          <p:cNvPr id="9" name="رمز 1" descr="drop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76000" y="1612900"/>
            <a:ext cx="488462" cy="635000"/>
          </a:xfrm>
          <a:prstGeom prst="rect">
            <a:avLst/>
          </a:prstGeom>
        </p:spPr>
      </p:pic>
      <p:sp>
        <p:nvSpPr>
          <p:cNvPr id="10" name="معلومة 2"/>
          <p:cNvSpPr/>
          <p:nvPr/>
        </p:nvSpPr>
        <p:spPr>
          <a:xfrm>
            <a:off x="6731000" y="2476500"/>
            <a:ext cx="5207000" cy="812800"/>
          </a:xfrm>
          <a:prstGeom prst="roundRect">
            <a:avLst>
              <a:gd name="adj" fmla="val 18000"/>
            </a:avLst>
          </a:prstGeom>
          <a:solidFill>
            <a:srgbClr val="FFFFFF">
              <a:alpha val="94000"/>
            </a:srgbClr>
          </a:solidFill>
          <a:ln w="50800">
            <a:solidFill>
              <a:srgbClr val="E67E22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25500" tIns="53340" bIns="53340"/>
          <a:lstStyle/>
          <a:p>
            <a:pPr algn="r" rtl="1">
              <a:lnSpc>
                <a:spcPct val="100000"/>
              </a:lnSpc>
            </a:pPr>
            <a:r>
              <a:rPr sz="2700" b="1" lang="ar-SA">
                <a:solidFill>
                  <a:srgbClr val="1E2A3A"/>
                </a:solidFill>
                <a:latin typeface="Arial"/>
                <a:cs typeface="Arial"/>
              </a:rPr>
              <a:t>حارة نهارًا، وباردة ليلًا.</a:t>
            </a:r>
          </a:p>
        </p:txBody>
      </p:sp>
      <p:pic>
        <p:nvPicPr>
          <p:cNvPr id="11" name="رمز 2" descr="su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6000" y="2565400"/>
            <a:ext cx="635000" cy="635000"/>
          </a:xfrm>
          <a:prstGeom prst="rect">
            <a:avLst/>
          </a:prstGeom>
        </p:spPr>
      </p:pic>
      <p:sp>
        <p:nvSpPr>
          <p:cNvPr id="12" name="معلومة 3"/>
          <p:cNvSpPr/>
          <p:nvPr/>
        </p:nvSpPr>
        <p:spPr>
          <a:xfrm>
            <a:off x="6731000" y="3429000"/>
            <a:ext cx="5207000" cy="812800"/>
          </a:xfrm>
          <a:prstGeom prst="roundRect">
            <a:avLst>
              <a:gd name="adj" fmla="val 18000"/>
            </a:avLst>
          </a:prstGeom>
          <a:solidFill>
            <a:srgbClr val="FFFFFF">
              <a:alpha val="94000"/>
            </a:srgbClr>
          </a:solidFill>
          <a:ln w="50800">
            <a:solidFill>
              <a:srgbClr val="E67E22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25500" tIns="53340" bIns="53340"/>
          <a:lstStyle/>
          <a:p>
            <a:pPr algn="r" rtl="1">
              <a:lnSpc>
                <a:spcPct val="100000"/>
              </a:lnSpc>
            </a:pPr>
            <a:r>
              <a:rPr sz="2700" b="1" lang="ar-SA">
                <a:solidFill>
                  <a:srgbClr val="1E2A3A"/>
                </a:solidFill>
                <a:latin typeface="Arial"/>
                <a:cs typeface="Arial"/>
              </a:rPr>
              <a:t>تربتها رملية وصخرية.</a:t>
            </a:r>
          </a:p>
        </p:txBody>
      </p:sp>
      <p:pic>
        <p:nvPicPr>
          <p:cNvPr id="13" name="رمز 3" descr="gras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76000" y="3517900"/>
            <a:ext cx="793750" cy="635000"/>
          </a:xfrm>
          <a:prstGeom prst="rect">
            <a:avLst/>
          </a:prstGeom>
        </p:spPr>
      </p:pic>
      <p:sp>
        <p:nvSpPr>
          <p:cNvPr id="14" name="معلومة 4"/>
          <p:cNvSpPr/>
          <p:nvPr/>
        </p:nvSpPr>
        <p:spPr>
          <a:xfrm>
            <a:off x="6731000" y="4381500"/>
            <a:ext cx="5207000" cy="812800"/>
          </a:xfrm>
          <a:prstGeom prst="roundRect">
            <a:avLst>
              <a:gd name="adj" fmla="val 18000"/>
            </a:avLst>
          </a:prstGeom>
          <a:solidFill>
            <a:srgbClr val="FFFFFF">
              <a:alpha val="94000"/>
            </a:srgbClr>
          </a:solidFill>
          <a:ln w="50800">
            <a:solidFill>
              <a:srgbClr val="E67E22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25500" tIns="53340" bIns="53340"/>
          <a:lstStyle/>
          <a:p>
            <a:pPr algn="r" rtl="1">
              <a:lnSpc>
                <a:spcPct val="100000"/>
              </a:lnSpc>
            </a:pPr>
            <a:r>
              <a:rPr sz="2700" b="1" lang="ar-SA">
                <a:solidFill>
                  <a:srgbClr val="1E2A3A"/>
                </a:solidFill>
                <a:latin typeface="Arial"/>
                <a:cs typeface="Arial"/>
              </a:rPr>
              <a:t>تنمو فيها نباتات الصبار والأعشاب.</a:t>
            </a:r>
          </a:p>
        </p:txBody>
      </p:sp>
      <p:pic>
        <p:nvPicPr>
          <p:cNvPr id="15" name="رمز 4" descr="cactu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76000" y="4470400"/>
            <a:ext cx="488462" cy="635000"/>
          </a:xfrm>
          <a:prstGeom prst="rect">
            <a:avLst/>
          </a:prstGeom>
        </p:spPr>
      </p:pic>
      <p:pic>
        <p:nvPicPr>
          <p:cNvPr id="16" name="!!noura" descr="المستكشفة نورة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02000" y="3556000"/>
            <a:ext cx="1989667" cy="2984500"/>
          </a:xfrm>
          <a:prstGeom prst="rect">
            <a:avLst/>
          </a:prstGeom>
        </p:spPr>
      </p:pic>
      <p:sp>
        <p:nvSpPr>
          <p:cNvPr id="17" name="فقاعة نورة"/>
          <p:cNvSpPr/>
          <p:nvPr/>
        </p:nvSpPr>
        <p:spPr>
          <a:xfrm>
            <a:off x="571500" y="3810000"/>
            <a:ext cx="2540000" cy="1079500"/>
          </a:xfrm>
          <a:prstGeom prst="wedgeRoundRectCallout">
            <a:avLst>
              <a:gd name="adj1" fmla="val 67500"/>
              <a:gd name="adj2" fmla="val 8823"/>
              <a:gd name="adj3" fmla="val 16667"/>
            </a:avLst>
          </a:prstGeom>
          <a:solidFill>
            <a:srgbClr val="FFFFFF"/>
          </a:solidFill>
          <a:ln w="50800">
            <a:solidFill>
              <a:srgbClr val="F5A623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 rtl="1"/>
            <a:r>
              <a:rPr sz="2100" b="1" lang="ar-SA">
                <a:solidFill>
                  <a:srgbClr val="E8505B"/>
                </a:solidFill>
                <a:latin typeface="Arial"/>
                <a:cs typeface="Arial"/>
              </a:rPr>
              <a:t>نورة: </a:t>
            </a:r>
            <a:r>
              <a:rPr sz="2100" b="1" lang="ar-SA">
                <a:solidFill>
                  <a:srgbClr val="1E2A3A"/>
                </a:solidFill>
                <a:latin typeface="Arial"/>
                <a:cs typeface="Arial"/>
              </a:rPr>
              <a:t>برأيكِ، هل تمطر السماء هنا كثيرًا؟</a:t>
            </a:r>
          </a:p>
        </p:txBody>
      </p:sp>
      <p:sp>
        <p:nvSpPr>
          <p:cNvPr id="18" name="زر النهار"/>
          <p:cNvSpPr/>
          <p:nvPr/>
        </p:nvSpPr>
        <p:spPr>
          <a:xfrm>
            <a:off x="698500" y="5461000"/>
            <a:ext cx="1206500" cy="50800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508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600" b="1" lang="ar-SA">
                <a:solidFill>
                  <a:srgbClr val="7A4A10"/>
                </a:solidFill>
                <a:latin typeface="Arial"/>
                <a:cs typeface="Arial"/>
              </a:rPr>
              <a:t>النهار</a:t>
            </a:r>
          </a:p>
        </p:txBody>
      </p:sp>
      <p:sp>
        <p:nvSpPr>
          <p:cNvPr id="19" name="زر الليل"/>
          <p:cNvSpPr/>
          <p:nvPr/>
        </p:nvSpPr>
        <p:spPr>
          <a:xfrm>
            <a:off x="2032000" y="5461000"/>
            <a:ext cx="1206500" cy="508000"/>
          </a:xfrm>
          <a:prstGeom prst="roundRect">
            <a:avLst>
              <a:gd name="adj" fmla="val 50000"/>
            </a:avLst>
          </a:prstGeom>
          <a:solidFill>
            <a:srgbClr val="2C3E7A"/>
          </a:solidFill>
          <a:ln w="508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600" b="1" lang="ar-SA">
                <a:solidFill>
                  <a:srgbClr val="FFFFFF"/>
                </a:solidFill>
                <a:latin typeface="Arial"/>
                <a:cs typeface="Arial"/>
              </a:rPr>
              <a:t>الليل</a:t>
            </a:r>
          </a:p>
        </p:txBody>
      </p:sp>
      <p:pic>
        <p:nvPicPr>
          <p:cNvPr id="20" name="البوابة الرملية" descr="sand_gat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توقيع المعلمة"/>
          <p:cNvSpPr/>
          <p:nvPr/>
        </p:nvSpPr>
        <p:spPr>
          <a:xfrm>
            <a:off x="177800" y="64262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أ/ شامه البقمي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1600">
        <p14:flythrough/>
        <p:sndAc>
          <p:stSnd>
            <p:snd r:embed="rId12" name="desert_wind.wav"/>
          </p:stSnd>
        </p:sndAc>
      </p:transition>
    </mc:Choice>
    <mc:Fallback>
      <p:transition spd="slow">
        <p:zoom/>
        <p:sndAc>
          <p:stSnd>
            <p:snd r:embed="rId12" name="desert_wind.wav"/>
          </p:stSnd>
        </p:sndAc>
      </p:transition>
    </mc:Fallback>
  </mc:AlternateContent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800" fill="hold"/>
                                        <p:tgtEl>
                                          <p:spTgt spid="20"/>
                                        </p:tgtEl>
                                      </p:cBhvr>
                                      <p:by x="400000" y="400000"/>
                                    </p:animScale>
                                    <p:animEffect transition="out" filter="fade">
                                      <p:cBhvr>
                                        <p:cTn id="7" dur="1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7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5000 E" pathEditMode="relative" ptsTypes="">
                                      <p:cBhvr>
                                        <p:cTn id="64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"/>
                            </p:stCondLst>
                            <p:childTnLst>
                              <p:par>
                                <p:cTn id="6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11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5000 E" pathEditMode="relative" ptsTypes="">
                                      <p:cBhvr>
                                        <p:cTn id="85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4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خلفية" descr="خلفية المشه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عنوان" descr="عنوان المحطة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2012" y="139700"/>
            <a:ext cx="4467977" cy="952500"/>
          </a:xfrm>
          <a:prstGeom prst="rect">
            <a:avLst/>
          </a:prstGeom>
        </p:spPr>
      </p:pic>
      <p:sp>
        <p:nvSpPr>
          <p:cNvPr id="4" name="رقم المحطة"/>
          <p:cNvSpPr/>
          <p:nvPr/>
        </p:nvSpPr>
        <p:spPr>
          <a:xfrm>
            <a:off x="10414000" y="215900"/>
            <a:ext cx="1587500" cy="4064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المحطة ٥</a:t>
            </a:r>
          </a:p>
        </p:txBody>
      </p:sp>
      <p:sp>
        <p:nvSpPr>
          <p:cNvPr id="5" name="بطاقة الصحراء الحارة"/>
          <p:cNvSpPr/>
          <p:nvPr/>
        </p:nvSpPr>
        <p:spPr>
          <a:xfrm>
            <a:off x="6350000" y="1524000"/>
            <a:ext cx="50800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E67E22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مفردة الصحراء الحارة"/>
          <p:cNvSpPr/>
          <p:nvPr/>
        </p:nvSpPr>
        <p:spPr>
          <a:xfrm>
            <a:off x="6731000" y="1714500"/>
            <a:ext cx="4318000" cy="63500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4000" b="1" lang="ar-SA">
                <a:solidFill>
                  <a:srgbClr val="FFFFFF"/>
                </a:solidFill>
                <a:latin typeface="Arial"/>
                <a:cs typeface="Arial"/>
              </a:rPr>
              <a:t>الصحراء الحارة</a:t>
            </a:r>
          </a:p>
        </p:txBody>
      </p:sp>
      <p:pic>
        <p:nvPicPr>
          <p:cNvPr id="7" name="الصحراء الحارة" descr="cactu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500" y="2540000"/>
            <a:ext cx="1465385" cy="1905000"/>
          </a:xfrm>
          <a:prstGeom prst="rect">
            <a:avLst/>
          </a:prstGeom>
        </p:spPr>
      </p:pic>
      <p:sp>
        <p:nvSpPr>
          <p:cNvPr id="8" name="معنى الصحراء الحارة"/>
          <p:cNvSpPr/>
          <p:nvPr/>
        </p:nvSpPr>
        <p:spPr>
          <a:xfrm>
            <a:off x="6604000" y="4540250"/>
            <a:ext cx="4572000" cy="1428750"/>
          </a:xfrm>
          <a:prstGeom prst="roundRect">
            <a:avLst>
              <a:gd name="adj" fmla="val 18000"/>
            </a:avLst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700" b="1" lang="ar-SA">
                <a:solidFill>
                  <a:srgbClr val="1E2A3A"/>
                </a:solidFill>
                <a:latin typeface="Arial"/>
                <a:cs typeface="Arial"/>
              </a:rPr>
              <a:t>موطن جاف، أمطاره قليلة جدًا.</a:t>
            </a:r>
          </a:p>
        </p:txBody>
      </p:sp>
      <p:sp>
        <p:nvSpPr>
          <p:cNvPr id="9" name="بطاقة المنطقة القطبية"/>
          <p:cNvSpPr/>
          <p:nvPr/>
        </p:nvSpPr>
        <p:spPr>
          <a:xfrm>
            <a:off x="762000" y="1524000"/>
            <a:ext cx="50800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2E86DE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مفردة المنطقة القطبية"/>
          <p:cNvSpPr/>
          <p:nvPr/>
        </p:nvSpPr>
        <p:spPr>
          <a:xfrm>
            <a:off x="1143000" y="1714500"/>
            <a:ext cx="4318000" cy="635000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4000" b="1" lang="ar-SA">
                <a:solidFill>
                  <a:srgbClr val="FFFFFF"/>
                </a:solidFill>
                <a:latin typeface="Arial"/>
                <a:cs typeface="Arial"/>
              </a:rPr>
              <a:t>المنطقة القطبية</a:t>
            </a:r>
          </a:p>
        </p:txBody>
      </p:sp>
      <p:pic>
        <p:nvPicPr>
          <p:cNvPr id="11" name="المنطقة القطبية" descr="an_fox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9500" y="2540000"/>
            <a:ext cx="1632857" cy="1905000"/>
          </a:xfrm>
          <a:prstGeom prst="rect">
            <a:avLst/>
          </a:prstGeom>
        </p:spPr>
      </p:pic>
      <p:sp>
        <p:nvSpPr>
          <p:cNvPr id="12" name="معنى المنطقة القطبية"/>
          <p:cNvSpPr/>
          <p:nvPr/>
        </p:nvSpPr>
        <p:spPr>
          <a:xfrm>
            <a:off x="1016000" y="4540250"/>
            <a:ext cx="4572000" cy="1428750"/>
          </a:xfrm>
          <a:prstGeom prst="roundRect">
            <a:avLst>
              <a:gd name="adj" fmla="val 18000"/>
            </a:avLst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700" b="1" lang="ar-SA">
                <a:solidFill>
                  <a:srgbClr val="1E2A3A"/>
                </a:solidFill>
                <a:latin typeface="Arial"/>
                <a:cs typeface="Arial"/>
              </a:rPr>
              <a:t>صحراء باردة جافة، تقع بالقرب من القطب الشمالي.</a:t>
            </a:r>
          </a:p>
        </p:txBody>
      </p:sp>
      <p:sp>
        <p:nvSpPr>
          <p:cNvPr id="13" name="توقيع المعلمة"/>
          <p:cNvSpPr/>
          <p:nvPr/>
        </p:nvSpPr>
        <p:spPr>
          <a:xfrm>
            <a:off x="177800" y="64262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أ/ شامه البقمي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1400">
        <p14:gallery dir="l"/>
      </p:transition>
    </mc:Choice>
    <mc:Fallback>
      <p:transition spd="slow">
        <p:push dir="l"/>
      </p:transition>
    </mc:Fallback>
  </mc:AlternateContent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9" display="0" masterRel="sameClick">
                                          <p:stCondLst>
                                            <p:cond evt="onBegin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ndTgt r:embed="rId6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17" display="0" masterRel="sameClick">
                                          <p:stCondLst>
                                            <p:cond evt="onBegin" delay="0">
                                              <p:tn val="13"/>
                                            </p:cond>
                                          </p:stCondLst>
                                        </p:cTn>
                                        <p:tgtEl>
                                          <p:sndTgt r:embed="rId6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خلفية" descr="خلفية المشه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عنوان" descr="عنوان المحطة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179" y="139700"/>
            <a:ext cx="2625641" cy="952500"/>
          </a:xfrm>
          <a:prstGeom prst="rect">
            <a:avLst/>
          </a:prstGeom>
        </p:spPr>
      </p:pic>
      <p:sp>
        <p:nvSpPr>
          <p:cNvPr id="4" name="رقم المحطة"/>
          <p:cNvSpPr/>
          <p:nvPr/>
        </p:nvSpPr>
        <p:spPr>
          <a:xfrm>
            <a:off x="10414000" y="215900"/>
            <a:ext cx="1587500" cy="4064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المحطة ٦</a:t>
            </a:r>
          </a:p>
        </p:txBody>
      </p:sp>
      <p:pic>
        <p:nvPicPr>
          <p:cNvPr id="5" name="!!plant" descr="نبات صحراوي وجذوره تحت التربة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587500"/>
            <a:ext cx="3937000" cy="4265083"/>
          </a:xfrm>
          <a:prstGeom prst="rect">
            <a:avLst/>
          </a:prstGeom>
        </p:spPr>
      </p:pic>
      <p:sp>
        <p:nvSpPr>
          <p:cNvPr id="6" name="صفة 1"/>
          <p:cNvSpPr/>
          <p:nvPr/>
        </p:nvSpPr>
        <p:spPr>
          <a:xfrm>
            <a:off x="5080000" y="1587500"/>
            <a:ext cx="6794500" cy="1206500"/>
          </a:xfrm>
          <a:prstGeom prst="roundRect">
            <a:avLst>
              <a:gd name="adj" fmla="val 18000"/>
            </a:avLst>
          </a:prstGeom>
          <a:solidFill>
            <a:srgbClr val="FFFFFF">
              <a:alpha val="95000"/>
            </a:srgbClr>
          </a:solidFill>
          <a:ln w="50800">
            <a:solidFill>
              <a:srgbClr val="27AE60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952500" tIns="53340" bIns="53340"/>
          <a:lstStyle/>
          <a:p>
            <a:pPr algn="r" rtl="1">
              <a:lnSpc>
                <a:spcPct val="100000"/>
              </a:lnSpc>
            </a:pPr>
            <a:r>
              <a:rPr sz="2700" b="1" lang="ar-SA">
                <a:solidFill>
                  <a:srgbClr val="1E2A3A"/>
                </a:solidFill>
                <a:latin typeface="Arial"/>
                <a:cs typeface="Arial"/>
              </a:rPr>
              <a:t>جعل الله تعالى للنباتات الصحراوية سيقانًا وأوراقًا تستطيع أن تخزن الماء.</a:t>
            </a:r>
          </a:p>
        </p:txBody>
      </p:sp>
      <p:pic>
        <p:nvPicPr>
          <p:cNvPr id="7" name="رمز 1" descr="dro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5500" y="1873250"/>
            <a:ext cx="698500" cy="908050"/>
          </a:xfrm>
          <a:prstGeom prst="rect">
            <a:avLst/>
          </a:prstGeom>
        </p:spPr>
      </p:pic>
      <p:sp>
        <p:nvSpPr>
          <p:cNvPr id="8" name="صفة 2"/>
          <p:cNvSpPr/>
          <p:nvPr/>
        </p:nvSpPr>
        <p:spPr>
          <a:xfrm>
            <a:off x="5080000" y="2952750"/>
            <a:ext cx="6794500" cy="1206500"/>
          </a:xfrm>
          <a:prstGeom prst="roundRect">
            <a:avLst>
              <a:gd name="adj" fmla="val 18000"/>
            </a:avLst>
          </a:prstGeom>
          <a:solidFill>
            <a:srgbClr val="FFFFFF">
              <a:alpha val="95000"/>
            </a:srgbClr>
          </a:solidFill>
          <a:ln w="50800">
            <a:solidFill>
              <a:srgbClr val="27AE60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952500" tIns="53340" bIns="53340"/>
          <a:lstStyle/>
          <a:p>
            <a:pPr algn="r" rtl="1">
              <a:lnSpc>
                <a:spcPct val="100000"/>
              </a:lnSpc>
            </a:pPr>
            <a:r>
              <a:rPr sz="2700" b="1" lang="ar-SA">
                <a:solidFill>
                  <a:srgbClr val="1E2A3A"/>
                </a:solidFill>
                <a:latin typeface="Arial"/>
                <a:cs typeface="Arial"/>
              </a:rPr>
              <a:t>لبعضها جذور تنتشر قريبة من سطح التربة، أو تمتد عميقًا بحثًا عن الماء.</a:t>
            </a:r>
          </a:p>
        </p:txBody>
      </p:sp>
      <p:pic>
        <p:nvPicPr>
          <p:cNvPr id="9" name="رمز 2" descr="arro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5500" y="3238500"/>
            <a:ext cx="698500" cy="279400"/>
          </a:xfrm>
          <a:prstGeom prst="rect">
            <a:avLst/>
          </a:prstGeom>
        </p:spPr>
      </p:pic>
      <p:sp>
        <p:nvSpPr>
          <p:cNvPr id="10" name="صفة 3"/>
          <p:cNvSpPr/>
          <p:nvPr/>
        </p:nvSpPr>
        <p:spPr>
          <a:xfrm>
            <a:off x="5080000" y="4318000"/>
            <a:ext cx="6794500" cy="1206500"/>
          </a:xfrm>
          <a:prstGeom prst="roundRect">
            <a:avLst>
              <a:gd name="adj" fmla="val 18000"/>
            </a:avLst>
          </a:prstGeom>
          <a:solidFill>
            <a:srgbClr val="FFFFFF">
              <a:alpha val="95000"/>
            </a:srgbClr>
          </a:solidFill>
          <a:ln w="50800">
            <a:solidFill>
              <a:srgbClr val="27AE60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952500" tIns="53340" bIns="53340"/>
          <a:lstStyle/>
          <a:p>
            <a:pPr algn="r" rtl="1">
              <a:lnSpc>
                <a:spcPct val="100000"/>
              </a:lnSpc>
            </a:pPr>
            <a:r>
              <a:rPr sz="2700" b="1" lang="ar-SA">
                <a:solidFill>
                  <a:srgbClr val="1E2A3A"/>
                </a:solidFill>
                <a:latin typeface="Arial"/>
                <a:cs typeface="Arial"/>
              </a:rPr>
              <a:t>تلتف بعض الأوراق خلال النهار حتى لا تتعرض لضوء الشمس.</a:t>
            </a:r>
          </a:p>
        </p:txBody>
      </p:sp>
      <p:pic>
        <p:nvPicPr>
          <p:cNvPr id="11" name="رمز 3" descr="su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85500" y="4603750"/>
            <a:ext cx="698500" cy="698500"/>
          </a:xfrm>
          <a:prstGeom prst="rect">
            <a:avLst/>
          </a:prstGeom>
        </p:spPr>
      </p:pic>
      <p:sp>
        <p:nvSpPr>
          <p:cNvPr id="12" name="توقيع المعلمة"/>
          <p:cNvSpPr/>
          <p:nvPr/>
        </p:nvSpPr>
        <p:spPr>
          <a:xfrm>
            <a:off x="177800" y="64262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أ/ شامه البقمي</a:t>
            </a:r>
          </a:p>
        </p:txBody>
      </p:sp>
    </p:spTree>
  </p:cSld>
  <p:clrMapOvr>
    <a:masterClrMapping/>
  </p:clrMapOvr>
  <p:transition xmlns:mc="http://schemas.openxmlformats.org/markup-compatibility/2006" xmlns:p14="http://schemas.microsoft.com/office/powerpoint/2010/main" xmlns:p159="http://schemas.microsoft.com/office/powerpoint/2015/09/main" spd="slow">
    <p:fade/>
  </p:transition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خلفية" descr="خلفية المشه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رقم المحطة"/>
          <p:cNvSpPr/>
          <p:nvPr/>
        </p:nvSpPr>
        <p:spPr>
          <a:xfrm>
            <a:off x="10414000" y="215900"/>
            <a:ext cx="1587500" cy="4064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المحطة ٦</a:t>
            </a:r>
          </a:p>
        </p:txBody>
      </p:sp>
      <p:pic>
        <p:nvPicPr>
          <p:cNvPr id="4" name="!!plant" descr="تكبير جذور النبات الصحراوي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" y="-1905000"/>
            <a:ext cx="6985000" cy="7567083"/>
          </a:xfrm>
          <a:prstGeom prst="rect">
            <a:avLst/>
          </a:prstGeom>
        </p:spPr>
      </p:pic>
      <p:pic>
        <p:nvPicPr>
          <p:cNvPr id="5" name="سهم الماء" descr="arro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70000" y="2095500"/>
            <a:ext cx="1270000" cy="508000"/>
          </a:xfrm>
          <a:prstGeom prst="rect">
            <a:avLst/>
          </a:prstGeom>
        </p:spPr>
      </p:pic>
      <p:pic>
        <p:nvPicPr>
          <p:cNvPr id="6" name="سهم الماء" descr="arro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953000" y="2095500"/>
            <a:ext cx="1270000" cy="508000"/>
          </a:xfrm>
          <a:prstGeom prst="rect">
            <a:avLst/>
          </a:prstGeom>
        </p:spPr>
      </p:pic>
      <p:pic>
        <p:nvPicPr>
          <p:cNvPr id="7" name="سهم الماء" descr="arro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048000" y="2286000"/>
            <a:ext cx="1270000" cy="508000"/>
          </a:xfrm>
          <a:prstGeom prst="rect">
            <a:avLst/>
          </a:prstGeom>
        </p:spPr>
      </p:pic>
      <p:pic>
        <p:nvPicPr>
          <p:cNvPr id="8" name="قطرة" descr="dro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3365500"/>
            <a:ext cx="381000" cy="495300"/>
          </a:xfrm>
          <a:prstGeom prst="rect">
            <a:avLst/>
          </a:prstGeom>
        </p:spPr>
      </p:pic>
      <p:pic>
        <p:nvPicPr>
          <p:cNvPr id="9" name="قطرة" descr="dro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3302000"/>
            <a:ext cx="381000" cy="495300"/>
          </a:xfrm>
          <a:prstGeom prst="rect">
            <a:avLst/>
          </a:prstGeom>
        </p:spPr>
      </p:pic>
      <p:pic>
        <p:nvPicPr>
          <p:cNvPr id="10" name="قطرة" descr="dro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6000" y="4826000"/>
            <a:ext cx="381000" cy="4953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525000" y="254000"/>
            <a:ext cx="2349500" cy="406400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600" b="1" lang="ar-SA">
                <a:solidFill>
                  <a:srgbClr val="FFFFFF"/>
                </a:solidFill>
                <a:latin typeface="Arial"/>
                <a:cs typeface="Arial"/>
              </a:rPr>
              <a:t>أقرأ الشكل</a:t>
            </a:r>
          </a:p>
        </p:txBody>
      </p:sp>
      <p:sp>
        <p:nvSpPr>
          <p:cNvPr id="12" name="إطار شكل الكتاب"/>
          <p:cNvSpPr/>
          <p:nvPr/>
        </p:nvSpPr>
        <p:spPr>
          <a:xfrm>
            <a:off x="8255000" y="749300"/>
            <a:ext cx="3556000" cy="317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0">
            <a:solidFill>
              <a:srgbClr val="27AE60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شكل الكتاب" descr="شكل الكتاب: البحث عن الماء في الصحراء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0" y="850900"/>
            <a:ext cx="3302000" cy="282377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382000" y="3632200"/>
            <a:ext cx="2095500" cy="228600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1430" bIns="11430"/>
          <a:lstStyle/>
          <a:p>
            <a:pPr algn="ctr" rtl="1">
              <a:lnSpc>
                <a:spcPct val="100000"/>
              </a:lnSpc>
            </a:pPr>
            <a:r>
              <a:rPr sz="1300" b="1" lang="ar-SA">
                <a:solidFill>
                  <a:srgbClr val="FFFFFF"/>
                </a:solidFill>
                <a:latin typeface="Arial"/>
                <a:cs typeface="Arial"/>
              </a:rPr>
              <a:t>شكل من كتابي – صفحة ٩٨</a:t>
            </a:r>
          </a:p>
        </p:txBody>
      </p:sp>
      <p:sp>
        <p:nvSpPr>
          <p:cNvPr id="15" name="سؤال أقرأ الشكل"/>
          <p:cNvSpPr/>
          <p:nvPr/>
        </p:nvSpPr>
        <p:spPr>
          <a:xfrm>
            <a:off x="7429500" y="4064000"/>
            <a:ext cx="4572000" cy="889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50800">
            <a:solidFill>
              <a:srgbClr val="E8505B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400" b="1" lang="ar-SA">
                <a:solidFill>
                  <a:srgbClr val="1E2A3A"/>
                </a:solidFill>
                <a:latin typeface="Arial"/>
                <a:cs typeface="Arial"/>
              </a:rPr>
              <a:t>كيف تساعد جذور النباتات حيوانات الصحراء على العيش؟</a:t>
            </a:r>
          </a:p>
        </p:txBody>
      </p:sp>
      <p:sp>
        <p:nvSpPr>
          <p:cNvPr id="16" name="إجابة أقرأ الشكل"/>
          <p:cNvSpPr/>
          <p:nvPr/>
        </p:nvSpPr>
        <p:spPr>
          <a:xfrm>
            <a:off x="7429500" y="5048250"/>
            <a:ext cx="4572000" cy="1301750"/>
          </a:xfrm>
          <a:prstGeom prst="roundRect">
            <a:avLst>
              <a:gd name="adj" fmla="val 18000"/>
            </a:avLst>
          </a:prstGeom>
          <a:solidFill>
            <a:srgbClr val="27AE60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100" b="1" lang="ar-SA">
                <a:solidFill>
                  <a:srgbClr val="FFFFFF"/>
                </a:solidFill>
                <a:latin typeface="Arial"/>
                <a:cs typeface="Arial"/>
              </a:rPr>
              <a:t>تساعد النباتات الصحراوية الحيوانات بتوفير الغذاء والماء.</a:t>
            </a:r>
          </a:p>
          <a:p>
            <a:pPr algn="ctr" rtl="1">
              <a:lnSpc>
                <a:spcPct val="100000"/>
              </a:lnSpc>
            </a:pPr>
            <a:r>
              <a:rPr sz="1800" b="0" lang="ar-SA">
                <a:solidFill>
                  <a:srgbClr val="FFFFFF"/>
                </a:solidFill>
                <a:latin typeface="Arial"/>
                <a:cs typeface="Arial"/>
              </a:rPr>
              <a:t>بعض النباتات تخزن الماء، وتحصل الحيوانات على جزء منه عندما تتغذى عليها.</a:t>
            </a:r>
          </a:p>
        </p:txBody>
      </p:sp>
      <p:sp>
        <p:nvSpPr>
          <p:cNvPr id="17" name="توقيع المعلمة"/>
          <p:cNvSpPr/>
          <p:nvPr/>
        </p:nvSpPr>
        <p:spPr>
          <a:xfrm>
            <a:off x="177800" y="64262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أ/ شامه البقمي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2000">
        <p159:morph option="byObject"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90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5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9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1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45" display="0" masterRel="sameClick">
                                          <p:stCondLst>
                                            <p:cond evt="onBegin" delay="0">
                                              <p:tn val="40"/>
                                            </p:cond>
                                          </p:stCondLst>
                                        </p:cTn>
                                        <p:tgtEl>
                                          <p:sndTgt r:embed="rId8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خلفية" descr="خلفية المشه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عنوان" descr="عنوان المحطة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5089" y="139700"/>
            <a:ext cx="5241823" cy="952500"/>
          </a:xfrm>
          <a:prstGeom prst="rect">
            <a:avLst/>
          </a:prstGeom>
        </p:spPr>
      </p:pic>
      <p:sp>
        <p:nvSpPr>
          <p:cNvPr id="4" name="رقم المحطة"/>
          <p:cNvSpPr/>
          <p:nvPr/>
        </p:nvSpPr>
        <p:spPr>
          <a:xfrm>
            <a:off x="10414000" y="215900"/>
            <a:ext cx="1587500" cy="4064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المحطة ٧</a:t>
            </a:r>
          </a:p>
        </p:txBody>
      </p:sp>
      <p:sp>
        <p:nvSpPr>
          <p:cNvPr id="5" name="بطاقة الضب"/>
          <p:cNvSpPr/>
          <p:nvPr/>
        </p:nvSpPr>
        <p:spPr>
          <a:xfrm>
            <a:off x="9271000" y="1492250"/>
            <a:ext cx="2667000" cy="4826000"/>
          </a:xfrm>
          <a:prstGeom prst="roundRect">
            <a:avLst>
              <a:gd name="adj" fmla="val 12000"/>
            </a:avLst>
          </a:prstGeom>
          <a:solidFill>
            <a:srgbClr val="FFFFFF">
              <a:alpha val="96000"/>
            </a:srgbClr>
          </a:solidFill>
          <a:ln w="50800">
            <a:solidFill>
              <a:srgbClr val="E67E22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علامة استفهام"/>
          <p:cNvSpPr txBox="1"/>
          <p:nvPr/>
        </p:nvSpPr>
        <p:spPr>
          <a:xfrm>
            <a:off x="9969500" y="1714500"/>
            <a:ext cx="1270000" cy="12700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0" b="1" lang="ar-SA">
                <a:solidFill>
                  <a:srgbClr val="E67E22"/>
                </a:solidFill>
                <a:latin typeface="Arial"/>
                <a:cs typeface="Arial"/>
              </a:rPr>
              <a:t>؟</a:t>
            </a:r>
          </a:p>
        </p:txBody>
      </p:sp>
      <p:pic>
        <p:nvPicPr>
          <p:cNvPr id="7" name="الضب" descr="an_liz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1500" y="1889125"/>
            <a:ext cx="2286000" cy="1428750"/>
          </a:xfrm>
          <a:prstGeom prst="rect">
            <a:avLst/>
          </a:prstGeom>
        </p:spPr>
      </p:pic>
      <p:sp>
        <p:nvSpPr>
          <p:cNvPr id="8" name="اسم الضب"/>
          <p:cNvSpPr/>
          <p:nvPr/>
        </p:nvSpPr>
        <p:spPr>
          <a:xfrm>
            <a:off x="9525000" y="3683000"/>
            <a:ext cx="2159000" cy="44450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600" b="1" lang="ar-SA">
                <a:solidFill>
                  <a:srgbClr val="FFFFFF"/>
                </a:solidFill>
                <a:latin typeface="Arial"/>
                <a:cs typeface="Arial"/>
              </a:rPr>
              <a:t>الضب</a:t>
            </a:r>
          </a:p>
        </p:txBody>
      </p:sp>
      <p:sp>
        <p:nvSpPr>
          <p:cNvPr id="9" name="لغز الضب"/>
          <p:cNvSpPr txBox="1"/>
          <p:nvPr/>
        </p:nvSpPr>
        <p:spPr>
          <a:xfrm>
            <a:off x="9398000" y="4191000"/>
            <a:ext cx="2413000" cy="20320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2200" b="1" lang="ar-SA">
                <a:solidFill>
                  <a:srgbClr val="1E2A3A"/>
                </a:solidFill>
                <a:latin typeface="Arial"/>
                <a:cs typeface="Arial"/>
              </a:rPr>
              <a:t>أنا زاحف، أحفر جحري تحت الرمال وأختبئ فيه من شدة الحرارة. من أنا؟</a:t>
            </a:r>
          </a:p>
        </p:txBody>
      </p:sp>
      <p:sp>
        <p:nvSpPr>
          <p:cNvPr id="10" name="بطاقة الذئب"/>
          <p:cNvSpPr/>
          <p:nvPr/>
        </p:nvSpPr>
        <p:spPr>
          <a:xfrm>
            <a:off x="6413500" y="1492250"/>
            <a:ext cx="2667000" cy="4826000"/>
          </a:xfrm>
          <a:prstGeom prst="roundRect">
            <a:avLst>
              <a:gd name="adj" fmla="val 12000"/>
            </a:avLst>
          </a:prstGeom>
          <a:solidFill>
            <a:srgbClr val="FFFFFF">
              <a:alpha val="96000"/>
            </a:srgbClr>
          </a:solidFill>
          <a:ln w="50800">
            <a:solidFill>
              <a:srgbClr val="E67E22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علامة استفهام"/>
          <p:cNvSpPr txBox="1"/>
          <p:nvPr/>
        </p:nvSpPr>
        <p:spPr>
          <a:xfrm>
            <a:off x="7112000" y="1714500"/>
            <a:ext cx="1270000" cy="12700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0" b="1" lang="ar-SA">
                <a:solidFill>
                  <a:srgbClr val="E67E22"/>
                </a:solidFill>
                <a:latin typeface="Arial"/>
                <a:cs typeface="Arial"/>
              </a:rPr>
              <a:t>؟</a:t>
            </a:r>
          </a:p>
        </p:txBody>
      </p:sp>
      <p:pic>
        <p:nvPicPr>
          <p:cNvPr id="12" name="الذئب" descr="an_wol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0571" y="1651000"/>
            <a:ext cx="1632857" cy="1905000"/>
          </a:xfrm>
          <a:prstGeom prst="rect">
            <a:avLst/>
          </a:prstGeom>
        </p:spPr>
      </p:pic>
      <p:sp>
        <p:nvSpPr>
          <p:cNvPr id="13" name="اسم الذئب"/>
          <p:cNvSpPr/>
          <p:nvPr/>
        </p:nvSpPr>
        <p:spPr>
          <a:xfrm>
            <a:off x="6667500" y="3683000"/>
            <a:ext cx="2159000" cy="44450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600" b="1" lang="ar-SA">
                <a:solidFill>
                  <a:srgbClr val="FFFFFF"/>
                </a:solidFill>
                <a:latin typeface="Arial"/>
                <a:cs typeface="Arial"/>
              </a:rPr>
              <a:t>الذئب</a:t>
            </a:r>
          </a:p>
        </p:txBody>
      </p:sp>
      <p:sp>
        <p:nvSpPr>
          <p:cNvPr id="14" name="لغز الذئب"/>
          <p:cNvSpPr txBox="1"/>
          <p:nvPr/>
        </p:nvSpPr>
        <p:spPr>
          <a:xfrm>
            <a:off x="6540500" y="4191000"/>
            <a:ext cx="2413000" cy="20320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2200" b="1" lang="ar-SA">
                <a:solidFill>
                  <a:srgbClr val="1E2A3A"/>
                </a:solidFill>
                <a:latin typeface="Arial"/>
                <a:cs typeface="Arial"/>
              </a:rPr>
              <a:t>أنا أشبه الكلب، أختبئ في النهار وأخرج للصيد ليلًا. من أنا؟</a:t>
            </a:r>
          </a:p>
        </p:txBody>
      </p:sp>
      <p:sp>
        <p:nvSpPr>
          <p:cNvPr id="15" name="بطاقة القط البري"/>
          <p:cNvSpPr/>
          <p:nvPr/>
        </p:nvSpPr>
        <p:spPr>
          <a:xfrm>
            <a:off x="3556000" y="1492250"/>
            <a:ext cx="2667000" cy="4826000"/>
          </a:xfrm>
          <a:prstGeom prst="roundRect">
            <a:avLst>
              <a:gd name="adj" fmla="val 12000"/>
            </a:avLst>
          </a:prstGeom>
          <a:solidFill>
            <a:srgbClr val="FFFFFF">
              <a:alpha val="96000"/>
            </a:srgbClr>
          </a:solidFill>
          <a:ln w="50800">
            <a:solidFill>
              <a:srgbClr val="E67E22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علامة استفهام"/>
          <p:cNvSpPr txBox="1"/>
          <p:nvPr/>
        </p:nvSpPr>
        <p:spPr>
          <a:xfrm>
            <a:off x="4254500" y="1714500"/>
            <a:ext cx="1270000" cy="12700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0" b="1" lang="ar-SA">
                <a:solidFill>
                  <a:srgbClr val="E67E22"/>
                </a:solidFill>
                <a:latin typeface="Arial"/>
                <a:cs typeface="Arial"/>
              </a:rPr>
              <a:t>؟</a:t>
            </a:r>
          </a:p>
        </p:txBody>
      </p:sp>
      <p:pic>
        <p:nvPicPr>
          <p:cNvPr id="17" name="القط البري" descr="an_ca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3071" y="1651000"/>
            <a:ext cx="1632857" cy="1905000"/>
          </a:xfrm>
          <a:prstGeom prst="rect">
            <a:avLst/>
          </a:prstGeom>
        </p:spPr>
      </p:pic>
      <p:sp>
        <p:nvSpPr>
          <p:cNvPr id="18" name="اسم القط البري"/>
          <p:cNvSpPr/>
          <p:nvPr/>
        </p:nvSpPr>
        <p:spPr>
          <a:xfrm>
            <a:off x="3810000" y="3683000"/>
            <a:ext cx="2159000" cy="44450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600" b="1" lang="ar-SA">
                <a:solidFill>
                  <a:srgbClr val="FFFFFF"/>
                </a:solidFill>
                <a:latin typeface="Arial"/>
                <a:cs typeface="Arial"/>
              </a:rPr>
              <a:t>القط البري</a:t>
            </a:r>
          </a:p>
        </p:txBody>
      </p:sp>
      <p:sp>
        <p:nvSpPr>
          <p:cNvPr id="19" name="لغز القط البري"/>
          <p:cNvSpPr txBox="1"/>
          <p:nvPr/>
        </p:nvSpPr>
        <p:spPr>
          <a:xfrm>
            <a:off x="3683000" y="4191000"/>
            <a:ext cx="2413000" cy="20320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2200" b="1" lang="ar-SA">
                <a:solidFill>
                  <a:srgbClr val="1E2A3A"/>
                </a:solidFill>
                <a:latin typeface="Arial"/>
                <a:cs typeface="Arial"/>
              </a:rPr>
              <a:t>أنا قط صغير بأذنين كبيرتين، أخرج ليلًا عندما يبرد الجو. من أنا؟</a:t>
            </a:r>
          </a:p>
        </p:txBody>
      </p:sp>
      <p:sp>
        <p:nvSpPr>
          <p:cNvPr id="20" name="بطاقة العقرب"/>
          <p:cNvSpPr/>
          <p:nvPr/>
        </p:nvSpPr>
        <p:spPr>
          <a:xfrm>
            <a:off x="698500" y="1492250"/>
            <a:ext cx="2667000" cy="4826000"/>
          </a:xfrm>
          <a:prstGeom prst="roundRect">
            <a:avLst>
              <a:gd name="adj" fmla="val 12000"/>
            </a:avLst>
          </a:prstGeom>
          <a:solidFill>
            <a:srgbClr val="FFFFFF">
              <a:alpha val="96000"/>
            </a:srgbClr>
          </a:solidFill>
          <a:ln w="50800">
            <a:solidFill>
              <a:srgbClr val="E67E22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علامة استفهام"/>
          <p:cNvSpPr txBox="1"/>
          <p:nvPr/>
        </p:nvSpPr>
        <p:spPr>
          <a:xfrm>
            <a:off x="1397000" y="1714500"/>
            <a:ext cx="1270000" cy="12700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0" b="1" lang="ar-SA">
                <a:solidFill>
                  <a:srgbClr val="E67E22"/>
                </a:solidFill>
                <a:latin typeface="Arial"/>
                <a:cs typeface="Arial"/>
              </a:rPr>
              <a:t>؟</a:t>
            </a:r>
          </a:p>
        </p:txBody>
      </p:sp>
      <p:pic>
        <p:nvPicPr>
          <p:cNvPr id="22" name="العقرب" descr="an_scorpi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9000" y="1689100"/>
            <a:ext cx="2286000" cy="1828800"/>
          </a:xfrm>
          <a:prstGeom prst="rect">
            <a:avLst/>
          </a:prstGeom>
        </p:spPr>
      </p:pic>
      <p:sp>
        <p:nvSpPr>
          <p:cNvPr id="23" name="اسم العقرب"/>
          <p:cNvSpPr/>
          <p:nvPr/>
        </p:nvSpPr>
        <p:spPr>
          <a:xfrm>
            <a:off x="952500" y="3683000"/>
            <a:ext cx="2159000" cy="44450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600" b="1" lang="ar-SA">
                <a:solidFill>
                  <a:srgbClr val="FFFFFF"/>
                </a:solidFill>
                <a:latin typeface="Arial"/>
                <a:cs typeface="Arial"/>
              </a:rPr>
              <a:t>العقرب</a:t>
            </a:r>
          </a:p>
        </p:txBody>
      </p:sp>
      <p:sp>
        <p:nvSpPr>
          <p:cNvPr id="24" name="لغز العقرب"/>
          <p:cNvSpPr txBox="1"/>
          <p:nvPr/>
        </p:nvSpPr>
        <p:spPr>
          <a:xfrm>
            <a:off x="825500" y="4191000"/>
            <a:ext cx="2413000" cy="20320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2200" b="1" lang="ar-SA">
                <a:solidFill>
                  <a:srgbClr val="1E2A3A"/>
                </a:solidFill>
                <a:latin typeface="Arial"/>
                <a:cs typeface="Arial"/>
              </a:rPr>
              <a:t>لي ذيل في آخره إبرة، وأختبئ تحت الصخور نهارًا. من أنا؟</a:t>
            </a:r>
          </a:p>
        </p:txBody>
      </p:sp>
      <p:sp>
        <p:nvSpPr>
          <p:cNvPr id="25" name="توقيع المعلمة"/>
          <p:cNvSpPr/>
          <p:nvPr/>
        </p:nvSpPr>
        <p:spPr>
          <a:xfrm>
            <a:off x="177800" y="64262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أ/ شامه البقمي</a:t>
            </a:r>
          </a:p>
        </p:txBody>
      </p:sp>
    </p:spTree>
  </p:cSld>
  <p:clrMapOvr>
    <a:masterClrMapping/>
  </p:clrMapOvr>
  <p:transition xmlns:mc="http://schemas.openxmlformats.org/markup-compatibility/2006" xmlns:p14="http://schemas.microsoft.com/office/powerpoint/2010/main" xmlns:p159="http://schemas.microsoft.com/office/powerpoint/2015/09/main" spd="slow">
    <p:fade/>
  </p:transition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14" display="0" masterRel="sameClick">
                                          <p:stCondLst>
                                            <p:cond evt="onBegin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ndTgt r:embed="rId6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32" display="0" masterRel="sameClick">
                                          <p:stCondLst>
                                            <p:cond evt="onBegin" delay="0">
                                              <p:tn val="27"/>
                                            </p:cond>
                                          </p:stCondLst>
                                        </p:cTn>
                                        <p:tgtEl>
                                          <p:sndTgt r:embed="rId6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50" display="0" masterRel="sameClick">
                                          <p:stCondLst>
                                            <p:cond evt="onBegin" delay="0">
                                              <p:tn val="45"/>
                                            </p:cond>
                                          </p:stCondLst>
                                        </p:cTn>
                                        <p:tgtEl>
                                          <p:sndTgt r:embed="rId6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00"/>
                            </p:stCondLst>
                            <p:childTnLst>
                              <p:par>
                                <p:cTn id="5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68" display="0" masterRel="sameClick">
                                          <p:stCondLst>
                                            <p:cond evt="onBegin" delay="0">
                                              <p:tn val="63"/>
                                            </p:cond>
                                          </p:stCondLst>
                                        </p:cTn>
                                        <p:tgtEl>
                                          <p:sndTgt r:embed="rId6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00"/>
                            </p:stCondLst>
                            <p:childTnLst>
                              <p:par>
                                <p:cTn id="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1" grpId="0" animBg="1"/>
      <p:bldP spid="13" grpId="0" animBg="1"/>
      <p:bldP spid="16" grpId="0" animBg="1"/>
      <p:bldP spid="18" grpId="0" animBg="1"/>
      <p:bldP spid="21" grpId="0" animBg="1"/>
      <p:bldP spid="23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خلفية" descr="خلفية المشه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عنوان" descr="عنوان المحطة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3009" y="139700"/>
            <a:ext cx="7585982" cy="952500"/>
          </a:xfrm>
          <a:prstGeom prst="rect">
            <a:avLst/>
          </a:prstGeom>
        </p:spPr>
      </p:pic>
      <p:sp>
        <p:nvSpPr>
          <p:cNvPr id="4" name="رقم المحطة"/>
          <p:cNvSpPr/>
          <p:nvPr/>
        </p:nvSpPr>
        <p:spPr>
          <a:xfrm>
            <a:off x="10414000" y="215900"/>
            <a:ext cx="1587500" cy="4064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المحطة ٧</a:t>
            </a:r>
          </a:p>
        </p:txBody>
      </p:sp>
      <p:sp>
        <p:nvSpPr>
          <p:cNvPr id="5" name="لوحة النهار"/>
          <p:cNvSpPr/>
          <p:nvPr/>
        </p:nvSpPr>
        <p:spPr>
          <a:xfrm>
            <a:off x="6286500" y="1460500"/>
            <a:ext cx="5461000" cy="2984500"/>
          </a:xfrm>
          <a:prstGeom prst="roundRect">
            <a:avLst>
              <a:gd name="adj" fmla="val 12000"/>
            </a:avLst>
          </a:prstGeom>
          <a:solidFill>
            <a:srgbClr val="FFF3D6"/>
          </a:solidFill>
          <a:ln w="50800">
            <a:solidFill>
              <a:srgbClr val="F5A623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3500" y="1587500"/>
            <a:ext cx="3302000" cy="27305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200" b="1" lang="ar-SA">
                <a:solidFill>
                  <a:srgbClr val="E67E22"/>
                </a:solidFill>
                <a:latin typeface="Arial"/>
                <a:cs typeface="Arial"/>
              </a:rPr>
              <a:t>في النهار</a:t>
            </a:r>
          </a:p>
          <a:p>
            <a:pPr algn="r" rtl="1">
              <a:lnSpc>
                <a:spcPct val="100000"/>
              </a:lnSpc>
            </a:pPr>
            <a:r>
              <a:rPr sz="2600" b="1" lang="ar-SA">
                <a:solidFill>
                  <a:srgbClr val="1E2A3A"/>
                </a:solidFill>
                <a:latin typeface="Arial"/>
                <a:cs typeface="Arial"/>
              </a:rPr>
              <a:t>تختبئ في الجحور وتحت الصخور وفي الظل.</a:t>
            </a:r>
          </a:p>
        </p:txBody>
      </p:sp>
      <p:pic>
        <p:nvPicPr>
          <p:cNvPr id="7" name="ضب في الظل" descr="an_liz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000" y="2667000"/>
            <a:ext cx="1905000" cy="1190625"/>
          </a:xfrm>
          <a:prstGeom prst="rect">
            <a:avLst/>
          </a:prstGeom>
        </p:spPr>
      </p:pic>
      <p:pic>
        <p:nvPicPr>
          <p:cNvPr id="8" name="شمس" descr="su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1587500"/>
            <a:ext cx="1079500" cy="1079500"/>
          </a:xfrm>
          <a:prstGeom prst="rect">
            <a:avLst/>
          </a:prstGeom>
        </p:spPr>
      </p:pic>
      <p:sp>
        <p:nvSpPr>
          <p:cNvPr id="9" name="لوحة الليل"/>
          <p:cNvSpPr/>
          <p:nvPr/>
        </p:nvSpPr>
        <p:spPr>
          <a:xfrm>
            <a:off x="444500" y="1460500"/>
            <a:ext cx="5461000" cy="2984500"/>
          </a:xfrm>
          <a:prstGeom prst="roundRect">
            <a:avLst>
              <a:gd name="adj" fmla="val 12000"/>
            </a:avLst>
          </a:prstGeom>
          <a:solidFill>
            <a:srgbClr val="22325F"/>
          </a:solidFill>
          <a:ln w="50800">
            <a:solidFill>
              <a:srgbClr val="7FA8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" y="1587500"/>
            <a:ext cx="3302000" cy="27305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200" b="1" lang="ar-SA">
                <a:solidFill>
                  <a:srgbClr val="FFE27A"/>
                </a:solidFill>
                <a:latin typeface="Arial"/>
                <a:cs typeface="Arial"/>
              </a:rPr>
              <a:t>في الليل</a:t>
            </a:r>
          </a:p>
          <a:p>
            <a:pPr algn="r" rtl="1">
              <a:lnSpc>
                <a:spcPct val="100000"/>
              </a:lnSpc>
            </a:pPr>
            <a:r>
              <a:rPr sz="2600" b="1" lang="ar-SA">
                <a:solidFill>
                  <a:srgbClr val="FFFFFF"/>
                </a:solidFill>
                <a:latin typeface="Arial"/>
                <a:cs typeface="Arial"/>
              </a:rPr>
              <a:t>تخرج للبحث عن غذائها عندما يبرد الجو.</a:t>
            </a:r>
          </a:p>
        </p:txBody>
      </p:sp>
      <p:pic>
        <p:nvPicPr>
          <p:cNvPr id="11" name="ذئب في الليل" descr="an_wol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7000" y="2413000"/>
            <a:ext cx="1632857" cy="1905000"/>
          </a:xfrm>
          <a:prstGeom prst="rect">
            <a:avLst/>
          </a:prstGeom>
        </p:spPr>
      </p:pic>
      <p:pic>
        <p:nvPicPr>
          <p:cNvPr id="12" name="قمر" descr="mo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6000" y="1524000"/>
            <a:ext cx="952500" cy="952500"/>
          </a:xfrm>
          <a:prstGeom prst="rect">
            <a:avLst/>
          </a:prstGeom>
        </p:spPr>
      </p:pic>
      <p:sp>
        <p:nvSpPr>
          <p:cNvPr id="13" name="الإجابة"/>
          <p:cNvSpPr/>
          <p:nvPr/>
        </p:nvSpPr>
        <p:spPr>
          <a:xfrm>
            <a:off x="635000" y="4635500"/>
            <a:ext cx="10922000" cy="1079500"/>
          </a:xfrm>
          <a:prstGeom prst="roundRect">
            <a:avLst>
              <a:gd name="adj" fmla="val 18000"/>
            </a:avLst>
          </a:prstGeom>
          <a:solidFill>
            <a:srgbClr val="27AE60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600" b="1" lang="ar-SA">
                <a:solidFill>
                  <a:srgbClr val="FFFFFF"/>
                </a:solidFill>
                <a:latin typeface="Arial"/>
                <a:cs typeface="Arial"/>
              </a:rPr>
              <a:t>تختبئ نهارًا من الحرارة، وتخرج ليلًا عندما يبرد الجو، وتحصل على جزء من الماء من غذائها.</a:t>
            </a:r>
          </a:p>
        </p:txBody>
      </p:sp>
      <p:sp>
        <p:nvSpPr>
          <p:cNvPr id="14" name="توقيع المعلمة"/>
          <p:cNvSpPr/>
          <p:nvPr/>
        </p:nvSpPr>
        <p:spPr>
          <a:xfrm>
            <a:off x="177800" y="64262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أ/ شامه البقمي</a:t>
            </a:r>
          </a:p>
        </p:txBody>
      </p:sp>
    </p:spTree>
  </p:cSld>
  <p:clrMapOvr>
    <a:masterClrMapping/>
  </p:clrMapOvr>
  <p:transition xmlns:mc="http://schemas.openxmlformats.org/markup-compatibility/2006" xmlns:p14="http://schemas.microsoft.com/office/powerpoint/2010/main" xmlns:p159="http://schemas.microsoft.com/office/powerpoint/2015/09/main" spd="slow">
    <p:fade/>
  </p:transition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53" display="0" masterRel="sameClick">
                                          <p:stCondLst>
                                            <p:cond evt="onBegin" delay="0">
                                              <p:tn val="49"/>
                                            </p:cond>
                                          </p:stCondLst>
                                        </p:cTn>
                                        <p:tgtEl>
                                          <p:sndTgt r:embed="rId9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3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land" descr="المشهد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sun" descr="su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952500"/>
            <a:ext cx="1651000" cy="1651000"/>
          </a:xfrm>
          <a:prstGeom prst="rect">
            <a:avLst/>
          </a:prstGeom>
        </p:spPr>
      </p:pic>
      <p:pic>
        <p:nvPicPr>
          <p:cNvPr id="4" name="عنوان" descr="عنوان المحطة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2424" y="139700"/>
            <a:ext cx="3207152" cy="952500"/>
          </a:xfrm>
          <a:prstGeom prst="rect">
            <a:avLst/>
          </a:prstGeom>
        </p:spPr>
      </p:pic>
      <p:sp>
        <p:nvSpPr>
          <p:cNvPr id="5" name="رقم المحطة"/>
          <p:cNvSpPr/>
          <p:nvPr/>
        </p:nvSpPr>
        <p:spPr>
          <a:xfrm>
            <a:off x="10414000" y="215900"/>
            <a:ext cx="1587500" cy="4064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المحطة ٨</a:t>
            </a:r>
          </a:p>
        </p:txBody>
      </p:sp>
      <p:pic>
        <p:nvPicPr>
          <p:cNvPr id="6" name="!!train" descr="قطار المستكشفات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0" y="4826000"/>
            <a:ext cx="5207000" cy="1345142"/>
          </a:xfrm>
          <a:prstGeom prst="rect">
            <a:avLst/>
          </a:prstGeom>
        </p:spPr>
      </p:pic>
      <p:pic>
        <p:nvPicPr>
          <p:cNvPr id="7" name="!!noura" descr="المستكشفة نورة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302000"/>
            <a:ext cx="2032000" cy="3048000"/>
          </a:xfrm>
          <a:prstGeom prst="rect">
            <a:avLst/>
          </a:prstGeom>
        </p:spPr>
      </p:pic>
      <p:sp>
        <p:nvSpPr>
          <p:cNvPr id="8" name="!!question"/>
          <p:cNvSpPr/>
          <p:nvPr/>
        </p:nvSpPr>
        <p:spPr>
          <a:xfrm>
            <a:off x="2603500" y="2032000"/>
            <a:ext cx="6985000" cy="952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>
            <a:solidFill>
              <a:srgbClr val="E67E22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4000" b="1" lang="ar-SA">
                <a:solidFill>
                  <a:srgbClr val="1E2A3A"/>
                </a:solidFill>
                <a:latin typeface="Arial"/>
                <a:cs typeface="Arial"/>
              </a:rPr>
              <a:t>هل جميع الصحاري حارة؟</a:t>
            </a:r>
          </a:p>
        </p:txBody>
      </p:sp>
      <p:sp>
        <p:nvSpPr>
          <p:cNvPr id="9" name="فقاعة نورة"/>
          <p:cNvSpPr/>
          <p:nvPr/>
        </p:nvSpPr>
        <p:spPr>
          <a:xfrm>
            <a:off x="2921000" y="3556000"/>
            <a:ext cx="2286000" cy="698500"/>
          </a:xfrm>
          <a:prstGeom prst="wedgeRoundRectCallout">
            <a:avLst>
              <a:gd name="adj1" fmla="val -86111"/>
              <a:gd name="adj2" fmla="val 22727"/>
              <a:gd name="adj3" fmla="val 16667"/>
            </a:avLst>
          </a:prstGeom>
          <a:solidFill>
            <a:srgbClr val="FFFFFF"/>
          </a:solidFill>
          <a:ln w="50800">
            <a:solidFill>
              <a:srgbClr val="F5A623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 rtl="1"/>
            <a:r>
              <a:rPr sz="2400" b="1" lang="ar-SA">
                <a:solidFill>
                  <a:srgbClr val="E8505B"/>
                </a:solidFill>
                <a:latin typeface="Arial"/>
                <a:cs typeface="Arial"/>
              </a:rPr>
              <a:t>نورة: </a:t>
            </a:r>
            <a:r>
              <a:rPr sz="2400" b="1" lang="ar-SA">
                <a:solidFill>
                  <a:srgbClr val="1E2A3A"/>
                </a:solidFill>
                <a:latin typeface="Arial"/>
                <a:cs typeface="Arial"/>
              </a:rPr>
              <a:t>ماذا تتوقعين؟</a:t>
            </a:r>
          </a:p>
        </p:txBody>
      </p:sp>
      <p:sp>
        <p:nvSpPr>
          <p:cNvPr id="10" name="توقيع المعلمة"/>
          <p:cNvSpPr/>
          <p:nvPr/>
        </p:nvSpPr>
        <p:spPr>
          <a:xfrm>
            <a:off x="177800" y="64262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أ/ شامه البقمي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1800">
        <p14:conveyor dir="l"/>
        <p:sndAc>
          <p:stSnd>
            <p:snd r:embed="rId9" name="train.wav"/>
          </p:stSnd>
        </p:sndAc>
      </p:transition>
    </mc:Choice>
    <mc:Fallback>
      <p:transition spd="slow">
        <p:push dir="l"/>
        <p:sndAc>
          <p:stSnd>
            <p:snd r:embed="rId9" name="train.wav"/>
          </p:stSnd>
        </p:sndAc>
      </p:transition>
    </mc:Fallback>
  </mc:AlternateContent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4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10" display="0" masterRel="sameClick">
                                          <p:stCondLst>
                                            <p:cond evt="onBegin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ndTgt r:embed="rId8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land" descr="المشهد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sun" descr="su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5000" y="762000"/>
            <a:ext cx="762000" cy="762000"/>
          </a:xfrm>
          <a:prstGeom prst="rect">
            <a:avLst/>
          </a:prstGeom>
        </p:spPr>
      </p:pic>
      <p:pic>
        <p:nvPicPr>
          <p:cNvPr id="4" name="عنوان" descr="عنوان المحطة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2424" y="139700"/>
            <a:ext cx="3207152" cy="952500"/>
          </a:xfrm>
          <a:prstGeom prst="rect">
            <a:avLst/>
          </a:prstGeom>
        </p:spPr>
      </p:pic>
      <p:sp>
        <p:nvSpPr>
          <p:cNvPr id="5" name="رقم المحطة"/>
          <p:cNvSpPr/>
          <p:nvPr/>
        </p:nvSpPr>
        <p:spPr>
          <a:xfrm>
            <a:off x="10414000" y="215900"/>
            <a:ext cx="1587500" cy="4064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المحطة ٨</a:t>
            </a:r>
          </a:p>
        </p:txBody>
      </p:sp>
      <p:pic>
        <p:nvPicPr>
          <p:cNvPr id="6" name="!!train" descr="قطار المستكشفات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000" y="4826000"/>
            <a:ext cx="5207000" cy="1345142"/>
          </a:xfrm>
          <a:prstGeom prst="rect">
            <a:avLst/>
          </a:prstGeom>
        </p:spPr>
      </p:pic>
      <p:pic>
        <p:nvPicPr>
          <p:cNvPr id="7" name="!!noura" descr="المستكشفة نورة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0" y="3302000"/>
            <a:ext cx="2032000" cy="3048000"/>
          </a:xfrm>
          <a:prstGeom prst="rect">
            <a:avLst/>
          </a:prstGeom>
        </p:spPr>
      </p:pic>
      <p:sp>
        <p:nvSpPr>
          <p:cNvPr id="8" name="!!question"/>
          <p:cNvSpPr/>
          <p:nvPr/>
        </p:nvSpPr>
        <p:spPr>
          <a:xfrm>
            <a:off x="2603500" y="2032000"/>
            <a:ext cx="6985000" cy="952500"/>
          </a:xfrm>
          <a:prstGeom prst="roundRect">
            <a:avLst>
              <a:gd name="adj" fmla="val 50000"/>
            </a:avLst>
          </a:prstGeom>
          <a:solidFill>
            <a:srgbClr val="2471A3"/>
          </a:solidFill>
          <a:ln w="762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4000" b="1" lang="ar-SA">
                <a:solidFill>
                  <a:srgbClr val="FFFFFF"/>
                </a:solidFill>
                <a:latin typeface="Arial"/>
                <a:cs typeface="Arial"/>
              </a:rPr>
              <a:t>ليست كل الصحاري حارة!</a:t>
            </a:r>
          </a:p>
        </p:txBody>
      </p:sp>
      <p:pic>
        <p:nvPicPr>
          <p:cNvPr id="9" name="ثلج 1" descr="snowflak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450" y="-381000"/>
            <a:ext cx="266700" cy="266700"/>
          </a:xfrm>
          <a:prstGeom prst="rect">
            <a:avLst/>
          </a:prstGeom>
        </p:spPr>
      </p:pic>
      <p:pic>
        <p:nvPicPr>
          <p:cNvPr id="10" name="ثلج 2" descr="snowflak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5100" y="-381000"/>
            <a:ext cx="400050" cy="400050"/>
          </a:xfrm>
          <a:prstGeom prst="rect">
            <a:avLst/>
          </a:prstGeom>
        </p:spPr>
      </p:pic>
      <p:pic>
        <p:nvPicPr>
          <p:cNvPr id="11" name="ثلج 3" descr="snowflak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9700" y="-381000"/>
            <a:ext cx="374650" cy="374650"/>
          </a:xfrm>
          <a:prstGeom prst="rect">
            <a:avLst/>
          </a:prstGeom>
        </p:spPr>
      </p:pic>
      <p:pic>
        <p:nvPicPr>
          <p:cNvPr id="12" name="ثلج 4" descr="snowflak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6650" y="-381000"/>
            <a:ext cx="368300" cy="368300"/>
          </a:xfrm>
          <a:prstGeom prst="rect">
            <a:avLst/>
          </a:prstGeom>
        </p:spPr>
      </p:pic>
      <p:pic>
        <p:nvPicPr>
          <p:cNvPr id="13" name="ثلج 5" descr="snowflak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5250" y="-381000"/>
            <a:ext cx="381000" cy="381000"/>
          </a:xfrm>
          <a:prstGeom prst="rect">
            <a:avLst/>
          </a:prstGeom>
        </p:spPr>
      </p:pic>
      <p:pic>
        <p:nvPicPr>
          <p:cNvPr id="14" name="ثلج 6" descr="snowflak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3500" y="-381000"/>
            <a:ext cx="444500" cy="444500"/>
          </a:xfrm>
          <a:prstGeom prst="rect">
            <a:avLst/>
          </a:prstGeom>
        </p:spPr>
      </p:pic>
      <p:pic>
        <p:nvPicPr>
          <p:cNvPr id="15" name="ثلج 7" descr="snowflak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1100" y="-381000"/>
            <a:ext cx="355600" cy="355600"/>
          </a:xfrm>
          <a:prstGeom prst="rect">
            <a:avLst/>
          </a:prstGeom>
        </p:spPr>
      </p:pic>
      <p:pic>
        <p:nvPicPr>
          <p:cNvPr id="16" name="ثلج 8" descr="snowflak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9300" y="-381000"/>
            <a:ext cx="323850" cy="323850"/>
          </a:xfrm>
          <a:prstGeom prst="rect">
            <a:avLst/>
          </a:prstGeom>
        </p:spPr>
      </p:pic>
      <p:pic>
        <p:nvPicPr>
          <p:cNvPr id="17" name="ثلج 9" descr="snowflak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9800" y="-381000"/>
            <a:ext cx="336550" cy="336550"/>
          </a:xfrm>
          <a:prstGeom prst="rect">
            <a:avLst/>
          </a:prstGeom>
        </p:spPr>
      </p:pic>
      <p:pic>
        <p:nvPicPr>
          <p:cNvPr id="18" name="ثلج 10" descr="snowflak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0600" y="-381000"/>
            <a:ext cx="285750" cy="285750"/>
          </a:xfrm>
          <a:prstGeom prst="rect">
            <a:avLst/>
          </a:prstGeom>
        </p:spPr>
      </p:pic>
      <p:sp>
        <p:nvSpPr>
          <p:cNvPr id="19" name="توقيع المعلمة"/>
          <p:cNvSpPr/>
          <p:nvPr/>
        </p:nvSpPr>
        <p:spPr>
          <a:xfrm>
            <a:off x="177800" y="64262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أ/ شامه البقمي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2200">
        <p159:morph option="byObject"/>
        <p:sndAc>
          <p:stSnd>
            <p:snd r:embed="rId9" name="cold_wind.wav"/>
          </p:stSnd>
        </p:sndAc>
      </p:transition>
    </mc:Choice>
    <mc:Fallback>
      <p:transition spd="slow">
        <p:fade/>
        <p:sndAc>
          <p:stSnd>
            <p:snd r:embed="rId9" name="cold_wind.wav"/>
          </p:stSnd>
        </p:sndAc>
      </p:transition>
    </mc:Fallback>
  </mc:AlternateContent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47"/>
                            </p:stCondLst>
                            <p:childTnLst>
                              <p:par>
                                <p:cTn id="5" presetID="0" presetClass="pat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 0.3 -0.02 0.6 0.01 1.05 E" pathEditMode="relative" ptsTypes="">
                                      <p:cBhvr>
                                        <p:cTn id="6" dur="8478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869"/>
                            </p:stCondLst>
                            <p:childTnLst>
                              <p:par>
                                <p:cTn id="8" presetID="0" presetClass="pat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 0.3 -0.02 0.6 0.01 1.05 E" pathEditMode="relative" ptsTypes="">
                                      <p:cBhvr>
                                        <p:cTn id="9" dur="9485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967"/>
                            </p:stCondLst>
                            <p:childTnLst>
                              <p:par>
                                <p:cTn id="11" presetID="0" presetClass="pat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 0.3 -0.02 0.6 0.01 1.05 E" pathEditMode="relative" ptsTypes="">
                                      <p:cBhvr>
                                        <p:cTn id="12" dur="7944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98"/>
                            </p:stCondLst>
                            <p:childTnLst>
                              <p:par>
                                <p:cTn id="14" presetID="0" presetClass="pat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 0.3 -0.02 0.6 0.01 1.05 E" pathEditMode="relative" ptsTypes="">
                                      <p:cBhvr>
                                        <p:cTn id="15" dur="7147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23"/>
                            </p:stCondLst>
                            <p:childTnLst>
                              <p:par>
                                <p:cTn id="17" presetID="0" presetClass="pat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 0.3 -0.02 0.6 0.01 1.05 E" pathEditMode="relative" ptsTypes="">
                                      <p:cBhvr>
                                        <p:cTn id="18" dur="9228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611"/>
                            </p:stCondLst>
                            <p:childTnLst>
                              <p:par>
                                <p:cTn id="20" presetID="0" presetClass="pat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 0.3 -0.02 0.6 0.01 1.05 E" pathEditMode="relative" ptsTypes="">
                                      <p:cBhvr>
                                        <p:cTn id="21" dur="996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904"/>
                            </p:stCondLst>
                            <p:childTnLst>
                              <p:par>
                                <p:cTn id="23" presetID="0" presetClass="pat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 0.3 -0.02 0.6 0.01 1.05 E" pathEditMode="relative" ptsTypes="">
                                      <p:cBhvr>
                                        <p:cTn id="24" dur="8304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53"/>
                            </p:stCondLst>
                            <p:childTnLst>
                              <p:par>
                                <p:cTn id="26" presetID="0" presetClass="pat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 0.3 -0.02 0.6 0.01 1.05 E" pathEditMode="relative" ptsTypes="">
                                      <p:cBhvr>
                                        <p:cTn id="27" dur="7673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43"/>
                            </p:stCondLst>
                            <p:childTnLst>
                              <p:par>
                                <p:cTn id="29" presetID="0" presetClass="pat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 0.3 -0.02 0.6 0.01 1.05 E" pathEditMode="relative" ptsTypes="">
                                      <p:cBhvr>
                                        <p:cTn id="30" dur="8262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790"/>
                            </p:stCondLst>
                            <p:childTnLst>
                              <p:par>
                                <p:cTn id="32" presetID="0" presetClass="pat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 0.3 -0.02 0.6 0.01 1.05 E" pathEditMode="relative" ptsTypes="">
                                      <p:cBhvr>
                                        <p:cTn id="33" dur="7648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خلفية" descr="خلفية المشه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عنوان" descr="عنوان المحطة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5832" y="139700"/>
            <a:ext cx="4060337" cy="952500"/>
          </a:xfrm>
          <a:prstGeom prst="rect">
            <a:avLst/>
          </a:prstGeom>
        </p:spPr>
      </p:pic>
      <p:sp>
        <p:nvSpPr>
          <p:cNvPr id="4" name="رقم المحطة"/>
          <p:cNvSpPr/>
          <p:nvPr/>
        </p:nvSpPr>
        <p:spPr>
          <a:xfrm>
            <a:off x="10414000" y="215900"/>
            <a:ext cx="1587500" cy="4064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المحطة ٩</a:t>
            </a:r>
          </a:p>
        </p:txBody>
      </p:sp>
      <p:pic>
        <p:nvPicPr>
          <p:cNvPr id="5" name="غزال الرنة" descr="an_reinde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540000"/>
            <a:ext cx="3111500" cy="3556000"/>
          </a:xfrm>
          <a:prstGeom prst="rect">
            <a:avLst/>
          </a:prstGeom>
        </p:spPr>
      </p:pic>
      <p:sp>
        <p:nvSpPr>
          <p:cNvPr id="6" name="اسم غزال الرنة"/>
          <p:cNvSpPr/>
          <p:nvPr/>
        </p:nvSpPr>
        <p:spPr>
          <a:xfrm>
            <a:off x="984250" y="5969000"/>
            <a:ext cx="1905000" cy="355600"/>
          </a:xfrm>
          <a:prstGeom prst="roundRect">
            <a:avLst>
              <a:gd name="adj" fmla="val 5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غزال الرنة</a:t>
            </a:r>
          </a:p>
        </p:txBody>
      </p:sp>
      <p:pic>
        <p:nvPicPr>
          <p:cNvPr id="7" name="الفقمة" descr="an_sea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2000" y="4445000"/>
            <a:ext cx="2984500" cy="1865312"/>
          </a:xfrm>
          <a:prstGeom prst="rect">
            <a:avLst/>
          </a:prstGeom>
        </p:spPr>
      </p:pic>
      <p:sp>
        <p:nvSpPr>
          <p:cNvPr id="8" name="اسم الفقمة"/>
          <p:cNvSpPr/>
          <p:nvPr/>
        </p:nvSpPr>
        <p:spPr>
          <a:xfrm>
            <a:off x="3841750" y="6032500"/>
            <a:ext cx="1905000" cy="355600"/>
          </a:xfrm>
          <a:prstGeom prst="roundRect">
            <a:avLst>
              <a:gd name="adj" fmla="val 5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الفقمة</a:t>
            </a:r>
          </a:p>
        </p:txBody>
      </p:sp>
      <p:pic>
        <p:nvPicPr>
          <p:cNvPr id="9" name="الثعلب القطبي" descr="an_fox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000" y="3937000"/>
            <a:ext cx="1905000" cy="2222500"/>
          </a:xfrm>
          <a:prstGeom prst="rect">
            <a:avLst/>
          </a:prstGeom>
        </p:spPr>
      </p:pic>
      <p:sp>
        <p:nvSpPr>
          <p:cNvPr id="10" name="اسم الثعلب القطبي"/>
          <p:cNvSpPr/>
          <p:nvPr/>
        </p:nvSpPr>
        <p:spPr>
          <a:xfrm>
            <a:off x="6350000" y="6032500"/>
            <a:ext cx="1905000" cy="355600"/>
          </a:xfrm>
          <a:prstGeom prst="roundRect">
            <a:avLst>
              <a:gd name="adj" fmla="val 5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الثعلب القطبي</a:t>
            </a:r>
          </a:p>
        </p:txBody>
      </p:sp>
      <p:pic>
        <p:nvPicPr>
          <p:cNvPr id="11" name="الدب القطبي" descr="an_bea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0000" y="4064000"/>
            <a:ext cx="2540000" cy="2177143"/>
          </a:xfrm>
          <a:prstGeom prst="rect">
            <a:avLst/>
          </a:prstGeom>
        </p:spPr>
      </p:pic>
      <p:sp>
        <p:nvSpPr>
          <p:cNvPr id="12" name="اسم الدب القطبي"/>
          <p:cNvSpPr/>
          <p:nvPr/>
        </p:nvSpPr>
        <p:spPr>
          <a:xfrm>
            <a:off x="9207500" y="6032500"/>
            <a:ext cx="1905000" cy="355600"/>
          </a:xfrm>
          <a:prstGeom prst="roundRect">
            <a:avLst>
              <a:gd name="adj" fmla="val 5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الدب القطبي</a:t>
            </a:r>
          </a:p>
        </p:txBody>
      </p:sp>
      <p:sp>
        <p:nvSpPr>
          <p:cNvPr id="13" name="معلومة 1"/>
          <p:cNvSpPr/>
          <p:nvPr/>
        </p:nvSpPr>
        <p:spPr>
          <a:xfrm>
            <a:off x="6223000" y="1428750"/>
            <a:ext cx="5651500" cy="660400"/>
          </a:xfrm>
          <a:prstGeom prst="roundRect">
            <a:avLst>
              <a:gd name="adj" fmla="val 18000"/>
            </a:avLst>
          </a:prstGeom>
          <a:solidFill>
            <a:srgbClr val="FFFFFF">
              <a:alpha val="95000"/>
            </a:srgbClr>
          </a:solidFill>
          <a:ln w="50800">
            <a:solidFill>
              <a:srgbClr val="2471A3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400" b="1" lang="ar-SA">
                <a:solidFill>
                  <a:srgbClr val="1E2A3A"/>
                </a:solidFill>
                <a:latin typeface="Arial"/>
                <a:cs typeface="Arial"/>
              </a:rPr>
              <a:t>المنطقة القطبية صحراء باردة جافة.</a:t>
            </a:r>
          </a:p>
        </p:txBody>
      </p:sp>
      <p:sp>
        <p:nvSpPr>
          <p:cNvPr id="14" name="معلومة 2"/>
          <p:cNvSpPr/>
          <p:nvPr/>
        </p:nvSpPr>
        <p:spPr>
          <a:xfrm>
            <a:off x="6223000" y="2190750"/>
            <a:ext cx="5651500" cy="660400"/>
          </a:xfrm>
          <a:prstGeom prst="roundRect">
            <a:avLst>
              <a:gd name="adj" fmla="val 18000"/>
            </a:avLst>
          </a:prstGeom>
          <a:solidFill>
            <a:srgbClr val="FFFFFF">
              <a:alpha val="95000"/>
            </a:srgbClr>
          </a:solidFill>
          <a:ln w="50800">
            <a:solidFill>
              <a:srgbClr val="2471A3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400" b="1" lang="ar-SA">
                <a:solidFill>
                  <a:srgbClr val="1E2A3A"/>
                </a:solidFill>
                <a:latin typeface="Arial"/>
                <a:cs typeface="Arial"/>
              </a:rPr>
              <a:t>تقع بالقرب من القطب الشمالي.</a:t>
            </a:r>
          </a:p>
        </p:txBody>
      </p:sp>
      <p:sp>
        <p:nvSpPr>
          <p:cNvPr id="15" name="معلومة 3"/>
          <p:cNvSpPr/>
          <p:nvPr/>
        </p:nvSpPr>
        <p:spPr>
          <a:xfrm>
            <a:off x="3556000" y="2952750"/>
            <a:ext cx="8318500" cy="825500"/>
          </a:xfrm>
          <a:prstGeom prst="roundRect">
            <a:avLst>
              <a:gd name="adj" fmla="val 18000"/>
            </a:avLst>
          </a:prstGeom>
          <a:solidFill>
            <a:srgbClr val="FFFFFF">
              <a:alpha val="95000"/>
            </a:srgbClr>
          </a:solidFill>
          <a:ln w="50800">
            <a:solidFill>
              <a:srgbClr val="2471A3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300" b="1" lang="ar-SA">
                <a:solidFill>
                  <a:srgbClr val="1E2A3A"/>
                </a:solidFill>
                <a:latin typeface="Arial"/>
                <a:cs typeface="Arial"/>
              </a:rPr>
              <a:t>تعيش فيها الثعالب القطبية وغزال الرنة والفقمة والدب القطبي.</a:t>
            </a:r>
          </a:p>
        </p:txBody>
      </p:sp>
      <p:sp>
        <p:nvSpPr>
          <p:cNvPr id="16" name="توقيع المعلمة"/>
          <p:cNvSpPr/>
          <p:nvPr/>
        </p:nvSpPr>
        <p:spPr>
          <a:xfrm>
            <a:off x="177800" y="64262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أ/ شامه البقمي</a:t>
            </a:r>
          </a:p>
        </p:txBody>
      </p:sp>
    </p:spTree>
  </p:cSld>
  <p:clrMapOvr>
    <a:masterClrMapping/>
  </p:clrMapOvr>
  <p:transition xmlns:mc="http://schemas.openxmlformats.org/markup-compatibility/2006" xmlns:p14="http://schemas.microsoft.com/office/powerpoint/2010/main" xmlns:p159="http://schemas.microsoft.com/office/powerpoint/2015/09/main" spd="slow">
    <p:fade/>
    <p:sndAc>
      <p:stSnd>
        <p:snd r:embed="rId9" name="cold_wind.wav"/>
      </p:stSnd>
    </p:sndAc>
  </p:transition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3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6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8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1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خلفية" descr="خلفية المشه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عنوان" descr="عنوان المحطة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329" y="139700"/>
            <a:ext cx="3015343" cy="952500"/>
          </a:xfrm>
          <a:prstGeom prst="rect">
            <a:avLst/>
          </a:prstGeom>
        </p:spPr>
      </p:pic>
      <p:sp>
        <p:nvSpPr>
          <p:cNvPr id="4" name="رقم المحطة"/>
          <p:cNvSpPr/>
          <p:nvPr/>
        </p:nvSpPr>
        <p:spPr>
          <a:xfrm>
            <a:off x="10414000" y="215900"/>
            <a:ext cx="1587500" cy="4064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المحطة ٩</a:t>
            </a:r>
          </a:p>
        </p:txBody>
      </p:sp>
      <p:sp>
        <p:nvSpPr>
          <p:cNvPr id="5" name="إطار صورة الكتاب"/>
          <p:cNvSpPr/>
          <p:nvPr/>
        </p:nvSpPr>
        <p:spPr>
          <a:xfrm>
            <a:off x="381000" y="1397000"/>
            <a:ext cx="5207000" cy="2984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0">
            <a:solidFill>
              <a:srgbClr val="2471A3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صورة الكتاب" descr="صورة الكتاب: تستلقي الفقمة على الثلج، وغزال الرنة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1524000"/>
            <a:ext cx="4953000" cy="245506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000" y="4076700"/>
            <a:ext cx="3683000" cy="241300"/>
          </a:xfrm>
          <a:prstGeom prst="roundRect">
            <a:avLst>
              <a:gd name="adj" fmla="val 5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1430" bIns="11430"/>
          <a:lstStyle/>
          <a:p>
            <a:pPr algn="ctr" rtl="1">
              <a:lnSpc>
                <a:spcPct val="100000"/>
              </a:lnSpc>
            </a:pPr>
            <a:r>
              <a:rPr sz="1300" b="1" lang="ar-SA">
                <a:solidFill>
                  <a:srgbClr val="FFFFFF"/>
                </a:solidFill>
                <a:latin typeface="Arial"/>
                <a:cs typeface="Arial"/>
              </a:rPr>
              <a:t>تستلقي الفقمة على الثلج – من كتابي ص ١٠٠</a:t>
            </a:r>
          </a:p>
        </p:txBody>
      </p:sp>
      <p:sp>
        <p:nvSpPr>
          <p:cNvPr id="8" name="الفراء الأبيض السميك"/>
          <p:cNvSpPr/>
          <p:nvPr/>
        </p:nvSpPr>
        <p:spPr>
          <a:xfrm>
            <a:off x="5905500" y="1397000"/>
            <a:ext cx="5969000" cy="1333500"/>
          </a:xfrm>
          <a:prstGeom prst="roundRect">
            <a:avLst>
              <a:gd name="adj" fmla="val 18000"/>
            </a:avLst>
          </a:prstGeom>
          <a:solidFill>
            <a:srgbClr val="FFFFFF">
              <a:alpha val="96000"/>
            </a:srgbClr>
          </a:solidFill>
          <a:ln w="50800">
            <a:solidFill>
              <a:srgbClr val="2471A3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1270000" tIns="53340" bIns="53340"/>
          <a:lstStyle/>
          <a:p>
            <a:pPr algn="r" rtl="1">
              <a:lnSpc>
                <a:spcPct val="100000"/>
              </a:lnSpc>
            </a:pPr>
            <a:r>
              <a:rPr sz="2800" b="1" lang="ar-SA">
                <a:solidFill>
                  <a:srgbClr val="2471A3"/>
                </a:solidFill>
                <a:latin typeface="Arial"/>
                <a:cs typeface="Arial"/>
              </a:rPr>
              <a:t>الفراء الأبيض السميك</a:t>
            </a:r>
          </a:p>
          <a:p>
            <a:pPr algn="r" rtl="1">
              <a:lnSpc>
                <a:spcPct val="100000"/>
              </a:lnSpc>
            </a:pPr>
            <a:r>
              <a:rPr sz="2400" b="1" lang="ar-SA">
                <a:solidFill>
                  <a:srgbClr val="1E2A3A"/>
                </a:solidFill>
                <a:latin typeface="Arial"/>
                <a:cs typeface="Arial"/>
              </a:rPr>
              <a:t>يمنح الدببة والثعالب القطبية الدفء، ويساعدها على الاختباء.</a:t>
            </a:r>
          </a:p>
        </p:txBody>
      </p:sp>
      <p:pic>
        <p:nvPicPr>
          <p:cNvPr id="9" name="الفراء الأبيض السميك" descr="an_fox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1587500"/>
            <a:ext cx="816429" cy="952500"/>
          </a:xfrm>
          <a:prstGeom prst="rect">
            <a:avLst/>
          </a:prstGeom>
        </p:spPr>
      </p:pic>
      <p:sp>
        <p:nvSpPr>
          <p:cNvPr id="10" name="طبقة الدهون السميكة"/>
          <p:cNvSpPr/>
          <p:nvPr/>
        </p:nvSpPr>
        <p:spPr>
          <a:xfrm>
            <a:off x="5905500" y="2889250"/>
            <a:ext cx="5969000" cy="1333500"/>
          </a:xfrm>
          <a:prstGeom prst="roundRect">
            <a:avLst>
              <a:gd name="adj" fmla="val 18000"/>
            </a:avLst>
          </a:prstGeom>
          <a:solidFill>
            <a:srgbClr val="FFFFFF">
              <a:alpha val="96000"/>
            </a:srgbClr>
          </a:solidFill>
          <a:ln w="50800">
            <a:solidFill>
              <a:srgbClr val="2471A3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1270000" tIns="53340" bIns="53340"/>
          <a:lstStyle/>
          <a:p>
            <a:pPr algn="r" rtl="1">
              <a:lnSpc>
                <a:spcPct val="100000"/>
              </a:lnSpc>
            </a:pPr>
            <a:r>
              <a:rPr sz="2800" b="1" lang="ar-SA">
                <a:solidFill>
                  <a:srgbClr val="2471A3"/>
                </a:solidFill>
                <a:latin typeface="Arial"/>
                <a:cs typeface="Arial"/>
              </a:rPr>
              <a:t>طبقة الدهون السميكة</a:t>
            </a:r>
          </a:p>
          <a:p>
            <a:pPr algn="r" rtl="1">
              <a:lnSpc>
                <a:spcPct val="100000"/>
              </a:lnSpc>
            </a:pPr>
            <a:r>
              <a:rPr sz="2400" b="1" lang="ar-SA">
                <a:solidFill>
                  <a:srgbClr val="1E2A3A"/>
                </a:solidFill>
                <a:latin typeface="Arial"/>
                <a:cs typeface="Arial"/>
              </a:rPr>
              <a:t>تحت جلد الفقمة، تحفظ جسمها دافئًا في الماء البارد.</a:t>
            </a:r>
          </a:p>
        </p:txBody>
      </p:sp>
      <p:pic>
        <p:nvPicPr>
          <p:cNvPr id="11" name="طبقة الدهون السميكة" descr="an_seal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0" y="3079750"/>
            <a:ext cx="1524000" cy="952500"/>
          </a:xfrm>
          <a:prstGeom prst="rect">
            <a:avLst/>
          </a:prstGeom>
        </p:spPr>
      </p:pic>
      <p:sp>
        <p:nvSpPr>
          <p:cNvPr id="12" name="نشاط أستقصي"/>
          <p:cNvSpPr/>
          <p:nvPr/>
        </p:nvSpPr>
        <p:spPr>
          <a:xfrm>
            <a:off x="381000" y="4572000"/>
            <a:ext cx="5207000" cy="762000"/>
          </a:xfrm>
          <a:prstGeom prst="roundRect">
            <a:avLst>
              <a:gd name="adj" fmla="val 18000"/>
            </a:avLst>
          </a:prstGeom>
          <a:solidFill>
            <a:srgbClr val="FFFBE6"/>
          </a:solidFill>
          <a:ln w="38100">
            <a:solidFill>
              <a:srgbClr val="F5A623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200" b="1" lang="ar-SA">
                <a:solidFill>
                  <a:srgbClr val="E8505B"/>
                </a:solidFill>
                <a:latin typeface="Arial"/>
                <a:cs typeface="Arial"/>
              </a:rPr>
              <a:t>نشاط – أستقصي: </a:t>
            </a:r>
            <a:r>
              <a:rPr sz="2200" b="1" lang="ar-SA">
                <a:solidFill>
                  <a:srgbClr val="1E2A3A"/>
                </a:solidFill>
                <a:latin typeface="Arial"/>
                <a:cs typeface="Arial"/>
              </a:rPr>
              <a:t>كيف تستطيع الحيوانات العيش في المنطقة القطبية؟</a:t>
            </a:r>
          </a:p>
        </p:txBody>
      </p:sp>
      <p:pic>
        <p:nvPicPr>
          <p:cNvPr id="13" name="!!noura" descr="المستكشفة نورة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4381500"/>
            <a:ext cx="1397000" cy="2095500"/>
          </a:xfrm>
          <a:prstGeom prst="rect">
            <a:avLst/>
          </a:prstGeom>
        </p:spPr>
      </p:pic>
      <p:sp>
        <p:nvSpPr>
          <p:cNvPr id="14" name="سؤال نورة"/>
          <p:cNvSpPr/>
          <p:nvPr/>
        </p:nvSpPr>
        <p:spPr>
          <a:xfrm>
            <a:off x="5715000" y="4445000"/>
            <a:ext cx="4381500" cy="762000"/>
          </a:xfrm>
          <a:prstGeom prst="wedgeRoundRectCallout">
            <a:avLst>
              <a:gd name="adj1" fmla="val 57246"/>
              <a:gd name="adj2" fmla="val 16666"/>
              <a:gd name="adj3" fmla="val 16667"/>
            </a:avLst>
          </a:prstGeom>
          <a:solidFill>
            <a:srgbClr val="FFFFFF"/>
          </a:solidFill>
          <a:ln w="50800">
            <a:solidFill>
              <a:srgbClr val="F5A623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 rtl="1"/>
            <a:r>
              <a:rPr sz="2200" b="1" lang="ar-SA">
                <a:solidFill>
                  <a:srgbClr val="E8505B"/>
                </a:solidFill>
                <a:latin typeface="Arial"/>
                <a:cs typeface="Arial"/>
              </a:rPr>
              <a:t>نورة: </a:t>
            </a:r>
            <a:r>
              <a:rPr sz="2200" b="1" lang="ar-SA">
                <a:solidFill>
                  <a:srgbClr val="1E2A3A"/>
                </a:solidFill>
                <a:latin typeface="Arial"/>
                <a:cs typeface="Arial"/>
              </a:rPr>
              <a:t>لماذا يمتلك الثعلب القطبي فراءً سميكًا؟</a:t>
            </a:r>
          </a:p>
        </p:txBody>
      </p:sp>
      <p:sp>
        <p:nvSpPr>
          <p:cNvPr id="15" name="إجابة الثعلب"/>
          <p:cNvSpPr/>
          <p:nvPr/>
        </p:nvSpPr>
        <p:spPr>
          <a:xfrm>
            <a:off x="5715000" y="5321300"/>
            <a:ext cx="4445000" cy="1016000"/>
          </a:xfrm>
          <a:prstGeom prst="roundRect">
            <a:avLst>
              <a:gd name="adj" fmla="val 18000"/>
            </a:avLst>
          </a:prstGeom>
          <a:solidFill>
            <a:srgbClr val="27AE60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100" b="1" lang="ar-SA">
                <a:solidFill>
                  <a:srgbClr val="FFFFFF"/>
                </a:solidFill>
                <a:latin typeface="Arial"/>
                <a:cs typeface="Arial"/>
              </a:rPr>
              <a:t>ليمنحه الدفء في البرد الشديد، ولونه الأبيض يساعده على الاختباء في الثلج.</a:t>
            </a:r>
          </a:p>
        </p:txBody>
      </p:sp>
      <p:sp>
        <p:nvSpPr>
          <p:cNvPr id="16" name="توقيع المعلمة"/>
          <p:cNvSpPr/>
          <p:nvPr/>
        </p:nvSpPr>
        <p:spPr>
          <a:xfrm>
            <a:off x="177800" y="64262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أ/ شامه البقمي</a:t>
            </a:r>
          </a:p>
        </p:txBody>
      </p:sp>
    </p:spTree>
  </p:cSld>
  <p:clrMapOvr>
    <a:masterClrMapping/>
  </p:clrMapOvr>
  <p:transition xmlns:mc="http://schemas.openxmlformats.org/markup-compatibility/2006" xmlns:p14="http://schemas.microsoft.com/office/powerpoint/2010/main" xmlns:p159="http://schemas.microsoft.com/office/powerpoint/2015/09/main" spd="slow">
    <p:fade/>
  </p:transition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35" display="0" masterRel="sameClick">
                                          <p:stCondLst>
                                            <p:cond evt="onBegin" delay="0">
                                              <p:tn val="30"/>
                                            </p:cond>
                                          </p:stCondLst>
                                        </p:cTn>
                                        <p:tgtEl>
                                          <p:sndTgt r:embed="rId9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5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خلفية" descr="خلفية المشه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عنوان" descr="عنوان المحطة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7131" y="139700"/>
            <a:ext cx="4177737" cy="952500"/>
          </a:xfrm>
          <a:prstGeom prst="rect">
            <a:avLst/>
          </a:prstGeom>
        </p:spPr>
      </p:pic>
      <p:sp>
        <p:nvSpPr>
          <p:cNvPr id="4" name="رقم المحطة"/>
          <p:cNvSpPr/>
          <p:nvPr/>
        </p:nvSpPr>
        <p:spPr>
          <a:xfrm>
            <a:off x="10414000" y="215900"/>
            <a:ext cx="1587500" cy="4064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المحطة ١٠</a:t>
            </a:r>
          </a:p>
        </p:txBody>
      </p:sp>
      <p:sp>
        <p:nvSpPr>
          <p:cNvPr id="5" name="إطار صورة الكتاب"/>
          <p:cNvSpPr/>
          <p:nvPr/>
        </p:nvSpPr>
        <p:spPr>
          <a:xfrm>
            <a:off x="381000" y="1460500"/>
            <a:ext cx="381000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0">
            <a:solidFill>
              <a:srgbClr val="1E8449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صورة الكتاب" descr="صورة الكتاب: تنمو النباتات قريبة من سطح الأرض في المنطقة القطبية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1587500"/>
            <a:ext cx="3286125" cy="28575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000" y="4521200"/>
            <a:ext cx="2286000" cy="241300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1430" bIns="11430"/>
          <a:lstStyle/>
          <a:p>
            <a:pPr algn="ctr" rtl="1">
              <a:lnSpc>
                <a:spcPct val="100000"/>
              </a:lnSpc>
            </a:pPr>
            <a:r>
              <a:rPr sz="1400" b="1" lang="ar-SA">
                <a:solidFill>
                  <a:srgbClr val="FFFFFF"/>
                </a:solidFill>
                <a:latin typeface="Arial"/>
                <a:cs typeface="Arial"/>
              </a:rPr>
              <a:t>صورة من كتابي – صفحة ١٠١</a:t>
            </a:r>
          </a:p>
        </p:txBody>
      </p:sp>
      <p:pic>
        <p:nvPicPr>
          <p:cNvPr id="8" name="نبات قطبي" descr="arctic_plan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" y="5016500"/>
            <a:ext cx="2667000" cy="1524000"/>
          </a:xfrm>
          <a:prstGeom prst="rect">
            <a:avLst/>
          </a:prstGeom>
        </p:spPr>
      </p:pic>
      <p:sp>
        <p:nvSpPr>
          <p:cNvPr id="9" name="معلومة 1"/>
          <p:cNvSpPr/>
          <p:nvPr/>
        </p:nvSpPr>
        <p:spPr>
          <a:xfrm>
            <a:off x="4445000" y="1460500"/>
            <a:ext cx="7429500" cy="711200"/>
          </a:xfrm>
          <a:prstGeom prst="roundRect">
            <a:avLst>
              <a:gd name="adj" fmla="val 18000"/>
            </a:avLst>
          </a:prstGeom>
          <a:solidFill>
            <a:srgbClr val="FFFFFF">
              <a:alpha val="95000"/>
            </a:srgbClr>
          </a:solidFill>
          <a:ln w="50800">
            <a:solidFill>
              <a:srgbClr val="1E8449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500" b="1" lang="ar-SA">
                <a:solidFill>
                  <a:srgbClr val="1E2A3A"/>
                </a:solidFill>
                <a:latin typeface="Arial"/>
                <a:cs typeface="Arial"/>
              </a:rPr>
              <a:t>نباتات المنطقة القطبية صغيرة وقصيرة.</a:t>
            </a:r>
          </a:p>
        </p:txBody>
      </p:sp>
      <p:sp>
        <p:nvSpPr>
          <p:cNvPr id="10" name="معلومة 2"/>
          <p:cNvSpPr/>
          <p:nvPr/>
        </p:nvSpPr>
        <p:spPr>
          <a:xfrm>
            <a:off x="4445000" y="2273300"/>
            <a:ext cx="7429500" cy="711200"/>
          </a:xfrm>
          <a:prstGeom prst="roundRect">
            <a:avLst>
              <a:gd name="adj" fmla="val 18000"/>
            </a:avLst>
          </a:prstGeom>
          <a:solidFill>
            <a:srgbClr val="FFFFFF">
              <a:alpha val="95000"/>
            </a:srgbClr>
          </a:solidFill>
          <a:ln w="50800">
            <a:solidFill>
              <a:srgbClr val="1E8449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500" b="1" lang="ar-SA">
                <a:solidFill>
                  <a:srgbClr val="1E2A3A"/>
                </a:solidFill>
                <a:latin typeface="Arial"/>
                <a:cs typeface="Arial"/>
              </a:rPr>
              <a:t>تنمو قريبة من سطح الأرض؛ لتحتمي من الرياح الباردة.</a:t>
            </a:r>
          </a:p>
        </p:txBody>
      </p:sp>
      <p:sp>
        <p:nvSpPr>
          <p:cNvPr id="11" name="معلومة 3"/>
          <p:cNvSpPr/>
          <p:nvPr/>
        </p:nvSpPr>
        <p:spPr>
          <a:xfrm>
            <a:off x="4445000" y="3086100"/>
            <a:ext cx="7429500" cy="711200"/>
          </a:xfrm>
          <a:prstGeom prst="roundRect">
            <a:avLst>
              <a:gd name="adj" fmla="val 18000"/>
            </a:avLst>
          </a:prstGeom>
          <a:solidFill>
            <a:srgbClr val="FFFFFF">
              <a:alpha val="95000"/>
            </a:srgbClr>
          </a:solidFill>
          <a:ln w="50800">
            <a:solidFill>
              <a:srgbClr val="1E8449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500" b="1" lang="ar-SA">
                <a:solidFill>
                  <a:srgbClr val="1E2A3A"/>
                </a:solidFill>
                <a:latin typeface="Arial"/>
                <a:cs typeface="Arial"/>
              </a:rPr>
              <a:t>لها أوراق صغيرة، وجذور سطحية.</a:t>
            </a:r>
          </a:p>
        </p:txBody>
      </p:sp>
      <p:sp>
        <p:nvSpPr>
          <p:cNvPr id="12" name="حقيقة"/>
          <p:cNvSpPr/>
          <p:nvPr/>
        </p:nvSpPr>
        <p:spPr>
          <a:xfrm>
            <a:off x="4445000" y="4000500"/>
            <a:ext cx="7429500" cy="1206500"/>
          </a:xfrm>
          <a:prstGeom prst="roundRect">
            <a:avLst>
              <a:gd name="adj" fmla="val 18000"/>
            </a:avLst>
          </a:prstGeom>
          <a:solidFill>
            <a:srgbClr val="FFF5F5"/>
          </a:solidFill>
          <a:ln w="50800">
            <a:solidFill>
              <a:srgbClr val="C0392B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300" b="1" lang="ar-SA">
                <a:solidFill>
                  <a:srgbClr val="C0392B"/>
                </a:solidFill>
                <a:latin typeface="Arial"/>
                <a:cs typeface="Arial"/>
              </a:rPr>
              <a:t>حقيقة: </a:t>
            </a:r>
            <a:r>
              <a:rPr sz="2300" b="1" lang="ar-SA">
                <a:solidFill>
                  <a:srgbClr val="1E2A3A"/>
                </a:solidFill>
                <a:latin typeface="Arial"/>
                <a:cs typeface="Arial"/>
              </a:rPr>
              <a:t>موسم النمو في المنطقة القطبية الشمالية قصير جدًا؛ لذا فإن معظم النباتات تزهر في الوقت نفسه.</a:t>
            </a:r>
          </a:p>
        </p:txBody>
      </p:sp>
      <p:sp>
        <p:nvSpPr>
          <p:cNvPr id="13" name="توقيع المعلمة"/>
          <p:cNvSpPr/>
          <p:nvPr/>
        </p:nvSpPr>
        <p:spPr>
          <a:xfrm>
            <a:off x="177800" y="64262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أ/ شامه البقمي</a:t>
            </a:r>
          </a:p>
        </p:txBody>
      </p:sp>
    </p:spTree>
  </p:cSld>
  <p:clrMapOvr>
    <a:masterClrMapping/>
  </p:clrMapOvr>
  <p:transition xmlns:mc="http://schemas.openxmlformats.org/markup-compatibility/2006" xmlns:p14="http://schemas.microsoft.com/office/powerpoint/2010/main" xmlns:p159="http://schemas.microsoft.com/office/powerpoint/2015/09/main" spd="slow">
    <p:fade/>
    <p:sndAc>
      <p:stSnd>
        <p:snd r:embed="rId8" name="cold_wind.wav"/>
      </p:stSnd>
    </p:sndAc>
  </p:transition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28" display="0" masterRel="sameClick">
                                          <p:stCondLst>
                                            <p:cond evt="onBegin" delay="0">
                                              <p:tn val="23"/>
                                            </p:cond>
                                          </p:st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خلفية" descr="خلفية المشه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عنوان" descr="عنوان المحطة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7131" y="139700"/>
            <a:ext cx="4177737" cy="952500"/>
          </a:xfrm>
          <a:prstGeom prst="rect">
            <a:avLst/>
          </a:prstGeom>
        </p:spPr>
      </p:pic>
      <p:sp>
        <p:nvSpPr>
          <p:cNvPr id="4" name="رقم المحطة"/>
          <p:cNvSpPr/>
          <p:nvPr/>
        </p:nvSpPr>
        <p:spPr>
          <a:xfrm>
            <a:off x="10414000" y="215900"/>
            <a:ext cx="1587500" cy="4064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المحطة ١٠</a:t>
            </a:r>
          </a:p>
        </p:txBody>
      </p:sp>
      <p:pic>
        <p:nvPicPr>
          <p:cNvPr id="5" name="علامة اختبر نفسي" descr="o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500" y="1651000"/>
            <a:ext cx="825500" cy="825500"/>
          </a:xfrm>
          <a:prstGeom prst="rect">
            <a:avLst/>
          </a:prstGeom>
        </p:spPr>
      </p:pic>
      <p:sp>
        <p:nvSpPr>
          <p:cNvPr id="6" name="سؤال الكتاب"/>
          <p:cNvSpPr/>
          <p:nvPr/>
        </p:nvSpPr>
        <p:spPr>
          <a:xfrm>
            <a:off x="3556000" y="1555750"/>
            <a:ext cx="7175500" cy="1016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0">
            <a:solidFill>
              <a:srgbClr val="C0392B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3400" b="1" lang="ar-SA">
                <a:solidFill>
                  <a:srgbClr val="1E2A3A"/>
                </a:solidFill>
                <a:latin typeface="Arial"/>
                <a:cs typeface="Arial"/>
              </a:rPr>
              <a:t>كيف تعيش النباتات والحيوانات في المنطقة القطبية؟</a:t>
            </a:r>
          </a:p>
        </p:txBody>
      </p:sp>
      <p:sp>
        <p:nvSpPr>
          <p:cNvPr id="7" name="إجابة النباتات"/>
          <p:cNvSpPr/>
          <p:nvPr/>
        </p:nvSpPr>
        <p:spPr>
          <a:xfrm>
            <a:off x="3556000" y="2794000"/>
            <a:ext cx="8255000" cy="825500"/>
          </a:xfrm>
          <a:prstGeom prst="roundRect">
            <a:avLst>
              <a:gd name="adj" fmla="val 18000"/>
            </a:avLst>
          </a:prstGeom>
          <a:solidFill>
            <a:srgbClr val="1E8449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600" b="1" lang="ar-SA">
                <a:solidFill>
                  <a:srgbClr val="FFE27A"/>
                </a:solidFill>
                <a:latin typeface="Arial"/>
                <a:cs typeface="Arial"/>
              </a:rPr>
              <a:t>النباتات: </a:t>
            </a:r>
            <a:r>
              <a:rPr sz="2600" b="1" lang="ar-SA">
                <a:solidFill>
                  <a:srgbClr val="FFFFFF"/>
                </a:solidFill>
                <a:latin typeface="Arial"/>
                <a:cs typeface="Arial"/>
              </a:rPr>
              <a:t>صغيرة وقصيرة، تنمو قريبة من سطح الأرض لتحتمي من الرياح الباردة.</a:t>
            </a:r>
          </a:p>
        </p:txBody>
      </p:sp>
      <p:sp>
        <p:nvSpPr>
          <p:cNvPr id="8" name="إجابة الحيوانات"/>
          <p:cNvSpPr/>
          <p:nvPr/>
        </p:nvSpPr>
        <p:spPr>
          <a:xfrm>
            <a:off x="3556000" y="3810000"/>
            <a:ext cx="8255000" cy="825500"/>
          </a:xfrm>
          <a:prstGeom prst="roundRect">
            <a:avLst>
              <a:gd name="adj" fmla="val 18000"/>
            </a:avLst>
          </a:prstGeom>
          <a:solidFill>
            <a:srgbClr val="2471A3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600" b="1" lang="ar-SA">
                <a:solidFill>
                  <a:srgbClr val="FFE27A"/>
                </a:solidFill>
                <a:latin typeface="Arial"/>
                <a:cs typeface="Arial"/>
              </a:rPr>
              <a:t>الحيوانات: </a:t>
            </a:r>
            <a:r>
              <a:rPr sz="2600" b="1" lang="ar-SA">
                <a:solidFill>
                  <a:srgbClr val="FFFFFF"/>
                </a:solidFill>
                <a:latin typeface="Arial"/>
                <a:cs typeface="Arial"/>
              </a:rPr>
              <a:t>لها فراء سميك يمنحها الدفء، ولبعضها طبقة دهون تحت الجلد.</a:t>
            </a:r>
          </a:p>
        </p:txBody>
      </p:sp>
      <p:pic>
        <p:nvPicPr>
          <p:cNvPr id="9" name="نبات قطبي" descr="arctic_plan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5000" y="5016500"/>
            <a:ext cx="2667000" cy="1524000"/>
          </a:xfrm>
          <a:prstGeom prst="rect">
            <a:avLst/>
          </a:prstGeom>
        </p:spPr>
      </p:pic>
      <p:pic>
        <p:nvPicPr>
          <p:cNvPr id="10" name="ثعلب قطبي" descr="an_fox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500" y="4826000"/>
            <a:ext cx="1415143" cy="1651000"/>
          </a:xfrm>
          <a:prstGeom prst="rect">
            <a:avLst/>
          </a:prstGeom>
        </p:spPr>
      </p:pic>
      <p:pic>
        <p:nvPicPr>
          <p:cNvPr id="11" name="!!noura" descr="المستكشفة نورة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984500"/>
            <a:ext cx="2286000" cy="3429000"/>
          </a:xfrm>
          <a:prstGeom prst="rect">
            <a:avLst/>
          </a:prstGeom>
        </p:spPr>
      </p:pic>
      <p:sp>
        <p:nvSpPr>
          <p:cNvPr id="12" name="فقاعة نورة"/>
          <p:cNvSpPr/>
          <p:nvPr/>
        </p:nvSpPr>
        <p:spPr>
          <a:xfrm>
            <a:off x="381000" y="1778000"/>
            <a:ext cx="2667000" cy="889000"/>
          </a:xfrm>
          <a:prstGeom prst="wedgeRoundRectCallout">
            <a:avLst>
              <a:gd name="adj1" fmla="val -11904"/>
              <a:gd name="adj2" fmla="val 92857"/>
              <a:gd name="adj3" fmla="val 16667"/>
            </a:avLst>
          </a:prstGeom>
          <a:solidFill>
            <a:srgbClr val="FFFFFF"/>
          </a:solidFill>
          <a:ln w="50800">
            <a:solidFill>
              <a:srgbClr val="F5A623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 rtl="1"/>
            <a:r>
              <a:rPr sz="2200" b="1" lang="ar-SA">
                <a:solidFill>
                  <a:srgbClr val="E8505B"/>
                </a:solidFill>
                <a:latin typeface="Arial"/>
                <a:cs typeface="Arial"/>
              </a:rPr>
              <a:t>نورة: </a:t>
            </a:r>
            <a:r>
              <a:rPr sz="2200" b="1" lang="ar-SA">
                <a:solidFill>
                  <a:srgbClr val="1E2A3A"/>
                </a:solidFill>
                <a:latin typeface="Arial"/>
                <a:cs typeface="Arial"/>
              </a:rPr>
              <a:t>فكّرن جيدًا... ثم أجبن!</a:t>
            </a:r>
          </a:p>
        </p:txBody>
      </p:sp>
      <p:sp>
        <p:nvSpPr>
          <p:cNvPr id="13" name="توقيع المعلمة"/>
          <p:cNvSpPr/>
          <p:nvPr/>
        </p:nvSpPr>
        <p:spPr>
          <a:xfrm>
            <a:off x="177800" y="64262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أ/ شامه البقمي</a:t>
            </a:r>
          </a:p>
        </p:txBody>
      </p:sp>
    </p:spTree>
  </p:cSld>
  <p:clrMapOvr>
    <a:masterClrMapping/>
  </p:clrMapOvr>
  <p:transition xmlns:mc="http://schemas.openxmlformats.org/markup-compatibility/2006" xmlns:p14="http://schemas.microsoft.com/office/powerpoint/2010/main" xmlns:p159="http://schemas.microsoft.com/office/powerpoint/2015/09/main" spd="slow">
    <p:fade/>
  </p:transition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9" display="0" masterRel="sameClick">
                                          <p:stCondLst>
                                            <p:cond evt="onBegin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ndTgt r:embed="rId9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خلفية" descr="خلفية المشه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عنوان" descr="t_err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5691" y="444500"/>
            <a:ext cx="2760617" cy="762000"/>
          </a:xfrm>
          <a:prstGeom prst="rect">
            <a:avLst/>
          </a:prstGeom>
        </p:spPr>
      </p:pic>
      <p:sp>
        <p:nvSpPr>
          <p:cNvPr id="4" name="رقم المحطة"/>
          <p:cNvSpPr/>
          <p:nvPr/>
        </p:nvSpPr>
        <p:spPr>
          <a:xfrm>
            <a:off x="10414000" y="215900"/>
            <a:ext cx="1587500" cy="4064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المحطة ١١</a:t>
            </a:r>
          </a:p>
        </p:txBody>
      </p:sp>
      <p:sp>
        <p:nvSpPr>
          <p:cNvPr id="5" name="عبارة 1"/>
          <p:cNvSpPr txBox="1"/>
          <p:nvPr/>
        </p:nvSpPr>
        <p:spPr>
          <a:xfrm>
            <a:off x="2095500" y="1301750"/>
            <a:ext cx="8191500" cy="5334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400" b="1" lang="ar-SA">
                <a:solidFill>
                  <a:srgbClr val="C0392B"/>
                </a:solidFill>
                <a:latin typeface="Arial"/>
                <a:cs typeface="Arial"/>
              </a:rPr>
              <a:t>١. </a:t>
            </a:r>
            <a:r>
              <a:rPr sz="2400" b="1" lang="ar-SA">
                <a:solidFill>
                  <a:srgbClr val="1F3A93"/>
                </a:solidFill>
                <a:latin typeface="Arial"/>
                <a:cs typeface="Arial"/>
              </a:rPr>
              <a:t>جميع الصحاري حارة.</a:t>
            </a:r>
          </a:p>
        </p:txBody>
      </p:sp>
      <p:pic>
        <p:nvPicPr>
          <p:cNvPr id="6" name="خطأ 1" descr="n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4000" y="1327150"/>
            <a:ext cx="482600" cy="482600"/>
          </a:xfrm>
          <a:prstGeom prst="rect">
            <a:avLst/>
          </a:prstGeom>
        </p:spPr>
      </p:pic>
      <p:sp>
        <p:nvSpPr>
          <p:cNvPr id="7" name="تصحيح 1"/>
          <p:cNvSpPr/>
          <p:nvPr/>
        </p:nvSpPr>
        <p:spPr>
          <a:xfrm>
            <a:off x="2095500" y="1860550"/>
            <a:ext cx="8191500" cy="762000"/>
          </a:xfrm>
          <a:prstGeom prst="roundRect">
            <a:avLst>
              <a:gd name="adj" fmla="val 18000"/>
            </a:avLst>
          </a:prstGeom>
          <a:solidFill>
            <a:srgbClr val="E9F7EF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200" b="1" lang="ar-SA">
                <a:solidFill>
                  <a:srgbClr val="1E8449"/>
                </a:solidFill>
                <a:latin typeface="Arial"/>
                <a:cs typeface="Arial"/>
              </a:rPr>
              <a:t>التصحيح: </a:t>
            </a:r>
            <a:r>
              <a:rPr sz="2200" b="1" lang="ar-SA">
                <a:solidFill>
                  <a:srgbClr val="1E2A3A"/>
                </a:solidFill>
                <a:latin typeface="Arial"/>
                <a:cs typeface="Arial"/>
              </a:rPr>
              <a:t>ليست كل الصحاري حارة؛ فالمنطقة القطبية صحراء باردة.</a:t>
            </a:r>
          </a:p>
        </p:txBody>
      </p:sp>
      <p:sp>
        <p:nvSpPr>
          <p:cNvPr id="8" name="تعزيز 1"/>
          <p:cNvSpPr/>
          <p:nvPr/>
        </p:nvSpPr>
        <p:spPr>
          <a:xfrm>
            <a:off x="762000" y="1968500"/>
            <a:ext cx="1270000" cy="53340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38100">
            <a:solidFill>
              <a:srgbClr val="E0A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200" b="1" lang="ar-SA">
                <a:solidFill>
                  <a:srgbClr val="7A4A10"/>
                </a:solidFill>
                <a:latin typeface="Arial"/>
                <a:cs typeface="Arial"/>
              </a:rPr>
              <a:t>أحسنتِ!</a:t>
            </a:r>
          </a:p>
        </p:txBody>
      </p:sp>
      <p:sp>
        <p:nvSpPr>
          <p:cNvPr id="9" name="عبارة 2"/>
          <p:cNvSpPr txBox="1"/>
          <p:nvPr/>
        </p:nvSpPr>
        <p:spPr>
          <a:xfrm>
            <a:off x="2095500" y="2749550"/>
            <a:ext cx="8191500" cy="5334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400" b="1" lang="ar-SA">
                <a:solidFill>
                  <a:srgbClr val="C0392B"/>
                </a:solidFill>
                <a:latin typeface="Arial"/>
                <a:cs typeface="Arial"/>
              </a:rPr>
              <a:t>٢. </a:t>
            </a:r>
            <a:r>
              <a:rPr sz="2400" b="1" lang="ar-SA">
                <a:solidFill>
                  <a:srgbClr val="1F3A93"/>
                </a:solidFill>
                <a:latin typeface="Arial"/>
                <a:cs typeface="Arial"/>
              </a:rPr>
              <a:t>تنمو النباتات القطبية طويلة جدًا لحمايتها من البرد.</a:t>
            </a:r>
          </a:p>
        </p:txBody>
      </p:sp>
      <p:pic>
        <p:nvPicPr>
          <p:cNvPr id="10" name="خطأ 2" descr="n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4000" y="2774950"/>
            <a:ext cx="482600" cy="482600"/>
          </a:xfrm>
          <a:prstGeom prst="rect">
            <a:avLst/>
          </a:prstGeom>
        </p:spPr>
      </p:pic>
      <p:sp>
        <p:nvSpPr>
          <p:cNvPr id="11" name="تصحيح 2"/>
          <p:cNvSpPr/>
          <p:nvPr/>
        </p:nvSpPr>
        <p:spPr>
          <a:xfrm>
            <a:off x="2095500" y="3308350"/>
            <a:ext cx="8191500" cy="762000"/>
          </a:xfrm>
          <a:prstGeom prst="roundRect">
            <a:avLst>
              <a:gd name="adj" fmla="val 18000"/>
            </a:avLst>
          </a:prstGeom>
          <a:solidFill>
            <a:srgbClr val="E9F7EF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200" b="1" lang="ar-SA">
                <a:solidFill>
                  <a:srgbClr val="1E8449"/>
                </a:solidFill>
                <a:latin typeface="Arial"/>
                <a:cs typeface="Arial"/>
              </a:rPr>
              <a:t>التصحيح: </a:t>
            </a:r>
            <a:r>
              <a:rPr sz="2200" b="1" lang="ar-SA">
                <a:solidFill>
                  <a:srgbClr val="1E2A3A"/>
                </a:solidFill>
                <a:latin typeface="Arial"/>
                <a:cs typeface="Arial"/>
              </a:rPr>
              <a:t>تنمو النباتات القطبية صغيرة وقصيرة قريبة من سطح الأرض؛ لتحتمي من الرياح الباردة.</a:t>
            </a:r>
          </a:p>
        </p:txBody>
      </p:sp>
      <p:sp>
        <p:nvSpPr>
          <p:cNvPr id="12" name="تعزيز 2"/>
          <p:cNvSpPr/>
          <p:nvPr/>
        </p:nvSpPr>
        <p:spPr>
          <a:xfrm>
            <a:off x="762000" y="3416300"/>
            <a:ext cx="1270000" cy="53340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38100">
            <a:solidFill>
              <a:srgbClr val="E0A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200" b="1" lang="ar-SA">
                <a:solidFill>
                  <a:srgbClr val="7A4A10"/>
                </a:solidFill>
                <a:latin typeface="Arial"/>
                <a:cs typeface="Arial"/>
              </a:rPr>
              <a:t>أحسنتِ!</a:t>
            </a:r>
          </a:p>
        </p:txBody>
      </p:sp>
      <p:sp>
        <p:nvSpPr>
          <p:cNvPr id="13" name="عبارة 3"/>
          <p:cNvSpPr txBox="1"/>
          <p:nvPr/>
        </p:nvSpPr>
        <p:spPr>
          <a:xfrm>
            <a:off x="2095500" y="4197350"/>
            <a:ext cx="8191500" cy="533400"/>
          </a:xfrm>
          <a:prstGeom prst="rect">
            <a:avLst/>
          </a:prstGeom>
          <a:noFill/>
        </p:spPr>
        <p:txBody>
          <a:bodyPr wrap="square" lIns="88900" rIns="88900" tIns="53340" bIns="53340" anchor="ctr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400" b="1" lang="ar-SA">
                <a:solidFill>
                  <a:srgbClr val="C0392B"/>
                </a:solidFill>
                <a:latin typeface="Arial"/>
                <a:cs typeface="Arial"/>
              </a:rPr>
              <a:t>٣. </a:t>
            </a:r>
            <a:r>
              <a:rPr sz="2400" b="1" lang="ar-SA">
                <a:solidFill>
                  <a:srgbClr val="1F3A93"/>
                </a:solidFill>
                <a:latin typeface="Arial"/>
                <a:cs typeface="Arial"/>
              </a:rPr>
              <a:t>تحتاج حيوانات الصحراء إلى كميات كبيرة من الماء يوميًا.</a:t>
            </a:r>
          </a:p>
        </p:txBody>
      </p:sp>
      <p:pic>
        <p:nvPicPr>
          <p:cNvPr id="14" name="خطأ 3" descr="n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4000" y="4222750"/>
            <a:ext cx="482600" cy="482600"/>
          </a:xfrm>
          <a:prstGeom prst="rect">
            <a:avLst/>
          </a:prstGeom>
        </p:spPr>
      </p:pic>
      <p:sp>
        <p:nvSpPr>
          <p:cNvPr id="15" name="تصحيح 3"/>
          <p:cNvSpPr/>
          <p:nvPr/>
        </p:nvSpPr>
        <p:spPr>
          <a:xfrm>
            <a:off x="2095500" y="4756150"/>
            <a:ext cx="8191500" cy="762000"/>
          </a:xfrm>
          <a:prstGeom prst="roundRect">
            <a:avLst>
              <a:gd name="adj" fmla="val 18000"/>
            </a:avLst>
          </a:prstGeom>
          <a:solidFill>
            <a:srgbClr val="E9F7EF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200" b="1" lang="ar-SA">
                <a:solidFill>
                  <a:srgbClr val="1E8449"/>
                </a:solidFill>
                <a:latin typeface="Arial"/>
                <a:cs typeface="Arial"/>
              </a:rPr>
              <a:t>التصحيح: </a:t>
            </a:r>
            <a:r>
              <a:rPr sz="2200" b="1" lang="ar-SA">
                <a:solidFill>
                  <a:srgbClr val="1E2A3A"/>
                </a:solidFill>
                <a:latin typeface="Arial"/>
                <a:cs typeface="Arial"/>
              </a:rPr>
              <a:t>تعيش حيوانات الصحراء بكميات قليلة من الماء، وتحصل على جزء منه من غذائها.</a:t>
            </a:r>
          </a:p>
        </p:txBody>
      </p:sp>
      <p:sp>
        <p:nvSpPr>
          <p:cNvPr id="16" name="تعزيز 3"/>
          <p:cNvSpPr/>
          <p:nvPr/>
        </p:nvSpPr>
        <p:spPr>
          <a:xfrm>
            <a:off x="762000" y="4864100"/>
            <a:ext cx="1270000" cy="53340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38100">
            <a:solidFill>
              <a:srgbClr val="E0A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2200" b="1" lang="ar-SA">
                <a:solidFill>
                  <a:srgbClr val="7A4A10"/>
                </a:solidFill>
                <a:latin typeface="Arial"/>
                <a:cs typeface="Arial"/>
              </a:rPr>
              <a:t>أحسنتِ!</a:t>
            </a:r>
          </a:p>
        </p:txBody>
      </p:sp>
      <p:sp>
        <p:nvSpPr>
          <p:cNvPr id="17" name="توقيع المعلمة"/>
          <p:cNvSpPr/>
          <p:nvPr/>
        </p:nvSpPr>
        <p:spPr>
          <a:xfrm>
            <a:off x="177800" y="64262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أ/ شامه البقمي</a:t>
            </a:r>
          </a:p>
        </p:txBody>
      </p:sp>
    </p:spTree>
  </p:cSld>
  <p:clrMapOvr>
    <a:masterClrMapping/>
  </p:clrMapOvr>
  <p:transition xmlns:mc="http://schemas.openxmlformats.org/markup-compatibility/2006" xmlns:p14="http://schemas.microsoft.com/office/powerpoint/2010/main" xmlns:p159="http://schemas.microsoft.com/office/powerpoint/2015/09/main" spd="slow">
    <p:fade/>
  </p:transition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10" display="0" masterRel="sameClick">
                                          <p:stCondLst>
                                            <p:cond evt="onBegin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ndTgt r:embed="rId6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22" display="0" masterRel="sameClick">
                                          <p:stCondLst>
                                            <p:cond evt="onBegin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ndTgt r:embed="rId7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31" display="0" masterRel="sameClick">
                                          <p:stCondLst>
                                            <p:cond evt="onBegin" delay="0">
                                              <p:tn val="26"/>
                                            </p:cond>
                                          </p:stCondLst>
                                        </p:cTn>
                                        <p:tgtEl>
                                          <p:sndTgt r:embed="rId6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90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43" display="0" masterRel="sameClick">
                                          <p:stCondLst>
                                            <p:cond evt="onBegin" delay="0">
                                              <p:tn val="38"/>
                                            </p:cond>
                                          </p:stCondLst>
                                        </p:cTn>
                                        <p:tgtEl>
                                          <p:sndTgt r:embed="rId7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52" display="0" masterRel="sameClick">
                                          <p:stCondLst>
                                            <p:cond evt="onBegin" delay="0">
                                              <p:tn val="47"/>
                                            </p:cond>
                                          </p:stCondLst>
                                        </p:cTn>
                                        <p:tgtEl>
                                          <p:sndTgt r:embed="rId6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"/>
                            </p:stCondLst>
                            <p:childTnLst>
                              <p:par>
                                <p:cTn id="5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64" display="0" masterRel="sameClick">
                                          <p:stCondLst>
                                            <p:cond evt="onBegin" delay="0">
                                              <p:tn val="59"/>
                                            </p:cond>
                                          </p:stCondLst>
                                        </p:cTn>
                                        <p:tgtEl>
                                          <p:sndTgt r:embed="rId7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خلفية باردة" descr="bg_sn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خلفية حارة" descr="bg_desert_plain"/>
          <p:cNvPicPr>
            <a:picLocks noChangeAspect="1"/>
          </p:cNvPicPr>
          <p:nvPr/>
        </p:nvPicPr>
        <p:blipFill>
          <a:blip r:embed="rId4"/>
          <a:srcRect l="50000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4" name="عنوان" descr="عنوان المحطة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9311" y="139700"/>
            <a:ext cx="4273378" cy="952500"/>
          </a:xfrm>
          <a:prstGeom prst="rect">
            <a:avLst/>
          </a:prstGeom>
        </p:spPr>
      </p:pic>
      <p:sp>
        <p:nvSpPr>
          <p:cNvPr id="5" name="رقم المحطة"/>
          <p:cNvSpPr/>
          <p:nvPr/>
        </p:nvSpPr>
        <p:spPr>
          <a:xfrm>
            <a:off x="10414000" y="215900"/>
            <a:ext cx="1587500" cy="4064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المحطة ١٢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0000" y="1365250"/>
            <a:ext cx="5588000" cy="50800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3400" b="1" lang="ar-SA">
                <a:solidFill>
                  <a:srgbClr val="FFFFFF"/>
                </a:solidFill>
                <a:latin typeface="Arial"/>
                <a:cs typeface="Arial"/>
              </a:rPr>
              <a:t>الصحراء الحارة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000" y="1365250"/>
            <a:ext cx="5588000" cy="508000"/>
          </a:xfrm>
          <a:prstGeom prst="roundRect">
            <a:avLst>
              <a:gd name="adj" fmla="val 50000"/>
            </a:avLst>
          </a:prstGeom>
          <a:solidFill>
            <a:srgbClr val="2471A3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3400" b="1" lang="ar-SA">
                <a:solidFill>
                  <a:srgbClr val="FFFFFF"/>
                </a:solidFill>
                <a:latin typeface="Arial"/>
                <a:cs typeface="Arial"/>
              </a:rPr>
              <a:t>الصحراء الباردة</a:t>
            </a:r>
          </a:p>
        </p:txBody>
      </p:sp>
      <p:sp>
        <p:nvSpPr>
          <p:cNvPr id="8" name="منطقة التصنيف"/>
          <p:cNvSpPr/>
          <p:nvPr/>
        </p:nvSpPr>
        <p:spPr>
          <a:xfrm>
            <a:off x="6350000" y="1968500"/>
            <a:ext cx="5588000" cy="1905000"/>
          </a:xfrm>
          <a:prstGeom prst="roundRect">
            <a:avLst>
              <a:gd name="adj" fmla="val 12000"/>
            </a:avLst>
          </a:prstGeom>
          <a:solidFill>
            <a:srgbClr val="FFFFFF">
              <a:alpha val="45000"/>
            </a:srgbClr>
          </a:solidFill>
          <a:ln w="38100">
            <a:solidFill>
              <a:srgbClr val="E67E22"/>
            </a:solidFill>
            <a:prstDash val="dash"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منطقة التصنيف"/>
          <p:cNvSpPr/>
          <p:nvPr/>
        </p:nvSpPr>
        <p:spPr>
          <a:xfrm>
            <a:off x="254000" y="1968500"/>
            <a:ext cx="5588000" cy="1905000"/>
          </a:xfrm>
          <a:prstGeom prst="roundRect">
            <a:avLst>
              <a:gd name="adj" fmla="val 12000"/>
            </a:avLst>
          </a:prstGeom>
          <a:solidFill>
            <a:srgbClr val="FFFFFF">
              <a:alpha val="45000"/>
            </a:srgbClr>
          </a:solidFill>
          <a:ln w="38100">
            <a:solidFill>
              <a:srgbClr val="2471A3"/>
            </a:solidFill>
            <a:prstDash val="dash"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0" name="بطاقة الضب"/>
          <p:cNvGrpSpPr/>
          <p:nvPr/>
        </p:nvGrpSpPr>
        <p:grpSpPr>
          <a:xfrm>
            <a:off x="10160000" y="4318000"/>
            <a:ext cx="1651000" cy="1587500"/>
            <a:chOff x="10160000" y="4318000"/>
            <a:chExt cx="1651000" cy="1587500"/>
          </a:xfrm>
        </p:grpSpPr>
        <p:sp>
          <p:nvSpPr>
            <p:cNvPr id="11" name="Rounded Rectangle 10"/>
            <p:cNvSpPr/>
            <p:nvPr/>
          </p:nvSpPr>
          <p:spPr>
            <a:xfrm>
              <a:off x="10160000" y="4318000"/>
              <a:ext cx="1651000" cy="1587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50800">
              <a:solidFill>
                <a:srgbClr val="8E44AD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2" name="الضب" descr="an_lizar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287000" y="4465638"/>
              <a:ext cx="1397000" cy="873125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10191750" y="5448300"/>
              <a:ext cx="1587500" cy="406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sz="2200" b="1" lang="ar-SA">
                  <a:solidFill>
                    <a:srgbClr val="1E2A3A"/>
                  </a:solidFill>
                  <a:latin typeface="Arial"/>
                  <a:cs typeface="Arial"/>
                </a:rPr>
                <a:t>الضب</a:t>
              </a:r>
            </a:p>
          </p:txBody>
        </p:sp>
      </p:grpSp>
      <p:grpSp>
        <p:nvGrpSpPr>
          <p:cNvPr id="14" name="بطاقة الثعلب القطبي"/>
          <p:cNvGrpSpPr/>
          <p:nvPr/>
        </p:nvGrpSpPr>
        <p:grpSpPr>
          <a:xfrm>
            <a:off x="8286750" y="4318000"/>
            <a:ext cx="1651000" cy="1587500"/>
            <a:chOff x="8286750" y="4318000"/>
            <a:chExt cx="1651000" cy="1587500"/>
          </a:xfrm>
        </p:grpSpPr>
        <p:sp>
          <p:nvSpPr>
            <p:cNvPr id="15" name="Rounded Rectangle 14"/>
            <p:cNvSpPr/>
            <p:nvPr/>
          </p:nvSpPr>
          <p:spPr>
            <a:xfrm>
              <a:off x="8286750" y="4318000"/>
              <a:ext cx="1651000" cy="1587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50800">
              <a:solidFill>
                <a:srgbClr val="8E44AD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6" name="الثعلب القطبي" descr="an_fox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676821" y="4394200"/>
              <a:ext cx="870857" cy="101600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8318500" y="5448300"/>
              <a:ext cx="1587500" cy="406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sz="1700" b="1" lang="ar-SA">
                  <a:solidFill>
                    <a:srgbClr val="1E2A3A"/>
                  </a:solidFill>
                  <a:latin typeface="Arial"/>
                  <a:cs typeface="Arial"/>
                </a:rPr>
                <a:t>الثعلب القطبي</a:t>
              </a:r>
            </a:p>
          </p:txBody>
        </p:sp>
      </p:grpSp>
      <p:grpSp>
        <p:nvGrpSpPr>
          <p:cNvPr id="18" name="بطاقة الصبار"/>
          <p:cNvGrpSpPr/>
          <p:nvPr/>
        </p:nvGrpSpPr>
        <p:grpSpPr>
          <a:xfrm>
            <a:off x="6413500" y="4318000"/>
            <a:ext cx="1651000" cy="1587500"/>
            <a:chOff x="6413500" y="4318000"/>
            <a:chExt cx="1651000" cy="1587500"/>
          </a:xfrm>
        </p:grpSpPr>
        <p:sp>
          <p:nvSpPr>
            <p:cNvPr id="19" name="Rounded Rectangle 18"/>
            <p:cNvSpPr/>
            <p:nvPr/>
          </p:nvSpPr>
          <p:spPr>
            <a:xfrm>
              <a:off x="6413500" y="4318000"/>
              <a:ext cx="1651000" cy="1587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50800">
              <a:solidFill>
                <a:srgbClr val="8E44AD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0" name="الصبار" descr="cactus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848231" y="4394200"/>
              <a:ext cx="781538" cy="101600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6445250" y="5448300"/>
              <a:ext cx="1587500" cy="406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sz="2200" b="1" lang="ar-SA">
                  <a:solidFill>
                    <a:srgbClr val="1E2A3A"/>
                  </a:solidFill>
                  <a:latin typeface="Arial"/>
                  <a:cs typeface="Arial"/>
                </a:rPr>
                <a:t>الصبار</a:t>
              </a:r>
            </a:p>
          </p:txBody>
        </p:sp>
      </p:grpSp>
      <p:grpSp>
        <p:nvGrpSpPr>
          <p:cNvPr id="22" name="بطاقة غزال الرنة"/>
          <p:cNvGrpSpPr/>
          <p:nvPr/>
        </p:nvGrpSpPr>
        <p:grpSpPr>
          <a:xfrm>
            <a:off x="4540250" y="4318000"/>
            <a:ext cx="1651000" cy="1587500"/>
            <a:chOff x="4540250" y="4318000"/>
            <a:chExt cx="1651000" cy="1587500"/>
          </a:xfrm>
        </p:grpSpPr>
        <p:sp>
          <p:nvSpPr>
            <p:cNvPr id="23" name="Rounded Rectangle 22"/>
            <p:cNvSpPr/>
            <p:nvPr/>
          </p:nvSpPr>
          <p:spPr>
            <a:xfrm>
              <a:off x="4540250" y="4318000"/>
              <a:ext cx="1651000" cy="1587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50800">
              <a:solidFill>
                <a:srgbClr val="8E44AD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4" name="غزال الرنة" descr="an_reindeer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921250" y="4394200"/>
              <a:ext cx="889000" cy="1016000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4572000" y="5448300"/>
              <a:ext cx="1587500" cy="406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sz="2200" b="1" lang="ar-SA">
                  <a:solidFill>
                    <a:srgbClr val="1E2A3A"/>
                  </a:solidFill>
                  <a:latin typeface="Arial"/>
                  <a:cs typeface="Arial"/>
                </a:rPr>
                <a:t>غزال الرنة</a:t>
              </a:r>
            </a:p>
          </p:txBody>
        </p:sp>
      </p:grpSp>
      <p:grpSp>
        <p:nvGrpSpPr>
          <p:cNvPr id="26" name="بطاقة العقرب"/>
          <p:cNvGrpSpPr/>
          <p:nvPr/>
        </p:nvGrpSpPr>
        <p:grpSpPr>
          <a:xfrm>
            <a:off x="2667000" y="4318000"/>
            <a:ext cx="1651000" cy="1587500"/>
            <a:chOff x="2667000" y="4318000"/>
            <a:chExt cx="1651000" cy="1587500"/>
          </a:xfrm>
        </p:grpSpPr>
        <p:sp>
          <p:nvSpPr>
            <p:cNvPr id="27" name="Rounded Rectangle 26"/>
            <p:cNvSpPr/>
            <p:nvPr/>
          </p:nvSpPr>
          <p:spPr>
            <a:xfrm>
              <a:off x="2667000" y="4318000"/>
              <a:ext cx="1651000" cy="1587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50800">
              <a:solidFill>
                <a:srgbClr val="8E44AD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8" name="العقرب" descr="an_scorpion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857500" y="4394200"/>
              <a:ext cx="1270000" cy="101600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2698750" y="5448300"/>
              <a:ext cx="1587500" cy="406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sz="2200" b="1" lang="ar-SA">
                  <a:solidFill>
                    <a:srgbClr val="1E2A3A"/>
                  </a:solidFill>
                  <a:latin typeface="Arial"/>
                  <a:cs typeface="Arial"/>
                </a:rPr>
                <a:t>العقرب</a:t>
              </a:r>
            </a:p>
          </p:txBody>
        </p:sp>
      </p:grpSp>
      <p:grpSp>
        <p:nvGrpSpPr>
          <p:cNvPr id="30" name="بطاقة نبات قطبي قصير"/>
          <p:cNvGrpSpPr/>
          <p:nvPr/>
        </p:nvGrpSpPr>
        <p:grpSpPr>
          <a:xfrm>
            <a:off x="793750" y="4318000"/>
            <a:ext cx="1651000" cy="1587500"/>
            <a:chOff x="793750" y="4318000"/>
            <a:chExt cx="1651000" cy="1587500"/>
          </a:xfrm>
        </p:grpSpPr>
        <p:sp>
          <p:nvSpPr>
            <p:cNvPr id="31" name="Rounded Rectangle 30"/>
            <p:cNvSpPr/>
            <p:nvPr/>
          </p:nvSpPr>
          <p:spPr>
            <a:xfrm>
              <a:off x="793750" y="4318000"/>
              <a:ext cx="1651000" cy="1587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50800">
              <a:solidFill>
                <a:srgbClr val="8E44AD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2" name="نبات قطبي قصير" descr="arctic_plant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20750" y="4503057"/>
              <a:ext cx="1397000" cy="798286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825500" y="5448300"/>
              <a:ext cx="1587500" cy="406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sz="1700" b="1" lang="ar-SA">
                  <a:solidFill>
                    <a:srgbClr val="1E2A3A"/>
                  </a:solidFill>
                  <a:latin typeface="Arial"/>
                  <a:cs typeface="Arial"/>
                </a:rPr>
                <a:t>نبات قطبي قصير</a:t>
              </a:r>
            </a:p>
          </p:txBody>
        </p:sp>
      </p:grpSp>
      <p:sp>
        <p:nvSpPr>
          <p:cNvPr id="34" name="توقيع المعلمة"/>
          <p:cNvSpPr/>
          <p:nvPr/>
        </p:nvSpPr>
        <p:spPr>
          <a:xfrm>
            <a:off x="177800" y="64262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أ/ شامه البقمي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1600">
        <p14:vortex dir="r"/>
        <p:sndAc>
          <p:stSnd>
            <p:snd r:embed="rId13" name="whoosh.wav"/>
          </p:stSnd>
        </p:sndAc>
      </p:transition>
    </mc:Choice>
    <mc:Fallback>
      <p:transition spd="slow">
        <p:fade/>
        <p:sndAc>
          <p:stSnd>
            <p:snd r:embed="rId13" name="whoosh.wav"/>
          </p:stSnd>
        </p:sndAc>
      </p:transition>
    </mc:Fallback>
  </mc:AlternateContent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3194 E" pathEditMode="relative" ptsTypes="">
                                      <p:cBhvr>
                                        <p:cTn id="6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7" display="0" masterRel="sameClick">
                                          <p:stCondLst>
                                            <p:cond evt="onBegin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ndTgt r:embed="rId7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464 -0.3194 E" pathEditMode="relative" ptsTypes="">
                                      <p:cBhvr>
                                        <p:cTn id="12" dur="1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13" display="0" masterRel="sameClick">
                                          <p:stCondLst>
                                            <p:cond evt="onBegin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ndTgt r:embed="rId7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62 -0.3194 E" pathEditMode="relative" ptsTypes="">
                                      <p:cBhvr>
                                        <p:cTn id="18" dur="1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19" display="0" masterRel="sameClick">
                                          <p:stCondLst>
                                            <p:cond evt="onBegin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ndTgt r:embed="rId7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901 -0.3194 E" pathEditMode="relative" ptsTypes="">
                                      <p:cBhvr>
                                        <p:cTn id="24" dur="1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25" display="0" masterRel="sameClick">
                                          <p:stCondLst>
                                            <p:cond evt="onBegin" delay="0">
                                              <p:tn val="23"/>
                                            </p:cond>
                                          </p:stCondLst>
                                        </p:cTn>
                                        <p:tgtEl>
                                          <p:sndTgt r:embed="rId7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125 -0.3194 E" pathEditMode="relative" ptsTypes="">
                                      <p:cBhvr>
                                        <p:cTn id="30" dur="1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31" display="0" masterRel="sameClick">
                                          <p:stCondLst>
                                            <p:cond evt="onBegin" delay="0">
                                              <p:tn val="29"/>
                                            </p:cond>
                                          </p:stCondLst>
                                        </p:cTn>
                                        <p:tgtEl>
                                          <p:sndTgt r:embed="rId7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339 -0.3194 E" pathEditMode="relative" ptsTypes="">
                                      <p:cBhvr>
                                        <p:cTn id="36" dur="12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37" display="0" masterRel="sameClick">
                                          <p:stCondLst>
                                            <p:cond evt="onBegin" delay="0">
                                              <p:tn val="35"/>
                                            </p:cond>
                                          </p:stCondLst>
                                        </p:cTn>
                                        <p:tgtEl>
                                          <p:sndTgt r:embed="rId7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خلفية" descr="خلفية المشه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رقم المحطة"/>
          <p:cNvSpPr/>
          <p:nvPr/>
        </p:nvSpPr>
        <p:spPr>
          <a:xfrm>
            <a:off x="10414000" y="215900"/>
            <a:ext cx="1587500" cy="4064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المحطة ١٣</a:t>
            </a:r>
          </a:p>
        </p:txBody>
      </p:sp>
      <p:pic>
        <p:nvPicPr>
          <p:cNvPr id="4" name="عنوان السبورة" descr="مقارنة بين الصحاري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1423" y="495300"/>
            <a:ext cx="4409153" cy="666750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1143000" y="1841500"/>
            <a:ext cx="9906000" cy="0"/>
          </a:xfrm>
          <a:prstGeom prst="line">
            <a:avLst/>
          </a:prstGeom>
          <a:ln w="635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080500" y="1270000"/>
            <a:ext cx="0" cy="4318000"/>
          </a:xfrm>
          <a:prstGeom prst="line">
            <a:avLst/>
          </a:prstGeom>
          <a:ln w="50800">
            <a:solidFill>
              <a:srgbClr val="5D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80000" y="1270000"/>
            <a:ext cx="0" cy="4318000"/>
          </a:xfrm>
          <a:prstGeom prst="line">
            <a:avLst/>
          </a:prstGeom>
          <a:ln w="50800">
            <a:solidFill>
              <a:srgbClr val="5D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الصحراء الحارة" descr="hw_h_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3670" y="1270000"/>
            <a:ext cx="2076659" cy="508000"/>
          </a:xfrm>
          <a:prstGeom prst="rect">
            <a:avLst/>
          </a:prstGeom>
        </p:spPr>
      </p:pic>
      <p:pic>
        <p:nvPicPr>
          <p:cNvPr id="9" name="الصحراء الباردة" descr="hw_h_col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9676" y="1270000"/>
            <a:ext cx="2143648" cy="508000"/>
          </a:xfrm>
          <a:prstGeom prst="rect">
            <a:avLst/>
          </a:prstGeom>
        </p:spPr>
      </p:pic>
      <p:pic>
        <p:nvPicPr>
          <p:cNvPr id="10" name="معيار" descr="hw_l_temp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4861" y="2095500"/>
            <a:ext cx="1128889" cy="571500"/>
          </a:xfrm>
          <a:prstGeom prst="rect">
            <a:avLst/>
          </a:prstGeom>
        </p:spPr>
      </p:pic>
      <p:pic>
        <p:nvPicPr>
          <p:cNvPr id="11" name="الحارة" descr="hw_hot_temp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0424" y="2133600"/>
            <a:ext cx="2598076" cy="520700"/>
          </a:xfrm>
          <a:prstGeom prst="rect">
            <a:avLst/>
          </a:prstGeom>
        </p:spPr>
      </p:pic>
      <p:pic>
        <p:nvPicPr>
          <p:cNvPr id="12" name="الباردة" descr="hw_cold_temp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39392" y="2133600"/>
            <a:ext cx="1278608" cy="520700"/>
          </a:xfrm>
          <a:prstGeom prst="rect">
            <a:avLst/>
          </a:prstGeom>
        </p:spPr>
      </p:pic>
      <p:pic>
        <p:nvPicPr>
          <p:cNvPr id="13" name="رمز" descr="su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0" y="2082800"/>
            <a:ext cx="571500" cy="571500"/>
          </a:xfrm>
          <a:prstGeom prst="rect">
            <a:avLst/>
          </a:prstGeom>
        </p:spPr>
      </p:pic>
      <p:pic>
        <p:nvPicPr>
          <p:cNvPr id="14" name="رمز" descr="an_bear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1500" y="2082800"/>
            <a:ext cx="666750" cy="57150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1143000" y="2838450"/>
            <a:ext cx="9906000" cy="0"/>
          </a:xfrm>
          <a:prstGeom prst="line">
            <a:avLst/>
          </a:prstGeom>
          <a:ln w="25400">
            <a:solidFill>
              <a:srgbClr val="D5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معيار" descr="hw_l_plant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4257" y="3016250"/>
            <a:ext cx="1569493" cy="571500"/>
          </a:xfrm>
          <a:prstGeom prst="rect">
            <a:avLst/>
          </a:prstGeom>
        </p:spPr>
      </p:pic>
      <p:pic>
        <p:nvPicPr>
          <p:cNvPr id="17" name="الحارة" descr="hw_hot_plan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38957" y="3054350"/>
            <a:ext cx="2379543" cy="520700"/>
          </a:xfrm>
          <a:prstGeom prst="rect">
            <a:avLst/>
          </a:prstGeom>
        </p:spPr>
      </p:pic>
      <p:pic>
        <p:nvPicPr>
          <p:cNvPr id="18" name="الباردة" descr="hw_cold_plant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82053" y="3054350"/>
            <a:ext cx="2235947" cy="520700"/>
          </a:xfrm>
          <a:prstGeom prst="rect">
            <a:avLst/>
          </a:prstGeom>
        </p:spPr>
      </p:pic>
      <p:pic>
        <p:nvPicPr>
          <p:cNvPr id="19" name="رمز" descr="cactus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09135" y="3003550"/>
            <a:ext cx="439615" cy="571500"/>
          </a:xfrm>
          <a:prstGeom prst="rect">
            <a:avLst/>
          </a:prstGeom>
        </p:spPr>
      </p:pic>
      <p:pic>
        <p:nvPicPr>
          <p:cNvPr id="20" name="رمز" descr="arctic_plant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49750" y="3089729"/>
            <a:ext cx="698500" cy="399143"/>
          </a:xfrm>
          <a:prstGeom prst="rect">
            <a:avLst/>
          </a:prstGeom>
        </p:spPr>
      </p:pic>
      <p:cxnSp>
        <p:nvCxnSpPr>
          <p:cNvPr id="21" name="Connector 20"/>
          <p:cNvCxnSpPr/>
          <p:nvPr/>
        </p:nvCxnSpPr>
        <p:spPr>
          <a:xfrm>
            <a:off x="1143000" y="3759200"/>
            <a:ext cx="9906000" cy="0"/>
          </a:xfrm>
          <a:prstGeom prst="line">
            <a:avLst/>
          </a:prstGeom>
          <a:ln w="25400">
            <a:solidFill>
              <a:srgbClr val="D5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معيار" descr="hw_l_animal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61809" y="3937000"/>
            <a:ext cx="1691941" cy="571500"/>
          </a:xfrm>
          <a:prstGeom prst="rect">
            <a:avLst/>
          </a:prstGeom>
        </p:spPr>
      </p:pic>
      <p:pic>
        <p:nvPicPr>
          <p:cNvPr id="23" name="الحارة" descr="hw_hot_animal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70360" y="3975100"/>
            <a:ext cx="3148140" cy="520700"/>
          </a:xfrm>
          <a:prstGeom prst="rect">
            <a:avLst/>
          </a:prstGeom>
        </p:spPr>
      </p:pic>
      <p:pic>
        <p:nvPicPr>
          <p:cNvPr id="24" name="الباردة" descr="hw_cold_animal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3000" y="4016827"/>
            <a:ext cx="3175000" cy="437246"/>
          </a:xfrm>
          <a:prstGeom prst="rect">
            <a:avLst/>
          </a:prstGeom>
        </p:spPr>
      </p:pic>
      <p:pic>
        <p:nvPicPr>
          <p:cNvPr id="25" name="رمز" descr="an_lizard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50250" y="3991769"/>
            <a:ext cx="698500" cy="436562"/>
          </a:xfrm>
          <a:prstGeom prst="rect">
            <a:avLst/>
          </a:prstGeom>
        </p:spPr>
      </p:pic>
      <p:pic>
        <p:nvPicPr>
          <p:cNvPr id="26" name="رمز" descr="an_fox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58393" y="3924300"/>
            <a:ext cx="489857" cy="571500"/>
          </a:xfrm>
          <a:prstGeom prst="rect">
            <a:avLst/>
          </a:prstGeom>
        </p:spPr>
      </p:pic>
      <p:cxnSp>
        <p:nvCxnSpPr>
          <p:cNvPr id="27" name="Connector 26"/>
          <p:cNvCxnSpPr/>
          <p:nvPr/>
        </p:nvCxnSpPr>
        <p:spPr>
          <a:xfrm>
            <a:off x="1143000" y="4679950"/>
            <a:ext cx="9906000" cy="0"/>
          </a:xfrm>
          <a:prstGeom prst="line">
            <a:avLst/>
          </a:prstGeom>
          <a:ln w="25400">
            <a:solidFill>
              <a:srgbClr val="D5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معيار" descr="hw_l_way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11372" y="4857750"/>
            <a:ext cx="1742378" cy="571500"/>
          </a:xfrm>
          <a:prstGeom prst="rect">
            <a:avLst/>
          </a:prstGeom>
        </p:spPr>
      </p:pic>
      <p:pic>
        <p:nvPicPr>
          <p:cNvPr id="29" name="الحارة" descr="hw_hot_way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563997" y="4895850"/>
            <a:ext cx="2754503" cy="520700"/>
          </a:xfrm>
          <a:prstGeom prst="rect">
            <a:avLst/>
          </a:prstGeom>
        </p:spPr>
      </p:pic>
      <p:pic>
        <p:nvPicPr>
          <p:cNvPr id="30" name="الباردة" descr="hw_cold_wa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43000" y="4922588"/>
            <a:ext cx="3175000" cy="467224"/>
          </a:xfrm>
          <a:prstGeom prst="rect">
            <a:avLst/>
          </a:prstGeom>
        </p:spPr>
      </p:pic>
      <p:pic>
        <p:nvPicPr>
          <p:cNvPr id="31" name="رمز" descr="moon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77250" y="4845050"/>
            <a:ext cx="571500" cy="571500"/>
          </a:xfrm>
          <a:prstGeom prst="rect">
            <a:avLst/>
          </a:prstGeom>
        </p:spPr>
      </p:pic>
      <p:pic>
        <p:nvPicPr>
          <p:cNvPr id="32" name="رمز" descr="an_seal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349750" y="4912519"/>
            <a:ext cx="698500" cy="436562"/>
          </a:xfrm>
          <a:prstGeom prst="rect">
            <a:avLst/>
          </a:prstGeom>
        </p:spPr>
      </p:pic>
      <p:sp>
        <p:nvSpPr>
          <p:cNvPr id="33" name="توقيع المعلمة"/>
          <p:cNvSpPr/>
          <p:nvPr/>
        </p:nvSpPr>
        <p:spPr>
          <a:xfrm>
            <a:off x="177800" y="64262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أ/ شامه البقمي</a:t>
            </a:r>
          </a:p>
        </p:txBody>
      </p:sp>
    </p:spTree>
  </p:cSld>
  <p:clrMapOvr>
    <a:masterClrMapping/>
  </p:clrMapOvr>
  <p:transition xmlns:mc="http://schemas.openxmlformats.org/markup-compatibility/2006" xmlns:p14="http://schemas.microsoft.com/office/powerpoint/2010/main" xmlns:p159="http://schemas.microsoft.com/office/powerpoint/2015/09/main" spd="slow">
    <p:fade/>
  </p:transition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"/>
                            </p:stCondLst>
                            <p:childTnLst>
                              <p:par>
                                <p:cTn id="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00"/>
                            </p:stCondLst>
                            <p:childTnLst>
                              <p:par>
                                <p:cTn id="8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600"/>
                            </p:stCondLst>
                            <p:childTnLst>
                              <p:par>
                                <p:cTn id="9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خلفية" descr="خلفية المشه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54000" y="1270000"/>
            <a:ext cx="11684000" cy="5080000"/>
          </a:xfrm>
          <a:prstGeom prst="roundRect">
            <a:avLst>
              <a:gd name="adj" fmla="val 5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600" b="1" lang="ar-SA">
                <a:solidFill>
                  <a:srgbClr val="1E2A3A"/>
                </a:solidFill>
                <a:latin typeface="Arial"/>
                <a:cs typeface="Arial"/>
              </a:rPr>
              <a:t/>
            </a:r>
          </a:p>
        </p:txBody>
      </p:sp>
      <p:pic>
        <p:nvPicPr>
          <p:cNvPr id="4" name="عنوان" descr="عنوان المحطة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7214" y="139700"/>
            <a:ext cx="4517571" cy="952500"/>
          </a:xfrm>
          <a:prstGeom prst="rect">
            <a:avLst/>
          </a:prstGeom>
        </p:spPr>
      </p:pic>
      <p:sp>
        <p:nvSpPr>
          <p:cNvPr id="5" name="رقم المحطة"/>
          <p:cNvSpPr/>
          <p:nvPr/>
        </p:nvSpPr>
        <p:spPr>
          <a:xfrm>
            <a:off x="10414000" y="215900"/>
            <a:ext cx="1587500" cy="4064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المحطة ١٤</a:t>
            </a:r>
          </a:p>
        </p:txBody>
      </p:sp>
      <p:sp>
        <p:nvSpPr>
          <p:cNvPr id="6" name="سؤال 1"/>
          <p:cNvSpPr/>
          <p:nvPr/>
        </p:nvSpPr>
        <p:spPr>
          <a:xfrm>
            <a:off x="8191500" y="1460500"/>
            <a:ext cx="3619500" cy="1587500"/>
          </a:xfrm>
          <a:prstGeom prst="roundRect">
            <a:avLst>
              <a:gd name="adj" fmla="val 18000"/>
            </a:avLst>
          </a:prstGeom>
          <a:solidFill>
            <a:srgbClr val="FFFBE6"/>
          </a:solidFill>
          <a:ln w="50800">
            <a:solidFill>
              <a:srgbClr val="C0392B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300" b="1" lang="ar-SA">
                <a:solidFill>
                  <a:srgbClr val="2E86DE"/>
                </a:solidFill>
                <a:latin typeface="Arial"/>
                <a:cs typeface="Arial"/>
              </a:rPr>
              <a:t>١- أصنف. </a:t>
            </a:r>
            <a:r>
              <a:rPr sz="2300" b="1" lang="ar-SA">
                <a:solidFill>
                  <a:srgbClr val="1E2A3A"/>
                </a:solidFill>
                <a:latin typeface="Arial"/>
                <a:cs typeface="Arial"/>
              </a:rPr>
              <a:t>أعمل قائمة بأسماء حيوانات من الصحراء الحارة، وأخرى من الصحراء الباردة.</a:t>
            </a:r>
          </a:p>
        </p:txBody>
      </p:sp>
      <p:sp>
        <p:nvSpPr>
          <p:cNvPr id="7" name="إجابة 1"/>
          <p:cNvSpPr/>
          <p:nvPr/>
        </p:nvSpPr>
        <p:spPr>
          <a:xfrm>
            <a:off x="8191500" y="3175000"/>
            <a:ext cx="3619500" cy="2984500"/>
          </a:xfrm>
          <a:prstGeom prst="roundRect">
            <a:avLst>
              <a:gd name="adj" fmla="val 18000"/>
            </a:avLst>
          </a:prstGeom>
          <a:solidFill>
            <a:srgbClr val="16A085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53340" bIns="53340"/>
          <a:lstStyle/>
          <a:p>
            <a:pPr algn="r" rtl="1">
              <a:lnSpc>
                <a:spcPct val="100000"/>
              </a:lnSpc>
              <a:spcAft>
                <a:spcPts val="800"/>
              </a:spcAft>
            </a:pPr>
            <a:r>
              <a:rPr sz="2200" b="1" lang="ar-SA">
                <a:solidFill>
                  <a:srgbClr val="FFE27A"/>
                </a:solidFill>
                <a:latin typeface="Arial"/>
                <a:cs typeface="Arial"/>
              </a:rPr>
              <a:t>الحارة: </a:t>
            </a:r>
            <a:r>
              <a:rPr sz="2200" b="1" lang="ar-SA">
                <a:solidFill>
                  <a:srgbClr val="FFFFFF"/>
                </a:solidFill>
                <a:latin typeface="Arial"/>
                <a:cs typeface="Arial"/>
              </a:rPr>
              <a:t>الضب، الذئب، القط البري، العقرب.</a:t>
            </a:r>
          </a:p>
          <a:p>
            <a:pPr algn="r" rtl="1">
              <a:lnSpc>
                <a:spcPct val="100000"/>
              </a:lnSpc>
              <a:spcAft>
                <a:spcPts val="800"/>
              </a:spcAft>
            </a:pPr>
            <a:r>
              <a:rPr sz="2200" b="1" lang="ar-SA">
                <a:solidFill>
                  <a:srgbClr val="FFE27A"/>
                </a:solidFill>
                <a:latin typeface="Arial"/>
                <a:cs typeface="Arial"/>
              </a:rPr>
              <a:t>الباردة: </a:t>
            </a:r>
            <a:r>
              <a:rPr sz="2200" b="1" lang="ar-SA">
                <a:solidFill>
                  <a:srgbClr val="FFFFFF"/>
                </a:solidFill>
                <a:latin typeface="Arial"/>
                <a:cs typeface="Arial"/>
              </a:rPr>
              <a:t>الثعلب القطبي، غزال الرنة، الفقمة، الدب القطبي.</a:t>
            </a:r>
          </a:p>
        </p:txBody>
      </p:sp>
      <p:sp>
        <p:nvSpPr>
          <p:cNvPr id="8" name="سؤال 2"/>
          <p:cNvSpPr/>
          <p:nvPr/>
        </p:nvSpPr>
        <p:spPr>
          <a:xfrm>
            <a:off x="4318000" y="1460500"/>
            <a:ext cx="3619500" cy="1587500"/>
          </a:xfrm>
          <a:prstGeom prst="roundRect">
            <a:avLst>
              <a:gd name="adj" fmla="val 18000"/>
            </a:avLst>
          </a:prstGeom>
          <a:solidFill>
            <a:srgbClr val="FFFBE6"/>
          </a:solidFill>
          <a:ln w="50800">
            <a:solidFill>
              <a:srgbClr val="C0392B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300" b="1" lang="ar-SA">
                <a:solidFill>
                  <a:srgbClr val="2E86DE"/>
                </a:solidFill>
                <a:latin typeface="Arial"/>
                <a:cs typeface="Arial"/>
              </a:rPr>
              <a:t>٢- </a:t>
            </a:r>
            <a:r>
              <a:rPr sz="2300" b="1" lang="ar-SA">
                <a:solidFill>
                  <a:srgbClr val="1E2A3A"/>
                </a:solidFill>
                <a:latin typeface="Arial"/>
                <a:cs typeface="Arial"/>
              </a:rPr>
              <a:t>ما النباتات التي تعيش في الصحاري الحارة؟</a:t>
            </a:r>
          </a:p>
        </p:txBody>
      </p:sp>
      <p:sp>
        <p:nvSpPr>
          <p:cNvPr id="9" name="إجابة 2"/>
          <p:cNvSpPr/>
          <p:nvPr/>
        </p:nvSpPr>
        <p:spPr>
          <a:xfrm>
            <a:off x="4318000" y="3175000"/>
            <a:ext cx="3619500" cy="2984500"/>
          </a:xfrm>
          <a:prstGeom prst="roundRect">
            <a:avLst>
              <a:gd name="adj" fmla="val 18000"/>
            </a:avLst>
          </a:prstGeom>
          <a:solidFill>
            <a:srgbClr val="16A085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53340" bIns="53340"/>
          <a:lstStyle/>
          <a:p>
            <a:pPr algn="r" rtl="1">
              <a:lnSpc>
                <a:spcPct val="100000"/>
              </a:lnSpc>
              <a:spcAft>
                <a:spcPts val="800"/>
              </a:spcAft>
            </a:pPr>
            <a:r>
              <a:rPr sz="2200" b="1" lang="ar-SA">
                <a:solidFill>
                  <a:srgbClr val="FFFFFF"/>
                </a:solidFill>
                <a:latin typeface="Arial"/>
                <a:cs typeface="Arial"/>
              </a:rPr>
              <a:t>الصبار والأعشاب.</a:t>
            </a:r>
          </a:p>
        </p:txBody>
      </p:sp>
      <p:sp>
        <p:nvSpPr>
          <p:cNvPr id="10" name="سؤال 3"/>
          <p:cNvSpPr/>
          <p:nvPr/>
        </p:nvSpPr>
        <p:spPr>
          <a:xfrm>
            <a:off x="444500" y="1460500"/>
            <a:ext cx="3619500" cy="1587500"/>
          </a:xfrm>
          <a:prstGeom prst="roundRect">
            <a:avLst>
              <a:gd name="adj" fmla="val 18000"/>
            </a:avLst>
          </a:prstGeom>
          <a:solidFill>
            <a:srgbClr val="FFFBE6"/>
          </a:solidFill>
          <a:ln w="50800">
            <a:solidFill>
              <a:srgbClr val="C0392B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300" b="1" lang="ar-SA">
                <a:solidFill>
                  <a:srgbClr val="C0392B"/>
                </a:solidFill>
                <a:latin typeface="Arial"/>
                <a:cs typeface="Arial"/>
              </a:rPr>
              <a:t>٣- السؤال الأساسي. </a:t>
            </a:r>
            <a:r>
              <a:rPr sz="2300" b="1" lang="ar-SA">
                <a:solidFill>
                  <a:srgbClr val="1E2A3A"/>
                </a:solidFill>
                <a:latin typeface="Arial"/>
                <a:cs typeface="Arial"/>
              </a:rPr>
              <a:t>ما خصائص موطن الصحاري الحارة والباردة؟</a:t>
            </a:r>
          </a:p>
        </p:txBody>
      </p:sp>
      <p:sp>
        <p:nvSpPr>
          <p:cNvPr id="11" name="إجابة 3"/>
          <p:cNvSpPr/>
          <p:nvPr/>
        </p:nvSpPr>
        <p:spPr>
          <a:xfrm>
            <a:off x="444500" y="3175000"/>
            <a:ext cx="3619500" cy="2984500"/>
          </a:xfrm>
          <a:prstGeom prst="roundRect">
            <a:avLst>
              <a:gd name="adj" fmla="val 18000"/>
            </a:avLst>
          </a:prstGeom>
          <a:solidFill>
            <a:srgbClr val="16A085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53340" bIns="53340"/>
          <a:lstStyle/>
          <a:p>
            <a:pPr algn="r" rtl="1">
              <a:lnSpc>
                <a:spcPct val="100000"/>
              </a:lnSpc>
              <a:spcAft>
                <a:spcPts val="800"/>
              </a:spcAft>
            </a:pPr>
            <a:r>
              <a:rPr sz="2200" b="1" lang="ar-SA">
                <a:solidFill>
                  <a:srgbClr val="FFE27A"/>
                </a:solidFill>
                <a:latin typeface="Arial"/>
                <a:cs typeface="Arial"/>
              </a:rPr>
              <a:t>الحارة: </a:t>
            </a:r>
            <a:r>
              <a:rPr sz="2200" b="1" lang="ar-SA">
                <a:solidFill>
                  <a:srgbClr val="FFFFFF"/>
                </a:solidFill>
                <a:latin typeface="Arial"/>
                <a:cs typeface="Arial"/>
              </a:rPr>
              <a:t>جافة، أمطارها قليلة جدًا، حارة نهارًا باردة ليلًا، تربتها رملية وصخرية.</a:t>
            </a:r>
          </a:p>
          <a:p>
            <a:pPr algn="r" rtl="1">
              <a:lnSpc>
                <a:spcPct val="100000"/>
              </a:lnSpc>
              <a:spcAft>
                <a:spcPts val="800"/>
              </a:spcAft>
            </a:pPr>
            <a:r>
              <a:rPr sz="2200" b="1" lang="ar-SA">
                <a:solidFill>
                  <a:srgbClr val="FFE27A"/>
                </a:solidFill>
                <a:latin typeface="Arial"/>
                <a:cs typeface="Arial"/>
              </a:rPr>
              <a:t>الباردة: </a:t>
            </a:r>
            <a:r>
              <a:rPr sz="2200" b="1" lang="ar-SA">
                <a:solidFill>
                  <a:srgbClr val="FFFFFF"/>
                </a:solidFill>
                <a:latin typeface="Arial"/>
                <a:cs typeface="Arial"/>
              </a:rPr>
              <a:t>المنطقة القطبية، باردة جافة، تقع بالقرب من القطب الشمالي.</a:t>
            </a:r>
          </a:p>
        </p:txBody>
      </p:sp>
      <p:sp>
        <p:nvSpPr>
          <p:cNvPr id="12" name="توقيع المعلمة"/>
          <p:cNvSpPr/>
          <p:nvPr/>
        </p:nvSpPr>
        <p:spPr>
          <a:xfrm>
            <a:off x="177800" y="64262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أ/ شامه البقمي</a:t>
            </a:r>
          </a:p>
        </p:txBody>
      </p:sp>
    </p:spTree>
  </p:cSld>
  <p:clrMapOvr>
    <a:masterClrMapping/>
  </p:clrMapOvr>
  <p:transition xmlns:mc="http://schemas.openxmlformats.org/markup-compatibility/2006" xmlns:p14="http://schemas.microsoft.com/office/powerpoint/2010/main" xmlns:p159="http://schemas.microsoft.com/office/powerpoint/2015/09/main" spd="slow">
    <p:push dir="l"/>
    <p:sndAc>
      <p:stSnd>
        <p:snd r:embed="rId6" name="whoosh.wav"/>
      </p:stSnd>
    </p:sndAc>
  </p:transition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9" display="0" masterRel="sameClick">
                                          <p:stCondLst>
                                            <p:cond evt="onBegin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17" display="0" masterRel="sameClick">
                                          <p:stCondLst>
                                            <p:cond evt="onBegin" delay="0">
                                              <p:tn val="13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25" display="0" masterRel="sameClick">
                                          <p:stCondLst>
                                            <p:cond evt="onBegin" delay="0">
                                              <p:tn val="21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خلفية" descr="خلفية المشه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عنوان" descr="عنوان المحطة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3928" y="139700"/>
            <a:ext cx="3484145" cy="952500"/>
          </a:xfrm>
          <a:prstGeom prst="rect">
            <a:avLst/>
          </a:prstGeom>
        </p:spPr>
      </p:pic>
      <p:sp>
        <p:nvSpPr>
          <p:cNvPr id="4" name="رقم المحطة"/>
          <p:cNvSpPr/>
          <p:nvPr/>
        </p:nvSpPr>
        <p:spPr>
          <a:xfrm>
            <a:off x="10414000" y="215900"/>
            <a:ext cx="1587500" cy="4064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المحطة ١٤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07000" y="1492250"/>
            <a:ext cx="6731000" cy="1714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0">
            <a:solidFill>
              <a:srgbClr val="E67E22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3000" b="1" lang="ar-SA">
                <a:solidFill>
                  <a:srgbClr val="1E2A3A"/>
                </a:solidFill>
                <a:latin typeface="Arial"/>
                <a:cs typeface="Arial"/>
              </a:rPr>
              <a:t>أرسم صورة لحيوانات في الصحراء الحارة، وأوضح كيف تعيش في هذا الجو الحار الجاف.</a:t>
            </a:r>
          </a:p>
        </p:txBody>
      </p:sp>
      <p:sp>
        <p:nvSpPr>
          <p:cNvPr id="6" name="ورقة الرسم"/>
          <p:cNvSpPr/>
          <p:nvPr/>
        </p:nvSpPr>
        <p:spPr>
          <a:xfrm>
            <a:off x="762000" y="1524000"/>
            <a:ext cx="4064000" cy="406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0">
            <a:solidFill>
              <a:srgbClr val="C69C6D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رسم شمس" descr="su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0" y="1651000"/>
            <a:ext cx="1270000" cy="1270000"/>
          </a:xfrm>
          <a:prstGeom prst="rect">
            <a:avLst/>
          </a:prstGeom>
        </p:spPr>
      </p:pic>
      <p:pic>
        <p:nvPicPr>
          <p:cNvPr id="8" name="رسم صبار" descr="cactu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" y="2095500"/>
            <a:ext cx="2051538" cy="2667000"/>
          </a:xfrm>
          <a:prstGeom prst="rect">
            <a:avLst/>
          </a:prstGeom>
        </p:spPr>
      </p:pic>
      <p:pic>
        <p:nvPicPr>
          <p:cNvPr id="9" name="رسم ضب" descr="an_liz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500" y="4064000"/>
            <a:ext cx="2413000" cy="15081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16000" y="5207000"/>
            <a:ext cx="1270000" cy="279400"/>
          </a:xfrm>
          <a:prstGeom prst="roundRect">
            <a:avLst>
              <a:gd name="adj" fmla="val 50000"/>
            </a:avLst>
          </a:prstGeom>
          <a:solidFill>
            <a:srgbClr val="C69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1430" bIns="11430"/>
          <a:lstStyle/>
          <a:p>
            <a:pPr algn="ctr" rtl="1">
              <a:lnSpc>
                <a:spcPct val="100000"/>
              </a:lnSpc>
            </a:pPr>
            <a:r>
              <a:rPr sz="1600" b="1" lang="ar-SA">
                <a:solidFill>
                  <a:srgbClr val="FFFFFF"/>
                </a:solidFill>
                <a:latin typeface="Arial"/>
                <a:cs typeface="Arial"/>
              </a:rPr>
              <a:t>مثال لرسمة</a:t>
            </a:r>
          </a:p>
        </p:txBody>
      </p:sp>
      <p:pic>
        <p:nvPicPr>
          <p:cNvPr id="11" name="!!noura" descr="المستكشفة نورة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0" y="3302000"/>
            <a:ext cx="2116667" cy="3175000"/>
          </a:xfrm>
          <a:prstGeom prst="rect">
            <a:avLst/>
          </a:prstGeom>
        </p:spPr>
      </p:pic>
      <p:sp>
        <p:nvSpPr>
          <p:cNvPr id="12" name="فقاعة نورة"/>
          <p:cNvSpPr/>
          <p:nvPr/>
        </p:nvSpPr>
        <p:spPr>
          <a:xfrm>
            <a:off x="5334000" y="3619500"/>
            <a:ext cx="3810000" cy="952500"/>
          </a:xfrm>
          <a:prstGeom prst="wedgeRoundRectCallout">
            <a:avLst>
              <a:gd name="adj1" fmla="val 65000"/>
              <a:gd name="adj2" fmla="val 36666"/>
              <a:gd name="adj3" fmla="val 16667"/>
            </a:avLst>
          </a:prstGeom>
          <a:solidFill>
            <a:srgbClr val="FFFFFF"/>
          </a:solidFill>
          <a:ln w="50800">
            <a:solidFill>
              <a:srgbClr val="F5A623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 rtl="1"/>
            <a:r>
              <a:rPr sz="2300" b="1" lang="ar-SA">
                <a:solidFill>
                  <a:srgbClr val="E8505B"/>
                </a:solidFill>
                <a:latin typeface="Arial"/>
                <a:cs typeface="Arial"/>
              </a:rPr>
              <a:t>نورة: </a:t>
            </a:r>
            <a:r>
              <a:rPr sz="2300" b="1" lang="ar-SA">
                <a:solidFill>
                  <a:srgbClr val="1E2A3A"/>
                </a:solidFill>
                <a:latin typeface="Arial"/>
                <a:cs typeface="Arial"/>
              </a:rPr>
              <a:t>ارسمي حيوانك، واكتبي كيف يعيش في الحر!</a:t>
            </a:r>
          </a:p>
        </p:txBody>
      </p:sp>
      <p:sp>
        <p:nvSpPr>
          <p:cNvPr id="13" name="توقيع المعلمة"/>
          <p:cNvSpPr/>
          <p:nvPr/>
        </p:nvSpPr>
        <p:spPr>
          <a:xfrm>
            <a:off x="177800" y="64262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أ/ شامه البقمي</a:t>
            </a:r>
          </a:p>
        </p:txBody>
      </p:sp>
    </p:spTree>
  </p:cSld>
  <p:clrMapOvr>
    <a:masterClrMapping/>
  </p:clrMapOvr>
  <p:transition xmlns:mc="http://schemas.openxmlformats.org/markup-compatibility/2006" xmlns:p14="http://schemas.microsoft.com/office/powerpoint/2010/main" xmlns:p159="http://schemas.microsoft.com/office/powerpoint/2015/09/main" spd="slow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خلفية" descr="خلفية المشه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عنوان" descr="عنوان المحطة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908" y="139700"/>
            <a:ext cx="3002184" cy="952500"/>
          </a:xfrm>
          <a:prstGeom prst="rect">
            <a:avLst/>
          </a:prstGeom>
        </p:spPr>
      </p:pic>
      <p:sp>
        <p:nvSpPr>
          <p:cNvPr id="4" name="رقم المحطة"/>
          <p:cNvSpPr/>
          <p:nvPr/>
        </p:nvSpPr>
        <p:spPr>
          <a:xfrm>
            <a:off x="10414000" y="215900"/>
            <a:ext cx="1587500" cy="4064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المحطة ١٥</a:t>
            </a:r>
          </a:p>
        </p:txBody>
      </p:sp>
      <p:sp>
        <p:nvSpPr>
          <p:cNvPr id="5" name="تذكرة 1"/>
          <p:cNvSpPr/>
          <p:nvPr/>
        </p:nvSpPr>
        <p:spPr>
          <a:xfrm>
            <a:off x="5588000" y="1365250"/>
            <a:ext cx="6286500" cy="584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50800">
            <a:solidFill>
              <a:srgbClr val="F5A623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200" b="1" lang="ar-SA">
                <a:solidFill>
                  <a:srgbClr val="1E2A3A"/>
                </a:solidFill>
                <a:latin typeface="Arial"/>
                <a:cs typeface="Arial"/>
              </a:rPr>
              <a:t>١. اذكري حيوانًا يعيش في الصحراء الحارة.</a:t>
            </a:r>
          </a:p>
        </p:txBody>
      </p:sp>
      <p:sp>
        <p:nvSpPr>
          <p:cNvPr id="6" name="إجابة تذكرة 1"/>
          <p:cNvSpPr/>
          <p:nvPr/>
        </p:nvSpPr>
        <p:spPr>
          <a:xfrm>
            <a:off x="5588000" y="1987550"/>
            <a:ext cx="6286500" cy="660400"/>
          </a:xfrm>
          <a:prstGeom prst="roundRect">
            <a:avLst>
              <a:gd name="adj" fmla="val 18000"/>
            </a:avLst>
          </a:prstGeom>
          <a:solidFill>
            <a:srgbClr val="FFE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000" b="1" lang="ar-SA">
                <a:solidFill>
                  <a:srgbClr val="5B2C6F"/>
                </a:solidFill>
                <a:latin typeface="Arial"/>
                <a:cs typeface="Arial"/>
              </a:rPr>
              <a:t>الضب، أو الذئب، أو القط البري، أو العقرب.</a:t>
            </a:r>
          </a:p>
        </p:txBody>
      </p:sp>
      <p:sp>
        <p:nvSpPr>
          <p:cNvPr id="7" name="تذكرة 2"/>
          <p:cNvSpPr/>
          <p:nvPr/>
        </p:nvSpPr>
        <p:spPr>
          <a:xfrm>
            <a:off x="5588000" y="2730500"/>
            <a:ext cx="6286500" cy="584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50800">
            <a:solidFill>
              <a:srgbClr val="F5A623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200" b="1" lang="ar-SA">
                <a:solidFill>
                  <a:srgbClr val="1E2A3A"/>
                </a:solidFill>
                <a:latin typeface="Arial"/>
                <a:cs typeface="Arial"/>
              </a:rPr>
              <a:t>٢. اذكري حيوانًا يعيش في الصحراء الباردة.</a:t>
            </a:r>
          </a:p>
        </p:txBody>
      </p:sp>
      <p:sp>
        <p:nvSpPr>
          <p:cNvPr id="8" name="إجابة تذكرة 2"/>
          <p:cNvSpPr/>
          <p:nvPr/>
        </p:nvSpPr>
        <p:spPr>
          <a:xfrm>
            <a:off x="5588000" y="3352800"/>
            <a:ext cx="6286500" cy="660400"/>
          </a:xfrm>
          <a:prstGeom prst="roundRect">
            <a:avLst>
              <a:gd name="adj" fmla="val 18000"/>
            </a:avLst>
          </a:prstGeom>
          <a:solidFill>
            <a:srgbClr val="FFE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000" b="1" lang="ar-SA">
                <a:solidFill>
                  <a:srgbClr val="5B2C6F"/>
                </a:solidFill>
                <a:latin typeface="Arial"/>
                <a:cs typeface="Arial"/>
              </a:rPr>
              <a:t>الثعلب القطبي، أو غزال الرنة، أو الفقمة، أو الدب القطبي.</a:t>
            </a:r>
          </a:p>
        </p:txBody>
      </p:sp>
      <p:sp>
        <p:nvSpPr>
          <p:cNvPr id="9" name="تذكرة 3"/>
          <p:cNvSpPr/>
          <p:nvPr/>
        </p:nvSpPr>
        <p:spPr>
          <a:xfrm>
            <a:off x="5588000" y="4095750"/>
            <a:ext cx="6286500" cy="584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50800">
            <a:solidFill>
              <a:srgbClr val="F5A623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200" b="1" lang="ar-SA">
                <a:solidFill>
                  <a:srgbClr val="1E2A3A"/>
                </a:solidFill>
                <a:latin typeface="Arial"/>
                <a:cs typeface="Arial"/>
              </a:rPr>
              <a:t>٣. كيف تساعد النباتات والحيوانات نفسها على البقاء؟</a:t>
            </a:r>
          </a:p>
        </p:txBody>
      </p:sp>
      <p:sp>
        <p:nvSpPr>
          <p:cNvPr id="10" name="إجابة تذكرة 3"/>
          <p:cNvSpPr/>
          <p:nvPr/>
        </p:nvSpPr>
        <p:spPr>
          <a:xfrm>
            <a:off x="5588000" y="4718050"/>
            <a:ext cx="6286500" cy="660400"/>
          </a:xfrm>
          <a:prstGeom prst="roundRect">
            <a:avLst>
              <a:gd name="adj" fmla="val 18000"/>
            </a:avLst>
          </a:prstGeom>
          <a:solidFill>
            <a:srgbClr val="FFE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r" rtl="1">
              <a:lnSpc>
                <a:spcPct val="100000"/>
              </a:lnSpc>
            </a:pPr>
            <a:r>
              <a:rPr sz="2000" b="1" lang="ar-SA">
                <a:solidFill>
                  <a:srgbClr val="5B2C6F"/>
                </a:solidFill>
                <a:latin typeface="Arial"/>
                <a:cs typeface="Arial"/>
              </a:rPr>
              <a:t>النباتات تخزن الماء وتبحث جذورها عنه، والحيوانات تختبئ من الحر أو لها فراء سميك.</a:t>
            </a:r>
          </a:p>
        </p:txBody>
      </p:sp>
      <p:pic>
        <p:nvPicPr>
          <p:cNvPr id="11" name="صندوق الكنز" descr="صندوق كنز مغلق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" y="1841500"/>
            <a:ext cx="3810000" cy="3265714"/>
          </a:xfrm>
          <a:prstGeom prst="rect">
            <a:avLst/>
          </a:prstGeom>
        </p:spPr>
      </p:pic>
      <p:pic>
        <p:nvPicPr>
          <p:cNvPr id="12" name="صندوق الكنز المفتوح" descr="chest_ope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000" y="1841500"/>
            <a:ext cx="3810000" cy="3265714"/>
          </a:xfrm>
          <a:prstGeom prst="rect">
            <a:avLst/>
          </a:prstGeom>
        </p:spPr>
      </p:pic>
      <p:sp>
        <p:nvSpPr>
          <p:cNvPr id="13" name="عبارة التعزيز"/>
          <p:cNvSpPr/>
          <p:nvPr/>
        </p:nvSpPr>
        <p:spPr>
          <a:xfrm>
            <a:off x="1333500" y="5588000"/>
            <a:ext cx="9525000" cy="730250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 w="76200">
            <a:solidFill>
              <a:srgbClr val="FFE27A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3800" b="1" lang="ar-SA">
                <a:solidFill>
                  <a:srgbClr val="FFFFFF"/>
                </a:solidFill>
                <a:latin typeface="Arial"/>
                <a:cs typeface="Arial"/>
              </a:rPr>
              <a:t>أحسنتن يا مستكشفاتي الصغيرات!</a:t>
            </a:r>
          </a:p>
        </p:txBody>
      </p:sp>
      <p:pic>
        <p:nvPicPr>
          <p:cNvPr id="14" name="نجمة 1" descr="sta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7000" y="2857500"/>
            <a:ext cx="571500" cy="571500"/>
          </a:xfrm>
          <a:prstGeom prst="rect">
            <a:avLst/>
          </a:prstGeom>
        </p:spPr>
      </p:pic>
      <p:pic>
        <p:nvPicPr>
          <p:cNvPr id="15" name="نجمة 2" descr="sta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7000" y="2857500"/>
            <a:ext cx="571500" cy="571500"/>
          </a:xfrm>
          <a:prstGeom prst="rect">
            <a:avLst/>
          </a:prstGeom>
        </p:spPr>
      </p:pic>
      <p:pic>
        <p:nvPicPr>
          <p:cNvPr id="16" name="نجمة 3" descr="sta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7000" y="2857500"/>
            <a:ext cx="571500" cy="571500"/>
          </a:xfrm>
          <a:prstGeom prst="rect">
            <a:avLst/>
          </a:prstGeom>
        </p:spPr>
      </p:pic>
      <p:pic>
        <p:nvPicPr>
          <p:cNvPr id="17" name="نجمة 4" descr="sta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7000" y="2857500"/>
            <a:ext cx="571500" cy="571500"/>
          </a:xfrm>
          <a:prstGeom prst="rect">
            <a:avLst/>
          </a:prstGeom>
        </p:spPr>
      </p:pic>
      <p:pic>
        <p:nvPicPr>
          <p:cNvPr id="18" name="نجمة 5" descr="sta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7000" y="2857500"/>
            <a:ext cx="571500" cy="571500"/>
          </a:xfrm>
          <a:prstGeom prst="rect">
            <a:avLst/>
          </a:prstGeom>
        </p:spPr>
      </p:pic>
      <p:pic>
        <p:nvPicPr>
          <p:cNvPr id="19" name="نجمة 6" descr="sta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7000" y="2857500"/>
            <a:ext cx="571500" cy="571500"/>
          </a:xfrm>
          <a:prstGeom prst="rect">
            <a:avLst/>
          </a:prstGeom>
        </p:spPr>
      </p:pic>
      <p:sp>
        <p:nvSpPr>
          <p:cNvPr id="20" name="توقيع المعلمة"/>
          <p:cNvSpPr/>
          <p:nvPr/>
        </p:nvSpPr>
        <p:spPr>
          <a:xfrm>
            <a:off x="177800" y="64262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أ/ شامه البقمي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1400">
        <p14:ripple/>
        <p:sndAc>
          <p:stSnd>
            <p:snd r:embed="rId8" name="sparkle.wav"/>
          </p:stSnd>
        </p:sndAc>
      </p:transition>
    </mc:Choice>
    <mc:Fallback>
      <p:transition spd="slow">
        <p:fade/>
        <p:sndAc>
          <p:stSnd>
            <p:snd r:embed="rId8" name="sparkle.wav"/>
          </p:stSnd>
        </p:sndAc>
      </p:transition>
    </mc:Fallback>
  </mc:AlternateContent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9" display="0" masterRel="sameClick">
                                          <p:stCondLst>
                                            <p:cond evt="onBegin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17" display="0" masterRel="sameClick">
                                          <p:stCondLst>
                                            <p:cond evt="onBegin" delay="0">
                                              <p:tn val="13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25" display="0" masterRel="sameClick">
                                          <p:stCondLst>
                                            <p:cond evt="onBegin" delay="0">
                                              <p:tn val="21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37" display="0" masterRel="sameClick">
                                          <p:stCondLst>
                                            <p:cond evt="onBegin" delay="0">
                                              <p:tn val="32"/>
                                            </p:cond>
                                          </p:stCondLst>
                                        </p:cTn>
                                        <p:tgtEl>
                                          <p:sndTgt r:embed="rId8" name="spark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800 -0.3000 E" pathEditMode="relative" ptsTypes="">
                                      <p:cBhvr>
                                        <p:cTn id="45" dur="1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8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00 -0.3600 E" pathEditMode="relative" ptsTypes="">
                                      <p:cBhvr>
                                        <p:cTn id="53" dur="1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"/>
                            </p:stCondLst>
                            <p:childTnLst>
                              <p:par>
                                <p:cTn id="55" presetID="8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6" dur="1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6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00 -0.3200 E" pathEditMode="relative" ptsTypes="">
                                      <p:cBhvr>
                                        <p:cTn id="64" dur="1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80"/>
                            </p:stCondLst>
                            <p:childTnLst>
                              <p:par>
                                <p:cTn id="66" presetID="8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7" dur="1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4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000 -0.2200 E" pathEditMode="relative" ptsTypes="">
                                      <p:cBhvr>
                                        <p:cTn id="75" dur="1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60"/>
                            </p:stCondLst>
                            <p:childTnLst>
                              <p:par>
                                <p:cTn id="77" presetID="8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8" dur="1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820"/>
                            </p:stCondLst>
                            <p:childTnLst>
                              <p:par>
                                <p:cTn id="8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400 -0.1800 E" pathEditMode="relative" ptsTypes="">
                                      <p:cBhvr>
                                        <p:cTn id="86" dur="1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840"/>
                            </p:stCondLst>
                            <p:childTnLst>
                              <p:par>
                                <p:cTn id="88" presetID="8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9" dur="1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900"/>
                            </p:stCondLst>
                            <p:childTnLst>
                              <p:par>
                                <p:cTn id="9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600 -0.0800 E" pathEditMode="relative" ptsTypes="">
                                      <p:cBhvr>
                                        <p:cTn id="97" dur="1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920"/>
                            </p:stCondLst>
                            <p:childTnLst>
                              <p:par>
                                <p:cTn id="99" presetID="8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0" dur="1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8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3" dur="1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3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خلفية" descr="خلفية المشه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رقم المحطة"/>
          <p:cNvSpPr/>
          <p:nvPr/>
        </p:nvSpPr>
        <p:spPr>
          <a:xfrm>
            <a:off x="10414000" y="215900"/>
            <a:ext cx="1587500" cy="4064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الختام</a:t>
            </a:r>
          </a:p>
        </p:txBody>
      </p:sp>
      <p:pic>
        <p:nvPicPr>
          <p:cNvPr id="4" name="عنوان الخاتمة" descr="t_en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9158" y="190500"/>
            <a:ext cx="7698685" cy="825500"/>
          </a:xfrm>
          <a:prstGeom prst="rect">
            <a:avLst/>
          </a:prstGeom>
        </p:spPr>
      </p:pic>
      <p:pic>
        <p:nvPicPr>
          <p:cNvPr id="5" name="خريطة المواطن" descr="خريطة المواطن التي زرناها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460500"/>
            <a:ext cx="4826000" cy="281516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61000" y="1841500"/>
            <a:ext cx="5969000" cy="698500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3200" b="1" lang="ar-SA">
                <a:solidFill>
                  <a:srgbClr val="6C3483"/>
                </a:solidFill>
                <a:latin typeface="Arial"/>
                <a:cs typeface="Arial"/>
              </a:rPr>
              <a:t>بالعلم نكتشف أسرار الطبيعة.</a:t>
            </a:r>
          </a:p>
        </p:txBody>
      </p:sp>
      <p:sp>
        <p:nvSpPr>
          <p:cNvPr id="7" name="اسم المعلمة"/>
          <p:cNvSpPr/>
          <p:nvPr/>
        </p:nvSpPr>
        <p:spPr>
          <a:xfrm>
            <a:off x="6223000" y="2730500"/>
            <a:ext cx="3302000" cy="50800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50800">
            <a:solidFill>
              <a:srgbClr val="FFFFFF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3340" bIns="53340"/>
          <a:lstStyle/>
          <a:p>
            <a:pPr algn="ctr" rtl="1">
              <a:lnSpc>
                <a:spcPct val="100000"/>
              </a:lnSpc>
            </a:pPr>
            <a:r>
              <a:rPr sz="3200" b="1" lang="ar-SA">
                <a:solidFill>
                  <a:srgbClr val="FFFFFF"/>
                </a:solidFill>
                <a:latin typeface="Arial"/>
                <a:cs typeface="Arial"/>
              </a:rPr>
              <a:t>أ/ شامه البقمي</a:t>
            </a:r>
          </a:p>
        </p:txBody>
      </p:sp>
      <p:pic>
        <p:nvPicPr>
          <p:cNvPr id="8" name="!!train" descr="trai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2000" y="5143500"/>
            <a:ext cx="4826000" cy="1246717"/>
          </a:xfrm>
          <a:prstGeom prst="rect">
            <a:avLst/>
          </a:prstGeom>
        </p:spPr>
      </p:pic>
      <p:pic>
        <p:nvPicPr>
          <p:cNvPr id="9" name="!!noura" descr="المستكشفة نورة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4250" y="3175000"/>
            <a:ext cx="2286000" cy="3429000"/>
          </a:xfrm>
          <a:prstGeom prst="rect">
            <a:avLst/>
          </a:prstGeom>
        </p:spPr>
      </p:pic>
      <p:sp>
        <p:nvSpPr>
          <p:cNvPr id="10" name="فقاعة نورة"/>
          <p:cNvSpPr/>
          <p:nvPr/>
        </p:nvSpPr>
        <p:spPr>
          <a:xfrm>
            <a:off x="7493000" y="3556000"/>
            <a:ext cx="2286000" cy="889000"/>
          </a:xfrm>
          <a:prstGeom prst="wedgeRoundRectCallout">
            <a:avLst>
              <a:gd name="adj1" fmla="val 61111"/>
              <a:gd name="adj2" fmla="val 50000"/>
              <a:gd name="adj3" fmla="val 16667"/>
            </a:avLst>
          </a:prstGeom>
          <a:solidFill>
            <a:srgbClr val="FFFFFF"/>
          </a:solidFill>
          <a:ln w="50800">
            <a:solidFill>
              <a:srgbClr val="F5A623"/>
            </a:solidFill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 rtl="1"/>
            <a:r>
              <a:rPr sz="2200" b="1" lang="ar-SA">
                <a:solidFill>
                  <a:srgbClr val="E8505B"/>
                </a:solidFill>
                <a:latin typeface="Arial"/>
                <a:cs typeface="Arial"/>
              </a:rPr>
              <a:t>نورة: </a:t>
            </a:r>
            <a:r>
              <a:rPr sz="2200" b="1" lang="ar-SA">
                <a:solidFill>
                  <a:srgbClr val="1E2A3A"/>
                </a:solidFill>
                <a:latin typeface="Arial"/>
                <a:cs typeface="Arial"/>
              </a:rPr>
              <a:t>إلى اللقاء في رحلة جديدة!</a:t>
            </a:r>
          </a:p>
        </p:txBody>
      </p:sp>
      <p:sp>
        <p:nvSpPr>
          <p:cNvPr id="11" name="توقيع المعلمة"/>
          <p:cNvSpPr/>
          <p:nvPr/>
        </p:nvSpPr>
        <p:spPr>
          <a:xfrm>
            <a:off x="177800" y="6426200"/>
            <a:ext cx="2794000" cy="3175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E8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60" bIns="22860"/>
          <a:lstStyle/>
          <a:p>
            <a:pPr algn="ctr" rtl="1">
              <a:lnSpc>
                <a:spcPct val="100000"/>
              </a:lnSpc>
            </a:pPr>
            <a:r>
              <a:rPr sz="1500" b="1" lang="ar-SA">
                <a:solidFill>
                  <a:srgbClr val="4A3B2A"/>
                </a:solidFill>
                <a:latin typeface="Arial"/>
                <a:cs typeface="Arial"/>
              </a:rPr>
              <a:t>إعداد وتنفيذ: أ/ شامه البقمي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1800">
        <p14:conveyor dir="l"/>
        <p:sndAc>
          <p:stSnd>
            <p:snd r:embed="rId9" name="train.wav"/>
          </p:stSnd>
        </p:sndAc>
      </p:transition>
    </mc:Choice>
    <mc:Fallback>
      <p:transition spd="slow">
        <p:push dir="l"/>
        <p:sndAc>
          <p:stSnd>
            <p:snd r:embed="rId9" name="train.wav"/>
          </p:stSnd>
        </p:sndAc>
      </p:transition>
    </mc:Fallback>
  </mc:AlternateContent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000 0.0000 E" pathEditMode="relative" ptsTypes="">
                                      <p:cBhvr>
                                        <p:cTn id="6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"/>
                            </p:stCondLst>
                            <p:childTnLst>
                              <p:par>
                                <p:cTn id="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 showWhenStopped="0">
                                        <p:cTn id="30" display="0" masterRel="sameClick">
                                          <p:stCondLst>
                                            <p:cond evt="onBegin" delay="0">
                                              <p:tn val="25"/>
                                            </p:cond>
                                          </p:stCondLst>
                                        </p:cTn>
                                        <p:tgtEl>
                                          <p:sndTgt r:embed="rId8" name="chi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رحلة إلى عالم المواطن – الصحاري الحارة والباردة</dc:title>
  <dc:subject/>
  <dc:creator>أ/ شامه البقمي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