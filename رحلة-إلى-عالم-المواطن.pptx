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chime.wav" ContentType="audio/wav"/>
  <Override PartName="/ppt/media/snd_cold_wind.wav" ContentType="audio/wav"/>
  <Override PartName="/ppt/media/snd_desert_wind.wav" ContentType="audio/wav"/>
  <Override PartName="/ppt/media/snd_pop.wav" ContentType="audio/wav"/>
  <Override PartName="/ppt/media/snd_sparkle.wav" ContentType="audio/wav"/>
  <Override PartName="/ppt/media/snd_train.wav" ContentType="audio/wav"/>
  <Override PartName="/ppt/media/snd_whoosh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الأولى – بوابة المغامرات (دقيقة واحدة) – بداية الدرس ص ٩٦.</a:t>
            </a:r>
          </a:p>
          <a:p>
            <a:r>
              <a:t>رحّبي بالطالبات مع نورة، ثم اضغطي زر «هيا ننطلق!» للانتقال إلى قطار الذكريات.</a:t>
            </a:r>
          </a:p>
          <a:p>
            <a:r>
              <a:t>القطار ونورة يظهران تلقائيًا.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الثانية – قطار الذكريات (٣ دقائق). استراتيجية: شريط الذكريات (تهيئة قبل ص ٩٦).</a:t>
            </a:r>
          </a:p>
          <a:p>
            <a:r>
              <a:t>اقرئي سؤال كل نافذة من اليمين، واستمعي للطالبات، ثم انقري لتظهر الإجابة بخط كبير مع «أحسنتِ يا مستكشفة!».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الثالثة – نافذة الصحراء (ص ٩٦). استراتيجية: أنظر وأتساءل.</a:t>
            </a:r>
          </a:p>
          <a:p>
            <a:r>
              <a:t>صورة الكتاب الأصلية مكبّرة، والعدسة تتحرك فوق النباتات. اطرحي سؤال الكتاب ولا تذكري الإجابة الآن.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ألاحظ – أتوقع – أفسر (ص ٩٦). كل نقرة تُظهر خطوة. اجمعي توقعات الطالبات دون تصحيح الآن؛ سنتحقق منها في التجربة.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الرابعة – مختبر المستكشفات (أستكشف ص ٩٧). عمود الأدوات من الكتاب على اليسار، ورسومها المجسمة مكبّرة.</a:t>
            </a:r>
          </a:p>
          <a:p>
            <a:r>
              <a:t>تظهر الأدوات تلقائيًا واحدة بعد الأخرى؛ اطلبي من الطالبات تسمية كل أداة.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الخطوات كما في الكتاب ص ٩٧: كل نقرة تُظهر خطوة واحدة بخط كبير مع صورتها. الخطوة ٢ بصورة الكتاب الأصلية.</a:t>
            </a:r>
          </a:p>
          <a:p>
            <a:r>
              <a:t>نفّذي الخطوة عمليًا مع الطالبات ثم انتقلي للتالية.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المؤقت البصري (ص ٩٧): انقري على «ابدئي المؤقت» فيدور العقرب دورة كاملة ويقصر الشريط خلال ٣ دقائق (مدة مختصرة للحصة؛ في الكتاب كل ١٥ دقيقة).</a:t>
            </a:r>
          </a:p>
          <a:p>
            <a:r>
              <a:t>بعد الملاحظة انقري على بطاقة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أستكشف أكثر (ص ٩٧) – سؤال الكتاب كما هو. استمعي للطالبات، ثم انقري على بطاقة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الاستنتاج العلمي لتجربة ص ٩٧. كل نقرة تُظهر جزءًا من الاستنتاج. اربطي النتيجة بمحافظة النبات على الماء.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الخامسة – الصحراء الحارة (ص ٩٨). تبدأ الشريحة بعبور البوابة الرملية تلقائيًا، وكل نقرة تُظهر معلومة من الكتاب.</a:t>
            </a:r>
          </a:p>
          <a:p>
            <a:r>
              <a:t>زرا «النهار» و«الليل» يغيّران المشهد في أي وقت.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المفردات (ص ٩٨). انقري على اسم المفردة ليظهر معناها.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السادسة – سر البقاء (ص ٩٨). كل نقرة تُظهر صفة من نص الكتاب. الشريحة التالية تكبّر الجذور (Morph) وتعرض شكل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أقرأ الشكل (ص ٩٨): شكل الكتاب مكبّر يمينًا، والنبات المجسم يتكبّر يسارًا لتظهر الجذور وأسهم الماء.</a:t>
            </a:r>
          </a:p>
          <a:p>
            <a:r>
              <a:t>لاحظي مع الطالبات اتجاه وصول الماء إلى الجذور، ثم انقري على بطاقة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السابعة – من يسكن الصحراء؟ (ص ٩٩) استراتيجية: من أنا؟ اقرئي اللغز، ثم انقري على البطاقة ليظهر الحيوان.</a:t>
            </a:r>
          </a:p>
          <a:p>
            <a:r>
              <a:t>ملاحظة: صفحة ٩٩ لم تُرفق مع الصور؛ الحيوانات من خطة الدرس.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من أنا؟ (ص ٩٩) – الجزء الثاني.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تقويم تكويني (ص ٩٩). النقرة الأولى لوحة النهار، والثانية لوحة الليل، والثالثة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الثامنة – بوابة الثلوج (بداية ص ١٠٠). يصل القطار وتسأل نورة: هل جميع الصحاري حارة؟</a:t>
            </a:r>
          </a:p>
          <a:p>
            <a:r>
              <a:t>اتركي للطالبات فرصة للتوقع، ثم انتقلي للشريحة التالية (Morph).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انتقال Morph: تختفي الرمال وتظهر الجبال الثلجية وتتساقط رقاقات الثلج. أعلني: ليست كل الصحاري حارة! (ص ١٠٠)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التاسعة – الصحراء الباردة (ص ١٠٠). صورة الكتاب مكبّرة، وبجانبها رسوم مجسمة لحيوانات المنطقة القطبية.</a:t>
            </a:r>
          </a:p>
          <a:p>
            <a:r>
              <a:t>كل نقرة تُظهر معلومة واحدة من الكتاب بخط كبير.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ألاحظ وأقارن (ص ١٠٠): صورة الثعلب القطبي من الكتاب مكبّرة، وبجانبها الرسم المجسم.</a:t>
            </a:r>
          </a:p>
          <a:p>
            <a:r>
              <a:t>تسأل نورة عن الفراء: انقري على فقاعتها لتظهر الإجابة (من نص الكتاب).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الكتاب – أستقصي (ص ١٠٠). اطرحي السؤال، ثم انقري عليه لتظهر الإجابة.</a:t>
            </a:r>
          </a:p>
          <a:p>
            <a:r>
              <a:t>معلومة إثرائية صحيحة: للفقمة طبقة سميكة من الدهون تحت الجلد تحفظ دفء جسمها.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العاشرة – النباتات القطبية (ص ١٠١). صورة الكتاب مكبّرة، وكل نقرة تُظهر معلومة من نص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حقيقة من الكتاب (ص ١٠١). تزهر النباتات المجسمة معًا لتوضيح الفكرة.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الكتاب ✔ (ص ١٠١). استمعي لإجابات الطالبات، ثم انقري على بطاقة السؤال لتظهر الإجابة المبسطة.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الحادية عشرة – اكتشفي الخطأ (مراجعة ص ٩٦–١٠١). اقرئي كل عبارة واسألي: صح أم خطأ؟ ثم انقري على العبارة ليظهر التصحيح.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الثانية عشرة – تحدي المواطن (مراجعة). تقول الطالبة موطن البطاقة، ثم تنقر عليها فتنتقل إلى موطنها الصحيح مع صوت التعزيز (تحقق ذاتي).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الثالثة عشرة – السبورة المنظمة: مقارنة بين الصحاري (ص ٩٨–١٠١). كل نقرة تكتب صفًا جديدًا. اطلبي الإجابة قبل إظهار الصف.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أفكر وأتحدث وأكتب – السؤال ١ (ص ١٠١) كما في الكتاب. انقري على السؤال لتظهر الإجابة مع الرسوم.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أفكر وأتحدث وأكتب – السؤال ٢ (ص ١٠١). انقري على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أفكر وأتحدث وأكتب – السؤال ٣: السؤال الأساسي (ص ١٠١). انقري على السؤال لتظهر الإجابة.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العلوم والفن (ص ١٠١): نشاط كما ورد في الكتاب. يمكن تنفيذه في نهاية الحصة أو واجبًا منزليًا.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المحطة الخامسة عشرة – كنز المعرفة. استراتيجية: تذكرة الخروج.</a:t>
            </a:r>
          </a:p>
          <a:p>
            <a:r>
              <a:t>انقري على كل سؤال لتظهر إجابته، ثم انقري على صندوق الكنز ليُفتح وتخرج النجوم.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الخاتمة: يعود القطار إلى المدرسة. راجعي المواطن على الخريطة، وودّعي الطالبات مع نورة.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audio" Target="../media/snd_pop.wav"/><Relationship Id="rId9" Type="http://schemas.openxmlformats.org/officeDocument/2006/relationships/audio" Target="../media/snd_chime.wav"/><Relationship Id="rId10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audio" Target="../media/snd_chime.wav"/><Relationship Id="rId8" Type="http://schemas.openxmlformats.org/officeDocument/2006/relationships/audio" Target="../media/snd_train.wav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0.png"/><Relationship Id="rId5" Type="http://schemas.openxmlformats.org/officeDocument/2006/relationships/image" Target="../media/image11.jpg"/><Relationship Id="rId6" Type="http://schemas.openxmlformats.org/officeDocument/2006/relationships/image" Target="../media/image12.png"/><Relationship Id="rId7" Type="http://schemas.openxmlformats.org/officeDocument/2006/relationships/audio" Target="../media/snd_desert_wind.wav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0.png"/><Relationship Id="rId5" Type="http://schemas.openxmlformats.org/officeDocument/2006/relationships/image" Target="../media/image11.jpg"/><Relationship Id="rId6" Type="http://schemas.openxmlformats.org/officeDocument/2006/relationships/image" Target="../media/image5.png"/><Relationship Id="rId7" Type="http://schemas.openxmlformats.org/officeDocument/2006/relationships/audio" Target="../media/snd_pop.wav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4.png"/><Relationship Id="rId5" Type="http://schemas.openxmlformats.org/officeDocument/2006/relationships/image" Target="../media/image15.jpg"/><Relationship Id="rId6" Type="http://schemas.openxmlformats.org/officeDocument/2006/relationships/image" Target="../media/image16.png"/><Relationship Id="rId7" Type="http://schemas.openxmlformats.org/officeDocument/2006/relationships/image" Target="../media/image17.jpg"/><Relationship Id="rId8" Type="http://schemas.openxmlformats.org/officeDocument/2006/relationships/image" Target="../media/image18.png"/><Relationship Id="rId9" Type="http://schemas.openxmlformats.org/officeDocument/2006/relationships/image" Target="../media/image19.jpg"/><Relationship Id="rId10" Type="http://schemas.openxmlformats.org/officeDocument/2006/relationships/image" Target="../media/image20.png"/><Relationship Id="rId11" Type="http://schemas.openxmlformats.org/officeDocument/2006/relationships/image" Target="../media/image21.jpg"/><Relationship Id="rId12" Type="http://schemas.openxmlformats.org/officeDocument/2006/relationships/image" Target="../media/image22.png"/><Relationship Id="rId13" Type="http://schemas.openxmlformats.org/officeDocument/2006/relationships/image" Target="../media/image23.jpg"/><Relationship Id="rId14" Type="http://schemas.openxmlformats.org/officeDocument/2006/relationships/image" Target="../media/image24.png"/><Relationship Id="rId15" Type="http://schemas.openxmlformats.org/officeDocument/2006/relationships/audio" Target="../media/snd_whoosh.wav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4.png"/><Relationship Id="rId5" Type="http://schemas.openxmlformats.org/officeDocument/2006/relationships/image" Target="../media/image18.png"/><Relationship Id="rId6" Type="http://schemas.openxmlformats.org/officeDocument/2006/relationships/image" Target="../media/image25.png"/><Relationship Id="rId7" Type="http://schemas.openxmlformats.org/officeDocument/2006/relationships/audio" Target="../media/snd_pop.wav"/><Relationship Id="rId8" Type="http://schemas.openxmlformats.org/officeDocument/2006/relationships/image" Target="../media/image26.jpg"/><Relationship Id="rId9" Type="http://schemas.openxmlformats.org/officeDocument/2006/relationships/image" Target="../media/image27.png"/><Relationship Id="rId10" Type="http://schemas.openxmlformats.org/officeDocument/2006/relationships/image" Target="../media/image24.png"/><Relationship Id="rId11" Type="http://schemas.openxmlformats.org/officeDocument/2006/relationships/image" Target="../media/image28.png"/><Relationship Id="rId12" Type="http://schemas.openxmlformats.org/officeDocument/2006/relationships/image" Target="../media/image20.png"/><Relationship Id="rId13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4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27.png"/><Relationship Id="rId9" Type="http://schemas.openxmlformats.org/officeDocument/2006/relationships/image" Target="../media/image8.png"/><Relationship Id="rId10" Type="http://schemas.openxmlformats.org/officeDocument/2006/relationships/audio" Target="../media/snd_chime.wav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4.png"/><Relationship Id="rId5" Type="http://schemas.openxmlformats.org/officeDocument/2006/relationships/image" Target="../media/image8.png"/><Relationship Id="rId6" Type="http://schemas.openxmlformats.org/officeDocument/2006/relationships/image" Target="../media/image31.png"/><Relationship Id="rId7" Type="http://schemas.openxmlformats.org/officeDocument/2006/relationships/image" Target="../media/image27.png"/><Relationship Id="rId8" Type="http://schemas.openxmlformats.org/officeDocument/2006/relationships/image" Target="../media/image32.png"/><Relationship Id="rId9" Type="http://schemas.openxmlformats.org/officeDocument/2006/relationships/audio" Target="../media/snd_chime.wav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33.png"/><Relationship Id="rId5" Type="http://schemas.openxmlformats.org/officeDocument/2006/relationships/image" Target="../media/image25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Relationship Id="rId8" Type="http://schemas.openxmlformats.org/officeDocument/2006/relationships/audio" Target="../media/snd_chime.wav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8.png"/><Relationship Id="rId8" Type="http://schemas.openxmlformats.org/officeDocument/2006/relationships/image" Target="../media/image32.png"/><Relationship Id="rId9" Type="http://schemas.openxmlformats.org/officeDocument/2006/relationships/image" Target="../media/image31.png"/><Relationship Id="rId10" Type="http://schemas.openxmlformats.org/officeDocument/2006/relationships/image" Target="../media/image5.png"/><Relationship Id="rId11" Type="http://schemas.openxmlformats.org/officeDocument/2006/relationships/image" Target="../media/image38.png"/><Relationship Id="rId12" Type="http://schemas.openxmlformats.org/officeDocument/2006/relationships/audio" Target="../media/snd_desert_wind.wav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39.png"/><Relationship Id="rId5" Type="http://schemas.openxmlformats.org/officeDocument/2006/relationships/image" Target="../media/image31.png"/><Relationship Id="rId6" Type="http://schemas.openxmlformats.org/officeDocument/2006/relationships/audio" Target="../media/snd_pop.wav"/><Relationship Id="rId7" Type="http://schemas.openxmlformats.org/officeDocument/2006/relationships/image" Target="../media/image4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28.png"/><Relationship Id="rId7" Type="http://schemas.openxmlformats.org/officeDocument/2006/relationships/image" Target="../media/image43.png"/><Relationship Id="rId8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28.png"/><Relationship Id="rId7" Type="http://schemas.openxmlformats.org/officeDocument/2006/relationships/image" Target="../media/image44.jpg"/><Relationship Id="rId8" Type="http://schemas.openxmlformats.org/officeDocument/2006/relationships/audio" Target="../media/snd_chime.wav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audio" Target="../media/snd_chime.wav"/><Relationship Id="rId7" Type="http://schemas.openxmlformats.org/officeDocument/2006/relationships/image" Target="../media/image4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45.png"/><Relationship Id="rId5" Type="http://schemas.openxmlformats.org/officeDocument/2006/relationships/image" Target="../media/image48.png"/><Relationship Id="rId6" Type="http://schemas.openxmlformats.org/officeDocument/2006/relationships/audio" Target="../media/snd_chime.wav"/><Relationship Id="rId7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50.png"/><Relationship Id="rId5" Type="http://schemas.openxmlformats.org/officeDocument/2006/relationships/image" Target="../media/image46.png"/><Relationship Id="rId6" Type="http://schemas.openxmlformats.org/officeDocument/2006/relationships/image" Target="../media/image35.png"/><Relationship Id="rId7" Type="http://schemas.openxmlformats.org/officeDocument/2006/relationships/image" Target="../media/image47.png"/><Relationship Id="rId8" Type="http://schemas.openxmlformats.org/officeDocument/2006/relationships/image" Target="../media/image36.png"/><Relationship Id="rId9" Type="http://schemas.openxmlformats.org/officeDocument/2006/relationships/audio" Target="../media/snd_chime.wav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jpg"/><Relationship Id="rId4" Type="http://schemas.openxmlformats.org/officeDocument/2006/relationships/image" Target="../media/image35.png"/><Relationship Id="rId5" Type="http://schemas.openxmlformats.org/officeDocument/2006/relationships/image" Target="../media/image51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audio" Target="../media/snd_pop.wav"/><Relationship Id="rId9" Type="http://schemas.openxmlformats.org/officeDocument/2006/relationships/audio" Target="../media/snd_train.wav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jpg"/><Relationship Id="rId4" Type="http://schemas.openxmlformats.org/officeDocument/2006/relationships/image" Target="../media/image35.png"/><Relationship Id="rId5" Type="http://schemas.openxmlformats.org/officeDocument/2006/relationships/image" Target="../media/image51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53.png"/><Relationship Id="rId9" Type="http://schemas.openxmlformats.org/officeDocument/2006/relationships/audio" Target="../media/snd_cold_wind.wav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54.png"/><Relationship Id="rId5" Type="http://schemas.openxmlformats.org/officeDocument/2006/relationships/image" Target="../media/image55.jp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audio" Target="../media/snd_cold_wind.wav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58.png"/><Relationship Id="rId5" Type="http://schemas.openxmlformats.org/officeDocument/2006/relationships/image" Target="../media/image59.jpg"/><Relationship Id="rId6" Type="http://schemas.openxmlformats.org/officeDocument/2006/relationships/image" Target="../media/image40.png"/><Relationship Id="rId7" Type="http://schemas.openxmlformats.org/officeDocument/2006/relationships/image" Target="../media/image5.png"/><Relationship Id="rId8" Type="http://schemas.openxmlformats.org/officeDocument/2006/relationships/image" Target="../media/image8.png"/><Relationship Id="rId9" Type="http://schemas.openxmlformats.org/officeDocument/2006/relationships/audio" Target="../media/snd_chime.wav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58.png"/><Relationship Id="rId5" Type="http://schemas.openxmlformats.org/officeDocument/2006/relationships/image" Target="../media/image60.jpg"/><Relationship Id="rId6" Type="http://schemas.openxmlformats.org/officeDocument/2006/relationships/image" Target="../media/image61.png"/><Relationship Id="rId7" Type="http://schemas.openxmlformats.org/officeDocument/2006/relationships/audio" Target="../media/snd_chime.wav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63.png"/><Relationship Id="rId5" Type="http://schemas.openxmlformats.org/officeDocument/2006/relationships/image" Target="../media/image64.jpg"/><Relationship Id="rId6" Type="http://schemas.openxmlformats.org/officeDocument/2006/relationships/image" Target="../media/image65.png"/><Relationship Id="rId7" Type="http://schemas.openxmlformats.org/officeDocument/2006/relationships/audio" Target="../media/snd_cold_wind.wav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63.png"/><Relationship Id="rId5" Type="http://schemas.openxmlformats.org/officeDocument/2006/relationships/audio" Target="../media/snd_pop.wav"/><Relationship Id="rId6" Type="http://schemas.openxmlformats.org/officeDocument/2006/relationships/image" Target="../media/image6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63.png"/><Relationship Id="rId5" Type="http://schemas.openxmlformats.org/officeDocument/2006/relationships/image" Target="../media/image66.png"/><Relationship Id="rId6" Type="http://schemas.openxmlformats.org/officeDocument/2006/relationships/image" Target="../media/image65.png"/><Relationship Id="rId7" Type="http://schemas.openxmlformats.org/officeDocument/2006/relationships/image" Target="../media/image40.png"/><Relationship Id="rId8" Type="http://schemas.openxmlformats.org/officeDocument/2006/relationships/image" Target="../media/image5.png"/><Relationship Id="rId9" Type="http://schemas.openxmlformats.org/officeDocument/2006/relationships/audio" Target="../media/snd_chime.wav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audio" Target="../media/snd_pop.wav"/><Relationship Id="rId7" Type="http://schemas.openxmlformats.org/officeDocument/2006/relationships/audio" Target="../media/snd_chime.wav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2.jpg"/><Relationship Id="rId4" Type="http://schemas.openxmlformats.org/officeDocument/2006/relationships/image" Target="../media/image9.jpg"/><Relationship Id="rId5" Type="http://schemas.openxmlformats.org/officeDocument/2006/relationships/image" Target="../media/image70.png"/><Relationship Id="rId6" Type="http://schemas.openxmlformats.org/officeDocument/2006/relationships/image" Target="../media/image46.png"/><Relationship Id="rId7" Type="http://schemas.openxmlformats.org/officeDocument/2006/relationships/audio" Target="../media/snd_chime.wav"/><Relationship Id="rId8" Type="http://schemas.openxmlformats.org/officeDocument/2006/relationships/image" Target="../media/image40.png"/><Relationship Id="rId9" Type="http://schemas.openxmlformats.org/officeDocument/2006/relationships/image" Target="../media/image31.png"/><Relationship Id="rId10" Type="http://schemas.openxmlformats.org/officeDocument/2006/relationships/image" Target="../media/image56.png"/><Relationship Id="rId11" Type="http://schemas.openxmlformats.org/officeDocument/2006/relationships/image" Target="../media/image49.png"/><Relationship Id="rId12" Type="http://schemas.openxmlformats.org/officeDocument/2006/relationships/image" Target="../media/image65.png"/><Relationship Id="rId13" Type="http://schemas.openxmlformats.org/officeDocument/2006/relationships/audio" Target="../media/snd_whoosh.wav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35.png"/><Relationship Id="rId8" Type="http://schemas.openxmlformats.org/officeDocument/2006/relationships/image" Target="../media/image31.png"/><Relationship Id="rId9" Type="http://schemas.openxmlformats.org/officeDocument/2006/relationships/image" Target="../media/image57.png"/><Relationship Id="rId10" Type="http://schemas.openxmlformats.org/officeDocument/2006/relationships/image" Target="../media/image53.png"/><Relationship Id="rId11" Type="http://schemas.openxmlformats.org/officeDocument/2006/relationships/image" Target="../media/image74.png"/><Relationship Id="rId12" Type="http://schemas.openxmlformats.org/officeDocument/2006/relationships/image" Target="../media/image75.png"/><Relationship Id="rId13" Type="http://schemas.openxmlformats.org/officeDocument/2006/relationships/image" Target="../media/image76.png"/><Relationship Id="rId14" Type="http://schemas.openxmlformats.org/officeDocument/2006/relationships/image" Target="../media/image77.png"/><Relationship Id="rId15" Type="http://schemas.openxmlformats.org/officeDocument/2006/relationships/image" Target="../media/image78.png"/><Relationship Id="rId16" Type="http://schemas.openxmlformats.org/officeDocument/2006/relationships/image" Target="../media/image79.png"/><Relationship Id="rId17" Type="http://schemas.openxmlformats.org/officeDocument/2006/relationships/image" Target="../media/image80.png"/><Relationship Id="rId18" Type="http://schemas.openxmlformats.org/officeDocument/2006/relationships/image" Target="../media/image81.png"/><Relationship Id="rId19" Type="http://schemas.openxmlformats.org/officeDocument/2006/relationships/image" Target="../media/image82.png"/><Relationship Id="rId20" Type="http://schemas.openxmlformats.org/officeDocument/2006/relationships/image" Target="../media/image83.png"/><Relationship Id="rId21" Type="http://schemas.openxmlformats.org/officeDocument/2006/relationships/image" Target="../media/image84.png"/><Relationship Id="rId22" Type="http://schemas.openxmlformats.org/officeDocument/2006/relationships/image" Target="../media/image8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86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40.png"/><Relationship Id="rId10" Type="http://schemas.openxmlformats.org/officeDocument/2006/relationships/image" Target="../media/image56.png"/><Relationship Id="rId11" Type="http://schemas.openxmlformats.org/officeDocument/2006/relationships/image" Target="../media/image61.png"/><Relationship Id="rId12" Type="http://schemas.openxmlformats.org/officeDocument/2006/relationships/image" Target="../media/image57.png"/><Relationship Id="rId13" Type="http://schemas.openxmlformats.org/officeDocument/2006/relationships/audio" Target="../media/snd_chime.wav"/><Relationship Id="rId14" Type="http://schemas.openxmlformats.org/officeDocument/2006/relationships/audio" Target="../media/snd_whoosh.wav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86.png"/><Relationship Id="rId5" Type="http://schemas.openxmlformats.org/officeDocument/2006/relationships/image" Target="../media/image11.jp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audio" Target="../media/snd_chime.wav"/><Relationship Id="rId9" Type="http://schemas.openxmlformats.org/officeDocument/2006/relationships/audio" Target="../media/snd_whoosh.wav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86.png"/><Relationship Id="rId5" Type="http://schemas.openxmlformats.org/officeDocument/2006/relationships/image" Target="../media/image35.png"/><Relationship Id="rId6" Type="http://schemas.openxmlformats.org/officeDocument/2006/relationships/image" Target="../media/image53.png"/><Relationship Id="rId7" Type="http://schemas.openxmlformats.org/officeDocument/2006/relationships/audio" Target="../media/snd_chime.wav"/><Relationship Id="rId8" Type="http://schemas.openxmlformats.org/officeDocument/2006/relationships/audio" Target="../media/snd_whoosh.wav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87.png"/><Relationship Id="rId5" Type="http://schemas.openxmlformats.org/officeDocument/2006/relationships/image" Target="../media/image35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89.png"/><Relationship Id="rId5" Type="http://schemas.openxmlformats.org/officeDocument/2006/relationships/audio" Target="../media/snd_pop.wav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audio" Target="../media/snd_sparkle.wav"/><Relationship Id="rId9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93.png"/><Relationship Id="rId5" Type="http://schemas.openxmlformats.org/officeDocument/2006/relationships/image" Target="../media/image94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audio" Target="../media/snd_chime.wav"/><Relationship Id="rId9" Type="http://schemas.openxmlformats.org/officeDocument/2006/relationships/audio" Target="../media/snd_train.wav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البوابة" descr="ga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0" y="603250"/>
            <a:ext cx="7112000" cy="4741333"/>
          </a:xfrm>
          <a:prstGeom prst="rect">
            <a:avLst/>
          </a:prstGeom>
        </p:spPr>
      </p:pic>
      <p:pic>
        <p:nvPicPr>
          <p:cNvPr id="4" name="عنوان الرحلة" descr="t_ga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1047" y="1270000"/>
            <a:ext cx="3789905" cy="63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32200" y="1905000"/>
            <a:ext cx="4927600" cy="4064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2600" b="1" lang="ar-SA">
                <a:solidFill>
                  <a:srgbClr val="FFE27A"/>
                </a:solidFill>
                <a:latin typeface="Arial"/>
                <a:cs typeface="Arial"/>
              </a:rPr>
              <a:t>مغامرة المستكشفات الصغيرات</a:t>
            </a:r>
          </a:p>
        </p:txBody>
      </p:sp>
      <p:sp>
        <p:nvSpPr>
          <p:cNvPr id="6" name="بطاقة الدرس"/>
          <p:cNvSpPr/>
          <p:nvPr/>
        </p:nvSpPr>
        <p:spPr>
          <a:xfrm>
            <a:off x="3873500" y="2667000"/>
            <a:ext cx="4445000" cy="1365250"/>
          </a:xfrm>
          <a:prstGeom prst="roundRect">
            <a:avLst>
              <a:gd name="adj" fmla="val 18000"/>
            </a:avLst>
          </a:prstGeom>
          <a:solidFill>
            <a:srgbClr val="FFFFFF">
              <a:alpha val="93000"/>
            </a:srgbClr>
          </a:solidFill>
          <a:ln w="38100">
            <a:solidFill>
              <a:srgbClr val="8E44AD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2400" b="1" lang="ar-SA">
                <a:solidFill>
                  <a:srgbClr val="E8505B"/>
                </a:solidFill>
                <a:latin typeface="Arial"/>
                <a:cs typeface="Arial"/>
              </a:rPr>
              <a:t>المادة: </a:t>
            </a:r>
            <a:r>
              <a:rPr sz="2400" b="1" lang="ar-SA">
                <a:solidFill>
                  <a:srgbClr val="1E2A3A"/>
                </a:solidFill>
                <a:latin typeface="Arial"/>
                <a:cs typeface="Arial"/>
              </a:rPr>
              <a:t>العلوم</a:t>
            </a:r>
          </a:p>
          <a:p>
            <a:pPr algn="ctr" rtl="1">
              <a:lnSpc>
                <a:spcPct val="100000"/>
              </a:lnSpc>
            </a:pPr>
            <a:r>
              <a:rPr sz="2400" b="1" lang="ar-SA">
                <a:solidFill>
                  <a:srgbClr val="E8505B"/>
                </a:solidFill>
                <a:latin typeface="Arial"/>
                <a:cs typeface="Arial"/>
              </a:rPr>
              <a:t>الصف: </a:t>
            </a:r>
            <a:r>
              <a:rPr sz="2400" b="1" lang="ar-SA">
                <a:solidFill>
                  <a:srgbClr val="1E2A3A"/>
                </a:solidFill>
                <a:latin typeface="Arial"/>
                <a:cs typeface="Arial"/>
              </a:rPr>
              <a:t>الثاني الابتدائي</a:t>
            </a:r>
          </a:p>
          <a:p>
            <a:pPr algn="ctr" rtl="1">
              <a:lnSpc>
                <a:spcPct val="100000"/>
              </a:lnSpc>
            </a:pPr>
            <a:r>
              <a:rPr sz="2400" b="1" lang="ar-SA">
                <a:solidFill>
                  <a:srgbClr val="E8505B"/>
                </a:solidFill>
                <a:latin typeface="Arial"/>
                <a:cs typeface="Arial"/>
              </a:rPr>
              <a:t>الدرس: </a:t>
            </a:r>
            <a:r>
              <a:rPr sz="2400" b="1" lang="ar-SA">
                <a:solidFill>
                  <a:srgbClr val="1E2A3A"/>
                </a:solidFill>
                <a:latin typeface="Arial"/>
                <a:cs typeface="Arial"/>
              </a:rPr>
              <a:t>الصحاري الحارة والباردة</a:t>
            </a:r>
          </a:p>
        </p:txBody>
      </p:sp>
      <p:sp>
        <p:nvSpPr>
          <p:cNvPr id="7" name="خانة اليوم"/>
          <p:cNvSpPr/>
          <p:nvPr/>
        </p:nvSpPr>
        <p:spPr>
          <a:xfrm>
            <a:off x="3873500" y="4127500"/>
            <a:ext cx="2159000" cy="393700"/>
          </a:xfrm>
          <a:prstGeom prst="roundRect">
            <a:avLst>
              <a:gd name="adj" fmla="val 18000"/>
            </a:avLst>
          </a:prstGeom>
          <a:solidFill>
            <a:srgbClr val="FFFFFF">
              <a:alpha val="93000"/>
            </a:srgbClr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200" b="1" lang="ar-SA">
                <a:solidFill>
                  <a:srgbClr val="1E2A3A"/>
                </a:solidFill>
                <a:latin typeface="Arial"/>
                <a:cs typeface="Arial"/>
              </a:rPr>
              <a:t>اليوم: ........</a:t>
            </a:r>
          </a:p>
        </p:txBody>
      </p:sp>
      <p:sp>
        <p:nvSpPr>
          <p:cNvPr id="8" name="خانة التاريخ"/>
          <p:cNvSpPr/>
          <p:nvPr/>
        </p:nvSpPr>
        <p:spPr>
          <a:xfrm>
            <a:off x="6159500" y="4127500"/>
            <a:ext cx="2159000" cy="393700"/>
          </a:xfrm>
          <a:prstGeom prst="roundRect">
            <a:avLst>
              <a:gd name="adj" fmla="val 18000"/>
            </a:avLst>
          </a:prstGeom>
          <a:solidFill>
            <a:srgbClr val="FFFFFF">
              <a:alpha val="93000"/>
            </a:srgbClr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200" b="1" lang="ar-SA">
                <a:solidFill>
                  <a:srgbClr val="1E2A3A"/>
                </a:solidFill>
                <a:latin typeface="Arial"/>
                <a:cs typeface="Arial"/>
              </a:rPr>
              <a:t>التاريخ: ........</a:t>
            </a:r>
          </a:p>
        </p:txBody>
      </p:sp>
      <p:pic>
        <p:nvPicPr>
          <p:cNvPr id="9" name="!!train" descr="قطار المستكشفات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640" y="5143500"/>
            <a:ext cx="4826000" cy="1246717"/>
          </a:xfrm>
          <a:prstGeom prst="rect">
            <a:avLst/>
          </a:prstGeom>
        </p:spPr>
      </p:pic>
      <p:pic>
        <p:nvPicPr>
          <p:cNvPr id="10" name="!!noura" descr="المستكشفة نورة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4250" y="3175000"/>
            <a:ext cx="2286000" cy="3429000"/>
          </a:xfrm>
          <a:prstGeom prst="rect">
            <a:avLst/>
          </a:prstGeom>
        </p:spPr>
      </p:pic>
      <p:sp>
        <p:nvSpPr>
          <p:cNvPr id="11" name="فقاعة نورة"/>
          <p:cNvSpPr/>
          <p:nvPr/>
        </p:nvSpPr>
        <p:spPr>
          <a:xfrm>
            <a:off x="8191500" y="762000"/>
            <a:ext cx="3873500" cy="1778000"/>
          </a:xfrm>
          <a:prstGeom prst="wedgeRoundRectCallout">
            <a:avLst>
              <a:gd name="adj1" fmla="val 17213"/>
              <a:gd name="adj2" fmla="val 92857"/>
              <a:gd name="adj3" fmla="val 16667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 rtl="1"/>
            <a:r>
              <a:rPr sz="2500" b="1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sz="2500" b="1" lang="ar-SA">
                <a:solidFill>
                  <a:srgbClr val="1E2A3A"/>
                </a:solidFill>
                <a:latin typeface="Arial"/>
                <a:cs typeface="Arial"/>
              </a:rPr>
              <a:t>مرحبًا بمستكشفاتي الصغيرات! هل أنتن مستعدات لرحلة علمية ممتعة؟</a:t>
            </a:r>
          </a:p>
        </p:txBody>
      </p:sp>
      <p:sp>
        <p:nvSpPr>
          <p:cNvPr id="12" name="زر هيا ننطلق">
            <a:hlinkClick action="ppaction://hlinksldjump" r:id="rId10"/>
          </p:cNvPr>
          <p:cNvSpPr/>
          <p:nvPr/>
        </p:nvSpPr>
        <p:spPr>
          <a:xfrm>
            <a:off x="4889500" y="56197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 w="635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600" b="1" lang="ar-SA">
                <a:solidFill>
                  <a:srgbClr val="FFFFFF"/>
                </a:solidFill>
                <a:latin typeface="Arial"/>
                <a:cs typeface="Arial"/>
              </a:rPr>
              <a:t>هيا ننطلق!</a:t>
            </a:r>
          </a:p>
        </p:txBody>
      </p:sp>
      <p:sp>
        <p:nvSpPr>
          <p:cNvPr id="13" name="توقيع المعلمة"/>
          <p:cNvSpPr/>
          <p:nvPr/>
        </p:nvSpPr>
        <p:spPr>
          <a:xfrm>
            <a:off x="177800" y="6426200"/>
            <a:ext cx="2794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إعداد وتنفيذ: 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٩٦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  <p:sndAc>
      <p:stSnd>
        <p:snd r:embed="rId9" name="chime.wav"/>
      </p:stSnd>
    </p:sndAc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4200 0.0000 E" pathEditMode="relative" ptsTypes="">
                                      <p:cBhvr>
                                        <p:cTn id="6" dur="2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10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9" display="0" masterRel="sameClick">
                                          <p:stCondLst>
                                            <p:cond evt="onBegin" delay="0">
                                              <p:tn val="14"/>
                                            </p:cond>
                                          </p:st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0"/>
                            </p:stCondLst>
                            <p:childTnLst>
                              <p:par>
                                <p:cTn id="21" presetID="6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2" dur="70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0159" y="139700"/>
            <a:ext cx="3411682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٢</a:t>
            </a:r>
          </a:p>
        </p:txBody>
      </p:sp>
      <p:pic>
        <p:nvPicPr>
          <p:cNvPr id="5" name="!!train" descr="قطار الذكريات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7500" y="2959100"/>
            <a:ext cx="12065000" cy="3116792"/>
          </a:xfrm>
          <a:prstGeom prst="rect">
            <a:avLst/>
          </a:prstGeom>
        </p:spPr>
      </p:pic>
      <p:sp>
        <p:nvSpPr>
          <p:cNvPr id="6" name="نافذة 1"/>
          <p:cNvSpPr txBox="1"/>
          <p:nvPr/>
        </p:nvSpPr>
        <p:spPr>
          <a:xfrm>
            <a:off x="18593329" y="3695700"/>
            <a:ext cx="2343150" cy="12446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E8505B"/>
                </a:solidFill>
                <a:latin typeface="Arial"/>
                <a:cs typeface="Arial"/>
              </a:rPr>
              <a:t>١  </a:t>
            </a: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>ما الموطن؟</a:t>
            </a:r>
          </a:p>
        </p:txBody>
      </p:sp>
      <p:sp>
        <p:nvSpPr>
          <p:cNvPr id="7" name="نافذة 2"/>
          <p:cNvSpPr txBox="1"/>
          <p:nvPr/>
        </p:nvSpPr>
        <p:spPr>
          <a:xfrm>
            <a:off x="15526808" y="3695700"/>
            <a:ext cx="2343150" cy="12446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E8505B"/>
                </a:solidFill>
                <a:latin typeface="Arial"/>
                <a:cs typeface="Arial"/>
              </a:rPr>
              <a:t>٢  </a:t>
            </a: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>ماذا تحتاج المخلوقات الحية لتعيش؟</a:t>
            </a:r>
          </a:p>
        </p:txBody>
      </p:sp>
      <p:sp>
        <p:nvSpPr>
          <p:cNvPr id="8" name="نافذة 3"/>
          <p:cNvSpPr txBox="1"/>
          <p:nvPr/>
        </p:nvSpPr>
        <p:spPr>
          <a:xfrm>
            <a:off x="12460288" y="3695700"/>
            <a:ext cx="2343150" cy="12446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E8505B"/>
                </a:solidFill>
                <a:latin typeface="Arial"/>
                <a:cs typeface="Arial"/>
              </a:rPr>
              <a:t>٣  </a:t>
            </a: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>هل تعيش جميع الحيوانات في المكان نفسه؟</a:t>
            </a:r>
          </a:p>
        </p:txBody>
      </p:sp>
      <p:sp>
        <p:nvSpPr>
          <p:cNvPr id="9" name="إجابة 1"/>
          <p:cNvSpPr/>
          <p:nvPr/>
        </p:nvSpPr>
        <p:spPr>
          <a:xfrm>
            <a:off x="1587500" y="1244600"/>
            <a:ext cx="9017000" cy="15875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الموطن هو المكان الذي يعيش فيه المخلوق الحي، ويجد فيه ما يحتاج إليه.</a:t>
            </a:r>
          </a:p>
          <a:p>
            <a:pPr algn="ctr" rtl="1">
              <a:lnSpc>
                <a:spcPct val="100000"/>
              </a:lnSpc>
            </a:pPr>
            <a:r>
              <a:rPr sz="2800" b="1" lang="ar-SA">
                <a:solidFill>
                  <a:srgbClr val="27AE60"/>
                </a:solidFill>
                <a:latin typeface="Arial"/>
                <a:cs typeface="Arial"/>
              </a:rPr>
              <a:t>أحسنتِ يا مستكشفة!</a:t>
            </a:r>
          </a:p>
        </p:txBody>
      </p:sp>
      <p:pic>
        <p:nvPicPr>
          <p:cNvPr id="10" name="نجمة 1" descr="sta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0" y="1016000"/>
            <a:ext cx="698500" cy="698500"/>
          </a:xfrm>
          <a:prstGeom prst="rect">
            <a:avLst/>
          </a:prstGeom>
        </p:spPr>
      </p:pic>
      <p:sp>
        <p:nvSpPr>
          <p:cNvPr id="11" name="إجابة 2"/>
          <p:cNvSpPr/>
          <p:nvPr/>
        </p:nvSpPr>
        <p:spPr>
          <a:xfrm>
            <a:off x="1587500" y="1244600"/>
            <a:ext cx="9017000" cy="15875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تحتاج إلى الماء والغذاء والهواء والمأوى.</a:t>
            </a:r>
          </a:p>
          <a:p>
            <a:pPr algn="ctr" rtl="1">
              <a:lnSpc>
                <a:spcPct val="100000"/>
              </a:lnSpc>
            </a:pPr>
            <a:r>
              <a:rPr sz="2800" b="1" lang="ar-SA">
                <a:solidFill>
                  <a:srgbClr val="27AE60"/>
                </a:solidFill>
                <a:latin typeface="Arial"/>
                <a:cs typeface="Arial"/>
              </a:rPr>
              <a:t>أحسنتِ يا مستكشفة!</a:t>
            </a:r>
          </a:p>
        </p:txBody>
      </p:sp>
      <p:pic>
        <p:nvPicPr>
          <p:cNvPr id="12" name="نجمة 2" descr="sta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0" y="1016000"/>
            <a:ext cx="698500" cy="698500"/>
          </a:xfrm>
          <a:prstGeom prst="rect">
            <a:avLst/>
          </a:prstGeom>
        </p:spPr>
      </p:pic>
      <p:sp>
        <p:nvSpPr>
          <p:cNvPr id="13" name="إجابة 3"/>
          <p:cNvSpPr/>
          <p:nvPr/>
        </p:nvSpPr>
        <p:spPr>
          <a:xfrm>
            <a:off x="1587500" y="1244600"/>
            <a:ext cx="9017000" cy="15875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لا، لكل حيوان موطن يناسبه؛ بعضها في الصحراء، وبعضها في المناطق الباردة.</a:t>
            </a:r>
          </a:p>
          <a:p>
            <a:pPr algn="ctr" rtl="1">
              <a:lnSpc>
                <a:spcPct val="100000"/>
              </a:lnSpc>
            </a:pPr>
            <a:r>
              <a:rPr sz="2800" b="1" lang="ar-SA">
                <a:solidFill>
                  <a:srgbClr val="27AE60"/>
                </a:solidFill>
                <a:latin typeface="Arial"/>
                <a:cs typeface="Arial"/>
              </a:rPr>
              <a:t>أحسنتِ يا مستكشفة!</a:t>
            </a:r>
          </a:p>
        </p:txBody>
      </p:sp>
      <p:pic>
        <p:nvPicPr>
          <p:cNvPr id="14" name="نجمة 3" descr="sta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0" y="1016000"/>
            <a:ext cx="698500" cy="698500"/>
          </a:xfrm>
          <a:prstGeom prst="rect">
            <a:avLst/>
          </a:prstGeom>
        </p:spPr>
      </p:pic>
      <p:sp>
        <p:nvSpPr>
          <p:cNvPr id="15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6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٩٦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800">
        <p14:conveyor dir="l"/>
        <p:sndAc>
          <p:stSnd>
            <p:snd r:embed="rId8" name="train.wav"/>
          </p:stSnd>
        </p:sndAc>
      </p:transition>
    </mc:Choice>
    <mc:Fallback>
      <p:transition spd="slow">
        <p:push dir="l"/>
        <p:sndAc>
          <p:stSnd>
            <p:snd r:embed="rId8" name="train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7500 0.0000 E" pathEditMode="relative" ptsTypes="">
                                      <p:cBhvr>
                                        <p:cTn id="6" dur="2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7500 0.0000 E" pathEditMode="relative" ptsTypes="">
                                      <p:cBhvr>
                                        <p:cTn id="8" dur="2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7500 0.0000 E" pathEditMode="relative" ptsTypes="">
                                      <p:cBhvr>
                                        <p:cTn id="10" dur="2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7500 0.0000 E" pathEditMode="relative" ptsTypes="">
                                      <p:cBhvr>
                                        <p:cTn id="12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mph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28" display="0" masterRel="sameClick">
                                          <p:stCondLst>
                                            <p:cond evt="onBegin" delay="0">
                                              <p:tn val="23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"/>
                            </p:stCondLst>
                            <p:childTnLst>
                              <p:par>
                                <p:cTn id="30" presetID="8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1" dur="9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1" dur="5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"/>
                            </p:stCondLst>
                            <p:childTnLst>
                              <p:par>
                                <p:cTn id="4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53" display="0" masterRel="sameClick">
                                          <p:stCondLst>
                                            <p:cond evt="onBegin" delay="0">
                                              <p:tn val="48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800"/>
                            </p:stCondLst>
                            <p:childTnLst>
                              <p:par>
                                <p:cTn id="55" presetID="8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6" dur="9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6" dur="50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78" display="0" masterRel="sameClick">
                                          <p:stCondLst>
                                            <p:cond evt="onBegin" delay="0">
                                              <p:tn val="73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00"/>
                            </p:stCondLst>
                            <p:childTnLst>
                              <p:par>
                                <p:cTn id="80" presetID="8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1" dur="9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1" animBg="1"/>
      <p:bldP spid="9" grpId="0" animBg="1"/>
      <p:bldP spid="7" grpId="1" animBg="1"/>
      <p:bldP spid="11" grpId="0" animBg="1"/>
      <p:bldP spid="8" grpId="1" animBg="1"/>
      <p:bldP spid="13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432" y="139700"/>
            <a:ext cx="3527136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٣</a:t>
            </a:r>
          </a:p>
        </p:txBody>
      </p:sp>
      <p:sp>
        <p:nvSpPr>
          <p:cNvPr id="5" name="إطار صورة الكتاب"/>
          <p:cNvSpPr/>
          <p:nvPr/>
        </p:nvSpPr>
        <p:spPr>
          <a:xfrm>
            <a:off x="1594138" y="1270000"/>
            <a:ext cx="9003725" cy="4191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صورة الكتاب" descr="صورة من كتابي – صفحة ٩٦  •  محمية الملك عبدالعزيز الملكية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3038" y="1358900"/>
            <a:ext cx="8825925" cy="4013200"/>
          </a:xfrm>
          <a:prstGeom prst="rect">
            <a:avLst/>
          </a:prstGeom>
        </p:spPr>
      </p:pic>
      <p:sp>
        <p:nvSpPr>
          <p:cNvPr id="7" name="تعليق صورة الكتاب"/>
          <p:cNvSpPr/>
          <p:nvPr/>
        </p:nvSpPr>
        <p:spPr>
          <a:xfrm>
            <a:off x="3222337" y="1117600"/>
            <a:ext cx="7375525" cy="2921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صورة من كتابي – صفحة ٩٦  •  محمية الملك عبدالعزيز الملكية</a:t>
            </a:r>
          </a:p>
        </p:txBody>
      </p:sp>
      <p:pic>
        <p:nvPicPr>
          <p:cNvPr id="8" name="العدسة المكبرة" descr="magnifie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56138" y="3365500"/>
            <a:ext cx="1778000" cy="177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90000" y="5619750"/>
            <a:ext cx="2984500" cy="66675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FFFFFF"/>
                </a:solidFill>
                <a:latin typeface="Arial"/>
                <a:cs typeface="Arial"/>
              </a:rPr>
              <a:t>أَنْظُرُ وَأَتَسَاءَلُ</a:t>
            </a:r>
          </a:p>
        </p:txBody>
      </p:sp>
      <p:sp>
        <p:nvSpPr>
          <p:cNvPr id="10" name="سؤال الكتاب"/>
          <p:cNvSpPr/>
          <p:nvPr/>
        </p:nvSpPr>
        <p:spPr>
          <a:xfrm>
            <a:off x="952500" y="5537200"/>
            <a:ext cx="7810500" cy="812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63500">
            <a:solidFill>
              <a:srgbClr val="2E86DE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4000" b="1" lang="ar-SA">
                <a:solidFill>
                  <a:srgbClr val="1E2A3A"/>
                </a:solidFill>
                <a:latin typeface="Arial"/>
                <a:cs typeface="Arial"/>
              </a:rPr>
              <a:t>كَيْفَ تَبْقَى هَذِهِ النَّبَاتَاتُ حَيَّةً؟</a:t>
            </a:r>
          </a:p>
        </p:txBody>
      </p:sp>
      <p:sp>
        <p:nvSpPr>
          <p:cNvPr id="11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2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٩٦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600">
        <p14:flythrough/>
        <p:sndAc>
          <p:stSnd>
            <p:snd r:embed="rId7" name="desert_wind.wav"/>
          </p:stSnd>
        </p:sndAc>
      </p:transition>
    </mc:Choice>
    <mc:Fallback>
      <p:transition spd="slow">
        <p:zoom/>
        <p:sndAc>
          <p:stSnd>
            <p:snd r:embed="rId7" name="desert_wind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autoRev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15 -0.12 0.3 0.04 0.5 -0.05 E" pathEditMode="relative" ptsTypes="">
                                      <p:cBhvr>
                                        <p:cTn id="6" dur="7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432" y="139700"/>
            <a:ext cx="3527136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٣</a:t>
            </a:r>
          </a:p>
        </p:txBody>
      </p:sp>
      <p:sp>
        <p:nvSpPr>
          <p:cNvPr id="5" name="إطار صورة الكتاب"/>
          <p:cNvSpPr/>
          <p:nvPr/>
        </p:nvSpPr>
        <p:spPr>
          <a:xfrm>
            <a:off x="381000" y="1333500"/>
            <a:ext cx="6731000" cy="3157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صورة الكتاب" descr="من كتابي – صفحة ٩٦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900" y="1422400"/>
            <a:ext cx="6553200" cy="2979779"/>
          </a:xfrm>
          <a:prstGeom prst="rect">
            <a:avLst/>
          </a:prstGeom>
        </p:spPr>
      </p:pic>
      <p:sp>
        <p:nvSpPr>
          <p:cNvPr id="7" name="تعليق صورة الكتاب"/>
          <p:cNvSpPr/>
          <p:nvPr/>
        </p:nvSpPr>
        <p:spPr>
          <a:xfrm>
            <a:off x="4565650" y="1181100"/>
            <a:ext cx="2546350" cy="2921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من كتابي – صفحة ٩٦</a:t>
            </a:r>
          </a:p>
        </p:txBody>
      </p:sp>
      <p:pic>
        <p:nvPicPr>
          <p:cNvPr id="8" name="!!noura" descr="المستكشفة نور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064000"/>
            <a:ext cx="1566333" cy="2349500"/>
          </a:xfrm>
          <a:prstGeom prst="rect">
            <a:avLst/>
          </a:prstGeom>
        </p:spPr>
      </p:pic>
      <p:sp>
        <p:nvSpPr>
          <p:cNvPr id="9" name="فقاعة نورة"/>
          <p:cNvSpPr/>
          <p:nvPr/>
        </p:nvSpPr>
        <p:spPr>
          <a:xfrm>
            <a:off x="2413000" y="4889500"/>
            <a:ext cx="4445000" cy="825500"/>
          </a:xfrm>
          <a:prstGeom prst="wedgeRoundRectCallout">
            <a:avLst>
              <a:gd name="adj1" fmla="val -61428"/>
              <a:gd name="adj2" fmla="val -11538"/>
              <a:gd name="adj3" fmla="val 16667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 rtl="1"/>
            <a:r>
              <a:rPr sz="2800" b="1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ألاحظ، ثم أتوقع، ثم أفسّر!</a:t>
            </a:r>
          </a:p>
        </p:txBody>
      </p:sp>
      <p:sp>
        <p:nvSpPr>
          <p:cNvPr id="10" name="خطوة ألاحظ"/>
          <p:cNvSpPr/>
          <p:nvPr/>
        </p:nvSpPr>
        <p:spPr>
          <a:xfrm>
            <a:off x="7366000" y="1301750"/>
            <a:ext cx="4572000" cy="14922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27AE60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27AE60"/>
                </a:solidFill>
                <a:latin typeface="Arial"/>
                <a:cs typeface="Arial"/>
              </a:rPr>
              <a:t>ألاحظ</a:t>
            </a:r>
          </a:p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ماذا أرى في الصورة؟</a:t>
            </a:r>
          </a:p>
        </p:txBody>
      </p:sp>
      <p:sp>
        <p:nvSpPr>
          <p:cNvPr id="11" name="خطوة أتوقع"/>
          <p:cNvSpPr/>
          <p:nvPr/>
        </p:nvSpPr>
        <p:spPr>
          <a:xfrm>
            <a:off x="7366000" y="2984500"/>
            <a:ext cx="4572000" cy="14922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F39C1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F39C12"/>
                </a:solidFill>
                <a:latin typeface="Arial"/>
                <a:cs typeface="Arial"/>
              </a:rPr>
              <a:t>أتوقع</a:t>
            </a:r>
          </a:p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كيف تحصل النباتات على الماء؟</a:t>
            </a:r>
          </a:p>
        </p:txBody>
      </p:sp>
      <p:sp>
        <p:nvSpPr>
          <p:cNvPr id="12" name="خطوة أفسر"/>
          <p:cNvSpPr/>
          <p:nvPr/>
        </p:nvSpPr>
        <p:spPr>
          <a:xfrm>
            <a:off x="7366000" y="4667250"/>
            <a:ext cx="4572000" cy="14922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8E44AD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8E44AD"/>
                </a:solidFill>
                <a:latin typeface="Arial"/>
                <a:cs typeface="Arial"/>
              </a:rPr>
              <a:t>أفسر</a:t>
            </a:r>
          </a:p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لماذا تستطيع العيش هنا؟</a:t>
            </a:r>
          </a:p>
        </p:txBody>
      </p:sp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٩٦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9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6" display="0" masterRel="sameClick">
                                          <p:stCondLst>
                                            <p:cond evt="onBegin" delay="0">
                                              <p:tn val="12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23" display="0" masterRel="sameClick">
                                          <p:stCondLst>
                                            <p:cond evt="onBegin" delay="0">
                                              <p:tn val="19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568" y="139700"/>
            <a:ext cx="5262864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٤</a:t>
            </a:r>
          </a:p>
        </p:txBody>
      </p:sp>
      <p:sp>
        <p:nvSpPr>
          <p:cNvPr id="5" name="سؤال أستكشف"/>
          <p:cNvSpPr/>
          <p:nvPr/>
        </p:nvSpPr>
        <p:spPr>
          <a:xfrm>
            <a:off x="381000" y="1143000"/>
            <a:ext cx="11557000" cy="8255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600" b="1" lang="ar-SA">
                <a:solidFill>
                  <a:srgbClr val="E8505B"/>
                </a:solidFill>
                <a:latin typeface="Arial"/>
                <a:cs typeface="Arial"/>
              </a:rPr>
              <a:t>أَسْتَكْشِفُ: </a:t>
            </a:r>
            <a:r>
              <a:rPr sz="3600" b="1" lang="ar-SA">
                <a:solidFill>
                  <a:srgbClr val="1E2A3A"/>
                </a:solidFill>
                <a:latin typeface="Arial"/>
                <a:cs typeface="Arial"/>
              </a:rPr>
              <a:t>كَيْفَ يُسَاعِدُ شَكْلُ الْوَرَقَةِ عَلَى نُمُوِّ النَّبَاتِ؟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52000" y="2082800"/>
            <a:ext cx="2286000" cy="469900"/>
          </a:xfrm>
          <a:prstGeom prst="roundRect">
            <a:avLst>
              <a:gd name="adj" fmla="val 50000"/>
            </a:avLst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FFFFFF"/>
                </a:solidFill>
                <a:latin typeface="Arial"/>
                <a:cs typeface="Arial"/>
              </a:rPr>
              <a:t>أَحْتَاجُ إِلَى: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70000" y="2120900"/>
            <a:ext cx="8255000" cy="393700"/>
          </a:xfrm>
          <a:prstGeom prst="roundRect">
            <a:avLst>
              <a:gd name="adj" fmla="val 50000"/>
            </a:avLst>
          </a:prstGeom>
          <a:solidFill>
            <a:srgbClr val="FFFFFF">
              <a:alpha val="9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0E6655"/>
                </a:solidFill>
                <a:latin typeface="Arial"/>
                <a:cs typeface="Arial"/>
              </a:rPr>
              <a:t>في كل بطاقة: صورة الأداة من كتابي (ص ٩٧) وتحتها رسمها المجسم</a:t>
            </a:r>
          </a:p>
        </p:txBody>
      </p:sp>
      <p:sp>
        <p:nvSpPr>
          <p:cNvPr id="8" name="بطاقة مناشف ورقية"/>
          <p:cNvSpPr/>
          <p:nvPr/>
        </p:nvSpPr>
        <p:spPr>
          <a:xfrm>
            <a:off x="9715500" y="2667000"/>
            <a:ext cx="2159000" cy="3651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مناشف ورقية من الكتاب" descr="صورة مناشف ورقية من الكتاب ص ٩٧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0750" y="2820108"/>
            <a:ext cx="1968500" cy="836784"/>
          </a:xfrm>
          <a:prstGeom prst="rect">
            <a:avLst/>
          </a:prstGeom>
        </p:spPr>
      </p:pic>
      <p:pic>
        <p:nvPicPr>
          <p:cNvPr id="10" name="مناشف ورقية" descr="tool_towe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3829050"/>
            <a:ext cx="1778000" cy="1422400"/>
          </a:xfrm>
          <a:prstGeom prst="rect">
            <a:avLst/>
          </a:prstGeom>
        </p:spPr>
      </p:pic>
      <p:sp>
        <p:nvSpPr>
          <p:cNvPr id="11" name="اسم مناشف ورقية"/>
          <p:cNvSpPr txBox="1"/>
          <p:nvPr/>
        </p:nvSpPr>
        <p:spPr>
          <a:xfrm>
            <a:off x="9766300" y="5334000"/>
            <a:ext cx="2057400" cy="889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مناشف ورقية</a:t>
            </a:r>
          </a:p>
        </p:txBody>
      </p:sp>
      <p:sp>
        <p:nvSpPr>
          <p:cNvPr id="12" name="بطاقة مقص"/>
          <p:cNvSpPr/>
          <p:nvPr/>
        </p:nvSpPr>
        <p:spPr>
          <a:xfrm>
            <a:off x="7366000" y="2667000"/>
            <a:ext cx="2159000" cy="3651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مقص من الكتاب" descr="صورة مقص من الكتاب ص ٩٧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1250" y="2820108"/>
            <a:ext cx="1968500" cy="836784"/>
          </a:xfrm>
          <a:prstGeom prst="rect">
            <a:avLst/>
          </a:prstGeom>
        </p:spPr>
      </p:pic>
      <p:pic>
        <p:nvPicPr>
          <p:cNvPr id="14" name="مقص" descr="tool_scissor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56500" y="3829050"/>
            <a:ext cx="1778000" cy="1422400"/>
          </a:xfrm>
          <a:prstGeom prst="rect">
            <a:avLst/>
          </a:prstGeom>
        </p:spPr>
      </p:pic>
      <p:sp>
        <p:nvSpPr>
          <p:cNvPr id="15" name="اسم مقص"/>
          <p:cNvSpPr txBox="1"/>
          <p:nvPr/>
        </p:nvSpPr>
        <p:spPr>
          <a:xfrm>
            <a:off x="7416800" y="5334000"/>
            <a:ext cx="2057400" cy="889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مقص</a:t>
            </a:r>
          </a:p>
        </p:txBody>
      </p:sp>
      <p:sp>
        <p:nvSpPr>
          <p:cNvPr id="16" name="بطاقة ماء"/>
          <p:cNvSpPr/>
          <p:nvPr/>
        </p:nvSpPr>
        <p:spPr>
          <a:xfrm>
            <a:off x="5016500" y="2667000"/>
            <a:ext cx="2159000" cy="3651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ماء من الكتاب" descr="صورة ماء من الكتاب ص ٩٧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67614" y="2762250"/>
            <a:ext cx="1656773" cy="952500"/>
          </a:xfrm>
          <a:prstGeom prst="rect">
            <a:avLst/>
          </a:prstGeom>
        </p:spPr>
      </p:pic>
      <p:pic>
        <p:nvPicPr>
          <p:cNvPr id="18" name="ماء" descr="tool_wate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30875" y="3810000"/>
            <a:ext cx="730250" cy="1460500"/>
          </a:xfrm>
          <a:prstGeom prst="rect">
            <a:avLst/>
          </a:prstGeom>
        </p:spPr>
      </p:pic>
      <p:sp>
        <p:nvSpPr>
          <p:cNvPr id="19" name="اسم ماء"/>
          <p:cNvSpPr txBox="1"/>
          <p:nvPr/>
        </p:nvSpPr>
        <p:spPr>
          <a:xfrm>
            <a:off x="5067300" y="5334000"/>
            <a:ext cx="2057400" cy="889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ماء</a:t>
            </a:r>
          </a:p>
        </p:txBody>
      </p:sp>
      <p:sp>
        <p:nvSpPr>
          <p:cNvPr id="20" name="بطاقة شريط لاصق"/>
          <p:cNvSpPr/>
          <p:nvPr/>
        </p:nvSpPr>
        <p:spPr>
          <a:xfrm>
            <a:off x="2667000" y="2667000"/>
            <a:ext cx="2159000" cy="3651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شريط لاصق من الكتاب" descr="صورة شريط لاصق من الكتاب ص ٩٧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62250" y="2772096"/>
            <a:ext cx="1968500" cy="932808"/>
          </a:xfrm>
          <a:prstGeom prst="rect">
            <a:avLst/>
          </a:prstGeom>
        </p:spPr>
      </p:pic>
      <p:pic>
        <p:nvPicPr>
          <p:cNvPr id="22" name="شريط لاصق" descr="tool_tape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57500" y="3829050"/>
            <a:ext cx="1778000" cy="1422400"/>
          </a:xfrm>
          <a:prstGeom prst="rect">
            <a:avLst/>
          </a:prstGeom>
        </p:spPr>
      </p:pic>
      <p:sp>
        <p:nvSpPr>
          <p:cNvPr id="23" name="اسم شريط لاصق"/>
          <p:cNvSpPr txBox="1"/>
          <p:nvPr/>
        </p:nvSpPr>
        <p:spPr>
          <a:xfrm>
            <a:off x="2717800" y="5334000"/>
            <a:ext cx="2057400" cy="889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شريط لاصق</a:t>
            </a:r>
          </a:p>
        </p:txBody>
      </p:sp>
      <p:sp>
        <p:nvSpPr>
          <p:cNvPr id="24" name="بطاقة ورق تغليف بلاستيكي"/>
          <p:cNvSpPr/>
          <p:nvPr/>
        </p:nvSpPr>
        <p:spPr>
          <a:xfrm>
            <a:off x="317500" y="2667000"/>
            <a:ext cx="2159000" cy="36512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ورق تغليف بلاستيكي من الكتاب" descr="صورة ورق تغليف بلاستيكي من الكتاب ص ٩٧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807" y="2762250"/>
            <a:ext cx="1898385" cy="952500"/>
          </a:xfrm>
          <a:prstGeom prst="rect">
            <a:avLst/>
          </a:prstGeom>
        </p:spPr>
      </p:pic>
      <p:pic>
        <p:nvPicPr>
          <p:cNvPr id="26" name="ورق تغليف بلاستيكي" descr="tool_wrap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8000" y="4095750"/>
            <a:ext cx="1778000" cy="889000"/>
          </a:xfrm>
          <a:prstGeom prst="rect">
            <a:avLst/>
          </a:prstGeom>
        </p:spPr>
      </p:pic>
      <p:sp>
        <p:nvSpPr>
          <p:cNvPr id="27" name="اسم ورق تغليف بلاستيكي"/>
          <p:cNvSpPr txBox="1"/>
          <p:nvPr/>
        </p:nvSpPr>
        <p:spPr>
          <a:xfrm>
            <a:off x="368300" y="5334000"/>
            <a:ext cx="2057400" cy="889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2700" b="1" lang="ar-SA">
                <a:solidFill>
                  <a:srgbClr val="1E2A3A"/>
                </a:solidFill>
                <a:latin typeface="Arial"/>
                <a:cs typeface="Arial"/>
              </a:rPr>
              <a:t>ورق تغليف بلاستيكي</a:t>
            </a:r>
          </a:p>
        </p:txBody>
      </p:sp>
      <p:sp>
        <p:nvSpPr>
          <p:cNvPr id="28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29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٩٧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200">
        <p14:prism/>
        <p:sndAc>
          <p:stSnd>
            <p:snd r:embed="rId15" name="whoosh.wav"/>
          </p:stSnd>
        </p:sndAc>
      </p:transition>
    </mc:Choice>
    <mc:Fallback>
      <p:transition spd="slow">
        <p:fade/>
        <p:sndAc>
          <p:stSnd>
            <p:snd r:embed="rId15" name="whoosh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650"/>
                            </p:stCondLst>
                            <p:childTnLst>
                              <p:par>
                                <p:cTn id="6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100"/>
                            </p:stCondLst>
                            <p:childTnLst>
                              <p:par>
                                <p:cTn id="8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568" y="139700"/>
            <a:ext cx="5262864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٤</a:t>
            </a:r>
          </a:p>
        </p:txBody>
      </p:sp>
      <p:pic>
        <p:nvPicPr>
          <p:cNvPr id="5" name="tool_scissors" descr="tool_scissor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1435100"/>
            <a:ext cx="3556000" cy="2844800"/>
          </a:xfrm>
          <a:prstGeom prst="rect">
            <a:avLst/>
          </a:prstGeom>
        </p:spPr>
      </p:pic>
      <p:pic>
        <p:nvPicPr>
          <p:cNvPr id="6" name="leaf_open" descr="leaf_op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1917" y="1651000"/>
            <a:ext cx="3704167" cy="2667000"/>
          </a:xfrm>
          <a:prstGeom prst="rect">
            <a:avLst/>
          </a:prstGeom>
        </p:spPr>
      </p:pic>
      <p:sp>
        <p:nvSpPr>
          <p:cNvPr id="7" name="رقم 1"/>
          <p:cNvSpPr/>
          <p:nvPr/>
        </p:nvSpPr>
        <p:spPr>
          <a:xfrm>
            <a:off x="10985500" y="5016500"/>
            <a:ext cx="762000" cy="76200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7620" bIns="7620"/>
          <a:lstStyle/>
          <a:p>
            <a:pPr algn="ctr" rtl="1">
              <a:lnSpc>
                <a:spcPct val="100000"/>
              </a:lnSpc>
            </a:pPr>
            <a:r>
              <a:rPr sz="4800" b="1" lang="ar-SA">
                <a:solidFill>
                  <a:srgbClr val="FFFFFF"/>
                </a:solidFill>
                <a:latin typeface="Arial"/>
                <a:cs typeface="Arial"/>
              </a:rPr>
              <a:t>١</a:t>
            </a:r>
          </a:p>
        </p:txBody>
      </p:sp>
      <p:sp>
        <p:nvSpPr>
          <p:cNvPr id="8" name="الخطوة 1"/>
          <p:cNvSpPr/>
          <p:nvPr/>
        </p:nvSpPr>
        <p:spPr>
          <a:xfrm>
            <a:off x="508000" y="4699000"/>
            <a:ext cx="10350500" cy="1524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2E86DE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1E2A3A"/>
                </a:solidFill>
                <a:latin typeface="Arial"/>
                <a:cs typeface="Arial"/>
              </a:rPr>
              <a:t>أَقُصُّ الْمَنَاشِفَ الْوَرَقِيَّةَ عَلَى شَكْلِ وَرَقَتَيْ نَبَاتٍ.</a:t>
            </a:r>
          </a:p>
        </p:txBody>
      </p:sp>
      <p:sp>
        <p:nvSpPr>
          <p:cNvPr id="9" name="إطار صورة الكتاب"/>
          <p:cNvSpPr/>
          <p:nvPr/>
        </p:nvSpPr>
        <p:spPr>
          <a:xfrm>
            <a:off x="5934602" y="1428750"/>
            <a:ext cx="4767796" cy="304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2E86DE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صورة الكتاب" descr="صورة الخطوة ٢ من كتابي – صفحة ٩٧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23502" y="1517650"/>
            <a:ext cx="4589996" cy="2870200"/>
          </a:xfrm>
          <a:prstGeom prst="rect">
            <a:avLst/>
          </a:prstGeom>
        </p:spPr>
      </p:pic>
      <p:sp>
        <p:nvSpPr>
          <p:cNvPr id="11" name="تعليق صورة الكتاب"/>
          <p:cNvSpPr/>
          <p:nvPr/>
        </p:nvSpPr>
        <p:spPr>
          <a:xfrm>
            <a:off x="6422498" y="1276350"/>
            <a:ext cx="4279900" cy="2921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صورة الخطوة ٢ من كتابي – صفحة ٩٧</a:t>
            </a:r>
          </a:p>
        </p:txBody>
      </p:sp>
      <p:pic>
        <p:nvPicPr>
          <p:cNvPr id="12" name="leaf_rolled" descr="leaf_rolle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7806" y="1905000"/>
            <a:ext cx="3351389" cy="2413000"/>
          </a:xfrm>
          <a:prstGeom prst="rect">
            <a:avLst/>
          </a:prstGeom>
        </p:spPr>
      </p:pic>
      <p:sp>
        <p:nvSpPr>
          <p:cNvPr id="13" name="وسم الرسم"/>
          <p:cNvSpPr/>
          <p:nvPr/>
        </p:nvSpPr>
        <p:spPr>
          <a:xfrm>
            <a:off x="1651000" y="4191000"/>
            <a:ext cx="1905000" cy="25400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FFFFFF"/>
                </a:solidFill>
                <a:latin typeface="Arial"/>
                <a:cs typeface="Arial"/>
              </a:rPr>
              <a:t>رسم توضيحي</a:t>
            </a:r>
          </a:p>
        </p:txBody>
      </p:sp>
      <p:sp>
        <p:nvSpPr>
          <p:cNvPr id="14" name="رقم 2"/>
          <p:cNvSpPr/>
          <p:nvPr/>
        </p:nvSpPr>
        <p:spPr>
          <a:xfrm>
            <a:off x="10985500" y="5016500"/>
            <a:ext cx="762000" cy="76200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7620" bIns="7620"/>
          <a:lstStyle/>
          <a:p>
            <a:pPr algn="ctr" rtl="1">
              <a:lnSpc>
                <a:spcPct val="100000"/>
              </a:lnSpc>
            </a:pPr>
            <a:r>
              <a:rPr sz="4800" b="1" lang="ar-SA">
                <a:solidFill>
                  <a:srgbClr val="FFFFFF"/>
                </a:solidFill>
                <a:latin typeface="Arial"/>
                <a:cs typeface="Arial"/>
              </a:rPr>
              <a:t>٢</a:t>
            </a:r>
          </a:p>
        </p:txBody>
      </p:sp>
      <p:sp>
        <p:nvSpPr>
          <p:cNvPr id="15" name="الخطوة 2"/>
          <p:cNvSpPr/>
          <p:nvPr/>
        </p:nvSpPr>
        <p:spPr>
          <a:xfrm>
            <a:off x="508000" y="4699000"/>
            <a:ext cx="10350500" cy="1524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2E86DE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1E2A3A"/>
                </a:solidFill>
                <a:latin typeface="Arial"/>
                <a:cs typeface="Arial"/>
              </a:rPr>
              <a:t>أَلُفُّ وَاحِدَةً مِنَ الْوَرَقَتَيْنِ، وَأُلْصِقُ نِهَايَتَيْهَا لِتَبْقَى مُغْلَقَةً.</a:t>
            </a:r>
          </a:p>
        </p:txBody>
      </p:sp>
      <p:pic>
        <p:nvPicPr>
          <p:cNvPr id="16" name="tool_wrap" descr="tool_wrap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45000" y="2984500"/>
            <a:ext cx="3302000" cy="1651000"/>
          </a:xfrm>
          <a:prstGeom prst="rect">
            <a:avLst/>
          </a:prstGeom>
        </p:spPr>
      </p:pic>
      <p:pic>
        <p:nvPicPr>
          <p:cNvPr id="17" name="leaf_open" descr="leaf_op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8083" y="1778000"/>
            <a:ext cx="2645833" cy="1905000"/>
          </a:xfrm>
          <a:prstGeom prst="rect">
            <a:avLst/>
          </a:prstGeom>
        </p:spPr>
      </p:pic>
      <p:pic>
        <p:nvPicPr>
          <p:cNvPr id="18" name="leaf_rolled" descr="leaf_rolle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56278" y="1905000"/>
            <a:ext cx="2469444" cy="1778000"/>
          </a:xfrm>
          <a:prstGeom prst="rect">
            <a:avLst/>
          </a:prstGeom>
        </p:spPr>
      </p:pic>
      <p:pic>
        <p:nvPicPr>
          <p:cNvPr id="19" name="drop" descr="dro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07538" y="1333500"/>
            <a:ext cx="976923" cy="1270000"/>
          </a:xfrm>
          <a:prstGeom prst="rect">
            <a:avLst/>
          </a:prstGeom>
        </p:spPr>
      </p:pic>
      <p:pic>
        <p:nvPicPr>
          <p:cNvPr id="20" name="tool_water" descr="tool_water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6000" y="1524000"/>
            <a:ext cx="1397000" cy="2794000"/>
          </a:xfrm>
          <a:prstGeom prst="rect">
            <a:avLst/>
          </a:prstGeom>
        </p:spPr>
      </p:pic>
      <p:sp>
        <p:nvSpPr>
          <p:cNvPr id="21" name="رقم 3"/>
          <p:cNvSpPr/>
          <p:nvPr/>
        </p:nvSpPr>
        <p:spPr>
          <a:xfrm>
            <a:off x="10985500" y="5016500"/>
            <a:ext cx="762000" cy="76200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7620" bIns="7620"/>
          <a:lstStyle/>
          <a:p>
            <a:pPr algn="ctr" rtl="1">
              <a:lnSpc>
                <a:spcPct val="100000"/>
              </a:lnSpc>
            </a:pPr>
            <a:r>
              <a:rPr sz="4800" b="1" lang="ar-SA">
                <a:solidFill>
                  <a:srgbClr val="FFFFFF"/>
                </a:solidFill>
                <a:latin typeface="Arial"/>
                <a:cs typeface="Arial"/>
              </a:rPr>
              <a:t>٣</a:t>
            </a:r>
          </a:p>
        </p:txBody>
      </p:sp>
      <p:sp>
        <p:nvSpPr>
          <p:cNvPr id="22" name="الخطوة 3"/>
          <p:cNvSpPr/>
          <p:nvPr/>
        </p:nvSpPr>
        <p:spPr>
          <a:xfrm>
            <a:off x="508000" y="4699000"/>
            <a:ext cx="10350500" cy="1524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2E86DE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1E2A3A"/>
                </a:solidFill>
                <a:latin typeface="Arial"/>
                <a:cs typeface="Arial"/>
              </a:rPr>
              <a:t>أَضَعُ الْوَرَقَتَيْنِ عَلَى وَرَقِ التَّغْلِيفِ، وَأُبَلِّلُهُمَا بِالْمَاءِ.</a:t>
            </a:r>
          </a:p>
        </p:txBody>
      </p:sp>
      <p:pic>
        <p:nvPicPr>
          <p:cNvPr id="23" name="clock_face" descr="clock_fac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26000" y="1270000"/>
            <a:ext cx="2667000" cy="2667000"/>
          </a:xfrm>
          <a:prstGeom prst="rect">
            <a:avLst/>
          </a:prstGeom>
        </p:spPr>
      </p:pic>
      <p:pic>
        <p:nvPicPr>
          <p:cNvPr id="24" name="leaf_open" descr="leaf_op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42792" y="2095500"/>
            <a:ext cx="2910417" cy="2095500"/>
          </a:xfrm>
          <a:prstGeom prst="rect">
            <a:avLst/>
          </a:prstGeom>
        </p:spPr>
      </p:pic>
      <p:pic>
        <p:nvPicPr>
          <p:cNvPr id="25" name="leaf_rolled" descr="leaf_rolle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98083" y="2159000"/>
            <a:ext cx="2645833" cy="1905000"/>
          </a:xfrm>
          <a:prstGeom prst="rect">
            <a:avLst/>
          </a:prstGeom>
        </p:spPr>
      </p:pic>
      <p:sp>
        <p:nvSpPr>
          <p:cNvPr id="26" name="رقم 4"/>
          <p:cNvSpPr/>
          <p:nvPr/>
        </p:nvSpPr>
        <p:spPr>
          <a:xfrm>
            <a:off x="10985500" y="5016500"/>
            <a:ext cx="762000" cy="76200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7620" bIns="7620"/>
          <a:lstStyle/>
          <a:p>
            <a:pPr algn="ctr" rtl="1">
              <a:lnSpc>
                <a:spcPct val="100000"/>
              </a:lnSpc>
            </a:pPr>
            <a:r>
              <a:rPr sz="4800" b="1" lang="ar-SA">
                <a:solidFill>
                  <a:srgbClr val="FFFFFF"/>
                </a:solidFill>
                <a:latin typeface="Arial"/>
                <a:cs typeface="Arial"/>
              </a:rPr>
              <a:t>٤</a:t>
            </a:r>
          </a:p>
        </p:txBody>
      </p:sp>
      <p:sp>
        <p:nvSpPr>
          <p:cNvPr id="27" name="الخطوة 4"/>
          <p:cNvSpPr/>
          <p:nvPr/>
        </p:nvSpPr>
        <p:spPr>
          <a:xfrm>
            <a:off x="508000" y="4699000"/>
            <a:ext cx="10350500" cy="1524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2E86DE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E8505B"/>
                </a:solidFill>
                <a:latin typeface="Arial"/>
                <a:cs typeface="Arial"/>
              </a:rPr>
              <a:t>أُلَاحِظُ. </a:t>
            </a:r>
            <a:r>
              <a:rPr sz="3400" b="1" lang="ar-SA">
                <a:solidFill>
                  <a:srgbClr val="1E2A3A"/>
                </a:solidFill>
                <a:latin typeface="Arial"/>
                <a:cs typeface="Arial"/>
              </a:rPr>
              <a:t>أَتَفَحَّصُ الْوَرَقَتَيْنِ كُلَّ ١٥ دَقِيقَةً. أَيُّهُمَا بَقِيَتْ رَطْبَةً مُدَّةً أَطْوَلَ؟</a:t>
            </a:r>
          </a:p>
        </p:txBody>
      </p:sp>
      <p:sp>
        <p:nvSpPr>
          <p:cNvPr id="28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29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٩٧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push dir="l"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0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44" display="0" masterRel="sameClick">
                                          <p:stCondLst>
                                            <p:cond evt="onBegin" delay="0">
                                              <p:tn val="39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00"/>
                            </p:stCondLst>
                            <p:childTnLst>
                              <p:par>
                                <p:cTn id="10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10" display="0" masterRel="sameClick">
                                          <p:stCondLst>
                                            <p:cond evt="onBegin" delay="0">
                                              <p:tn val="105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00"/>
                            </p:stCondLst>
                            <p:childTnLst>
                              <p:par>
                                <p:cTn id="16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68" display="0" masterRel="sameClick">
                                          <p:stCondLst>
                                            <p:cond evt="onBegin" delay="0">
                                              <p:tn val="163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6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4" grpId="0" animBg="1"/>
      <p:bldP spid="15" grpId="0" animBg="1"/>
      <p:bldP spid="21" grpId="0" animBg="1"/>
      <p:bldP spid="22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568" y="139700"/>
            <a:ext cx="5262864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٤</a:t>
            </a:r>
          </a:p>
        </p:txBody>
      </p:sp>
      <p:pic>
        <p:nvPicPr>
          <p:cNvPr id="5" name="ساعة المؤقت" descr="clock_fa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500" y="1365250"/>
            <a:ext cx="2667000" cy="2667000"/>
          </a:xfrm>
          <a:prstGeom prst="rect">
            <a:avLst/>
          </a:prstGeom>
        </p:spPr>
      </p:pic>
      <p:pic>
        <p:nvPicPr>
          <p:cNvPr id="6" name="عقرب المؤقت" descr="clock_han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365250"/>
            <a:ext cx="2667000" cy="2667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8500" y="4191000"/>
            <a:ext cx="3175000" cy="317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8" name="شريط المؤقت"/>
          <p:cNvSpPr/>
          <p:nvPr/>
        </p:nvSpPr>
        <p:spPr>
          <a:xfrm>
            <a:off x="742950" y="4235450"/>
            <a:ext cx="3086100" cy="228600"/>
          </a:xfrm>
          <a:prstGeom prst="roundRect">
            <a:avLst>
              <a:gd name="adj" fmla="val 50000"/>
            </a:avLst>
          </a:prstGeom>
          <a:solidFill>
            <a:srgbClr val="FF8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4559300"/>
            <a:ext cx="3810000" cy="381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2400" b="1" lang="ar-SA">
                <a:solidFill>
                  <a:srgbClr val="1E2A3A"/>
                </a:solidFill>
                <a:latin typeface="Arial"/>
                <a:cs typeface="Arial"/>
              </a:rPr>
              <a:t>مؤقت الملاحظة: ٣ دقائق</a:t>
            </a:r>
          </a:p>
        </p:txBody>
      </p:sp>
      <p:sp>
        <p:nvSpPr>
          <p:cNvPr id="10" name="زر المؤقت"/>
          <p:cNvSpPr/>
          <p:nvPr/>
        </p:nvSpPr>
        <p:spPr>
          <a:xfrm>
            <a:off x="762000" y="5016500"/>
            <a:ext cx="3048000" cy="6350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 w="508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FFFFFF"/>
                </a:solidFill>
                <a:latin typeface="Arial"/>
                <a:cs typeface="Arial"/>
              </a:rPr>
              <a:t>ابدئي المؤقت</a:t>
            </a:r>
          </a:p>
        </p:txBody>
      </p:sp>
      <p:sp>
        <p:nvSpPr>
          <p:cNvPr id="11" name="الورقة المفتوحة"/>
          <p:cNvSpPr/>
          <p:nvPr/>
        </p:nvSpPr>
        <p:spPr>
          <a:xfrm>
            <a:off x="8445500" y="1397000"/>
            <a:ext cx="3429000" cy="254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الورقة المفتوحة" descr="leaf_ope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7083" y="1492250"/>
            <a:ext cx="2645833" cy="1905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72500" y="3429000"/>
            <a:ext cx="3175000" cy="4191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الورقة المفتوحة</a:t>
            </a:r>
          </a:p>
        </p:txBody>
      </p:sp>
      <p:sp>
        <p:nvSpPr>
          <p:cNvPr id="14" name="الورقة الملفوفة"/>
          <p:cNvSpPr/>
          <p:nvPr/>
        </p:nvSpPr>
        <p:spPr>
          <a:xfrm>
            <a:off x="4826000" y="1397000"/>
            <a:ext cx="3429000" cy="254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الورقة الملفوفة" descr="leaf_rolle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7583" y="1492250"/>
            <a:ext cx="2645833" cy="1905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53000" y="3429000"/>
            <a:ext cx="3175000" cy="4191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الورقة الملفوفة</a:t>
            </a:r>
          </a:p>
        </p:txBody>
      </p:sp>
      <p:sp>
        <p:nvSpPr>
          <p:cNvPr id="17" name="سؤال الملاحظة"/>
          <p:cNvSpPr/>
          <p:nvPr/>
        </p:nvSpPr>
        <p:spPr>
          <a:xfrm>
            <a:off x="4445000" y="4127500"/>
            <a:ext cx="7493000" cy="762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E8505B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600" b="1" lang="ar-SA">
                <a:solidFill>
                  <a:srgbClr val="E8505B"/>
                </a:solidFill>
                <a:latin typeface="Arial"/>
                <a:cs typeface="Arial"/>
              </a:rPr>
              <a:t>أُلَاحِظُ: </a:t>
            </a:r>
            <a:r>
              <a:rPr sz="3600" b="1" lang="ar-SA">
                <a:solidFill>
                  <a:srgbClr val="1E2A3A"/>
                </a:solidFill>
                <a:latin typeface="Arial"/>
                <a:cs typeface="Arial"/>
              </a:rPr>
              <a:t>أَيُّهُمَا بَقِيَتْ رَطْبَةً مُدَّةً أَطْوَلَ؟</a:t>
            </a:r>
          </a:p>
        </p:txBody>
      </p:sp>
      <p:sp>
        <p:nvSpPr>
          <p:cNvPr id="18" name="إجابة الملاحظة"/>
          <p:cNvSpPr/>
          <p:nvPr/>
        </p:nvSpPr>
        <p:spPr>
          <a:xfrm>
            <a:off x="4445000" y="5080000"/>
            <a:ext cx="7493000" cy="698500"/>
          </a:xfrm>
          <a:prstGeom prst="roundRect">
            <a:avLst>
              <a:gd name="adj" fmla="val 18000"/>
            </a:avLst>
          </a:prstGeom>
          <a:solidFill>
            <a:srgbClr val="27AE60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400" b="1" lang="ar-SA">
                <a:solidFill>
                  <a:srgbClr val="FFFFFF"/>
                </a:solidFill>
                <a:latin typeface="Arial"/>
                <a:cs typeface="Arial"/>
              </a:rPr>
              <a:t>الورقة الملفوفة بقيت رطبة مدة أطول.</a:t>
            </a:r>
          </a:p>
        </p:txBody>
      </p:sp>
      <p:pic>
        <p:nvPicPr>
          <p:cNvPr id="19" name="نجمة" descr="st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66500" y="4953000"/>
            <a:ext cx="698500" cy="698500"/>
          </a:xfrm>
          <a:prstGeom prst="rect">
            <a:avLst/>
          </a:prstGeom>
        </p:spPr>
      </p:pic>
      <p:sp>
        <p:nvSpPr>
          <p:cNvPr id="20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21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٩٧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18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22" presetClass="exit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180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179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23" display="0" masterRel="sameClick">
                                          <p:stCondLst>
                                            <p:cond evt="onBegin" delay="0">
                                              <p:tn val="18"/>
                                            </p:cond>
                                          </p:stCondLst>
                                        </p:cTn>
                                        <p:tgtEl>
                                          <p:sndTgt r:embed="rId10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4568" y="139700"/>
            <a:ext cx="5262864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9000" y="1244600"/>
            <a:ext cx="3429000" cy="5334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أَسْتَكْشِفُ أَكْثَرَ</a:t>
            </a:r>
          </a:p>
        </p:txBody>
      </p:sp>
      <p:sp>
        <p:nvSpPr>
          <p:cNvPr id="6" name="سؤال أستخلص النتائج"/>
          <p:cNvSpPr/>
          <p:nvPr/>
        </p:nvSpPr>
        <p:spPr>
          <a:xfrm>
            <a:off x="1016000" y="1841500"/>
            <a:ext cx="10922000" cy="127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2E86DE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600" b="1" lang="ar-SA">
                <a:solidFill>
                  <a:srgbClr val="E8505B"/>
                </a:solidFill>
                <a:latin typeface="Arial"/>
                <a:cs typeface="Arial"/>
              </a:rPr>
              <a:t>٥ أَسْتَخْلِصُ النَّتَائِجَ. </a:t>
            </a:r>
            <a:r>
              <a:rPr sz="3600" b="1" lang="ar-SA">
                <a:solidFill>
                  <a:srgbClr val="1E2A3A"/>
                </a:solidFill>
                <a:latin typeface="Arial"/>
                <a:cs typeface="Arial"/>
              </a:rPr>
              <a:t>أَيُّ أَنْوَاعِ الْأَوْرَاقِ يُمْكِنُ أَنْ أَجِدَهَا فِي الصَّحْرَاءِ أَوِ الْمَوَاطِنِ الْجَافَّةِ؟</a:t>
            </a:r>
          </a:p>
        </p:txBody>
      </p:sp>
      <p:sp>
        <p:nvSpPr>
          <p:cNvPr id="7" name="إجابة أستخلص النتائج"/>
          <p:cNvSpPr/>
          <p:nvPr/>
        </p:nvSpPr>
        <p:spPr>
          <a:xfrm>
            <a:off x="635000" y="3270250"/>
            <a:ext cx="11303000" cy="1016000"/>
          </a:xfrm>
          <a:prstGeom prst="roundRect">
            <a:avLst>
              <a:gd name="adj" fmla="val 18000"/>
            </a:avLst>
          </a:prstGeom>
          <a:solidFill>
            <a:srgbClr val="27AE60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أوراق صغيرة أو ملفوفة أو سميكة؛ تحافظ على الماء ولا تفقده بسرعة.</a:t>
            </a:r>
          </a:p>
        </p:txBody>
      </p:sp>
      <p:pic>
        <p:nvPicPr>
          <p:cNvPr id="8" name="نجمة" descr="sta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66500" y="3111500"/>
            <a:ext cx="698500" cy="698500"/>
          </a:xfrm>
          <a:prstGeom prst="rect">
            <a:avLst/>
          </a:prstGeom>
        </p:spPr>
      </p:pic>
      <p:pic>
        <p:nvPicPr>
          <p:cNvPr id="9" name="cactus" descr="cactu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462" y="4318000"/>
            <a:ext cx="1563077" cy="2032000"/>
          </a:xfrm>
          <a:prstGeom prst="rect">
            <a:avLst/>
          </a:prstGeom>
        </p:spPr>
      </p:pic>
      <p:pic>
        <p:nvPicPr>
          <p:cNvPr id="10" name="leaf_rolled" descr="leaf_roll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9264" y="4826000"/>
            <a:ext cx="2028472" cy="1460500"/>
          </a:xfrm>
          <a:prstGeom prst="rect">
            <a:avLst/>
          </a:prstGeom>
        </p:spPr>
      </p:pic>
      <p:pic>
        <p:nvPicPr>
          <p:cNvPr id="11" name="grass" descr="gras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000" y="4483100"/>
            <a:ext cx="2286000" cy="1828800"/>
          </a:xfrm>
          <a:prstGeom prst="rect">
            <a:avLst/>
          </a:prstGeom>
        </p:spPr>
      </p:pic>
      <p:sp>
        <p:nvSpPr>
          <p:cNvPr id="12" name="وسم الرسم"/>
          <p:cNvSpPr/>
          <p:nvPr/>
        </p:nvSpPr>
        <p:spPr>
          <a:xfrm>
            <a:off x="5461000" y="4445000"/>
            <a:ext cx="1905000" cy="25400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FFFFFF"/>
                </a:solidFill>
                <a:latin typeface="Arial"/>
                <a:cs typeface="Arial"/>
              </a:rPr>
              <a:t>رسوم توضيحية</a:t>
            </a:r>
          </a:p>
        </p:txBody>
      </p:sp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٩٧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5" display="0" masterRel="sameClick">
                                          <p:stCondLst>
                                            <p:cond evt="onBegin" delay="0">
                                              <p:tn val="10"/>
                                            </p:cond>
                                          </p:stCondLst>
                                        </p:cTn>
                                        <p:tgtEl>
                                          <p:sndTgt r:embed="rId9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99" y="139700"/>
            <a:ext cx="3706202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٤</a:t>
            </a:r>
          </a:p>
        </p:txBody>
      </p:sp>
      <p:sp>
        <p:nvSpPr>
          <p:cNvPr id="5" name="الورقة المفتوحة"/>
          <p:cNvSpPr/>
          <p:nvPr/>
        </p:nvSpPr>
        <p:spPr>
          <a:xfrm>
            <a:off x="6286500" y="1270000"/>
            <a:ext cx="5334000" cy="2095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leaf_open" descr="leaf_op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8500" y="1631950"/>
            <a:ext cx="190500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81750" y="1365250"/>
            <a:ext cx="3238500" cy="1905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E67E22"/>
                </a:solidFill>
                <a:latin typeface="Arial"/>
                <a:cs typeface="Arial"/>
              </a:rPr>
              <a:t>الورقة المفتوحة</a:t>
            </a:r>
          </a:p>
          <a:p>
            <a:pPr algn="r" rtl="1">
              <a:lnSpc>
                <a:spcPct val="100000"/>
              </a:lnSpc>
            </a:pPr>
            <a:r>
              <a:rPr sz="2900" b="1" lang="ar-SA">
                <a:solidFill>
                  <a:srgbClr val="1E2A3A"/>
                </a:solidFill>
                <a:latin typeface="Arial"/>
                <a:cs typeface="Arial"/>
              </a:rPr>
              <a:t>يجف الماء منها بسرعة.</a:t>
            </a:r>
          </a:p>
        </p:txBody>
      </p:sp>
      <p:sp>
        <p:nvSpPr>
          <p:cNvPr id="8" name="الورقة الملفوفة"/>
          <p:cNvSpPr/>
          <p:nvPr/>
        </p:nvSpPr>
        <p:spPr>
          <a:xfrm>
            <a:off x="571500" y="1270000"/>
            <a:ext cx="5334000" cy="2095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50800">
            <a:solidFill>
              <a:srgbClr val="27AE60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leaf_rolled" descr="leaf_rolle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500" y="1631950"/>
            <a:ext cx="19050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6750" y="1365250"/>
            <a:ext cx="3238500" cy="1905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27AE60"/>
                </a:solidFill>
                <a:latin typeface="Arial"/>
                <a:cs typeface="Arial"/>
              </a:rPr>
              <a:t>الورقة الملفوفة</a:t>
            </a:r>
          </a:p>
          <a:p>
            <a:pPr algn="r" rtl="1">
              <a:lnSpc>
                <a:spcPct val="100000"/>
              </a:lnSpc>
            </a:pPr>
            <a:r>
              <a:rPr sz="2900" b="1" lang="ar-SA">
                <a:solidFill>
                  <a:srgbClr val="1E2A3A"/>
                </a:solidFill>
                <a:latin typeface="Arial"/>
                <a:cs typeface="Arial"/>
              </a:rPr>
              <a:t>تحتفظ بالماء مدة أطول.</a:t>
            </a:r>
          </a:p>
        </p:txBody>
      </p:sp>
      <p:sp>
        <p:nvSpPr>
          <p:cNvPr id="11" name="النتيجة"/>
          <p:cNvSpPr/>
          <p:nvPr/>
        </p:nvSpPr>
        <p:spPr>
          <a:xfrm>
            <a:off x="381000" y="3556000"/>
            <a:ext cx="11430000" cy="952500"/>
          </a:xfrm>
          <a:prstGeom prst="roundRect">
            <a:avLst>
              <a:gd name="adj" fmla="val 18000"/>
            </a:avLst>
          </a:prstGeom>
          <a:solidFill>
            <a:srgbClr val="16A085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النتيجة: شكل الورقة يساعد النبات على المحافظة على الماء.</a:t>
            </a:r>
          </a:p>
        </p:txBody>
      </p:sp>
      <p:sp>
        <p:nvSpPr>
          <p:cNvPr id="12" name="الربط بالصحراء"/>
          <p:cNvSpPr/>
          <p:nvPr/>
        </p:nvSpPr>
        <p:spPr>
          <a:xfrm>
            <a:off x="571500" y="4667250"/>
            <a:ext cx="11049000" cy="1397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16A085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لذلك تكون أوراق كثير من نباتات الصحراء صغيرة أو ملفوفة أو سميكة؛ لتفقد كمية أقل من الماء.</a:t>
            </a:r>
          </a:p>
        </p:txBody>
      </p:sp>
      <p:pic>
        <p:nvPicPr>
          <p:cNvPr id="13" name="قطرة ماء" descr="drop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5500" y="3429000"/>
            <a:ext cx="698500" cy="908050"/>
          </a:xfrm>
          <a:prstGeom prst="rect">
            <a:avLst/>
          </a:prstGeom>
        </p:spPr>
      </p:pic>
      <p:sp>
        <p:nvSpPr>
          <p:cNvPr id="14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5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٩٧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5" display="0" masterRel="sameClick">
                                          <p:stCondLst>
                                            <p:cond evt="onBegin" delay="0">
                                              <p:tn val="10"/>
                                            </p:cond>
                                          </p:stCondLst>
                                        </p:cTn>
                                        <p:tgtEl>
                                          <p:sndTgt r:embed="rId8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ظلام الليل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E4A">
              <a:alpha val="5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4" name="الشمس" descr="su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079500"/>
            <a:ext cx="1651000" cy="1651000"/>
          </a:xfrm>
          <a:prstGeom prst="rect">
            <a:avLst/>
          </a:prstGeom>
        </p:spPr>
      </p:pic>
      <p:pic>
        <p:nvPicPr>
          <p:cNvPr id="5" name="القمر" descr="mo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143000"/>
            <a:ext cx="1460500" cy="1460500"/>
          </a:xfrm>
          <a:prstGeom prst="rect">
            <a:avLst/>
          </a:prstGeom>
        </p:spPr>
      </p:pic>
      <p:pic>
        <p:nvPicPr>
          <p:cNvPr id="6" name="عنوان" descr="عنوان المحط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4391" y="139700"/>
            <a:ext cx="5903219" cy="952500"/>
          </a:xfrm>
          <a:prstGeom prst="rect">
            <a:avLst/>
          </a:prstGeom>
        </p:spPr>
      </p:pic>
      <p:sp>
        <p:nvSpPr>
          <p:cNvPr id="7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٥</a:t>
            </a:r>
          </a:p>
        </p:txBody>
      </p:sp>
      <p:sp>
        <p:nvSpPr>
          <p:cNvPr id="8" name="معلومة 1"/>
          <p:cNvSpPr/>
          <p:nvPr/>
        </p:nvSpPr>
        <p:spPr>
          <a:xfrm>
            <a:off x="5461000" y="1301750"/>
            <a:ext cx="6477000" cy="88900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0" tIns="53340" bIns="53340"/>
          <a:lstStyle/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موطن جاف، أمطاره قليلة جدًا.</a:t>
            </a:r>
          </a:p>
        </p:txBody>
      </p:sp>
      <p:pic>
        <p:nvPicPr>
          <p:cNvPr id="9" name="رمز 1" descr="drop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93096" y="1390650"/>
            <a:ext cx="537308" cy="698500"/>
          </a:xfrm>
          <a:prstGeom prst="rect">
            <a:avLst/>
          </a:prstGeom>
        </p:spPr>
      </p:pic>
      <p:sp>
        <p:nvSpPr>
          <p:cNvPr id="10" name="معلومة 2"/>
          <p:cNvSpPr/>
          <p:nvPr/>
        </p:nvSpPr>
        <p:spPr>
          <a:xfrm>
            <a:off x="5461000" y="2317750"/>
            <a:ext cx="6477000" cy="88900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0" tIns="53340" bIns="53340"/>
          <a:lstStyle/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حارة نهارًا، وباردة ليلًا.</a:t>
            </a:r>
          </a:p>
        </p:txBody>
      </p:sp>
      <p:pic>
        <p:nvPicPr>
          <p:cNvPr id="11" name="رمز 2" descr="su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2500" y="2406650"/>
            <a:ext cx="698500" cy="698500"/>
          </a:xfrm>
          <a:prstGeom prst="rect">
            <a:avLst/>
          </a:prstGeom>
        </p:spPr>
      </p:pic>
      <p:sp>
        <p:nvSpPr>
          <p:cNvPr id="12" name="معلومة 3"/>
          <p:cNvSpPr/>
          <p:nvPr/>
        </p:nvSpPr>
        <p:spPr>
          <a:xfrm>
            <a:off x="5461000" y="3333750"/>
            <a:ext cx="6477000" cy="88900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0" tIns="53340" bIns="53340"/>
          <a:lstStyle/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تربتها رملية وصخرية.</a:t>
            </a:r>
          </a:p>
        </p:txBody>
      </p:sp>
      <p:pic>
        <p:nvPicPr>
          <p:cNvPr id="13" name="رمز 3" descr="gras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12500" y="3492500"/>
            <a:ext cx="698500" cy="558800"/>
          </a:xfrm>
          <a:prstGeom prst="rect">
            <a:avLst/>
          </a:prstGeom>
        </p:spPr>
      </p:pic>
      <p:sp>
        <p:nvSpPr>
          <p:cNvPr id="14" name="معلومة 4"/>
          <p:cNvSpPr/>
          <p:nvPr/>
        </p:nvSpPr>
        <p:spPr>
          <a:xfrm>
            <a:off x="5461000" y="4349750"/>
            <a:ext cx="6477000" cy="88900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0" tIns="53340" bIns="53340"/>
          <a:lstStyle/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تنمو فيها نباتات الصبار والأعشاب.</a:t>
            </a:r>
          </a:p>
        </p:txBody>
      </p:sp>
      <p:pic>
        <p:nvPicPr>
          <p:cNvPr id="15" name="رمز 4" descr="cactu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93096" y="4438650"/>
            <a:ext cx="537308" cy="698500"/>
          </a:xfrm>
          <a:prstGeom prst="rect">
            <a:avLst/>
          </a:prstGeom>
        </p:spPr>
      </p:pic>
      <p:pic>
        <p:nvPicPr>
          <p:cNvPr id="16" name="!!noura" descr="المستكشفة نورة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84500" y="3556000"/>
            <a:ext cx="1989667" cy="2984500"/>
          </a:xfrm>
          <a:prstGeom prst="rect">
            <a:avLst/>
          </a:prstGeom>
        </p:spPr>
      </p:pic>
      <p:sp>
        <p:nvSpPr>
          <p:cNvPr id="17" name="فقاعة نورة"/>
          <p:cNvSpPr/>
          <p:nvPr/>
        </p:nvSpPr>
        <p:spPr>
          <a:xfrm>
            <a:off x="381000" y="3302000"/>
            <a:ext cx="2540000" cy="1270000"/>
          </a:xfrm>
          <a:prstGeom prst="wedgeRoundRectCallout">
            <a:avLst>
              <a:gd name="adj1" fmla="val 65000"/>
              <a:gd name="adj2" fmla="val 30000"/>
              <a:gd name="adj3" fmla="val 16667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 rtl="1"/>
            <a:r>
              <a:rPr sz="2800" b="1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هل تمطر السماء هنا كثيرًا؟</a:t>
            </a:r>
          </a:p>
        </p:txBody>
      </p:sp>
      <p:sp>
        <p:nvSpPr>
          <p:cNvPr id="18" name="زر النهار"/>
          <p:cNvSpPr/>
          <p:nvPr/>
        </p:nvSpPr>
        <p:spPr>
          <a:xfrm>
            <a:off x="508000" y="5270500"/>
            <a:ext cx="1270000" cy="5715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508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7A4A10"/>
                </a:solidFill>
                <a:latin typeface="Arial"/>
                <a:cs typeface="Arial"/>
              </a:rPr>
              <a:t>النهار</a:t>
            </a:r>
          </a:p>
        </p:txBody>
      </p:sp>
      <p:sp>
        <p:nvSpPr>
          <p:cNvPr id="19" name="زر الليل"/>
          <p:cNvSpPr/>
          <p:nvPr/>
        </p:nvSpPr>
        <p:spPr>
          <a:xfrm>
            <a:off x="1905000" y="5270500"/>
            <a:ext cx="1270000" cy="571500"/>
          </a:xfrm>
          <a:prstGeom prst="roundRect">
            <a:avLst>
              <a:gd name="adj" fmla="val 50000"/>
            </a:avLst>
          </a:prstGeom>
          <a:solidFill>
            <a:srgbClr val="2C3E7A"/>
          </a:solidFill>
          <a:ln w="508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FFFFFF"/>
                </a:solidFill>
                <a:latin typeface="Arial"/>
                <a:cs typeface="Arial"/>
              </a:rPr>
              <a:t>الليل</a:t>
            </a:r>
          </a:p>
        </p:txBody>
      </p:sp>
      <p:pic>
        <p:nvPicPr>
          <p:cNvPr id="20" name="البوابة الرملية" descr="sand_gate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22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٩٨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600">
        <p14:flythrough/>
        <p:sndAc>
          <p:stSnd>
            <p:snd r:embed="rId12" name="desert_wind.wav"/>
          </p:stSnd>
        </p:sndAc>
      </p:transition>
    </mc:Choice>
    <mc:Fallback>
      <p:transition spd="slow">
        <p:zoom/>
        <p:sndAc>
          <p:stSnd>
            <p:snd r:embed="rId12" name="desert_wind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1800" fill="hold"/>
                                        <p:tgtEl>
                                          <p:spTgt spid="20"/>
                                        </p:tgtEl>
                                      </p:cBhvr>
                                      <p:by x="400000" y="400000"/>
                                    </p:animScale>
                                    <p:animEffect transition="out" filter="fade">
                                      <p:cBhvr>
                                        <p:cTn id="7" dur="18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17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"/>
                            </p:stCondLst>
                            <p:childTnLst>
                              <p:par>
                                <p:cTn id="2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"/>
                            </p:stCondLst>
                            <p:childTnLst>
                              <p:par>
                                <p:cTn id="4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"/>
                            </p:stCondLst>
                            <p:childTnLst>
                              <p:par>
                                <p:cTn id="5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0.5000 E" pathEditMode="relative" ptsTypes="">
                                      <p:cBhvr>
                                        <p:cTn id="64" dur="12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00"/>
                            </p:stCondLst>
                            <p:childTnLst>
                              <p:par>
                                <p:cTn id="6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11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5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1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0" presetClass="path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00 -0.5000 E" pathEditMode="relative" ptsTypes="">
                                      <p:cBhvr>
                                        <p:cTn id="85" dur="12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  <p:bldP spid="14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012" y="139700"/>
            <a:ext cx="4467977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٥</a:t>
            </a:r>
          </a:p>
        </p:txBody>
      </p:sp>
      <p:sp>
        <p:nvSpPr>
          <p:cNvPr id="5" name="بطاقة الصحراء الحارة"/>
          <p:cNvSpPr/>
          <p:nvPr/>
        </p:nvSpPr>
        <p:spPr>
          <a:xfrm>
            <a:off x="6350000" y="1397000"/>
            <a:ext cx="5080000" cy="4889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مفردة الصحراء الحارة"/>
          <p:cNvSpPr/>
          <p:nvPr/>
        </p:nvSpPr>
        <p:spPr>
          <a:xfrm>
            <a:off x="6731000" y="1587500"/>
            <a:ext cx="4318000" cy="6985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4200" b="1" lang="ar-SA">
                <a:solidFill>
                  <a:srgbClr val="FFFFFF"/>
                </a:solidFill>
                <a:latin typeface="Arial"/>
                <a:cs typeface="Arial"/>
              </a:rPr>
              <a:t>الصحراء الحارة</a:t>
            </a:r>
          </a:p>
        </p:txBody>
      </p:sp>
      <p:pic>
        <p:nvPicPr>
          <p:cNvPr id="7" name="الصحراء الحارة" descr="cactu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7308" y="2413000"/>
            <a:ext cx="1465385" cy="1905000"/>
          </a:xfrm>
          <a:prstGeom prst="rect">
            <a:avLst/>
          </a:prstGeom>
        </p:spPr>
      </p:pic>
      <p:sp>
        <p:nvSpPr>
          <p:cNvPr id="8" name="معنى الصحراء الحارة"/>
          <p:cNvSpPr/>
          <p:nvPr/>
        </p:nvSpPr>
        <p:spPr>
          <a:xfrm>
            <a:off x="6540500" y="4445000"/>
            <a:ext cx="4699000" cy="1714500"/>
          </a:xfrm>
          <a:prstGeom prst="roundRect">
            <a:avLst>
              <a:gd name="adj" fmla="val 18000"/>
            </a:avLst>
          </a:prstGeom>
          <a:solidFill>
            <a:srgbClr val="FFF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موطن جاف، أمطاره قليلة جدًا.</a:t>
            </a:r>
          </a:p>
        </p:txBody>
      </p:sp>
      <p:sp>
        <p:nvSpPr>
          <p:cNvPr id="9" name="بطاقة المنطقة القطبية"/>
          <p:cNvSpPr/>
          <p:nvPr/>
        </p:nvSpPr>
        <p:spPr>
          <a:xfrm>
            <a:off x="762000" y="1397000"/>
            <a:ext cx="5080000" cy="4889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2E86DE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مفردة المنطقة القطبية"/>
          <p:cNvSpPr/>
          <p:nvPr/>
        </p:nvSpPr>
        <p:spPr>
          <a:xfrm>
            <a:off x="1143000" y="1587500"/>
            <a:ext cx="4318000" cy="6985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4200" b="1" lang="ar-SA">
                <a:solidFill>
                  <a:srgbClr val="FFFFFF"/>
                </a:solidFill>
                <a:latin typeface="Arial"/>
                <a:cs typeface="Arial"/>
              </a:rPr>
              <a:t>المنطقة القطبية</a:t>
            </a:r>
          </a:p>
        </p:txBody>
      </p:sp>
      <p:pic>
        <p:nvPicPr>
          <p:cNvPr id="11" name="المنطقة القطبية" descr="an_fox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5571" y="2413000"/>
            <a:ext cx="1632857" cy="1905000"/>
          </a:xfrm>
          <a:prstGeom prst="rect">
            <a:avLst/>
          </a:prstGeom>
        </p:spPr>
      </p:pic>
      <p:sp>
        <p:nvSpPr>
          <p:cNvPr id="12" name="معنى المنطقة القطبية"/>
          <p:cNvSpPr/>
          <p:nvPr/>
        </p:nvSpPr>
        <p:spPr>
          <a:xfrm>
            <a:off x="952500" y="4445000"/>
            <a:ext cx="4699000" cy="1714500"/>
          </a:xfrm>
          <a:prstGeom prst="roundRect">
            <a:avLst>
              <a:gd name="adj" fmla="val 18000"/>
            </a:avLst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صحراء باردة جافة، تقع بالقرب من القطب الشمالي.</a:t>
            </a:r>
          </a:p>
        </p:txBody>
      </p:sp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٩٨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400">
        <p14:gallery dir="l"/>
      </p:transition>
    </mc:Choice>
    <mc:Fallback>
      <p:transition spd="slow">
        <p:push dir="l"/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9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7" display="0" masterRel="sameClick">
                                          <p:stCondLst>
                                            <p:cond evt="onBegin" delay="0">
                                              <p:tn val="13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179" y="139700"/>
            <a:ext cx="2625641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٦</a:t>
            </a:r>
          </a:p>
        </p:txBody>
      </p:sp>
      <p:pic>
        <p:nvPicPr>
          <p:cNvPr id="5" name="!!plant" descr="نبات صحراوي وجذوره تحت التربة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00" y="1270000"/>
            <a:ext cx="4318000" cy="4677833"/>
          </a:xfrm>
          <a:prstGeom prst="rect">
            <a:avLst/>
          </a:prstGeom>
        </p:spPr>
      </p:pic>
      <p:sp>
        <p:nvSpPr>
          <p:cNvPr id="6" name="وسم الرسم"/>
          <p:cNvSpPr/>
          <p:nvPr/>
        </p:nvSpPr>
        <p:spPr>
          <a:xfrm>
            <a:off x="1714500" y="6032500"/>
            <a:ext cx="1778000" cy="25400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FFFFFF"/>
                </a:solidFill>
                <a:latin typeface="Arial"/>
                <a:cs typeface="Arial"/>
              </a:rPr>
              <a:t>رسم توضيحي</a:t>
            </a:r>
          </a:p>
        </p:txBody>
      </p:sp>
      <p:sp>
        <p:nvSpPr>
          <p:cNvPr id="7" name="صفة 1"/>
          <p:cNvSpPr/>
          <p:nvPr/>
        </p:nvSpPr>
        <p:spPr>
          <a:xfrm>
            <a:off x="5080000" y="1301750"/>
            <a:ext cx="6858000" cy="149225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27AE60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952500" tIns="53340" bIns="53340"/>
          <a:lstStyle/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جعل الله تعالى للنباتات الصحراوية سيقانًا وأوراقًا تستطيع أن تخزن الماء.</a:t>
            </a:r>
          </a:p>
        </p:txBody>
      </p:sp>
      <p:pic>
        <p:nvPicPr>
          <p:cNvPr id="8" name="رمز 1" descr="dro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3260" y="1682750"/>
            <a:ext cx="561731" cy="730250"/>
          </a:xfrm>
          <a:prstGeom prst="rect">
            <a:avLst/>
          </a:prstGeom>
        </p:spPr>
      </p:pic>
      <p:sp>
        <p:nvSpPr>
          <p:cNvPr id="9" name="صفة 2"/>
          <p:cNvSpPr/>
          <p:nvPr/>
        </p:nvSpPr>
        <p:spPr>
          <a:xfrm>
            <a:off x="5080000" y="2952750"/>
            <a:ext cx="6858000" cy="149225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27AE60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952500" tIns="53340" bIns="53340"/>
          <a:lstStyle/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لبعضها جذور تنتشر قريبة من سطح التربة، أو تمتد عميقًا بحثًا عن الماء.</a:t>
            </a:r>
          </a:p>
        </p:txBody>
      </p:sp>
      <p:pic>
        <p:nvPicPr>
          <p:cNvPr id="10" name="رمز 2" descr="arrow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9000" y="3552825"/>
            <a:ext cx="730250" cy="292100"/>
          </a:xfrm>
          <a:prstGeom prst="rect">
            <a:avLst/>
          </a:prstGeom>
        </p:spPr>
      </p:pic>
      <p:sp>
        <p:nvSpPr>
          <p:cNvPr id="11" name="صفة 3"/>
          <p:cNvSpPr/>
          <p:nvPr/>
        </p:nvSpPr>
        <p:spPr>
          <a:xfrm>
            <a:off x="5080000" y="4603750"/>
            <a:ext cx="6858000" cy="149225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27AE60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952500" tIns="53340" bIns="53340"/>
          <a:lstStyle/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تلتف بعض الأوراق خلال النهار حتى لا تتعرض لضوء الشمس.</a:t>
            </a:r>
          </a:p>
        </p:txBody>
      </p:sp>
      <p:pic>
        <p:nvPicPr>
          <p:cNvPr id="12" name="رمز 3" descr="su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49000" y="4984750"/>
            <a:ext cx="730250" cy="730250"/>
          </a:xfrm>
          <a:prstGeom prst="rect">
            <a:avLst/>
          </a:prstGeom>
        </p:spPr>
      </p:pic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٩٨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"/>
                            </p:stCondLst>
                            <p:childTnLst>
                              <p:par>
                                <p:cTn id="1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"/>
                            </p:stCondLst>
                            <p:childTnLst>
                              <p:par>
                                <p:cTn id="2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00"/>
                            </p:stCondLst>
                            <p:childTnLst>
                              <p:par>
                                <p:cTn id="3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٦</a:t>
            </a:r>
          </a:p>
        </p:txBody>
      </p:sp>
      <p:pic>
        <p:nvPicPr>
          <p:cNvPr id="4" name="!!plant" descr="تكبير جذور النبات الصحراوي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54000" y="-1270000"/>
            <a:ext cx="6350000" cy="6879167"/>
          </a:xfrm>
          <a:prstGeom prst="rect">
            <a:avLst/>
          </a:prstGeom>
        </p:spPr>
      </p:pic>
      <p:pic>
        <p:nvPicPr>
          <p:cNvPr id="5" name="سهم الماء" descr="arrow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98500" y="2095500"/>
            <a:ext cx="1270000" cy="508000"/>
          </a:xfrm>
          <a:prstGeom prst="rect">
            <a:avLst/>
          </a:prstGeom>
        </p:spPr>
      </p:pic>
      <p:pic>
        <p:nvPicPr>
          <p:cNvPr id="6" name="سهم الماء" descr="arrow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540000" y="2095500"/>
            <a:ext cx="1270000" cy="508000"/>
          </a:xfrm>
          <a:prstGeom prst="rect">
            <a:avLst/>
          </a:prstGeom>
        </p:spPr>
      </p:pic>
      <p:pic>
        <p:nvPicPr>
          <p:cNvPr id="7" name="سهم الماء" descr="arrow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4381500" y="2095500"/>
            <a:ext cx="1270000" cy="508000"/>
          </a:xfrm>
          <a:prstGeom prst="rect">
            <a:avLst/>
          </a:prstGeom>
        </p:spPr>
      </p:pic>
      <p:pic>
        <p:nvPicPr>
          <p:cNvPr id="8" name="قطرة" descr="dro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3302000"/>
            <a:ext cx="406400" cy="528320"/>
          </a:xfrm>
          <a:prstGeom prst="rect">
            <a:avLst/>
          </a:prstGeom>
        </p:spPr>
      </p:pic>
      <p:pic>
        <p:nvPicPr>
          <p:cNvPr id="9" name="قطرة" descr="dro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3302000"/>
            <a:ext cx="406400" cy="528320"/>
          </a:xfrm>
          <a:prstGeom prst="rect">
            <a:avLst/>
          </a:prstGeom>
        </p:spPr>
      </p:pic>
      <p:pic>
        <p:nvPicPr>
          <p:cNvPr id="10" name="قطرة" descr="dro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381500"/>
            <a:ext cx="406400" cy="528320"/>
          </a:xfrm>
          <a:prstGeom prst="rect">
            <a:avLst/>
          </a:prstGeom>
        </p:spPr>
      </p:pic>
      <p:sp>
        <p:nvSpPr>
          <p:cNvPr id="11" name="سؤال أقرأ الشكل"/>
          <p:cNvSpPr/>
          <p:nvPr/>
        </p:nvSpPr>
        <p:spPr>
          <a:xfrm>
            <a:off x="190500" y="127000"/>
            <a:ext cx="10096500" cy="11112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E8505B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200" b="1" lang="ar-SA">
                <a:solidFill>
                  <a:srgbClr val="27AE60"/>
                </a:solidFill>
                <a:latin typeface="Arial"/>
                <a:cs typeface="Arial"/>
              </a:rPr>
              <a:t>أَقْرَأُ الشَّكْلَ: </a:t>
            </a:r>
            <a:r>
              <a:rPr sz="3200" b="1" lang="ar-SA">
                <a:solidFill>
                  <a:srgbClr val="1E2A3A"/>
                </a:solidFill>
                <a:latin typeface="Arial"/>
                <a:cs typeface="Arial"/>
              </a:rPr>
              <a:t>كَيْفَ تُسَاعِدُ جُذُورُ النَّبَاتَاتِ حَيَوَانَاتِ الصَّحْرَاءِ عَلَى الْعَيْشِ؟</a:t>
            </a:r>
          </a:p>
        </p:txBody>
      </p:sp>
      <p:sp>
        <p:nvSpPr>
          <p:cNvPr id="12" name="إطار صورة الكتاب"/>
          <p:cNvSpPr/>
          <p:nvPr/>
        </p:nvSpPr>
        <p:spPr>
          <a:xfrm>
            <a:off x="6300275" y="1428750"/>
            <a:ext cx="5687449" cy="4889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27AE60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صورة الكتاب" descr="شكل من كتابي – صفحة ٩٨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9175" y="1517650"/>
            <a:ext cx="5509649" cy="4711700"/>
          </a:xfrm>
          <a:prstGeom prst="rect">
            <a:avLst/>
          </a:prstGeom>
        </p:spPr>
      </p:pic>
      <p:sp>
        <p:nvSpPr>
          <p:cNvPr id="14" name="تعليق صورة الكتاب"/>
          <p:cNvSpPr/>
          <p:nvPr/>
        </p:nvSpPr>
        <p:spPr>
          <a:xfrm>
            <a:off x="8946075" y="1276350"/>
            <a:ext cx="3041650" cy="292100"/>
          </a:xfrm>
          <a:prstGeom prst="roundRect">
            <a:avLst>
              <a:gd name="adj" fmla="val 50000"/>
            </a:avLst>
          </a:prstGeom>
          <a:solidFill>
            <a:srgbClr val="27AE6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شكل من كتابي – صفحة ٩٨</a:t>
            </a:r>
          </a:p>
        </p:txBody>
      </p:sp>
      <p:sp>
        <p:nvSpPr>
          <p:cNvPr id="15" name="إجابة أقرأ الشكل"/>
          <p:cNvSpPr/>
          <p:nvPr/>
        </p:nvSpPr>
        <p:spPr>
          <a:xfrm>
            <a:off x="127000" y="4730750"/>
            <a:ext cx="6096000" cy="1619250"/>
          </a:xfrm>
          <a:prstGeom prst="roundRect">
            <a:avLst>
              <a:gd name="adj" fmla="val 18000"/>
            </a:avLst>
          </a:prstGeom>
          <a:solidFill>
            <a:srgbClr val="27AE60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2600" b="1" lang="ar-SA">
                <a:solidFill>
                  <a:srgbClr val="FFFFFF"/>
                </a:solidFill>
                <a:latin typeface="Arial"/>
                <a:cs typeface="Arial"/>
              </a:rPr>
              <a:t>تساعدها بتوفير الغذاء والماء؛ فبعض النباتات تخزن الماء، وتحصل الحيوانات على جزء منه عندما تتغذى عليها.</a:t>
            </a:r>
          </a:p>
        </p:txBody>
      </p:sp>
      <p:sp>
        <p:nvSpPr>
          <p:cNvPr id="16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7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٩٨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2000">
        <p159:morph option="byObject"/>
      </p:transition>
    </mc:Choice>
    <mc:Fallback>
      <p:transition spd="slow">
        <p:fade/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90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15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7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0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45" display="0" masterRel="sameClick">
                                          <p:stCondLst>
                                            <p:cond evt="onBegin" delay="0">
                                              <p:tn val="40"/>
                                            </p:cond>
                                          </p:stCondLst>
                                        </p:cTn>
                                        <p:tgtEl>
                                          <p:sndTgt r:embed="rId8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5089" y="139700"/>
            <a:ext cx="5241823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٧</a:t>
            </a:r>
          </a:p>
        </p:txBody>
      </p:sp>
      <p:sp>
        <p:nvSpPr>
          <p:cNvPr id="5" name="بطاقة الضب"/>
          <p:cNvSpPr/>
          <p:nvPr/>
        </p:nvSpPr>
        <p:spPr>
          <a:xfrm>
            <a:off x="6286500" y="1270000"/>
            <a:ext cx="5334000" cy="5080000"/>
          </a:xfrm>
          <a:prstGeom prst="roundRect">
            <a:avLst>
              <a:gd name="adj" fmla="val 12000"/>
            </a:avLst>
          </a:prstGeom>
          <a:solidFill>
            <a:srgbClr val="FFFFFF">
              <a:alpha val="96000"/>
            </a:srgbClr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علامة استفهام"/>
          <p:cNvSpPr txBox="1"/>
          <p:nvPr/>
        </p:nvSpPr>
        <p:spPr>
          <a:xfrm>
            <a:off x="8001000" y="1397000"/>
            <a:ext cx="1905000" cy="20955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17000" b="1" lang="ar-SA">
                <a:solidFill>
                  <a:srgbClr val="E67E22"/>
                </a:solidFill>
                <a:latin typeface="Arial"/>
                <a:cs typeface="Arial"/>
              </a:rPr>
              <a:t>؟</a:t>
            </a:r>
          </a:p>
        </p:txBody>
      </p:sp>
      <p:pic>
        <p:nvPicPr>
          <p:cNvPr id="7" name="الضب" descr="an_liz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6300" y="1428750"/>
            <a:ext cx="3454400" cy="2159000"/>
          </a:xfrm>
          <a:prstGeom prst="rect">
            <a:avLst/>
          </a:prstGeom>
        </p:spPr>
      </p:pic>
      <p:sp>
        <p:nvSpPr>
          <p:cNvPr id="8" name="اسم الضب"/>
          <p:cNvSpPr/>
          <p:nvPr/>
        </p:nvSpPr>
        <p:spPr>
          <a:xfrm>
            <a:off x="7683500" y="3651250"/>
            <a:ext cx="2540000" cy="5461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600" b="1" lang="ar-SA">
                <a:solidFill>
                  <a:srgbClr val="FFFFFF"/>
                </a:solidFill>
                <a:latin typeface="Arial"/>
                <a:cs typeface="Arial"/>
              </a:rPr>
              <a:t>الضب</a:t>
            </a:r>
          </a:p>
        </p:txBody>
      </p:sp>
      <p:sp>
        <p:nvSpPr>
          <p:cNvPr id="9" name="لغز الضب"/>
          <p:cNvSpPr txBox="1"/>
          <p:nvPr/>
        </p:nvSpPr>
        <p:spPr>
          <a:xfrm>
            <a:off x="6477000" y="4318000"/>
            <a:ext cx="4953000" cy="1905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400" b="1" lang="ar-SA">
                <a:solidFill>
                  <a:srgbClr val="1E2A3A"/>
                </a:solidFill>
                <a:latin typeface="Arial"/>
                <a:cs typeface="Arial"/>
              </a:rPr>
              <a:t>أنا زاحف، أحفر جحري تحت الرمال وأختبئ فيه من شدة الحرارة. من أنا؟</a:t>
            </a:r>
          </a:p>
        </p:txBody>
      </p:sp>
      <p:sp>
        <p:nvSpPr>
          <p:cNvPr id="10" name="بطاقة الذئب"/>
          <p:cNvSpPr/>
          <p:nvPr/>
        </p:nvSpPr>
        <p:spPr>
          <a:xfrm>
            <a:off x="571500" y="1270000"/>
            <a:ext cx="5334000" cy="5080000"/>
          </a:xfrm>
          <a:prstGeom prst="roundRect">
            <a:avLst>
              <a:gd name="adj" fmla="val 12000"/>
            </a:avLst>
          </a:prstGeom>
          <a:solidFill>
            <a:srgbClr val="FFFFFF">
              <a:alpha val="96000"/>
            </a:srgbClr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علامة استفهام"/>
          <p:cNvSpPr txBox="1"/>
          <p:nvPr/>
        </p:nvSpPr>
        <p:spPr>
          <a:xfrm>
            <a:off x="2286000" y="1397000"/>
            <a:ext cx="1905000" cy="20955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17000" b="1" lang="ar-SA">
                <a:solidFill>
                  <a:srgbClr val="E67E22"/>
                </a:solidFill>
                <a:latin typeface="Arial"/>
                <a:cs typeface="Arial"/>
              </a:rPr>
              <a:t>؟</a:t>
            </a:r>
          </a:p>
        </p:txBody>
      </p:sp>
      <p:pic>
        <p:nvPicPr>
          <p:cNvPr id="12" name="الذئب" descr="an_wol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3214" y="1428750"/>
            <a:ext cx="1850571" cy="2159000"/>
          </a:xfrm>
          <a:prstGeom prst="rect">
            <a:avLst/>
          </a:prstGeom>
        </p:spPr>
      </p:pic>
      <p:sp>
        <p:nvSpPr>
          <p:cNvPr id="13" name="اسم الذئب"/>
          <p:cNvSpPr/>
          <p:nvPr/>
        </p:nvSpPr>
        <p:spPr>
          <a:xfrm>
            <a:off x="1968500" y="3651250"/>
            <a:ext cx="2540000" cy="5461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600" b="1" lang="ar-SA">
                <a:solidFill>
                  <a:srgbClr val="FFFFFF"/>
                </a:solidFill>
                <a:latin typeface="Arial"/>
                <a:cs typeface="Arial"/>
              </a:rPr>
              <a:t>الذئب</a:t>
            </a:r>
          </a:p>
        </p:txBody>
      </p:sp>
      <p:sp>
        <p:nvSpPr>
          <p:cNvPr id="14" name="لغز الذئب"/>
          <p:cNvSpPr txBox="1"/>
          <p:nvPr/>
        </p:nvSpPr>
        <p:spPr>
          <a:xfrm>
            <a:off x="762000" y="4318000"/>
            <a:ext cx="4953000" cy="1905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400" b="1" lang="ar-SA">
                <a:solidFill>
                  <a:srgbClr val="1E2A3A"/>
                </a:solidFill>
                <a:latin typeface="Arial"/>
                <a:cs typeface="Arial"/>
              </a:rPr>
              <a:t>أنا أشبه الكلب، أختبئ في النهار وأخرج للصيد ليلًا. من أنا؟</a:t>
            </a:r>
          </a:p>
        </p:txBody>
      </p:sp>
      <p:sp>
        <p:nvSpPr>
          <p:cNvPr id="15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6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٩٩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4" display="0" masterRel="sameClick">
                                          <p:stCondLst>
                                            <p:cond evt="onBegin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32" display="0" masterRel="sameClick">
                                          <p:stCondLst>
                                            <p:cond evt="onBegin" delay="0">
                                              <p:tn val="27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  <p:bldP spid="13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5089" y="139700"/>
            <a:ext cx="5241823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٧</a:t>
            </a:r>
          </a:p>
        </p:txBody>
      </p:sp>
      <p:sp>
        <p:nvSpPr>
          <p:cNvPr id="5" name="بطاقة القط البري"/>
          <p:cNvSpPr/>
          <p:nvPr/>
        </p:nvSpPr>
        <p:spPr>
          <a:xfrm>
            <a:off x="6286500" y="1270000"/>
            <a:ext cx="5334000" cy="5080000"/>
          </a:xfrm>
          <a:prstGeom prst="roundRect">
            <a:avLst>
              <a:gd name="adj" fmla="val 12000"/>
            </a:avLst>
          </a:prstGeom>
          <a:solidFill>
            <a:srgbClr val="FFFFFF">
              <a:alpha val="96000"/>
            </a:srgbClr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علامة استفهام"/>
          <p:cNvSpPr txBox="1"/>
          <p:nvPr/>
        </p:nvSpPr>
        <p:spPr>
          <a:xfrm>
            <a:off x="8001000" y="1397000"/>
            <a:ext cx="1905000" cy="20955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17000" b="1" lang="ar-SA">
                <a:solidFill>
                  <a:srgbClr val="E67E22"/>
                </a:solidFill>
                <a:latin typeface="Arial"/>
                <a:cs typeface="Arial"/>
              </a:rPr>
              <a:t>؟</a:t>
            </a:r>
          </a:p>
        </p:txBody>
      </p:sp>
      <p:pic>
        <p:nvPicPr>
          <p:cNvPr id="7" name="القط البري" descr="an_ca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214" y="1428750"/>
            <a:ext cx="1850571" cy="2159000"/>
          </a:xfrm>
          <a:prstGeom prst="rect">
            <a:avLst/>
          </a:prstGeom>
        </p:spPr>
      </p:pic>
      <p:sp>
        <p:nvSpPr>
          <p:cNvPr id="8" name="اسم القط البري"/>
          <p:cNvSpPr/>
          <p:nvPr/>
        </p:nvSpPr>
        <p:spPr>
          <a:xfrm>
            <a:off x="7683500" y="3651250"/>
            <a:ext cx="2540000" cy="5461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600" b="1" lang="ar-SA">
                <a:solidFill>
                  <a:srgbClr val="FFFFFF"/>
                </a:solidFill>
                <a:latin typeface="Arial"/>
                <a:cs typeface="Arial"/>
              </a:rPr>
              <a:t>القط البري</a:t>
            </a:r>
          </a:p>
        </p:txBody>
      </p:sp>
      <p:sp>
        <p:nvSpPr>
          <p:cNvPr id="9" name="لغز القط البري"/>
          <p:cNvSpPr txBox="1"/>
          <p:nvPr/>
        </p:nvSpPr>
        <p:spPr>
          <a:xfrm>
            <a:off x="6477000" y="4318000"/>
            <a:ext cx="4953000" cy="1905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400" b="1" lang="ar-SA">
                <a:solidFill>
                  <a:srgbClr val="1E2A3A"/>
                </a:solidFill>
                <a:latin typeface="Arial"/>
                <a:cs typeface="Arial"/>
              </a:rPr>
              <a:t>أنا قط صغير بأذنين كبيرتين، أخرج ليلًا عندما يبرد الجو. من أنا؟</a:t>
            </a:r>
          </a:p>
        </p:txBody>
      </p:sp>
      <p:sp>
        <p:nvSpPr>
          <p:cNvPr id="10" name="بطاقة العقرب"/>
          <p:cNvSpPr/>
          <p:nvPr/>
        </p:nvSpPr>
        <p:spPr>
          <a:xfrm>
            <a:off x="571500" y="1270000"/>
            <a:ext cx="5334000" cy="5080000"/>
          </a:xfrm>
          <a:prstGeom prst="roundRect">
            <a:avLst>
              <a:gd name="adj" fmla="val 12000"/>
            </a:avLst>
          </a:prstGeom>
          <a:solidFill>
            <a:srgbClr val="FFFFFF">
              <a:alpha val="96000"/>
            </a:srgbClr>
          </a:solidFill>
          <a:ln w="508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علامة استفهام"/>
          <p:cNvSpPr txBox="1"/>
          <p:nvPr/>
        </p:nvSpPr>
        <p:spPr>
          <a:xfrm>
            <a:off x="2286000" y="1397000"/>
            <a:ext cx="1905000" cy="20955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17000" b="1" lang="ar-SA">
                <a:solidFill>
                  <a:srgbClr val="E67E22"/>
                </a:solidFill>
                <a:latin typeface="Arial"/>
                <a:cs typeface="Arial"/>
              </a:rPr>
              <a:t>؟</a:t>
            </a:r>
          </a:p>
        </p:txBody>
      </p:sp>
      <p:pic>
        <p:nvPicPr>
          <p:cNvPr id="12" name="العقرب" descr="an_scorp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89125" y="1428750"/>
            <a:ext cx="2698750" cy="2159000"/>
          </a:xfrm>
          <a:prstGeom prst="rect">
            <a:avLst/>
          </a:prstGeom>
        </p:spPr>
      </p:pic>
      <p:sp>
        <p:nvSpPr>
          <p:cNvPr id="13" name="اسم العقرب"/>
          <p:cNvSpPr/>
          <p:nvPr/>
        </p:nvSpPr>
        <p:spPr>
          <a:xfrm>
            <a:off x="1968500" y="3651250"/>
            <a:ext cx="2540000" cy="5461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600" b="1" lang="ar-SA">
                <a:solidFill>
                  <a:srgbClr val="FFFFFF"/>
                </a:solidFill>
                <a:latin typeface="Arial"/>
                <a:cs typeface="Arial"/>
              </a:rPr>
              <a:t>العقرب</a:t>
            </a:r>
          </a:p>
        </p:txBody>
      </p:sp>
      <p:sp>
        <p:nvSpPr>
          <p:cNvPr id="14" name="لغز العقرب"/>
          <p:cNvSpPr txBox="1"/>
          <p:nvPr/>
        </p:nvSpPr>
        <p:spPr>
          <a:xfrm>
            <a:off x="762000" y="4318000"/>
            <a:ext cx="4953000" cy="19050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sz="3400" b="1" lang="ar-SA">
                <a:solidFill>
                  <a:srgbClr val="1E2A3A"/>
                </a:solidFill>
                <a:latin typeface="Arial"/>
                <a:cs typeface="Arial"/>
              </a:rPr>
              <a:t>لي ذيل في آخره إبرة، وأختبئ تحت الصخور نهارًا. من أنا؟</a:t>
            </a:r>
          </a:p>
        </p:txBody>
      </p:sp>
      <p:sp>
        <p:nvSpPr>
          <p:cNvPr id="15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6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٩٩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4" display="0" masterRel="sameClick">
                                          <p:stCondLst>
                                            <p:cond evt="onBegin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32" display="0" masterRel="sameClick">
                                          <p:stCondLst>
                                            <p:cond evt="onBegin" delay="0">
                                              <p:tn val="27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  <p:bldP spid="1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3009" y="139700"/>
            <a:ext cx="7585982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٧</a:t>
            </a:r>
          </a:p>
        </p:txBody>
      </p:sp>
      <p:sp>
        <p:nvSpPr>
          <p:cNvPr id="5" name="لوحة النهار"/>
          <p:cNvSpPr/>
          <p:nvPr/>
        </p:nvSpPr>
        <p:spPr>
          <a:xfrm>
            <a:off x="6286500" y="1333500"/>
            <a:ext cx="5524500" cy="3175000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13500" y="1428750"/>
            <a:ext cx="3429000" cy="29845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600" b="1" lang="ar-SA">
                <a:solidFill>
                  <a:srgbClr val="E67E22"/>
                </a:solidFill>
                <a:latin typeface="Arial"/>
                <a:cs typeface="Arial"/>
              </a:rPr>
              <a:t>في النهار</a:t>
            </a:r>
          </a:p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تختبئ في الجحور وتحت الصخور وفي الظل.</a:t>
            </a:r>
          </a:p>
        </p:txBody>
      </p:sp>
      <p:pic>
        <p:nvPicPr>
          <p:cNvPr id="7" name="ضب في الظل" descr="an_liz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5500" y="2921000"/>
            <a:ext cx="2032000" cy="1270000"/>
          </a:xfrm>
          <a:prstGeom prst="rect">
            <a:avLst/>
          </a:prstGeom>
        </p:spPr>
      </p:pic>
      <p:pic>
        <p:nvPicPr>
          <p:cNvPr id="8" name="شمس" descr="su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1460500"/>
            <a:ext cx="1270000" cy="1270000"/>
          </a:xfrm>
          <a:prstGeom prst="rect">
            <a:avLst/>
          </a:prstGeom>
        </p:spPr>
      </p:pic>
      <p:sp>
        <p:nvSpPr>
          <p:cNvPr id="9" name="لوحة الليل"/>
          <p:cNvSpPr/>
          <p:nvPr/>
        </p:nvSpPr>
        <p:spPr>
          <a:xfrm>
            <a:off x="381000" y="1333500"/>
            <a:ext cx="5524500" cy="3175000"/>
          </a:xfrm>
          <a:prstGeom prst="roundRect">
            <a:avLst>
              <a:gd name="adj" fmla="val 12000"/>
            </a:avLst>
          </a:prstGeom>
          <a:solidFill>
            <a:srgbClr val="22325F"/>
          </a:solidFill>
          <a:ln w="50800">
            <a:solidFill>
              <a:srgbClr val="7FA8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1428750"/>
            <a:ext cx="3429000" cy="29845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3600" b="1" lang="ar-SA">
                <a:solidFill>
                  <a:srgbClr val="FFE27A"/>
                </a:solidFill>
                <a:latin typeface="Arial"/>
                <a:cs typeface="Arial"/>
              </a:rPr>
              <a:t>في الليل</a:t>
            </a:r>
          </a:p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FFFFFF"/>
                </a:solidFill>
                <a:latin typeface="Arial"/>
                <a:cs typeface="Arial"/>
              </a:rPr>
              <a:t>تخرج للبحث عن غذائها عندما يبرد الجو.</a:t>
            </a:r>
          </a:p>
        </p:txBody>
      </p:sp>
      <p:pic>
        <p:nvPicPr>
          <p:cNvPr id="11" name="ذئب في الليل" descr="an_wol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86893" y="2413000"/>
            <a:ext cx="1741714" cy="2032000"/>
          </a:xfrm>
          <a:prstGeom prst="rect">
            <a:avLst/>
          </a:prstGeom>
        </p:spPr>
      </p:pic>
      <p:pic>
        <p:nvPicPr>
          <p:cNvPr id="12" name="قمر" descr="mo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000" y="1397000"/>
            <a:ext cx="1079500" cy="1079500"/>
          </a:xfrm>
          <a:prstGeom prst="rect">
            <a:avLst/>
          </a:prstGeom>
        </p:spPr>
      </p:pic>
      <p:sp>
        <p:nvSpPr>
          <p:cNvPr id="13" name="الإجابة"/>
          <p:cNvSpPr/>
          <p:nvPr/>
        </p:nvSpPr>
        <p:spPr>
          <a:xfrm>
            <a:off x="381000" y="4699000"/>
            <a:ext cx="11430000" cy="1460500"/>
          </a:xfrm>
          <a:prstGeom prst="roundRect">
            <a:avLst>
              <a:gd name="adj" fmla="val 18000"/>
            </a:avLst>
          </a:prstGeom>
          <a:solidFill>
            <a:srgbClr val="27AE60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400" b="1" lang="ar-SA">
                <a:solidFill>
                  <a:srgbClr val="FFFFFF"/>
                </a:solidFill>
                <a:latin typeface="Arial"/>
                <a:cs typeface="Arial"/>
              </a:rPr>
              <a:t>تختبئ نهارًا من الحرارة، وتخرج ليلًا عندما يبرد الجو، وتحصل على جزء من الماء من غذائها.</a:t>
            </a:r>
          </a:p>
        </p:txBody>
      </p:sp>
      <p:sp>
        <p:nvSpPr>
          <p:cNvPr id="14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5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٩٩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53" display="0" masterRel="sameClick">
                                          <p:stCondLst>
                                            <p:cond evt="onBegin" delay="0">
                                              <p:tn val="49"/>
                                            </p:cond>
                                          </p:stCondLst>
                                        </p:cTn>
                                        <p:tgtEl>
                                          <p:sndTgt r:embed="rId9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land" descr="المشهد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un" descr="su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3000" y="952500"/>
            <a:ext cx="1651000" cy="1651000"/>
          </a:xfrm>
          <a:prstGeom prst="rect">
            <a:avLst/>
          </a:prstGeom>
        </p:spPr>
      </p:pic>
      <p:pic>
        <p:nvPicPr>
          <p:cNvPr id="4" name="عنوان" descr="عنوان المحطة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424" y="139700"/>
            <a:ext cx="3207152" cy="952500"/>
          </a:xfrm>
          <a:prstGeom prst="rect">
            <a:avLst/>
          </a:prstGeom>
        </p:spPr>
      </p:pic>
      <p:sp>
        <p:nvSpPr>
          <p:cNvPr id="5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٨</a:t>
            </a:r>
          </a:p>
        </p:txBody>
      </p:sp>
      <p:pic>
        <p:nvPicPr>
          <p:cNvPr id="6" name="!!train" descr="قطار المستكشفات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7500" y="4826000"/>
            <a:ext cx="5207000" cy="1345142"/>
          </a:xfrm>
          <a:prstGeom prst="rect">
            <a:avLst/>
          </a:prstGeom>
        </p:spPr>
      </p:pic>
      <p:pic>
        <p:nvPicPr>
          <p:cNvPr id="7" name="!!noura" descr="المستكشفة نورة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3302000"/>
            <a:ext cx="2032000" cy="3048000"/>
          </a:xfrm>
          <a:prstGeom prst="rect">
            <a:avLst/>
          </a:prstGeom>
        </p:spPr>
      </p:pic>
      <p:sp>
        <p:nvSpPr>
          <p:cNvPr id="8" name="!!question"/>
          <p:cNvSpPr/>
          <p:nvPr/>
        </p:nvSpPr>
        <p:spPr>
          <a:xfrm>
            <a:off x="2603500" y="2032000"/>
            <a:ext cx="6985000" cy="101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4400" b="1" lang="ar-SA">
                <a:solidFill>
                  <a:srgbClr val="1E2A3A"/>
                </a:solidFill>
                <a:latin typeface="Arial"/>
                <a:cs typeface="Arial"/>
              </a:rPr>
              <a:t>هل جميع الصحاري حارة؟</a:t>
            </a:r>
          </a:p>
        </p:txBody>
      </p:sp>
      <p:sp>
        <p:nvSpPr>
          <p:cNvPr id="9" name="فقاعة نورة"/>
          <p:cNvSpPr/>
          <p:nvPr/>
        </p:nvSpPr>
        <p:spPr>
          <a:xfrm>
            <a:off x="2794000" y="3556000"/>
            <a:ext cx="3683000" cy="762000"/>
          </a:xfrm>
          <a:prstGeom prst="wedgeRoundRectCallout">
            <a:avLst>
              <a:gd name="adj1" fmla="val -68965"/>
              <a:gd name="adj2" fmla="val 16666"/>
              <a:gd name="adj3" fmla="val 16667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 rtl="1"/>
            <a:r>
              <a:rPr sz="2800" b="1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ماذا تتوقعين؟</a:t>
            </a:r>
          </a:p>
        </p:txBody>
      </p:sp>
      <p:sp>
        <p:nvSpPr>
          <p:cNvPr id="10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1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١٠٠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800">
        <p14:conveyor dir="l"/>
        <p:sndAc>
          <p:stSnd>
            <p:snd r:embed="rId9" name="train.wav"/>
          </p:stSnd>
        </p:sndAc>
      </p:transition>
    </mc:Choice>
    <mc:Fallback>
      <p:transition spd="slow">
        <p:push dir="l"/>
        <p:sndAc>
          <p:stSnd>
            <p:snd r:embed="rId9" name="train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4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0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8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2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land" descr="المشهد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sun" descr="su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0" y="762000"/>
            <a:ext cx="762000" cy="762000"/>
          </a:xfrm>
          <a:prstGeom prst="rect">
            <a:avLst/>
          </a:prstGeom>
        </p:spPr>
      </p:pic>
      <p:pic>
        <p:nvPicPr>
          <p:cNvPr id="4" name="عنوان" descr="عنوان المحطة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424" y="139700"/>
            <a:ext cx="3207152" cy="952500"/>
          </a:xfrm>
          <a:prstGeom prst="rect">
            <a:avLst/>
          </a:prstGeom>
        </p:spPr>
      </p:pic>
      <p:sp>
        <p:nvSpPr>
          <p:cNvPr id="5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٨</a:t>
            </a:r>
          </a:p>
        </p:txBody>
      </p:sp>
      <p:pic>
        <p:nvPicPr>
          <p:cNvPr id="6" name="!!train" descr="قطار المستكشفات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000" y="4826000"/>
            <a:ext cx="5207000" cy="1345142"/>
          </a:xfrm>
          <a:prstGeom prst="rect">
            <a:avLst/>
          </a:prstGeom>
        </p:spPr>
      </p:pic>
      <p:pic>
        <p:nvPicPr>
          <p:cNvPr id="7" name="!!noura" descr="المستكشفة نورة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000" y="3302000"/>
            <a:ext cx="2032000" cy="3048000"/>
          </a:xfrm>
          <a:prstGeom prst="rect">
            <a:avLst/>
          </a:prstGeom>
        </p:spPr>
      </p:pic>
      <p:sp>
        <p:nvSpPr>
          <p:cNvPr id="8" name="!!question"/>
          <p:cNvSpPr/>
          <p:nvPr/>
        </p:nvSpPr>
        <p:spPr>
          <a:xfrm>
            <a:off x="2603500" y="2032000"/>
            <a:ext cx="6985000" cy="1016000"/>
          </a:xfrm>
          <a:prstGeom prst="roundRect">
            <a:avLst>
              <a:gd name="adj" fmla="val 50000"/>
            </a:avLst>
          </a:prstGeom>
          <a:solidFill>
            <a:srgbClr val="2471A3"/>
          </a:solidFill>
          <a:ln w="762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4400" b="1" lang="ar-SA">
                <a:solidFill>
                  <a:srgbClr val="FFFFFF"/>
                </a:solidFill>
                <a:latin typeface="Arial"/>
                <a:cs typeface="Arial"/>
              </a:rPr>
              <a:t>ليست كل الصحاري حارة!</a:t>
            </a:r>
          </a:p>
        </p:txBody>
      </p:sp>
      <p:pic>
        <p:nvPicPr>
          <p:cNvPr id="9" name="ثلج 1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450" y="-381000"/>
            <a:ext cx="266700" cy="266700"/>
          </a:xfrm>
          <a:prstGeom prst="rect">
            <a:avLst/>
          </a:prstGeom>
        </p:spPr>
      </p:pic>
      <p:pic>
        <p:nvPicPr>
          <p:cNvPr id="10" name="ثلج 2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5100" y="-381000"/>
            <a:ext cx="400050" cy="400050"/>
          </a:xfrm>
          <a:prstGeom prst="rect">
            <a:avLst/>
          </a:prstGeom>
        </p:spPr>
      </p:pic>
      <p:pic>
        <p:nvPicPr>
          <p:cNvPr id="11" name="ثلج 3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79700" y="-381000"/>
            <a:ext cx="374650" cy="374650"/>
          </a:xfrm>
          <a:prstGeom prst="rect">
            <a:avLst/>
          </a:prstGeom>
        </p:spPr>
      </p:pic>
      <p:pic>
        <p:nvPicPr>
          <p:cNvPr id="12" name="ثلج 4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6650" y="-381000"/>
            <a:ext cx="368300" cy="368300"/>
          </a:xfrm>
          <a:prstGeom prst="rect">
            <a:avLst/>
          </a:prstGeom>
        </p:spPr>
      </p:pic>
      <p:pic>
        <p:nvPicPr>
          <p:cNvPr id="13" name="ثلج 5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75250" y="-381000"/>
            <a:ext cx="381000" cy="381000"/>
          </a:xfrm>
          <a:prstGeom prst="rect">
            <a:avLst/>
          </a:prstGeom>
        </p:spPr>
      </p:pic>
      <p:pic>
        <p:nvPicPr>
          <p:cNvPr id="14" name="ثلج 6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3500" y="-381000"/>
            <a:ext cx="444500" cy="444500"/>
          </a:xfrm>
          <a:prstGeom prst="rect">
            <a:avLst/>
          </a:prstGeom>
        </p:spPr>
      </p:pic>
      <p:pic>
        <p:nvPicPr>
          <p:cNvPr id="15" name="ثلج 7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1100" y="-381000"/>
            <a:ext cx="355600" cy="355600"/>
          </a:xfrm>
          <a:prstGeom prst="rect">
            <a:avLst/>
          </a:prstGeom>
        </p:spPr>
      </p:pic>
      <p:pic>
        <p:nvPicPr>
          <p:cNvPr id="16" name="ثلج 8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9300" y="-381000"/>
            <a:ext cx="323850" cy="323850"/>
          </a:xfrm>
          <a:prstGeom prst="rect">
            <a:avLst/>
          </a:prstGeom>
        </p:spPr>
      </p:pic>
      <p:pic>
        <p:nvPicPr>
          <p:cNvPr id="17" name="ثلج 9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9800" y="-381000"/>
            <a:ext cx="336550" cy="336550"/>
          </a:xfrm>
          <a:prstGeom prst="rect">
            <a:avLst/>
          </a:prstGeom>
        </p:spPr>
      </p:pic>
      <p:pic>
        <p:nvPicPr>
          <p:cNvPr id="18" name="ثلج 10" descr="snowflak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0600" y="-381000"/>
            <a:ext cx="285750" cy="285750"/>
          </a:xfrm>
          <a:prstGeom prst="rect">
            <a:avLst/>
          </a:prstGeom>
        </p:spPr>
      </p:pic>
      <p:sp>
        <p:nvSpPr>
          <p:cNvPr id="19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20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١٠٠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59">
      <p:transition spd="slow" p14:dur="2200">
        <p159:morph option="byObject"/>
        <p:sndAc>
          <p:stSnd>
            <p:snd r:embed="rId9" name="cold_wind.wav"/>
          </p:stSnd>
        </p:sndAc>
      </p:transition>
    </mc:Choice>
    <mc:Fallback>
      <p:transition spd="slow">
        <p:fade/>
        <p:sndAc>
          <p:stSnd>
            <p:snd r:embed="rId9" name="cold_wind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47"/>
                            </p:stCondLst>
                            <p:childTnLst>
                              <p:par>
                                <p:cTn id="5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6" dur="8478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69"/>
                            </p:stCondLst>
                            <p:childTnLst>
                              <p:par>
                                <p:cTn id="8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9" dur="9485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967"/>
                            </p:stCondLst>
                            <p:childTnLst>
                              <p:par>
                                <p:cTn id="11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12" dur="7944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98"/>
                            </p:stCondLst>
                            <p:childTnLst>
                              <p:par>
                                <p:cTn id="14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15" dur="7147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23"/>
                            </p:stCondLst>
                            <p:childTnLst>
                              <p:par>
                                <p:cTn id="17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18" dur="9228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11"/>
                            </p:stCondLst>
                            <p:childTnLst>
                              <p:par>
                                <p:cTn id="20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21" dur="996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04"/>
                            </p:stCondLst>
                            <p:childTnLst>
                              <p:par>
                                <p:cTn id="23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24" dur="8304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153"/>
                            </p:stCondLst>
                            <p:childTnLst>
                              <p:par>
                                <p:cTn id="26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27" dur="7673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743"/>
                            </p:stCondLst>
                            <p:childTnLst>
                              <p:par>
                                <p:cTn id="29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30" dur="8262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790"/>
                            </p:stCondLst>
                            <p:childTnLst>
                              <p:par>
                                <p:cTn id="32" presetID="0" presetClass="pat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C 0.02 0.3 -0.02 0.6 0.01 1.05 E" pathEditMode="relative" ptsTypes="">
                                      <p:cBhvr>
                                        <p:cTn id="33" dur="7648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5832" y="139700"/>
            <a:ext cx="4060337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٩</a:t>
            </a:r>
          </a:p>
        </p:txBody>
      </p:sp>
      <p:sp>
        <p:nvSpPr>
          <p:cNvPr id="5" name="إطار صورة الكتاب"/>
          <p:cNvSpPr/>
          <p:nvPr/>
        </p:nvSpPr>
        <p:spPr>
          <a:xfrm>
            <a:off x="5261003" y="1270000"/>
            <a:ext cx="5924494" cy="355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2471A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صورة الكتاب" descr="تستلقي الفقمة على الثلج – صورة من كتابي ص ١٠٠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903" y="1358900"/>
            <a:ext cx="5746694" cy="3378200"/>
          </a:xfrm>
          <a:prstGeom prst="rect">
            <a:avLst/>
          </a:prstGeom>
        </p:spPr>
      </p:pic>
      <p:sp>
        <p:nvSpPr>
          <p:cNvPr id="7" name="تعليق صورة الكتاب"/>
          <p:cNvSpPr/>
          <p:nvPr/>
        </p:nvSpPr>
        <p:spPr>
          <a:xfrm>
            <a:off x="5295872" y="1117600"/>
            <a:ext cx="5889625" cy="292100"/>
          </a:xfrm>
          <a:prstGeom prst="roundRect">
            <a:avLst>
              <a:gd name="adj" fmla="val 50000"/>
            </a:avLst>
          </a:prstGeom>
          <a:solidFill>
            <a:srgbClr val="2471A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تستلقي الفقمة على الثلج – صورة من كتابي ص ١٠٠</a:t>
            </a:r>
          </a:p>
        </p:txBody>
      </p:sp>
      <p:pic>
        <p:nvPicPr>
          <p:cNvPr id="8" name="غزال الرنة" descr="an_reindee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0" y="1478643"/>
            <a:ext cx="2413000" cy="2757714"/>
          </a:xfrm>
          <a:prstGeom prst="rect">
            <a:avLst/>
          </a:prstGeom>
        </p:spPr>
      </p:pic>
      <p:pic>
        <p:nvPicPr>
          <p:cNvPr id="9" name="الدب القطبي" descr="an_be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96583" y="2984500"/>
            <a:ext cx="2074333" cy="1778000"/>
          </a:xfrm>
          <a:prstGeom prst="rect">
            <a:avLst/>
          </a:prstGeom>
        </p:spPr>
      </p:pic>
      <p:sp>
        <p:nvSpPr>
          <p:cNvPr id="10" name="وسم الرسم"/>
          <p:cNvSpPr/>
          <p:nvPr/>
        </p:nvSpPr>
        <p:spPr>
          <a:xfrm>
            <a:off x="762000" y="4540250"/>
            <a:ext cx="1905000" cy="254000"/>
          </a:xfrm>
          <a:prstGeom prst="roundRect">
            <a:avLst>
              <a:gd name="adj" fmla="val 50000"/>
            </a:avLst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FFFFFF"/>
                </a:solidFill>
                <a:latin typeface="Arial"/>
                <a:cs typeface="Arial"/>
              </a:rPr>
              <a:t>رسوم توضيحية</a:t>
            </a:r>
          </a:p>
        </p:txBody>
      </p:sp>
      <p:sp>
        <p:nvSpPr>
          <p:cNvPr id="11" name="معلومة 1"/>
          <p:cNvSpPr/>
          <p:nvPr/>
        </p:nvSpPr>
        <p:spPr>
          <a:xfrm>
            <a:off x="254000" y="5016500"/>
            <a:ext cx="11684000" cy="1270000"/>
          </a:xfrm>
          <a:prstGeom prst="roundRect">
            <a:avLst>
              <a:gd name="adj" fmla="val 18000"/>
            </a:avLst>
          </a:prstGeom>
          <a:solidFill>
            <a:srgbClr val="FFFFFF">
              <a:alpha val="96000"/>
            </a:srgbClr>
          </a:solidFill>
          <a:ln w="63500">
            <a:solidFill>
              <a:srgbClr val="2471A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800" b="1" lang="ar-SA">
                <a:solidFill>
                  <a:srgbClr val="1E2A3A"/>
                </a:solidFill>
                <a:latin typeface="Arial"/>
                <a:cs typeface="Arial"/>
              </a:rPr>
              <a:t>المنطقة القطبية صحراء باردة جافة.</a:t>
            </a:r>
          </a:p>
        </p:txBody>
      </p:sp>
      <p:sp>
        <p:nvSpPr>
          <p:cNvPr id="12" name="معلومة 2"/>
          <p:cNvSpPr/>
          <p:nvPr/>
        </p:nvSpPr>
        <p:spPr>
          <a:xfrm>
            <a:off x="254000" y="5016500"/>
            <a:ext cx="11684000" cy="1270000"/>
          </a:xfrm>
          <a:prstGeom prst="roundRect">
            <a:avLst>
              <a:gd name="adj" fmla="val 18000"/>
            </a:avLst>
          </a:prstGeom>
          <a:solidFill>
            <a:srgbClr val="FFFFFF">
              <a:alpha val="96000"/>
            </a:srgbClr>
          </a:solidFill>
          <a:ln w="63500">
            <a:solidFill>
              <a:srgbClr val="2471A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800" b="1" lang="ar-SA">
                <a:solidFill>
                  <a:srgbClr val="1E2A3A"/>
                </a:solidFill>
                <a:latin typeface="Arial"/>
                <a:cs typeface="Arial"/>
              </a:rPr>
              <a:t>تقع بالقرب من القطب الشمالي.</a:t>
            </a:r>
          </a:p>
        </p:txBody>
      </p:sp>
      <p:sp>
        <p:nvSpPr>
          <p:cNvPr id="13" name="معلومة 3"/>
          <p:cNvSpPr/>
          <p:nvPr/>
        </p:nvSpPr>
        <p:spPr>
          <a:xfrm>
            <a:off x="254000" y="5016500"/>
            <a:ext cx="11684000" cy="1270000"/>
          </a:xfrm>
          <a:prstGeom prst="roundRect">
            <a:avLst>
              <a:gd name="adj" fmla="val 18000"/>
            </a:avLst>
          </a:prstGeom>
          <a:solidFill>
            <a:srgbClr val="FFFFFF">
              <a:alpha val="96000"/>
            </a:srgbClr>
          </a:solidFill>
          <a:ln w="63500">
            <a:solidFill>
              <a:srgbClr val="2471A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800" b="1" lang="ar-SA">
                <a:solidFill>
                  <a:srgbClr val="1E2A3A"/>
                </a:solidFill>
                <a:latin typeface="Arial"/>
                <a:cs typeface="Arial"/>
              </a:rPr>
              <a:t>تعيش فيها الثعالب القطبية وغزال الرنة والفقمة والدب القطبي.</a:t>
            </a:r>
          </a:p>
        </p:txBody>
      </p:sp>
      <p:sp>
        <p:nvSpPr>
          <p:cNvPr id="14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5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١٠٠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  <p:sndAc>
      <p:stSnd>
        <p:snd r:embed="rId8" name="cold_wind.wav"/>
      </p:stSnd>
    </p:sndAc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3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30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00"/>
                            </p:stCondLst>
                            <p:childTnLst>
                              <p:par>
                                <p:cTn id="3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8329" y="139700"/>
            <a:ext cx="3015343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٩</a:t>
            </a:r>
          </a:p>
        </p:txBody>
      </p:sp>
      <p:sp>
        <p:nvSpPr>
          <p:cNvPr id="5" name="إطار صورة الكتاب"/>
          <p:cNvSpPr/>
          <p:nvPr/>
        </p:nvSpPr>
        <p:spPr>
          <a:xfrm>
            <a:off x="5565196" y="1270000"/>
            <a:ext cx="6078107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2471A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صورة الكتاب" descr="الثعلب القطبي – صورة من كتابي ص ١٠٠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4096" y="1358900"/>
            <a:ext cx="5900307" cy="3632200"/>
          </a:xfrm>
          <a:prstGeom prst="rect">
            <a:avLst/>
          </a:prstGeom>
        </p:spPr>
      </p:pic>
      <p:sp>
        <p:nvSpPr>
          <p:cNvPr id="7" name="تعليق صورة الكتاب"/>
          <p:cNvSpPr/>
          <p:nvPr/>
        </p:nvSpPr>
        <p:spPr>
          <a:xfrm>
            <a:off x="6991929" y="1117600"/>
            <a:ext cx="4651375" cy="292100"/>
          </a:xfrm>
          <a:prstGeom prst="roundRect">
            <a:avLst>
              <a:gd name="adj" fmla="val 50000"/>
            </a:avLst>
          </a:prstGeom>
          <a:solidFill>
            <a:srgbClr val="2471A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الثعلب القطبي – صورة من كتابي ص ١٠٠</a:t>
            </a:r>
          </a:p>
        </p:txBody>
      </p:sp>
      <p:pic>
        <p:nvPicPr>
          <p:cNvPr id="8" name="ثعلب قطبي مجسم" descr="an_fox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286" y="1206500"/>
            <a:ext cx="2340429" cy="2730500"/>
          </a:xfrm>
          <a:prstGeom prst="rect">
            <a:avLst/>
          </a:prstGeom>
        </p:spPr>
      </p:pic>
      <p:sp>
        <p:nvSpPr>
          <p:cNvPr id="9" name="وسم الرسم"/>
          <p:cNvSpPr/>
          <p:nvPr/>
        </p:nvSpPr>
        <p:spPr>
          <a:xfrm>
            <a:off x="635000" y="3905250"/>
            <a:ext cx="1905000" cy="254000"/>
          </a:xfrm>
          <a:prstGeom prst="roundRect">
            <a:avLst>
              <a:gd name="adj" fmla="val 50000"/>
            </a:avLst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FFFFFF"/>
                </a:solidFill>
                <a:latin typeface="Arial"/>
                <a:cs typeface="Arial"/>
              </a:rPr>
              <a:t>رسم توضيحي</a:t>
            </a:r>
          </a:p>
        </p:txBody>
      </p:sp>
      <p:pic>
        <p:nvPicPr>
          <p:cNvPr id="10" name="!!noura" descr="المستكشفة نورة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1000" y="2159000"/>
            <a:ext cx="1862667" cy="2794000"/>
          </a:xfrm>
          <a:prstGeom prst="rect">
            <a:avLst/>
          </a:prstGeom>
        </p:spPr>
      </p:pic>
      <p:sp>
        <p:nvSpPr>
          <p:cNvPr id="11" name="سؤال نورة"/>
          <p:cNvSpPr/>
          <p:nvPr/>
        </p:nvSpPr>
        <p:spPr>
          <a:xfrm>
            <a:off x="254000" y="4318000"/>
            <a:ext cx="4953000" cy="825500"/>
          </a:xfrm>
          <a:prstGeom prst="wedgeRoundRectCallout">
            <a:avLst>
              <a:gd name="adj1" fmla="val 16666"/>
              <a:gd name="adj2" fmla="val -80769"/>
              <a:gd name="adj3" fmla="val 16667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 rtl="1"/>
            <a:r>
              <a:rPr sz="3000" b="1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لماذا يمتلك الثعلب القطبي فراءً سميكًا؟</a:t>
            </a:r>
          </a:p>
        </p:txBody>
      </p:sp>
      <p:sp>
        <p:nvSpPr>
          <p:cNvPr id="12" name="إجابة الثعلب"/>
          <p:cNvSpPr/>
          <p:nvPr/>
        </p:nvSpPr>
        <p:spPr>
          <a:xfrm>
            <a:off x="254000" y="5270500"/>
            <a:ext cx="11684000" cy="1016000"/>
          </a:xfrm>
          <a:prstGeom prst="roundRect">
            <a:avLst>
              <a:gd name="adj" fmla="val 18000"/>
            </a:avLst>
          </a:prstGeom>
          <a:solidFill>
            <a:srgbClr val="27AE60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400" b="1" lang="ar-SA">
                <a:solidFill>
                  <a:srgbClr val="FFFFFF"/>
                </a:solidFill>
                <a:latin typeface="Arial"/>
                <a:cs typeface="Arial"/>
              </a:rPr>
              <a:t>للدببة والثعالب القطبية فراء أبيض سميك، يمنحها الدفء، ويساعدها على الاختباء.</a:t>
            </a:r>
          </a:p>
        </p:txBody>
      </p:sp>
      <p:pic>
        <p:nvPicPr>
          <p:cNvPr id="13" name="نجمة" descr="sta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3000" y="5080000"/>
            <a:ext cx="698500" cy="698500"/>
          </a:xfrm>
          <a:prstGeom prst="rect">
            <a:avLst/>
          </a:prstGeom>
        </p:spPr>
      </p:pic>
      <p:sp>
        <p:nvSpPr>
          <p:cNvPr id="14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5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١٠٠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5" display="0" masterRel="sameClick">
                                          <p:stCondLst>
                                            <p:cond evt="onBegin" delay="0">
                                              <p:tn val="10"/>
                                            </p:cond>
                                          </p:stCondLst>
                                        </p:cTn>
                                        <p:tgtEl>
                                          <p:sndTgt r:embed="rId9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8329" y="139700"/>
            <a:ext cx="3015343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٩</a:t>
            </a:r>
          </a:p>
        </p:txBody>
      </p:sp>
      <p:sp>
        <p:nvSpPr>
          <p:cNvPr id="5" name="إطار صورة الكتاب"/>
          <p:cNvSpPr/>
          <p:nvPr/>
        </p:nvSpPr>
        <p:spPr>
          <a:xfrm>
            <a:off x="6413345" y="1301750"/>
            <a:ext cx="5270810" cy="304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2471A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صورة الكتاب" descr="تستلقي الفقمة على الثلج – من كتابي ص ١٠٠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245" y="1390650"/>
            <a:ext cx="5093010" cy="2870200"/>
          </a:xfrm>
          <a:prstGeom prst="rect">
            <a:avLst/>
          </a:prstGeom>
        </p:spPr>
      </p:pic>
      <p:sp>
        <p:nvSpPr>
          <p:cNvPr id="7" name="تعليق صورة الكتاب"/>
          <p:cNvSpPr/>
          <p:nvPr/>
        </p:nvSpPr>
        <p:spPr>
          <a:xfrm>
            <a:off x="6413655" y="1149350"/>
            <a:ext cx="5270500" cy="292100"/>
          </a:xfrm>
          <a:prstGeom prst="roundRect">
            <a:avLst>
              <a:gd name="adj" fmla="val 50000"/>
            </a:avLst>
          </a:prstGeom>
          <a:solidFill>
            <a:srgbClr val="2471A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تستلقي الفقمة على الثلج – من كتابي ص ١٠٠</a:t>
            </a:r>
          </a:p>
        </p:txBody>
      </p:sp>
      <p:pic>
        <p:nvPicPr>
          <p:cNvPr id="8" name="فقمة مجسمة" descr="an_se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" y="1206500"/>
            <a:ext cx="2844800" cy="1778000"/>
          </a:xfrm>
          <a:prstGeom prst="rect">
            <a:avLst/>
          </a:prstGeom>
        </p:spPr>
      </p:pic>
      <p:sp>
        <p:nvSpPr>
          <p:cNvPr id="9" name="وسم الرسم"/>
          <p:cNvSpPr/>
          <p:nvPr/>
        </p:nvSpPr>
        <p:spPr>
          <a:xfrm>
            <a:off x="3556000" y="2667000"/>
            <a:ext cx="1905000" cy="254000"/>
          </a:xfrm>
          <a:prstGeom prst="roundRect">
            <a:avLst>
              <a:gd name="adj" fmla="val 50000"/>
            </a:avLst>
          </a:prstGeom>
          <a:solidFill>
            <a:srgbClr val="2471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FFFFFF"/>
                </a:solidFill>
                <a:latin typeface="Arial"/>
                <a:cs typeface="Arial"/>
              </a:rPr>
              <a:t>رسم توضيحي</a:t>
            </a:r>
          </a:p>
        </p:txBody>
      </p:sp>
      <p:sp>
        <p:nvSpPr>
          <p:cNvPr id="10" name="طبقة الدهون"/>
          <p:cNvSpPr/>
          <p:nvPr/>
        </p:nvSpPr>
        <p:spPr>
          <a:xfrm>
            <a:off x="254000" y="3048000"/>
            <a:ext cx="5715000" cy="1333500"/>
          </a:xfrm>
          <a:prstGeom prst="roundRect">
            <a:avLst>
              <a:gd name="adj" fmla="val 18000"/>
            </a:avLst>
          </a:prstGeom>
          <a:solidFill>
            <a:srgbClr val="FFFFFF">
              <a:alpha val="96000"/>
            </a:srgbClr>
          </a:solidFill>
          <a:ln w="50800">
            <a:solidFill>
              <a:srgbClr val="2471A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800" b="1" lang="ar-SA">
                <a:solidFill>
                  <a:srgbClr val="2471A3"/>
                </a:solidFill>
                <a:latin typeface="Arial"/>
                <a:cs typeface="Arial"/>
              </a:rPr>
              <a:t>معلومة إثرائية: </a:t>
            </a: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للفقمة طبقة سميكة من الدهون تحت الجلد، تحفظ جسمها دافئًا.</a:t>
            </a:r>
          </a:p>
        </p:txBody>
      </p:sp>
      <p:sp>
        <p:nvSpPr>
          <p:cNvPr id="11" name="نشاط أستقصي"/>
          <p:cNvSpPr/>
          <p:nvPr/>
        </p:nvSpPr>
        <p:spPr>
          <a:xfrm>
            <a:off x="254000" y="4476750"/>
            <a:ext cx="11747500" cy="920750"/>
          </a:xfrm>
          <a:prstGeom prst="roundRect">
            <a:avLst>
              <a:gd name="adj" fmla="val 18000"/>
            </a:avLst>
          </a:prstGeom>
          <a:solidFill>
            <a:srgbClr val="FFFBE6"/>
          </a:solidFill>
          <a:ln w="635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800" b="1" lang="ar-SA">
                <a:solidFill>
                  <a:srgbClr val="E8505B"/>
                </a:solidFill>
                <a:latin typeface="Arial"/>
                <a:cs typeface="Arial"/>
              </a:rPr>
              <a:t>نَشَاطٌ – أَسْتَقْصِي: </a:t>
            </a: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كَيْفَ تَسْتَطِيعُ الْحَيَوَانَاتُ الْعَيْشَ فِي الْمِنْطَقَةِ الْقُطْبِيَّةِ؟</a:t>
            </a:r>
          </a:p>
        </p:txBody>
      </p:sp>
      <p:sp>
        <p:nvSpPr>
          <p:cNvPr id="12" name="إجابة أستقصي"/>
          <p:cNvSpPr/>
          <p:nvPr/>
        </p:nvSpPr>
        <p:spPr>
          <a:xfrm>
            <a:off x="254000" y="5461000"/>
            <a:ext cx="11747500" cy="889000"/>
          </a:xfrm>
          <a:prstGeom prst="roundRect">
            <a:avLst>
              <a:gd name="adj" fmla="val 18000"/>
            </a:avLst>
          </a:prstGeom>
          <a:solidFill>
            <a:srgbClr val="27AE60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000" b="1" lang="ar-SA">
                <a:solidFill>
                  <a:srgbClr val="FFFFFF"/>
                </a:solidFill>
                <a:latin typeface="Arial"/>
                <a:cs typeface="Arial"/>
              </a:rPr>
              <a:t>لها فراء سميك أو طبقة دهون تحفظ دفأها، ولون بعضها الأبيض يساعدها على الاختباء.</a:t>
            </a:r>
          </a:p>
        </p:txBody>
      </p:sp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١٠٠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0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7131" y="139700"/>
            <a:ext cx="4177737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١٠</a:t>
            </a:r>
          </a:p>
        </p:txBody>
      </p:sp>
      <p:sp>
        <p:nvSpPr>
          <p:cNvPr id="5" name="إطار صورة الكتاب"/>
          <p:cNvSpPr/>
          <p:nvPr/>
        </p:nvSpPr>
        <p:spPr>
          <a:xfrm>
            <a:off x="254000" y="1333500"/>
            <a:ext cx="5461000" cy="480317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1E8449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صورة الكتاب" descr="صورة من كتابي – صفحة ١٠١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" y="1422400"/>
            <a:ext cx="5283200" cy="4625370"/>
          </a:xfrm>
          <a:prstGeom prst="rect">
            <a:avLst/>
          </a:prstGeom>
        </p:spPr>
      </p:pic>
      <p:sp>
        <p:nvSpPr>
          <p:cNvPr id="7" name="تعليق صورة الكتاب"/>
          <p:cNvSpPr/>
          <p:nvPr/>
        </p:nvSpPr>
        <p:spPr>
          <a:xfrm>
            <a:off x="2425700" y="1181100"/>
            <a:ext cx="3289300" cy="29210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صورة من كتابي – صفحة ١٠١</a:t>
            </a:r>
          </a:p>
        </p:txBody>
      </p:sp>
      <p:sp>
        <p:nvSpPr>
          <p:cNvPr id="8" name="معلومة 1"/>
          <p:cNvSpPr/>
          <p:nvPr/>
        </p:nvSpPr>
        <p:spPr>
          <a:xfrm>
            <a:off x="5905500" y="1301750"/>
            <a:ext cx="6032500" cy="101600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1E8449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نباتات المنطقة القطبية صغيرة وقصيرة.</a:t>
            </a:r>
          </a:p>
        </p:txBody>
      </p:sp>
      <p:sp>
        <p:nvSpPr>
          <p:cNvPr id="9" name="معلومة 2"/>
          <p:cNvSpPr/>
          <p:nvPr/>
        </p:nvSpPr>
        <p:spPr>
          <a:xfrm>
            <a:off x="5905500" y="2432050"/>
            <a:ext cx="6032500" cy="101600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1E8449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تنمو قريبة من سطح الأرض؛ لتحتمي من الرياح الباردة.</a:t>
            </a:r>
          </a:p>
        </p:txBody>
      </p:sp>
      <p:sp>
        <p:nvSpPr>
          <p:cNvPr id="10" name="معلومة 3"/>
          <p:cNvSpPr/>
          <p:nvPr/>
        </p:nvSpPr>
        <p:spPr>
          <a:xfrm>
            <a:off x="5905500" y="3562350"/>
            <a:ext cx="6032500" cy="1016000"/>
          </a:xfrm>
          <a:prstGeom prst="roundRect">
            <a:avLst>
              <a:gd name="adj" fmla="val 18000"/>
            </a:avLst>
          </a:prstGeom>
          <a:solidFill>
            <a:srgbClr val="FFFFFF">
              <a:alpha val="95000"/>
            </a:srgbClr>
          </a:solidFill>
          <a:ln w="50800">
            <a:solidFill>
              <a:srgbClr val="1E8449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000" b="1" lang="ar-SA">
                <a:solidFill>
                  <a:srgbClr val="1E2A3A"/>
                </a:solidFill>
                <a:latin typeface="Arial"/>
                <a:cs typeface="Arial"/>
              </a:rPr>
              <a:t>لها أوراق صغيرة، وجذور سطحية.</a:t>
            </a:r>
          </a:p>
        </p:txBody>
      </p:sp>
      <p:pic>
        <p:nvPicPr>
          <p:cNvPr id="11" name="نبات قطبي مجسم" descr="arctic_pla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375" y="4699000"/>
            <a:ext cx="2889250" cy="1651000"/>
          </a:xfrm>
          <a:prstGeom prst="rect">
            <a:avLst/>
          </a:prstGeom>
        </p:spPr>
      </p:pic>
      <p:sp>
        <p:nvSpPr>
          <p:cNvPr id="12" name="وسم الرسم"/>
          <p:cNvSpPr/>
          <p:nvPr/>
        </p:nvSpPr>
        <p:spPr>
          <a:xfrm>
            <a:off x="7937500" y="6096000"/>
            <a:ext cx="1905000" cy="25400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FFFFFF"/>
                </a:solidFill>
                <a:latin typeface="Arial"/>
                <a:cs typeface="Arial"/>
              </a:rPr>
              <a:t>رسم توضيحي</a:t>
            </a:r>
          </a:p>
        </p:txBody>
      </p:sp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  <p:sndAc>
      <p:stSnd>
        <p:snd r:embed="rId7" name="cold_wind.wav"/>
      </p:stSnd>
    </p:sndAc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7131" y="139700"/>
            <a:ext cx="4177737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١٠</a:t>
            </a:r>
          </a:p>
        </p:txBody>
      </p:sp>
      <p:sp>
        <p:nvSpPr>
          <p:cNvPr id="5" name="حقيقة"/>
          <p:cNvSpPr/>
          <p:nvPr/>
        </p:nvSpPr>
        <p:spPr>
          <a:xfrm>
            <a:off x="762000" y="1397000"/>
            <a:ext cx="10668000" cy="1651000"/>
          </a:xfrm>
          <a:prstGeom prst="roundRect">
            <a:avLst>
              <a:gd name="adj" fmla="val 18000"/>
            </a:avLst>
          </a:prstGeom>
          <a:solidFill>
            <a:srgbClr val="FFF5F5"/>
          </a:solidFill>
          <a:ln w="63500">
            <a:solidFill>
              <a:srgbClr val="C0392B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800" b="1" lang="ar-SA">
                <a:solidFill>
                  <a:srgbClr val="C0392B"/>
                </a:solidFill>
                <a:latin typeface="Arial"/>
                <a:cs typeface="Arial"/>
              </a:rPr>
              <a:t>حَقِيقَةٌ: </a:t>
            </a:r>
            <a:r>
              <a:rPr sz="3800" b="1" lang="ar-SA">
                <a:solidFill>
                  <a:srgbClr val="1E2A3A"/>
                </a:solidFill>
                <a:latin typeface="Arial"/>
                <a:cs typeface="Arial"/>
              </a:rPr>
              <a:t>موسم النمو في المنطقة القطبية الشمالية قصير جدًا؛ لذا فإن معظم النباتات تزهر في الوقت نفسه.</a:t>
            </a:r>
          </a:p>
        </p:txBody>
      </p:sp>
      <p:pic>
        <p:nvPicPr>
          <p:cNvPr id="6" name="نبات يزهر" descr="arctic_pla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3814536"/>
            <a:ext cx="2540000" cy="1451429"/>
          </a:xfrm>
          <a:prstGeom prst="rect">
            <a:avLst/>
          </a:prstGeom>
        </p:spPr>
      </p:pic>
      <p:pic>
        <p:nvPicPr>
          <p:cNvPr id="7" name="نبات يزهر" descr="arctic_pla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4386036"/>
            <a:ext cx="2540000" cy="1451429"/>
          </a:xfrm>
          <a:prstGeom prst="rect">
            <a:avLst/>
          </a:prstGeom>
        </p:spPr>
      </p:pic>
      <p:pic>
        <p:nvPicPr>
          <p:cNvPr id="8" name="نبات يزهر" descr="arctic_pla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3814536"/>
            <a:ext cx="2540000" cy="1451429"/>
          </a:xfrm>
          <a:prstGeom prst="rect">
            <a:avLst/>
          </a:prstGeom>
        </p:spPr>
      </p:pic>
      <p:pic>
        <p:nvPicPr>
          <p:cNvPr id="9" name="نبات يزهر" descr="arctic_pla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0" y="4386036"/>
            <a:ext cx="2540000" cy="1451429"/>
          </a:xfrm>
          <a:prstGeom prst="rect">
            <a:avLst/>
          </a:prstGeom>
        </p:spPr>
      </p:pic>
      <p:sp>
        <p:nvSpPr>
          <p:cNvPr id="10" name="وسم الرسم"/>
          <p:cNvSpPr/>
          <p:nvPr/>
        </p:nvSpPr>
        <p:spPr>
          <a:xfrm>
            <a:off x="5143500" y="6096000"/>
            <a:ext cx="1905000" cy="25400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FFFFFF"/>
                </a:solidFill>
                <a:latin typeface="Arial"/>
                <a:cs typeface="Arial"/>
              </a:rPr>
              <a:t>رسوم توضيحية</a:t>
            </a:r>
          </a:p>
        </p:txBody>
      </p:sp>
      <p:sp>
        <p:nvSpPr>
          <p:cNvPr id="11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2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0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5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7131" y="139700"/>
            <a:ext cx="4177737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١٠</a:t>
            </a:r>
          </a:p>
        </p:txBody>
      </p:sp>
      <p:pic>
        <p:nvPicPr>
          <p:cNvPr id="5" name="علامة اختبر نفسي" descr="o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5500" y="1555750"/>
            <a:ext cx="889000" cy="889000"/>
          </a:xfrm>
          <a:prstGeom prst="rect">
            <a:avLst/>
          </a:prstGeom>
        </p:spPr>
      </p:pic>
      <p:sp>
        <p:nvSpPr>
          <p:cNvPr id="6" name="سؤال الكتاب"/>
          <p:cNvSpPr/>
          <p:nvPr/>
        </p:nvSpPr>
        <p:spPr>
          <a:xfrm>
            <a:off x="3048000" y="1397000"/>
            <a:ext cx="7810500" cy="12065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C0392B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800" b="1" lang="ar-SA">
                <a:solidFill>
                  <a:srgbClr val="1E2A3A"/>
                </a:solidFill>
                <a:latin typeface="Arial"/>
                <a:cs typeface="Arial"/>
              </a:rPr>
              <a:t>كَيْفَ تَعِيشُ النَّبَاتَاتُ وَالْحَيَوَانَاتُ فِي الْمِنْطَقَةِ الْقُطْبِيَّةِ؟</a:t>
            </a:r>
          </a:p>
        </p:txBody>
      </p:sp>
      <p:sp>
        <p:nvSpPr>
          <p:cNvPr id="7" name="إجابة النباتات"/>
          <p:cNvSpPr/>
          <p:nvPr/>
        </p:nvSpPr>
        <p:spPr>
          <a:xfrm>
            <a:off x="3048000" y="2794000"/>
            <a:ext cx="8890000" cy="1111250"/>
          </a:xfrm>
          <a:prstGeom prst="roundRect">
            <a:avLst>
              <a:gd name="adj" fmla="val 18000"/>
            </a:avLst>
          </a:prstGeom>
          <a:solidFill>
            <a:srgbClr val="1E8449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FFE27A"/>
                </a:solidFill>
                <a:latin typeface="Arial"/>
                <a:cs typeface="Arial"/>
              </a:rPr>
              <a:t>النباتات: </a:t>
            </a: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صغيرة وقصيرة، تنمو قريبة من سطح الأرض لتحتمي من الرياح الباردة.</a:t>
            </a:r>
          </a:p>
        </p:txBody>
      </p:sp>
      <p:sp>
        <p:nvSpPr>
          <p:cNvPr id="8" name="إجابة الحيوانات"/>
          <p:cNvSpPr/>
          <p:nvPr/>
        </p:nvSpPr>
        <p:spPr>
          <a:xfrm>
            <a:off x="3048000" y="4064000"/>
            <a:ext cx="8890000" cy="762000"/>
          </a:xfrm>
          <a:prstGeom prst="roundRect">
            <a:avLst>
              <a:gd name="adj" fmla="val 18000"/>
            </a:avLst>
          </a:prstGeom>
          <a:solidFill>
            <a:srgbClr val="2471A3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FFE27A"/>
                </a:solidFill>
                <a:latin typeface="Arial"/>
                <a:cs typeface="Arial"/>
              </a:rPr>
              <a:t>الحيوانات: </a:t>
            </a: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لها فراء سميك يمنحها الدفء.</a:t>
            </a:r>
          </a:p>
        </p:txBody>
      </p:sp>
      <p:pic>
        <p:nvPicPr>
          <p:cNvPr id="9" name="arctic_plant" descr="arctic_pla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1688" y="5016500"/>
            <a:ext cx="2333625" cy="1333500"/>
          </a:xfrm>
          <a:prstGeom prst="rect">
            <a:avLst/>
          </a:prstGeom>
        </p:spPr>
      </p:pic>
      <p:pic>
        <p:nvPicPr>
          <p:cNvPr id="10" name="an_fox" descr="an_fox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9857" y="4889500"/>
            <a:ext cx="1306286" cy="1524000"/>
          </a:xfrm>
          <a:prstGeom prst="rect">
            <a:avLst/>
          </a:prstGeom>
        </p:spPr>
      </p:pic>
      <p:pic>
        <p:nvPicPr>
          <p:cNvPr id="11" name="!!noura" descr="المستكشفة نورة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2984500"/>
            <a:ext cx="2286000" cy="3429000"/>
          </a:xfrm>
          <a:prstGeom prst="rect">
            <a:avLst/>
          </a:prstGeom>
        </p:spPr>
      </p:pic>
      <p:sp>
        <p:nvSpPr>
          <p:cNvPr id="12" name="فقاعة نورة"/>
          <p:cNvSpPr/>
          <p:nvPr/>
        </p:nvSpPr>
        <p:spPr>
          <a:xfrm>
            <a:off x="190500" y="1460500"/>
            <a:ext cx="2794000" cy="1206500"/>
          </a:xfrm>
          <a:prstGeom prst="wedgeRoundRectCallout">
            <a:avLst>
              <a:gd name="adj1" fmla="val -6818"/>
              <a:gd name="adj2" fmla="val 81578"/>
              <a:gd name="adj3" fmla="val 16667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 rtl="1"/>
            <a:r>
              <a:rPr sz="2600" b="1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>فكّرن جيدًا... ثم أجبن!</a:t>
            </a:r>
          </a:p>
        </p:txBody>
      </p:sp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9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9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6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t_erro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717" y="444500"/>
            <a:ext cx="2530566" cy="698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١١</a:t>
            </a:r>
          </a:p>
        </p:txBody>
      </p:sp>
      <p:sp>
        <p:nvSpPr>
          <p:cNvPr id="5" name="عبارة 1"/>
          <p:cNvSpPr txBox="1"/>
          <p:nvPr/>
        </p:nvSpPr>
        <p:spPr>
          <a:xfrm>
            <a:off x="1270000" y="1174750"/>
            <a:ext cx="9144000" cy="5461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ar-SA">
                <a:solidFill>
                  <a:srgbClr val="C0392B"/>
                </a:solidFill>
                <a:latin typeface="Arial"/>
                <a:cs typeface="Arial"/>
              </a:rPr>
              <a:t>١. </a:t>
            </a:r>
            <a:r>
              <a:rPr sz="2800" b="1" lang="ar-SA">
                <a:solidFill>
                  <a:srgbClr val="1F3A93"/>
                </a:solidFill>
                <a:latin typeface="Arial"/>
                <a:cs typeface="Arial"/>
              </a:rPr>
              <a:t>جميع الصحاري حارة.</a:t>
            </a:r>
          </a:p>
        </p:txBody>
      </p:sp>
      <p:pic>
        <p:nvPicPr>
          <p:cNvPr id="6" name="خطأ 1" descr="n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0" y="1200150"/>
            <a:ext cx="508000" cy="508000"/>
          </a:xfrm>
          <a:prstGeom prst="rect">
            <a:avLst/>
          </a:prstGeom>
        </p:spPr>
      </p:pic>
      <p:sp>
        <p:nvSpPr>
          <p:cNvPr id="7" name="تصحيح 1"/>
          <p:cNvSpPr/>
          <p:nvPr/>
        </p:nvSpPr>
        <p:spPr>
          <a:xfrm>
            <a:off x="2286000" y="1746250"/>
            <a:ext cx="8699500" cy="889000"/>
          </a:xfrm>
          <a:prstGeom prst="roundRect">
            <a:avLst>
              <a:gd name="adj" fmla="val 18000"/>
            </a:avLst>
          </a:prstGeom>
          <a:solidFill>
            <a:srgbClr val="E9F7EF"/>
          </a:solidFill>
          <a:ln w="381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8449"/>
                </a:solidFill>
                <a:latin typeface="Arial"/>
                <a:cs typeface="Arial"/>
              </a:rPr>
              <a:t>التصحيح: </a:t>
            </a: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>ليست كل الصحاري حارة؛ فالمنطقة القطبية صحراء باردة.</a:t>
            </a:r>
          </a:p>
        </p:txBody>
      </p:sp>
      <p:sp>
        <p:nvSpPr>
          <p:cNvPr id="8" name="تعزيز 1"/>
          <p:cNvSpPr/>
          <p:nvPr/>
        </p:nvSpPr>
        <p:spPr>
          <a:xfrm>
            <a:off x="762000" y="1917700"/>
            <a:ext cx="1473200" cy="5461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38100">
            <a:solidFill>
              <a:srgbClr val="E0A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2100" b="1" lang="ar-SA">
                <a:solidFill>
                  <a:srgbClr val="7A4A10"/>
                </a:solidFill>
                <a:latin typeface="Arial"/>
                <a:cs typeface="Arial"/>
              </a:rPr>
              <a:t>أحسنتِ!</a:t>
            </a:r>
          </a:p>
        </p:txBody>
      </p:sp>
      <p:sp>
        <p:nvSpPr>
          <p:cNvPr id="9" name="عبارة 2"/>
          <p:cNvSpPr txBox="1"/>
          <p:nvPr/>
        </p:nvSpPr>
        <p:spPr>
          <a:xfrm>
            <a:off x="1270000" y="2698750"/>
            <a:ext cx="9144000" cy="5461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ar-SA">
                <a:solidFill>
                  <a:srgbClr val="C0392B"/>
                </a:solidFill>
                <a:latin typeface="Arial"/>
                <a:cs typeface="Arial"/>
              </a:rPr>
              <a:t>٢. </a:t>
            </a:r>
            <a:r>
              <a:rPr sz="2800" b="1" lang="ar-SA">
                <a:solidFill>
                  <a:srgbClr val="1F3A93"/>
                </a:solidFill>
                <a:latin typeface="Arial"/>
                <a:cs typeface="Arial"/>
              </a:rPr>
              <a:t>تنمو النباتات القطبية طويلة جدًا لحمايتها من البرد.</a:t>
            </a:r>
          </a:p>
        </p:txBody>
      </p:sp>
      <p:pic>
        <p:nvPicPr>
          <p:cNvPr id="10" name="خطأ 2" descr="n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0" y="2724150"/>
            <a:ext cx="508000" cy="508000"/>
          </a:xfrm>
          <a:prstGeom prst="rect">
            <a:avLst/>
          </a:prstGeom>
        </p:spPr>
      </p:pic>
      <p:sp>
        <p:nvSpPr>
          <p:cNvPr id="11" name="تصحيح 2"/>
          <p:cNvSpPr/>
          <p:nvPr/>
        </p:nvSpPr>
        <p:spPr>
          <a:xfrm>
            <a:off x="2286000" y="3270250"/>
            <a:ext cx="8699500" cy="889000"/>
          </a:xfrm>
          <a:prstGeom prst="roundRect">
            <a:avLst>
              <a:gd name="adj" fmla="val 18000"/>
            </a:avLst>
          </a:prstGeom>
          <a:solidFill>
            <a:srgbClr val="E9F7EF"/>
          </a:solidFill>
          <a:ln w="381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8449"/>
                </a:solidFill>
                <a:latin typeface="Arial"/>
                <a:cs typeface="Arial"/>
              </a:rPr>
              <a:t>التصحيح: </a:t>
            </a: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>تنمو النباتات القطبية صغيرة وقصيرة؛ لتحتمي من الرياح الباردة.</a:t>
            </a:r>
          </a:p>
        </p:txBody>
      </p:sp>
      <p:sp>
        <p:nvSpPr>
          <p:cNvPr id="12" name="تعزيز 2"/>
          <p:cNvSpPr/>
          <p:nvPr/>
        </p:nvSpPr>
        <p:spPr>
          <a:xfrm>
            <a:off x="762000" y="3441700"/>
            <a:ext cx="1473200" cy="5461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38100">
            <a:solidFill>
              <a:srgbClr val="E0A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2100" b="1" lang="ar-SA">
                <a:solidFill>
                  <a:srgbClr val="7A4A10"/>
                </a:solidFill>
                <a:latin typeface="Arial"/>
                <a:cs typeface="Arial"/>
              </a:rPr>
              <a:t>أحسنتِ!</a:t>
            </a:r>
          </a:p>
        </p:txBody>
      </p:sp>
      <p:sp>
        <p:nvSpPr>
          <p:cNvPr id="13" name="عبارة 3"/>
          <p:cNvSpPr txBox="1"/>
          <p:nvPr/>
        </p:nvSpPr>
        <p:spPr>
          <a:xfrm>
            <a:off x="1270000" y="4222750"/>
            <a:ext cx="9144000" cy="546100"/>
          </a:xfrm>
          <a:prstGeom prst="rect">
            <a:avLst/>
          </a:prstGeom>
          <a:noFill/>
        </p:spPr>
        <p:txBody>
          <a:bodyPr wrap="square" lIns="88900" rIns="88900" tIns="53340" bIns="53340" anchor="ctr">
            <a:spAutoFit/>
          </a:bodyPr>
          <a:lstStyle/>
          <a:p>
            <a:pPr algn="r" rtl="1">
              <a:lnSpc>
                <a:spcPct val="100000"/>
              </a:lnSpc>
            </a:pPr>
            <a:r>
              <a:rPr sz="2800" b="1" lang="ar-SA">
                <a:solidFill>
                  <a:srgbClr val="C0392B"/>
                </a:solidFill>
                <a:latin typeface="Arial"/>
                <a:cs typeface="Arial"/>
              </a:rPr>
              <a:t>٣. </a:t>
            </a:r>
            <a:r>
              <a:rPr sz="2800" b="1" lang="ar-SA">
                <a:solidFill>
                  <a:srgbClr val="1F3A93"/>
                </a:solidFill>
                <a:latin typeface="Arial"/>
                <a:cs typeface="Arial"/>
              </a:rPr>
              <a:t>تحتاج حيوانات الصحراء إلى كميات كبيرة من الماء يوميًا.</a:t>
            </a:r>
          </a:p>
        </p:txBody>
      </p:sp>
      <p:pic>
        <p:nvPicPr>
          <p:cNvPr id="14" name="خطأ 3" descr="n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0" y="4248150"/>
            <a:ext cx="508000" cy="508000"/>
          </a:xfrm>
          <a:prstGeom prst="rect">
            <a:avLst/>
          </a:prstGeom>
        </p:spPr>
      </p:pic>
      <p:sp>
        <p:nvSpPr>
          <p:cNvPr id="15" name="تصحيح 3"/>
          <p:cNvSpPr/>
          <p:nvPr/>
        </p:nvSpPr>
        <p:spPr>
          <a:xfrm>
            <a:off x="2286000" y="4794250"/>
            <a:ext cx="8699500" cy="889000"/>
          </a:xfrm>
          <a:prstGeom prst="roundRect">
            <a:avLst>
              <a:gd name="adj" fmla="val 18000"/>
            </a:avLst>
          </a:prstGeom>
          <a:solidFill>
            <a:srgbClr val="E9F7EF"/>
          </a:solidFill>
          <a:ln w="381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8449"/>
                </a:solidFill>
                <a:latin typeface="Arial"/>
                <a:cs typeface="Arial"/>
              </a:rPr>
              <a:t>التصحيح: </a:t>
            </a: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>تعيش حيوانات الصحراء بماء قليل، وتحصل على جزء منه من غذائها.</a:t>
            </a:r>
          </a:p>
        </p:txBody>
      </p:sp>
      <p:sp>
        <p:nvSpPr>
          <p:cNvPr id="16" name="تعزيز 3"/>
          <p:cNvSpPr/>
          <p:nvPr/>
        </p:nvSpPr>
        <p:spPr>
          <a:xfrm>
            <a:off x="762000" y="4965700"/>
            <a:ext cx="1473200" cy="546100"/>
          </a:xfrm>
          <a:prstGeom prst="roundRect">
            <a:avLst>
              <a:gd name="adj" fmla="val 50000"/>
            </a:avLst>
          </a:prstGeom>
          <a:solidFill>
            <a:srgbClr val="FFD34D"/>
          </a:solidFill>
          <a:ln w="38100">
            <a:solidFill>
              <a:srgbClr val="E0A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2100" b="1" lang="ar-SA">
                <a:solidFill>
                  <a:srgbClr val="7A4A10"/>
                </a:solidFill>
                <a:latin typeface="Arial"/>
                <a:cs typeface="Arial"/>
              </a:rPr>
              <a:t>أحسنتِ!</a:t>
            </a:r>
          </a:p>
        </p:txBody>
      </p:sp>
      <p:sp>
        <p:nvSpPr>
          <p:cNvPr id="17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8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صفحات ٩٦ –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0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900"/>
                            </p:stCondLst>
                            <p:childTnLst>
                              <p:par>
                                <p:cTn id="1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22" display="0" masterRel="sameClick">
                                          <p:stCondLst>
                                            <p:cond evt="onBegin" delay="0">
                                              <p:tn val="17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31" display="0" masterRel="sameClick">
                                          <p:stCondLst>
                                            <p:cond evt="onBegin" delay="0">
                                              <p:tn val="26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900"/>
                            </p:stCondLst>
                            <p:childTnLst>
                              <p:par>
                                <p:cTn id="3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43" display="0" masterRel="sameClick">
                                          <p:stCondLst>
                                            <p:cond evt="onBegin" delay="0">
                                              <p:tn val="38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52" display="0" masterRel="sameClick">
                                          <p:stCondLst>
                                            <p:cond evt="onBegin" delay="0">
                                              <p:tn val="47"/>
                                            </p:cond>
                                          </p:stCondLst>
                                        </p:cTn>
                                        <p:tgtEl>
                                          <p:sndTgt r:embed="rId6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00"/>
                            </p:stCondLst>
                            <p:childTnLst>
                              <p:par>
                                <p:cTn id="5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00"/>
                            </p:stCondLst>
                            <p:childTnLst>
                              <p:par>
                                <p:cTn id="5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64" display="0" masterRel="sameClick">
                                          <p:stCondLst>
                                            <p:cond evt="onBegin" delay="0">
                                              <p:tn val="59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5" grpId="0" animBg="1"/>
      <p:bldP spid="16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 باردة" descr="bg_snow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خلفية حارة" descr="bg_desert_plain"/>
          <p:cNvPicPr>
            <a:picLocks noChangeAspect="1"/>
          </p:cNvPicPr>
          <p:nvPr/>
        </p:nvPicPr>
        <p:blipFill>
          <a:blip r:embed="rId4"/>
          <a:srcRect l="50000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4" name="عنوان" descr="عنوان المحطة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9311" y="139700"/>
            <a:ext cx="4273378" cy="952500"/>
          </a:xfrm>
          <a:prstGeom prst="rect">
            <a:avLst/>
          </a:prstGeom>
        </p:spPr>
      </p:pic>
      <p:sp>
        <p:nvSpPr>
          <p:cNvPr id="5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0000" y="1270000"/>
            <a:ext cx="5588000" cy="5715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800" b="1" lang="ar-SA">
                <a:solidFill>
                  <a:srgbClr val="FFFFFF"/>
                </a:solidFill>
                <a:latin typeface="Arial"/>
                <a:cs typeface="Arial"/>
              </a:rPr>
              <a:t>الصحراء الحارة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4000" y="1270000"/>
            <a:ext cx="5588000" cy="571500"/>
          </a:xfrm>
          <a:prstGeom prst="roundRect">
            <a:avLst>
              <a:gd name="adj" fmla="val 50000"/>
            </a:avLst>
          </a:prstGeom>
          <a:solidFill>
            <a:srgbClr val="2471A3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800" b="1" lang="ar-SA">
                <a:solidFill>
                  <a:srgbClr val="FFFFFF"/>
                </a:solidFill>
                <a:latin typeface="Arial"/>
                <a:cs typeface="Arial"/>
              </a:rPr>
              <a:t>الصحراء الباردة</a:t>
            </a:r>
          </a:p>
        </p:txBody>
      </p:sp>
      <p:sp>
        <p:nvSpPr>
          <p:cNvPr id="8" name="منطقة التصنيف"/>
          <p:cNvSpPr/>
          <p:nvPr/>
        </p:nvSpPr>
        <p:spPr>
          <a:xfrm>
            <a:off x="6350000" y="1905000"/>
            <a:ext cx="5588000" cy="2032000"/>
          </a:xfrm>
          <a:prstGeom prst="roundRect">
            <a:avLst>
              <a:gd name="adj" fmla="val 12000"/>
            </a:avLst>
          </a:prstGeom>
          <a:solidFill>
            <a:srgbClr val="FFFFFF">
              <a:alpha val="45000"/>
            </a:srgbClr>
          </a:solidFill>
          <a:ln w="38100">
            <a:solidFill>
              <a:srgbClr val="E67E22"/>
            </a:solidFill>
            <a:prstDash val="dash"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منطقة التصنيف"/>
          <p:cNvSpPr/>
          <p:nvPr/>
        </p:nvSpPr>
        <p:spPr>
          <a:xfrm>
            <a:off x="254000" y="1905000"/>
            <a:ext cx="5588000" cy="2032000"/>
          </a:xfrm>
          <a:prstGeom prst="roundRect">
            <a:avLst>
              <a:gd name="adj" fmla="val 12000"/>
            </a:avLst>
          </a:prstGeom>
          <a:solidFill>
            <a:srgbClr val="FFFFFF">
              <a:alpha val="45000"/>
            </a:srgbClr>
          </a:solidFill>
          <a:ln w="38100">
            <a:solidFill>
              <a:srgbClr val="2471A3"/>
            </a:solidFill>
            <a:prstDash val="dash"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بطاقة الضب"/>
          <p:cNvGrpSpPr/>
          <p:nvPr/>
        </p:nvGrpSpPr>
        <p:grpSpPr>
          <a:xfrm>
            <a:off x="10223500" y="4254500"/>
            <a:ext cx="1778000" cy="1905000"/>
            <a:chOff x="10223500" y="4254500"/>
            <a:chExt cx="1778000" cy="1905000"/>
          </a:xfrm>
        </p:grpSpPr>
        <p:sp>
          <p:nvSpPr>
            <p:cNvPr id="11" name="Rounded Rectangle 10"/>
            <p:cNvSpPr/>
            <p:nvPr/>
          </p:nvSpPr>
          <p:spPr>
            <a:xfrm>
              <a:off x="10223500" y="4254500"/>
              <a:ext cx="1778000" cy="19050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0800">
              <a:solidFill>
                <a:srgbClr val="8E44AD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2" name="الضب" descr="an_lizar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350500" y="4445000"/>
              <a:ext cx="1524000" cy="952500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10255250" y="5556250"/>
              <a:ext cx="1714500" cy="546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1"/>
              <a:r>
                <a:rPr sz="2800" b="1" lang="ar-SA">
                  <a:solidFill>
                    <a:srgbClr val="1E2A3A"/>
                  </a:solidFill>
                  <a:latin typeface="Arial"/>
                  <a:cs typeface="Arial"/>
                </a:rPr>
                <a:t>الضب</a:t>
              </a:r>
            </a:p>
          </p:txBody>
        </p:sp>
      </p:grpSp>
      <p:grpSp>
        <p:nvGrpSpPr>
          <p:cNvPr id="14" name="بطاقة الثعلب القطبي"/>
          <p:cNvGrpSpPr/>
          <p:nvPr/>
        </p:nvGrpSpPr>
        <p:grpSpPr>
          <a:xfrm>
            <a:off x="8286750" y="4254500"/>
            <a:ext cx="1778000" cy="1905000"/>
            <a:chOff x="8286750" y="4254500"/>
            <a:chExt cx="1778000" cy="1905000"/>
          </a:xfrm>
        </p:grpSpPr>
        <p:sp>
          <p:nvSpPr>
            <p:cNvPr id="15" name="Rounded Rectangle 14"/>
            <p:cNvSpPr/>
            <p:nvPr/>
          </p:nvSpPr>
          <p:spPr>
            <a:xfrm>
              <a:off x="8286750" y="4254500"/>
              <a:ext cx="1778000" cy="19050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0800">
              <a:solidFill>
                <a:srgbClr val="8E44AD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6" name="الثعلب القطبي" descr="an_fox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658679" y="4318000"/>
              <a:ext cx="1034143" cy="12065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8318500" y="5556250"/>
              <a:ext cx="1714500" cy="546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1"/>
              <a:r>
                <a:rPr sz="2400" b="1" lang="ar-SA">
                  <a:solidFill>
                    <a:srgbClr val="1E2A3A"/>
                  </a:solidFill>
                  <a:latin typeface="Arial"/>
                  <a:cs typeface="Arial"/>
                </a:rPr>
                <a:t>الثعلب القطبي</a:t>
              </a:r>
            </a:p>
          </p:txBody>
        </p:sp>
      </p:grpSp>
      <p:grpSp>
        <p:nvGrpSpPr>
          <p:cNvPr id="18" name="بطاقة الصبار"/>
          <p:cNvGrpSpPr/>
          <p:nvPr/>
        </p:nvGrpSpPr>
        <p:grpSpPr>
          <a:xfrm>
            <a:off x="6350000" y="4254500"/>
            <a:ext cx="1778000" cy="1905000"/>
            <a:chOff x="6350000" y="4254500"/>
            <a:chExt cx="1778000" cy="1905000"/>
          </a:xfrm>
        </p:grpSpPr>
        <p:sp>
          <p:nvSpPr>
            <p:cNvPr id="19" name="Rounded Rectangle 18"/>
            <p:cNvSpPr/>
            <p:nvPr/>
          </p:nvSpPr>
          <p:spPr>
            <a:xfrm>
              <a:off x="6350000" y="4254500"/>
              <a:ext cx="1778000" cy="19050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0800">
              <a:solidFill>
                <a:srgbClr val="8E44AD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0" name="الصبار" descr="cactus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74962" y="4318000"/>
              <a:ext cx="928077" cy="12065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6381750" y="5556250"/>
              <a:ext cx="1714500" cy="546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1"/>
              <a:r>
                <a:rPr sz="2800" b="1" lang="ar-SA">
                  <a:solidFill>
                    <a:srgbClr val="1E2A3A"/>
                  </a:solidFill>
                  <a:latin typeface="Arial"/>
                  <a:cs typeface="Arial"/>
                </a:rPr>
                <a:t>الصبار</a:t>
              </a:r>
            </a:p>
          </p:txBody>
        </p:sp>
      </p:grpSp>
      <p:grpSp>
        <p:nvGrpSpPr>
          <p:cNvPr id="22" name="بطاقة غزال الرنة"/>
          <p:cNvGrpSpPr/>
          <p:nvPr/>
        </p:nvGrpSpPr>
        <p:grpSpPr>
          <a:xfrm>
            <a:off x="4413250" y="4254500"/>
            <a:ext cx="1778000" cy="1905000"/>
            <a:chOff x="4413250" y="4254500"/>
            <a:chExt cx="1778000" cy="1905000"/>
          </a:xfrm>
        </p:grpSpPr>
        <p:sp>
          <p:nvSpPr>
            <p:cNvPr id="23" name="Rounded Rectangle 22"/>
            <p:cNvSpPr/>
            <p:nvPr/>
          </p:nvSpPr>
          <p:spPr>
            <a:xfrm>
              <a:off x="4413250" y="4254500"/>
              <a:ext cx="1778000" cy="19050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0800">
              <a:solidFill>
                <a:srgbClr val="8E44AD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4" name="غزال الرنة" descr="an_reindeer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4406" y="4318000"/>
              <a:ext cx="1055688" cy="12065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4445000" y="5556250"/>
              <a:ext cx="1714500" cy="546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1"/>
              <a:r>
                <a:rPr sz="2400" b="1" lang="ar-SA">
                  <a:solidFill>
                    <a:srgbClr val="1E2A3A"/>
                  </a:solidFill>
                  <a:latin typeface="Arial"/>
                  <a:cs typeface="Arial"/>
                </a:rPr>
                <a:t>غزال الرنة</a:t>
              </a:r>
            </a:p>
          </p:txBody>
        </p:sp>
      </p:grpSp>
      <p:grpSp>
        <p:nvGrpSpPr>
          <p:cNvPr id="26" name="بطاقة العقرب"/>
          <p:cNvGrpSpPr/>
          <p:nvPr/>
        </p:nvGrpSpPr>
        <p:grpSpPr>
          <a:xfrm>
            <a:off x="2476500" y="4254500"/>
            <a:ext cx="1778000" cy="1905000"/>
            <a:chOff x="2476500" y="4254500"/>
            <a:chExt cx="1778000" cy="1905000"/>
          </a:xfrm>
        </p:grpSpPr>
        <p:sp>
          <p:nvSpPr>
            <p:cNvPr id="27" name="Rounded Rectangle 26"/>
            <p:cNvSpPr/>
            <p:nvPr/>
          </p:nvSpPr>
          <p:spPr>
            <a:xfrm>
              <a:off x="2476500" y="4254500"/>
              <a:ext cx="1778000" cy="19050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0800">
              <a:solidFill>
                <a:srgbClr val="8E44AD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العقرب" descr="an_scorpion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11438" y="4318000"/>
              <a:ext cx="1508125" cy="12065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2508250" y="5556250"/>
              <a:ext cx="1714500" cy="546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1"/>
              <a:r>
                <a:rPr sz="2800" b="1" lang="ar-SA">
                  <a:solidFill>
                    <a:srgbClr val="1E2A3A"/>
                  </a:solidFill>
                  <a:latin typeface="Arial"/>
                  <a:cs typeface="Arial"/>
                </a:rPr>
                <a:t>العقرب</a:t>
              </a:r>
            </a:p>
          </p:txBody>
        </p:sp>
      </p:grpSp>
      <p:grpSp>
        <p:nvGrpSpPr>
          <p:cNvPr id="30" name="بطاقة نبات قطبي"/>
          <p:cNvGrpSpPr/>
          <p:nvPr/>
        </p:nvGrpSpPr>
        <p:grpSpPr>
          <a:xfrm>
            <a:off x="539750" y="4254500"/>
            <a:ext cx="1778000" cy="1905000"/>
            <a:chOff x="539750" y="4254500"/>
            <a:chExt cx="1778000" cy="1905000"/>
          </a:xfrm>
        </p:grpSpPr>
        <p:sp>
          <p:nvSpPr>
            <p:cNvPr id="31" name="Rounded Rectangle 30"/>
            <p:cNvSpPr/>
            <p:nvPr/>
          </p:nvSpPr>
          <p:spPr>
            <a:xfrm>
              <a:off x="539750" y="4254500"/>
              <a:ext cx="1778000" cy="19050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0800">
              <a:solidFill>
                <a:srgbClr val="8E44AD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2" name="نبات قطبي" descr="arctic_plant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6750" y="4485821"/>
              <a:ext cx="1524000" cy="870857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71500" y="5556250"/>
              <a:ext cx="1714500" cy="5461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 rtl="1"/>
              <a:r>
                <a:rPr sz="2400" b="1" lang="ar-SA">
                  <a:solidFill>
                    <a:srgbClr val="1E2A3A"/>
                  </a:solidFill>
                  <a:latin typeface="Arial"/>
                  <a:cs typeface="Arial"/>
                </a:rPr>
                <a:t>نبات قطبي</a:t>
              </a:r>
            </a:p>
          </p:txBody>
        </p:sp>
      </p:grpSp>
      <p:sp>
        <p:nvSpPr>
          <p:cNvPr id="34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35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صفحات ٩٦ – ١٠١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600">
        <p14:vortex dir="r"/>
        <p:sndAc>
          <p:stSnd>
            <p:snd r:embed="rId13" name="whoosh.wav"/>
          </p:stSnd>
        </p:sndAc>
      </p:transition>
    </mc:Choice>
    <mc:Fallback>
      <p:transition spd="slow">
        <p:fade/>
        <p:sndAc>
          <p:stSnd>
            <p:snd r:embed="rId13" name="whoosh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04 -0.3333 E" pathEditMode="relative" ptsTypes="">
                                      <p:cBhvr>
                                        <p:cTn id="6" dur="1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7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0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516 -0.3333 E" pathEditMode="relative" ptsTypes="">
                                      <p:cBhvr>
                                        <p:cTn id="12" dur="1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3" display="0" masterRel="sameClick">
                                          <p:stCondLst>
                                            <p:cond evt="onBegin" delay="0">
                                              <p:tn val="11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0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562 -0.3333 E" pathEditMode="relative" ptsTypes="">
                                      <p:cBhvr>
                                        <p:cTn id="18" dur="12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9" display="0" masterRel="sameClick">
                                          <p:stCondLst>
                                            <p:cond evt="onBegin" delay="0">
                                              <p:tn val="17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0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849 -0.3333 E" pathEditMode="relative" ptsTypes="">
                                      <p:cBhvr>
                                        <p:cTn id="24" dur="12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25" display="0" masterRel="sameClick">
                                          <p:stCondLst>
                                            <p:cond evt="onBegin" delay="0">
                                              <p:tn val="23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0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3229 -0.3333 E" pathEditMode="relative" ptsTypes="">
                                      <p:cBhvr>
                                        <p:cTn id="30" dur="12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31" display="0" masterRel="sameClick">
                                          <p:stCondLst>
                                            <p:cond evt="onBegin" delay="0">
                                              <p:tn val="29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0" presetClass="pat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182 -0.3333 E" pathEditMode="relative" ptsTypes="">
                                      <p:cBhvr>
                                        <p:cTn id="36" dur="1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37" display="0" masterRel="sameClick">
                                          <p:stCondLst>
                                            <p:cond evt="onBegin" delay="0">
                                              <p:tn val="35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١٣</a:t>
            </a:r>
          </a:p>
        </p:txBody>
      </p:sp>
      <p:pic>
        <p:nvPicPr>
          <p:cNvPr id="4" name="عنوان السبورة" descr="مقارنة بين الصحاري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6444" y="457200"/>
            <a:ext cx="4619113" cy="69850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1016000" y="1841500"/>
            <a:ext cx="10160000" cy="0"/>
          </a:xfrm>
          <a:prstGeom prst="line">
            <a:avLst/>
          </a:prstGeom>
          <a:ln w="635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207500" y="1206500"/>
            <a:ext cx="0" cy="4476750"/>
          </a:xfrm>
          <a:prstGeom prst="line">
            <a:avLst/>
          </a:prstGeom>
          <a:ln w="5080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111750" y="1206500"/>
            <a:ext cx="0" cy="4476750"/>
          </a:xfrm>
          <a:prstGeom prst="line">
            <a:avLst/>
          </a:prstGeom>
          <a:ln w="5080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الصحراء الحارة" descr="hw_h_ho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8775" y="1238250"/>
            <a:ext cx="2206451" cy="539750"/>
          </a:xfrm>
          <a:prstGeom prst="rect">
            <a:avLst/>
          </a:prstGeom>
        </p:spPr>
      </p:pic>
      <p:pic>
        <p:nvPicPr>
          <p:cNvPr id="9" name="الصحراء الباردة" descr="hw_h_co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9187" y="1238250"/>
            <a:ext cx="2277626" cy="539750"/>
          </a:xfrm>
          <a:prstGeom prst="rect">
            <a:avLst/>
          </a:prstGeom>
        </p:spPr>
      </p:pic>
      <p:pic>
        <p:nvPicPr>
          <p:cNvPr id="10" name="sun" descr="su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0750" y="1270000"/>
            <a:ext cx="508000" cy="508000"/>
          </a:xfrm>
          <a:prstGeom prst="rect">
            <a:avLst/>
          </a:prstGeom>
        </p:spPr>
      </p:pic>
      <p:pic>
        <p:nvPicPr>
          <p:cNvPr id="11" name="cactus" descr="cactu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77827" y="1244600"/>
            <a:ext cx="429846" cy="558800"/>
          </a:xfrm>
          <a:prstGeom prst="rect">
            <a:avLst/>
          </a:prstGeom>
        </p:spPr>
      </p:pic>
      <p:pic>
        <p:nvPicPr>
          <p:cNvPr id="12" name="an_bear" descr="an_be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84688" y="1301750"/>
            <a:ext cx="555625" cy="476250"/>
          </a:xfrm>
          <a:prstGeom prst="rect">
            <a:avLst/>
          </a:prstGeom>
        </p:spPr>
      </p:pic>
      <p:pic>
        <p:nvPicPr>
          <p:cNvPr id="13" name="snowflake" descr="snowflak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9500" y="1270000"/>
            <a:ext cx="508000" cy="508000"/>
          </a:xfrm>
          <a:prstGeom prst="rect">
            <a:avLst/>
          </a:prstGeom>
        </p:spPr>
      </p:pic>
      <p:pic>
        <p:nvPicPr>
          <p:cNvPr id="14" name="معيار" descr="hw_l_tem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63713" y="2051050"/>
            <a:ext cx="1317037" cy="666750"/>
          </a:xfrm>
          <a:prstGeom prst="rect">
            <a:avLst/>
          </a:prstGeom>
        </p:spPr>
      </p:pic>
      <p:pic>
        <p:nvPicPr>
          <p:cNvPr id="15" name="الحارة" descr="hw_hot_temp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73555" y="2012950"/>
            <a:ext cx="3738695" cy="749300"/>
          </a:xfrm>
          <a:prstGeom prst="rect">
            <a:avLst/>
          </a:prstGeom>
        </p:spPr>
      </p:pic>
      <p:pic>
        <p:nvPicPr>
          <p:cNvPr id="16" name="الباردة" descr="hw_cold_temp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76552" y="2012950"/>
            <a:ext cx="1839948" cy="749300"/>
          </a:xfrm>
          <a:prstGeom prst="rect">
            <a:avLst/>
          </a:prstGeom>
        </p:spPr>
      </p:pic>
      <p:cxnSp>
        <p:nvCxnSpPr>
          <p:cNvPr id="17" name="Connector 16"/>
          <p:cNvCxnSpPr/>
          <p:nvPr/>
        </p:nvCxnSpPr>
        <p:spPr>
          <a:xfrm>
            <a:off x="1016000" y="2838450"/>
            <a:ext cx="10160000" cy="0"/>
          </a:xfrm>
          <a:prstGeom prst="line">
            <a:avLst/>
          </a:prstGeom>
          <a:ln w="25400">
            <a:solidFill>
              <a:srgbClr val="D5D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معيار" descr="hw_l_plant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2750" y="3000513"/>
            <a:ext cx="1778000" cy="647424"/>
          </a:xfrm>
          <a:prstGeom prst="rect">
            <a:avLst/>
          </a:prstGeom>
        </p:spPr>
      </p:pic>
      <p:pic>
        <p:nvPicPr>
          <p:cNvPr id="19" name="الحارة" descr="hw_hot_plant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88030" y="2952750"/>
            <a:ext cx="3424220" cy="749300"/>
          </a:xfrm>
          <a:prstGeom prst="rect">
            <a:avLst/>
          </a:prstGeom>
        </p:spPr>
      </p:pic>
      <p:pic>
        <p:nvPicPr>
          <p:cNvPr id="20" name="الباردة" descr="hw_cold_plant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98918" y="2952750"/>
            <a:ext cx="3217582" cy="749300"/>
          </a:xfrm>
          <a:prstGeom prst="rect">
            <a:avLst/>
          </a:prstGeom>
        </p:spPr>
      </p:pic>
      <p:cxnSp>
        <p:nvCxnSpPr>
          <p:cNvPr id="21" name="Connector 20"/>
          <p:cNvCxnSpPr/>
          <p:nvPr/>
        </p:nvCxnSpPr>
        <p:spPr>
          <a:xfrm>
            <a:off x="1016000" y="3778250"/>
            <a:ext cx="10160000" cy="0"/>
          </a:xfrm>
          <a:prstGeom prst="line">
            <a:avLst/>
          </a:prstGeom>
          <a:ln w="25400">
            <a:solidFill>
              <a:srgbClr val="D5D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معيار" descr="hw_l_animal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02750" y="3963741"/>
            <a:ext cx="1778000" cy="600569"/>
          </a:xfrm>
          <a:prstGeom prst="rect">
            <a:avLst/>
          </a:prstGeom>
        </p:spPr>
      </p:pic>
      <p:pic>
        <p:nvPicPr>
          <p:cNvPr id="23" name="الحارة" descr="hw_hot_animal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07000" y="3944237"/>
            <a:ext cx="3905250" cy="645925"/>
          </a:xfrm>
          <a:prstGeom prst="rect">
            <a:avLst/>
          </a:prstGeom>
        </p:spPr>
      </p:pic>
      <p:pic>
        <p:nvPicPr>
          <p:cNvPr id="24" name="الباردة" descr="hw_cold_animal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79500" y="3996108"/>
            <a:ext cx="3937000" cy="542185"/>
          </a:xfrm>
          <a:prstGeom prst="rect">
            <a:avLst/>
          </a:prstGeom>
        </p:spPr>
      </p:pic>
      <p:cxnSp>
        <p:nvCxnSpPr>
          <p:cNvPr id="25" name="Connector 24"/>
          <p:cNvCxnSpPr/>
          <p:nvPr/>
        </p:nvCxnSpPr>
        <p:spPr>
          <a:xfrm>
            <a:off x="1016000" y="4718050"/>
            <a:ext cx="10160000" cy="0"/>
          </a:xfrm>
          <a:prstGeom prst="line">
            <a:avLst/>
          </a:prstGeom>
          <a:ln w="25400">
            <a:solidFill>
              <a:srgbClr val="D5D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معيار" descr="hw_l_way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02750" y="4912233"/>
            <a:ext cx="1778000" cy="583184"/>
          </a:xfrm>
          <a:prstGeom prst="rect">
            <a:avLst/>
          </a:prstGeom>
        </p:spPr>
      </p:pic>
      <p:pic>
        <p:nvPicPr>
          <p:cNvPr id="27" name="الحارة" descr="hw_hot_way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207000" y="4837884"/>
            <a:ext cx="3905250" cy="738233"/>
          </a:xfrm>
          <a:prstGeom prst="rect">
            <a:avLst/>
          </a:prstGeom>
        </p:spPr>
      </p:pic>
      <p:pic>
        <p:nvPicPr>
          <p:cNvPr id="28" name="الباردة" descr="hw_cold_way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9500" y="4917321"/>
            <a:ext cx="3937000" cy="579358"/>
          </a:xfrm>
          <a:prstGeom prst="rect">
            <a:avLst/>
          </a:prstGeom>
        </p:spPr>
      </p:pic>
      <p:sp>
        <p:nvSpPr>
          <p:cNvPr id="29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30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صفحات ٩٨ –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0500" y="1206500"/>
            <a:ext cx="11811000" cy="5143500"/>
          </a:xfrm>
          <a:prstGeom prst="roundRect">
            <a:avLst>
              <a:gd name="adj" fmla="val 5000"/>
            </a:avLst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4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214" y="139700"/>
            <a:ext cx="4517571" cy="952500"/>
          </a:xfrm>
          <a:prstGeom prst="rect">
            <a:avLst/>
          </a:prstGeom>
        </p:spPr>
      </p:pic>
      <p:sp>
        <p:nvSpPr>
          <p:cNvPr id="5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١٤</a:t>
            </a:r>
          </a:p>
        </p:txBody>
      </p:sp>
      <p:sp>
        <p:nvSpPr>
          <p:cNvPr id="6" name="سؤال الكتاب"/>
          <p:cNvSpPr/>
          <p:nvPr/>
        </p:nvSpPr>
        <p:spPr>
          <a:xfrm>
            <a:off x="508000" y="1333500"/>
            <a:ext cx="11176000" cy="1270000"/>
          </a:xfrm>
          <a:prstGeom prst="roundRect">
            <a:avLst>
              <a:gd name="adj" fmla="val 18000"/>
            </a:avLst>
          </a:prstGeom>
          <a:solidFill>
            <a:srgbClr val="FFFBE6"/>
          </a:solidFill>
          <a:ln w="63500">
            <a:solidFill>
              <a:srgbClr val="C0392B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800" b="1" lang="ar-SA">
                <a:solidFill>
                  <a:srgbClr val="2E86DE"/>
                </a:solidFill>
                <a:latin typeface="Arial"/>
                <a:cs typeface="Arial"/>
              </a:rPr>
              <a:t>١- أُصَنِّفُ. </a:t>
            </a:r>
            <a:r>
              <a:rPr sz="3800" b="1" lang="ar-SA">
                <a:solidFill>
                  <a:srgbClr val="1E2A3A"/>
                </a:solidFill>
                <a:latin typeface="Arial"/>
                <a:cs typeface="Arial"/>
              </a:rPr>
              <a:t>أَعْمَلُ قَائِمَةً بِأَسْمَاءِ حَيَوَانَاتٍ مِنَ الصَّحْرَاءِ الْحَارَّةِ، وَأُخْرَى مِنَ الصَّحْرَاءِ الْبَارِدَةِ.</a:t>
            </a:r>
          </a:p>
        </p:txBody>
      </p:sp>
      <p:sp>
        <p:nvSpPr>
          <p:cNvPr id="7" name="الصحراء الحارة"/>
          <p:cNvSpPr/>
          <p:nvPr/>
        </p:nvSpPr>
        <p:spPr>
          <a:xfrm>
            <a:off x="6223000" y="2794000"/>
            <a:ext cx="5461000" cy="1905000"/>
          </a:xfrm>
          <a:prstGeom prst="roundRect">
            <a:avLst>
              <a:gd name="adj" fmla="val 18000"/>
            </a:avLst>
          </a:prstGeom>
          <a:solidFill>
            <a:srgbClr val="E67E2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FFE27A"/>
                </a:solidFill>
                <a:latin typeface="Arial"/>
                <a:cs typeface="Arial"/>
              </a:rPr>
              <a:t>الصحراء الحارة</a:t>
            </a:r>
          </a:p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الضب، الذئب، القط البري، العقرب.</a:t>
            </a:r>
          </a:p>
        </p:txBody>
      </p:sp>
      <p:pic>
        <p:nvPicPr>
          <p:cNvPr id="8" name="an_lizard" descr="an_lizar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5147469"/>
            <a:ext cx="1206500" cy="754062"/>
          </a:xfrm>
          <a:prstGeom prst="rect">
            <a:avLst/>
          </a:prstGeom>
        </p:spPr>
      </p:pic>
      <p:pic>
        <p:nvPicPr>
          <p:cNvPr id="9" name="an_wolf" descr="an_wolf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9786" y="4826000"/>
            <a:ext cx="1197429" cy="1397000"/>
          </a:xfrm>
          <a:prstGeom prst="rect">
            <a:avLst/>
          </a:prstGeom>
        </p:spPr>
      </p:pic>
      <p:pic>
        <p:nvPicPr>
          <p:cNvPr id="10" name="an_cat" descr="an_ca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8036" y="4826000"/>
            <a:ext cx="1197429" cy="1397000"/>
          </a:xfrm>
          <a:prstGeom prst="rect">
            <a:avLst/>
          </a:prstGeom>
        </p:spPr>
      </p:pic>
      <p:pic>
        <p:nvPicPr>
          <p:cNvPr id="11" name="an_scorpion" descr="an_scorpi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1750" y="5041900"/>
            <a:ext cx="1206500" cy="965200"/>
          </a:xfrm>
          <a:prstGeom prst="rect">
            <a:avLst/>
          </a:prstGeom>
        </p:spPr>
      </p:pic>
      <p:sp>
        <p:nvSpPr>
          <p:cNvPr id="12" name="الصحراء الباردة"/>
          <p:cNvSpPr/>
          <p:nvPr/>
        </p:nvSpPr>
        <p:spPr>
          <a:xfrm>
            <a:off x="508000" y="2794000"/>
            <a:ext cx="5461000" cy="1905000"/>
          </a:xfrm>
          <a:prstGeom prst="roundRect">
            <a:avLst>
              <a:gd name="adj" fmla="val 18000"/>
            </a:avLst>
          </a:prstGeom>
          <a:solidFill>
            <a:srgbClr val="2471A3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FFE27A"/>
                </a:solidFill>
                <a:latin typeface="Arial"/>
                <a:cs typeface="Arial"/>
              </a:rPr>
              <a:t>الصحراء الباردة</a:t>
            </a:r>
          </a:p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الثعلب القطبي، غزال الرنة، الفقمة، الدب القطبي.</a:t>
            </a:r>
          </a:p>
        </p:txBody>
      </p:sp>
      <p:pic>
        <p:nvPicPr>
          <p:cNvPr id="13" name="an_fox" descr="an_fox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6536" y="4826000"/>
            <a:ext cx="1197429" cy="1397000"/>
          </a:xfrm>
          <a:prstGeom prst="rect">
            <a:avLst/>
          </a:prstGeom>
        </p:spPr>
      </p:pic>
      <p:pic>
        <p:nvPicPr>
          <p:cNvPr id="14" name="an_reindeer" descr="an_reindee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0250" y="4835071"/>
            <a:ext cx="1206500" cy="1378857"/>
          </a:xfrm>
          <a:prstGeom prst="rect">
            <a:avLst/>
          </a:prstGeom>
        </p:spPr>
      </p:pic>
      <p:pic>
        <p:nvPicPr>
          <p:cNvPr id="15" name="an_seal" descr="an_se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68500" y="5147469"/>
            <a:ext cx="1206500" cy="754062"/>
          </a:xfrm>
          <a:prstGeom prst="rect">
            <a:avLst/>
          </a:prstGeom>
        </p:spPr>
      </p:pic>
      <p:pic>
        <p:nvPicPr>
          <p:cNvPr id="16" name="an_bear" descr="an_bear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6750" y="5007429"/>
            <a:ext cx="1206500" cy="1034143"/>
          </a:xfrm>
          <a:prstGeom prst="rect">
            <a:avLst/>
          </a:prstGeom>
        </p:spPr>
      </p:pic>
      <p:sp>
        <p:nvSpPr>
          <p:cNvPr id="17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8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push dir="l"/>
    <p:sndAc>
      <p:stSnd>
        <p:snd r:embed="rId14" name="whoosh.wav"/>
      </p:stSnd>
    </p:sndAc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0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13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50"/>
                            </p:stCondLst>
                            <p:childTnLst>
                              <p:par>
                                <p:cTn id="3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750"/>
                            </p:stCondLst>
                            <p:childTnLst>
                              <p:par>
                                <p:cTn id="4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000"/>
                            </p:stCondLst>
                            <p:childTnLst>
                              <p:par>
                                <p:cTn id="5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250"/>
                            </p:stCondLst>
                            <p:childTnLst>
                              <p:par>
                                <p:cTn id="6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0500" y="1206500"/>
            <a:ext cx="11811000" cy="5143500"/>
          </a:xfrm>
          <a:prstGeom prst="roundRect">
            <a:avLst>
              <a:gd name="adj" fmla="val 5000"/>
            </a:avLst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4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214" y="139700"/>
            <a:ext cx="4517571" cy="952500"/>
          </a:xfrm>
          <a:prstGeom prst="rect">
            <a:avLst/>
          </a:prstGeom>
        </p:spPr>
      </p:pic>
      <p:sp>
        <p:nvSpPr>
          <p:cNvPr id="5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١٤</a:t>
            </a:r>
          </a:p>
        </p:txBody>
      </p:sp>
      <p:sp>
        <p:nvSpPr>
          <p:cNvPr id="6" name="سؤال الكتاب"/>
          <p:cNvSpPr/>
          <p:nvPr/>
        </p:nvSpPr>
        <p:spPr>
          <a:xfrm>
            <a:off x="508000" y="1333500"/>
            <a:ext cx="11176000" cy="1270000"/>
          </a:xfrm>
          <a:prstGeom prst="roundRect">
            <a:avLst>
              <a:gd name="adj" fmla="val 18000"/>
            </a:avLst>
          </a:prstGeom>
          <a:solidFill>
            <a:srgbClr val="FFFBE6"/>
          </a:solidFill>
          <a:ln w="63500">
            <a:solidFill>
              <a:srgbClr val="C0392B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800" b="1" lang="ar-SA">
                <a:solidFill>
                  <a:srgbClr val="2E86DE"/>
                </a:solidFill>
                <a:latin typeface="Arial"/>
                <a:cs typeface="Arial"/>
              </a:rPr>
              <a:t>٢- </a:t>
            </a:r>
            <a:r>
              <a:rPr sz="3800" b="1" lang="ar-SA">
                <a:solidFill>
                  <a:srgbClr val="1E2A3A"/>
                </a:solidFill>
                <a:latin typeface="Arial"/>
                <a:cs typeface="Arial"/>
              </a:rPr>
              <a:t>مَا النَّبَاتَاتُ الَّتِي تَعِيشُ فِي الصَّحَارِي الْحَارَّةِ؟</a:t>
            </a:r>
          </a:p>
        </p:txBody>
      </p:sp>
      <p:sp>
        <p:nvSpPr>
          <p:cNvPr id="7" name="الإجابة"/>
          <p:cNvSpPr/>
          <p:nvPr/>
        </p:nvSpPr>
        <p:spPr>
          <a:xfrm>
            <a:off x="6223000" y="2984500"/>
            <a:ext cx="5461000" cy="1079500"/>
          </a:xfrm>
          <a:prstGeom prst="roundRect">
            <a:avLst>
              <a:gd name="adj" fmla="val 18000"/>
            </a:avLst>
          </a:prstGeom>
          <a:solidFill>
            <a:srgbClr val="16A085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4400" b="1" lang="ar-SA">
                <a:solidFill>
                  <a:srgbClr val="FFFFFF"/>
                </a:solidFill>
                <a:latin typeface="Arial"/>
                <a:cs typeface="Arial"/>
              </a:rPr>
              <a:t>الصبار والأعشاب.</a:t>
            </a:r>
          </a:p>
        </p:txBody>
      </p:sp>
      <p:sp>
        <p:nvSpPr>
          <p:cNvPr id="8" name="إطار صورة الكتاب"/>
          <p:cNvSpPr/>
          <p:nvPr/>
        </p:nvSpPr>
        <p:spPr>
          <a:xfrm>
            <a:off x="508000" y="2984500"/>
            <a:ext cx="5461000" cy="258010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صورة الكتاب" descr="من كتابي – صفحة ٩٦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" y="3073400"/>
            <a:ext cx="5283200" cy="2402302"/>
          </a:xfrm>
          <a:prstGeom prst="rect">
            <a:avLst/>
          </a:prstGeom>
        </p:spPr>
      </p:pic>
      <p:sp>
        <p:nvSpPr>
          <p:cNvPr id="10" name="تعليق صورة الكتاب"/>
          <p:cNvSpPr/>
          <p:nvPr/>
        </p:nvSpPr>
        <p:spPr>
          <a:xfrm>
            <a:off x="3422650" y="2832100"/>
            <a:ext cx="2546350" cy="292100"/>
          </a:xfrm>
          <a:prstGeom prst="roundRect">
            <a:avLst>
              <a:gd name="adj" fmla="val 50000"/>
            </a:avLst>
          </a:prstGeom>
          <a:solidFill>
            <a:srgbClr val="E67E2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5240" bIns="15240"/>
          <a:lstStyle/>
          <a:p>
            <a:pPr algn="ctr" rtl="1">
              <a:lnSpc>
                <a:spcPct val="100000"/>
              </a:lnSpc>
            </a:pPr>
            <a:r>
              <a:rPr sz="1700" b="1" lang="ar-SA">
                <a:solidFill>
                  <a:srgbClr val="FFFFFF"/>
                </a:solidFill>
                <a:latin typeface="Arial"/>
                <a:cs typeface="Arial"/>
              </a:rPr>
              <a:t>من كتابي – صفحة ٩٦</a:t>
            </a:r>
          </a:p>
        </p:txBody>
      </p:sp>
      <p:pic>
        <p:nvPicPr>
          <p:cNvPr id="11" name="cactus" descr="cactu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4038" y="4191000"/>
            <a:ext cx="1611923" cy="2095500"/>
          </a:xfrm>
          <a:prstGeom prst="rect">
            <a:avLst/>
          </a:prstGeom>
        </p:spPr>
      </p:pic>
      <p:pic>
        <p:nvPicPr>
          <p:cNvPr id="12" name="grass" descr="gras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500" y="4527550"/>
            <a:ext cx="2095500" cy="1676400"/>
          </a:xfrm>
          <a:prstGeom prst="rect">
            <a:avLst/>
          </a:prstGeom>
        </p:spPr>
      </p:pic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push dir="l"/>
    <p:sndAc>
      <p:stSnd>
        <p:snd r:embed="rId9" name="whoosh.wav"/>
      </p:stSnd>
    </p:sndAc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0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8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90500" y="1206500"/>
            <a:ext cx="11811000" cy="5143500"/>
          </a:xfrm>
          <a:prstGeom prst="roundRect">
            <a:avLst>
              <a:gd name="adj" fmla="val 5000"/>
            </a:avLst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600" b="1" lang="ar-SA">
                <a:solidFill>
                  <a:srgbClr val="1E2A3A"/>
                </a:solidFill>
                <a:latin typeface="Arial"/>
                <a:cs typeface="Arial"/>
              </a:rPr>
              <a:t/>
            </a:r>
          </a:p>
        </p:txBody>
      </p:sp>
      <p:pic>
        <p:nvPicPr>
          <p:cNvPr id="4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7214" y="139700"/>
            <a:ext cx="4517571" cy="952500"/>
          </a:xfrm>
          <a:prstGeom prst="rect">
            <a:avLst/>
          </a:prstGeom>
        </p:spPr>
      </p:pic>
      <p:sp>
        <p:nvSpPr>
          <p:cNvPr id="5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١٤</a:t>
            </a:r>
          </a:p>
        </p:txBody>
      </p:sp>
      <p:sp>
        <p:nvSpPr>
          <p:cNvPr id="6" name="سؤال الكتاب"/>
          <p:cNvSpPr/>
          <p:nvPr/>
        </p:nvSpPr>
        <p:spPr>
          <a:xfrm>
            <a:off x="508000" y="1333500"/>
            <a:ext cx="11176000" cy="1270000"/>
          </a:xfrm>
          <a:prstGeom prst="roundRect">
            <a:avLst>
              <a:gd name="adj" fmla="val 18000"/>
            </a:avLst>
          </a:prstGeom>
          <a:solidFill>
            <a:srgbClr val="FFFBE6"/>
          </a:solidFill>
          <a:ln w="63500">
            <a:solidFill>
              <a:srgbClr val="C0392B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800" b="1" lang="ar-SA">
                <a:solidFill>
                  <a:srgbClr val="C0392B"/>
                </a:solidFill>
                <a:latin typeface="Arial"/>
                <a:cs typeface="Arial"/>
              </a:rPr>
              <a:t>٣- السُّؤَالُ الْأَسَاسِيُّ. </a:t>
            </a:r>
            <a:r>
              <a:rPr sz="3800" b="1" lang="ar-SA">
                <a:solidFill>
                  <a:srgbClr val="1E2A3A"/>
                </a:solidFill>
                <a:latin typeface="Arial"/>
                <a:cs typeface="Arial"/>
              </a:rPr>
              <a:t>مَا خَصَائِصُ مَوْطِنِ الصَّحَارِي الْحَارَّةِ وَالْبَارِدَةِ؟</a:t>
            </a:r>
          </a:p>
        </p:txBody>
      </p:sp>
      <p:sp>
        <p:nvSpPr>
          <p:cNvPr id="7" name="الحارة"/>
          <p:cNvSpPr/>
          <p:nvPr/>
        </p:nvSpPr>
        <p:spPr>
          <a:xfrm>
            <a:off x="6223000" y="2794000"/>
            <a:ext cx="5461000" cy="2667000"/>
          </a:xfrm>
          <a:prstGeom prst="roundRect">
            <a:avLst>
              <a:gd name="adj" fmla="val 18000"/>
            </a:avLst>
          </a:prstGeom>
          <a:solidFill>
            <a:srgbClr val="E67E2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FFE27A"/>
                </a:solidFill>
                <a:latin typeface="Arial"/>
                <a:cs typeface="Arial"/>
              </a:rPr>
              <a:t>الصحراء الحارة</a:t>
            </a:r>
          </a:p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جافة، أمطارها قليلة جدًا، حارة نهارًا وباردة ليلًا، تربتها رملية وصخرية.</a:t>
            </a:r>
          </a:p>
        </p:txBody>
      </p:sp>
      <p:sp>
        <p:nvSpPr>
          <p:cNvPr id="8" name="الباردة"/>
          <p:cNvSpPr/>
          <p:nvPr/>
        </p:nvSpPr>
        <p:spPr>
          <a:xfrm>
            <a:off x="508000" y="2794000"/>
            <a:ext cx="5461000" cy="2667000"/>
          </a:xfrm>
          <a:prstGeom prst="roundRect">
            <a:avLst>
              <a:gd name="adj" fmla="val 18000"/>
            </a:avLst>
          </a:prstGeom>
          <a:solidFill>
            <a:srgbClr val="2471A3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400" b="1" lang="ar-SA">
                <a:solidFill>
                  <a:srgbClr val="FFE27A"/>
                </a:solidFill>
                <a:latin typeface="Arial"/>
                <a:cs typeface="Arial"/>
              </a:rPr>
              <a:t>الصحراء الباردة</a:t>
            </a:r>
          </a:p>
          <a:p>
            <a:pPr algn="r" rtl="1">
              <a:lnSpc>
                <a:spcPct val="100000"/>
              </a:lnSpc>
            </a:pPr>
            <a:r>
              <a:rPr sz="3200" b="1" lang="ar-SA">
                <a:solidFill>
                  <a:srgbClr val="FFFFFF"/>
                </a:solidFill>
                <a:latin typeface="Arial"/>
                <a:cs typeface="Arial"/>
              </a:rPr>
              <a:t>المنطقة القطبية: باردة جافة، تقع بالقرب من القطب الشمالي.</a:t>
            </a:r>
          </a:p>
        </p:txBody>
      </p:sp>
      <p:pic>
        <p:nvPicPr>
          <p:cNvPr id="9" name="sun" descr="su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0" y="5461000"/>
            <a:ext cx="825500" cy="825500"/>
          </a:xfrm>
          <a:prstGeom prst="rect">
            <a:avLst/>
          </a:prstGeom>
        </p:spPr>
      </p:pic>
      <p:pic>
        <p:nvPicPr>
          <p:cNvPr id="10" name="snowflake" descr="snowflak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5524500"/>
            <a:ext cx="698500" cy="698500"/>
          </a:xfrm>
          <a:prstGeom prst="rect">
            <a:avLst/>
          </a:prstGeom>
        </p:spPr>
      </p:pic>
      <p:sp>
        <p:nvSpPr>
          <p:cNvPr id="11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2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push dir="l"/>
    <p:sndAc>
      <p:stSnd>
        <p:snd r:embed="rId8" name="whoosh.wav"/>
      </p:stSnd>
    </p:sndAc>
  </p:transition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0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7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75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3928" y="139700"/>
            <a:ext cx="3484145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80000" y="1333500"/>
            <a:ext cx="6858000" cy="2032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0">
            <a:solidFill>
              <a:srgbClr val="E67E22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3600" b="1" lang="ar-SA">
                <a:solidFill>
                  <a:srgbClr val="1E2A3A"/>
                </a:solidFill>
                <a:latin typeface="Arial"/>
                <a:cs typeface="Arial"/>
              </a:rPr>
              <a:t>أَرْسُمُ صُورَةً لِحَيَوَانَاتٍ فِي الصَّحْرَاءِ الْحَارَّةِ، وَأُوَضِّحُ كَيْفَ تَعِيشُ فِي هَذَا الْجَوِّ الْحَارِّ الْجَافِّ.</a:t>
            </a:r>
          </a:p>
        </p:txBody>
      </p:sp>
      <p:sp>
        <p:nvSpPr>
          <p:cNvPr id="6" name="ورقة الرسم"/>
          <p:cNvSpPr/>
          <p:nvPr/>
        </p:nvSpPr>
        <p:spPr>
          <a:xfrm>
            <a:off x="635000" y="1397000"/>
            <a:ext cx="4191000" cy="444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50800">
            <a:solidFill>
              <a:srgbClr val="C69C6D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رسم شمس" descr="su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2000" y="1524000"/>
            <a:ext cx="1333500" cy="1333500"/>
          </a:xfrm>
          <a:prstGeom prst="rect">
            <a:avLst/>
          </a:prstGeom>
        </p:spPr>
      </p:pic>
      <p:pic>
        <p:nvPicPr>
          <p:cNvPr id="8" name="رسم صبار" descr="cactu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9000" y="2063750"/>
            <a:ext cx="1905000" cy="2476500"/>
          </a:xfrm>
          <a:prstGeom prst="rect">
            <a:avLst/>
          </a:prstGeom>
        </p:spPr>
      </p:pic>
      <p:pic>
        <p:nvPicPr>
          <p:cNvPr id="9" name="رسم ضب" descr="an_lizar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44700" y="4127500"/>
            <a:ext cx="2641600" cy="1651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5500" y="5435600"/>
            <a:ext cx="1651000" cy="342900"/>
          </a:xfrm>
          <a:prstGeom prst="roundRect">
            <a:avLst>
              <a:gd name="adj" fmla="val 50000"/>
            </a:avLst>
          </a:prstGeom>
          <a:solidFill>
            <a:srgbClr val="C69C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1430" bIns="1143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مثال لرسمة</a:t>
            </a:r>
          </a:p>
        </p:txBody>
      </p:sp>
      <p:pic>
        <p:nvPicPr>
          <p:cNvPr id="11" name="!!noura" descr="المستكشفة نورة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0" y="3302000"/>
            <a:ext cx="2032000" cy="3048000"/>
          </a:xfrm>
          <a:prstGeom prst="rect">
            <a:avLst/>
          </a:prstGeom>
        </p:spPr>
      </p:pic>
      <p:sp>
        <p:nvSpPr>
          <p:cNvPr id="12" name="فقاعة نورة"/>
          <p:cNvSpPr/>
          <p:nvPr/>
        </p:nvSpPr>
        <p:spPr>
          <a:xfrm>
            <a:off x="5080000" y="3683000"/>
            <a:ext cx="4318000" cy="1270000"/>
          </a:xfrm>
          <a:prstGeom prst="wedgeRoundRectCallout">
            <a:avLst>
              <a:gd name="adj1" fmla="val 57352"/>
              <a:gd name="adj2" fmla="val 20000"/>
              <a:gd name="adj3" fmla="val 16667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 rtl="1"/>
            <a:r>
              <a:rPr sz="2700" b="1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sz="2700" b="1" lang="ar-SA">
                <a:solidFill>
                  <a:srgbClr val="1E2A3A"/>
                </a:solidFill>
                <a:latin typeface="Arial"/>
                <a:cs typeface="Arial"/>
              </a:rPr>
              <a:t>ارسمي حيوانك، واكتبي كيف يعيش في الحر!</a:t>
            </a:r>
          </a:p>
        </p:txBody>
      </p:sp>
      <p:sp>
        <p:nvSpPr>
          <p:cNvPr id="13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14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صفحة ١٠١</a:t>
            </a:r>
          </a:p>
        </p:txBody>
      </p:sp>
    </p:spTree>
  </p:cSld>
  <p:clrMapOvr>
    <a:masterClrMapping/>
  </p:clrMapOvr>
  <p:transition xmlns:mc="http://schemas.openxmlformats.org/markup-compatibility/2006" xmlns:p14="http://schemas.microsoft.com/office/powerpoint/2010/main" xmlns:p159="http://schemas.microsoft.com/office/powerpoint/2015/09/main" spd="slow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عنوان" descr="عنوان المحطة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4908" y="139700"/>
            <a:ext cx="3002184" cy="952500"/>
          </a:xfrm>
          <a:prstGeom prst="rect">
            <a:avLst/>
          </a:prstGeom>
        </p:spPr>
      </p:pic>
      <p:sp>
        <p:nvSpPr>
          <p:cNvPr id="4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المحطة ١٥</a:t>
            </a:r>
          </a:p>
        </p:txBody>
      </p:sp>
      <p:sp>
        <p:nvSpPr>
          <p:cNvPr id="5" name="تذكرة 1"/>
          <p:cNvSpPr/>
          <p:nvPr/>
        </p:nvSpPr>
        <p:spPr>
          <a:xfrm>
            <a:off x="4699000" y="1270000"/>
            <a:ext cx="7239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١. اذكري حيوانًا يعيش في الصحراء الحارة.</a:t>
            </a:r>
          </a:p>
        </p:txBody>
      </p:sp>
      <p:sp>
        <p:nvSpPr>
          <p:cNvPr id="6" name="إجابة تذكرة 1"/>
          <p:cNvSpPr/>
          <p:nvPr/>
        </p:nvSpPr>
        <p:spPr>
          <a:xfrm>
            <a:off x="4699000" y="1943100"/>
            <a:ext cx="7239000" cy="685800"/>
          </a:xfrm>
          <a:prstGeom prst="roundRect">
            <a:avLst>
              <a:gd name="adj" fmla="val 18000"/>
            </a:avLst>
          </a:prstGeom>
          <a:solidFill>
            <a:srgbClr val="FFE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500" b="1" lang="ar-SA">
                <a:solidFill>
                  <a:srgbClr val="5B2C6F"/>
                </a:solidFill>
                <a:latin typeface="Arial"/>
                <a:cs typeface="Arial"/>
              </a:rPr>
              <a:t>الضب، أو الذئب، أو القط البري، أو العقرب.</a:t>
            </a:r>
          </a:p>
        </p:txBody>
      </p:sp>
      <p:sp>
        <p:nvSpPr>
          <p:cNvPr id="7" name="تذكرة 2"/>
          <p:cNvSpPr/>
          <p:nvPr/>
        </p:nvSpPr>
        <p:spPr>
          <a:xfrm>
            <a:off x="4699000" y="2698750"/>
            <a:ext cx="7239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٢. اذكري حيوانًا يعيش في الصحراء الباردة.</a:t>
            </a:r>
          </a:p>
        </p:txBody>
      </p:sp>
      <p:sp>
        <p:nvSpPr>
          <p:cNvPr id="8" name="إجابة تذكرة 2"/>
          <p:cNvSpPr/>
          <p:nvPr/>
        </p:nvSpPr>
        <p:spPr>
          <a:xfrm>
            <a:off x="4699000" y="3371850"/>
            <a:ext cx="7239000" cy="685800"/>
          </a:xfrm>
          <a:prstGeom prst="roundRect">
            <a:avLst>
              <a:gd name="adj" fmla="val 18000"/>
            </a:avLst>
          </a:prstGeom>
          <a:solidFill>
            <a:srgbClr val="FFE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500" b="1" lang="ar-SA">
                <a:solidFill>
                  <a:srgbClr val="5B2C6F"/>
                </a:solidFill>
                <a:latin typeface="Arial"/>
                <a:cs typeface="Arial"/>
              </a:rPr>
              <a:t>الثعلب القطبي، أو غزال الرنة، أو الفقمة.</a:t>
            </a:r>
          </a:p>
        </p:txBody>
      </p:sp>
      <p:sp>
        <p:nvSpPr>
          <p:cNvPr id="9" name="تذكرة 3"/>
          <p:cNvSpPr/>
          <p:nvPr/>
        </p:nvSpPr>
        <p:spPr>
          <a:xfrm>
            <a:off x="4699000" y="4127500"/>
            <a:ext cx="7239000" cy="635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٣. كيف تساعد النباتات والحيوانات نفسها على البقاء؟</a:t>
            </a:r>
          </a:p>
        </p:txBody>
      </p:sp>
      <p:sp>
        <p:nvSpPr>
          <p:cNvPr id="10" name="إجابة تذكرة 3"/>
          <p:cNvSpPr/>
          <p:nvPr/>
        </p:nvSpPr>
        <p:spPr>
          <a:xfrm>
            <a:off x="4699000" y="4800600"/>
            <a:ext cx="7239000" cy="685800"/>
          </a:xfrm>
          <a:prstGeom prst="roundRect">
            <a:avLst>
              <a:gd name="adj" fmla="val 18000"/>
            </a:avLst>
          </a:prstGeom>
          <a:solidFill>
            <a:srgbClr val="FFE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r" rtl="1">
              <a:lnSpc>
                <a:spcPct val="100000"/>
              </a:lnSpc>
            </a:pPr>
            <a:r>
              <a:rPr sz="2500" b="1" lang="ar-SA">
                <a:solidFill>
                  <a:srgbClr val="5B2C6F"/>
                </a:solidFill>
                <a:latin typeface="Arial"/>
                <a:cs typeface="Arial"/>
              </a:rPr>
              <a:t>النباتات تخزن الماء، والحيوانات تختبئ من الحر أو لها فراء سميك.</a:t>
            </a:r>
          </a:p>
        </p:txBody>
      </p:sp>
      <p:pic>
        <p:nvPicPr>
          <p:cNvPr id="11" name="صندوق الكنز" descr="صندوق كنز مغلق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1905000"/>
            <a:ext cx="3810000" cy="3265714"/>
          </a:xfrm>
          <a:prstGeom prst="rect">
            <a:avLst/>
          </a:prstGeom>
        </p:spPr>
      </p:pic>
      <p:pic>
        <p:nvPicPr>
          <p:cNvPr id="12" name="صندوق الكنز المفتوح" descr="chest_ope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" y="1905000"/>
            <a:ext cx="3810000" cy="3265714"/>
          </a:xfrm>
          <a:prstGeom prst="rect">
            <a:avLst/>
          </a:prstGeom>
        </p:spPr>
      </p:pic>
      <p:sp>
        <p:nvSpPr>
          <p:cNvPr id="13" name="عبارة التعزيز"/>
          <p:cNvSpPr/>
          <p:nvPr/>
        </p:nvSpPr>
        <p:spPr>
          <a:xfrm>
            <a:off x="1333500" y="5588000"/>
            <a:ext cx="9525000" cy="762000"/>
          </a:xfrm>
          <a:prstGeom prst="roundRect">
            <a:avLst>
              <a:gd name="adj" fmla="val 50000"/>
            </a:avLst>
          </a:prstGeom>
          <a:solidFill>
            <a:srgbClr val="8E44AD"/>
          </a:solidFill>
          <a:ln w="76200">
            <a:solidFill>
              <a:srgbClr val="FFE27A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4400" b="1" lang="ar-SA">
                <a:solidFill>
                  <a:srgbClr val="FFFFFF"/>
                </a:solidFill>
                <a:latin typeface="Arial"/>
                <a:cs typeface="Arial"/>
              </a:rPr>
              <a:t>أحسنتن يا مستكشفاتي الصغيرات!</a:t>
            </a:r>
          </a:p>
        </p:txBody>
      </p:sp>
      <p:pic>
        <p:nvPicPr>
          <p:cNvPr id="14" name="نجمة 1" descr="st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2921000"/>
            <a:ext cx="571500" cy="571500"/>
          </a:xfrm>
          <a:prstGeom prst="rect">
            <a:avLst/>
          </a:prstGeom>
        </p:spPr>
      </p:pic>
      <p:pic>
        <p:nvPicPr>
          <p:cNvPr id="15" name="نجمة 2" descr="st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2921000"/>
            <a:ext cx="571500" cy="571500"/>
          </a:xfrm>
          <a:prstGeom prst="rect">
            <a:avLst/>
          </a:prstGeom>
        </p:spPr>
      </p:pic>
      <p:pic>
        <p:nvPicPr>
          <p:cNvPr id="16" name="نجمة 3" descr="st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2921000"/>
            <a:ext cx="571500" cy="571500"/>
          </a:xfrm>
          <a:prstGeom prst="rect">
            <a:avLst/>
          </a:prstGeom>
        </p:spPr>
      </p:pic>
      <p:pic>
        <p:nvPicPr>
          <p:cNvPr id="17" name="نجمة 4" descr="st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2921000"/>
            <a:ext cx="571500" cy="571500"/>
          </a:xfrm>
          <a:prstGeom prst="rect">
            <a:avLst/>
          </a:prstGeom>
        </p:spPr>
      </p:pic>
      <p:pic>
        <p:nvPicPr>
          <p:cNvPr id="18" name="نجمة 5" descr="st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2921000"/>
            <a:ext cx="571500" cy="571500"/>
          </a:xfrm>
          <a:prstGeom prst="rect">
            <a:avLst/>
          </a:prstGeom>
        </p:spPr>
      </p:pic>
      <p:pic>
        <p:nvPicPr>
          <p:cNvPr id="19" name="نجمة 6" descr="st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2921000"/>
            <a:ext cx="571500" cy="571500"/>
          </a:xfrm>
          <a:prstGeom prst="rect">
            <a:avLst/>
          </a:prstGeom>
        </p:spPr>
      </p:pic>
      <p:sp>
        <p:nvSpPr>
          <p:cNvPr id="20" name="توقيع المعلمة"/>
          <p:cNvSpPr/>
          <p:nvPr/>
        </p:nvSpPr>
        <p:spPr>
          <a:xfrm>
            <a:off x="177800" y="6426200"/>
            <a:ext cx="1905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أ/ شامه البقمي</a:t>
            </a:r>
          </a:p>
        </p:txBody>
      </p:sp>
      <p:sp>
        <p:nvSpPr>
          <p:cNvPr id="21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صفحات ٩٦ – ١٠١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400">
        <p14:ripple/>
        <p:sndAc>
          <p:stSnd>
            <p:snd r:embed="rId8" name="sparkle.wav"/>
          </p:stSnd>
        </p:sndAc>
      </p:transition>
    </mc:Choice>
    <mc:Fallback>
      <p:transition spd="slow">
        <p:fade/>
        <p:sndAc>
          <p:stSnd>
            <p:snd r:embed="rId8" name="sparkle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9" display="0" masterRel="sameClick">
                                          <p:stCondLst>
                                            <p:cond evt="onBegin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ndTgt r:embed="rId5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17" display="0" masterRel="sameClick">
                                          <p:stCondLst>
                                            <p:cond evt="onBegin" delay="0">
                                              <p:tn val="13"/>
                                            </p:cond>
                                          </p:stCondLst>
                                        </p:cTn>
                                        <p:tgtEl>
                                          <p:sndTgt r:embed="rId5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25" display="0" masterRel="sameClick">
                                          <p:stCondLst>
                                            <p:cond evt="onBegin" delay="0">
                                              <p:tn val="21"/>
                                            </p:cond>
                                          </p:stCondLst>
                                        </p:cTn>
                                        <p:tgtEl>
                                          <p:sndTgt r:embed="rId5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37" display="0" masterRel="sameClick">
                                          <p:stCondLst>
                                            <p:cond evt="onBegin" delay="0">
                                              <p:tn val="32"/>
                                            </p:cond>
                                          </p:stCondLst>
                                        </p:cTn>
                                        <p:tgtEl>
                                          <p:sndTgt r:embed="rId8" name="sparkl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800 -0.2800 E" pathEditMode="relative" ptsTypes="">
                                      <p:cBhvr>
                                        <p:cTn id="45" dur="1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80"/>
                            </p:stCondLst>
                            <p:childTnLst>
                              <p:par>
                                <p:cTn id="4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200 -0.3300 E" pathEditMode="relative" ptsTypes="">
                                      <p:cBhvr>
                                        <p:cTn id="53" dur="1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"/>
                            </p:stCondLst>
                            <p:childTnLst>
                              <p:par>
                                <p:cTn id="55" presetID="8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6" dur="1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66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200 -0.3000 E" pathEditMode="relative" ptsTypes="">
                                      <p:cBhvr>
                                        <p:cTn id="64" dur="1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80"/>
                            </p:stCondLst>
                            <p:childTnLst>
                              <p:par>
                                <p:cTn id="66" presetID="8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7" dur="1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40"/>
                            </p:stCondLst>
                            <p:childTnLst>
                              <p:par>
                                <p:cTn id="6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000 -0.2000 E" pathEditMode="relative" ptsTypes="">
                                      <p:cBhvr>
                                        <p:cTn id="75" dur="1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60"/>
                            </p:stCondLst>
                            <p:childTnLst>
                              <p:par>
                                <p:cTn id="77" presetID="8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78" dur="1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820"/>
                            </p:stCondLst>
                            <p:childTnLst>
                              <p:par>
                                <p:cTn id="8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1200 -0.1600 E" pathEditMode="relative" ptsTypes="">
                                      <p:cBhvr>
                                        <p:cTn id="86" dur="12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840"/>
                            </p:stCondLst>
                            <p:childTnLst>
                              <p:par>
                                <p:cTn id="88" presetID="8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9" dur="1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900"/>
                            </p:stCondLst>
                            <p:childTnLst>
                              <p:par>
                                <p:cTn id="9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0" presetClass="pat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600 -0.0600 E" pathEditMode="relative" ptsTypes="">
                                      <p:cBhvr>
                                        <p:cTn id="97" dur="12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920"/>
                            </p:stCondLst>
                            <p:childTnLst>
                              <p:par>
                                <p:cTn id="99" presetID="8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0" dur="12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000"/>
                            </p:stCondLst>
                            <p:childTnLst>
                              <p:par>
                                <p:cTn id="102" presetID="8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3" dur="12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500"/>
                            </p:stCondLst>
                            <p:childTnLst>
                              <p:par>
                                <p:cTn id="10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3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خلفية" descr="خلفية المشهد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رقم المحطة"/>
          <p:cNvSpPr/>
          <p:nvPr/>
        </p:nvSpPr>
        <p:spPr>
          <a:xfrm>
            <a:off x="10414000" y="215900"/>
            <a:ext cx="1587500" cy="4064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381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2000" b="1" lang="ar-SA">
                <a:solidFill>
                  <a:srgbClr val="FFFFFF"/>
                </a:solidFill>
                <a:latin typeface="Arial"/>
                <a:cs typeface="Arial"/>
              </a:rPr>
              <a:t>الختام</a:t>
            </a:r>
          </a:p>
        </p:txBody>
      </p:sp>
      <p:pic>
        <p:nvPicPr>
          <p:cNvPr id="4" name="عنوان الخاتمة" descr="t_en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158" y="190500"/>
            <a:ext cx="7698685" cy="825500"/>
          </a:xfrm>
          <a:prstGeom prst="rect">
            <a:avLst/>
          </a:prstGeom>
        </p:spPr>
      </p:pic>
      <p:pic>
        <p:nvPicPr>
          <p:cNvPr id="5" name="خريطة المواطن" descr="خريطة المواطن التي زرناها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70000"/>
            <a:ext cx="5080000" cy="29633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61000" y="1365250"/>
            <a:ext cx="6477000" cy="793750"/>
          </a:xfrm>
          <a:prstGeom prst="roundRect">
            <a:avLst>
              <a:gd name="adj" fmla="val 50000"/>
            </a:avLst>
          </a:prstGeom>
          <a:solidFill>
            <a:srgbClr val="FFFFFF">
              <a:alpha val="93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400" b="1" lang="ar-SA">
                <a:solidFill>
                  <a:srgbClr val="6C3483"/>
                </a:solidFill>
                <a:latin typeface="Arial"/>
                <a:cs typeface="Arial"/>
              </a:rPr>
              <a:t>بالعلم نكتشف أسرار الطبيعة.</a:t>
            </a:r>
          </a:p>
        </p:txBody>
      </p:sp>
      <p:sp>
        <p:nvSpPr>
          <p:cNvPr id="7" name="اسم المعلمة"/>
          <p:cNvSpPr/>
          <p:nvPr/>
        </p:nvSpPr>
        <p:spPr>
          <a:xfrm>
            <a:off x="6350000" y="234950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E8505B"/>
          </a:solidFill>
          <a:ln w="50800">
            <a:solidFill>
              <a:srgbClr val="FFFFFF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3340" bIns="53340"/>
          <a:lstStyle/>
          <a:p>
            <a:pPr algn="ctr" rtl="1">
              <a:lnSpc>
                <a:spcPct val="100000"/>
              </a:lnSpc>
            </a:pPr>
            <a:r>
              <a:rPr sz="3800" b="1" lang="ar-SA">
                <a:solidFill>
                  <a:srgbClr val="FFFFFF"/>
                </a:solidFill>
                <a:latin typeface="Arial"/>
                <a:cs typeface="Arial"/>
              </a:rPr>
              <a:t>أ/ شامه البقمي</a:t>
            </a:r>
          </a:p>
        </p:txBody>
      </p:sp>
      <p:pic>
        <p:nvPicPr>
          <p:cNvPr id="8" name="!!train" descr="tra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2000" y="5143500"/>
            <a:ext cx="4826000" cy="1246717"/>
          </a:xfrm>
          <a:prstGeom prst="rect">
            <a:avLst/>
          </a:prstGeom>
        </p:spPr>
      </p:pic>
      <p:pic>
        <p:nvPicPr>
          <p:cNvPr id="9" name="!!noura" descr="المستكشفة نورة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4250" y="3175000"/>
            <a:ext cx="2286000" cy="3429000"/>
          </a:xfrm>
          <a:prstGeom prst="rect">
            <a:avLst/>
          </a:prstGeom>
        </p:spPr>
      </p:pic>
      <p:sp>
        <p:nvSpPr>
          <p:cNvPr id="10" name="فقاعة نورة"/>
          <p:cNvSpPr/>
          <p:nvPr/>
        </p:nvSpPr>
        <p:spPr>
          <a:xfrm>
            <a:off x="6477000" y="3429000"/>
            <a:ext cx="3302000" cy="1079500"/>
          </a:xfrm>
          <a:prstGeom prst="wedgeRoundRectCallout">
            <a:avLst>
              <a:gd name="adj1" fmla="val 57692"/>
              <a:gd name="adj2" fmla="val 44117"/>
              <a:gd name="adj3" fmla="val 16667"/>
            </a:avLst>
          </a:prstGeom>
          <a:solidFill>
            <a:srgbClr val="FFFFFF"/>
          </a:solidFill>
          <a:ln w="50800">
            <a:solidFill>
              <a:srgbClr val="F5A623"/>
            </a:solidFill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ctr" rtl="1"/>
            <a:r>
              <a:rPr sz="2800" b="1" lang="ar-SA">
                <a:solidFill>
                  <a:srgbClr val="E8505B"/>
                </a:solidFill>
                <a:latin typeface="Arial"/>
                <a:cs typeface="Arial"/>
              </a:rPr>
              <a:t>نورة: </a:t>
            </a:r>
            <a:r>
              <a:rPr sz="2800" b="1" lang="ar-SA">
                <a:solidFill>
                  <a:srgbClr val="1E2A3A"/>
                </a:solidFill>
                <a:latin typeface="Arial"/>
                <a:cs typeface="Arial"/>
              </a:rPr>
              <a:t>إلى اللقاء في رحلة جديدة!</a:t>
            </a:r>
          </a:p>
        </p:txBody>
      </p:sp>
      <p:sp>
        <p:nvSpPr>
          <p:cNvPr id="11" name="توقيع المعلمة"/>
          <p:cNvSpPr/>
          <p:nvPr/>
        </p:nvSpPr>
        <p:spPr>
          <a:xfrm>
            <a:off x="177800" y="6426200"/>
            <a:ext cx="2794000" cy="317500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25400">
            <a:solidFill>
              <a:srgbClr val="E8C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500" b="1" lang="ar-SA">
                <a:solidFill>
                  <a:srgbClr val="4A3B2A"/>
                </a:solidFill>
                <a:latin typeface="Arial"/>
                <a:cs typeface="Arial"/>
              </a:rPr>
              <a:t>إعداد وتنفيذ: أ/ شامه البقمي</a:t>
            </a:r>
          </a:p>
        </p:txBody>
      </p:sp>
      <p:sp>
        <p:nvSpPr>
          <p:cNvPr id="12" name="رقم صفحة الكتاب"/>
          <p:cNvSpPr/>
          <p:nvPr/>
        </p:nvSpPr>
        <p:spPr>
          <a:xfrm>
            <a:off x="5016500" y="6426200"/>
            <a:ext cx="2159000" cy="330200"/>
          </a:xfrm>
          <a:prstGeom prst="roundRect">
            <a:avLst>
              <a:gd name="adj" fmla="val 50000"/>
            </a:avLst>
          </a:prstGeom>
          <a:solidFill>
            <a:srgbClr val="2E86D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2860" bIns="22860"/>
          <a:lstStyle/>
          <a:p>
            <a:pPr algn="ctr" rtl="1">
              <a:lnSpc>
                <a:spcPct val="100000"/>
              </a:lnSpc>
            </a:pPr>
            <a:r>
              <a:rPr sz="1800" b="1" lang="ar-SA">
                <a:solidFill>
                  <a:srgbClr val="FFFFFF"/>
                </a:solidFill>
                <a:latin typeface="Arial"/>
                <a:cs typeface="Arial"/>
              </a:rPr>
              <a:t>صفحات ٩٦ – ١٠١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1800">
        <p14:conveyor dir="l"/>
        <p:sndAc>
          <p:stSnd>
            <p:snd r:embed="rId9" name="train.wav"/>
          </p:stSnd>
        </p:sndAc>
      </p:transition>
    </mc:Choice>
    <mc:Fallback>
      <p:transition spd="slow">
        <p:push dir="l"/>
        <p:sndAc>
          <p:stSnd>
            <p:snd r:embed="rId9" name="train.wav"/>
          </p:stSnd>
        </p:sndAc>
      </p:transition>
    </mc:Fallback>
  </mc:AlternateContent>
  <p:timing xmlns:mc="http://schemas.openxmlformats.org/markup-compatibility/2006" xmlns:p14="http://schemas.microsoft.com/office/powerpoint/2010/main" xmlns:p159="http://schemas.microsoft.com/office/powerpoint/2015/09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5000 0.0000 E" pathEditMode="relative" ptsTypes="">
                                      <p:cBhvr>
                                        <p:cTn id="6" dur="2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00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7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00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 vol="80000" showWhenStopped="0">
                                        <p:cTn id="30" display="0" masterRel="sameClick">
                                          <p:stCondLst>
                                            <p:cond evt="onBegin" delay="0">
                                              <p:tn val="25"/>
                                            </p:cond>
                                          </p:stCondLst>
                                        </p:cTn>
                                        <p:tgtEl>
                                          <p:sndTgt r:embed="rId8" name="chi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رحلة إلى عالم المواطن – الصحاري الحارة والباردة</dc:title>
  <dc:subject/>
  <dc:creator>أ/ شامه البقمي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