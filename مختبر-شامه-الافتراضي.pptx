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orrect.wav" ContentType="audio/wav"/>
  <Override PartName="/ppt/media/snd_door.wav" ContentType="audio/wav"/>
  <Override PartName="/ppt/media/snd_fanfare.wav" ContentType="audio/wav"/>
  <Override PartName="/ppt/media/snd_hint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الغلاف. رحبي بالطالبات وأخبريهن أننا أمام بوابة مختبر علوم افتراضي.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تظهر المرشدة «العالمة نور». اقرئي الترحيب بصوت متحمس.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اقرئي القوانين مع الطالبات بندًا بندًا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الدرس السابق (ص٩٤) ببطاقات تُقلب بالنقر، قبل تحديات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صفحة ٩٥ من الدرس السابق كما هي في الكتاب. اقرئيها مع الطالبات، ثم ننتقل إلى بطاقاتها.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أسئلة صفحة ٩٥ على بطاقات: الوجه سؤال الكتاب، والخلف الإجابة النموذجية. ناقشي الطالبات قبل قلب كل بطاقة.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قبلية لدرس الفطريات المجهرية (ص٩٤) وليست شرحًا لمحتوى جديد. كل إجابة صحيحة تكشف رقمًا من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اكتمل الرمز ٣٥٧. انقري لفتح الباب.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انفتح الباب! انتهت المراجعة القبلية.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فاصل واضح: انتهت المراجعة، ونبدأ الدرس الجديد من صفحة ٩٦. سنعود إلى الفطريات، لكن موضوعنا الآن طرق تكاثرها.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المفاهيم في بدايتها: ثلاثة فروع، والمفتوح منها فرع الطلائعيات فقط. اضغطي على فرع الطلائعيات أو على زر الانتقال.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الطلائعيات.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البراميسيوم من الكتاب داخل عدسة المجهر. اسألي: ماذا تتوقعين أن يحدث لهذا المخلوق؟ (توقع غير مُقيَّم)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فهم قرائي: تضغط الطالبة على العبارة، فتظهر علامة صح أو تلميح.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المهمة الثانية من صيد الدليل.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الحركة البطيئة اختاري السؤال المشابه المناسب.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الاقتران عملية جنسية. اللونان الأزرق والوردي يمثلان المادة الوراثية لكل مخلوق.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تلتحم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تتبادل المادة الوراثية (انتقل جزء من الأزرق والوردي).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ينقسم كل منها بالانشطار الثنائي.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من مفهوم الاقتران.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البوغ: مادة وراثية داخل غشاء يحميها.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تتحمل الأبواغ الظروف القاسية.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عندما تتهيأ ظروف مناسبة لنموها فإنها تنمو.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من مفهوم الأبواغ.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لكشف الأعمدة واحدًا تلو الآخر، واطلبي من الطالبات التوقع قبل الكشف.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الطلائعيات، وفُتح فرع الفطريات. اضغطي عليه للانتقال إلى ص٩٧.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الفطريات.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الخميرة من الكتاب. اسألي: لاحظي الخلايا الصغيرة الملتصقة بالخلايا الكبيرة، ماذا تتوقعين أن تكون؟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ذكرية (زرقاء) وخلية أنثوية (وردية).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تندمج الخلايا الذكرية مع الخلايا الأنثوية لتبادل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إنتاج الأبواغ، وتُحفظ داخل غلاف.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ثم تنتشر منه.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فإذا سقطت في بيئة مناسبة لنموها فإنها تنمو وتنتج فطرًا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بكتيريا عصوية. «تتكاثر معظم البكتيريا بالانشطار الثنائي، ومنها بكتيريا (إي.كولاي) التي تعيش في أمعاء الإنسان».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تتضاعف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تبدأ الخلية في الانقسام.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المجهر الإلكتروني من الكتاب. سؤال قراءة صورة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خليتان من البكتيريا.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تتصل خليتان معًا عبر جسر.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تنتقل المادة الوراثية من إحداهما إلى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الخليتان إحداهما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وتنقسمان.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مخطط فن يُكشف بالنقر، ثم سؤال استنتاجي.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مقارنة.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بعد التفكير الناقد.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الفطريات والبكتيريا. ننتقل الآن إلى طاولة التجارب في ص٩٨.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صندوق النشاط من الكتاب. سنحوّله إلى تجربة على طاولة المختبر.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كل أداة: الأداة الصحيحة تظهر عليها علامة ✔، والخاطئة تُظهر تنبيهًا. الأدوات الصحيحة: خبز، ماء، كيس ذاتي الغلق، عدسة مكبرة.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نص الخطوة الأولى من الكتاب. ثم توقع غير مُقيَّم: ماذا سيحدث للخبز بعد عدة أيام؟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لتمرير الأيام. الرسم توضيحي، وبعده نقارن بالصورة الحقيقية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العفن الحقيقية من الكتاب مع تعليقها الأصلي. ⚠ أحذر: لا أفتح الكيس.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سلامة مرتبط بتحذير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المكان المناسب في الصورة. محافظ الأبواغ: البقع السوداء. الخيوط الفطرية: الخيوط البيضاء الرفيعة.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«ماذا يحدث لو؟»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استخلاص الاستنتاج.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رسم توضيحي يُكشف جزءًا بعد جزء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خيط فطري (يسار) وقطع طعام كبيرة (يمين). البنفسجي = إنزيمات.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«وتفرز هذه الخيوط مواد كيميائية… بروتينات تسمى إنزيمات».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«ويسبب الإنزيم تسريع حدوث التفاعلات الكيميائية»، فيتحلل الطعام إلى مواد بسيطة.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«تسهل امتصاص المواد الغذائية».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«أقرأ وأستدل».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بطاقة عفن الخبز. ننتقل إلى «تحدي العالمة الصغيرة».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بالدين: تقرأ الطالبة الآية أو الحديث، ثم تقلب البطاقة لترى وجه الربط بالدرس.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بالحياة اليومية: مواقف من البيت.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شريحة وطنية: جهات سعودية مرتبطة بموضوع الدرس. الروابط تحتاج إلى اتصال بالإنترنت عند الضغط عليها.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مفردات الدرس تُقلب بالنقر قبل التحدي الختامي.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أربعة مستويات متدرجة: أتذكر، أفهم، أطبق،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الخريطة مكتملة بكل بطاقاتها. راجعيها مع الطالبات بالإشارة إلى كل فرع.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تكمل الطالبات شفهيًا أو على السبورة، ثم انقري لإظهار كل 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الشهادة الافتراضية. اكتبي اسم الطالبة في الخانة.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13.jpg"/><Relationship Id="rId5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18.jpg"/><Relationship Id="rId5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9.png"/><Relationship Id="rId9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slide" Target="slide11.xml"/><Relationship Id="rId5" Type="http://schemas.openxmlformats.org/officeDocument/2006/relationships/slide" Target="slide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slide" Target="slide13.xml"/><Relationship Id="rId5" Type="http://schemas.openxmlformats.org/officeDocument/2006/relationships/slide" Target="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1.jp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slide" Target="slide17.xml"/><Relationship Id="rId5" Type="http://schemas.openxmlformats.org/officeDocument/2006/relationships/slide" Target="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slide" Target="slide19.xml"/><Relationship Id="rId5" Type="http://schemas.openxmlformats.org/officeDocument/2006/relationships/slide" Target="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slide" Target="slide19.xml"/><Relationship Id="rId5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1.jp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3.xml"/><Relationship Id="rId6" Type="http://schemas.openxmlformats.org/officeDocument/2006/relationships/slide" Target="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slide" Target="slide27.xml"/><Relationship Id="rId5" Type="http://schemas.openxmlformats.org/officeDocument/2006/relationships/slide" Target="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3.jpg"/><Relationship Id="rId7" Type="http://schemas.openxmlformats.org/officeDocument/2006/relationships/image" Target="../media/image9.png"/><Relationship Id="rId8" Type="http://schemas.openxmlformats.org/officeDocument/2006/relationships/image" Target="../media/image24.png"/><Relationship Id="rId9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jpg"/><Relationship Id="rId4" Type="http://schemas.openxmlformats.org/officeDocument/2006/relationships/audio" Target="../media/snd_door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25.png"/><Relationship Id="rId9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image" Target="../media/image26.jpg"/><Relationship Id="rId5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jpg"/><Relationship Id="rId4" Type="http://schemas.openxmlformats.org/officeDocument/2006/relationships/image" Target="../media/image19.png"/><Relationship Id="rId5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slide" Target="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29.jpg"/><Relationship Id="rId6" Type="http://schemas.openxmlformats.org/officeDocument/2006/relationships/slide" Target="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3.xml"/><Relationship Id="rId6" Type="http://schemas.openxmlformats.org/officeDocument/2006/relationships/slide" Target="slide47.xml"/><Relationship Id="rId7" Type="http://schemas.openxmlformats.org/officeDocument/2006/relationships/slide" Target="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44.xml"/><Relationship Id="rId8" Type="http://schemas.openxmlformats.org/officeDocument/2006/relationships/slide" Target="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5.xml"/><Relationship Id="rId6" Type="http://schemas.openxmlformats.org/officeDocument/2006/relationships/slide" Target="slide47.xml"/><Relationship Id="rId7" Type="http://schemas.openxmlformats.org/officeDocument/2006/relationships/slide" Target="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6.xml"/><Relationship Id="rId6" Type="http://schemas.openxmlformats.org/officeDocument/2006/relationships/slide" Target="slide38.xml"/><Relationship Id="rId7" Type="http://schemas.openxmlformats.org/officeDocument/2006/relationships/slide" Target="slide3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.jpg"/><Relationship Id="rId4" Type="http://schemas.openxmlformats.org/officeDocument/2006/relationships/slide" Target="slide45.xml"/><Relationship Id="rId5" Type="http://schemas.openxmlformats.org/officeDocument/2006/relationships/slide" Target="slide47.xml"/><Relationship Id="rId6" Type="http://schemas.openxmlformats.org/officeDocument/2006/relationships/slide" Target="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1.xml"/><Relationship Id="rId8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1.xml"/><Relationship Id="rId8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jpg"/><Relationship Id="rId4" Type="http://schemas.openxmlformats.org/officeDocument/2006/relationships/image" Target="../media/image32.png"/><Relationship Id="rId5" Type="http://schemas.openxmlformats.org/officeDocument/2006/relationships/slide" Target="slide54.xml"/><Relationship Id="rId6" Type="http://schemas.openxmlformats.org/officeDocument/2006/relationships/slide" Target="slide51.xml"/><Relationship Id="rId7" Type="http://schemas.openxmlformats.org/officeDocument/2006/relationships/slide" Target="slide3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2.xml"/><Relationship Id="rId7" Type="http://schemas.openxmlformats.org/officeDocument/2006/relationships/slide" Target="slide55.xml"/><Relationship Id="rId8" Type="http://schemas.openxmlformats.org/officeDocument/2006/relationships/slide" Target="slide3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3.xml"/><Relationship Id="rId7" Type="http://schemas.openxmlformats.org/officeDocument/2006/relationships/slide" Target="slide3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31.xml"/><Relationship Id="rId7" Type="http://schemas.openxmlformats.org/officeDocument/2006/relationships/slide" Target="slide5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0.xml"/><Relationship Id="rId8" Type="http://schemas.openxmlformats.org/officeDocument/2006/relationships/slide" Target="slide3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1.xml"/><Relationship Id="rId8" Type="http://schemas.openxmlformats.org/officeDocument/2006/relationships/slide" Target="slide3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7.xml"/><Relationship Id="rId6" Type="http://schemas.openxmlformats.org/officeDocument/2006/relationships/slide" Target="slide3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58.xml"/><Relationship Id="rId8" Type="http://schemas.openxmlformats.org/officeDocument/2006/relationships/slide" Target="slide3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9.xml"/><Relationship Id="rId6" Type="http://schemas.openxmlformats.org/officeDocument/2006/relationships/slide" Target="slide3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60.xml"/><Relationship Id="rId6" Type="http://schemas.openxmlformats.org/officeDocument/2006/relationships/slide" Target="slide38.xml"/><Relationship Id="rId7" Type="http://schemas.openxmlformats.org/officeDocument/2006/relationships/slide" Target="slide3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.jpg"/><Relationship Id="rId4" Type="http://schemas.openxmlformats.org/officeDocument/2006/relationships/slide" Target="slide61.xml"/><Relationship Id="rId5" Type="http://schemas.openxmlformats.org/officeDocument/2006/relationships/slide" Target="slide59.xml"/><Relationship Id="rId6" Type="http://schemas.openxmlformats.org/officeDocument/2006/relationships/slide" Target="slide3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6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46.xml"/><Relationship Id="rId6" Type="http://schemas.openxmlformats.org/officeDocument/2006/relationships/slide" Target="slide60.xml"/><Relationship Id="rId7" Type="http://schemas.openxmlformats.org/officeDocument/2006/relationships/slide" Target="slide3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jpg"/><Relationship Id="rId4" Type="http://schemas.openxmlformats.org/officeDocument/2006/relationships/slide" Target="slide70.xml"/><Relationship Id="rId5" Type="http://schemas.openxmlformats.org/officeDocument/2006/relationships/slide" Target="slide69.xml"/><Relationship Id="rId6" Type="http://schemas.openxmlformats.org/officeDocument/2006/relationships/slide" Target="slide3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68.xml"/><Relationship Id="rId8" Type="http://schemas.openxmlformats.org/officeDocument/2006/relationships/slide" Target="slide3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3.jpg"/><Relationship Id="rId7" Type="http://schemas.openxmlformats.org/officeDocument/2006/relationships/image" Target="../media/image9.png"/><Relationship Id="rId8" Type="http://schemas.openxmlformats.org/officeDocument/2006/relationships/slide" Target="slide31.xml"/><Relationship Id="rId9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.jpg"/><Relationship Id="rId4" Type="http://schemas.openxmlformats.org/officeDocument/2006/relationships/slide" Target="slide3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7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.jpg"/><Relationship Id="rId4" Type="http://schemas.openxmlformats.org/officeDocument/2006/relationships/slide" Target="slide76.xml"/><Relationship Id="rId5" Type="http://schemas.openxmlformats.org/officeDocument/2006/relationships/slide" Target="slide75.xml"/><Relationship Id="rId6" Type="http://schemas.openxmlformats.org/officeDocument/2006/relationships/slide" Target="slide3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74.xml"/><Relationship Id="rId8" Type="http://schemas.openxmlformats.org/officeDocument/2006/relationships/slide" Target="slide3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4.jpg"/><Relationship Id="rId7" Type="http://schemas.openxmlformats.org/officeDocument/2006/relationships/image" Target="../media/image9.png"/><Relationship Id="rId8" Type="http://schemas.openxmlformats.org/officeDocument/2006/relationships/slide" Target="slide31.xml"/><Relationship Id="rId9" Type="http://schemas.openxmlformats.org/officeDocument/2006/relationships/slide" Target="slide7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.jpg"/><Relationship Id="rId4" Type="http://schemas.openxmlformats.org/officeDocument/2006/relationships/slide" Target="slide31.xml"/><Relationship Id="rId5" Type="http://schemas.openxmlformats.org/officeDocument/2006/relationships/slide" Target="slide7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80.xml"/><Relationship Id="rId6" Type="http://schemas.openxmlformats.org/officeDocument/2006/relationships/slide" Target="slide3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78.xml"/><Relationship Id="rId8" Type="http://schemas.openxmlformats.org/officeDocument/2006/relationships/slide" Target="slide3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8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7.jpg"/><Relationship Id="rId4" Type="http://schemas.openxmlformats.org/officeDocument/2006/relationships/slide" Target="slide82.xml"/><Relationship Id="rId5" Type="http://schemas.openxmlformats.org/officeDocument/2006/relationships/slide" Target="slide83.xml"/><Relationship Id="rId6" Type="http://schemas.openxmlformats.org/officeDocument/2006/relationships/slide" Target="slide3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81.xml"/><Relationship Id="rId8" Type="http://schemas.openxmlformats.org/officeDocument/2006/relationships/slide" Target="slide3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1.xml"/><Relationship Id="rId8" Type="http://schemas.openxmlformats.org/officeDocument/2006/relationships/slide" Target="slide8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.jpg"/><Relationship Id="rId4" Type="http://schemas.openxmlformats.org/officeDocument/2006/relationships/image" Target="../media/image19.png"/><Relationship Id="rId5" Type="http://schemas.openxmlformats.org/officeDocument/2006/relationships/slide" Target="slide32.xml"/><Relationship Id="rId6" Type="http://schemas.openxmlformats.org/officeDocument/2006/relationships/slide" Target="slide8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37.jpg"/><Relationship Id="rId6" Type="http://schemas.openxmlformats.org/officeDocument/2006/relationships/slide" Target="slide8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9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png"/><Relationship Id="rId4" Type="http://schemas.openxmlformats.org/officeDocument/2006/relationships/slide" Target="slide132.xml"/><Relationship Id="rId5" Type="http://schemas.openxmlformats.org/officeDocument/2006/relationships/slide" Target="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0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0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7.jpg"/><Relationship Id="rId4" Type="http://schemas.openxmlformats.org/officeDocument/2006/relationships/image" Target="../media/image38.jpg"/><Relationship Id="rId5" Type="http://schemas.openxmlformats.org/officeDocument/2006/relationships/slide" Target="slide109.xml"/><Relationship Id="rId6" Type="http://schemas.openxmlformats.org/officeDocument/2006/relationships/slide" Target="slide108.xml"/><Relationship Id="rId7" Type="http://schemas.openxmlformats.org/officeDocument/2006/relationships/slide" Target="slide8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07.xml"/><Relationship Id="rId8" Type="http://schemas.openxmlformats.org/officeDocument/2006/relationships/slide" Target="slide8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9.jpg"/><Relationship Id="rId7" Type="http://schemas.openxmlformats.org/officeDocument/2006/relationships/image" Target="../media/image9.png"/><Relationship Id="rId8" Type="http://schemas.openxmlformats.org/officeDocument/2006/relationships/slide" Target="slide84.xml"/><Relationship Id="rId9" Type="http://schemas.openxmlformats.org/officeDocument/2006/relationships/slide" Target="slide11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7.jpg"/><Relationship Id="rId4" Type="http://schemas.openxmlformats.org/officeDocument/2006/relationships/slide" Target="slide84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7.jpg"/><Relationship Id="rId4" Type="http://schemas.openxmlformats.org/officeDocument/2006/relationships/slide" Target="slide84.xml"/><Relationship Id="rId5" Type="http://schemas.openxmlformats.org/officeDocument/2006/relationships/slide" Target="slide11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7.jpg"/><Relationship Id="rId4" Type="http://schemas.openxmlformats.org/officeDocument/2006/relationships/slide" Target="slide116.xml"/><Relationship Id="rId5" Type="http://schemas.openxmlformats.org/officeDocument/2006/relationships/slide" Target="slide84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7.jpg"/><Relationship Id="rId4" Type="http://schemas.openxmlformats.org/officeDocument/2006/relationships/slide" Target="slide118.xml"/><Relationship Id="rId5" Type="http://schemas.openxmlformats.org/officeDocument/2006/relationships/slide" Target="slide117.xml"/><Relationship Id="rId6" Type="http://schemas.openxmlformats.org/officeDocument/2006/relationships/slide" Target="slide8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16.xml"/><Relationship Id="rId8" Type="http://schemas.openxmlformats.org/officeDocument/2006/relationships/slide" Target="slide8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19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20.xml"/><Relationship Id="rId6" Type="http://schemas.openxmlformats.org/officeDocument/2006/relationships/slide" Target="slide121.xml"/><Relationship Id="rId7" Type="http://schemas.openxmlformats.org/officeDocument/2006/relationships/slide" Target="slide8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19.xml"/><Relationship Id="rId8" Type="http://schemas.openxmlformats.org/officeDocument/2006/relationships/slide" Target="slide8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7.jpg"/><Relationship Id="rId4" Type="http://schemas.openxmlformats.org/officeDocument/2006/relationships/image" Target="../media/image29.jpg"/><Relationship Id="rId5" Type="http://schemas.openxmlformats.org/officeDocument/2006/relationships/slide" Target="slide124.xml"/><Relationship Id="rId6" Type="http://schemas.openxmlformats.org/officeDocument/2006/relationships/slide" Target="slide123.xml"/><Relationship Id="rId7" Type="http://schemas.openxmlformats.org/officeDocument/2006/relationships/slide" Target="slide84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2.xml"/><Relationship Id="rId8" Type="http://schemas.openxmlformats.org/officeDocument/2006/relationships/slide" Target="slide84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7.jpg"/><Relationship Id="rId4" Type="http://schemas.openxmlformats.org/officeDocument/2006/relationships/image" Target="../media/image40.png"/><Relationship Id="rId5" Type="http://schemas.openxmlformats.org/officeDocument/2006/relationships/slide" Target="slide126.xml"/><Relationship Id="rId6" Type="http://schemas.openxmlformats.org/officeDocument/2006/relationships/slide" Target="slide127.xml"/><Relationship Id="rId7" Type="http://schemas.openxmlformats.org/officeDocument/2006/relationships/slide" Target="slide84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25.xml"/><Relationship Id="rId8" Type="http://schemas.openxmlformats.org/officeDocument/2006/relationships/slide" Target="slide84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28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7.jpg"/><Relationship Id="rId4" Type="http://schemas.openxmlformats.org/officeDocument/2006/relationships/slide" Target="slide129.xml"/><Relationship Id="rId5" Type="http://schemas.openxmlformats.org/officeDocument/2006/relationships/slide" Target="slide133.xml"/><Relationship Id="rId6" Type="http://schemas.openxmlformats.org/officeDocument/2006/relationships/slide" Target="slide8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0.xml"/><Relationship Id="rId8" Type="http://schemas.openxmlformats.org/officeDocument/2006/relationships/slide" Target="slide8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7.jpg"/><Relationship Id="rId4" Type="http://schemas.openxmlformats.org/officeDocument/2006/relationships/slide" Target="slide131.xml"/><Relationship Id="rId5" Type="http://schemas.openxmlformats.org/officeDocument/2006/relationships/slide" Target="slide133.xml"/><Relationship Id="rId6" Type="http://schemas.openxmlformats.org/officeDocument/2006/relationships/slide" Target="slide8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32.xml"/><Relationship Id="rId6" Type="http://schemas.openxmlformats.org/officeDocument/2006/relationships/slide" Target="slide92.xml"/><Relationship Id="rId7" Type="http://schemas.openxmlformats.org/officeDocument/2006/relationships/slide" Target="slide8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7.jpg"/><Relationship Id="rId4" Type="http://schemas.openxmlformats.org/officeDocument/2006/relationships/slide" Target="slide133.xml"/><Relationship Id="rId5" Type="http://schemas.openxmlformats.org/officeDocument/2006/relationships/slide" Target="slide131.xml"/><Relationship Id="rId6" Type="http://schemas.openxmlformats.org/officeDocument/2006/relationships/slide" Target="slide84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34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136.xml"/><Relationship Id="rId6" Type="http://schemas.openxmlformats.org/officeDocument/2006/relationships/slide" Target="slide135.xml"/><Relationship Id="rId7" Type="http://schemas.openxmlformats.org/officeDocument/2006/relationships/slide" Target="slide8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4.xml"/><Relationship Id="rId8" Type="http://schemas.openxmlformats.org/officeDocument/2006/relationships/slide" Target="slide84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3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84.xml"/><Relationship Id="rId6" Type="http://schemas.openxmlformats.org/officeDocument/2006/relationships/slide" Target="slide13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7.jpg"/><Relationship Id="rId4" Type="http://schemas.openxmlformats.org/officeDocument/2006/relationships/slide" Target="slide139.xml"/><Relationship Id="rId5" Type="http://schemas.openxmlformats.org/officeDocument/2006/relationships/slide" Target="slide140.xml"/><Relationship Id="rId6" Type="http://schemas.openxmlformats.org/officeDocument/2006/relationships/slide" Target="slide8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38.xml"/><Relationship Id="rId8" Type="http://schemas.openxmlformats.org/officeDocument/2006/relationships/slide" Target="slide8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4.xml"/><Relationship Id="rId8" Type="http://schemas.openxmlformats.org/officeDocument/2006/relationships/slide" Target="slide141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7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slide" Target="slide141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7.jp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1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31.png"/><Relationship Id="rId12" Type="http://schemas.openxmlformats.org/officeDocument/2006/relationships/image" Target="../media/image50.png"/><Relationship Id="rId13" Type="http://schemas.openxmlformats.org/officeDocument/2006/relationships/image" Target="../media/image51.png"/><Relationship Id="rId14" Type="http://schemas.openxmlformats.org/officeDocument/2006/relationships/slide" Target="slide141.xml"/><Relationship Id="rId15" Type="http://schemas.openxmlformats.org/officeDocument/2006/relationships/slide" Target="slide144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" Target="slide141.xml"/><Relationship Id="rId7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slide" Target="slide141.xml"/><Relationship Id="rId10" Type="http://schemas.openxmlformats.org/officeDocument/2006/relationships/slide" Target="slide14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image" Target="../media/image48.png"/><Relationship Id="rId6" Type="http://schemas.openxmlformats.org/officeDocument/2006/relationships/slide" Target="slide141.xml"/><Relationship Id="rId7" Type="http://schemas.openxmlformats.org/officeDocument/2006/relationships/slide" Target="slide14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7.jpg"/><Relationship Id="rId4" Type="http://schemas.openxmlformats.org/officeDocument/2006/relationships/slide" Target="slide149.xml"/><Relationship Id="rId5" Type="http://schemas.openxmlformats.org/officeDocument/2006/relationships/slide" Target="slide148.xml"/><Relationship Id="rId6" Type="http://schemas.openxmlformats.org/officeDocument/2006/relationships/slide" Target="slide141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47.xml"/><Relationship Id="rId8" Type="http://schemas.openxmlformats.org/officeDocument/2006/relationships/slide" Target="slide14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50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slide" Target="slide141.xml"/><Relationship Id="rId6" Type="http://schemas.openxmlformats.org/officeDocument/2006/relationships/slide" Target="slide151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6.xml"/><Relationship Id="rId6" Type="http://schemas.openxmlformats.org/officeDocument/2006/relationships/slide" Target="slide152.xml"/><Relationship Id="rId7" Type="http://schemas.openxmlformats.org/officeDocument/2006/relationships/slide" Target="slide14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53.xml"/><Relationship Id="rId8" Type="http://schemas.openxmlformats.org/officeDocument/2006/relationships/slide" Target="slide141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6.xml"/><Relationship Id="rId6" Type="http://schemas.openxmlformats.org/officeDocument/2006/relationships/slide" Target="slide154.xml"/><Relationship Id="rId7" Type="http://schemas.openxmlformats.org/officeDocument/2006/relationships/slide" Target="slide141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55.xml"/><Relationship Id="rId6" Type="http://schemas.openxmlformats.org/officeDocument/2006/relationships/slide" Target="slide141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.jpg"/><Relationship Id="rId4" Type="http://schemas.openxmlformats.org/officeDocument/2006/relationships/slide" Target="slide156.xml"/><Relationship Id="rId5" Type="http://schemas.openxmlformats.org/officeDocument/2006/relationships/slide" Target="slide154.xml"/><Relationship Id="rId6" Type="http://schemas.openxmlformats.org/officeDocument/2006/relationships/slide" Target="slide141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5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2.xml"/><Relationship Id="rId6" Type="http://schemas.openxmlformats.org/officeDocument/2006/relationships/slide" Target="slide158.xml"/><Relationship Id="rId7" Type="http://schemas.openxmlformats.org/officeDocument/2006/relationships/slide" Target="slide14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59.xml"/><Relationship Id="rId8" Type="http://schemas.openxmlformats.org/officeDocument/2006/relationships/slide" Target="slide141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2.xml"/><Relationship Id="rId6" Type="http://schemas.openxmlformats.org/officeDocument/2006/relationships/slide" Target="slide160.xml"/><Relationship Id="rId7" Type="http://schemas.openxmlformats.org/officeDocument/2006/relationships/slide" Target="slide14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61.xml"/><Relationship Id="rId6" Type="http://schemas.openxmlformats.org/officeDocument/2006/relationships/slide" Target="slide141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.jpg"/><Relationship Id="rId4" Type="http://schemas.openxmlformats.org/officeDocument/2006/relationships/slide" Target="slide162.xml"/><Relationship Id="rId5" Type="http://schemas.openxmlformats.org/officeDocument/2006/relationships/slide" Target="slide160.xml"/><Relationship Id="rId6" Type="http://schemas.openxmlformats.org/officeDocument/2006/relationships/slide" Target="slide14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3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7.jpg"/><Relationship Id="rId4" Type="http://schemas.openxmlformats.org/officeDocument/2006/relationships/slide" Target="slide165.xml"/><Relationship Id="rId5" Type="http://schemas.openxmlformats.org/officeDocument/2006/relationships/slide" Target="slide164.xml"/><Relationship Id="rId6" Type="http://schemas.openxmlformats.org/officeDocument/2006/relationships/slide" Target="slide141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63.xml"/><Relationship Id="rId8" Type="http://schemas.openxmlformats.org/officeDocument/2006/relationships/slide" Target="slide141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6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7.jpg"/><Relationship Id="rId4" Type="http://schemas.openxmlformats.org/officeDocument/2006/relationships/slide" Target="slide168.xml"/><Relationship Id="rId5" Type="http://schemas.openxmlformats.org/officeDocument/2006/relationships/slide" Target="slide167.xml"/><Relationship Id="rId6" Type="http://schemas.openxmlformats.org/officeDocument/2006/relationships/slide" Target="slide14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66.xml"/><Relationship Id="rId8" Type="http://schemas.openxmlformats.org/officeDocument/2006/relationships/slide" Target="slide141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69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41.xml"/><Relationship Id="rId6" Type="http://schemas.openxmlformats.org/officeDocument/2006/relationships/slide" Target="slide17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.jpg"/><Relationship Id="rId4" Type="http://schemas.openxmlformats.org/officeDocument/2006/relationships/slide" Target="slide141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7.jpg"/><Relationship Id="rId4" Type="http://schemas.openxmlformats.org/officeDocument/2006/relationships/slide" Target="slide141.xml"/><Relationship Id="rId5" Type="http://schemas.openxmlformats.org/officeDocument/2006/relationships/slide" Target="slide174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141.xml"/><Relationship Id="rId8" Type="http://schemas.openxmlformats.org/officeDocument/2006/relationships/slide" Target="slide17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77.xml"/><Relationship Id="rId6" Type="http://schemas.openxmlformats.org/officeDocument/2006/relationships/slide" Target="slide176.xml"/><Relationship Id="rId7" Type="http://schemas.openxmlformats.org/officeDocument/2006/relationships/slide" Target="slide141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75.xml"/><Relationship Id="rId8" Type="http://schemas.openxmlformats.org/officeDocument/2006/relationships/slide" Target="slide14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1.xml"/><Relationship Id="rId8" Type="http://schemas.openxmlformats.org/officeDocument/2006/relationships/slide" Target="slide178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41.xml"/><Relationship Id="rId6" Type="http://schemas.openxmlformats.org/officeDocument/2006/relationships/slide" Target="slide179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180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.jpg"/><Relationship Id="rId4" Type="http://schemas.openxmlformats.org/officeDocument/2006/relationships/slide" Target="slide179.xml"/><Relationship Id="rId5" Type="http://schemas.openxmlformats.org/officeDocument/2006/relationships/slide" Target="slide181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7.jpg"/><Relationship Id="rId4" Type="http://schemas.openxmlformats.org/officeDocument/2006/relationships/slide" Target="slide179.xml"/><Relationship Id="rId5" Type="http://schemas.openxmlformats.org/officeDocument/2006/relationships/slide" Target="slide18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jpg"/><Relationship Id="rId4" Type="http://schemas.openxmlformats.org/officeDocument/2006/relationships/hyperlink" Target="https://www.sfda.gov.sa" TargetMode="External"/><Relationship Id="rId5" Type="http://schemas.openxmlformats.org/officeDocument/2006/relationships/hyperlink" Target="https://www.moh.gov.sa" TargetMode="External"/><Relationship Id="rId6" Type="http://schemas.openxmlformats.org/officeDocument/2006/relationships/hyperlink" Target="https://rsrc.kaust.edu.sa" TargetMode="External"/><Relationship Id="rId7" Type="http://schemas.openxmlformats.org/officeDocument/2006/relationships/hyperlink" Target="https://www.vision2030.gov.sa/v2030/vrps/hstp/" TargetMode="External"/><Relationship Id="rId8" Type="http://schemas.openxmlformats.org/officeDocument/2006/relationships/image" Target="../media/image25.png"/><Relationship Id="rId9" Type="http://schemas.openxmlformats.org/officeDocument/2006/relationships/slide" Target="slide179.xml"/><Relationship Id="rId10" Type="http://schemas.openxmlformats.org/officeDocument/2006/relationships/slide" Target="slide183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7.jpg"/><Relationship Id="rId4" Type="http://schemas.openxmlformats.org/officeDocument/2006/relationships/slide" Target="slide179.xml"/><Relationship Id="rId5" Type="http://schemas.openxmlformats.org/officeDocument/2006/relationships/slide" Target="slide184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25.png"/><Relationship Id="rId6" Type="http://schemas.openxmlformats.org/officeDocument/2006/relationships/slide" Target="slide185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jpg"/><Relationship Id="rId4" Type="http://schemas.openxmlformats.org/officeDocument/2006/relationships/slide" Target="slide190.xml"/><Relationship Id="rId5" Type="http://schemas.openxmlformats.org/officeDocument/2006/relationships/slide" Target="slide186.xml"/><Relationship Id="rId6" Type="http://schemas.openxmlformats.org/officeDocument/2006/relationships/slide" Target="slide179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87.xml"/><Relationship Id="rId8" Type="http://schemas.openxmlformats.org/officeDocument/2006/relationships/slide" Target="slide179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jpg"/><Relationship Id="rId4" Type="http://schemas.openxmlformats.org/officeDocument/2006/relationships/slide" Target="slide190.xml"/><Relationship Id="rId5" Type="http://schemas.openxmlformats.org/officeDocument/2006/relationships/slide" Target="slide188.xml"/><Relationship Id="rId6" Type="http://schemas.openxmlformats.org/officeDocument/2006/relationships/slide" Target="slide179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7.jpg"/><Relationship Id="rId4" Type="http://schemas.openxmlformats.org/officeDocument/2006/relationships/image" Target="../media/image28.jpg"/><Relationship Id="rId5" Type="http://schemas.openxmlformats.org/officeDocument/2006/relationships/slide" Target="slide189.xml"/><Relationship Id="rId6" Type="http://schemas.openxmlformats.org/officeDocument/2006/relationships/slide" Target="slide179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7.jpg"/><Relationship Id="rId4" Type="http://schemas.openxmlformats.org/officeDocument/2006/relationships/slide" Target="slide190.xml"/><Relationship Id="rId5" Type="http://schemas.openxmlformats.org/officeDocument/2006/relationships/slide" Target="slide188.xml"/><Relationship Id="rId6" Type="http://schemas.openxmlformats.org/officeDocument/2006/relationships/slide" Target="slide17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191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jpg"/><Relationship Id="rId4" Type="http://schemas.openxmlformats.org/officeDocument/2006/relationships/slide" Target="slide196.xml"/><Relationship Id="rId5" Type="http://schemas.openxmlformats.org/officeDocument/2006/relationships/slide" Target="slide192.xml"/><Relationship Id="rId6" Type="http://schemas.openxmlformats.org/officeDocument/2006/relationships/slide" Target="slide179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93.xml"/><Relationship Id="rId8" Type="http://schemas.openxmlformats.org/officeDocument/2006/relationships/slide" Target="slide179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jpg"/><Relationship Id="rId4" Type="http://schemas.openxmlformats.org/officeDocument/2006/relationships/slide" Target="slide196.xml"/><Relationship Id="rId5" Type="http://schemas.openxmlformats.org/officeDocument/2006/relationships/slide" Target="slide194.xml"/><Relationship Id="rId6" Type="http://schemas.openxmlformats.org/officeDocument/2006/relationships/slide" Target="slide179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7.jpg"/><Relationship Id="rId4" Type="http://schemas.openxmlformats.org/officeDocument/2006/relationships/image" Target="../media/image33.jpg"/><Relationship Id="rId5" Type="http://schemas.openxmlformats.org/officeDocument/2006/relationships/slide" Target="slide195.xml"/><Relationship Id="rId6" Type="http://schemas.openxmlformats.org/officeDocument/2006/relationships/slide" Target="slide17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7.jpg"/><Relationship Id="rId4" Type="http://schemas.openxmlformats.org/officeDocument/2006/relationships/slide" Target="slide196.xml"/><Relationship Id="rId5" Type="http://schemas.openxmlformats.org/officeDocument/2006/relationships/slide" Target="slide194.xml"/><Relationship Id="rId6" Type="http://schemas.openxmlformats.org/officeDocument/2006/relationships/slide" Target="slide17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19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7.jpg"/><Relationship Id="rId4" Type="http://schemas.openxmlformats.org/officeDocument/2006/relationships/slide" Target="slide202.xml"/><Relationship Id="rId5" Type="http://schemas.openxmlformats.org/officeDocument/2006/relationships/slide" Target="slide198.xml"/><Relationship Id="rId6" Type="http://schemas.openxmlformats.org/officeDocument/2006/relationships/slide" Target="slide179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199.xml"/><Relationship Id="rId8" Type="http://schemas.openxmlformats.org/officeDocument/2006/relationships/slide" Target="slide179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7.jpg"/><Relationship Id="rId4" Type="http://schemas.openxmlformats.org/officeDocument/2006/relationships/slide" Target="slide202.xml"/><Relationship Id="rId5" Type="http://schemas.openxmlformats.org/officeDocument/2006/relationships/slide" Target="slide200.xml"/><Relationship Id="rId6" Type="http://schemas.openxmlformats.org/officeDocument/2006/relationships/slide" Target="slide179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201.xml"/><Relationship Id="rId6" Type="http://schemas.openxmlformats.org/officeDocument/2006/relationships/slide" Target="slide179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7.jpg"/><Relationship Id="rId4" Type="http://schemas.openxmlformats.org/officeDocument/2006/relationships/slide" Target="slide202.xml"/><Relationship Id="rId5" Type="http://schemas.openxmlformats.org/officeDocument/2006/relationships/slide" Target="slide200.xml"/><Relationship Id="rId6" Type="http://schemas.openxmlformats.org/officeDocument/2006/relationships/slide" Target="slide179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203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7.jpg"/><Relationship Id="rId4" Type="http://schemas.openxmlformats.org/officeDocument/2006/relationships/slide" Target="slide208.xml"/><Relationship Id="rId5" Type="http://schemas.openxmlformats.org/officeDocument/2006/relationships/slide" Target="slide204.xml"/><Relationship Id="rId6" Type="http://schemas.openxmlformats.org/officeDocument/2006/relationships/slide" Target="slide179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slide" Target="slide205.xml"/><Relationship Id="rId8" Type="http://schemas.openxmlformats.org/officeDocument/2006/relationships/slide" Target="slide179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7.jpg"/><Relationship Id="rId4" Type="http://schemas.openxmlformats.org/officeDocument/2006/relationships/slide" Target="slide208.xml"/><Relationship Id="rId5" Type="http://schemas.openxmlformats.org/officeDocument/2006/relationships/slide" Target="slide206.xml"/><Relationship Id="rId6" Type="http://schemas.openxmlformats.org/officeDocument/2006/relationships/slide" Target="slide17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207.xml"/><Relationship Id="rId6" Type="http://schemas.openxmlformats.org/officeDocument/2006/relationships/slide" Target="slide179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7.jpg"/><Relationship Id="rId4" Type="http://schemas.openxmlformats.org/officeDocument/2006/relationships/slide" Target="slide208.xml"/><Relationship Id="rId5" Type="http://schemas.openxmlformats.org/officeDocument/2006/relationships/slide" Target="slide206.xml"/><Relationship Id="rId6" Type="http://schemas.openxmlformats.org/officeDocument/2006/relationships/slide" Target="slide179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9.xml"/><Relationship Id="rId8" Type="http://schemas.openxmlformats.org/officeDocument/2006/relationships/slide" Target="slide209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1.jpg"/><Relationship Id="rId4" Type="http://schemas.openxmlformats.org/officeDocument/2006/relationships/slide" Target="slide32.xml"/><Relationship Id="rId5" Type="http://schemas.openxmlformats.org/officeDocument/2006/relationships/slide" Target="slide85.xml"/><Relationship Id="rId6" Type="http://schemas.openxmlformats.org/officeDocument/2006/relationships/slide" Target="slide103.xml"/><Relationship Id="rId7" Type="http://schemas.openxmlformats.org/officeDocument/2006/relationships/slide" Target="slide210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Relationship Id="rId3" Type="http://schemas.openxmlformats.org/officeDocument/2006/relationships/image" Target="../media/image7.jpg"/><Relationship Id="rId4" Type="http://schemas.openxmlformats.org/officeDocument/2006/relationships/slide" Target="slide211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60.png"/><Relationship Id="rId6" Type="http://schemas.openxmlformats.org/officeDocument/2006/relationships/image" Target="../media/image25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57200"/>
            <a:ext cx="5605272" cy="4993787"/>
          </a:xfrm>
          <a:prstGeom prst="rect">
            <a:avLst/>
          </a:prstGeom>
        </p:spPr>
      </p:pic>
      <p:sp>
        <p:nvSpPr>
          <p:cNvPr id="4" name="!!doorsign"/>
          <p:cNvSpPr txBox="1"/>
          <p:nvPr/>
        </p:nvSpPr>
        <p:spPr>
          <a:xfrm>
            <a:off x="4158109" y="528539"/>
            <a:ext cx="3872733" cy="407656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5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668" y="1017727"/>
            <a:ext cx="2598807" cy="4433260"/>
          </a:xfrm>
          <a:prstGeom prst="rect">
            <a:avLst/>
          </a:prstGeom>
        </p:spPr>
      </p:pic>
      <p:pic>
        <p:nvPicPr>
          <p:cNvPr id="6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017727"/>
            <a:ext cx="2598807" cy="4433260"/>
          </a:xfrm>
          <a:prstGeom prst="rect">
            <a:avLst/>
          </a:prstGeom>
        </p:spPr>
      </p:pic>
      <p:sp>
        <p:nvSpPr>
          <p:cNvPr id="7" name="!!coverpanel"/>
          <p:cNvSpPr/>
          <p:nvPr/>
        </p:nvSpPr>
        <p:spPr>
          <a:xfrm>
            <a:off x="1828800" y="4709160"/>
            <a:ext cx="8531352" cy="1508760"/>
          </a:xfrm>
          <a:prstGeom prst="roundRect">
            <a:avLst>
              <a:gd name="adj" fmla="val 24242"/>
            </a:avLst>
          </a:prstGeom>
          <a:solidFill>
            <a:srgbClr val="FFFFFF">
              <a:alpha val="96000"/>
            </a:srgbClr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overtitle"/>
          <p:cNvSpPr txBox="1"/>
          <p:nvPr/>
        </p:nvSpPr>
        <p:spPr>
          <a:xfrm>
            <a:off x="1920240" y="4709160"/>
            <a:ext cx="8348472" cy="7772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40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4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مختبر شامه الافتراضي</a:t>
            </a:r>
          </a:p>
        </p:txBody>
      </p:sp>
      <p:sp>
        <p:nvSpPr>
          <p:cNvPr id="9" name="!!coversub"/>
          <p:cNvSpPr txBox="1"/>
          <p:nvPr/>
        </p:nvSpPr>
        <p:spPr>
          <a:xfrm>
            <a:off x="1920240" y="5394960"/>
            <a:ext cx="8348472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رحلة علمية لاكتشاف تكاثر المخلوقات الحية الدقيقة</a:t>
            </a:r>
          </a:p>
        </p:txBody>
      </p:sp>
      <p:sp>
        <p:nvSpPr>
          <p:cNvPr id="10" name="!!covermeta"/>
          <p:cNvSpPr txBox="1"/>
          <p:nvPr/>
        </p:nvSpPr>
        <p:spPr>
          <a:xfrm>
            <a:off x="1920240" y="5788152"/>
            <a:ext cx="8348472" cy="3840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العلوم · الصف السادس الابتدائي · المعلمة: أ/ شامه البقمي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مرحبًا بعالماتي الصغيرات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6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7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8" name="!!guide" descr="guide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743200"/>
            <a:ext cx="2232474" cy="3520440"/>
          </a:xfrm>
          <a:prstGeom prst="rect">
            <a:avLst/>
          </a:prstGeom>
        </p:spPr>
      </p:pic>
      <p:sp>
        <p:nvSpPr>
          <p:cNvPr id="9" name="bubble"/>
          <p:cNvSpPr/>
          <p:nvPr/>
        </p:nvSpPr>
        <p:spPr>
          <a:xfrm>
            <a:off x="228600" y="1051560"/>
            <a:ext cx="3017520" cy="1600200"/>
          </a:xfrm>
          <a:prstGeom prst="wedgeRoundRectCallout">
            <a:avLst>
              <a:gd name="adj1" fmla="val -10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أهلًا بكنّ يا عالماتي! 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«العالمة نور»، مرشدتكن في رحلة اليوم داخل مختبر شامه الافتراضي.</a:t>
            </a:r>
          </a:p>
        </p:txBody>
      </p:sp>
      <p:pic>
        <p:nvPicPr>
          <p:cNvPr id="10" name="Picture 9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2194560"/>
            <a:ext cx="2658794" cy="329184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قوانين مختبرنا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111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١. أرفع يدي قبل الإجابة</a:t>
            </a:r>
          </a:p>
        </p:txBody>
      </p:sp>
      <p:pic>
        <p:nvPicPr>
          <p:cNvPr id="5" name="Picture 4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00200"/>
            <a:ext cx="73152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533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E2F7E9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٢. أتعاون مع فريقي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1600200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111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DCEB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٣. أفكر قبل أن أختار</a:t>
            </a:r>
          </a:p>
        </p:txBody>
      </p:sp>
      <p:pic>
        <p:nvPicPr>
          <p:cNvPr id="9" name="Picture 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01752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533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E3E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٤. الخطأ فرصة لأتعلم</a:t>
            </a:r>
          </a:p>
        </p:txBody>
      </p:sp>
      <p:pic>
        <p:nvPicPr>
          <p:cNvPr id="11" name="Picture 10" descr="ic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017520"/>
            <a:ext cx="731520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77440" y="4434840"/>
            <a:ext cx="9262872" cy="914400"/>
          </a:xfrm>
          <a:prstGeom prst="roundRect">
            <a:avLst>
              <a:gd name="adj" fmla="val 30000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B35A00"/>
                </a:solidFill>
                <a:latin typeface="Arial"/>
                <a:ea typeface="Arial"/>
                <a:cs typeface="Arial"/>
              </a:rPr>
              <a:t>بطاقة السلامة: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المختبر الحقيقي لا نلمس العينات، ولا نفتح الأكياس المغلقة.</a:t>
            </a:r>
          </a:p>
        </p:txBody>
      </p:sp>
      <p:pic>
        <p:nvPicPr>
          <p:cNvPr id="13" name="!!guide" descr="guide_poi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977639"/>
            <a:ext cx="1449659" cy="2286000"/>
          </a:xfrm>
          <a:prstGeom prst="rect">
            <a:avLst/>
          </a:prstGeom>
        </p:spPr>
      </p:pic>
      <p:sp>
        <p:nvSpPr>
          <p:cNvPr id="5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إدارة الصف: قوانين المختبر</a:t>
            </a:r>
          </a:p>
        </p:txBody>
      </p:sp>
      <p:sp>
        <p:nvSpPr>
          <p:cNvPr id="5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59" name="nav_rev94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المراجعة: ما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" y="1655635"/>
            <a:ext cx="3438144" cy="4415409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4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728787"/>
            <a:ext cx="3291840" cy="42691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95217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9" name="card0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مخلوق حي مجهري لا يُرى بالعين المجردة.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يتكوّن جسمه من خلية واحدة.</a:t>
            </a:r>
          </a:p>
        </p:txBody>
      </p:sp>
      <p:sp>
        <p:nvSpPr>
          <p:cNvPr id="13" name="card2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تشمل العفن والخميرة، لا تصنع غذاءها، وتمتص المواد المغذية من الوسط الذي تعيش فيه.</a:t>
            </a:r>
          </a:p>
        </p:txBody>
      </p:sp>
      <p:sp>
        <p:nvSpPr>
          <p:cNvPr id="15" name="card3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في صنع الخبز، والبنسيليوم لصناعة الأدوية، وبعضها يسبب أمراضًا مثل القدم الرياضي.</a:t>
            </a:r>
          </a:p>
        </p:txBody>
      </p:sp>
      <p:sp>
        <p:nvSpPr>
          <p:cNvPr id="35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38" name="nav_p95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صفحة ٩٥ كما في الكتاب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5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715" y="1261872"/>
            <a:ext cx="3746809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5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846" y="1280160"/>
            <a:ext cx="4370267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95_bac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770624"/>
            <a:ext cx="5257800" cy="381967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5_archae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975061"/>
            <a:ext cx="5257800" cy="3410797"/>
          </a:xfrm>
          <a:prstGeom prst="rect">
            <a:avLst/>
          </a:prstGeom>
        </p:spPr>
      </p:pic>
      <p:sp>
        <p:nvSpPr>
          <p:cNvPr id="39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4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2" name="nav_rev95a">
            <a:hlinkClick action="ppaction://hlinksldjump" r:id="rId8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الطلائعيات المجهرية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«معظم الطلائعيات مخلوقات حية دقيقة وحيدة الخلية، يصعب تصنيفها إلى حيوانات أو نباتات.»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997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997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9970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«فالطلائعيات الشبيهة بالنباتات -ومنها اليوجلينا- تصنع غذاءها بنفسها.»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«طلائعيات شبيهة بالنباتات تعيش في البحيرات والمحيطات، وتعد مصدر الغذاء الرئيس في الأنظمة البيئية البحرية.»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«بعضها له تراكيب تشبه السوط تسمى الأسواط. وبعضها له تراكيب تشبه الشعر تسمى الأهداب، وهي تتحرك جيئة وذهابًا مثل المجداف.»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«أما الأميبا فلها تراكيب تسمى الأقدام الكاذبة تستخدمها في حركتها عن طريق انقباضها وامتدادها.»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b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البكتيريا والبدائيات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«البكتيريا مخلوقات وحيدة الخلية. وبعض أنواع البكتيريا ضار يسبب العديد من الأمراض، فهناك بكتيريا كروية تسبب التهاب الحلق.»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«ومعظم أنواع البكتيريا غير ضار، ومنها البكتيريا العصوية التي تستعمل لإنتاج اللبن الرائب وغيره من المواد المفيدة للجسم.»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«مخلوقات حية وحيدة الخلية. وقد صنفت من قبل على أنها أحد أنواع البكتيريا، إلا أن العلماء اكتشفوا اختلاف صفاتها الوراثية عن البكتيريا.»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«في الينابيع الحارة… وفي بيئات خالية من الأكسجين بالقرب من فوهات البراكين… وفي القنوات الهضمية للحيوانات، أو في أماكن شديدة الملوحة.»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«يستخدم مصطلح الميكروبات لوصف المخلوقات الحية الدقيقة المفيدة والضارة وليس الضارة فقط.»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q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أسئلة صفحة ٩٥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826702"/>
            <a:ext cx="3438144" cy="4073275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5_ro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99854"/>
            <a:ext cx="3291840" cy="39269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78110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ص٩٥</a:t>
            </a:r>
          </a:p>
        </p:txBody>
      </p:sp>
      <p:sp>
        <p:nvSpPr>
          <p:cNvPr id="9" name="card0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تنتج هذه الصخور من مستعمرات بكتيريا وطحالب بدائية. تُرى أين كانت تعيش هذه المخلوقات في أثناء حياتها؟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في مياه البحر الضحلة المالحة قرب الشاطئ.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يُحتمل وجود بدائيات على جلدي؟ أوضح إجابتي.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نعم يُحتمل؛ فالبدائيات تعيش في بيئات قاسية متنوعة منها شديدة الملوحة، وجلدي مالح بالعرق فيصلح بيئة لها.</a:t>
            </a:r>
          </a:p>
        </p:txBody>
      </p:sp>
      <p:sp>
        <p:nvSpPr>
          <p:cNvPr id="13" name="card2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توجد الدياتومات بالقرب من سطح البحيرات والمحيطات أم في أعماق المياه؟ لماذا؟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قرب السطح؛ لأنها شبيهة بالنباتات تصنع غذاءها بنفسها، وهذا يحتاج إلى ضوء الشمس الذي لا يصل إلى الأعماق.</a:t>
            </a:r>
          </a:p>
        </p:txBody>
      </p:sp>
      <p:sp>
        <p:nvSpPr>
          <p:cNvPr id="27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30" name="nav_cod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🔐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ساعدونا لندخل المختبر!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9" name="!!guide" descr="guide_po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2377440"/>
            <a:ext cx="2435426" cy="3840480"/>
          </a:xfrm>
          <a:prstGeom prst="rect">
            <a:avLst/>
          </a:prstGeom>
        </p:spPr>
      </p:pic>
      <p:sp>
        <p:nvSpPr>
          <p:cNvPr id="10" name="bubble"/>
          <p:cNvSpPr/>
          <p:nvPr/>
        </p:nvSpPr>
        <p:spPr>
          <a:xfrm>
            <a:off x="3611880" y="1143000"/>
            <a:ext cx="4983480" cy="2697480"/>
          </a:xfrm>
          <a:prstGeom prst="wedgeRoundRectCallout">
            <a:avLst>
              <a:gd name="adj1" fmla="val -62000"/>
              <a:gd name="adj2" fmla="val 78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9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عالماتي المبدعات!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أبواب مختبرنا مغلقة، ولن نستطيع الدخول إلا بعد حل ثلاثة تحديات علمية.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 إجابة صحيحة تكشف رقمًا من الرمز السري.</a:t>
            </a:r>
          </a:p>
          <a:p>
            <a:pPr algn="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أنتن مستعدات؟</a:t>
            </a:r>
          </a:p>
        </p:txBody>
      </p:sp>
      <p:sp>
        <p:nvSpPr>
          <p:cNvPr id="11" name="!!lockpanel"/>
          <p:cNvSpPr/>
          <p:nvPr/>
        </p:nvSpPr>
        <p:spPr>
          <a:xfrm>
            <a:off x="7955279" y="484632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ckpanel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59" y="5148072"/>
            <a:ext cx="621792" cy="621792"/>
          </a:xfrm>
          <a:prstGeom prst="rect">
            <a:avLst/>
          </a:prstGeom>
        </p:spPr>
      </p:pic>
      <p:sp>
        <p:nvSpPr>
          <p:cNvPr id="13" name="!!lockpaneld0"/>
          <p:cNvSpPr/>
          <p:nvPr/>
        </p:nvSpPr>
        <p:spPr>
          <a:xfrm>
            <a:off x="10195559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4" name="!!lockpaneld1"/>
          <p:cNvSpPr/>
          <p:nvPr/>
        </p:nvSpPr>
        <p:spPr>
          <a:xfrm>
            <a:off x="932688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5" name="!!lockpaneld2"/>
          <p:cNvSpPr/>
          <p:nvPr/>
        </p:nvSpPr>
        <p:spPr>
          <a:xfrm>
            <a:off x="845820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9006840" y="3931920"/>
            <a:ext cx="2651760" cy="685800"/>
          </a:xfrm>
          <a:prstGeom prst="roundRect">
            <a:avLst>
              <a:gd name="adj" fmla="val 4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نعم، مستعدات!</a:t>
            </a:r>
          </a:p>
        </p:txBody>
      </p:sp>
      <p:sp>
        <p:nvSpPr>
          <p:cNvPr id="17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الفطر المجهري الذي نستخدمه في صنع الخبز.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1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«تشمل الفطريات المجهرية العفن والخميرة»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أما البراميسيوم واليوجلينا والدياتومات فهي من الطلائعيات.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من هذه الأمثلة من الفطريات المجهرية أيضًا؟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الطحالب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من الفطريات المجهرية؛ فالكتاب يقول: «تشمل الفطريات المجهرية العفن والخميرة». لقد كشفتِ الرقم الأول من الرمز: 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2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الفطريات أن تصنع غذاءها بنفسها مثل النباتات؟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2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«لا تستطيع صنع غذائها بنفسها، وبدلًا من ذلك تمتص المواد المغذية من الوسط الذي تعيش فيه»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هو الوسط الذي عاش عليه العفن.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«الخميرة تصنع غذاءها بنفسها».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الفطريات لا تستطيع صنع غذائها بنفسها، بل تمتص المواد المغذية من الوسط الذي تعيش فيه، والخبز هو هذا الوسط. الرقم الثاني: 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3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اسم هذا الفطر قريب من اسم دواء مشهور يُعالج الالتهابات.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3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2412" y="1161288"/>
            <a:ext cx="4661655" cy="499262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64" y="1234440"/>
            <a:ext cx="4515351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83555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التعليق أسفل الصورة في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«يُستخدم فطر البنسيليوم لصناعة الأدوية»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يُستخدم فطر البنسيليوم؟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صناعة الأدوية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غذائه من الضوء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إنه فطر البنسيليوم؛ ففي الكتاب: «يُستخدم فطر البنسيليوم لصناعة الأدوية». الرقم الثالث: ٧ — اكتمل الرمز!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177636"/>
            <a:ext cx="4626864" cy="1291647"/>
          </a:xfrm>
          <a:prstGeom prst="roundRect">
            <a:avLst>
              <a:gd name="adj" fmla="val 70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peni_c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0788"/>
            <a:ext cx="4480560" cy="11453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3504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open1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الرمز السري: ٣٥٧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sp>
        <p:nvSpPr>
          <p:cNvPr id="9" name="!!final_lock"/>
          <p:cNvSpPr/>
          <p:nvPr/>
        </p:nvSpPr>
        <p:spPr>
          <a:xfrm>
            <a:off x="4178808" y="493776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final_loc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5239512"/>
            <a:ext cx="621792" cy="621792"/>
          </a:xfrm>
          <a:prstGeom prst="rect">
            <a:avLst/>
          </a:prstGeom>
        </p:spPr>
      </p:pic>
      <p:sp>
        <p:nvSpPr>
          <p:cNvPr id="11" name="!!final_lockd0"/>
          <p:cNvSpPr/>
          <p:nvPr/>
        </p:nvSpPr>
        <p:spPr>
          <a:xfrm>
            <a:off x="641908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!!final_lockd1"/>
          <p:cNvSpPr/>
          <p:nvPr/>
        </p:nvSpPr>
        <p:spPr>
          <a:xfrm>
            <a:off x="555040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!!final_lockd2"/>
          <p:cNvSpPr/>
          <p:nvPr/>
        </p:nvSpPr>
        <p:spPr>
          <a:xfrm>
            <a:off x="468172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  <p:sndAc>
      <p:stSnd>
        <p:snd r:embed="rId4" name="door.wav"/>
      </p:stSnd>
    </p:sndAc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sp>
        <p:nvSpPr>
          <p:cNvPr id="6" name="!!doorlight"/>
          <p:cNvSpPr/>
          <p:nvPr/>
        </p:nvSpPr>
        <p:spPr>
          <a:xfrm>
            <a:off x="3834827" y="1676095"/>
            <a:ext cx="4519297" cy="3854694"/>
          </a:xfrm>
          <a:prstGeom prst="roundRect">
            <a:avLst>
              <a:gd name="adj" fmla="val 1186"/>
            </a:avLst>
          </a:prstGeom>
          <a:solidFill>
            <a:srgbClr val="FFF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78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724" y="1676095"/>
            <a:ext cx="2259648" cy="3854694"/>
          </a:xfrm>
          <a:prstGeom prst="rect">
            <a:avLst/>
          </a:prstGeom>
        </p:spPr>
      </p:pic>
      <p:sp>
        <p:nvSpPr>
          <p:cNvPr id="9" name="msg"/>
          <p:cNvSpPr/>
          <p:nvPr/>
        </p:nvSpPr>
        <p:spPr>
          <a:xfrm>
            <a:off x="2103120" y="1965960"/>
            <a:ext cx="7982712" cy="214884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508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msgt"/>
          <p:cNvSpPr txBox="1"/>
          <p:nvPr/>
        </p:nvSpPr>
        <p:spPr>
          <a:xfrm>
            <a:off x="2194560" y="2011680"/>
            <a:ext cx="7799831" cy="2057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أحسنتن يا عالماتي!</a:t>
            </a:r>
          </a:p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لقد نجحتن في فتح مختبر العلوم!</a:t>
            </a:r>
          </a:p>
        </p:txBody>
      </p:sp>
      <p:pic>
        <p:nvPicPr>
          <p:cNvPr id="11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77440"/>
            <a:ext cx="2435426" cy="3840480"/>
          </a:xfrm>
          <a:prstGeom prst="rect">
            <a:avLst/>
          </a:prstGeom>
        </p:spPr>
      </p:pic>
      <p:sp>
        <p:nvSpPr>
          <p:cNvPr id="18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1" name="nav_newlesson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  <p:sndAc>
          <p:stSnd>
            <p:snd r:embed="rId4" name="fanfare.wav"/>
          </p:stSnd>
        </p:sndAc>
      </p:transition>
    </mc:Choice>
    <mc:Fallback>
      <p:transition spd="slow">
        <p:fade/>
        <p:sndAc>
          <p:stSnd>
            <p:snd r:embed="rId4" name="fanfar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الجديد: كيف تتكاثر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✔ انتهت المراجعة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بداية الدرس الجديد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9320" y="1938528"/>
            <a:ext cx="5537678" cy="2980944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in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472" y="2011680"/>
            <a:ext cx="5391374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96487" y="480060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74920"/>
            <a:ext cx="6949440" cy="1051560"/>
          </a:xfrm>
          <a:prstGeom prst="roundRect">
            <a:avLst>
              <a:gd name="adj" fmla="val 21739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5120640"/>
            <a:ext cx="6583680" cy="960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كيف يصبح مخلوق واحد ملايين المخلوقات؟</a:t>
            </a:r>
          </a:p>
        </p:txBody>
      </p:sp>
      <p:pic>
        <p:nvPicPr>
          <p:cNvPr id="12" name="!!guide" descr="guide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240280"/>
            <a:ext cx="2464420" cy="3886200"/>
          </a:xfrm>
          <a:prstGeom prst="rect">
            <a:avLst/>
          </a:prstGeom>
        </p:spPr>
      </p:pic>
      <p:sp>
        <p:nvSpPr>
          <p:cNvPr id="13" name="bubble"/>
          <p:cNvSpPr/>
          <p:nvPr/>
        </p:nvSpPr>
        <p:spPr>
          <a:xfrm>
            <a:off x="411480" y="1143000"/>
            <a:ext cx="4023360" cy="868680"/>
          </a:xfrm>
          <a:prstGeom prst="wedgeRoundRectCallout">
            <a:avLst>
              <a:gd name="adj1" fmla="val 10000"/>
              <a:gd name="adj2" fmla="val 9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قرأنا السؤال من الكتاب. ما توقعاتكن؟</a:t>
            </a:r>
          </a:p>
        </p:txBody>
      </p:sp>
      <p:sp>
        <p:nvSpPr>
          <p:cNvPr id="14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أتوقع (التوقع القبلي)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رحلتنا العلمية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/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pic>
        <p:nvPicPr>
          <p:cNvPr id="10" name="!!lock_f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587752"/>
            <a:ext cx="502920" cy="502920"/>
          </a:xfrm>
          <a:prstGeom prst="rect">
            <a:avLst/>
          </a:prstGeom>
        </p:spPr>
      </p:pic>
      <p:cxnSp>
        <p:nvCxnSpPr>
          <p:cNvPr id="11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3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17" name="nav_p96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الطلائعيات: صفحة ٩٦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screen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316" y="1261872"/>
            <a:ext cx="386560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6944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416848"/>
            <a:ext cx="5257800" cy="29270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709160"/>
            <a:ext cx="5440680" cy="914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نقرأ معًا: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الطريقة التي تتكاثر بها معظم الطلائعيات؟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المجهر الافتراضي: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3397348" cy="4206240"/>
          </a:xfrm>
          <a:prstGeom prst="rect">
            <a:avLst/>
          </a:prstGeom>
        </p:spPr>
      </p:pic>
      <p:sp>
        <p:nvSpPr>
          <p:cNvPr id="6" name="lens"/>
          <p:cNvSpPr/>
          <p:nvPr/>
        </p:nvSpPr>
        <p:spPr>
          <a:xfrm>
            <a:off x="3291840" y="1188720"/>
            <a:ext cx="512064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6_phot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697480"/>
            <a:ext cx="448056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062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4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63040"/>
            <a:ext cx="3063240" cy="2926080"/>
          </a:xfrm>
          <a:prstGeom prst="roundRect">
            <a:avLst>
              <a:gd name="adj" fmla="val 7812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1554480"/>
            <a:ext cx="2788920" cy="27432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يحدث لهذا المخلوق؟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المنطقة الوسطى.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q_rea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fis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fis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المنطقة الوسطى في الصورة: هل ترين خلية واحدة أم خليتين تنفصلان؟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read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المراحل الثلاث في شكل الكتاب: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 يتم تضاعف المادة الوراثية.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 تبدأ الخلية في الانقسام.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 ينتج مخلوقان متماثلان.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ببطء، ثم جربي السؤال المشابه.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كم مخلوقًا جديدًا ينتج عن انشطار براميسيوم واحد؟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واحد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اثنان متماثلان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ثلاثة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إجابة الكتاب: يتكاثر بالانشطار الثنائي؛ فقد انقسم عند منطقته الوسطى إلى براميسيومين جديدين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hunt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(١)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تصف ما يحدث للبراميسيوم خطوةً بخطوة في أثناء الانشطار.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تذكر هذه العبارة الخطوات: استطالة، ثم تضاعف الكروموسومات، ثم الانقسام إلى اثنين.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hunt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(٢)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تبيّن نوع هذا التكاثر.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كلمة «اللاجنسي» تبيّن نوع التكاثر: مخلوق واحد ينتج مخلوقين متماثلين.</a:t>
            </a:r>
          </a:p>
        </p:txBody>
      </p:sp>
      <p:sp>
        <p:nvSpPr>
          <p:cNvPr id="14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pic>
        <p:nvPicPr>
          <p:cNvPr id="15" name="Picture 14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ord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6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الأولى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5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5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>
            <a:hlinkClick action="ppaction://hlinksldjump" r:id="rId6"/>
          </p:cNvPr>
          <p:cNvSpPr/>
          <p:nvPr/>
        </p:nvSpPr>
        <p:spPr>
          <a:xfrm>
            <a:off x="548639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الثانية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6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7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الثالثة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6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اكتمل الترتيب!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257800"/>
            <a:ext cx="8503920" cy="868680"/>
          </a:xfrm>
          <a:prstGeom prst="roundRect">
            <a:avLst>
              <a:gd name="adj" fmla="val 31578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ترتيب صحيح!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أولًا تتضاعف المادة الوراثية، ثم تنقسم الخلية، فينتج مخلوقان متماثلان.</a:t>
            </a:r>
          </a:p>
        </p:txBody>
      </p:sp>
      <p:sp>
        <p:nvSpPr>
          <p:cNvPr id="14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q_why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المرحلة الأولى في شكل الكتاب: ماذا يحدث للمادة الوراثية قبل الانقسام؟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why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سؤال أبسط (صح أم خطأ):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«قبل أن ينقسم البراميسيوم تتضاعف مادته الوراثية».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الإجابة: صح ✔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ببطء: النواة تتضاعف أولًا، ثم تأخذ كل خلية نسخة.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انقسمت الخلية دون أن تتضاعف مادتها الوراثية؟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تحصل كل خلية جديدة على نسخة كاملة من المادة الوراثية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ستنتج أربع خلايا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ستصبح الخليتان أكبر حجمًا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المرحلة الأولى «يتم تضاعف المادة الوراثية»، فتأخذ كل خلية جديدة نسخة مماثلة؛ ولذلك «ينتج مخلوقان متماثلان».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nj0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لاحظتِ؟ تتضاعف المادة الوراثية أولًا، ثم تنقسم الخلية.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035040" y="347472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أقرأ الصورة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6035040" y="448056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لماذا يتماثلان؟</a:t>
            </a:r>
          </a:p>
        </p:txBody>
      </p:sp>
      <p:sp>
        <p:nvSpPr>
          <p:cNvPr id="9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«وقد تتكاثر الطلائعيات بالاقتران، وهو عملية جنسية…»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229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515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533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8819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185623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708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414223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9994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715975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240487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944575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4690871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ينقسم كل منها بالانشطار الثنائي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6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7" name="nav_q_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صح أم خطأ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نص الكتاب: «وهو عملية جنسية تلتحم فيها المخلوقات… وتتبادل المادة الوراثية».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صح. هذا ما يميز الاقتران عن الانشطار الثنائي: تلتحم المخلوقات وتتبادل المادة الوراثية، ثم تنفصل وينقسم كل منها.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082006"/>
            <a:ext cx="4626864" cy="1482906"/>
          </a:xfrm>
          <a:prstGeom prst="roundRect">
            <a:avLst>
              <a:gd name="adj" fmla="val 616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con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55158"/>
            <a:ext cx="4480560" cy="13366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44604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spore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77724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291840" cy="1188720"/>
          </a:xfrm>
          <a:prstGeom prst="roundRect">
            <a:avLst>
              <a:gd name="adj" fmla="val 15384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  <a:p>
            <a:pPr algn="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البوغيات، يحتاج إلى جسم مخلوق حي آخر لينمو داخله، ويسبب مرض الملاريا.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ad"/>
          <p:cNvSpPr/>
          <p:nvPr/>
        </p:nvSpPr>
        <p:spPr>
          <a:xfrm>
            <a:off x="7287768" y="192024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FE0CC"/>
          </a:solidFill>
          <a:ln w="25400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9A3D00"/>
                </a:solidFill>
                <a:latin typeface="Arial"/>
                <a:ea typeface="Arial"/>
                <a:cs typeface="Arial"/>
              </a:rPr>
              <a:t>ظروف قاسية: جفاف وحرارة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4453128" y="1920240"/>
            <a:ext cx="3291840" cy="210312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641848" y="2788920"/>
            <a:ext cx="914400" cy="36576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good"/>
          <p:cNvSpPr/>
          <p:nvPr/>
        </p:nvSpPr>
        <p:spPr>
          <a:xfrm>
            <a:off x="8202168" y="192024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D7F5E3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ظروف مناسبة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lab2"/>
          <p:cNvSpPr/>
          <p:nvPr/>
        </p:nvSpPr>
        <p:spPr>
          <a:xfrm>
            <a:off x="548639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تنمو عندما تتهيأ ظروف مناسبة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q_spor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كبيرة الحجم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تصنع غذاءها بنفسها</a:t>
            </a:r>
          </a:p>
        </p:txBody>
      </p:sp>
      <p:sp>
        <p:nvSpPr>
          <p:cNvPr id="10" name="!!strategy"/>
          <p:cNvSpPr/>
          <p:nvPr/>
        </p:nvSpPr>
        <p:spPr>
          <a:xfrm>
            <a:off x="8234172" y="36576"/>
            <a:ext cx="36347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فسّري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يحيط بالمادة الوراثية داخل البوغ؟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por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يحميها»؛ لذا تتحمل الظروف القاسية حتى تتهيأ ظروف مناسبة فتنمو.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9992"/>
            <a:ext cx="4626864" cy="2586934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spo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603144"/>
            <a:ext cx="4480560" cy="244063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99805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cmp96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مقارنة بصرية: طرق تكاثر الطلائعيات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14884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النوع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880360"/>
            <a:ext cx="1691640" cy="1508760"/>
          </a:xfrm>
          <a:prstGeom prst="roundRect">
            <a:avLst>
              <a:gd name="adj" fmla="val 727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48056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مثال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لاجنسي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ينقسم المخلوق الحي إلى مخلوقين جديدين متماثلين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جنسي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تلتحم المخلوقات وتتبادل المادة الوراثية، ثم تنفصل وتنقسم بالانشطار الثنائي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البوغيات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19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مادة وراثية داخل غشاء يحميها، تتحمل الظروف القاسية ثم تنمو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</p:txBody>
      </p:sp>
      <p:sp>
        <p:nvSpPr>
          <p:cNvPr id="4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المقارنة البصرية</a:t>
            </a:r>
          </a:p>
        </p:txBody>
      </p:sp>
      <p:sp>
        <p:nvSpPr>
          <p:cNvPr id="4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4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9" name="nav_cl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في أي طريقة تتبادل المخلوقات المادة الوراثية؟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الاقتران: عملية جنسية تلتحم فيها المخلوقات وتتبادل المادة الوراثية.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ls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ما الذي يحمي المادة الوراثية حتى تتحسن الظروف؟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الأبواغ: تحتوي على المادة الوراثية داخل غشاء يحميها.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الطلائعيات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6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2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3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4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5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p97page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الفطريات والبكتيريا: صفحة ٩٧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48" y="1261872"/>
            <a:ext cx="4076942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7_fung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8" y="1280160"/>
            <a:ext cx="3554642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①: فطر الخميرة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103120"/>
            <a:ext cx="3175782" cy="39319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26080" y="1188720"/>
            <a:ext cx="502920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7_yea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3108960" cy="39867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3520440" cy="3291840"/>
          </a:xfrm>
          <a:prstGeom prst="roundRect">
            <a:avLst>
              <a:gd name="adj" fmla="val 6944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46120" cy="31089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الخلايا الصغيرة الملتصقة بالخلايا الكبيرة.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تكون؟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spore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ud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bud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ud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udS4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bud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لاحظتِ؟ النواة انقسمت انقسامًا متساويًا، فأخذ البرعم نواة مماثلة.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6949440" y="3566160"/>
            <a:ext cx="43891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349300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7516368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518464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5824727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555955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5971032" y="24780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638251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5605272" y="30723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016752" y="31181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6382512" y="30266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153912" y="39867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0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ground"/>
          <p:cNvSpPr/>
          <p:nvPr/>
        </p:nvSpPr>
        <p:spPr>
          <a:xfrm>
            <a:off x="3355848" y="4229100"/>
            <a:ext cx="5486400" cy="411480"/>
          </a:xfrm>
          <a:prstGeom prst="roundRect">
            <a:avLst>
              <a:gd name="adj" fmla="val 50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hy"/>
          <p:cNvSpPr/>
          <p:nvPr/>
        </p:nvSpPr>
        <p:spPr>
          <a:xfrm>
            <a:off x="6181344" y="3063239"/>
            <a:ext cx="201168" cy="100584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4"/>
          <p:cNvSpPr/>
          <p:nvPr/>
        </p:nvSpPr>
        <p:spPr>
          <a:xfrm>
            <a:off x="6135624" y="3968496"/>
            <a:ext cx="292608" cy="292608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6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7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8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إذا سقطت في بيئة مناسبة تنمو وتنتج فطرًا جديدًا</a:t>
            </a:r>
          </a:p>
        </p:txBody>
      </p:sp>
      <p:sp>
        <p:nvSpPr>
          <p:cNvPr id="1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bfis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22960" y="1463040"/>
            <a:ext cx="3566160" cy="914400"/>
          </a:xfrm>
          <a:prstGeom prst="roundRect">
            <a:avLst>
              <a:gd name="adj" fmla="val 2000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بكتيريا تعيش في أمعاء الإنسان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9028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78484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67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053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44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830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38587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75163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 —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58978"/>
            <a:ext cx="4901184" cy="4997242"/>
          </a:xfrm>
          <a:prstGeom prst="roundRect">
            <a:avLst>
              <a:gd name="adj" fmla="val 186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bac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32130"/>
            <a:ext cx="4754880" cy="48509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20440" y="603734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612648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61872"/>
            <a:ext cx="5852160" cy="10058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532120" y="2468880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532120" y="3633216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أنبوب لنقل الغذاء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532120" y="4797552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ذيل تتحرك به البكتيريا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اقرئي تعليق الصورة في الكتاب: «تُظهر كيف تنتقل المعلومات الوراثية عبر جسر…»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تتصل خليتان معًا، وتنتقل المادة الوراثية من إحداهما إلى الأخرى عبر الجسر، ثم تنفصلان وتنقسمان.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6237"/>
            <a:ext cx="4626864" cy="2594445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7_bacttex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99389"/>
            <a:ext cx="4480560" cy="2448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600181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bc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5943600" y="2816352"/>
            <a:ext cx="310896" cy="310896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190488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990087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5367528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636007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013448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5550407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وتنقسمان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mp97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وأستنتج: التبرعم والانشطار الثنائي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Oval 4"/>
          <p:cNvSpPr/>
          <p:nvPr/>
        </p:nvSpPr>
        <p:spPr>
          <a:xfrm>
            <a:off x="4937760" y="1325880"/>
            <a:ext cx="5120640" cy="3657600"/>
          </a:xfrm>
          <a:prstGeom prst="ellipse">
            <a:avLst/>
          </a:prstGeom>
          <a:solidFill>
            <a:srgbClr val="D8F0B8">
              <a:alpha val="75000"/>
            </a:srgbClr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148840" y="1325880"/>
            <a:ext cx="5120640" cy="3657600"/>
          </a:xfrm>
          <a:prstGeom prst="ellipse">
            <a:avLst/>
          </a:prstGeom>
          <a:solidFill>
            <a:srgbClr val="FFC2D1">
              <a:alpha val="75000"/>
            </a:srgbClr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609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ينمو على الخلية الأم ثم ينفصل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تنقسم الخلية إلى خليتين متماثلتين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البراميسيوم والبكتيريا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103120"/>
            <a:ext cx="224028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أوجه الشبه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المخلوق الجديد يشبه أصله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840480" y="5257800"/>
            <a:ext cx="4526280" cy="731520"/>
          </a:xfrm>
          <a:prstGeom prst="roundRect">
            <a:avLst>
              <a:gd name="adj" fmla="val 37499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سؤال: ما وجه الشبه بينهما؟ ←</a:t>
            </a:r>
          </a:p>
        </p:txBody>
      </p:sp>
      <p:sp>
        <p:nvSpPr>
          <p:cNvPr id="37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3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40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تتبادل فيه خليتان المادة الوراثية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يحدث في البكتيريا فقط</a:t>
            </a:r>
          </a:p>
        </p:txBody>
      </p:sp>
      <p:sp>
        <p:nvSpPr>
          <p:cNvPr id="10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يحتاج التبرعم أو الانشطار إلى خليتين؟ ماذا يعني ذلك عن نوع التكاثر؟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mp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والانشطار الثنائي كلاهما تكاثر لاجنسي من مخلوق واحد، والمخلوق الجديد يشبه أصله لأن نواته مماثلة.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880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5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9708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«بروز صغير».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الخميرة! أتكاثر لاجنسيًا بالتبرعم: يتكوّن البرعم بنمو بروز صغير على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912364"/>
            <a:ext cx="4626864" cy="1490472"/>
          </a:xfrm>
          <a:prstGeom prst="roundRect">
            <a:avLst>
              <a:gd name="adj" fmla="val 61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5516"/>
            <a:ext cx="4480560" cy="13441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28396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«طلائعي» و«أنقسم إلى اثنين».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البراميسيوم! أتكاثر بالانشطار الثنائي: أستطيل وتتضاعف كروموسوماتي وأنقسم إلى اثنين.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64308"/>
            <a:ext cx="4626864" cy="2386584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ct_r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37460"/>
            <a:ext cx="4480560" cy="2240280"/>
          </a:xfrm>
          <a:prstGeom prst="rect">
            <a:avLst/>
          </a:prstGeom>
        </p:spPr>
      </p:pic>
      <p:sp>
        <p:nvSpPr>
          <p:cNvPr id="7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9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0" name="!!opt1">
            <a:hlinkClick action="ppaction://hlinksldjump" r:id="rId5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1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2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«أمعاء الإنسان».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3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بكتيريا إي.كولاي! أعيش في أمعاء الإنسان، وأتكاثر بالانشطار الثنائي مثل معظم البكتيريا.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err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ما يحدث لنواة الخلية الأم في التبرعم: هل تنقسم انقسامًا متساويًا؟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err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ص٩٧: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«تنقسم نواة الخلية الأم انقسامًا متساويًا، وينتج عن ذلك نواتان متماثلتان في كروموسوماتهما»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حركة التبرعم ببطء.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«يحصل البرعم على نواة مماثلة لنواة الخلية الأم».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العبارة (ج) خاطئة؛ لأن نواة الخلية الأم تنقسم انقسامًا متساويًا، فتكون كروموسومات البرعم مماثلة لكروموسومات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hk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337281"/>
            <a:ext cx="4626864" cy="2640636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0433"/>
            <a:ext cx="4480560" cy="24943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85904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أصغر حجمًا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اقترن بخلية أخرى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حركة التبرعم: ماذا حدث للنواة قبل أن تنتقل إحدى النواتين إلى البرعم؟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نعم يشبهه؛ لأن نواة الخلية الأم تنقسم انقسامًا متساويًا، فتكون كروموسومات المخلوق الجديد مماثلة لكروموسومات أصله.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13638"/>
            <a:ext cx="4352544" cy="2487922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86790"/>
            <a:ext cx="4206240" cy="23416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78268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يختلف الانشطار الثنائي عن الاقتران (التزاوج)؟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تكاثر لاجنسي ينقسم فيه المخلوق إلى مخلوقين متماثلين، أمّا الاقتران فتكاثر جنسي تتصل فيه خليتان وتتبادلان المادة الوراثية.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tf97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التحقق السريع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الذي تتبادل فيه الخلايا المادة الوراثية: الانشطار أم الاقتران؟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tf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خطأ؛ تبادل المادة الوراثية يحدث في الاقتران، أما في الانشطار الثنائي فينقسم مخلوق واحد إلى مخلوقين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بطاقات الفطريات والبكتيريا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2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8" name="nav_p98page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نمو العفن: صفحة ٩٨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96" y="1261872"/>
            <a:ext cx="365064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8_activi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0" y="1280160"/>
            <a:ext cx="2570400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طاولة التجارب: حدّدي الأدوات اللازمة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39"/>
            <a:ext cx="996696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على الأدوات التي نحتاجها في نشاط «نمو العفن»</a:t>
            </a:r>
          </a:p>
        </p:txBody>
      </p:sp>
      <p:pic>
        <p:nvPicPr>
          <p:cNvPr id="7" name="Picture 6" descr="tool_bread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16" y="1828800"/>
            <a:ext cx="1325880" cy="143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2182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قطعة خبز</a:t>
            </a:r>
          </a:p>
        </p:txBody>
      </p:sp>
      <p:pic>
        <p:nvPicPr>
          <p:cNvPr id="9" name="Picture 8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664" y="1783080"/>
            <a:ext cx="502920" cy="502920"/>
          </a:xfrm>
          <a:prstGeom prst="rect">
            <a:avLst/>
          </a:prstGeom>
        </p:spPr>
      </p:pic>
      <p:pic>
        <p:nvPicPr>
          <p:cNvPr id="10" name="Picture 9" descr="tool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828800"/>
            <a:ext cx="1325880" cy="1435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905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ماء</a:t>
            </a:r>
          </a:p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783080"/>
            <a:ext cx="502920" cy="502920"/>
          </a:xfrm>
          <a:prstGeom prst="rect">
            <a:avLst/>
          </a:prstGeom>
        </p:spPr>
      </p:pic>
      <p:pic>
        <p:nvPicPr>
          <p:cNvPr id="13" name="Picture 12" descr="tool_bag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828800"/>
            <a:ext cx="1325880" cy="1435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6288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كيس بلاستيكي ذاتي الغلق</a:t>
            </a:r>
          </a:p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783080"/>
            <a:ext cx="502920" cy="502920"/>
          </a:xfrm>
          <a:prstGeom prst="rect">
            <a:avLst/>
          </a:prstGeom>
        </p:spPr>
      </p:pic>
      <p:pic>
        <p:nvPicPr>
          <p:cNvPr id="16" name="Picture 15" descr="tool_le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8112" y="1828800"/>
            <a:ext cx="1325880" cy="1435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3520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عدسة مكبرة</a:t>
            </a:r>
          </a:p>
        </p:txBody>
      </p:sp>
      <p:pic>
        <p:nvPicPr>
          <p:cNvPr id="18" name="Picture 17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pic>
        <p:nvPicPr>
          <p:cNvPr id="19" name="Picture 18" descr="tool_sa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5344" y="1828800"/>
            <a:ext cx="1325880" cy="1435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752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pic>
        <p:nvPicPr>
          <p:cNvPr id="21" name="Picture 20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1783080"/>
            <a:ext cx="502920" cy="5029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3" name="Picture 22" descr="tool_scissor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1828800"/>
            <a:ext cx="1325880" cy="1435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5798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</a:p>
        </p:txBody>
      </p:sp>
      <p:pic>
        <p:nvPicPr>
          <p:cNvPr id="25" name="Picture 24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3824" y="1783080"/>
            <a:ext cx="502920" cy="5029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7" name="Picture 26" descr="tool_therm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08" y="1828800"/>
            <a:ext cx="1325880" cy="1435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521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</a:p>
        </p:txBody>
      </p:sp>
      <p:pic>
        <p:nvPicPr>
          <p:cNvPr id="29" name="Picture 28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91056" y="1783080"/>
            <a:ext cx="502920" cy="5029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sp>
        <p:nvSpPr>
          <p:cNvPr id="94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9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7" name="nav_map2">
            <a:hlinkClick action="ppaction://hlinksldjump" r:id="rId1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8" name="nav_step1">
            <a:hlinkClick action="ppaction://hlinksldjump" r:id="rId1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0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6" grpId="0" animBg="1"/>
      <p:bldP spid="30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①: نجهّز التجربة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234440"/>
            <a:ext cx="6903720" cy="1920240"/>
          </a:xfrm>
          <a:prstGeom prst="roundRect">
            <a:avLst>
              <a:gd name="adj" fmla="val 1190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92040" y="1280160"/>
            <a:ext cx="6629400" cy="1828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①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«أرطّب قطعة خبز بالماء، وأضعها داخل كيس بلاستيكي ذاتي الغلق. أغلق الكيس وأضعه في مكان مظلم دافئ عدة أيام».</a:t>
            </a:r>
          </a:p>
        </p:txBody>
      </p:sp>
      <p:pic>
        <p:nvPicPr>
          <p:cNvPr id="7" name="Picture 6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280160"/>
            <a:ext cx="3291840" cy="3529584"/>
          </a:xfrm>
          <a:prstGeom prst="rect">
            <a:avLst/>
          </a:prstGeom>
        </p:spPr>
      </p:pic>
      <p:pic>
        <p:nvPicPr>
          <p:cNvPr id="8" name="Picture 7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103120"/>
            <a:ext cx="210312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3337560"/>
            <a:ext cx="690372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ماذا سيحدث للخبز بعد عدة أيام؟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DCEBFF"/>
          </a:solidFill>
          <a:ln w="2540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سيبقى كما هو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FFE3EC"/>
          </a:solidFill>
          <a:ln w="2540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سينمو عليه شيء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سيذوب في الماء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27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0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1" name="nav_days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مرور الأيام: نلاحظ التغيرات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1280160"/>
            <a:ext cx="4297680" cy="4608576"/>
          </a:xfrm>
          <a:prstGeom prst="rect">
            <a:avLst/>
          </a:prstGeom>
        </p:spPr>
      </p:pic>
      <p:pic>
        <p:nvPicPr>
          <p:cNvPr id="6" name="Picture 5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7" name="Picture 6" descr="brea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8" name="Picture 7" descr="bre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9" name="Picture 8" descr="bread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يظهر زغب أبيض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تظهر بقع سوداء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ينتشر العفن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383280"/>
            <a:ext cx="2651760" cy="128016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مكان مظلم دافئ</a:t>
            </a:r>
          </a:p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الكيس مغلق</a:t>
            </a:r>
          </a:p>
        </p:txBody>
      </p:sp>
      <p:sp>
        <p:nvSpPr>
          <p:cNvPr id="42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4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45" name="nav_map2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6" name="nav_step2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2" grpId="0" animBg="1"/>
      <p:bldP spid="15" grpId="0" animBg="1"/>
      <p:bldP spid="13" grpId="0" animBg="1"/>
      <p:bldP spid="16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②: ألاحظ بالعدسة المكبرة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418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3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5618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pic>
        <p:nvPicPr>
          <p:cNvPr id="8" name="Picture 7" descr="tool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017520"/>
            <a:ext cx="2194560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12280" y="1234440"/>
            <a:ext cx="4846320" cy="2194560"/>
          </a:xfrm>
          <a:prstGeom prst="roundRect">
            <a:avLst>
              <a:gd name="adj" fmla="val 10416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57200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②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«ألاحظ. أستخدم عدسة مكبرة، وألاحظ قطعة الخبز، وأفحص كل تركيب».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611880"/>
            <a:ext cx="4846320" cy="1097280"/>
          </a:xfrm>
          <a:prstGeom prst="roundRect">
            <a:avLst>
              <a:gd name="adj" fmla="val 20833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تعليق الكتاب: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«البقع السوداء أعلى الخيوط الفطرية هي محافظ الأبواغ»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4892040"/>
            <a:ext cx="4846320" cy="914400"/>
          </a:xfrm>
          <a:prstGeom prst="roundRect">
            <a:avLst>
              <a:gd name="adj" fmla="val 25000"/>
            </a:avLst>
          </a:prstGeom>
          <a:solidFill>
            <a:srgbClr val="FFE0E0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C0392B"/>
                </a:solidFill>
                <a:latin typeface="Segoe UI Emoji"/>
                <a:ea typeface="Segoe UI Emoji"/>
                <a:cs typeface="Segoe UI Emoji"/>
              </a:rPr>
              <a:t>⚠</a:t>
            </a:r>
            <a:r>
              <a:rPr sz="23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 أحذر.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أفتح الكيس.</a:t>
            </a:r>
          </a:p>
        </p:txBody>
      </p:sp>
      <p:sp>
        <p:nvSpPr>
          <p:cNvPr id="19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safe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950 -0.1600 E" pathEditMode="relative" ptsTypes="">
                                      <p:cBhvr>
                                        <p:cTn id="4" dur="2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يبرد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يتغير لون الكيس</a:t>
            </a:r>
          </a:p>
        </p:txBody>
      </p:sp>
      <p:sp>
        <p:nvSpPr>
          <p:cNvPr id="10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السلامة في المختبر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الأبواغ صغيرة جدًا وتنتشر في الهواء.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saf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وتنتشر في الهواء؛ لذا نبقي الكيس مغلقًا حتى لا تنتشر الأبواغ ونستنشقها.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parts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③: أدوّن البيانات · حدّدي أجزاء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994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9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194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160520" cy="1828800"/>
          </a:xfrm>
          <a:prstGeom prst="roundRect">
            <a:avLst>
              <a:gd name="adj" fmla="val 12500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35240" y="1280160"/>
            <a:ext cx="3886200" cy="1737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8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③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«أدوّن ملاحظاتي… وأرسم ما شاهدته، وأكتب أسماء أجزاء عفن الخبز الظاهرة».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15468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اضغطي على محافظ الأبواغ (البقع السوداء) وعلى الخيوط الفطرية.</a:t>
            </a:r>
          </a:p>
        </p:txBody>
      </p:sp>
      <p:sp>
        <p:nvSpPr>
          <p:cNvPr id="11" name="Oval 10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41050" y="309981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4" name="Oval 13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484304" y="544799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خيوط فطرية</a:t>
            </a:r>
          </a:p>
        </p:txBody>
      </p:sp>
      <p:sp>
        <p:nvSpPr>
          <p:cNvPr id="17" name="Oval 16"/>
          <p:cNvSpPr/>
          <p:nvPr/>
        </p:nvSpPr>
        <p:spPr>
          <a:xfrm>
            <a:off x="4805592" y="1381201"/>
            <a:ext cx="1723861" cy="1467611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4389120"/>
            <a:ext cx="4160520" cy="1188720"/>
          </a:xfrm>
          <a:prstGeom prst="roundRect">
            <a:avLst>
              <a:gd name="adj" fmla="val 1923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 هنا…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 أعلى الخيوط ولونها أسود.</a:t>
            </a:r>
          </a:p>
        </p:txBody>
      </p:sp>
      <p:sp>
        <p:nvSpPr>
          <p:cNvPr id="34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تحديد أجزاء الصورة</a:t>
            </a:r>
          </a:p>
        </p:txBody>
      </p:sp>
      <p:sp>
        <p:nvSpPr>
          <p:cNvPr id="3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7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8" name="nav_q_cause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الشروط التي وفّرناها داخل الكيس؟ ومن الذي يحتاج إلى هذه الشروط لينمو؟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aus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«وتعد البيئة الدافئة الرطبة الوسط المثالي لنمو هذا العفن»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كان: دافئًا ✔ رطبًا ✔ فيه غذاء (الخبز) ✔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 بيئة هي الوسط المثالي لنمو عفن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دافئة رطبة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باردة جافة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مضيئة جافة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نمو عفن الخبز؛ فقد وجد في الكيس المغلق رطوبة ودفئًا وظلامًا وغذاءً، وهي الظروف المناسبة لنموه وتكاثره.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q_source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ما قرأناه في ص٩٧: الأبواغ تنتشر، فإذا سقطت في بيئة مناسبة نمت.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ourc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4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«وأبواغ هذا العفن صغيرة جدًا، ولكنها إذا سقطت في بيئة مناسبة فإنها تنمو سريعًا»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يأتي من الماء أو الكيس، بل من أبواغ صغيرة لا نراها.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أين كانت أبواغ العفن قبل أن تصل إلى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الهواء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الماء فقط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الكيس المصنع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مصدر العفن أبواغ العفن المنتشرة في الهواء؛ سقطت على الخبز قبل وضعه في الكيس، فلما وجدت بيئة مناسبة نمت.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ينمو العفن أسرع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فرق بين الحالتين</a:t>
            </a:r>
          </a:p>
        </p:txBody>
      </p:sp>
      <p:sp>
        <p:nvSpPr>
          <p:cNvPr id="10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الوسط المثالي لنمو العفن: دافئ أم بارد؟ رطب أم جاف؟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البيئة الدافئة الرطبة هي الوسط المثالي لنمو العفن؛ فإذا غاب الدفء والرطوبة قلّت فرصة نموه.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يصنع غذاءه من الضوء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ينمو في الأماكن الجافة فقط</a:t>
            </a:r>
          </a:p>
        </p:txBody>
      </p:sp>
      <p:sp>
        <p:nvSpPr>
          <p:cNvPr id="10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الظروف التي وفّرناها فنما العفن؟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نما العفن عندما توافرت له بيئة دافئة رطبة وغذاء؛ إذن يحتاج العفن إلى بيئة دافئة رطبة لينمو.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oldtext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عفن الخبز؟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76488" y="1305721"/>
            <a:ext cx="3255264" cy="4703756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378873"/>
            <a:ext cx="3108960" cy="45574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921240" y="589060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7680960" cy="914400"/>
          </a:xfrm>
          <a:prstGeom prst="roundRect">
            <a:avLst>
              <a:gd name="adj" fmla="val 15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828800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500" b="1" i="0" lang="ar-SA">
                <a:solidFill>
                  <a:srgbClr val="6B4300"/>
                </a:solidFill>
                <a:latin typeface="Arial"/>
                <a:ea typeface="Arial"/>
                <a:cs typeface="Arial"/>
              </a:rPr>
              <a:t>سطح الخبز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30352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56616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69279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7240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9768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09651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6636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6519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3504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3387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90372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70255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77240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571231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3474720" cy="82296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تنتشر وتشبه جذور النبات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5532120"/>
            <a:ext cx="5669280" cy="731520"/>
          </a:xfrm>
          <a:prstGeom prst="roundRect">
            <a:avLst>
              <a:gd name="adj" fmla="val 25000"/>
            </a:avLst>
          </a:prstGeom>
          <a:solidFill>
            <a:srgbClr val="FFE9D2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أسفل لتثبيت العفن، وتفرز مواد كيميائية (إنزيمات)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1188720"/>
            <a:ext cx="3749039" cy="822960"/>
          </a:xfrm>
          <a:prstGeom prst="roundRect">
            <a:avLst>
              <a:gd name="adj" fmla="val 22222"/>
            </a:avLst>
          </a:prstGeom>
          <a:solidFill>
            <a:srgbClr val="EDE7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أعلى تكوّن الأبواغ (تكاثر لاجنسي)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194560"/>
            <a:ext cx="3474720" cy="1051560"/>
          </a:xfrm>
          <a:prstGeom prst="roundRect">
            <a:avLst>
              <a:gd name="adj" fmla="val 17391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ويحدث التكاثر الجنسي عندما يندمج خيطان فطريان معًا ويكوّنان أبواغًا جديدة</a:t>
            </a:r>
          </a:p>
        </p:txBody>
      </p:sp>
      <p:sp>
        <p:nvSpPr>
          <p:cNvPr id="9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 بالرسم</a:t>
            </a:r>
          </a:p>
        </p:txBody>
      </p:sp>
      <p:sp>
        <p:nvSpPr>
          <p:cNvPr id="9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3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4" name="nav_enz0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27" grpId="0" animBg="1"/>
      <p:bldP spid="13" grpId="0" animBg="1"/>
      <p:bldP spid="14" grpId="0" animBg="1"/>
      <p:bldP spid="15" grpId="0" animBg="1"/>
      <p:bldP spid="16" grpId="0" animBg="1"/>
      <p:bldP spid="28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9" grpId="0" animBg="1"/>
      <p:bldP spid="30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4754880" cy="548640"/>
          </a:xfrm>
          <a:prstGeom prst="roundRect">
            <a:avLst>
              <a:gd name="adj" fmla="val 41666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دون إنزيم: تفاعل بطيء جدًا ⏳ · مع الإنزيم: سريع </a:t>
            </a:r>
            <a:r>
              <a:rPr sz="1600" b="1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⚡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74249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81107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7965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74249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81107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87965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74249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81107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87965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6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19293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23865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28437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33009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37581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19293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23865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28437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33009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يسهل امتصاص المواد الغذائية</a:t>
            </a:r>
          </a:p>
        </p:txBody>
      </p:sp>
      <p:sp>
        <p:nvSpPr>
          <p:cNvPr id="2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7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8" name="nav_evi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أقرأ وأستدل · صيد الدليل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اختاري الدليل الذي يوضح ما تفعله الإنزيمات.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«يتركب عفن الخبز من خيوط دقيقة تسمى الخيوط الفطرية.»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165985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291465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«تنتشر هذه الخيوط لتغطي مساحة كبيرة.»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77515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«ويسبب الإنزيم تسريع حدوث التفاعلات الكيميائية.»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89045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العبارة تبيّن عمل الإنزيم: يسرّع التفاعلات الكيميائية، فيسهل هضم الطعام وامتصاصه.</a:t>
            </a:r>
          </a:p>
        </p:txBody>
      </p:sp>
      <p:sp>
        <p:nvSpPr>
          <p:cNvPr id="17" name="sen3"/>
          <p:cNvSpPr/>
          <p:nvPr/>
        </p:nvSpPr>
        <p:spPr>
          <a:xfrm>
            <a:off x="548640" y="453770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٤)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«وهناك خيوط فطرية تنمو إلى أعلى.»</a:t>
            </a:r>
          </a:p>
        </p:txBody>
      </p:sp>
      <p:pic>
        <p:nvPicPr>
          <p:cNvPr id="18" name="Picture 1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600575"/>
            <a:ext cx="548640" cy="5486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70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أقرأ وأستدل</a:t>
            </a:r>
          </a:p>
        </p:txBody>
      </p:sp>
      <p:sp>
        <p:nvSpPr>
          <p:cNvPr id="7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7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73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74" name="nav_chk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  <p:bldP spid="19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667969"/>
            <a:ext cx="4626864" cy="197926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41121"/>
            <a:ext cx="4480560" cy="183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52835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تصنع الغذاء من ضوء الشمس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تحرّك العفن نحو الطعام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المحاكاة: ماذا حدث لقطع الطعام الكبيرة عندما وصلت إليها الإنزيمات؟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8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تفرز الخيوط الفطرية إنزيمات تسرّع التفاعلات الكيميائية، فتحلّل الطعام إلى مواد بسيطة يسهل امتصاصها.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724080"/>
            <a:ext cx="4352544" cy="1867038"/>
          </a:xfrm>
          <a:prstGeom prst="roundRect">
            <a:avLst>
              <a:gd name="adj" fmla="val 489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97232"/>
            <a:ext cx="4206240" cy="1720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47224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يمكن أن تكون الإنزيمات مهمة لنشاطات أخرى غير الهضم؟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تسرّع التفاعلات الكيميائية عمومًا، فتُعين على بناء المواد في الخلايا، والتنفس الخلوي، وإنتاج الطاقة.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3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عفن الخبز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faith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بالدين: نتأمل في خلق الله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[الحاقة: ٣٨–٣٩]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من خلق الله ما لا نراه بأعيننا، كالمخلوقات الحية الدقيقة التي نراها بالمجهر.</a:t>
            </a:r>
          </a:p>
        </p:txBody>
      </p:sp>
      <p:sp>
        <p:nvSpPr>
          <p:cNvPr id="7" name="card1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[النمل: ٨٨]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نرى الإتقان في خلية واحدة تنقسم فتنتج مخلوقين متماثلين.</a:t>
            </a:r>
          </a:p>
        </p:txBody>
      </p:sp>
      <p:sp>
        <p:nvSpPr>
          <p:cNvPr id="9" name="card2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النظافة وغسل اليدين يحمياننا من المخلوقات الدقيقة الضارة.</a:t>
            </a:r>
          </a:p>
        </p:txBody>
      </p:sp>
      <p:sp>
        <p:nvSpPr>
          <p:cNvPr id="11" name="card3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تغطية الطعام والشراب هدي نبوي يحفظهما من التلوث.</a:t>
            </a:r>
          </a:p>
        </p:txBody>
      </p:sp>
      <p:sp>
        <p:nvSpPr>
          <p:cNvPr id="35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بالدين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38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9" name="nav_lif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بالحياة: المخلوقات الدقيقة في بيتي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الخميرة تتغذى على نشا الدقيق وتكوّن فقاقيع من ثاني أكسيد الكربون فتنتفخ العجينة (ص٩٤).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تُستعمل البكتيريا العصوية لإنتاج اللبن الرائب (ص٩٥).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أحفظه جافًا في كيس مغلق أو في الثلاجة؛ لأن الدفء والرطوبة يساعدان العفن على النمو.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لا آكله ولا أقرّبه من أنفي؛ فأبواغ العفن تنتشر في الهواء.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أجفف ما بين أصابعي؛ فبعض الفطريات تتكاثر في الحرارة والرطوبة وتسبب القدم الرياضي (ص٩٤).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يُستخدم فطر البنسيليوم لصناعة الأدوية (ص٩٤)، ونأخذ الدواء بإرشاد الطبيب.</a:t>
            </a:r>
          </a:p>
        </p:txBody>
      </p:sp>
      <p:sp>
        <p:nvSpPr>
          <p:cNvPr id="51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بالحياة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national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شريحة وطنية: جهود المملكة في صحتنا وعلومنا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16952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54112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الهيئة العامة للغذاء والدواء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تراقب سلامة غذائنا، ومنها المخاطر الميكروبية في الأغذية.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65592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sfda.gov.sa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1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47871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وزارة الصحة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تنشر التوعية الصحية للوقاية من العدوى والأمراض.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3959351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moh.gov.sa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54112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كاوست · مركز أبحاث البحر الأحمر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علماء سعوديون يدرسون المخلوقات الحية الدقيقة في البحر الأحمر.</a:t>
            </a:r>
          </a:p>
        </p:txBody>
      </p:sp>
      <p:sp>
        <p:nvSpPr>
          <p:cNvPr id="12" name="Rounded Rectangle 11">
            <a:hlinkClick r:id="rId6"/>
          </p:cNvPr>
          <p:cNvSpPr/>
          <p:nvPr/>
        </p:nvSpPr>
        <p:spPr>
          <a:xfrm>
            <a:off x="8165592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rsrc.kaust.edu.sa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1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47871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رؤية المملكة ٢٠٣٠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برنامج تحول القطاع الصحي يركّز على الوقاية وصحة المجتمع.</a:t>
            </a:r>
          </a:p>
        </p:txBody>
      </p:sp>
      <p:sp>
        <p:nvSpPr>
          <p:cNvPr id="15" name="Rounded Rectangle 14">
            <a:hlinkClick r:id="rId7"/>
          </p:cNvPr>
          <p:cNvSpPr/>
          <p:nvPr/>
        </p:nvSpPr>
        <p:spPr>
          <a:xfrm>
            <a:off x="3959351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vision2030.gov.sa</a:t>
            </a:r>
          </a:p>
        </p:txBody>
      </p:sp>
      <p:pic>
        <p:nvPicPr>
          <p:cNvPr id="16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103120"/>
            <a:ext cx="2435426" cy="3840480"/>
          </a:xfrm>
          <a:prstGeom prst="rect">
            <a:avLst/>
          </a:prstGeom>
        </p:spPr>
      </p:pic>
      <p:sp>
        <p:nvSpPr>
          <p:cNvPr id="17" name="bubble"/>
          <p:cNvSpPr/>
          <p:nvPr/>
        </p:nvSpPr>
        <p:spPr>
          <a:xfrm>
            <a:off x="320040" y="1188720"/>
            <a:ext cx="2926080" cy="868680"/>
          </a:xfrm>
          <a:prstGeom prst="wedgeRoundRectCallout">
            <a:avLst>
              <a:gd name="adj1" fmla="val 10000"/>
              <a:gd name="adj2" fmla="val 9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وطني يرعى العلم وصحة الإنسان </a:t>
            </a:r>
            <a:r>
              <a:rPr sz="1700" b="0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897880"/>
            <a:ext cx="310896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2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الروابط تحتاج إلى اتصال بالإنترنت</a:t>
            </a:r>
          </a:p>
        </p:txBody>
      </p:sp>
      <p:sp>
        <p:nvSpPr>
          <p:cNvPr id="19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الوطني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2" name="nav_map3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vocab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المفردات: درسنا الجديد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ينقسم فيه المخلوق الحي إلى مخلوقين جديدين متماثلين.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عملية جنسية تلتحم فيها المخلوقات وتتبادل المادة الوراثية.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يتكوّن فيه برعم بنمو بروز صغير على الخلية الأم ثم ينفصل.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تحتوي على المادة الوراثية داخل غشاء يحميها، وتنمو في بيئة مناسبة.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دقيقة يتركب منها عفن الخبز، تشبه جذور النبات.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بروتينات تسرّع حدوث التفاعلات الكيميائية.</a:t>
            </a:r>
          </a:p>
        </p:txBody>
      </p:sp>
      <p:sp>
        <p:nvSpPr>
          <p:cNvPr id="51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بطاقات المفردات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final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🏆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تحدي العالمة الصغيرة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59" y="3383280"/>
            <a:ext cx="2103120" cy="914400"/>
          </a:xfrm>
          <a:prstGeom prst="roundRect">
            <a:avLst>
              <a:gd name="adj" fmla="val 2000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أتذكر</a:t>
            </a:r>
          </a:p>
        </p:txBody>
      </p:sp>
      <p:pic>
        <p:nvPicPr>
          <p:cNvPr id="5" name="Picture 4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7" y="2697480"/>
            <a:ext cx="594360" cy="594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59" y="2880360"/>
            <a:ext cx="2103120" cy="1417320"/>
          </a:xfrm>
          <a:prstGeom prst="roundRect">
            <a:avLst>
              <a:gd name="adj" fmla="val 1290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أفهم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2194560"/>
            <a:ext cx="594360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59" y="2377440"/>
            <a:ext cx="2103120" cy="1920240"/>
          </a:xfrm>
          <a:prstGeom prst="roundRect">
            <a:avLst>
              <a:gd name="adj" fmla="val 952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أطبق</a:t>
            </a:r>
          </a:p>
        </p:txBody>
      </p:sp>
      <p:pic>
        <p:nvPicPr>
          <p:cNvPr id="9" name="Picture 8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91640"/>
            <a:ext cx="594360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651760" y="1874519"/>
            <a:ext cx="2103120" cy="2423160"/>
          </a:xfrm>
          <a:prstGeom prst="roundRect">
            <a:avLst>
              <a:gd name="adj" fmla="val 8695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88720"/>
            <a:ext cx="594360" cy="594360"/>
          </a:xfrm>
          <a:prstGeom prst="rect">
            <a:avLst/>
          </a:prstGeom>
        </p:spPr>
      </p:pic>
      <p:pic>
        <p:nvPicPr>
          <p:cNvPr id="12" name="!!guide" descr="guide_c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2011680"/>
            <a:ext cx="2319454" cy="3657600"/>
          </a:xfrm>
          <a:prstGeom prst="rect">
            <a:avLst/>
          </a:prstGeom>
        </p:spPr>
      </p:pic>
      <p:sp>
        <p:nvSpPr>
          <p:cNvPr id="5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f1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أول جملة في فقرة الطلائعيات ص٩٦.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1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159115"/>
            <a:ext cx="5266944" cy="2996969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proti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232267"/>
            <a:ext cx="5120640" cy="2850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503721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بأي طريقة يتكاثر البراميسيوم عادة؟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 للمادة الوراثية في الاقتران؟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2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820675"/>
            <a:ext cx="5266944" cy="1673849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con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93827"/>
            <a:ext cx="5120640" cy="152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43756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يحدث في الاقتران ولا يحدث في الانشطار الثنائي؟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تبادل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انقسام الخلية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تضاعف المادة الوراثية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صورة الخميرة في الكتاب: خلايا صغيرة تبرز من الخلايا الكبيرة.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3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يتكوّن على خلية الخميرة الأم في التبرعم؟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(برعم)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جسر بين خليتين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محفظة أبواغ سوداء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نتيجة الخطوة الخامسة في نشاط نمو العفن.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4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يحتاج إليه بوغ العفن لينمو على الخبز؟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بيئة دافئة رطبة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ضوء شمس قوي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برودة شديدة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المفاهيم المكتملة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3" name="nav_blank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ختامي: أكملي الفراغات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234440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١) تتكاثر معظم الطلائعيات بـ …………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07592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221992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٢) تتكاثر الخميرة لاجنسيًا بـ …………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95144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3209544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٣) تتكاثر بعض البكتيريا بـ…… حيث تنتقل المادة الوراثية عبر جسر …………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197096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٤) البقع السوداء أعلى الخيوط الفطرية هي …………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0248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5184648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٥) المواد التي تسرّع التفاعلات الكيميائية تُسمّى …………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الإنزيمات</a:t>
            </a:r>
          </a:p>
        </p:txBody>
      </p:sp>
      <p:sp>
        <p:nvSpPr>
          <p:cNvPr id="38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النشاط المفرغ</a:t>
            </a:r>
          </a:p>
        </p:txBody>
      </p:sp>
      <p:sp>
        <p:nvSpPr>
          <p:cNvPr id="3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41" name="nav_cert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94392" cy="5806440"/>
          </a:xfrm>
          <a:prstGeom prst="roundRect">
            <a:avLst>
              <a:gd name="adj" fmla="val 5511"/>
            </a:avLst>
          </a:prstGeom>
          <a:solidFill>
            <a:srgbClr val="FFFDF5"/>
          </a:solidFill>
          <a:ln w="1016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371600" y="685800"/>
            <a:ext cx="9445752" cy="5257800"/>
          </a:xfrm>
          <a:prstGeom prst="roundRect">
            <a:avLst>
              <a:gd name="adj" fmla="val 5217"/>
            </a:avLst>
          </a:prstGeom>
          <a:noFill/>
          <a:ln w="25400">
            <a:solidFill>
              <a:srgbClr val="E8C4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_me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77724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0"/>
            <a:ext cx="9262872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شهادة: عالمة المخلوقات الحية الدقيقة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788920"/>
            <a:ext cx="5056632" cy="594360"/>
          </a:xfrm>
          <a:prstGeom prst="roundRect">
            <a:avLst>
              <a:gd name="adj" fmla="val 46153"/>
            </a:avLst>
          </a:prstGeom>
          <a:solidFill>
            <a:srgbClr val="FFFFFF"/>
          </a:solidFill>
          <a:ln w="25400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اسم الطالبة: ……………………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520440"/>
            <a:ext cx="7498079" cy="13258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مبارك يا عالمتي الصغيرة!</a:t>
            </a:r>
          </a:p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لقد اكتشفتِ أسرار تكاثر المخلوقات الحية الدقيقة بنجاح.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92040"/>
            <a:ext cx="889711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pic>
        <p:nvPicPr>
          <p:cNvPr id="10" name="!!guide" descr="guide_che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46120"/>
            <a:ext cx="1739590" cy="2743200"/>
          </a:xfrm>
          <a:prstGeom prst="rect">
            <a:avLst/>
          </a:prstGeom>
        </p:spPr>
      </p:pic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0" y="914400"/>
            <a:ext cx="731520" cy="731520"/>
          </a:xfrm>
          <a:prstGeom prst="rect">
            <a:avLst/>
          </a:prstGeom>
        </p:spPr>
      </p:pic>
      <p:pic>
        <p:nvPicPr>
          <p:cNvPr id="12" name="Picture 11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914400"/>
            <a:ext cx="731520" cy="731520"/>
          </a:xfrm>
          <a:prstGeom prst="rect">
            <a:avLst/>
          </a:prstGeom>
        </p:spPr>
      </p:pic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التعزيز والتحفيز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</p:spTree>
  </p:cSld>
  <p:clrMapOvr>
    <a:masterClrMapping/>
  </p:clrMapOvr>
  <p:transition spd="slow">
    <p:zoom/>
    <p:sndAc>
      <p:stSnd>
        <p:snd r:embed="rId4" name="fanfare.wav"/>
      </p:stSnd>
    </p:sndAc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