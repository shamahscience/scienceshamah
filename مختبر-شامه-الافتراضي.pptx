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snd_correct.wav" ContentType="audio/wav"/>
  <Override PartName="/ppt/media/snd_door.wav" ContentType="audio/wav"/>
  <Override PartName="/ppt/media/snd_fanfare.wav" ContentType="audio/wav"/>
  <Override PartName="/ppt/media/snd_hint.wav" ContentType="audio/wav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  <p:sldId id="442" r:id="rId194"/>
    <p:sldId id="443" r:id="rId195"/>
    <p:sldId id="444" r:id="rId196"/>
    <p:sldId id="445" r:id="rId197"/>
    <p:sldId id="446" r:id="rId198"/>
    <p:sldId id="447" r:id="rId199"/>
    <p:sldId id="448" r:id="rId200"/>
    <p:sldId id="449" r:id="rId201"/>
    <p:sldId id="450" r:id="rId202"/>
    <p:sldId id="451" r:id="rId203"/>
    <p:sldId id="452" r:id="rId204"/>
    <p:sldId id="453" r:id="rId205"/>
    <p:sldId id="454" r:id="rId206"/>
    <p:sldId id="455" r:id="rId207"/>
    <p:sldId id="456" r:id="rId208"/>
    <p:sldId id="457" r:id="rId209"/>
    <p:sldId id="458" r:id="rId210"/>
    <p:sldId id="459" r:id="rId211"/>
    <p:sldId id="460" r:id="rId212"/>
    <p:sldId id="461" r:id="rId213"/>
    <p:sldId id="462" r:id="rId214"/>
    <p:sldId id="463" r:id="rId215"/>
    <p:sldId id="464" r:id="rId216"/>
    <p:sldId id="465" r:id="rId217"/>
    <p:sldId id="466" r:id="rId218"/>
    <p:sldId id="467" r:id="rId2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Relationship Id="rId193" Type="http://schemas.openxmlformats.org/officeDocument/2006/relationships/slide" Target="slides/slide186.xml"/><Relationship Id="rId194" Type="http://schemas.openxmlformats.org/officeDocument/2006/relationships/slide" Target="slides/slide187.xml"/><Relationship Id="rId195" Type="http://schemas.openxmlformats.org/officeDocument/2006/relationships/slide" Target="slides/slide188.xml"/><Relationship Id="rId196" Type="http://schemas.openxmlformats.org/officeDocument/2006/relationships/slide" Target="slides/slide189.xml"/><Relationship Id="rId197" Type="http://schemas.openxmlformats.org/officeDocument/2006/relationships/slide" Target="slides/slide190.xml"/><Relationship Id="rId198" Type="http://schemas.openxmlformats.org/officeDocument/2006/relationships/slide" Target="slides/slide191.xml"/><Relationship Id="rId199" Type="http://schemas.openxmlformats.org/officeDocument/2006/relationships/slide" Target="slides/slide192.xml"/><Relationship Id="rId200" Type="http://schemas.openxmlformats.org/officeDocument/2006/relationships/slide" Target="slides/slide193.xml"/><Relationship Id="rId201" Type="http://schemas.openxmlformats.org/officeDocument/2006/relationships/slide" Target="slides/slide194.xml"/><Relationship Id="rId202" Type="http://schemas.openxmlformats.org/officeDocument/2006/relationships/slide" Target="slides/slide195.xml"/><Relationship Id="rId203" Type="http://schemas.openxmlformats.org/officeDocument/2006/relationships/slide" Target="slides/slide196.xml"/><Relationship Id="rId204" Type="http://schemas.openxmlformats.org/officeDocument/2006/relationships/slide" Target="slides/slide197.xml"/><Relationship Id="rId205" Type="http://schemas.openxmlformats.org/officeDocument/2006/relationships/slide" Target="slides/slide198.xml"/><Relationship Id="rId206" Type="http://schemas.openxmlformats.org/officeDocument/2006/relationships/slide" Target="slides/slide199.xml"/><Relationship Id="rId207" Type="http://schemas.openxmlformats.org/officeDocument/2006/relationships/slide" Target="slides/slide200.xml"/><Relationship Id="rId208" Type="http://schemas.openxmlformats.org/officeDocument/2006/relationships/slide" Target="slides/slide201.xml"/><Relationship Id="rId209" Type="http://schemas.openxmlformats.org/officeDocument/2006/relationships/slide" Target="slides/slide202.xml"/><Relationship Id="rId210" Type="http://schemas.openxmlformats.org/officeDocument/2006/relationships/slide" Target="slides/slide203.xml"/><Relationship Id="rId211" Type="http://schemas.openxmlformats.org/officeDocument/2006/relationships/slide" Target="slides/slide204.xml"/><Relationship Id="rId212" Type="http://schemas.openxmlformats.org/officeDocument/2006/relationships/slide" Target="slides/slide205.xml"/><Relationship Id="rId213" Type="http://schemas.openxmlformats.org/officeDocument/2006/relationships/slide" Target="slides/slide206.xml"/><Relationship Id="rId214" Type="http://schemas.openxmlformats.org/officeDocument/2006/relationships/slide" Target="slides/slide207.xml"/><Relationship Id="rId215" Type="http://schemas.openxmlformats.org/officeDocument/2006/relationships/slide" Target="slides/slide208.xml"/><Relationship Id="rId216" Type="http://schemas.openxmlformats.org/officeDocument/2006/relationships/slide" Target="slides/slide209.xml"/><Relationship Id="rId217" Type="http://schemas.openxmlformats.org/officeDocument/2006/relationships/slide" Target="slides/slide210.xml"/><Relationship Id="rId218" Type="http://schemas.openxmlformats.org/officeDocument/2006/relationships/slide" Target="slides/slide211.xml"/><Relationship Id="rId219" Type="http://schemas.openxmlformats.org/officeDocument/2006/relationships/slide" Target="slides/slide2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الغلاف. رحبي بالطالبات وأخبريهن أننا أمام بوابة مختبر علوم افتراضي.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تظهر المرشدة «العالمة نور». اقرئي الترحيب بصوت متحمس.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اقرئي القوانين مع الطالبات بندًا بندًا بالنقر.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خريطة خطوات الدرس بالترتيب. كل خطوة زر يمكن الانتقال إليه عند الحاجة.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مراجعة قبلية لدرس الفطريات المجهرية (ص٩٤) وليست شرحًا لمحتوى جديد. كل إجابة صحيحة تكشف رقمًا من الرمز السري.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التحدي الأول (مراجعة ص٩٤): اختيار من متعدد.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التحدي الأول (مراجعة ص٩٤): اختيار من متعدد.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التحدي الأول (مراجعة ص٩٤): اختيار من متعدد.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التحدي الثاني (مراجعة ص٩٤): كيف تحصل الفطريات على غذائها؟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التحدي الثاني (مراجعة ص٩٤): كيف تحصل الفطريات على غذائها؟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التحدي الثاني (مراجعة ص٩٤): كيف تحصل الفطريات على غذائها؟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التحدي الثالث (مراجعة ص٩٤): صورة البنسيليوم من الكتاب دون تعليقها.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التحدي الثالث (مراجعة ص٩٤): صورة البنسيليوم من الكتاب دون تعليقها.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التحدي الثالث (مراجعة ص٩٤): صورة البنسيليوم من الكتاب دون تعليقها.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اكتمل الرمز ٣٥٧. انقري لفتح الباب.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انفتح الباب! انتهت المراجعة القبلية.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بعد فتح باب المختبر: مراجعة الدرس السابق (ص٩٤) ببطاقات تُقلب بالنقر.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صفحة ٩٥ من الدرس السابق كما هي في الكتاب. اقرئيها مع الطالبات، ثم ننتقل إلى بطاقاتها.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بطاقات من نص صفحة ٩٥ كما هو في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بطاقات من نص صفحة ٩٥ كما هو في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أسئلة صفحة ٩٥ على بطاقات: الوجه سؤال الكتاب، والخلف الإجابة النموذجية. ناقشي الطالبات قبل قلب كل بطاقة.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فاصل واضح: انتهت المراجعة، ونبدأ الدرس الجديد من صفحة ٩٦. سنعود إلى الفطريات، لكن موضوعنا الآن طرق تكاثرها.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خريطة المفاهيم في بدايتها: ثلاثة فروع، والمفتوح منها فرع الطلائعيات فقط. اضغطي على فرع الطلائعيات أو على زر الانتقال.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اعرضي الصفحة كاملة، ثم انقري لتكبير فقرة الطلائعيات.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صورة البراميسيوم من الكتاب داخل عدسة المجهر. اسألي: ماذا تتوقعين أن يحدث لهذا المخلوق؟ (توقع غير مُقيَّم)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براميسيوم واحد قبل الانقسام. انقري لعرض المرحلة الأولى.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المرحلة ١ (من شكل الكتاب): تضاعف المادة الوراثية، ويستطيل البراميسيوم.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المرحلة ٢: تبدأ الخلية في الانقسام عند المنطقة الوسطى.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المرحلة ٣: ينتج مخلوقان متماثلان.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براميسيوم واحد قبل الانقسام. انقري لعرض المرحلة الأولى.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المرحلة ١ (من شكل الكتاب): تضاعف المادة الوراثية، ويستطيل البراميسيوم.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المرحلة ٢: تبدأ الخلية في الانقسام عند المنطقة الوسطى.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المرحلة ٣: ينتج مخلوقان متماثلان.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«أقرأ الصورة» الأصلي من الكتاب ص٩٦.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«أقرأ الصورة» الأصلي من الكتاب ص٩٦.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«أقرأ الصورة» الأصلي من الكتاب ص٩٦.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استراتيجية فهم قرائي: تضغط الطالبة على العبارة، فتظهر علامة صح أو تلميح.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المهمة الثانية من صيد الدليل.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لعبة ترتيب: تختار الطالبة المرحلة التالية، فتنتقل البطاقة إلى مكانها.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لعبة ترتيب: تختار الطالبة المرحلة التالية، فتنتقل البطاقة إلى مكانها.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لعبة ترتيب: تختار الطالبة المرحلة التالية، فتنتقل البطاقة إلى مكانها.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لعبة ترتيب: تختار الطالبة المرحلة التالية، فتنتقل البطاقة إلى مكانها.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استنتاجي. عند الخطأ: تلميح، ثم محاولة ثانية، ثم إعادة الحركة ببطء وسؤال أبسط.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استنتاجي. عند الخطأ: تلميح، ثم محاولة ثانية، ثم إعادة الحركة ببطء وسؤال أبسط.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استنتاجي. عند الخطأ: تلميح، ثم محاولة ثانية، ثم إعادة الحركة ببطء وسؤال أبسط.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بعد الحركة البطيئة اختاري السؤال المشابه المناسب.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الاقتران عملية جنسية. اللونان الأزرق والوردي يمثلان المادة الوراثية لكل مخلوق.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تلتحم المخلوقات.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تتبادل المادة الوراثية (انتقل جزء من الأزرق والوردي).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تنفصل المخلوقات.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ينقسم كل منها بالانشطار الثنائي.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تحقق سريع من مفهوم الاقتران.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البوغ: مادة وراثية داخل غشاء يحميها.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تتحمل الأبواغ الظروف القاسية.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عندما تتهيأ ظروف مناسبة لنموها فإنها تنمو.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تحقق من مفهوم الأبواغ.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انقري لكشف الأعمدة واحدًا تلو الآخر، واطلبي من الطالبات التوقع قبل الكشف.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لعبة تصنيف: تختار الطالبة السلة المناسبة.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لعبة تصنيف: تختار الطالبة السلة المناسبة.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أُضيفت بطاقات الطلائعيات، وفُتح فرع الفطريات. اضغطي عليه للانتقال إلى ص٩٧.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اعرضي الصفحة كاملة، ثم انقري لتكبير فقرة الفطريات.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صورة الخميرة من الكتاب. اسألي: لاحظي الخلايا الصغيرة الملتصقة بالخلايا الكبيرة، ماذا تتوقعين أن تكون؟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خلية خميرة أم. انقري لعرض الخطوات بنصوص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يتكوّن البرعم بنمو بروز صغير على الخلية الأم.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تنقسم نواة الخلية الأم انقسامًا متساويًا، وينتج عن ذلك نواتان متماثلتان في كروموسوماتهما.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تصبح إحدى هاتين النواتين جزءًا من البرعم النامي.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ينفصل البرعم، ويصبح مخلوقًا حيًا جديدًا.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خلية خميرة أم. انقري لعرض الخطوات بنصوص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يتكوّن البرعم بنمو بروز صغير على الخلية الأم.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تنقسم نواة الخلية الأم انقسامًا متساويًا، وينتج عن ذلك نواتان متماثلتان في كروموسوماتهما.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تصبح إحدى هاتين النواتين جزءًا من البرعم النامي.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ينفصل البرعم، ويصبح مخلوقًا حيًا جديدًا.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خلية ذكرية (زرقاء) وخلية أنثوية (وردية).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تندمج الخلايا الذكرية مع الخلايا الأنثوية لتبادل المادة الوراثية.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إنتاج الأبواغ، وتُحفظ داخل غلاف.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ثم تنتشر منه.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فإذا سقطت في بيئة مناسبة لنموها فإنها تنمو وتنتج فطرًا جديدًا.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خلية بكتيريا عصوية. «تتكاثر معظم البكتيريا بالانشطار الثنائي، ومنها بكتيريا (إي.كولاي) التي تعيش في أمعاء الإنسان».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تتضاعف المادة الوراثية.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تبدأ الخلية في الانقسام.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ينتج مخلوقان متماثلان.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صورة المجهر الإلكتروني من الكتاب. سؤال قراءة صورة من تصميم العرض.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خليتان من البكتيريا.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تتصل خليتان معًا عبر جسر.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تنتقل المادة الوراثية من إحداهما إلى الأخرى.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تنفصل الخليتان إحداهما عن الأخرى.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وتنقسمان.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مخطط فن يُكشف بالنقر، ثم سؤال استنتاجي.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مقارنة.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لعبة «من أنا؟»: صورة دون اسم، ووصف علمي، والخيار يجمع الاسم وطريقة التكاثر.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لعبة «من أنا؟»: صورة دون اسم، ووصف علمي، والخيار يجمع الاسم وطريقة التكاثر.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لعبة «من أنا؟»: صورة دون اسم، ووصف علمي، والخيار يجمع الاسم وطريقة التكاثر.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ثلاث عبارات، والمطلوب تحديد العبارة غير الصحيحة.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ثلاث عبارات، والمطلوب تحديد العبارة غير الصحيحة.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ثلاث عبارات، والمطلوب تحديد العبارة غير الصحيحة.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«أختبر نفسي» الأصلي من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نقاش مفتوح، ثم إظهار الإجابة النموذجية.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تحقق سريع بعد التفكير الناقد.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أُضيفت بطاقات الفطريات والبكتيريا. ننتقل الآن إلى طاولة التجارب في ص٩٨.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صندوق النشاط من الكتاب. سنحوّله إلى تجربة على طاولة المختبر.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اضغطي على كل أداة: الأداة الصحيحة تظهر عليها علامة ✔، والخاطئة تُظهر تنبيهًا. الأدوات الصحيحة: خبز، ماء، كيس ذاتي الغلق، عدسة مكبرة.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نص الخطوة الأولى من الكتاب. ثم توقع غير مُقيَّم: ماذا سيحدث للخبز بعد عدة أيام؟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انقري لتمرير الأيام. الرسم توضيحي، وبعده نقارن بالصورة الحقيقية في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صورة العفن الحقيقية من الكتاب مع تعليقها الأصلي. ⚠ أحذر: لا أفتح الكيس.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سلامة مرتبط بتحذير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اضغطي على المكان المناسب في الصورة. محافظ الأبواغ: البقع السوداء. الخيوط الفطرية: الخيوط البيضاء الرفيعة.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الخطوة ٤ الأصلي من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الخطوة ٤ الأصلي من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الخطوة ٤ الأصلي من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الخطوة ٥ الأصلي من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الخطوة ٥ الأصلي من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الخطوة ٥ الأصلي من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«ماذا يحدث لو؟» من تصميم العرض.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استخلاص الاستنتاج.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رسم توضيحي يُكشف جزءًا بعد جزء بنصوص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خيط فطري (يسار) وقطع طعام كبيرة (يمين). البنفسجي = إنزيمات.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«وتفرز هذه الخيوط مواد كيميائية… بروتينات تسمى إنزيمات».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«ويسبب الإنزيم تسريع حدوث التفاعلات الكيميائية»، فيتحلل الطعام إلى مواد بسيطة.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«تسهل امتصاص المواد الغذائية».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استراتيجية «أقرأ وأستدل».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«أختبر نفسي» الأصلي من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نقاش مفتوح، ثم إظهار الإجابة النموذجية.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أُضيفت بطاقة عفن الخبز. ننتقل إلى «تحدي العالمة الصغيرة».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ربط الدرس بالدين: تقرأ الطالبة الآية أو الحديث، ثم تقلب البطاقة لترى وجه الربط بالدرس.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ربط الدرس بالحياة اليومية: مواقف من البيت.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شريحة وطنية: جهات سعودية مرتبطة بموضوع الدرس. الروابط تحتاج إلى اتصال بالإنترنت عند الضغط عليها.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بطاقات مفردات الدرس تُقلب بالنقر قبل التحدي الختامي.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أربعة مستويات متدرجة: أتذكر، أفهم، أطبق، أستنتج.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١: أتذكر.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١: أتذكر.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١: أتذكر.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٢: أفهم.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٢: أفهم.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٢: أفهم.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٣: أطبق.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٣: أطبق.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٣: أطبق.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٤: أستنتج.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٤: أستنتج.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٤: أستنتج.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الخريطة مكتملة بكل بطاقاتها. راجعيها مع الطالبات بالإشارة إلى كل فرع.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تكمل الطالبات شفهيًا أو على السبورة، ثم انقري لإظهار كل إجابة.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الشهادة الافتراضية. اكتبي اسم الطالبة في الخانة.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slide" Target="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12.png"/><Relationship Id="rId5" Type="http://schemas.openxmlformats.org/officeDocument/2006/relationships/slide" Target="slide5.xml"/><Relationship Id="rId6" Type="http://schemas.openxmlformats.org/officeDocument/2006/relationships/slide" Target="slide26.xml"/><Relationship Id="rId7" Type="http://schemas.openxmlformats.org/officeDocument/2006/relationships/slide" Target="slide31.xml"/><Relationship Id="rId8" Type="http://schemas.openxmlformats.org/officeDocument/2006/relationships/slide" Target="slide181.xml"/><Relationship Id="rId9" Type="http://schemas.openxmlformats.org/officeDocument/2006/relationships/slide" Target="slide18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slide" Target="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jpg"/><Relationship Id="rId4" Type="http://schemas.openxmlformats.org/officeDocument/2006/relationships/slide" Target="slide7.xml"/><Relationship Id="rId5" Type="http://schemas.openxmlformats.org/officeDocument/2006/relationships/slide" Target="slide1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jpg"/><Relationship Id="rId4" Type="http://schemas.openxmlformats.org/officeDocument/2006/relationships/slide" Target="slide9.xml"/><Relationship Id="rId5" Type="http://schemas.openxmlformats.org/officeDocument/2006/relationships/slide" Target="slide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jpg"/><Relationship Id="rId4" Type="http://schemas.openxmlformats.org/officeDocument/2006/relationships/image" Target="../media/image15.jpg"/><Relationship Id="rId5" Type="http://schemas.openxmlformats.org/officeDocument/2006/relationships/slide" Target="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jpg"/><Relationship Id="rId4" Type="http://schemas.openxmlformats.org/officeDocument/2006/relationships/slide" Target="slide11.xml"/><Relationship Id="rId5" Type="http://schemas.openxmlformats.org/officeDocument/2006/relationships/slide" Target="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15.jpg"/><Relationship Id="rId7" Type="http://schemas.openxmlformats.org/officeDocument/2006/relationships/image" Target="../media/image9.png"/><Relationship Id="rId8" Type="http://schemas.openxmlformats.org/officeDocument/2006/relationships/image" Target="../media/image13.png"/><Relationship Id="rId9" Type="http://schemas.openxmlformats.org/officeDocument/2006/relationships/slide" Target="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Relationship Id="rId4" Type="http://schemas.openxmlformats.org/officeDocument/2006/relationships/slide" Target="slide13.xml"/><Relationship Id="rId5" Type="http://schemas.openxmlformats.org/officeDocument/2006/relationships/slide" Target="slide1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Relationship Id="rId4" Type="http://schemas.openxmlformats.org/officeDocument/2006/relationships/slide" Target="slide15.xml"/><Relationship Id="rId5" Type="http://schemas.openxmlformats.org/officeDocument/2006/relationships/slide" Target="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jpg"/><Relationship Id="rId4" Type="http://schemas.openxmlformats.org/officeDocument/2006/relationships/image" Target="../media/image15.jpg"/><Relationship Id="rId5" Type="http://schemas.openxmlformats.org/officeDocument/2006/relationships/slide" Target="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jpg"/><Relationship Id="rId4" Type="http://schemas.openxmlformats.org/officeDocument/2006/relationships/slide" Target="slide15.xml"/><Relationship Id="rId5" Type="http://schemas.openxmlformats.org/officeDocument/2006/relationships/slide" Target="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15.jpg"/><Relationship Id="rId7" Type="http://schemas.openxmlformats.org/officeDocument/2006/relationships/image" Target="../media/image9.png"/><Relationship Id="rId8" Type="http://schemas.openxmlformats.org/officeDocument/2006/relationships/image" Target="../media/image13.png"/><Relationship Id="rId9" Type="http://schemas.openxmlformats.org/officeDocument/2006/relationships/slide" Target="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7.jpg"/><Relationship Id="rId4" Type="http://schemas.openxmlformats.org/officeDocument/2006/relationships/image" Target="../media/image16.jpg"/><Relationship Id="rId5" Type="http://schemas.openxmlformats.org/officeDocument/2006/relationships/slide" Target="slide19.xml"/><Relationship Id="rId6" Type="http://schemas.openxmlformats.org/officeDocument/2006/relationships/slide" Target="slide2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jpg"/><Relationship Id="rId4" Type="http://schemas.openxmlformats.org/officeDocument/2006/relationships/image" Target="../media/image16.jpg"/><Relationship Id="rId5" Type="http://schemas.openxmlformats.org/officeDocument/2006/relationships/slide" Target="slide21.xml"/><Relationship Id="rId6" Type="http://schemas.openxmlformats.org/officeDocument/2006/relationships/slide" Target="slide2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jpg"/><Relationship Id="rId4" Type="http://schemas.openxmlformats.org/officeDocument/2006/relationships/image" Target="../media/image16.jpg"/><Relationship Id="rId5" Type="http://schemas.openxmlformats.org/officeDocument/2006/relationships/slide" Target="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jpg"/><Relationship Id="rId4" Type="http://schemas.openxmlformats.org/officeDocument/2006/relationships/slide" Target="slide23.xml"/><Relationship Id="rId5" Type="http://schemas.openxmlformats.org/officeDocument/2006/relationships/slide" Target="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17.jpg"/><Relationship Id="rId7" Type="http://schemas.openxmlformats.org/officeDocument/2006/relationships/image" Target="../media/image9.png"/><Relationship Id="rId8" Type="http://schemas.openxmlformats.org/officeDocument/2006/relationships/image" Target="../media/image18.png"/><Relationship Id="rId9" Type="http://schemas.openxmlformats.org/officeDocument/2006/relationships/slide" Target="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jpg"/><Relationship Id="rId4" Type="http://schemas.openxmlformats.org/officeDocument/2006/relationships/audio" Target="../media/snd_door.wav"/><Relationship Id="rId5" Type="http://schemas.openxmlformats.org/officeDocument/2006/relationships/image" Target="../media/image2.png"/><Relationship Id="rId6" Type="http://schemas.openxmlformats.org/officeDocument/2006/relationships/image" Target="../media/image3.png"/><Relationship Id="rId7" Type="http://schemas.openxmlformats.org/officeDocument/2006/relationships/image" Target="../media/image4.png"/><Relationship Id="rId8" Type="http://schemas.openxmlformats.org/officeDocument/2006/relationships/image" Target="../media/image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jpg"/><Relationship Id="rId4" Type="http://schemas.openxmlformats.org/officeDocument/2006/relationships/audio" Target="../media/snd_fanfare.wav"/><Relationship Id="rId5" Type="http://schemas.openxmlformats.org/officeDocument/2006/relationships/image" Target="../media/image2.png"/><Relationship Id="rId6" Type="http://schemas.openxmlformats.org/officeDocument/2006/relationships/image" Target="../media/image3.png"/><Relationship Id="rId7" Type="http://schemas.openxmlformats.org/officeDocument/2006/relationships/image" Target="../media/image4.png"/><Relationship Id="rId8" Type="http://schemas.openxmlformats.org/officeDocument/2006/relationships/image" Target="../media/image19.png"/><Relationship Id="rId9" Type="http://schemas.openxmlformats.org/officeDocument/2006/relationships/slide" Target="slide2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7.jpg"/><Relationship Id="rId4" Type="http://schemas.openxmlformats.org/officeDocument/2006/relationships/image" Target="../media/image20.jpg"/><Relationship Id="rId5" Type="http://schemas.openxmlformats.org/officeDocument/2006/relationships/slide" Target="slide2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jpg"/><Relationship Id="rId4" Type="http://schemas.openxmlformats.org/officeDocument/2006/relationships/image" Target="../media/image21.jpg"/><Relationship Id="rId5" Type="http://schemas.openxmlformats.org/officeDocument/2006/relationships/image" Target="../media/image22.jpg"/><Relationship Id="rId6" Type="http://schemas.openxmlformats.org/officeDocument/2006/relationships/image" Target="../media/image23.jpg"/><Relationship Id="rId7" Type="http://schemas.openxmlformats.org/officeDocument/2006/relationships/image" Target="../media/image24.jpg"/><Relationship Id="rId8" Type="http://schemas.openxmlformats.org/officeDocument/2006/relationships/slide" Target="slide2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jpg"/><Relationship Id="rId4" Type="http://schemas.openxmlformats.org/officeDocument/2006/relationships/slide" Target="slide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7.jpg"/><Relationship Id="rId4" Type="http://schemas.openxmlformats.org/officeDocument/2006/relationships/slide" Target="slide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7.jpg"/><Relationship Id="rId4" Type="http://schemas.openxmlformats.org/officeDocument/2006/relationships/image" Target="../media/image25.jpg"/><Relationship Id="rId5" Type="http://schemas.openxmlformats.org/officeDocument/2006/relationships/slide" Target="slide3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7.jpg"/><Relationship Id="rId4" Type="http://schemas.openxmlformats.org/officeDocument/2006/relationships/image" Target="../media/image26.jpg"/><Relationship Id="rId5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.jpg"/><Relationship Id="rId4" Type="http://schemas.openxmlformats.org/officeDocument/2006/relationships/image" Target="../media/image13.png"/><Relationship Id="rId5" Type="http://schemas.openxmlformats.org/officeDocument/2006/relationships/slide" Target="slide3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7.jpg"/><Relationship Id="rId4" Type="http://schemas.openxmlformats.org/officeDocument/2006/relationships/image" Target="../media/image27.jpg"/><Relationship Id="rId5" Type="http://schemas.openxmlformats.org/officeDocument/2006/relationships/image" Target="../media/image28.jpg"/><Relationship Id="rId6" Type="http://schemas.openxmlformats.org/officeDocument/2006/relationships/slide" Target="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7.jpg"/><Relationship Id="rId4" Type="http://schemas.openxmlformats.org/officeDocument/2006/relationships/image" Target="../media/image6.png"/><Relationship Id="rId5" Type="http://schemas.openxmlformats.org/officeDocument/2006/relationships/image" Target="../media/image29.jpg"/><Relationship Id="rId6" Type="http://schemas.openxmlformats.org/officeDocument/2006/relationships/slide" Target="slide3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7.jpg"/><Relationship Id="rId4" Type="http://schemas.openxmlformats.org/officeDocument/2006/relationships/slide" Target="slide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7.jpg"/><Relationship Id="rId4" Type="http://schemas.openxmlformats.org/officeDocument/2006/relationships/slide" Target="slide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jpg"/><Relationship Id="rId4" Type="http://schemas.openxmlformats.org/officeDocument/2006/relationships/slide" Target="slide3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jpg"/><Relationship Id="rId4" Type="http://schemas.openxmlformats.org/officeDocument/2006/relationships/slide" Target="slide32.xml"/><Relationship Id="rId5" Type="http://schemas.openxmlformats.org/officeDocument/2006/relationships/slide" Target="slide4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jpg"/><Relationship Id="rId4" Type="http://schemas.openxmlformats.org/officeDocument/2006/relationships/slide" Target="slide32.xml"/><Relationship Id="rId5" Type="http://schemas.openxmlformats.org/officeDocument/2006/relationships/slide" Target="slide4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7.jpg"/><Relationship Id="rId4" Type="http://schemas.openxmlformats.org/officeDocument/2006/relationships/slide" Target="slide32.xml"/><Relationship Id="rId5" Type="http://schemas.openxmlformats.org/officeDocument/2006/relationships/slide" Target="slide4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7.jpg"/><Relationship Id="rId4" Type="http://schemas.openxmlformats.org/officeDocument/2006/relationships/slide" Target="slide32.xml"/><Relationship Id="rId5" Type="http://schemas.openxmlformats.org/officeDocument/2006/relationships/slide" Target="slide4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7.jpg"/><Relationship Id="rId4" Type="http://schemas.openxmlformats.org/officeDocument/2006/relationships/slide" Target="slide32.xml"/><Relationship Id="rId5" Type="http://schemas.openxmlformats.org/officeDocument/2006/relationships/slide" Target="slide6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7.jpg"/><Relationship Id="rId4" Type="http://schemas.openxmlformats.org/officeDocument/2006/relationships/image" Target="../media/image30.jpg"/><Relationship Id="rId5" Type="http://schemas.openxmlformats.org/officeDocument/2006/relationships/slide" Target="slide44.xml"/><Relationship Id="rId6" Type="http://schemas.openxmlformats.org/officeDocument/2006/relationships/slide" Target="slide48.xml"/><Relationship Id="rId7" Type="http://schemas.openxmlformats.org/officeDocument/2006/relationships/slide" Target="slide3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45.xml"/><Relationship Id="rId8" Type="http://schemas.openxmlformats.org/officeDocument/2006/relationships/slide" Target="slide3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7.jpg"/><Relationship Id="rId4" Type="http://schemas.openxmlformats.org/officeDocument/2006/relationships/image" Target="../media/image30.jpg"/><Relationship Id="rId5" Type="http://schemas.openxmlformats.org/officeDocument/2006/relationships/slide" Target="slide46.xml"/><Relationship Id="rId6" Type="http://schemas.openxmlformats.org/officeDocument/2006/relationships/slide" Target="slide48.xml"/><Relationship Id="rId7" Type="http://schemas.openxmlformats.org/officeDocument/2006/relationships/slide" Target="slide3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7.jpg"/><Relationship Id="rId4" Type="http://schemas.openxmlformats.org/officeDocument/2006/relationships/image" Target="../media/image30.jpg"/><Relationship Id="rId5" Type="http://schemas.openxmlformats.org/officeDocument/2006/relationships/slide" Target="slide47.xml"/><Relationship Id="rId6" Type="http://schemas.openxmlformats.org/officeDocument/2006/relationships/slide" Target="slide39.xml"/><Relationship Id="rId7" Type="http://schemas.openxmlformats.org/officeDocument/2006/relationships/slide" Target="slide3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7.jpg"/><Relationship Id="rId4" Type="http://schemas.openxmlformats.org/officeDocument/2006/relationships/slide" Target="slide46.xml"/><Relationship Id="rId5" Type="http://schemas.openxmlformats.org/officeDocument/2006/relationships/slide" Target="slide48.xml"/><Relationship Id="rId6" Type="http://schemas.openxmlformats.org/officeDocument/2006/relationships/slide" Target="slide3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32.xml"/><Relationship Id="rId8" Type="http://schemas.openxmlformats.org/officeDocument/2006/relationships/slide" Target="slide4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7.jpg"/><Relationship Id="rId4" Type="http://schemas.openxmlformats.org/officeDocument/2006/relationships/image" Target="../media/image10.png"/><Relationship Id="rId5" Type="http://schemas.openxmlformats.org/officeDocument/2006/relationships/image" Target="../media/image31.png"/><Relationship Id="rId6" Type="http://schemas.openxmlformats.org/officeDocument/2006/relationships/image" Target="../media/image11.png"/><Relationship Id="rId7" Type="http://schemas.openxmlformats.org/officeDocument/2006/relationships/slide" Target="slide32.xml"/><Relationship Id="rId8" Type="http://schemas.openxmlformats.org/officeDocument/2006/relationships/slide" Target="slide50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7.jpg"/><Relationship Id="rId4" Type="http://schemas.openxmlformats.org/officeDocument/2006/relationships/image" Target="../media/image10.png"/><Relationship Id="rId5" Type="http://schemas.openxmlformats.org/officeDocument/2006/relationships/image" Target="../media/image31.png"/><Relationship Id="rId6" Type="http://schemas.openxmlformats.org/officeDocument/2006/relationships/image" Target="../media/image11.png"/><Relationship Id="rId7" Type="http://schemas.openxmlformats.org/officeDocument/2006/relationships/slide" Target="slide32.xml"/><Relationship Id="rId8" Type="http://schemas.openxmlformats.org/officeDocument/2006/relationships/slide" Target="slide5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7.jpg"/><Relationship Id="rId4" Type="http://schemas.openxmlformats.org/officeDocument/2006/relationships/image" Target="../media/image32.png"/><Relationship Id="rId5" Type="http://schemas.openxmlformats.org/officeDocument/2006/relationships/slide" Target="slide55.xml"/><Relationship Id="rId6" Type="http://schemas.openxmlformats.org/officeDocument/2006/relationships/slide" Target="slide52.xml"/><Relationship Id="rId7" Type="http://schemas.openxmlformats.org/officeDocument/2006/relationships/slide" Target="slide3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32.png"/><Relationship Id="rId6" Type="http://schemas.openxmlformats.org/officeDocument/2006/relationships/slide" Target="slide53.xml"/><Relationship Id="rId7" Type="http://schemas.openxmlformats.org/officeDocument/2006/relationships/slide" Target="slide56.xml"/><Relationship Id="rId8" Type="http://schemas.openxmlformats.org/officeDocument/2006/relationships/slide" Target="slide3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32.png"/><Relationship Id="rId6" Type="http://schemas.openxmlformats.org/officeDocument/2006/relationships/slide" Target="slide54.xml"/><Relationship Id="rId7" Type="http://schemas.openxmlformats.org/officeDocument/2006/relationships/slide" Target="slide3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32.png"/><Relationship Id="rId6" Type="http://schemas.openxmlformats.org/officeDocument/2006/relationships/slide" Target="slide32.xml"/><Relationship Id="rId7" Type="http://schemas.openxmlformats.org/officeDocument/2006/relationships/slide" Target="slide5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51.xml"/><Relationship Id="rId8" Type="http://schemas.openxmlformats.org/officeDocument/2006/relationships/slide" Target="slide3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52.xml"/><Relationship Id="rId8" Type="http://schemas.openxmlformats.org/officeDocument/2006/relationships/slide" Target="slide3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7.jpg"/><Relationship Id="rId4" Type="http://schemas.openxmlformats.org/officeDocument/2006/relationships/slide" Target="slide62.xml"/><Relationship Id="rId5" Type="http://schemas.openxmlformats.org/officeDocument/2006/relationships/slide" Target="slide58.xml"/><Relationship Id="rId6" Type="http://schemas.openxmlformats.org/officeDocument/2006/relationships/slide" Target="slide3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59.xml"/><Relationship Id="rId8" Type="http://schemas.openxmlformats.org/officeDocument/2006/relationships/slide" Target="slide3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7.jpg"/><Relationship Id="rId4" Type="http://schemas.openxmlformats.org/officeDocument/2006/relationships/slide" Target="slide62.xml"/><Relationship Id="rId5" Type="http://schemas.openxmlformats.org/officeDocument/2006/relationships/slide" Target="slide60.xml"/><Relationship Id="rId6" Type="http://schemas.openxmlformats.org/officeDocument/2006/relationships/slide" Target="slide3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7.jpg"/><Relationship Id="rId4" Type="http://schemas.openxmlformats.org/officeDocument/2006/relationships/image" Target="../media/image30.jpg"/><Relationship Id="rId5" Type="http://schemas.openxmlformats.org/officeDocument/2006/relationships/slide" Target="slide61.xml"/><Relationship Id="rId6" Type="http://schemas.openxmlformats.org/officeDocument/2006/relationships/slide" Target="slide39.xml"/><Relationship Id="rId7" Type="http://schemas.openxmlformats.org/officeDocument/2006/relationships/slide" Target="slide3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7.jpg"/><Relationship Id="rId4" Type="http://schemas.openxmlformats.org/officeDocument/2006/relationships/slide" Target="slide62.xml"/><Relationship Id="rId5" Type="http://schemas.openxmlformats.org/officeDocument/2006/relationships/slide" Target="slide60.xml"/><Relationship Id="rId6" Type="http://schemas.openxmlformats.org/officeDocument/2006/relationships/slide" Target="slide3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32.xml"/><Relationship Id="rId8" Type="http://schemas.openxmlformats.org/officeDocument/2006/relationships/slide" Target="slide64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7.jpg"/><Relationship Id="rId4" Type="http://schemas.openxmlformats.org/officeDocument/2006/relationships/image" Target="../media/image12.png"/><Relationship Id="rId5" Type="http://schemas.openxmlformats.org/officeDocument/2006/relationships/slide" Target="slide47.xml"/><Relationship Id="rId6" Type="http://schemas.openxmlformats.org/officeDocument/2006/relationships/slide" Target="slide61.xml"/><Relationship Id="rId7" Type="http://schemas.openxmlformats.org/officeDocument/2006/relationships/slide" Target="slide3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7.jpg"/><Relationship Id="rId4" Type="http://schemas.openxmlformats.org/officeDocument/2006/relationships/slide" Target="slide32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7.jpg"/><Relationship Id="rId4" Type="http://schemas.openxmlformats.org/officeDocument/2006/relationships/slide" Target="slide3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7.jpg"/><Relationship Id="rId4" Type="http://schemas.openxmlformats.org/officeDocument/2006/relationships/slide" Target="slide3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7.jpg"/><Relationship Id="rId4" Type="http://schemas.openxmlformats.org/officeDocument/2006/relationships/slide" Target="slide3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7.jpg"/><Relationship Id="rId4" Type="http://schemas.openxmlformats.org/officeDocument/2006/relationships/slide" Target="slide32.xml"/><Relationship Id="rId5" Type="http://schemas.openxmlformats.org/officeDocument/2006/relationships/slide" Target="slide69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Relationship Id="rId3" Type="http://schemas.openxmlformats.org/officeDocument/2006/relationships/image" Target="../media/image7.jpg"/><Relationship Id="rId4" Type="http://schemas.openxmlformats.org/officeDocument/2006/relationships/slide" Target="slide71.xml"/><Relationship Id="rId5" Type="http://schemas.openxmlformats.org/officeDocument/2006/relationships/slide" Target="slide70.xml"/><Relationship Id="rId6" Type="http://schemas.openxmlformats.org/officeDocument/2006/relationships/slide" Target="slide32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69.xml"/><Relationship Id="rId8" Type="http://schemas.openxmlformats.org/officeDocument/2006/relationships/slide" Target="slide32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33.jpg"/><Relationship Id="rId7" Type="http://schemas.openxmlformats.org/officeDocument/2006/relationships/image" Target="../media/image9.png"/><Relationship Id="rId8" Type="http://schemas.openxmlformats.org/officeDocument/2006/relationships/slide" Target="slide32.xml"/><Relationship Id="rId9" Type="http://schemas.openxmlformats.org/officeDocument/2006/relationships/slide" Target="slide72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Relationship Id="rId3" Type="http://schemas.openxmlformats.org/officeDocument/2006/relationships/image" Target="../media/image7.jpg"/><Relationship Id="rId4" Type="http://schemas.openxmlformats.org/officeDocument/2006/relationships/slide" Target="slide3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7.jpg"/><Relationship Id="rId4" Type="http://schemas.openxmlformats.org/officeDocument/2006/relationships/slide" Target="slide3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Relationship Id="rId3" Type="http://schemas.openxmlformats.org/officeDocument/2006/relationships/image" Target="../media/image7.jpg"/><Relationship Id="rId4" Type="http://schemas.openxmlformats.org/officeDocument/2006/relationships/slide" Target="slide32.xml"/><Relationship Id="rId5" Type="http://schemas.openxmlformats.org/officeDocument/2006/relationships/slide" Target="slide75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Relationship Id="rId3" Type="http://schemas.openxmlformats.org/officeDocument/2006/relationships/image" Target="../media/image7.jpg"/><Relationship Id="rId4" Type="http://schemas.openxmlformats.org/officeDocument/2006/relationships/slide" Target="slide77.xml"/><Relationship Id="rId5" Type="http://schemas.openxmlformats.org/officeDocument/2006/relationships/slide" Target="slide76.xml"/><Relationship Id="rId6" Type="http://schemas.openxmlformats.org/officeDocument/2006/relationships/slide" Target="slide32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75.xml"/><Relationship Id="rId8" Type="http://schemas.openxmlformats.org/officeDocument/2006/relationships/slide" Target="slide32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34.jpg"/><Relationship Id="rId7" Type="http://schemas.openxmlformats.org/officeDocument/2006/relationships/image" Target="../media/image9.png"/><Relationship Id="rId8" Type="http://schemas.openxmlformats.org/officeDocument/2006/relationships/slide" Target="slide32.xml"/><Relationship Id="rId9" Type="http://schemas.openxmlformats.org/officeDocument/2006/relationships/slide" Target="slide78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7.jpg"/><Relationship Id="rId4" Type="http://schemas.openxmlformats.org/officeDocument/2006/relationships/slide" Target="slide32.xml"/><Relationship Id="rId5" Type="http://schemas.openxmlformats.org/officeDocument/2006/relationships/slide" Target="slide79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7.jpg"/><Relationship Id="rId4" Type="http://schemas.openxmlformats.org/officeDocument/2006/relationships/slide" Target="slide80.xml"/><Relationship Id="rId5" Type="http://schemas.openxmlformats.org/officeDocument/2006/relationships/slide" Target="slide81.xml"/><Relationship Id="rId6" Type="http://schemas.openxmlformats.org/officeDocument/2006/relationships/slide" Target="slide32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79.xml"/><Relationship Id="rId8" Type="http://schemas.openxmlformats.org/officeDocument/2006/relationships/slide" Target="slide32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32.xml"/><Relationship Id="rId8" Type="http://schemas.openxmlformats.org/officeDocument/2006/relationships/slide" Target="slide82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7.jpg"/><Relationship Id="rId4" Type="http://schemas.openxmlformats.org/officeDocument/2006/relationships/slide" Target="slide83.xml"/><Relationship Id="rId5" Type="http://schemas.openxmlformats.org/officeDocument/2006/relationships/slide" Target="slide84.xml"/><Relationship Id="rId6" Type="http://schemas.openxmlformats.org/officeDocument/2006/relationships/slide" Target="slide3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82.xml"/><Relationship Id="rId8" Type="http://schemas.openxmlformats.org/officeDocument/2006/relationships/slide" Target="slide32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32.xml"/><Relationship Id="rId8" Type="http://schemas.openxmlformats.org/officeDocument/2006/relationships/slide" Target="slide85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1.jpg"/><Relationship Id="rId4" Type="http://schemas.openxmlformats.org/officeDocument/2006/relationships/image" Target="../media/image13.png"/><Relationship Id="rId5" Type="http://schemas.openxmlformats.org/officeDocument/2006/relationships/slide" Target="slide33.xml"/><Relationship Id="rId6" Type="http://schemas.openxmlformats.org/officeDocument/2006/relationships/slide" Target="slide86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7.jpg"/><Relationship Id="rId4" Type="http://schemas.openxmlformats.org/officeDocument/2006/relationships/image" Target="../media/image35.jpg"/><Relationship Id="rId5" Type="http://schemas.openxmlformats.org/officeDocument/2006/relationships/image" Target="../media/image36.jpg"/><Relationship Id="rId6" Type="http://schemas.openxmlformats.org/officeDocument/2006/relationships/slide" Target="slide85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7.jpg"/><Relationship Id="rId4" Type="http://schemas.openxmlformats.org/officeDocument/2006/relationships/image" Target="../media/image6.png"/><Relationship Id="rId5" Type="http://schemas.openxmlformats.org/officeDocument/2006/relationships/image" Target="../media/image37.jpg"/><Relationship Id="rId6" Type="http://schemas.openxmlformats.org/officeDocument/2006/relationships/slide" Target="slide85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Relationship Id="rId3" Type="http://schemas.openxmlformats.org/officeDocument/2006/relationships/image" Target="../media/image7.jpg"/><Relationship Id="rId4" Type="http://schemas.openxmlformats.org/officeDocument/2006/relationships/slide" Target="slide85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7.jpg"/><Relationship Id="rId4" Type="http://schemas.openxmlformats.org/officeDocument/2006/relationships/slide" Target="slide85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Relationship Id="rId3" Type="http://schemas.openxmlformats.org/officeDocument/2006/relationships/image" Target="../media/image7.jpg"/><Relationship Id="rId4" Type="http://schemas.openxmlformats.org/officeDocument/2006/relationships/slide" Target="slide85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Relationship Id="rId3" Type="http://schemas.openxmlformats.org/officeDocument/2006/relationships/image" Target="../media/image7.jpg"/><Relationship Id="rId4" Type="http://schemas.openxmlformats.org/officeDocument/2006/relationships/slide" Target="slide85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7.jpg"/><Relationship Id="rId4" Type="http://schemas.openxmlformats.org/officeDocument/2006/relationships/slide" Target="slide85.xml"/><Relationship Id="rId5" Type="http://schemas.openxmlformats.org/officeDocument/2006/relationships/slide" Target="slide99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Relationship Id="rId3" Type="http://schemas.openxmlformats.org/officeDocument/2006/relationships/image" Target="../media/image7.jpg"/><Relationship Id="rId4" Type="http://schemas.openxmlformats.org/officeDocument/2006/relationships/slide" Target="slide85.xml"/><Relationship Id="rId5" Type="http://schemas.openxmlformats.org/officeDocument/2006/relationships/slide" Target="slide94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Relationship Id="rId3" Type="http://schemas.openxmlformats.org/officeDocument/2006/relationships/image" Target="../media/image7.jpg"/><Relationship Id="rId4" Type="http://schemas.openxmlformats.org/officeDocument/2006/relationships/slide" Target="slide85.xml"/><Relationship Id="rId5" Type="http://schemas.openxmlformats.org/officeDocument/2006/relationships/slide" Target="slide95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Relationship Id="rId3" Type="http://schemas.openxmlformats.org/officeDocument/2006/relationships/image" Target="../media/image7.jpg"/><Relationship Id="rId4" Type="http://schemas.openxmlformats.org/officeDocument/2006/relationships/slide" Target="slide85.xml"/><Relationship Id="rId5" Type="http://schemas.openxmlformats.org/officeDocument/2006/relationships/slide" Target="slide96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7.jpg"/><Relationship Id="rId4" Type="http://schemas.openxmlformats.org/officeDocument/2006/relationships/slide" Target="slide85.xml"/><Relationship Id="rId5" Type="http://schemas.openxmlformats.org/officeDocument/2006/relationships/slide" Target="slide9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Relationship Id="rId3" Type="http://schemas.openxmlformats.org/officeDocument/2006/relationships/image" Target="../media/image7.jpg"/><Relationship Id="rId4" Type="http://schemas.openxmlformats.org/officeDocument/2006/relationships/slide" Target="slide85.xml"/><Relationship Id="rId5" Type="http://schemas.openxmlformats.org/officeDocument/2006/relationships/slide" Target="slide98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12.png"/><Relationship Id="rId4" Type="http://schemas.openxmlformats.org/officeDocument/2006/relationships/slide" Target="slide133.xml"/><Relationship Id="rId5" Type="http://schemas.openxmlformats.org/officeDocument/2006/relationships/slide" Target="slide85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Relationship Id="rId3" Type="http://schemas.openxmlformats.org/officeDocument/2006/relationships/image" Target="../media/image7.jpg"/><Relationship Id="rId4" Type="http://schemas.openxmlformats.org/officeDocument/2006/relationships/slide" Target="slide85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Relationship Id="rId3" Type="http://schemas.openxmlformats.org/officeDocument/2006/relationships/image" Target="../media/image7.jpg"/><Relationship Id="rId4" Type="http://schemas.openxmlformats.org/officeDocument/2006/relationships/slide" Target="slide85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Relationship Id="rId3" Type="http://schemas.openxmlformats.org/officeDocument/2006/relationships/image" Target="../media/image7.jpg"/><Relationship Id="rId4" Type="http://schemas.openxmlformats.org/officeDocument/2006/relationships/slide" Target="slide85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Relationship Id="rId3" Type="http://schemas.openxmlformats.org/officeDocument/2006/relationships/image" Target="../media/image7.jpg"/><Relationship Id="rId4" Type="http://schemas.openxmlformats.org/officeDocument/2006/relationships/slide" Target="slide85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Relationship Id="rId3" Type="http://schemas.openxmlformats.org/officeDocument/2006/relationships/image" Target="../media/image7.jpg"/><Relationship Id="rId4" Type="http://schemas.openxmlformats.org/officeDocument/2006/relationships/slide" Target="slide85.xml"/><Relationship Id="rId5" Type="http://schemas.openxmlformats.org/officeDocument/2006/relationships/slide" Target="slide104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Relationship Id="rId3" Type="http://schemas.openxmlformats.org/officeDocument/2006/relationships/image" Target="../media/image7.jpg"/><Relationship Id="rId4" Type="http://schemas.openxmlformats.org/officeDocument/2006/relationships/slide" Target="slide85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Relationship Id="rId3" Type="http://schemas.openxmlformats.org/officeDocument/2006/relationships/image" Target="../media/image7.jpg"/><Relationship Id="rId4" Type="http://schemas.openxmlformats.org/officeDocument/2006/relationships/slide" Target="slide8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Relationship Id="rId3" Type="http://schemas.openxmlformats.org/officeDocument/2006/relationships/image" Target="../media/image7.jpg"/><Relationship Id="rId4" Type="http://schemas.openxmlformats.org/officeDocument/2006/relationships/slide" Target="slide85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Relationship Id="rId3" Type="http://schemas.openxmlformats.org/officeDocument/2006/relationships/image" Target="../media/image7.jpg"/><Relationship Id="rId4" Type="http://schemas.openxmlformats.org/officeDocument/2006/relationships/slide" Target="slide85.xml"/><Relationship Id="rId5" Type="http://schemas.openxmlformats.org/officeDocument/2006/relationships/slide" Target="slide108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Relationship Id="rId3" Type="http://schemas.openxmlformats.org/officeDocument/2006/relationships/image" Target="../media/image7.jpg"/><Relationship Id="rId4" Type="http://schemas.openxmlformats.org/officeDocument/2006/relationships/image" Target="../media/image38.jpg"/><Relationship Id="rId5" Type="http://schemas.openxmlformats.org/officeDocument/2006/relationships/slide" Target="slide110.xml"/><Relationship Id="rId6" Type="http://schemas.openxmlformats.org/officeDocument/2006/relationships/slide" Target="slide109.xml"/><Relationship Id="rId7" Type="http://schemas.openxmlformats.org/officeDocument/2006/relationships/slide" Target="slide85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108.xml"/><Relationship Id="rId8" Type="http://schemas.openxmlformats.org/officeDocument/2006/relationships/slide" Target="slide85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39.jpg"/><Relationship Id="rId7" Type="http://schemas.openxmlformats.org/officeDocument/2006/relationships/image" Target="../media/image9.png"/><Relationship Id="rId8" Type="http://schemas.openxmlformats.org/officeDocument/2006/relationships/slide" Target="slide85.xml"/><Relationship Id="rId9" Type="http://schemas.openxmlformats.org/officeDocument/2006/relationships/slide" Target="slide111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Relationship Id="rId3" Type="http://schemas.openxmlformats.org/officeDocument/2006/relationships/image" Target="../media/image7.jpg"/><Relationship Id="rId4" Type="http://schemas.openxmlformats.org/officeDocument/2006/relationships/slide" Target="slide85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1.xml"/><Relationship Id="rId3" Type="http://schemas.openxmlformats.org/officeDocument/2006/relationships/image" Target="../media/image7.jpg"/><Relationship Id="rId4" Type="http://schemas.openxmlformats.org/officeDocument/2006/relationships/slide" Target="slide85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2.xml"/><Relationship Id="rId3" Type="http://schemas.openxmlformats.org/officeDocument/2006/relationships/image" Target="../media/image7.jpg"/><Relationship Id="rId4" Type="http://schemas.openxmlformats.org/officeDocument/2006/relationships/slide" Target="slide85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7.jpg"/><Relationship Id="rId4" Type="http://schemas.openxmlformats.org/officeDocument/2006/relationships/slide" Target="slide85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Relationship Id="rId3" Type="http://schemas.openxmlformats.org/officeDocument/2006/relationships/image" Target="../media/image7.jpg"/><Relationship Id="rId4" Type="http://schemas.openxmlformats.org/officeDocument/2006/relationships/slide" Target="slide85.xml"/><Relationship Id="rId5" Type="http://schemas.openxmlformats.org/officeDocument/2006/relationships/slide" Target="slide116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Relationship Id="rId3" Type="http://schemas.openxmlformats.org/officeDocument/2006/relationships/image" Target="../media/image7.jpg"/><Relationship Id="rId4" Type="http://schemas.openxmlformats.org/officeDocument/2006/relationships/slide" Target="slide117.xml"/><Relationship Id="rId5" Type="http://schemas.openxmlformats.org/officeDocument/2006/relationships/slide" Target="slide85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7.jpg"/><Relationship Id="rId4" Type="http://schemas.openxmlformats.org/officeDocument/2006/relationships/slide" Target="slide119.xml"/><Relationship Id="rId5" Type="http://schemas.openxmlformats.org/officeDocument/2006/relationships/slide" Target="slide118.xml"/><Relationship Id="rId6" Type="http://schemas.openxmlformats.org/officeDocument/2006/relationships/slide" Target="slide85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117.xml"/><Relationship Id="rId8" Type="http://schemas.openxmlformats.org/officeDocument/2006/relationships/slide" Target="slide85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85.xml"/><Relationship Id="rId8" Type="http://schemas.openxmlformats.org/officeDocument/2006/relationships/slide" Target="slide120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Relationship Id="rId3" Type="http://schemas.openxmlformats.org/officeDocument/2006/relationships/image" Target="../media/image7.jpg"/><Relationship Id="rId4" Type="http://schemas.openxmlformats.org/officeDocument/2006/relationships/image" Target="../media/image37.jpg"/><Relationship Id="rId5" Type="http://schemas.openxmlformats.org/officeDocument/2006/relationships/slide" Target="slide121.xml"/><Relationship Id="rId6" Type="http://schemas.openxmlformats.org/officeDocument/2006/relationships/slide" Target="slide122.xml"/><Relationship Id="rId7" Type="http://schemas.openxmlformats.org/officeDocument/2006/relationships/slide" Target="slide85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120.xml"/><Relationship Id="rId8" Type="http://schemas.openxmlformats.org/officeDocument/2006/relationships/slide" Target="slide85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85.xml"/><Relationship Id="rId8" Type="http://schemas.openxmlformats.org/officeDocument/2006/relationships/slide" Target="slide123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2.xml"/><Relationship Id="rId3" Type="http://schemas.openxmlformats.org/officeDocument/2006/relationships/image" Target="../media/image7.jpg"/><Relationship Id="rId4" Type="http://schemas.openxmlformats.org/officeDocument/2006/relationships/image" Target="../media/image29.jpg"/><Relationship Id="rId5" Type="http://schemas.openxmlformats.org/officeDocument/2006/relationships/slide" Target="slide125.xml"/><Relationship Id="rId6" Type="http://schemas.openxmlformats.org/officeDocument/2006/relationships/slide" Target="slide124.xml"/><Relationship Id="rId7" Type="http://schemas.openxmlformats.org/officeDocument/2006/relationships/slide" Target="slide85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123.xml"/><Relationship Id="rId8" Type="http://schemas.openxmlformats.org/officeDocument/2006/relationships/slide" Target="slide85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85.xml"/><Relationship Id="rId8" Type="http://schemas.openxmlformats.org/officeDocument/2006/relationships/slide" Target="slide126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5.xml"/><Relationship Id="rId3" Type="http://schemas.openxmlformats.org/officeDocument/2006/relationships/image" Target="../media/image7.jpg"/><Relationship Id="rId4" Type="http://schemas.openxmlformats.org/officeDocument/2006/relationships/image" Target="../media/image40.png"/><Relationship Id="rId5" Type="http://schemas.openxmlformats.org/officeDocument/2006/relationships/slide" Target="slide127.xml"/><Relationship Id="rId6" Type="http://schemas.openxmlformats.org/officeDocument/2006/relationships/slide" Target="slide128.xml"/><Relationship Id="rId7" Type="http://schemas.openxmlformats.org/officeDocument/2006/relationships/slide" Target="slide85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6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126.xml"/><Relationship Id="rId8" Type="http://schemas.openxmlformats.org/officeDocument/2006/relationships/slide" Target="slide85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7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85.xml"/><Relationship Id="rId8" Type="http://schemas.openxmlformats.org/officeDocument/2006/relationships/slide" Target="slide129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8.xml"/><Relationship Id="rId3" Type="http://schemas.openxmlformats.org/officeDocument/2006/relationships/image" Target="../media/image7.jpg"/><Relationship Id="rId4" Type="http://schemas.openxmlformats.org/officeDocument/2006/relationships/slide" Target="slide130.xml"/><Relationship Id="rId5" Type="http://schemas.openxmlformats.org/officeDocument/2006/relationships/slide" Target="slide134.xml"/><Relationship Id="rId6" Type="http://schemas.openxmlformats.org/officeDocument/2006/relationships/slide" Target="slide85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9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131.xml"/><Relationship Id="rId8" Type="http://schemas.openxmlformats.org/officeDocument/2006/relationships/slide" Target="slide85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0.xml"/><Relationship Id="rId3" Type="http://schemas.openxmlformats.org/officeDocument/2006/relationships/image" Target="../media/image7.jpg"/><Relationship Id="rId4" Type="http://schemas.openxmlformats.org/officeDocument/2006/relationships/slide" Target="slide132.xml"/><Relationship Id="rId5" Type="http://schemas.openxmlformats.org/officeDocument/2006/relationships/slide" Target="slide134.xml"/><Relationship Id="rId6" Type="http://schemas.openxmlformats.org/officeDocument/2006/relationships/slide" Target="slide85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1.xml"/><Relationship Id="rId3" Type="http://schemas.openxmlformats.org/officeDocument/2006/relationships/image" Target="../media/image7.jpg"/><Relationship Id="rId4" Type="http://schemas.openxmlformats.org/officeDocument/2006/relationships/image" Target="../media/image37.jpg"/><Relationship Id="rId5" Type="http://schemas.openxmlformats.org/officeDocument/2006/relationships/slide" Target="slide133.xml"/><Relationship Id="rId6" Type="http://schemas.openxmlformats.org/officeDocument/2006/relationships/slide" Target="slide93.xml"/><Relationship Id="rId7" Type="http://schemas.openxmlformats.org/officeDocument/2006/relationships/slide" Target="slide85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2.xml"/><Relationship Id="rId3" Type="http://schemas.openxmlformats.org/officeDocument/2006/relationships/image" Target="../media/image7.jpg"/><Relationship Id="rId4" Type="http://schemas.openxmlformats.org/officeDocument/2006/relationships/slide" Target="slide134.xml"/><Relationship Id="rId5" Type="http://schemas.openxmlformats.org/officeDocument/2006/relationships/slide" Target="slide132.xml"/><Relationship Id="rId6" Type="http://schemas.openxmlformats.org/officeDocument/2006/relationships/slide" Target="slide85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3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85.xml"/><Relationship Id="rId8" Type="http://schemas.openxmlformats.org/officeDocument/2006/relationships/slide" Target="slide135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4.xml"/><Relationship Id="rId3" Type="http://schemas.openxmlformats.org/officeDocument/2006/relationships/image" Target="../media/image7.jpg"/><Relationship Id="rId4" Type="http://schemas.openxmlformats.org/officeDocument/2006/relationships/image" Target="../media/image41.jpg"/><Relationship Id="rId5" Type="http://schemas.openxmlformats.org/officeDocument/2006/relationships/slide" Target="slide137.xml"/><Relationship Id="rId6" Type="http://schemas.openxmlformats.org/officeDocument/2006/relationships/slide" Target="slide136.xml"/><Relationship Id="rId7" Type="http://schemas.openxmlformats.org/officeDocument/2006/relationships/slide" Target="slide85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5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135.xml"/><Relationship Id="rId8" Type="http://schemas.openxmlformats.org/officeDocument/2006/relationships/slide" Target="slide85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6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85.xml"/><Relationship Id="rId8" Type="http://schemas.openxmlformats.org/officeDocument/2006/relationships/slide" Target="slide138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7.xml"/><Relationship Id="rId3" Type="http://schemas.openxmlformats.org/officeDocument/2006/relationships/image" Target="../media/image7.jpg"/><Relationship Id="rId4" Type="http://schemas.openxmlformats.org/officeDocument/2006/relationships/image" Target="../media/image41.jpg"/><Relationship Id="rId5" Type="http://schemas.openxmlformats.org/officeDocument/2006/relationships/slide" Target="slide85.xml"/><Relationship Id="rId6" Type="http://schemas.openxmlformats.org/officeDocument/2006/relationships/slide" Target="slide139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8.xml"/><Relationship Id="rId3" Type="http://schemas.openxmlformats.org/officeDocument/2006/relationships/image" Target="../media/image7.jpg"/><Relationship Id="rId4" Type="http://schemas.openxmlformats.org/officeDocument/2006/relationships/slide" Target="slide140.xml"/><Relationship Id="rId5" Type="http://schemas.openxmlformats.org/officeDocument/2006/relationships/slide" Target="slide141.xml"/><Relationship Id="rId6" Type="http://schemas.openxmlformats.org/officeDocument/2006/relationships/slide" Target="slide85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9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139.xml"/><Relationship Id="rId8" Type="http://schemas.openxmlformats.org/officeDocument/2006/relationships/slide" Target="slide85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0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85.xml"/><Relationship Id="rId8" Type="http://schemas.openxmlformats.org/officeDocument/2006/relationships/slide" Target="slide142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1.xml"/><Relationship Id="rId3" Type="http://schemas.openxmlformats.org/officeDocument/2006/relationships/image" Target="../media/image1.jpg"/><Relationship Id="rId4" Type="http://schemas.openxmlformats.org/officeDocument/2006/relationships/slide" Target="slide33.xml"/><Relationship Id="rId5" Type="http://schemas.openxmlformats.org/officeDocument/2006/relationships/slide" Target="slide86.xml"/><Relationship Id="rId6" Type="http://schemas.openxmlformats.org/officeDocument/2006/relationships/slide" Target="slide104.xml"/><Relationship Id="rId7" Type="http://schemas.openxmlformats.org/officeDocument/2006/relationships/slide" Target="slide143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2.xml"/><Relationship Id="rId3" Type="http://schemas.openxmlformats.org/officeDocument/2006/relationships/image" Target="../media/image7.jpg"/><Relationship Id="rId4" Type="http://schemas.openxmlformats.org/officeDocument/2006/relationships/image" Target="../media/image42.jpg"/><Relationship Id="rId5" Type="http://schemas.openxmlformats.org/officeDocument/2006/relationships/image" Target="../media/image43.jpg"/><Relationship Id="rId6" Type="http://schemas.openxmlformats.org/officeDocument/2006/relationships/slide" Target="slide142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3.xml"/><Relationship Id="rId3" Type="http://schemas.openxmlformats.org/officeDocument/2006/relationships/image" Target="../media/image7.jp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11.png"/><Relationship Id="rId7" Type="http://schemas.openxmlformats.org/officeDocument/2006/relationships/image" Target="../media/image46.png"/><Relationship Id="rId8" Type="http://schemas.openxmlformats.org/officeDocument/2006/relationships/image" Target="../media/image47.png"/><Relationship Id="rId9" Type="http://schemas.openxmlformats.org/officeDocument/2006/relationships/image" Target="../media/image48.png"/><Relationship Id="rId10" Type="http://schemas.openxmlformats.org/officeDocument/2006/relationships/image" Target="../media/image49.png"/><Relationship Id="rId11" Type="http://schemas.openxmlformats.org/officeDocument/2006/relationships/image" Target="../media/image31.png"/><Relationship Id="rId12" Type="http://schemas.openxmlformats.org/officeDocument/2006/relationships/image" Target="../media/image50.png"/><Relationship Id="rId13" Type="http://schemas.openxmlformats.org/officeDocument/2006/relationships/image" Target="../media/image51.png"/><Relationship Id="rId14" Type="http://schemas.openxmlformats.org/officeDocument/2006/relationships/slide" Target="slide142.xml"/><Relationship Id="rId15" Type="http://schemas.openxmlformats.org/officeDocument/2006/relationships/slide" Target="slide145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4.xml"/><Relationship Id="rId3" Type="http://schemas.openxmlformats.org/officeDocument/2006/relationships/image" Target="../media/image7.jp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slide" Target="slide142.xml"/><Relationship Id="rId7" Type="http://schemas.openxmlformats.org/officeDocument/2006/relationships/slide" Target="slide146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5.xml"/><Relationship Id="rId3" Type="http://schemas.openxmlformats.org/officeDocument/2006/relationships/image" Target="../media/image7.jp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Relationship Id="rId9" Type="http://schemas.openxmlformats.org/officeDocument/2006/relationships/slide" Target="slide142.xml"/><Relationship Id="rId10" Type="http://schemas.openxmlformats.org/officeDocument/2006/relationships/slide" Target="slide14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6.xml"/><Relationship Id="rId3" Type="http://schemas.openxmlformats.org/officeDocument/2006/relationships/image" Target="../media/image7.jpg"/><Relationship Id="rId4" Type="http://schemas.openxmlformats.org/officeDocument/2006/relationships/image" Target="../media/image57.jpg"/><Relationship Id="rId5" Type="http://schemas.openxmlformats.org/officeDocument/2006/relationships/image" Target="../media/image48.png"/><Relationship Id="rId6" Type="http://schemas.openxmlformats.org/officeDocument/2006/relationships/slide" Target="slide142.xml"/><Relationship Id="rId7" Type="http://schemas.openxmlformats.org/officeDocument/2006/relationships/slide" Target="slide148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7.xml"/><Relationship Id="rId3" Type="http://schemas.openxmlformats.org/officeDocument/2006/relationships/image" Target="../media/image7.jpg"/><Relationship Id="rId4" Type="http://schemas.openxmlformats.org/officeDocument/2006/relationships/slide" Target="slide150.xml"/><Relationship Id="rId5" Type="http://schemas.openxmlformats.org/officeDocument/2006/relationships/slide" Target="slide149.xml"/><Relationship Id="rId6" Type="http://schemas.openxmlformats.org/officeDocument/2006/relationships/slide" Target="slide142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8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148.xml"/><Relationship Id="rId8" Type="http://schemas.openxmlformats.org/officeDocument/2006/relationships/slide" Target="slide142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9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142.xml"/><Relationship Id="rId8" Type="http://schemas.openxmlformats.org/officeDocument/2006/relationships/slide" Target="slide151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0.xml"/><Relationship Id="rId3" Type="http://schemas.openxmlformats.org/officeDocument/2006/relationships/image" Target="../media/image7.jpg"/><Relationship Id="rId4" Type="http://schemas.openxmlformats.org/officeDocument/2006/relationships/image" Target="../media/image57.jpg"/><Relationship Id="rId5" Type="http://schemas.openxmlformats.org/officeDocument/2006/relationships/slide" Target="slide142.xml"/><Relationship Id="rId6" Type="http://schemas.openxmlformats.org/officeDocument/2006/relationships/slide" Target="slide152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1.xml"/><Relationship Id="rId3" Type="http://schemas.openxmlformats.org/officeDocument/2006/relationships/image" Target="../media/image7.jpg"/><Relationship Id="rId4" Type="http://schemas.openxmlformats.org/officeDocument/2006/relationships/image" Target="../media/image43.jpg"/><Relationship Id="rId5" Type="http://schemas.openxmlformats.org/officeDocument/2006/relationships/slide" Target="slide157.xml"/><Relationship Id="rId6" Type="http://schemas.openxmlformats.org/officeDocument/2006/relationships/slide" Target="slide153.xml"/><Relationship Id="rId7" Type="http://schemas.openxmlformats.org/officeDocument/2006/relationships/slide" Target="slide14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2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154.xml"/><Relationship Id="rId8" Type="http://schemas.openxmlformats.org/officeDocument/2006/relationships/slide" Target="slide142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3.xml"/><Relationship Id="rId3" Type="http://schemas.openxmlformats.org/officeDocument/2006/relationships/image" Target="../media/image7.jpg"/><Relationship Id="rId4" Type="http://schemas.openxmlformats.org/officeDocument/2006/relationships/image" Target="../media/image43.jpg"/><Relationship Id="rId5" Type="http://schemas.openxmlformats.org/officeDocument/2006/relationships/slide" Target="slide157.xml"/><Relationship Id="rId6" Type="http://schemas.openxmlformats.org/officeDocument/2006/relationships/slide" Target="slide155.xml"/><Relationship Id="rId7" Type="http://schemas.openxmlformats.org/officeDocument/2006/relationships/slide" Target="slide142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4.xml"/><Relationship Id="rId3" Type="http://schemas.openxmlformats.org/officeDocument/2006/relationships/image" Target="../media/image7.jpg"/><Relationship Id="rId4" Type="http://schemas.openxmlformats.org/officeDocument/2006/relationships/image" Target="../media/image58.jpg"/><Relationship Id="rId5" Type="http://schemas.openxmlformats.org/officeDocument/2006/relationships/slide" Target="slide156.xml"/><Relationship Id="rId6" Type="http://schemas.openxmlformats.org/officeDocument/2006/relationships/slide" Target="slide142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5.xml"/><Relationship Id="rId3" Type="http://schemas.openxmlformats.org/officeDocument/2006/relationships/image" Target="../media/image7.jpg"/><Relationship Id="rId4" Type="http://schemas.openxmlformats.org/officeDocument/2006/relationships/slide" Target="slide157.xml"/><Relationship Id="rId5" Type="http://schemas.openxmlformats.org/officeDocument/2006/relationships/slide" Target="slide155.xml"/><Relationship Id="rId6" Type="http://schemas.openxmlformats.org/officeDocument/2006/relationships/slide" Target="slide142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6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142.xml"/><Relationship Id="rId8" Type="http://schemas.openxmlformats.org/officeDocument/2006/relationships/slide" Target="slide158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7.xml"/><Relationship Id="rId3" Type="http://schemas.openxmlformats.org/officeDocument/2006/relationships/image" Target="../media/image7.jpg"/><Relationship Id="rId4" Type="http://schemas.openxmlformats.org/officeDocument/2006/relationships/image" Target="../media/image43.jpg"/><Relationship Id="rId5" Type="http://schemas.openxmlformats.org/officeDocument/2006/relationships/slide" Target="slide163.xml"/><Relationship Id="rId6" Type="http://schemas.openxmlformats.org/officeDocument/2006/relationships/slide" Target="slide159.xml"/><Relationship Id="rId7" Type="http://schemas.openxmlformats.org/officeDocument/2006/relationships/slide" Target="slide142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8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160.xml"/><Relationship Id="rId8" Type="http://schemas.openxmlformats.org/officeDocument/2006/relationships/slide" Target="slide142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9.xml"/><Relationship Id="rId3" Type="http://schemas.openxmlformats.org/officeDocument/2006/relationships/image" Target="../media/image7.jpg"/><Relationship Id="rId4" Type="http://schemas.openxmlformats.org/officeDocument/2006/relationships/image" Target="../media/image43.jpg"/><Relationship Id="rId5" Type="http://schemas.openxmlformats.org/officeDocument/2006/relationships/slide" Target="slide163.xml"/><Relationship Id="rId6" Type="http://schemas.openxmlformats.org/officeDocument/2006/relationships/slide" Target="slide161.xml"/><Relationship Id="rId7" Type="http://schemas.openxmlformats.org/officeDocument/2006/relationships/slide" Target="slide142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0.xml"/><Relationship Id="rId3" Type="http://schemas.openxmlformats.org/officeDocument/2006/relationships/image" Target="../media/image7.jpg"/><Relationship Id="rId4" Type="http://schemas.openxmlformats.org/officeDocument/2006/relationships/image" Target="../media/image58.jpg"/><Relationship Id="rId5" Type="http://schemas.openxmlformats.org/officeDocument/2006/relationships/slide" Target="slide162.xml"/><Relationship Id="rId6" Type="http://schemas.openxmlformats.org/officeDocument/2006/relationships/slide" Target="slide142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1.xml"/><Relationship Id="rId3" Type="http://schemas.openxmlformats.org/officeDocument/2006/relationships/image" Target="../media/image7.jpg"/><Relationship Id="rId4" Type="http://schemas.openxmlformats.org/officeDocument/2006/relationships/slide" Target="slide163.xml"/><Relationship Id="rId5" Type="http://schemas.openxmlformats.org/officeDocument/2006/relationships/slide" Target="slide161.xml"/><Relationship Id="rId6" Type="http://schemas.openxmlformats.org/officeDocument/2006/relationships/slide" Target="slide14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2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142.xml"/><Relationship Id="rId8" Type="http://schemas.openxmlformats.org/officeDocument/2006/relationships/slide" Target="slide164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3.xml"/><Relationship Id="rId3" Type="http://schemas.openxmlformats.org/officeDocument/2006/relationships/image" Target="../media/image7.jpg"/><Relationship Id="rId4" Type="http://schemas.openxmlformats.org/officeDocument/2006/relationships/slide" Target="slide166.xml"/><Relationship Id="rId5" Type="http://schemas.openxmlformats.org/officeDocument/2006/relationships/slide" Target="slide165.xml"/><Relationship Id="rId6" Type="http://schemas.openxmlformats.org/officeDocument/2006/relationships/slide" Target="slide142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4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164.xml"/><Relationship Id="rId8" Type="http://schemas.openxmlformats.org/officeDocument/2006/relationships/slide" Target="slide142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5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142.xml"/><Relationship Id="rId8" Type="http://schemas.openxmlformats.org/officeDocument/2006/relationships/slide" Target="slide16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6.xml"/><Relationship Id="rId3" Type="http://schemas.openxmlformats.org/officeDocument/2006/relationships/image" Target="../media/image7.jpg"/><Relationship Id="rId4" Type="http://schemas.openxmlformats.org/officeDocument/2006/relationships/slide" Target="slide169.xml"/><Relationship Id="rId5" Type="http://schemas.openxmlformats.org/officeDocument/2006/relationships/slide" Target="slide168.xml"/><Relationship Id="rId6" Type="http://schemas.openxmlformats.org/officeDocument/2006/relationships/slide" Target="slide142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167.xml"/><Relationship Id="rId8" Type="http://schemas.openxmlformats.org/officeDocument/2006/relationships/slide" Target="slide142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142.xml"/><Relationship Id="rId8" Type="http://schemas.openxmlformats.org/officeDocument/2006/relationships/slide" Target="slide170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7.jpg"/><Relationship Id="rId4" Type="http://schemas.openxmlformats.org/officeDocument/2006/relationships/image" Target="../media/image58.jpg"/><Relationship Id="rId5" Type="http://schemas.openxmlformats.org/officeDocument/2006/relationships/slide" Target="slide142.xml"/><Relationship Id="rId6" Type="http://schemas.openxmlformats.org/officeDocument/2006/relationships/slide" Target="slide171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7.jpg"/><Relationship Id="rId4" Type="http://schemas.openxmlformats.org/officeDocument/2006/relationships/slide" Target="slide142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7.jpg"/><Relationship Id="rId4" Type="http://schemas.openxmlformats.org/officeDocument/2006/relationships/slide" Target="slide14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2.xml"/><Relationship Id="rId3" Type="http://schemas.openxmlformats.org/officeDocument/2006/relationships/image" Target="../media/image7.jpg"/><Relationship Id="rId4" Type="http://schemas.openxmlformats.org/officeDocument/2006/relationships/slide" Target="slide142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7.jpg"/><Relationship Id="rId4" Type="http://schemas.openxmlformats.org/officeDocument/2006/relationships/slide" Target="slide142.xml"/><Relationship Id="rId5" Type="http://schemas.openxmlformats.org/officeDocument/2006/relationships/slide" Target="slide175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7.jpg"/><Relationship Id="rId4" Type="http://schemas.openxmlformats.org/officeDocument/2006/relationships/image" Target="../media/image10.png"/><Relationship Id="rId5" Type="http://schemas.openxmlformats.org/officeDocument/2006/relationships/image" Target="../media/image31.png"/><Relationship Id="rId6" Type="http://schemas.openxmlformats.org/officeDocument/2006/relationships/image" Target="../media/image11.png"/><Relationship Id="rId7" Type="http://schemas.openxmlformats.org/officeDocument/2006/relationships/slide" Target="slide142.xml"/><Relationship Id="rId8" Type="http://schemas.openxmlformats.org/officeDocument/2006/relationships/slide" Target="slide176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7.jpg"/><Relationship Id="rId4" Type="http://schemas.openxmlformats.org/officeDocument/2006/relationships/image" Target="../media/image59.jpg"/><Relationship Id="rId5" Type="http://schemas.openxmlformats.org/officeDocument/2006/relationships/slide" Target="slide178.xml"/><Relationship Id="rId6" Type="http://schemas.openxmlformats.org/officeDocument/2006/relationships/slide" Target="slide177.xml"/><Relationship Id="rId7" Type="http://schemas.openxmlformats.org/officeDocument/2006/relationships/slide" Target="slide142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176.xml"/><Relationship Id="rId8" Type="http://schemas.openxmlformats.org/officeDocument/2006/relationships/slide" Target="slide142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142.xml"/><Relationship Id="rId8" Type="http://schemas.openxmlformats.org/officeDocument/2006/relationships/slide" Target="slide179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7.jpg"/><Relationship Id="rId4" Type="http://schemas.openxmlformats.org/officeDocument/2006/relationships/image" Target="../media/image59.jpg"/><Relationship Id="rId5" Type="http://schemas.openxmlformats.org/officeDocument/2006/relationships/slide" Target="slide142.xml"/><Relationship Id="rId6" Type="http://schemas.openxmlformats.org/officeDocument/2006/relationships/slide" Target="slide180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1.jpg"/><Relationship Id="rId4" Type="http://schemas.openxmlformats.org/officeDocument/2006/relationships/slide" Target="slide33.xml"/><Relationship Id="rId5" Type="http://schemas.openxmlformats.org/officeDocument/2006/relationships/slide" Target="slide86.xml"/><Relationship Id="rId6" Type="http://schemas.openxmlformats.org/officeDocument/2006/relationships/slide" Target="slide104.xml"/><Relationship Id="rId7" Type="http://schemas.openxmlformats.org/officeDocument/2006/relationships/slide" Target="slide181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0.xml"/><Relationship Id="rId3" Type="http://schemas.openxmlformats.org/officeDocument/2006/relationships/image" Target="../media/image7.jpg"/><Relationship Id="rId4" Type="http://schemas.openxmlformats.org/officeDocument/2006/relationships/slide" Target="slide180.xml"/><Relationship Id="rId5" Type="http://schemas.openxmlformats.org/officeDocument/2006/relationships/slide" Target="slide182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7.jpg"/><Relationship Id="rId4" Type="http://schemas.openxmlformats.org/officeDocument/2006/relationships/slide" Target="slide180.xml"/><Relationship Id="rId5" Type="http://schemas.openxmlformats.org/officeDocument/2006/relationships/slide" Target="slide183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7.jpg"/><Relationship Id="rId4" Type="http://schemas.openxmlformats.org/officeDocument/2006/relationships/hyperlink" Target="https://www.sfda.gov.sa" TargetMode="External"/><Relationship Id="rId5" Type="http://schemas.openxmlformats.org/officeDocument/2006/relationships/hyperlink" Target="https://www.moh.gov.sa" TargetMode="External"/><Relationship Id="rId6" Type="http://schemas.openxmlformats.org/officeDocument/2006/relationships/hyperlink" Target="https://rsrc.kaust.edu.sa" TargetMode="External"/><Relationship Id="rId7" Type="http://schemas.openxmlformats.org/officeDocument/2006/relationships/hyperlink" Target="https://www.vision2030.gov.sa/v2030/vrps/hstp/" TargetMode="External"/><Relationship Id="rId8" Type="http://schemas.openxmlformats.org/officeDocument/2006/relationships/image" Target="../media/image19.png"/><Relationship Id="rId9" Type="http://schemas.openxmlformats.org/officeDocument/2006/relationships/slide" Target="slide180.xml"/><Relationship Id="rId10" Type="http://schemas.openxmlformats.org/officeDocument/2006/relationships/slide" Target="slide184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7.jpg"/><Relationship Id="rId4" Type="http://schemas.openxmlformats.org/officeDocument/2006/relationships/slide" Target="slide180.xml"/><Relationship Id="rId5" Type="http://schemas.openxmlformats.org/officeDocument/2006/relationships/slide" Target="slide185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4.xml"/><Relationship Id="rId3" Type="http://schemas.openxmlformats.org/officeDocument/2006/relationships/image" Target="../media/image1.jpg"/><Relationship Id="rId4" Type="http://schemas.openxmlformats.org/officeDocument/2006/relationships/image" Target="../media/image9.png"/><Relationship Id="rId5" Type="http://schemas.openxmlformats.org/officeDocument/2006/relationships/image" Target="../media/image19.png"/><Relationship Id="rId6" Type="http://schemas.openxmlformats.org/officeDocument/2006/relationships/slide" Target="slide186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7.jpg"/><Relationship Id="rId4" Type="http://schemas.openxmlformats.org/officeDocument/2006/relationships/slide" Target="slide191.xml"/><Relationship Id="rId5" Type="http://schemas.openxmlformats.org/officeDocument/2006/relationships/slide" Target="slide187.xml"/><Relationship Id="rId6" Type="http://schemas.openxmlformats.org/officeDocument/2006/relationships/slide" Target="slide180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188.xml"/><Relationship Id="rId8" Type="http://schemas.openxmlformats.org/officeDocument/2006/relationships/slide" Target="slide180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7.jpg"/><Relationship Id="rId4" Type="http://schemas.openxmlformats.org/officeDocument/2006/relationships/slide" Target="slide191.xml"/><Relationship Id="rId5" Type="http://schemas.openxmlformats.org/officeDocument/2006/relationships/slide" Target="slide189.xml"/><Relationship Id="rId6" Type="http://schemas.openxmlformats.org/officeDocument/2006/relationships/slide" Target="slide180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8.xml"/><Relationship Id="rId3" Type="http://schemas.openxmlformats.org/officeDocument/2006/relationships/image" Target="../media/image7.jpg"/><Relationship Id="rId4" Type="http://schemas.openxmlformats.org/officeDocument/2006/relationships/image" Target="../media/image28.jpg"/><Relationship Id="rId5" Type="http://schemas.openxmlformats.org/officeDocument/2006/relationships/slide" Target="slide190.xml"/><Relationship Id="rId6" Type="http://schemas.openxmlformats.org/officeDocument/2006/relationships/slide" Target="slide180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7.jpg"/><Relationship Id="rId4" Type="http://schemas.openxmlformats.org/officeDocument/2006/relationships/slide" Target="slide191.xml"/><Relationship Id="rId5" Type="http://schemas.openxmlformats.org/officeDocument/2006/relationships/slide" Target="slide189.xml"/><Relationship Id="rId6" Type="http://schemas.openxmlformats.org/officeDocument/2006/relationships/slide" Target="slide180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180.xml"/><Relationship Id="rId8" Type="http://schemas.openxmlformats.org/officeDocument/2006/relationships/slide" Target="slide192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7.jpg"/><Relationship Id="rId4" Type="http://schemas.openxmlformats.org/officeDocument/2006/relationships/slide" Target="slide197.xml"/><Relationship Id="rId5" Type="http://schemas.openxmlformats.org/officeDocument/2006/relationships/slide" Target="slide193.xml"/><Relationship Id="rId6" Type="http://schemas.openxmlformats.org/officeDocument/2006/relationships/slide" Target="slide180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194.xml"/><Relationship Id="rId8" Type="http://schemas.openxmlformats.org/officeDocument/2006/relationships/slide" Target="slide180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7.jpg"/><Relationship Id="rId4" Type="http://schemas.openxmlformats.org/officeDocument/2006/relationships/slide" Target="slide197.xml"/><Relationship Id="rId5" Type="http://schemas.openxmlformats.org/officeDocument/2006/relationships/slide" Target="slide195.xml"/><Relationship Id="rId6" Type="http://schemas.openxmlformats.org/officeDocument/2006/relationships/slide" Target="slide180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7.jpg"/><Relationship Id="rId4" Type="http://schemas.openxmlformats.org/officeDocument/2006/relationships/image" Target="../media/image33.jpg"/><Relationship Id="rId5" Type="http://schemas.openxmlformats.org/officeDocument/2006/relationships/slide" Target="slide196.xml"/><Relationship Id="rId6" Type="http://schemas.openxmlformats.org/officeDocument/2006/relationships/slide" Target="slide180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7.jpg"/><Relationship Id="rId4" Type="http://schemas.openxmlformats.org/officeDocument/2006/relationships/slide" Target="slide197.xml"/><Relationship Id="rId5" Type="http://schemas.openxmlformats.org/officeDocument/2006/relationships/slide" Target="slide195.xml"/><Relationship Id="rId6" Type="http://schemas.openxmlformats.org/officeDocument/2006/relationships/slide" Target="slide180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180.xml"/><Relationship Id="rId8" Type="http://schemas.openxmlformats.org/officeDocument/2006/relationships/slide" Target="slide198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7.jpg"/><Relationship Id="rId4" Type="http://schemas.openxmlformats.org/officeDocument/2006/relationships/slide" Target="slide203.xml"/><Relationship Id="rId5" Type="http://schemas.openxmlformats.org/officeDocument/2006/relationships/slide" Target="slide199.xml"/><Relationship Id="rId6" Type="http://schemas.openxmlformats.org/officeDocument/2006/relationships/slide" Target="slide180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200.xml"/><Relationship Id="rId8" Type="http://schemas.openxmlformats.org/officeDocument/2006/relationships/slide" Target="slide180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7.jpg"/><Relationship Id="rId4" Type="http://schemas.openxmlformats.org/officeDocument/2006/relationships/slide" Target="slide203.xml"/><Relationship Id="rId5" Type="http://schemas.openxmlformats.org/officeDocument/2006/relationships/slide" Target="slide201.xml"/><Relationship Id="rId6" Type="http://schemas.openxmlformats.org/officeDocument/2006/relationships/slide" Target="slide180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7.jpg"/><Relationship Id="rId4" Type="http://schemas.openxmlformats.org/officeDocument/2006/relationships/image" Target="../media/image37.jpg"/><Relationship Id="rId5" Type="http://schemas.openxmlformats.org/officeDocument/2006/relationships/slide" Target="slide202.xml"/><Relationship Id="rId6" Type="http://schemas.openxmlformats.org/officeDocument/2006/relationships/slide" Target="slide180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7.jpg"/><Relationship Id="rId4" Type="http://schemas.openxmlformats.org/officeDocument/2006/relationships/slide" Target="slide203.xml"/><Relationship Id="rId5" Type="http://schemas.openxmlformats.org/officeDocument/2006/relationships/slide" Target="slide201.xml"/><Relationship Id="rId6" Type="http://schemas.openxmlformats.org/officeDocument/2006/relationships/slide" Target="slide180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180.xml"/><Relationship Id="rId8" Type="http://schemas.openxmlformats.org/officeDocument/2006/relationships/slide" Target="slide204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7.jpg"/><Relationship Id="rId4" Type="http://schemas.openxmlformats.org/officeDocument/2006/relationships/slide" Target="slide209.xml"/><Relationship Id="rId5" Type="http://schemas.openxmlformats.org/officeDocument/2006/relationships/slide" Target="slide205.xml"/><Relationship Id="rId6" Type="http://schemas.openxmlformats.org/officeDocument/2006/relationships/slide" Target="slide180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206.xml"/><Relationship Id="rId8" Type="http://schemas.openxmlformats.org/officeDocument/2006/relationships/slide" Target="slide180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7.jpg"/><Relationship Id="rId4" Type="http://schemas.openxmlformats.org/officeDocument/2006/relationships/slide" Target="slide209.xml"/><Relationship Id="rId5" Type="http://schemas.openxmlformats.org/officeDocument/2006/relationships/slide" Target="slide207.xml"/><Relationship Id="rId6" Type="http://schemas.openxmlformats.org/officeDocument/2006/relationships/slide" Target="slide180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6.xml"/><Relationship Id="rId3" Type="http://schemas.openxmlformats.org/officeDocument/2006/relationships/image" Target="../media/image7.jpg"/><Relationship Id="rId4" Type="http://schemas.openxmlformats.org/officeDocument/2006/relationships/image" Target="../media/image58.jpg"/><Relationship Id="rId5" Type="http://schemas.openxmlformats.org/officeDocument/2006/relationships/slide" Target="slide208.xml"/><Relationship Id="rId6" Type="http://schemas.openxmlformats.org/officeDocument/2006/relationships/slide" Target="slide180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7.jpg"/><Relationship Id="rId4" Type="http://schemas.openxmlformats.org/officeDocument/2006/relationships/slide" Target="slide209.xml"/><Relationship Id="rId5" Type="http://schemas.openxmlformats.org/officeDocument/2006/relationships/slide" Target="slide207.xml"/><Relationship Id="rId6" Type="http://schemas.openxmlformats.org/officeDocument/2006/relationships/slide" Target="slide180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8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180.xml"/><Relationship Id="rId8" Type="http://schemas.openxmlformats.org/officeDocument/2006/relationships/slide" Target="slide210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9.xml"/><Relationship Id="rId3" Type="http://schemas.openxmlformats.org/officeDocument/2006/relationships/image" Target="../media/image1.jpg"/><Relationship Id="rId4" Type="http://schemas.openxmlformats.org/officeDocument/2006/relationships/slide" Target="slide33.xml"/><Relationship Id="rId5" Type="http://schemas.openxmlformats.org/officeDocument/2006/relationships/slide" Target="slide86.xml"/><Relationship Id="rId6" Type="http://schemas.openxmlformats.org/officeDocument/2006/relationships/slide" Target="slide104.xml"/><Relationship Id="rId7" Type="http://schemas.openxmlformats.org/officeDocument/2006/relationships/slide" Target="slide211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0.xml"/><Relationship Id="rId3" Type="http://schemas.openxmlformats.org/officeDocument/2006/relationships/image" Target="../media/image7.jpg"/><Relationship Id="rId4" Type="http://schemas.openxmlformats.org/officeDocument/2006/relationships/slide" Target="slide212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1.xml"/><Relationship Id="rId3" Type="http://schemas.openxmlformats.org/officeDocument/2006/relationships/image" Target="../media/image1.jpg"/><Relationship Id="rId4" Type="http://schemas.openxmlformats.org/officeDocument/2006/relationships/audio" Target="../media/snd_fanfare.wav"/><Relationship Id="rId5" Type="http://schemas.openxmlformats.org/officeDocument/2006/relationships/image" Target="../media/image60.png"/><Relationship Id="rId6" Type="http://schemas.openxmlformats.org/officeDocument/2006/relationships/image" Target="../media/image19.png"/><Relationship Id="rId7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!!doorframe" descr="door_fr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1840" y="457200"/>
            <a:ext cx="5605272" cy="4993787"/>
          </a:xfrm>
          <a:prstGeom prst="rect">
            <a:avLst/>
          </a:prstGeom>
        </p:spPr>
      </p:pic>
      <p:sp>
        <p:nvSpPr>
          <p:cNvPr id="4" name="!!doorsign"/>
          <p:cNvSpPr txBox="1"/>
          <p:nvPr/>
        </p:nvSpPr>
        <p:spPr>
          <a:xfrm>
            <a:off x="4158109" y="528539"/>
            <a:ext cx="3872733" cy="407656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مختبر العلوم</a:t>
            </a:r>
          </a:p>
        </p:txBody>
      </p:sp>
      <p:pic>
        <p:nvPicPr>
          <p:cNvPr id="5" name="!!doorL" descr="door_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5668" y="1017727"/>
            <a:ext cx="2598807" cy="4433260"/>
          </a:xfrm>
          <a:prstGeom prst="rect">
            <a:avLst/>
          </a:prstGeom>
        </p:spPr>
      </p:pic>
      <p:pic>
        <p:nvPicPr>
          <p:cNvPr id="6" name="!!doorR" descr="door_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4476" y="1017727"/>
            <a:ext cx="2598807" cy="4433260"/>
          </a:xfrm>
          <a:prstGeom prst="rect">
            <a:avLst/>
          </a:prstGeom>
        </p:spPr>
      </p:pic>
      <p:sp>
        <p:nvSpPr>
          <p:cNvPr id="7" name="!!coverpanel"/>
          <p:cNvSpPr/>
          <p:nvPr/>
        </p:nvSpPr>
        <p:spPr>
          <a:xfrm>
            <a:off x="1828800" y="4709160"/>
            <a:ext cx="8531352" cy="1508760"/>
          </a:xfrm>
          <a:prstGeom prst="roundRect">
            <a:avLst>
              <a:gd name="adj" fmla="val 24242"/>
            </a:avLst>
          </a:prstGeom>
          <a:solidFill>
            <a:srgbClr val="FFFFFF">
              <a:alpha val="96000"/>
            </a:srgbClr>
          </a:solidFill>
          <a:ln w="3810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covertitle"/>
          <p:cNvSpPr txBox="1"/>
          <p:nvPr/>
        </p:nvSpPr>
        <p:spPr>
          <a:xfrm>
            <a:off x="1920240" y="4709160"/>
            <a:ext cx="8348472" cy="7772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4000" b="1" i="0" lang="ar-SA">
                <a:solidFill>
                  <a:srgbClr val="23325C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4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 مختبر شامه الافتراضي</a:t>
            </a:r>
          </a:p>
        </p:txBody>
      </p:sp>
      <p:sp>
        <p:nvSpPr>
          <p:cNvPr id="9" name="!!coversub"/>
          <p:cNvSpPr txBox="1"/>
          <p:nvPr/>
        </p:nvSpPr>
        <p:spPr>
          <a:xfrm>
            <a:off x="1920240" y="5394960"/>
            <a:ext cx="8348472" cy="4572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22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رحلة علمية لاكتشاف تكاثر المخلوقات الحية الدقيقة</a:t>
            </a:r>
          </a:p>
        </p:txBody>
      </p:sp>
      <p:sp>
        <p:nvSpPr>
          <p:cNvPr id="10" name="!!covermeta"/>
          <p:cNvSpPr txBox="1"/>
          <p:nvPr/>
        </p:nvSpPr>
        <p:spPr>
          <a:xfrm>
            <a:off x="1920240" y="5788152"/>
            <a:ext cx="8348472" cy="3840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7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العلوم · الصف السادس الابتدائي · المعلمة: أ/ شامه البقمي</a:t>
            </a:r>
          </a:p>
        </p:txBody>
      </p:sp>
      <p:sp>
        <p:nvSpPr>
          <p:cNvPr id="11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التهيئة والترحيب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مختبر شامه الافتراضي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مرحبًا بعالماتي الصغيرات</a:t>
            </a:r>
          </a:p>
        </p:txBody>
      </p:sp>
      <p:pic>
        <p:nvPicPr>
          <p:cNvPr id="4" name="!!doorframe" descr="door_fr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0" y="1188720"/>
            <a:ext cx="4873752" cy="4342069"/>
          </a:xfrm>
          <a:prstGeom prst="rect">
            <a:avLst/>
          </a:prstGeom>
        </p:spPr>
      </p:pic>
      <p:sp>
        <p:nvSpPr>
          <p:cNvPr id="5" name="!!doorsign"/>
          <p:cNvSpPr txBox="1"/>
          <p:nvPr/>
        </p:nvSpPr>
        <p:spPr>
          <a:xfrm>
            <a:off x="4410816" y="1250749"/>
            <a:ext cx="3367319" cy="354454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مختبر العلوم</a:t>
            </a:r>
          </a:p>
        </p:txBody>
      </p:sp>
      <p:pic>
        <p:nvPicPr>
          <p:cNvPr id="6" name="!!doorL" descr="door_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34827" y="1676095"/>
            <a:ext cx="2259648" cy="3854694"/>
          </a:xfrm>
          <a:prstGeom prst="rect">
            <a:avLst/>
          </a:prstGeom>
        </p:spPr>
      </p:pic>
      <p:pic>
        <p:nvPicPr>
          <p:cNvPr id="7" name="!!doorR" descr="door_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4476" y="1676095"/>
            <a:ext cx="2259648" cy="3854694"/>
          </a:xfrm>
          <a:prstGeom prst="rect">
            <a:avLst/>
          </a:prstGeom>
        </p:spPr>
      </p:pic>
      <p:pic>
        <p:nvPicPr>
          <p:cNvPr id="8" name="!!guide" descr="guide_wav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2743200"/>
            <a:ext cx="2232474" cy="3520440"/>
          </a:xfrm>
          <a:prstGeom prst="rect">
            <a:avLst/>
          </a:prstGeom>
        </p:spPr>
      </p:pic>
      <p:sp>
        <p:nvSpPr>
          <p:cNvPr id="9" name="bubble"/>
          <p:cNvSpPr/>
          <p:nvPr/>
        </p:nvSpPr>
        <p:spPr>
          <a:xfrm>
            <a:off x="228600" y="1051560"/>
            <a:ext cx="3017520" cy="1600200"/>
          </a:xfrm>
          <a:prstGeom prst="wedgeRoundRectCallout">
            <a:avLst>
              <a:gd name="adj1" fmla="val -10000"/>
              <a:gd name="adj2" fmla="val 85000"/>
              <a:gd name="adj3" fmla="val 16667"/>
            </a:avLst>
          </a:prstGeom>
          <a:solidFill>
            <a:srgbClr val="FFFFFF"/>
          </a:solidFill>
          <a:ln w="3175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r" rtl="1"/>
            <a:r>
              <a:rPr sz="16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أهلًا بكنّ يا عالماتي! </a:t>
            </a:r>
          </a:p>
          <a:p>
            <a:pPr algn="r" rtl="1"/>
            <a:r>
              <a:rPr sz="16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أنا «العالمة نور»، مرشدتكن في رحلة اليوم داخل مختبر شامه الافتراضي.</a:t>
            </a:r>
          </a:p>
        </p:txBody>
      </p:sp>
      <p:pic>
        <p:nvPicPr>
          <p:cNvPr id="10" name="Picture 9" descr="microscop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26880" y="2194560"/>
            <a:ext cx="2658794" cy="3291840"/>
          </a:xfrm>
          <a:prstGeom prst="rect">
            <a:avLst/>
          </a:prstGeom>
        </p:spPr>
      </p:pic>
      <p:sp>
        <p:nvSpPr>
          <p:cNvPr id="15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التهيئة والترحيب</a:t>
            </a:r>
          </a:p>
        </p:txBody>
      </p:sp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مختبر شامه الافتراضي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قوانين مختبرنا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11112" y="1371600"/>
            <a:ext cx="5029200" cy="1188720"/>
          </a:xfrm>
          <a:prstGeom prst="roundRect">
            <a:avLst>
              <a:gd name="adj" fmla="val 23076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r" rtl="1"/>
            <a:r>
              <a:rPr sz="2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١. أرفع يدي قبل الإجابة</a:t>
            </a:r>
          </a:p>
        </p:txBody>
      </p:sp>
      <p:pic>
        <p:nvPicPr>
          <p:cNvPr id="5" name="Picture 4" descr="ic_bul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5432" y="1600200"/>
            <a:ext cx="731520" cy="7315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353312" y="1371600"/>
            <a:ext cx="5029200" cy="1188720"/>
          </a:xfrm>
          <a:prstGeom prst="roundRect">
            <a:avLst>
              <a:gd name="adj" fmla="val 23076"/>
            </a:avLst>
          </a:prstGeom>
          <a:solidFill>
            <a:srgbClr val="E2F7E9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r" rtl="1"/>
            <a:r>
              <a:rPr sz="2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٢. أتعاون مع فريقي</a:t>
            </a:r>
          </a:p>
        </p:txBody>
      </p:sp>
      <p:pic>
        <p:nvPicPr>
          <p:cNvPr id="7" name="Picture 6" descr="ic_st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1600200"/>
            <a:ext cx="731520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611112" y="2788920"/>
            <a:ext cx="5029200" cy="1188720"/>
          </a:xfrm>
          <a:prstGeom prst="roundRect">
            <a:avLst>
              <a:gd name="adj" fmla="val 23076"/>
            </a:avLst>
          </a:prstGeom>
          <a:solidFill>
            <a:srgbClr val="DCEB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r" rtl="1"/>
            <a:r>
              <a:rPr sz="2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٣. أفكر قبل أن أختار</a:t>
            </a:r>
          </a:p>
        </p:txBody>
      </p:sp>
      <p:pic>
        <p:nvPicPr>
          <p:cNvPr id="9" name="Picture 8" descr="ic_sear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5432" y="3017520"/>
            <a:ext cx="731520" cy="7315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353312" y="2788920"/>
            <a:ext cx="5029200" cy="1188720"/>
          </a:xfrm>
          <a:prstGeom prst="roundRect">
            <a:avLst>
              <a:gd name="adj" fmla="val 23076"/>
            </a:avLst>
          </a:prstGeom>
          <a:solidFill>
            <a:srgbClr val="FFE3E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r" rtl="1"/>
            <a:r>
              <a:rPr sz="2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٤. الخطأ فرصة لأتعلم</a:t>
            </a:r>
          </a:p>
        </p:txBody>
      </p:sp>
      <p:pic>
        <p:nvPicPr>
          <p:cNvPr id="11" name="Picture 10" descr="ic_che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3017520"/>
            <a:ext cx="731520" cy="73152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377440" y="4434840"/>
            <a:ext cx="9262872" cy="914400"/>
          </a:xfrm>
          <a:prstGeom prst="roundRect">
            <a:avLst>
              <a:gd name="adj" fmla="val 30000"/>
            </a:avLst>
          </a:prstGeom>
          <a:solidFill>
            <a:srgbClr val="FFE9D2"/>
          </a:solidFill>
          <a:ln w="31750">
            <a:solidFill>
              <a:srgbClr val="F28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B35A00"/>
                </a:solidFill>
                <a:latin typeface="Arial"/>
                <a:ea typeface="Arial"/>
                <a:cs typeface="Arial"/>
              </a:rPr>
              <a:t>بطاقة السلامة: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في المختبر الحقيقي لا نلمس العينات، ولا نفتح الأكياس المغلقة.</a:t>
            </a:r>
          </a:p>
        </p:txBody>
      </p:sp>
      <p:pic>
        <p:nvPicPr>
          <p:cNvPr id="13" name="!!guide" descr="guide_poin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4320" y="3977639"/>
            <a:ext cx="1449659" cy="2286000"/>
          </a:xfrm>
          <a:prstGeom prst="rect">
            <a:avLst/>
          </a:prstGeom>
        </p:spPr>
      </p:pic>
      <p:sp>
        <p:nvSpPr>
          <p:cNvPr id="56" name="!!strategy"/>
          <p:cNvSpPr/>
          <p:nvPr/>
        </p:nvSpPr>
        <p:spPr>
          <a:xfrm>
            <a:off x="7205472" y="36576"/>
            <a:ext cx="4663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إدارة الصف: قوانين المختبر</a:t>
            </a:r>
          </a:p>
        </p:txBody>
      </p:sp>
      <p:sp>
        <p:nvSpPr>
          <p:cNvPr id="5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5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مختبر شامه الافتراضي</a:t>
            </a:r>
          </a:p>
        </p:txBody>
      </p:sp>
      <p:sp>
        <p:nvSpPr>
          <p:cNvPr id="59" name="nav_agenda">
            <a:hlinkClick action="ppaction://hlinksldjump" r:id="rId9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8" grpId="0" animBg="1"/>
      <p:bldP spid="10" grpId="0" animBg="1"/>
      <p:bldP spid="12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خطوات رحلتنا العلمية</a:t>
            </a:r>
          </a:p>
        </p:txBody>
      </p:sp>
      <p:sp>
        <p:nvSpPr>
          <p:cNvPr id="4" name="Oval 3"/>
          <p:cNvSpPr/>
          <p:nvPr/>
        </p:nvSpPr>
        <p:spPr>
          <a:xfrm>
            <a:off x="10835640" y="128016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١</a:t>
            </a:r>
          </a:p>
        </p:txBody>
      </p:sp>
      <p:sp>
        <p:nvSpPr>
          <p:cNvPr id="5" name="Rounded Rectangle 4">
            <a:hlinkClick action="ppaction://hlinksldjump" r:id="rId5"/>
          </p:cNvPr>
          <p:cNvSpPr/>
          <p:nvPr/>
        </p:nvSpPr>
        <p:spPr>
          <a:xfrm>
            <a:off x="3291840" y="1280160"/>
            <a:ext cx="7360920" cy="822960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3175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كلمة السر  </a:t>
            </a:r>
            <a:r>
              <a:rPr sz="17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نفتح باب المختبر بثلاثة تحديات</a:t>
            </a:r>
          </a:p>
        </p:txBody>
      </p:sp>
      <p:sp>
        <p:nvSpPr>
          <p:cNvPr id="6" name="Oval 5"/>
          <p:cNvSpPr/>
          <p:nvPr/>
        </p:nvSpPr>
        <p:spPr>
          <a:xfrm>
            <a:off x="10835640" y="2258568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٢</a:t>
            </a:r>
          </a:p>
        </p:txBody>
      </p:sp>
      <p:sp>
        <p:nvSpPr>
          <p:cNvPr id="7" name="Rounded Rectangle 6">
            <a:hlinkClick action="ppaction://hlinksldjump" r:id="rId6"/>
          </p:cNvPr>
          <p:cNvSpPr/>
          <p:nvPr/>
        </p:nvSpPr>
        <p:spPr>
          <a:xfrm>
            <a:off x="3291840" y="2258568"/>
            <a:ext cx="7360920" cy="822960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3175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بطاقات المراجعة  </a:t>
            </a:r>
            <a:r>
              <a:rPr sz="17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درسنا السابق ص٩٤–٩٥</a:t>
            </a:r>
          </a:p>
        </p:txBody>
      </p:sp>
      <p:sp>
        <p:nvSpPr>
          <p:cNvPr id="8" name="Oval 7"/>
          <p:cNvSpPr/>
          <p:nvPr/>
        </p:nvSpPr>
        <p:spPr>
          <a:xfrm>
            <a:off x="10835640" y="3236976"/>
            <a:ext cx="822960" cy="822960"/>
          </a:xfrm>
          <a:prstGeom prst="ellipse">
            <a:avLst/>
          </a:prstGeom>
          <a:solidFill>
            <a:srgbClr val="2FAE6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٣</a:t>
            </a:r>
          </a:p>
        </p:txBody>
      </p:sp>
      <p:sp>
        <p:nvSpPr>
          <p:cNvPr id="9" name="Rounded Rectangle 8">
            <a:hlinkClick action="ppaction://hlinksldjump" r:id="rId7"/>
          </p:cNvPr>
          <p:cNvSpPr/>
          <p:nvPr/>
        </p:nvSpPr>
        <p:spPr>
          <a:xfrm>
            <a:off x="3291840" y="3236976"/>
            <a:ext cx="7360920" cy="822960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31750">
            <a:solidFill>
              <a:srgbClr val="2FAE6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درسنا الجديد  </a:t>
            </a:r>
            <a:r>
              <a:rPr sz="17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كيف تتكاثر المخلوقات الحية الدقيقة؟ ص٩٦–٩٨</a:t>
            </a:r>
          </a:p>
        </p:txBody>
      </p:sp>
      <p:sp>
        <p:nvSpPr>
          <p:cNvPr id="10" name="Oval 9"/>
          <p:cNvSpPr/>
          <p:nvPr/>
        </p:nvSpPr>
        <p:spPr>
          <a:xfrm>
            <a:off x="10835640" y="4215383"/>
            <a:ext cx="822960" cy="822960"/>
          </a:xfrm>
          <a:prstGeom prst="ellipse">
            <a:avLst/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٤</a:t>
            </a:r>
          </a:p>
        </p:txBody>
      </p:sp>
      <p:sp>
        <p:nvSpPr>
          <p:cNvPr id="11" name="Rounded Rectangle 10">
            <a:hlinkClick action="ppaction://hlinksldjump" r:id="rId8"/>
          </p:cNvPr>
          <p:cNvSpPr/>
          <p:nvPr/>
        </p:nvSpPr>
        <p:spPr>
          <a:xfrm>
            <a:off x="3291840" y="4215383"/>
            <a:ext cx="7360920" cy="822960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نربط ما تعلمناه  </a:t>
            </a:r>
            <a:r>
              <a:rPr sz="17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بالدين · بالحياة · بالوطن</a:t>
            </a:r>
          </a:p>
        </p:txBody>
      </p:sp>
      <p:sp>
        <p:nvSpPr>
          <p:cNvPr id="12" name="Oval 11"/>
          <p:cNvSpPr/>
          <p:nvPr/>
        </p:nvSpPr>
        <p:spPr>
          <a:xfrm>
            <a:off x="10835640" y="5193792"/>
            <a:ext cx="822960" cy="822960"/>
          </a:xfrm>
          <a:prstGeom prst="ellipse">
            <a:avLst/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٥</a:t>
            </a:r>
          </a:p>
        </p:txBody>
      </p:sp>
      <p:sp>
        <p:nvSpPr>
          <p:cNvPr id="13" name="Rounded Rectangle 12">
            <a:hlinkClick action="ppaction://hlinksldjump" r:id="rId9"/>
          </p:cNvPr>
          <p:cNvSpPr/>
          <p:nvPr/>
        </p:nvSpPr>
        <p:spPr>
          <a:xfrm>
            <a:off x="3291840" y="5193792"/>
            <a:ext cx="7360920" cy="822960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3175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 </a:t>
            </a:r>
            <a:r>
              <a:rPr sz="17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التقويم الختامي والشهادة</a:t>
            </a:r>
          </a:p>
        </p:txBody>
      </p:sp>
      <p:pic>
        <p:nvPicPr>
          <p:cNvPr id="14" name="!!guide" descr="guide_poi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828800"/>
            <a:ext cx="2667372" cy="4206240"/>
          </a:xfrm>
          <a:prstGeom prst="rect">
            <a:avLst/>
          </a:prstGeom>
        </p:spPr>
      </p:pic>
      <p:sp>
        <p:nvSpPr>
          <p:cNvPr id="63" name="!!strategy"/>
          <p:cNvSpPr/>
          <p:nvPr/>
        </p:nvSpPr>
        <p:spPr>
          <a:xfrm>
            <a:off x="8919972" y="36576"/>
            <a:ext cx="29489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خطوات الدرس</a:t>
            </a:r>
          </a:p>
        </p:txBody>
      </p:sp>
      <p:sp>
        <p:nvSpPr>
          <p:cNvPr id="6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6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مختبر شامه الافتراضي</a:t>
            </a:r>
          </a:p>
        </p:txBody>
      </p:sp>
      <p:sp>
        <p:nvSpPr>
          <p:cNvPr id="66" name="nav_code">
            <a:hlinkClick action="ppaction://hlinksldjump" r:id="rId5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Segoe UI Emoji"/>
                <a:ea typeface="Segoe UI Emoji"/>
                <a:cs typeface="Segoe UI Emoji"/>
              </a:rPr>
              <a:t>🔐</a:t>
            </a:r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 ساعدونا لندخل المختبر!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pic>
        <p:nvPicPr>
          <p:cNvPr id="5" name="!!doorframe" descr="door_fr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0" y="1188720"/>
            <a:ext cx="4873752" cy="4342069"/>
          </a:xfrm>
          <a:prstGeom prst="rect">
            <a:avLst/>
          </a:prstGeom>
        </p:spPr>
      </p:pic>
      <p:sp>
        <p:nvSpPr>
          <p:cNvPr id="6" name="!!doorsign"/>
          <p:cNvSpPr txBox="1"/>
          <p:nvPr/>
        </p:nvSpPr>
        <p:spPr>
          <a:xfrm>
            <a:off x="4410816" y="1250749"/>
            <a:ext cx="3367319" cy="354454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مختبر العلوم</a:t>
            </a:r>
          </a:p>
        </p:txBody>
      </p:sp>
      <p:pic>
        <p:nvPicPr>
          <p:cNvPr id="7" name="!!doorL" descr="door_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34827" y="1676095"/>
            <a:ext cx="2259648" cy="3854694"/>
          </a:xfrm>
          <a:prstGeom prst="rect">
            <a:avLst/>
          </a:prstGeom>
        </p:spPr>
      </p:pic>
      <p:pic>
        <p:nvPicPr>
          <p:cNvPr id="8" name="!!doorR" descr="door_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4476" y="1676095"/>
            <a:ext cx="2259648" cy="3854694"/>
          </a:xfrm>
          <a:prstGeom prst="rect">
            <a:avLst/>
          </a:prstGeom>
        </p:spPr>
      </p:pic>
      <p:pic>
        <p:nvPicPr>
          <p:cNvPr id="9" name="!!guide" descr="guide_poin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320" y="2377440"/>
            <a:ext cx="2435426" cy="3840480"/>
          </a:xfrm>
          <a:prstGeom prst="rect">
            <a:avLst/>
          </a:prstGeom>
        </p:spPr>
      </p:pic>
      <p:sp>
        <p:nvSpPr>
          <p:cNvPr id="10" name="bubble"/>
          <p:cNvSpPr/>
          <p:nvPr/>
        </p:nvSpPr>
        <p:spPr>
          <a:xfrm>
            <a:off x="3611880" y="1143000"/>
            <a:ext cx="4983480" cy="2697480"/>
          </a:xfrm>
          <a:prstGeom prst="wedgeRoundRectCallout">
            <a:avLst>
              <a:gd name="adj1" fmla="val -62000"/>
              <a:gd name="adj2" fmla="val 78000"/>
              <a:gd name="adj3" fmla="val 16667"/>
            </a:avLst>
          </a:prstGeom>
          <a:solidFill>
            <a:srgbClr val="FFFFFF"/>
          </a:solidFill>
          <a:ln w="3175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r" rtl="1"/>
            <a:r>
              <a:rPr sz="19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عالماتي المبدعات!</a:t>
            </a:r>
          </a:p>
          <a:p>
            <a:pPr algn="r" rtl="1"/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أبواب مختبرنا مغلقة، ولن نستطيع الدخول إلا بعد حل ثلاثة تحديات علمية.</a:t>
            </a:r>
          </a:p>
          <a:p>
            <a:pPr algn="r" rtl="1"/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كل إجابة صحيحة تكشف رقمًا من الرمز السري.</a:t>
            </a:r>
          </a:p>
          <a:p>
            <a:pPr algn="r" rtl="1"/>
            <a:r>
              <a:rPr sz="19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هل أنتن مستعدات؟</a:t>
            </a:r>
          </a:p>
        </p:txBody>
      </p:sp>
      <p:sp>
        <p:nvSpPr>
          <p:cNvPr id="11" name="!!lockpanel"/>
          <p:cNvSpPr/>
          <p:nvPr/>
        </p:nvSpPr>
        <p:spPr>
          <a:xfrm>
            <a:off x="7955279" y="4846320"/>
            <a:ext cx="3840480" cy="1234440"/>
          </a:xfrm>
          <a:prstGeom prst="roundRect">
            <a:avLst>
              <a:gd name="adj" fmla="val 22222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!!lockpanelic" descr="ic_lo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09959" y="5148072"/>
            <a:ext cx="621792" cy="621792"/>
          </a:xfrm>
          <a:prstGeom prst="rect">
            <a:avLst/>
          </a:prstGeom>
        </p:spPr>
      </p:pic>
      <p:sp>
        <p:nvSpPr>
          <p:cNvPr id="13" name="!!lockpaneld0"/>
          <p:cNvSpPr/>
          <p:nvPr/>
        </p:nvSpPr>
        <p:spPr>
          <a:xfrm>
            <a:off x="10195559" y="5029200"/>
            <a:ext cx="749808" cy="868680"/>
          </a:xfrm>
          <a:prstGeom prst="roundRect">
            <a:avLst>
              <a:gd name="adj" fmla="val 14634"/>
            </a:avLst>
          </a:prstGeom>
          <a:solidFill>
            <a:srgbClr val="3D4A7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400" b="1" i="0" lang="ar-SA">
                <a:solidFill>
                  <a:srgbClr val="C9D2E8"/>
                </a:solidFill>
                <a:latin typeface="Arial"/>
                <a:ea typeface="Arial"/>
                <a:cs typeface="Arial"/>
              </a:rPr>
              <a:t>؟</a:t>
            </a:r>
          </a:p>
        </p:txBody>
      </p:sp>
      <p:sp>
        <p:nvSpPr>
          <p:cNvPr id="14" name="!!lockpaneld1"/>
          <p:cNvSpPr/>
          <p:nvPr/>
        </p:nvSpPr>
        <p:spPr>
          <a:xfrm>
            <a:off x="9326880" y="5029200"/>
            <a:ext cx="749808" cy="868680"/>
          </a:xfrm>
          <a:prstGeom prst="roundRect">
            <a:avLst>
              <a:gd name="adj" fmla="val 14634"/>
            </a:avLst>
          </a:prstGeom>
          <a:solidFill>
            <a:srgbClr val="3D4A7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400" b="1" i="0" lang="ar-SA">
                <a:solidFill>
                  <a:srgbClr val="C9D2E8"/>
                </a:solidFill>
                <a:latin typeface="Arial"/>
                <a:ea typeface="Arial"/>
                <a:cs typeface="Arial"/>
              </a:rPr>
              <a:t>؟</a:t>
            </a:r>
          </a:p>
        </p:txBody>
      </p:sp>
      <p:sp>
        <p:nvSpPr>
          <p:cNvPr id="15" name="!!lockpaneld2"/>
          <p:cNvSpPr/>
          <p:nvPr/>
        </p:nvSpPr>
        <p:spPr>
          <a:xfrm>
            <a:off x="8458200" y="5029200"/>
            <a:ext cx="749808" cy="868680"/>
          </a:xfrm>
          <a:prstGeom prst="roundRect">
            <a:avLst>
              <a:gd name="adj" fmla="val 14634"/>
            </a:avLst>
          </a:prstGeom>
          <a:solidFill>
            <a:srgbClr val="3D4A7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400" b="1" i="0" lang="ar-SA">
                <a:solidFill>
                  <a:srgbClr val="C9D2E8"/>
                </a:solidFill>
                <a:latin typeface="Arial"/>
                <a:ea typeface="Arial"/>
                <a:cs typeface="Arial"/>
              </a:rPr>
              <a:t>؟</a:t>
            </a:r>
          </a:p>
        </p:txBody>
      </p:sp>
      <p:sp>
        <p:nvSpPr>
          <p:cNvPr id="16" name="Rounded Rectangle 15">
            <a:hlinkClick action="ppaction://hlinksldjump" r:id="rId9"/>
          </p:cNvPr>
          <p:cNvSpPr/>
          <p:nvPr/>
        </p:nvSpPr>
        <p:spPr>
          <a:xfrm>
            <a:off x="9006840" y="3931920"/>
            <a:ext cx="2651760" cy="685800"/>
          </a:xfrm>
          <a:prstGeom prst="roundRect">
            <a:avLst>
              <a:gd name="adj" fmla="val 4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نعم، مستعدات!</a:t>
            </a:r>
          </a:p>
        </p:txBody>
      </p:sp>
      <p:sp>
        <p:nvSpPr>
          <p:cNvPr id="17" name="!!strategy"/>
          <p:cNvSpPr/>
          <p:nvPr/>
        </p:nvSpPr>
        <p:spPr>
          <a:xfrm>
            <a:off x="8005572" y="36576"/>
            <a:ext cx="38633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الرمز السري للمختبر</a:t>
            </a:r>
          </a:p>
        </p:txBody>
      </p:sp>
      <p:sp>
        <p:nvSpPr>
          <p:cNvPr id="18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9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الأول · أتذكر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أيٌّ مما يلي من الفطريات المجهرية؟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البراميسيوم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الخميرة</a:t>
            </a:r>
          </a:p>
        </p:txBody>
      </p:sp>
      <p:sp>
        <p:nvSpPr>
          <p:cNvPr id="9" name="!!opt2">
            <a:hlinkClick action="ppaction://hlinksldjump" r:id="rId4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اليوجلينا</a:t>
            </a:r>
          </a:p>
        </p:txBody>
      </p:sp>
      <p:sp>
        <p:nvSpPr>
          <p:cNvPr id="10" name="!!strategy"/>
          <p:cNvSpPr/>
          <p:nvPr/>
        </p:nvSpPr>
        <p:spPr>
          <a:xfrm>
            <a:off x="8005572" y="36576"/>
            <a:ext cx="38633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الرمز السري للمختبر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الأول · أتذكر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تذكّري الفطر المجهري الذي نستخدمه في صنع الخبز.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  <p:sp>
        <p:nvSpPr>
          <p:cNvPr id="14" name="nav_ch1_try2">
            <a:hlinkClick action="ppaction://hlinksldjump" r:id="rId7"/>
          </p:cNvPr>
          <p:cNvSpPr/>
          <p:nvPr/>
        </p:nvSpPr>
        <p:spPr>
          <a:xfrm>
            <a:off x="6563563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الأول · أتذكر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أيٌّ مما يلي من الفطريات المجهرية؟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البراميسيوم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الخميرة</a:t>
            </a:r>
          </a:p>
        </p:txBody>
      </p:sp>
      <p:sp>
        <p:nvSpPr>
          <p:cNvPr id="9" name="!!opt2">
            <a:hlinkClick action="ppaction://hlinksldjump" r:id="rId4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اليوجلينا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1" name="!!strategy"/>
          <p:cNvSpPr/>
          <p:nvPr/>
        </p:nvSpPr>
        <p:spPr>
          <a:xfrm>
            <a:off x="8005572" y="36576"/>
            <a:ext cx="38633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الرمز السري للمختبر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736217"/>
            <a:ext cx="5266944" cy="3842765"/>
          </a:xfrm>
          <a:prstGeom prst="roundRect">
            <a:avLst>
              <a:gd name="adj" fmla="val 2379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4_fungi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809369"/>
            <a:ext cx="5120640" cy="369646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886200" y="5460111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لنقرأ معًا من صفحة ٩٤:</a:t>
            </a:r>
          </a:p>
          <a:p>
            <a:pPr algn="r" rtl="1">
              <a:spcAft>
                <a:spcPts val="800"/>
              </a:spcAft>
            </a:pPr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«تشمل الفطريات المجهرية العفن والخميرة»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أما البراميسيوم واليوجلينا والدياتومات فهي من الطلائعيات.</a:t>
            </a:r>
          </a:p>
        </p:txBody>
      </p:sp>
      <p:sp>
        <p:nvSpPr>
          <p:cNvPr id="10" name="Rounded Rectangle 9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1" name="!!strategy"/>
          <p:cNvSpPr/>
          <p:nvPr/>
        </p:nvSpPr>
        <p:spPr>
          <a:xfrm>
            <a:off x="7891272" y="36576"/>
            <a:ext cx="39776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المعالجة: نشاط علاجي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الأول · أتذكر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أيٌّ من هذه الأمثلة من الفطريات المجهرية أيضًا؟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العفن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البراميسيوم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الطحالب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1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إعادة التحقق: سؤال مشابه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الأول · أتذكر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أيٌّ مما يلي من الفطريات المجهرية؟</a:t>
            </a:r>
          </a:p>
        </p:txBody>
      </p:sp>
      <p:sp>
        <p:nvSpPr>
          <p:cNvPr id="7" name="!!opt1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الخميرة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965192" y="3520440"/>
            <a:ext cx="6675120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148072" y="3566160"/>
            <a:ext cx="6309359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الخميرة من الفطريات المجهرية؛ فالكتاب يقول: «تشمل الفطريات المجهرية العفن والخميرة». لقد كشفتِ الرقم الأول من الرمز: 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0718" y="3447288"/>
            <a:ext cx="3756402" cy="2752344"/>
          </a:xfrm>
          <a:prstGeom prst="roundRect">
            <a:avLst>
              <a:gd name="adj" fmla="val 3322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94_fungi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3870" y="3520440"/>
            <a:ext cx="3610098" cy="26060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2856609" y="608076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ص٩٤</a:t>
            </a:r>
          </a:p>
        </p:txBody>
      </p:sp>
      <p:pic>
        <p:nvPicPr>
          <p:cNvPr id="14" name="Picture 13" descr="ic_st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3400" y="3611880"/>
            <a:ext cx="548640" cy="548640"/>
          </a:xfrm>
          <a:prstGeom prst="rect">
            <a:avLst/>
          </a:prstGeom>
        </p:spPr>
      </p:pic>
      <p:sp>
        <p:nvSpPr>
          <p:cNvPr id="15" name="lk"/>
          <p:cNvSpPr/>
          <p:nvPr/>
        </p:nvSpPr>
        <p:spPr>
          <a:xfrm>
            <a:off x="2103120" y="182880"/>
            <a:ext cx="2765145" cy="888796"/>
          </a:xfrm>
          <a:prstGeom prst="roundRect">
            <a:avLst>
              <a:gd name="adj" fmla="val 22222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lkic" descr="ic_lo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74489" y="400141"/>
            <a:ext cx="447690" cy="447690"/>
          </a:xfrm>
          <a:prstGeom prst="rect">
            <a:avLst/>
          </a:prstGeom>
        </p:spPr>
      </p:pic>
      <p:sp>
        <p:nvSpPr>
          <p:cNvPr id="17" name="lkd0"/>
          <p:cNvSpPr/>
          <p:nvPr/>
        </p:nvSpPr>
        <p:spPr>
          <a:xfrm>
            <a:off x="3716121" y="314553"/>
            <a:ext cx="539861" cy="625449"/>
          </a:xfrm>
          <a:prstGeom prst="roundRect">
            <a:avLst>
              <a:gd name="adj" fmla="val 20325"/>
            </a:avLst>
          </a:prstGeom>
          <a:solidFill>
            <a:srgbClr val="FFD34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٣</a:t>
            </a:r>
          </a:p>
        </p:txBody>
      </p:sp>
      <p:sp>
        <p:nvSpPr>
          <p:cNvPr id="18" name="lkd1"/>
          <p:cNvSpPr/>
          <p:nvPr/>
        </p:nvSpPr>
        <p:spPr>
          <a:xfrm>
            <a:off x="3090672" y="314553"/>
            <a:ext cx="539861" cy="625449"/>
          </a:xfrm>
          <a:prstGeom prst="roundRect">
            <a:avLst>
              <a:gd name="adj" fmla="val 20325"/>
            </a:avLst>
          </a:prstGeom>
          <a:solidFill>
            <a:srgbClr val="3D4A7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C9D2E8"/>
                </a:solidFill>
                <a:latin typeface="Arial"/>
                <a:ea typeface="Arial"/>
                <a:cs typeface="Arial"/>
              </a:rPr>
              <a:t>؟</a:t>
            </a:r>
          </a:p>
        </p:txBody>
      </p:sp>
      <p:sp>
        <p:nvSpPr>
          <p:cNvPr id="19" name="lkd2"/>
          <p:cNvSpPr/>
          <p:nvPr/>
        </p:nvSpPr>
        <p:spPr>
          <a:xfrm>
            <a:off x="2465222" y="314553"/>
            <a:ext cx="539861" cy="625449"/>
          </a:xfrm>
          <a:prstGeom prst="roundRect">
            <a:avLst>
              <a:gd name="adj" fmla="val 20325"/>
            </a:avLst>
          </a:prstGeom>
          <a:solidFill>
            <a:srgbClr val="3D4A7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C9D2E8"/>
                </a:solidFill>
                <a:latin typeface="Arial"/>
                <a:ea typeface="Arial"/>
                <a:cs typeface="Arial"/>
              </a:rPr>
              <a:t>؟</a:t>
            </a:r>
          </a:p>
        </p:txBody>
      </p:sp>
      <p:sp>
        <p:nvSpPr>
          <p:cNvPr id="21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2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  <p:sp>
        <p:nvSpPr>
          <p:cNvPr id="24" name="nav_ch2">
            <a:hlinkClick action="ppaction://hlinksldjump" r:id="rId9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الثاني · أفهم وأستنتج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نما عفن على قطعة خبز رطبة. من أين حصل العفن على غذائه؟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صنع غذاءه بنفسه من ضوء الشمس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امتص الغذاء من الخبز الذي يعيش عليه</a:t>
            </a:r>
          </a:p>
        </p:txBody>
      </p:sp>
      <p:sp>
        <p:nvSpPr>
          <p:cNvPr id="9" name="!!opt2">
            <a:hlinkClick action="ppaction://hlinksldjump" r:id="rId4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افترس مخلوقات أصغر منه</a:t>
            </a:r>
          </a:p>
        </p:txBody>
      </p:sp>
      <p:sp>
        <p:nvSpPr>
          <p:cNvPr id="10" name="!!strategy"/>
          <p:cNvSpPr/>
          <p:nvPr/>
        </p:nvSpPr>
        <p:spPr>
          <a:xfrm>
            <a:off x="8005572" y="36576"/>
            <a:ext cx="38633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الرمز السري للمختبر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الثاني · أفهم وأستنتج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هل تستطيع الفطريات أن تصنع غذاءها بنفسها مثل النباتات؟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  <p:sp>
        <p:nvSpPr>
          <p:cNvPr id="14" name="nav_ch2_try2">
            <a:hlinkClick action="ppaction://hlinksldjump" r:id="rId7"/>
          </p:cNvPr>
          <p:cNvSpPr/>
          <p:nvPr/>
        </p:nvSpPr>
        <p:spPr>
          <a:xfrm>
            <a:off x="6563563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الثاني · أفهم وأستنتج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نما عفن على قطعة خبز رطبة. من أين حصل العفن على غذائه؟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صنع غذاءه بنفسه من ضوء الشمس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امتص الغذاء من الخبز الذي يعيش عليه</a:t>
            </a:r>
          </a:p>
        </p:txBody>
      </p:sp>
      <p:sp>
        <p:nvSpPr>
          <p:cNvPr id="9" name="!!opt2">
            <a:hlinkClick action="ppaction://hlinksldjump" r:id="rId4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افترس مخلوقات أصغر منه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1" name="!!strategy"/>
          <p:cNvSpPr/>
          <p:nvPr/>
        </p:nvSpPr>
        <p:spPr>
          <a:xfrm>
            <a:off x="8005572" y="36576"/>
            <a:ext cx="38633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الرمز السري للمختبر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736217"/>
            <a:ext cx="5266944" cy="3842765"/>
          </a:xfrm>
          <a:prstGeom prst="roundRect">
            <a:avLst>
              <a:gd name="adj" fmla="val 2379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4_fungi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809369"/>
            <a:ext cx="5120640" cy="369646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886200" y="5460111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لنقرأ معًا من صفحة ٩٤:</a:t>
            </a:r>
          </a:p>
          <a:p>
            <a:pPr algn="r" rtl="1">
              <a:spcAft>
                <a:spcPts val="800"/>
              </a:spcAft>
            </a:pPr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«لا تستطيع صنع غذائها بنفسها، وبدلًا من ذلك تمتص المواد المغذية من الوسط الذي تعيش فيه»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الخبز هو الوسط الذي عاش عليه العفن.</a:t>
            </a:r>
          </a:p>
        </p:txBody>
      </p:sp>
      <p:sp>
        <p:nvSpPr>
          <p:cNvPr id="10" name="Rounded Rectangle 9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1" name="!!strategy"/>
          <p:cNvSpPr/>
          <p:nvPr/>
        </p:nvSpPr>
        <p:spPr>
          <a:xfrm>
            <a:off x="7891272" y="36576"/>
            <a:ext cx="39776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المعالجة: نشاط علاجي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الثاني · أفهم وأستنتج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صح أم خطأ: «الخميرة تصنع غذاءها بنفسها».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6195060" y="2606040"/>
            <a:ext cx="544525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صح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40" y="2606040"/>
            <a:ext cx="544525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خطأ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0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إعادة التحقق: سؤال مشابه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الثاني · أفهم وأستنتج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نما عفن على قطعة خبز رطبة. من أين حصل العفن على غذائه؟</a:t>
            </a:r>
          </a:p>
        </p:txBody>
      </p:sp>
      <p:sp>
        <p:nvSpPr>
          <p:cNvPr id="7" name="!!opt1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امتص الغذاء من الخبز الذي يعيش عليه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965192" y="3520440"/>
            <a:ext cx="6675120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148072" y="3566160"/>
            <a:ext cx="6309359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الفطريات لا تستطيع صنع غذائها بنفسها، بل تمتص المواد المغذية من الوسط الذي تعيش فيه، والخبز هو هذا الوسط. الرقم الثاني: 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0718" y="3447288"/>
            <a:ext cx="3756402" cy="2752344"/>
          </a:xfrm>
          <a:prstGeom prst="roundRect">
            <a:avLst>
              <a:gd name="adj" fmla="val 3322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94_fungi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3870" y="3520440"/>
            <a:ext cx="3610098" cy="26060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2856609" y="608076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ص٩٤</a:t>
            </a:r>
          </a:p>
        </p:txBody>
      </p:sp>
      <p:pic>
        <p:nvPicPr>
          <p:cNvPr id="14" name="Picture 13" descr="ic_st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3400" y="3611880"/>
            <a:ext cx="548640" cy="548640"/>
          </a:xfrm>
          <a:prstGeom prst="rect">
            <a:avLst/>
          </a:prstGeom>
        </p:spPr>
      </p:pic>
      <p:sp>
        <p:nvSpPr>
          <p:cNvPr id="15" name="lk"/>
          <p:cNvSpPr/>
          <p:nvPr/>
        </p:nvSpPr>
        <p:spPr>
          <a:xfrm>
            <a:off x="2103120" y="182880"/>
            <a:ext cx="2765145" cy="888796"/>
          </a:xfrm>
          <a:prstGeom prst="roundRect">
            <a:avLst>
              <a:gd name="adj" fmla="val 22222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lkic" descr="ic_lo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74489" y="400141"/>
            <a:ext cx="447690" cy="447690"/>
          </a:xfrm>
          <a:prstGeom prst="rect">
            <a:avLst/>
          </a:prstGeom>
        </p:spPr>
      </p:pic>
      <p:sp>
        <p:nvSpPr>
          <p:cNvPr id="17" name="lkd0"/>
          <p:cNvSpPr/>
          <p:nvPr/>
        </p:nvSpPr>
        <p:spPr>
          <a:xfrm>
            <a:off x="3716121" y="314553"/>
            <a:ext cx="539861" cy="625449"/>
          </a:xfrm>
          <a:prstGeom prst="roundRect">
            <a:avLst>
              <a:gd name="adj" fmla="val 20325"/>
            </a:avLst>
          </a:prstGeom>
          <a:solidFill>
            <a:srgbClr val="FFD34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٣</a:t>
            </a:r>
          </a:p>
        </p:txBody>
      </p:sp>
      <p:sp>
        <p:nvSpPr>
          <p:cNvPr id="18" name="lkd1"/>
          <p:cNvSpPr/>
          <p:nvPr/>
        </p:nvSpPr>
        <p:spPr>
          <a:xfrm>
            <a:off x="3090672" y="314553"/>
            <a:ext cx="539861" cy="625449"/>
          </a:xfrm>
          <a:prstGeom prst="roundRect">
            <a:avLst>
              <a:gd name="adj" fmla="val 20325"/>
            </a:avLst>
          </a:prstGeom>
          <a:solidFill>
            <a:srgbClr val="FFD34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٥</a:t>
            </a:r>
          </a:p>
        </p:txBody>
      </p:sp>
      <p:sp>
        <p:nvSpPr>
          <p:cNvPr id="19" name="lkd2"/>
          <p:cNvSpPr/>
          <p:nvPr/>
        </p:nvSpPr>
        <p:spPr>
          <a:xfrm>
            <a:off x="2465222" y="314553"/>
            <a:ext cx="539861" cy="625449"/>
          </a:xfrm>
          <a:prstGeom prst="roundRect">
            <a:avLst>
              <a:gd name="adj" fmla="val 20325"/>
            </a:avLst>
          </a:prstGeom>
          <a:solidFill>
            <a:srgbClr val="3D4A7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C9D2E8"/>
                </a:solidFill>
                <a:latin typeface="Arial"/>
                <a:ea typeface="Arial"/>
                <a:cs typeface="Arial"/>
              </a:rPr>
              <a:t>؟</a:t>
            </a:r>
          </a:p>
        </p:txBody>
      </p:sp>
      <p:sp>
        <p:nvSpPr>
          <p:cNvPr id="21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2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  <p:sp>
        <p:nvSpPr>
          <p:cNvPr id="24" name="nav_ch3">
            <a:hlinkClick action="ppaction://hlinksldjump" r:id="rId9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الثالث · سؤال بصري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179958"/>
            <a:ext cx="4626864" cy="4955282"/>
          </a:xfrm>
          <a:prstGeom prst="roundRect">
            <a:avLst>
              <a:gd name="adj" fmla="val 1976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4_peni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253110"/>
            <a:ext cx="4480560" cy="480897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46120" y="6016369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ص٩٤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5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هذا فطر مجهري يُستخدم في صناعة الأدوية. ما اسمه؟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الخميرة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907536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البنسيليوم</a:t>
            </a:r>
          </a:p>
        </p:txBody>
      </p:sp>
      <p:sp>
        <p:nvSpPr>
          <p:cNvPr id="12" name="!!opt2">
            <a:hlinkClick action="ppaction://hlinksldjump" r:id="rId5"/>
          </p:cNvPr>
          <p:cNvSpPr/>
          <p:nvPr/>
        </p:nvSpPr>
        <p:spPr>
          <a:xfrm>
            <a:off x="5257800" y="5071872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البراميسيوم</a:t>
            </a:r>
          </a:p>
        </p:txBody>
      </p:sp>
      <p:sp>
        <p:nvSpPr>
          <p:cNvPr id="13" name="!!strategy"/>
          <p:cNvSpPr/>
          <p:nvPr/>
        </p:nvSpPr>
        <p:spPr>
          <a:xfrm>
            <a:off x="8005572" y="36576"/>
            <a:ext cx="38633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الرمز السري للمختبر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الثالث · سؤال بصري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اسم هذا الفطر قريب من اسم دواء مشهور يُعالج الالتهابات.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  <p:sp>
        <p:nvSpPr>
          <p:cNvPr id="14" name="nav_ch3_try2">
            <a:hlinkClick action="ppaction://hlinksldjump" r:id="rId7"/>
          </p:cNvPr>
          <p:cNvSpPr/>
          <p:nvPr/>
        </p:nvSpPr>
        <p:spPr>
          <a:xfrm>
            <a:off x="6563563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الثالث · سؤال بصري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179958"/>
            <a:ext cx="4626864" cy="4955282"/>
          </a:xfrm>
          <a:prstGeom prst="roundRect">
            <a:avLst>
              <a:gd name="adj" fmla="val 1976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4_peni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253110"/>
            <a:ext cx="4480560" cy="480897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46120" y="6016369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ص٩٤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5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هذا فطر مجهري يُستخدم في صناعة الأدوية. ما اسمه؟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الخميرة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907536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البنسيليوم</a:t>
            </a:r>
          </a:p>
        </p:txBody>
      </p:sp>
      <p:sp>
        <p:nvSpPr>
          <p:cNvPr id="12" name="!!opt2">
            <a:hlinkClick action="ppaction://hlinksldjump" r:id="rId5"/>
          </p:cNvPr>
          <p:cNvSpPr/>
          <p:nvPr/>
        </p:nvSpPr>
        <p:spPr>
          <a:xfrm>
            <a:off x="5257800" y="5071872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البراميسيوم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4" name="!!strategy"/>
          <p:cNvSpPr/>
          <p:nvPr/>
        </p:nvSpPr>
        <p:spPr>
          <a:xfrm>
            <a:off x="8005572" y="36576"/>
            <a:ext cx="38633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الرمز السري للمختبر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2412" y="1161288"/>
            <a:ext cx="4661655" cy="4992624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4_peni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564" y="1234440"/>
            <a:ext cx="4515351" cy="4846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583555" y="60350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انظري إلى التعليق أسفل الصورة في صفحة ٩٤:</a:t>
            </a:r>
          </a:p>
          <a:p>
            <a:pPr algn="r" rtl="1">
              <a:spcAft>
                <a:spcPts val="800"/>
              </a:spcAft>
            </a:pPr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«يُستخدم فطر البنسيليوم لصناعة الأدوية»</a:t>
            </a:r>
          </a:p>
        </p:txBody>
      </p:sp>
      <p:sp>
        <p:nvSpPr>
          <p:cNvPr id="10" name="Rounded Rectangle 9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1" name="!!strategy"/>
          <p:cNvSpPr/>
          <p:nvPr/>
        </p:nvSpPr>
        <p:spPr>
          <a:xfrm>
            <a:off x="7891272" y="36576"/>
            <a:ext cx="39776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المعالجة: نشاط علاجي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الثالث · سؤال بصري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فيمَ يُستخدم فطر البنسيليوم؟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صناعة الأدوية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صنع الخبز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صنع غذائه من الضوء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1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إعادة التحقق: سؤال مشابه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الثالث · سؤال بصري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هذا فطر مجهري يُستخدم في صناعة الأدوية. ما اسمه؟</a:t>
            </a:r>
          </a:p>
        </p:txBody>
      </p:sp>
      <p:sp>
        <p:nvSpPr>
          <p:cNvPr id="7" name="!!opt1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البنسيليوم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965192" y="3520440"/>
            <a:ext cx="6675120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148072" y="3566160"/>
            <a:ext cx="6309359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إنه فطر البنسيليوم؛ ففي الكتاب: «يُستخدم فطر البنسيليوم لصناعة الأدوية». الرقم الثالث: ٧ — اكتمل الرمز!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4177636"/>
            <a:ext cx="4626864" cy="1291647"/>
          </a:xfrm>
          <a:prstGeom prst="roundRect">
            <a:avLst>
              <a:gd name="adj" fmla="val 7079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94_peni_cap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250788"/>
            <a:ext cx="4480560" cy="1145343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3291840" y="5350411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ص٩٤</a:t>
            </a:r>
          </a:p>
        </p:txBody>
      </p:sp>
      <p:pic>
        <p:nvPicPr>
          <p:cNvPr id="14" name="Picture 13" descr="ic_st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3400" y="3611880"/>
            <a:ext cx="548640" cy="548640"/>
          </a:xfrm>
          <a:prstGeom prst="rect">
            <a:avLst/>
          </a:prstGeom>
        </p:spPr>
      </p:pic>
      <p:sp>
        <p:nvSpPr>
          <p:cNvPr id="15" name="lk"/>
          <p:cNvSpPr/>
          <p:nvPr/>
        </p:nvSpPr>
        <p:spPr>
          <a:xfrm>
            <a:off x="2103120" y="182880"/>
            <a:ext cx="2765145" cy="888796"/>
          </a:xfrm>
          <a:prstGeom prst="roundRect">
            <a:avLst>
              <a:gd name="adj" fmla="val 22222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lkic" descr="ic_unlo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74489" y="400141"/>
            <a:ext cx="447690" cy="447690"/>
          </a:xfrm>
          <a:prstGeom prst="rect">
            <a:avLst/>
          </a:prstGeom>
        </p:spPr>
      </p:pic>
      <p:sp>
        <p:nvSpPr>
          <p:cNvPr id="17" name="lkd0"/>
          <p:cNvSpPr/>
          <p:nvPr/>
        </p:nvSpPr>
        <p:spPr>
          <a:xfrm>
            <a:off x="3716121" y="314553"/>
            <a:ext cx="539861" cy="625449"/>
          </a:xfrm>
          <a:prstGeom prst="roundRect">
            <a:avLst>
              <a:gd name="adj" fmla="val 20325"/>
            </a:avLst>
          </a:prstGeom>
          <a:solidFill>
            <a:srgbClr val="FFD34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٣</a:t>
            </a:r>
          </a:p>
        </p:txBody>
      </p:sp>
      <p:sp>
        <p:nvSpPr>
          <p:cNvPr id="18" name="lkd1"/>
          <p:cNvSpPr/>
          <p:nvPr/>
        </p:nvSpPr>
        <p:spPr>
          <a:xfrm>
            <a:off x="3090672" y="314553"/>
            <a:ext cx="539861" cy="625449"/>
          </a:xfrm>
          <a:prstGeom prst="roundRect">
            <a:avLst>
              <a:gd name="adj" fmla="val 20325"/>
            </a:avLst>
          </a:prstGeom>
          <a:solidFill>
            <a:srgbClr val="FFD34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٥</a:t>
            </a:r>
          </a:p>
        </p:txBody>
      </p:sp>
      <p:sp>
        <p:nvSpPr>
          <p:cNvPr id="19" name="lkd2"/>
          <p:cNvSpPr/>
          <p:nvPr/>
        </p:nvSpPr>
        <p:spPr>
          <a:xfrm>
            <a:off x="2465222" y="314553"/>
            <a:ext cx="539861" cy="625449"/>
          </a:xfrm>
          <a:prstGeom prst="roundRect">
            <a:avLst>
              <a:gd name="adj" fmla="val 20325"/>
            </a:avLst>
          </a:prstGeom>
          <a:solidFill>
            <a:srgbClr val="FFD34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٧</a:t>
            </a:r>
          </a:p>
        </p:txBody>
      </p:sp>
      <p:sp>
        <p:nvSpPr>
          <p:cNvPr id="21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2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  <p:sp>
        <p:nvSpPr>
          <p:cNvPr id="24" name="nav_open1">
            <a:hlinkClick action="ppaction://hlinksldjump" r:id="rId9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الرمز السري: ٣٥٧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pic>
        <p:nvPicPr>
          <p:cNvPr id="5" name="!!doorframe" descr="door_fra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0" y="1188720"/>
            <a:ext cx="4873752" cy="4342069"/>
          </a:xfrm>
          <a:prstGeom prst="rect">
            <a:avLst/>
          </a:prstGeom>
        </p:spPr>
      </p:pic>
      <p:sp>
        <p:nvSpPr>
          <p:cNvPr id="6" name="!!doorsign"/>
          <p:cNvSpPr txBox="1"/>
          <p:nvPr/>
        </p:nvSpPr>
        <p:spPr>
          <a:xfrm>
            <a:off x="4410816" y="1250749"/>
            <a:ext cx="3367319" cy="354454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مختبر العلوم</a:t>
            </a:r>
          </a:p>
        </p:txBody>
      </p:sp>
      <p:pic>
        <p:nvPicPr>
          <p:cNvPr id="7" name="!!doorL" descr="door_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34827" y="1676095"/>
            <a:ext cx="2259648" cy="3854694"/>
          </a:xfrm>
          <a:prstGeom prst="rect">
            <a:avLst/>
          </a:prstGeom>
        </p:spPr>
      </p:pic>
      <p:pic>
        <p:nvPicPr>
          <p:cNvPr id="8" name="!!doorR" descr="door_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4476" y="1676095"/>
            <a:ext cx="2259648" cy="3854694"/>
          </a:xfrm>
          <a:prstGeom prst="rect">
            <a:avLst/>
          </a:prstGeom>
        </p:spPr>
      </p:pic>
      <p:sp>
        <p:nvSpPr>
          <p:cNvPr id="9" name="!!final_lock"/>
          <p:cNvSpPr/>
          <p:nvPr/>
        </p:nvSpPr>
        <p:spPr>
          <a:xfrm>
            <a:off x="4178808" y="4937760"/>
            <a:ext cx="3840480" cy="1234440"/>
          </a:xfrm>
          <a:prstGeom prst="roundRect">
            <a:avLst>
              <a:gd name="adj" fmla="val 22222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!!final_lockic" descr="ic_unlo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33488" y="5239512"/>
            <a:ext cx="621792" cy="621792"/>
          </a:xfrm>
          <a:prstGeom prst="rect">
            <a:avLst/>
          </a:prstGeom>
        </p:spPr>
      </p:pic>
      <p:sp>
        <p:nvSpPr>
          <p:cNvPr id="11" name="!!final_lockd0"/>
          <p:cNvSpPr/>
          <p:nvPr/>
        </p:nvSpPr>
        <p:spPr>
          <a:xfrm>
            <a:off x="6419088" y="5120640"/>
            <a:ext cx="749808" cy="868680"/>
          </a:xfrm>
          <a:prstGeom prst="roundRect">
            <a:avLst>
              <a:gd name="adj" fmla="val 14634"/>
            </a:avLst>
          </a:prstGeom>
          <a:solidFill>
            <a:srgbClr val="FFD34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٣</a:t>
            </a:r>
          </a:p>
        </p:txBody>
      </p:sp>
      <p:sp>
        <p:nvSpPr>
          <p:cNvPr id="12" name="!!final_lockd1"/>
          <p:cNvSpPr/>
          <p:nvPr/>
        </p:nvSpPr>
        <p:spPr>
          <a:xfrm>
            <a:off x="5550408" y="5120640"/>
            <a:ext cx="749808" cy="868680"/>
          </a:xfrm>
          <a:prstGeom prst="roundRect">
            <a:avLst>
              <a:gd name="adj" fmla="val 14634"/>
            </a:avLst>
          </a:prstGeom>
          <a:solidFill>
            <a:srgbClr val="FFD34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٥</a:t>
            </a:r>
          </a:p>
        </p:txBody>
      </p:sp>
      <p:sp>
        <p:nvSpPr>
          <p:cNvPr id="13" name="!!final_lockd2"/>
          <p:cNvSpPr/>
          <p:nvPr/>
        </p:nvSpPr>
        <p:spPr>
          <a:xfrm>
            <a:off x="4681728" y="5120640"/>
            <a:ext cx="749808" cy="868680"/>
          </a:xfrm>
          <a:prstGeom prst="roundRect">
            <a:avLst>
              <a:gd name="adj" fmla="val 14634"/>
            </a:avLst>
          </a:prstGeom>
          <a:solidFill>
            <a:srgbClr val="FFD34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٧</a:t>
            </a:r>
          </a:p>
        </p:txBody>
      </p:sp>
      <p:sp>
        <p:nvSpPr>
          <p:cNvPr id="14" name="!!strategy"/>
          <p:cNvSpPr/>
          <p:nvPr/>
        </p:nvSpPr>
        <p:spPr>
          <a:xfrm>
            <a:off x="8005572" y="36576"/>
            <a:ext cx="38633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الرمز السري للمختبر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>
    <p:fade/>
    <p:sndAc>
      <p:stSnd>
        <p:snd r:embed="rId4" name="door.wav"/>
      </p:stSnd>
    </p:sndAc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pic>
        <p:nvPicPr>
          <p:cNvPr id="4" name="!!doorframe" descr="door_fra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0" y="1188720"/>
            <a:ext cx="4873752" cy="4342069"/>
          </a:xfrm>
          <a:prstGeom prst="rect">
            <a:avLst/>
          </a:prstGeom>
        </p:spPr>
      </p:pic>
      <p:sp>
        <p:nvSpPr>
          <p:cNvPr id="5" name="!!doorsign"/>
          <p:cNvSpPr txBox="1"/>
          <p:nvPr/>
        </p:nvSpPr>
        <p:spPr>
          <a:xfrm>
            <a:off x="4410816" y="1250749"/>
            <a:ext cx="3367319" cy="354454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مختبر العلوم</a:t>
            </a:r>
          </a:p>
        </p:txBody>
      </p:sp>
      <p:sp>
        <p:nvSpPr>
          <p:cNvPr id="6" name="!!doorlight"/>
          <p:cNvSpPr/>
          <p:nvPr/>
        </p:nvSpPr>
        <p:spPr>
          <a:xfrm>
            <a:off x="3834827" y="1676095"/>
            <a:ext cx="4519297" cy="3854694"/>
          </a:xfrm>
          <a:prstGeom prst="roundRect">
            <a:avLst>
              <a:gd name="adj" fmla="val 1186"/>
            </a:avLst>
          </a:prstGeom>
          <a:solidFill>
            <a:srgbClr val="FFF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!!doorL" descr="door_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6578" y="1676095"/>
            <a:ext cx="2259648" cy="3854694"/>
          </a:xfrm>
          <a:prstGeom prst="rect">
            <a:avLst/>
          </a:prstGeom>
        </p:spPr>
      </p:pic>
      <p:pic>
        <p:nvPicPr>
          <p:cNvPr id="8" name="!!doorR" descr="door_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82724" y="1676095"/>
            <a:ext cx="2259648" cy="3854694"/>
          </a:xfrm>
          <a:prstGeom prst="rect">
            <a:avLst/>
          </a:prstGeom>
        </p:spPr>
      </p:pic>
      <p:sp>
        <p:nvSpPr>
          <p:cNvPr id="9" name="msg"/>
          <p:cNvSpPr/>
          <p:nvPr/>
        </p:nvSpPr>
        <p:spPr>
          <a:xfrm>
            <a:off x="2103120" y="1965960"/>
            <a:ext cx="7982712" cy="2148840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50800">
            <a:solidFill>
              <a:srgbClr val="FFD34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msgt"/>
          <p:cNvSpPr txBox="1"/>
          <p:nvPr/>
        </p:nvSpPr>
        <p:spPr>
          <a:xfrm>
            <a:off x="2194560" y="2011680"/>
            <a:ext cx="7799831" cy="20574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3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أحسنتن يا عالماتي!</a:t>
            </a:r>
          </a:p>
          <a:p>
            <a:pPr algn="ctr" rtl="1"/>
            <a:r>
              <a:rPr sz="3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لقد نجحتن في فتح مختبر العلوم!</a:t>
            </a:r>
          </a:p>
        </p:txBody>
      </p:sp>
      <p:pic>
        <p:nvPicPr>
          <p:cNvPr id="11" name="!!guide" descr="guide_che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92640" y="2377440"/>
            <a:ext cx="2435426" cy="3840480"/>
          </a:xfrm>
          <a:prstGeom prst="rect">
            <a:avLst/>
          </a:prstGeom>
        </p:spPr>
      </p:pic>
      <p:sp>
        <p:nvSpPr>
          <p:cNvPr id="18" name="!!strategy"/>
          <p:cNvSpPr/>
          <p:nvPr/>
        </p:nvSpPr>
        <p:spPr>
          <a:xfrm>
            <a:off x="8005572" y="36576"/>
            <a:ext cx="38633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الرمز السري للمختبر</a:t>
            </a:r>
          </a:p>
        </p:txBody>
      </p:sp>
      <p:sp>
        <p:nvSpPr>
          <p:cNvPr id="19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0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  <p:sp>
        <p:nvSpPr>
          <p:cNvPr id="21" name="nav_rev94">
            <a:hlinkClick action="ppaction://hlinksldjump" r:id="rId9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>
        <p159:morph option="byObject"/>
        <p:sndAc>
          <p:stSnd>
            <p:snd r:embed="rId4" name="fanfare.wav"/>
          </p:stSnd>
        </p:sndAc>
      </p:transition>
    </mc:Choice>
    <mc:Fallback>
      <p:transition spd="slow">
        <p:fade/>
        <p:sndAc>
          <p:stSnd>
            <p:snd r:embed="rId4" name="fanfare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بطاقات المراجعة: ما المخلوقات الحية الدقيقة؟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91672" cy="4114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7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اضغطي على البطاقة لقلبها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7" y="1655635"/>
            <a:ext cx="3438144" cy="4415409"/>
          </a:xfrm>
          <a:prstGeom prst="roundRect">
            <a:avLst>
              <a:gd name="adj" fmla="val 2659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p94_p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19" y="1728787"/>
            <a:ext cx="3291840" cy="426910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2057400" y="5952172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ص٩٤</a:t>
            </a:r>
          </a:p>
        </p:txBody>
      </p:sp>
      <p:sp>
        <p:nvSpPr>
          <p:cNvPr id="9" name="card0"/>
          <p:cNvSpPr/>
          <p:nvPr/>
        </p:nvSpPr>
        <p:spPr>
          <a:xfrm>
            <a:off x="7955280" y="1600200"/>
            <a:ext cx="3685031" cy="2185416"/>
          </a:xfrm>
          <a:prstGeom prst="roundRect">
            <a:avLst>
              <a:gd name="adj" fmla="val 10460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المخلوق الحي الدقيق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600200"/>
            <a:ext cx="3685031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5AA9E6"/>
                </a:solidFill>
                <a:latin typeface="Arial"/>
                <a:ea typeface="Arial"/>
                <a:cs typeface="Arial"/>
              </a:rPr>
              <a:t>المخلوق الحي الدقيق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مخلوق حي مجهري لا يُرى بالعين المجردة.</a:t>
            </a:r>
          </a:p>
        </p:txBody>
      </p:sp>
      <p:sp>
        <p:nvSpPr>
          <p:cNvPr id="11" name="card1"/>
          <p:cNvSpPr/>
          <p:nvPr/>
        </p:nvSpPr>
        <p:spPr>
          <a:xfrm>
            <a:off x="4069080" y="1600200"/>
            <a:ext cx="3685031" cy="2185416"/>
          </a:xfrm>
          <a:prstGeom prst="roundRect">
            <a:avLst>
              <a:gd name="adj" fmla="val 10460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وحيد الخلية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69080" y="1600200"/>
            <a:ext cx="3685031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3BB59A"/>
                </a:solidFill>
                <a:latin typeface="Arial"/>
                <a:ea typeface="Arial"/>
                <a:cs typeface="Arial"/>
              </a:rPr>
              <a:t>وحيد الخلية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يتكوّن جسمه من خلية واحدة.</a:t>
            </a:r>
          </a:p>
        </p:txBody>
      </p:sp>
      <p:sp>
        <p:nvSpPr>
          <p:cNvPr id="13" name="card2"/>
          <p:cNvSpPr/>
          <p:nvPr/>
        </p:nvSpPr>
        <p:spPr>
          <a:xfrm>
            <a:off x="7955280" y="3986784"/>
            <a:ext cx="3685031" cy="2185416"/>
          </a:xfrm>
          <a:prstGeom prst="roundRect">
            <a:avLst>
              <a:gd name="adj" fmla="val 10460"/>
            </a:avLst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الفطريات المجهرية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3986784"/>
            <a:ext cx="3685031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F28C28"/>
                </a:solidFill>
                <a:latin typeface="Arial"/>
                <a:ea typeface="Arial"/>
                <a:cs typeface="Arial"/>
              </a:rPr>
              <a:t>الفطريات المجهرية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تشمل العفن والخميرة، لا تصنع غذاءها، وتمتص المواد المغذية من الوسط الذي تعيش فيه.</a:t>
            </a:r>
          </a:p>
        </p:txBody>
      </p:sp>
      <p:sp>
        <p:nvSpPr>
          <p:cNvPr id="15" name="card3"/>
          <p:cNvSpPr/>
          <p:nvPr/>
        </p:nvSpPr>
        <p:spPr>
          <a:xfrm>
            <a:off x="4069080" y="3986784"/>
            <a:ext cx="3685031" cy="2185416"/>
          </a:xfrm>
          <a:prstGeom prst="roundRect">
            <a:avLst>
              <a:gd name="adj" fmla="val 10460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فوائد وأضرار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69080" y="3986784"/>
            <a:ext cx="3685031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8E7CF0"/>
                </a:solidFill>
                <a:latin typeface="Arial"/>
                <a:ea typeface="Arial"/>
                <a:cs typeface="Arial"/>
              </a:rPr>
              <a:t>فوائد وأضرار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الخميرة في صنع الخبز، والبنسيليوم لصناعة الأدوية، وبعضها يسبب أمراضًا مثل القدم الرياضي.</a:t>
            </a:r>
          </a:p>
        </p:txBody>
      </p:sp>
      <p:sp>
        <p:nvSpPr>
          <p:cNvPr id="35" name="!!strategy"/>
          <p:cNvSpPr/>
          <p:nvPr/>
        </p:nvSpPr>
        <p:spPr>
          <a:xfrm>
            <a:off x="6405372" y="36576"/>
            <a:ext cx="54635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البطاقات التعليمية (مراجعة قبلية)</a:t>
            </a:r>
          </a:p>
        </p:txBody>
      </p:sp>
      <p:sp>
        <p:nvSpPr>
          <p:cNvPr id="3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3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  <p:sp>
        <p:nvSpPr>
          <p:cNvPr id="38" name="nav_p95page">
            <a:hlinkClick action="ppaction://hlinksldjump" r:id="rId5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" fill="hold">
                      <p:stCondLst>
                        <p:cond delay="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4" grpId="0" animBg="1"/>
      <p:bldP spid="16" grpId="0" animBg="1"/>
    </p:bld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صفحة ٩٥ كما في الكتاب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43000"/>
            <a:ext cx="5577840" cy="5029200"/>
          </a:xfrm>
          <a:prstGeom prst="roundRect">
            <a:avLst>
              <a:gd name="adj" fmla="val 4545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5_p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2715" y="1261872"/>
            <a:ext cx="3746809" cy="4800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263640" y="1188720"/>
            <a:ext cx="5440680" cy="4983480"/>
          </a:xfrm>
          <a:prstGeom prst="roundRect">
            <a:avLst>
              <a:gd name="adj" fmla="val 4587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95_protist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8846" y="1280160"/>
            <a:ext cx="4370267" cy="48006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63640" y="1188720"/>
            <a:ext cx="5440680" cy="4983480"/>
          </a:xfrm>
          <a:prstGeom prst="roundRect">
            <a:avLst>
              <a:gd name="adj" fmla="val 4587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p95_bac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1770624"/>
            <a:ext cx="5257800" cy="381967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263640" y="1188720"/>
            <a:ext cx="5440680" cy="4983480"/>
          </a:xfrm>
          <a:prstGeom prst="roundRect">
            <a:avLst>
              <a:gd name="adj" fmla="val 4587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95_archaea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5080" y="1975061"/>
            <a:ext cx="5257800" cy="3410797"/>
          </a:xfrm>
          <a:prstGeom prst="rect">
            <a:avLst/>
          </a:prstGeom>
        </p:spPr>
      </p:pic>
      <p:sp>
        <p:nvSpPr>
          <p:cNvPr id="39" name="!!strategy"/>
          <p:cNvSpPr/>
          <p:nvPr/>
        </p:nvSpPr>
        <p:spPr>
          <a:xfrm>
            <a:off x="8462772" y="36576"/>
            <a:ext cx="34061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القراءة الموجهة</a:t>
            </a:r>
          </a:p>
        </p:txBody>
      </p:sp>
      <p:sp>
        <p:nvSpPr>
          <p:cNvPr id="4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4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ص٩٥</a:t>
            </a:r>
          </a:p>
        </p:txBody>
      </p:sp>
      <p:sp>
        <p:nvSpPr>
          <p:cNvPr id="42" name="nav_rev95a">
            <a:hlinkClick action="ppaction://hlinksldjump" r:id="rId8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1" grpId="0" animBg="1"/>
    </p:bld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بطاقات صفحة ٩٥: الطلائعيات المجهرية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91672" cy="4114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7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اضغطي على البطاقة لقلبها</a:t>
            </a:r>
          </a:p>
        </p:txBody>
      </p:sp>
      <p:sp>
        <p:nvSpPr>
          <p:cNvPr id="6" name="card0"/>
          <p:cNvSpPr/>
          <p:nvPr/>
        </p:nvSpPr>
        <p:spPr>
          <a:xfrm>
            <a:off x="807720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الطلائعيات المجهرية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7720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3BB59A"/>
                </a:solidFill>
                <a:latin typeface="Arial"/>
                <a:ea typeface="Arial"/>
                <a:cs typeface="Arial"/>
              </a:rPr>
              <a:t>الطلائعيات المجهرية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«معظم الطلائعيات مخلوقات حية دقيقة وحيدة الخلية، يصعب تصنيفها إلى حيوانات أو نباتات.»</a:t>
            </a:r>
          </a:p>
        </p:txBody>
      </p:sp>
      <p:sp>
        <p:nvSpPr>
          <p:cNvPr id="8" name="card1"/>
          <p:cNvSpPr/>
          <p:nvPr/>
        </p:nvSpPr>
        <p:spPr>
          <a:xfrm>
            <a:off x="431292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3D997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الشبيهة بالنباتات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292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3D997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3D9970"/>
                </a:solidFill>
                <a:latin typeface="Arial"/>
                <a:ea typeface="Arial"/>
                <a:cs typeface="Arial"/>
              </a:rPr>
              <a:t>الشبيهة بالنباتات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«فالطلائعيات الشبيهة بالنباتات -ومنها اليوجلينا- تصنع غذاءها بنفسها.»</a:t>
            </a:r>
          </a:p>
        </p:txBody>
      </p:sp>
      <p:sp>
        <p:nvSpPr>
          <p:cNvPr id="10" name="card2"/>
          <p:cNvSpPr/>
          <p:nvPr/>
        </p:nvSpPr>
        <p:spPr>
          <a:xfrm>
            <a:off x="548639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الدياتومات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39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5AA9E6"/>
                </a:solidFill>
                <a:latin typeface="Arial"/>
                <a:ea typeface="Arial"/>
                <a:cs typeface="Arial"/>
              </a:rPr>
              <a:t>الدياتومات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«طلائعيات شبيهة بالنباتات تعيش في البحيرات والمحيطات، وتعد مصدر الغذاء الرئيس في الأنظمة البيئية البحرية.»</a:t>
            </a:r>
          </a:p>
        </p:txBody>
      </p:sp>
      <p:sp>
        <p:nvSpPr>
          <p:cNvPr id="12" name="card3"/>
          <p:cNvSpPr/>
          <p:nvPr/>
        </p:nvSpPr>
        <p:spPr>
          <a:xfrm>
            <a:off x="807720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الأسواط والأهداب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720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8E7CF0"/>
                </a:solidFill>
                <a:latin typeface="Arial"/>
                <a:ea typeface="Arial"/>
                <a:cs typeface="Arial"/>
              </a:rPr>
              <a:t>الأسواط والأهداب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«بعضها له تراكيب تشبه السوط تسمى الأسواط. وبعضها له تراكيب تشبه الشعر تسمى الأهداب، وهي تتحرك جيئة وذهابًا مثل المجداف.»</a:t>
            </a:r>
          </a:p>
        </p:txBody>
      </p:sp>
      <p:sp>
        <p:nvSpPr>
          <p:cNvPr id="14" name="card4"/>
          <p:cNvSpPr/>
          <p:nvPr/>
        </p:nvSpPr>
        <p:spPr>
          <a:xfrm>
            <a:off x="431292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الأقدام الكاذبة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F28C28"/>
                </a:solidFill>
                <a:latin typeface="Arial"/>
                <a:ea typeface="Arial"/>
                <a:cs typeface="Arial"/>
              </a:rPr>
              <a:t>الأقدام الكاذبة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«أما الأميبا فلها تراكيب تسمى الأقدام الكاذبة تستخدمها في حركتها عن طريق انقباضها وامتدادها.»</a:t>
            </a:r>
          </a:p>
        </p:txBody>
      </p:sp>
      <p:sp>
        <p:nvSpPr>
          <p:cNvPr id="43" name="!!strategy"/>
          <p:cNvSpPr/>
          <p:nvPr/>
        </p:nvSpPr>
        <p:spPr>
          <a:xfrm>
            <a:off x="6405372" y="36576"/>
            <a:ext cx="54635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البطاقات التعليمية (مراجعة قبلية)</a:t>
            </a:r>
          </a:p>
        </p:txBody>
      </p:sp>
      <p:sp>
        <p:nvSpPr>
          <p:cNvPr id="4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4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ص٩٥</a:t>
            </a:r>
          </a:p>
        </p:txBody>
      </p:sp>
      <p:sp>
        <p:nvSpPr>
          <p:cNvPr id="46" name="nav_rev95b">
            <a:hlinkClick action="ppaction://hlinksldjump" r:id="rId4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" fill="hold">
                      <p:stCondLst>
                        <p:cond delay="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" fill="hold">
                      <p:stCondLst>
                        <p:cond delay="0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1" grpId="0" animBg="1"/>
      <p:bldP spid="13" grpId="0" animBg="1"/>
      <p:bldP spid="15" grpId="0" animBg="1"/>
    </p:bld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بطاقات صفحة ٩٥: البكتيريا والبدائيات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91672" cy="4114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7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اضغطي على البطاقة لقلبها</a:t>
            </a:r>
          </a:p>
        </p:txBody>
      </p:sp>
      <p:sp>
        <p:nvSpPr>
          <p:cNvPr id="6" name="card0"/>
          <p:cNvSpPr/>
          <p:nvPr/>
        </p:nvSpPr>
        <p:spPr>
          <a:xfrm>
            <a:off x="807720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البكتيريا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7720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FF7AA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FF7AA2"/>
                </a:solidFill>
                <a:latin typeface="Arial"/>
                <a:ea typeface="Arial"/>
                <a:cs typeface="Arial"/>
              </a:rPr>
              <a:t>البكتيريا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«البكتيريا مخلوقات وحيدة الخلية. وبعض أنواع البكتيريا ضار يسبب العديد من الأمراض، فهناك بكتيريا كروية تسبب التهاب الحلق.»</a:t>
            </a:r>
          </a:p>
        </p:txBody>
      </p:sp>
      <p:sp>
        <p:nvSpPr>
          <p:cNvPr id="8" name="card1"/>
          <p:cNvSpPr/>
          <p:nvPr/>
        </p:nvSpPr>
        <p:spPr>
          <a:xfrm>
            <a:off x="431292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بكتيريا مفيدة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292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3BB59A"/>
                </a:solidFill>
                <a:latin typeface="Arial"/>
                <a:ea typeface="Arial"/>
                <a:cs typeface="Arial"/>
              </a:rPr>
              <a:t>بكتيريا مفيدة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«ومعظم أنواع البكتيريا غير ضار، ومنها البكتيريا العصوية التي تستعمل لإنتاج اللبن الرائب وغيره من المواد المفيدة للجسم.»</a:t>
            </a:r>
          </a:p>
        </p:txBody>
      </p:sp>
      <p:sp>
        <p:nvSpPr>
          <p:cNvPr id="10" name="card2"/>
          <p:cNvSpPr/>
          <p:nvPr/>
        </p:nvSpPr>
        <p:spPr>
          <a:xfrm>
            <a:off x="548639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البدائيات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39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F28C28"/>
                </a:solidFill>
                <a:latin typeface="Arial"/>
                <a:ea typeface="Arial"/>
                <a:cs typeface="Arial"/>
              </a:rPr>
              <a:t>البدائيات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«مخلوقات حية وحيدة الخلية. وقد صنفت من قبل على أنها أحد أنواع البكتيريا، إلا أن العلماء اكتشفوا اختلاف صفاتها الوراثية عن البكتيريا.»</a:t>
            </a:r>
          </a:p>
        </p:txBody>
      </p:sp>
      <p:sp>
        <p:nvSpPr>
          <p:cNvPr id="12" name="card3"/>
          <p:cNvSpPr/>
          <p:nvPr/>
        </p:nvSpPr>
        <p:spPr>
          <a:xfrm>
            <a:off x="807720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أين تعيش البدائيات؟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720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8E7CF0"/>
                </a:solidFill>
                <a:latin typeface="Arial"/>
                <a:ea typeface="Arial"/>
                <a:cs typeface="Arial"/>
              </a:rPr>
              <a:t>أين تعيش البدائيات؟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«في الينابيع الحارة… وفي بيئات خالية من الأكسجين بالقرب من فوهات البراكين… وفي القنوات الهضمية للحيوانات، أو في أماكن شديدة الملوحة.»</a:t>
            </a:r>
          </a:p>
        </p:txBody>
      </p:sp>
      <p:sp>
        <p:nvSpPr>
          <p:cNvPr id="14" name="card4"/>
          <p:cNvSpPr/>
          <p:nvPr/>
        </p:nvSpPr>
        <p:spPr>
          <a:xfrm>
            <a:off x="431292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C0392B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حقيقة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C0392B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C0392B"/>
                </a:solidFill>
                <a:latin typeface="Arial"/>
                <a:ea typeface="Arial"/>
                <a:cs typeface="Arial"/>
              </a:rPr>
              <a:t>حقيقة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«يستخدم مصطلح الميكروبات لوصف المخلوقات الحية الدقيقة المفيدة والضارة وليس الضارة فقط.»</a:t>
            </a:r>
          </a:p>
        </p:txBody>
      </p:sp>
      <p:sp>
        <p:nvSpPr>
          <p:cNvPr id="43" name="!!strategy"/>
          <p:cNvSpPr/>
          <p:nvPr/>
        </p:nvSpPr>
        <p:spPr>
          <a:xfrm>
            <a:off x="6405372" y="36576"/>
            <a:ext cx="54635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البطاقات التعليمية (مراجعة قبلية)</a:t>
            </a:r>
          </a:p>
        </p:txBody>
      </p:sp>
      <p:sp>
        <p:nvSpPr>
          <p:cNvPr id="4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4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ص٩٥</a:t>
            </a:r>
          </a:p>
        </p:txBody>
      </p:sp>
      <p:sp>
        <p:nvSpPr>
          <p:cNvPr id="46" name="nav_rev95q">
            <a:hlinkClick action="ppaction://hlinksldjump" r:id="rId4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" fill="hold">
                      <p:stCondLst>
                        <p:cond delay="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" fill="hold">
                      <p:stCondLst>
                        <p:cond delay="0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1" grpId="0" animBg="1"/>
      <p:bldP spid="13" grpId="0" animBg="1"/>
      <p:bldP spid="15" grpId="0" animBg="1"/>
    </p:bld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بطاقات أسئلة صفحة ٩٥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91672" cy="4114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7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اضغطي على البطاقة لقلبها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1826702"/>
            <a:ext cx="3438144" cy="4073275"/>
          </a:xfrm>
          <a:prstGeom prst="roundRect">
            <a:avLst>
              <a:gd name="adj" fmla="val 2659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p95_rock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899854"/>
            <a:ext cx="3291840" cy="392697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2057400" y="5781105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ص٩٥</a:t>
            </a:r>
          </a:p>
        </p:txBody>
      </p:sp>
      <p:sp>
        <p:nvSpPr>
          <p:cNvPr id="9" name="card0"/>
          <p:cNvSpPr/>
          <p:nvPr/>
        </p:nvSpPr>
        <p:spPr>
          <a:xfrm>
            <a:off x="4069080" y="1600200"/>
            <a:ext cx="7571231" cy="1389887"/>
          </a:xfrm>
          <a:prstGeom prst="roundRect">
            <a:avLst>
              <a:gd name="adj" fmla="val 1644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أقرأ الصورة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69080" y="1600200"/>
            <a:ext cx="7571231" cy="1389887"/>
          </a:xfrm>
          <a:prstGeom prst="roundRect">
            <a:avLst>
              <a:gd name="adj" fmla="val 16447"/>
            </a:avLst>
          </a:prstGeom>
          <a:solidFill>
            <a:srgbClr val="FFFFFF"/>
          </a:solidFill>
          <a:ln w="3810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5AA9E6"/>
                </a:solidFill>
                <a:latin typeface="Arial"/>
                <a:ea typeface="Arial"/>
                <a:cs typeface="Arial"/>
              </a:rPr>
              <a:t>أقرأ الصورة</a:t>
            </a:r>
          </a:p>
          <a:p>
            <a:pPr algn="ct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تنتج هذه الصخور من مستعمرات بكتيريا وطحالب بدائية. تُرى أين كانت تعيش هذه المخلوقات في أثناء حياتها؟</a:t>
            </a:r>
          </a:p>
          <a:p>
            <a:pPr algn="ctr" rtl="1"/>
            <a:r>
              <a:rPr sz="17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✔ في مياه البحر الضحلة المالحة قرب الشاطئ.</a:t>
            </a:r>
          </a:p>
        </p:txBody>
      </p:sp>
      <p:sp>
        <p:nvSpPr>
          <p:cNvPr id="11" name="card1"/>
          <p:cNvSpPr/>
          <p:nvPr/>
        </p:nvSpPr>
        <p:spPr>
          <a:xfrm>
            <a:off x="4069080" y="3191256"/>
            <a:ext cx="7571231" cy="1389887"/>
          </a:xfrm>
          <a:prstGeom prst="roundRect">
            <a:avLst>
              <a:gd name="adj" fmla="val 16447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أستنتج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69080" y="3191256"/>
            <a:ext cx="7571231" cy="1389887"/>
          </a:xfrm>
          <a:prstGeom prst="roundRect">
            <a:avLst>
              <a:gd name="adj" fmla="val 16447"/>
            </a:avLst>
          </a:prstGeom>
          <a:solidFill>
            <a:srgbClr val="FFFFFF"/>
          </a:solidFill>
          <a:ln w="3810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3BB59A"/>
                </a:solidFill>
                <a:latin typeface="Arial"/>
                <a:ea typeface="Arial"/>
                <a:cs typeface="Arial"/>
              </a:rPr>
              <a:t>أستنتج</a:t>
            </a:r>
          </a:p>
          <a:p>
            <a:pPr algn="ct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هل يُحتمل وجود بدائيات على جلدي؟ أوضح إجابتي.</a:t>
            </a:r>
          </a:p>
          <a:p>
            <a:pPr algn="ctr" rtl="1"/>
            <a:r>
              <a:rPr sz="17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✔ نعم يُحتمل؛ فالبدائيات تعيش في بيئات قاسية متنوعة منها شديدة الملوحة، وجلدي مالح بالعرق فيصلح بيئة لها.</a:t>
            </a:r>
          </a:p>
        </p:txBody>
      </p:sp>
      <p:sp>
        <p:nvSpPr>
          <p:cNvPr id="13" name="card2"/>
          <p:cNvSpPr/>
          <p:nvPr/>
        </p:nvSpPr>
        <p:spPr>
          <a:xfrm>
            <a:off x="4069080" y="4782312"/>
            <a:ext cx="7571231" cy="1389887"/>
          </a:xfrm>
          <a:prstGeom prst="roundRect">
            <a:avLst>
              <a:gd name="adj" fmla="val 16447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التفكير الناقد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69080" y="4782312"/>
            <a:ext cx="7571231" cy="1389887"/>
          </a:xfrm>
          <a:prstGeom prst="roundRect">
            <a:avLst>
              <a:gd name="adj" fmla="val 16447"/>
            </a:avLst>
          </a:prstGeom>
          <a:solidFill>
            <a:srgbClr val="FFFFFF"/>
          </a:solidFill>
          <a:ln w="3810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8E7CF0"/>
                </a:solidFill>
                <a:latin typeface="Arial"/>
                <a:ea typeface="Arial"/>
                <a:cs typeface="Arial"/>
              </a:rPr>
              <a:t>التفكير الناقد</a:t>
            </a:r>
          </a:p>
          <a:p>
            <a:pPr algn="ct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هل توجد الدياتومات بالقرب من سطح البحيرات والمحيطات أم في أعماق المياه؟ لماذا؟</a:t>
            </a:r>
          </a:p>
          <a:p>
            <a:pPr algn="ctr" rtl="1"/>
            <a:r>
              <a:rPr sz="17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✔ قرب السطح؛ لأنها شبيهة بالنباتات تصنع غذاءها بنفسها، وهذا يحتاج إلى ضوء الشمس الذي لا يصل إلى الأعماق.</a:t>
            </a:r>
          </a:p>
        </p:txBody>
      </p:sp>
      <p:sp>
        <p:nvSpPr>
          <p:cNvPr id="27" name="!!strategy"/>
          <p:cNvSpPr/>
          <p:nvPr/>
        </p:nvSpPr>
        <p:spPr>
          <a:xfrm>
            <a:off x="6405372" y="36576"/>
            <a:ext cx="54635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البطاقات التعليمية (مراجعة قبلية)</a:t>
            </a:r>
          </a:p>
        </p:txBody>
      </p:sp>
      <p:sp>
        <p:nvSpPr>
          <p:cNvPr id="28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9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ص٩٥</a:t>
            </a:r>
          </a:p>
        </p:txBody>
      </p:sp>
      <p:sp>
        <p:nvSpPr>
          <p:cNvPr id="30" name="nav_newlesson">
            <a:hlinkClick action="ppaction://hlinksldjump" r:id="rId5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" fill="hold">
                      <p:stCondLst>
                        <p:cond delay="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4" grpId="0" animBg="1"/>
    </p:bld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درسنا الجديد: كيف تتكاثر المخلوقات الحية الدقيقة؟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732520" y="1234440"/>
            <a:ext cx="2907792" cy="548640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✔ انتهت المراجعة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0" y="1234440"/>
            <a:ext cx="2907792" cy="548640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بداية الدرس الجديد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69320" y="1938528"/>
            <a:ext cx="5537678" cy="2980944"/>
          </a:xfrm>
          <a:prstGeom prst="roundRect">
            <a:avLst>
              <a:gd name="adj" fmla="val 3067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96_intr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2472" y="2011680"/>
            <a:ext cx="5391374" cy="2834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096487" y="480060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5074920"/>
            <a:ext cx="6949440" cy="1051560"/>
          </a:xfrm>
          <a:prstGeom prst="roundRect">
            <a:avLst>
              <a:gd name="adj" fmla="val 21739"/>
            </a:avLst>
          </a:prstGeom>
          <a:solidFill>
            <a:srgbClr val="FFF6DD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846320" y="5120640"/>
            <a:ext cx="6583680" cy="9601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2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أتوقع: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كيف يصبح مخلوق واحد ملايين المخلوقات؟</a:t>
            </a:r>
          </a:p>
        </p:txBody>
      </p:sp>
      <p:pic>
        <p:nvPicPr>
          <p:cNvPr id="12" name="!!guide" descr="guide_wa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2240280"/>
            <a:ext cx="2464420" cy="3886200"/>
          </a:xfrm>
          <a:prstGeom prst="rect">
            <a:avLst/>
          </a:prstGeom>
        </p:spPr>
      </p:pic>
      <p:sp>
        <p:nvSpPr>
          <p:cNvPr id="13" name="bubble"/>
          <p:cNvSpPr/>
          <p:nvPr/>
        </p:nvSpPr>
        <p:spPr>
          <a:xfrm>
            <a:off x="411480" y="1143000"/>
            <a:ext cx="4023360" cy="868680"/>
          </a:xfrm>
          <a:prstGeom prst="wedgeRoundRectCallout">
            <a:avLst>
              <a:gd name="adj1" fmla="val 10000"/>
              <a:gd name="adj2" fmla="val 90000"/>
              <a:gd name="adj3" fmla="val 16667"/>
            </a:avLst>
          </a:prstGeom>
          <a:solidFill>
            <a:srgbClr val="FFFFFF"/>
          </a:solidFill>
          <a:ln w="3175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قرأنا السؤال من الكتاب. ما توقعاتكن؟</a:t>
            </a:r>
          </a:p>
        </p:txBody>
      </p:sp>
      <p:sp>
        <p:nvSpPr>
          <p:cNvPr id="14" name="!!strategy"/>
          <p:cNvSpPr/>
          <p:nvPr/>
        </p:nvSpPr>
        <p:spPr>
          <a:xfrm>
            <a:off x="7776972" y="36576"/>
            <a:ext cx="40919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أتوقع (التوقع القبلي)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</p:spTree>
  </p:cSld>
  <p:clrMapOvr>
    <a:masterClrMapping/>
  </p:clrMapOvr>
  <p:transition spd="med">
    <p:zoom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خريطة رحلتنا العلمية</a:t>
            </a:r>
          </a:p>
        </p:txBody>
      </p:sp>
      <p:sp>
        <p:nvSpPr>
          <p:cNvPr id="4" name="!!mapscreen"/>
          <p:cNvSpPr/>
          <p:nvPr/>
        </p:nvSpPr>
        <p:spPr>
          <a:xfrm>
            <a:off x="411480" y="1143000"/>
            <a:ext cx="11365992" cy="5029200"/>
          </a:xfrm>
          <a:prstGeom prst="roundRect">
            <a:avLst>
              <a:gd name="adj" fmla="val 4545"/>
            </a:avLst>
          </a:prstGeom>
          <a:solidFill>
            <a:srgbClr val="FFFFFF">
              <a:alpha val="92000"/>
            </a:srgbClr>
          </a:solidFill>
          <a:ln w="19050">
            <a:solidFill>
              <a:srgbClr val="2B3A55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mapcenter"/>
          <p:cNvSpPr/>
          <p:nvPr/>
        </p:nvSpPr>
        <p:spPr>
          <a:xfrm>
            <a:off x="2651760" y="1325880"/>
            <a:ext cx="6903720" cy="777240"/>
          </a:xfrm>
          <a:prstGeom prst="roundRect">
            <a:avLst>
              <a:gd name="adj" fmla="val 49411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كيف تتكاثر المخلوقات الحية الدقيقة؟</a:t>
            </a:r>
          </a:p>
        </p:txBody>
      </p:sp>
      <p:cxnSp>
        <p:nvCxnSpPr>
          <p:cNvPr id="6" name="!!line_p"/>
          <p:cNvCxnSpPr/>
          <p:nvPr/>
        </p:nvCxnSpPr>
        <p:spPr>
          <a:xfrm>
            <a:off x="6099048" y="2103120"/>
            <a:ext cx="3707892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!!br_p">
            <a:hlinkClick action="ppaction://hlinksldjump" r:id="rId5"/>
          </p:cNvPr>
          <p:cNvSpPr/>
          <p:nvPr/>
        </p:nvSpPr>
        <p:spPr>
          <a:xfrm>
            <a:off x="832104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الطلائعيات</a:t>
            </a:r>
          </a:p>
        </p:txBody>
      </p:sp>
      <p:cxnSp>
        <p:nvCxnSpPr>
          <p:cNvPr id="8" name="!!line_f"/>
          <p:cNvCxnSpPr/>
          <p:nvPr/>
        </p:nvCxnSpPr>
        <p:spPr>
          <a:xfrm>
            <a:off x="6099048" y="2103120"/>
            <a:ext cx="4572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!!br_f"/>
          <p:cNvSpPr/>
          <p:nvPr/>
        </p:nvSpPr>
        <p:spPr>
          <a:xfrm>
            <a:off x="461772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C9D2DE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الفطريات</a:t>
            </a:r>
          </a:p>
        </p:txBody>
      </p:sp>
      <p:pic>
        <p:nvPicPr>
          <p:cNvPr id="10" name="!!lock_f" descr="ic_lo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7448" y="2587752"/>
            <a:ext cx="502920" cy="502920"/>
          </a:xfrm>
          <a:prstGeom prst="rect">
            <a:avLst/>
          </a:prstGeom>
        </p:spPr>
      </p:pic>
      <p:cxnSp>
        <p:nvCxnSpPr>
          <p:cNvPr id="11" name="!!line_b"/>
          <p:cNvCxnSpPr/>
          <p:nvPr/>
        </p:nvCxnSpPr>
        <p:spPr>
          <a:xfrm flipH="1">
            <a:off x="2400300" y="2103120"/>
            <a:ext cx="3698748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!!br_b"/>
          <p:cNvSpPr/>
          <p:nvPr/>
        </p:nvSpPr>
        <p:spPr>
          <a:xfrm>
            <a:off x="91440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C9D2DE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البكتيريا</a:t>
            </a:r>
          </a:p>
        </p:txBody>
      </p:sp>
      <p:pic>
        <p:nvPicPr>
          <p:cNvPr id="13" name="!!lock_b" descr="ic_lo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" y="2587752"/>
            <a:ext cx="502920" cy="502920"/>
          </a:xfrm>
          <a:prstGeom prst="rect">
            <a:avLst/>
          </a:prstGeom>
        </p:spPr>
      </p:pic>
      <p:sp>
        <p:nvSpPr>
          <p:cNvPr id="14" name="!!strategy"/>
          <p:cNvSpPr/>
          <p:nvPr/>
        </p:nvSpPr>
        <p:spPr>
          <a:xfrm>
            <a:off x="8577072" y="36576"/>
            <a:ext cx="3291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خريطة المفاهيم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</a:t>
            </a:r>
          </a:p>
        </p:txBody>
      </p:sp>
      <p:sp>
        <p:nvSpPr>
          <p:cNvPr id="17" name="nav_p96page">
            <a:hlinkClick action="ppaction://hlinksldjump" r:id="rId5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slow">
    <p:fade/>
  </p:transition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الطلائعيات: صفحة ٩٦ على الشاشة الذكية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screen"/>
          <p:cNvSpPr/>
          <p:nvPr/>
        </p:nvSpPr>
        <p:spPr>
          <a:xfrm>
            <a:off x="457200" y="1143000"/>
            <a:ext cx="5577840" cy="5029200"/>
          </a:xfrm>
          <a:prstGeom prst="roundRect">
            <a:avLst>
              <a:gd name="adj" fmla="val 4545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6_p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3316" y="1261872"/>
            <a:ext cx="3865606" cy="4800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263640" y="1234440"/>
            <a:ext cx="5440680" cy="3291840"/>
          </a:xfrm>
          <a:prstGeom prst="roundRect">
            <a:avLst>
              <a:gd name="adj" fmla="val 6944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96_protist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1416848"/>
            <a:ext cx="5257800" cy="292702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63640" y="4709160"/>
            <a:ext cx="5440680" cy="9144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1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نقرأ معًا: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ما الطريقة التي تتكاثر بها معظم الطلائعيات؟</a:t>
            </a:r>
          </a:p>
        </p:txBody>
      </p:sp>
      <p:sp>
        <p:nvSpPr>
          <p:cNvPr id="20" name="!!strategy"/>
          <p:cNvSpPr/>
          <p:nvPr/>
        </p:nvSpPr>
        <p:spPr>
          <a:xfrm>
            <a:off x="8462772" y="36576"/>
            <a:ext cx="34061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القراءة الموجهة</a:t>
            </a:r>
          </a:p>
        </p:txBody>
      </p:sp>
      <p:sp>
        <p:nvSpPr>
          <p:cNvPr id="2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3" name="nav_map0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</p:bld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المجهر الافتراضي: البراميسيوم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Picture 4" descr="microscop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828800"/>
            <a:ext cx="3397348" cy="4206240"/>
          </a:xfrm>
          <a:prstGeom prst="rect">
            <a:avLst/>
          </a:prstGeom>
        </p:spPr>
      </p:pic>
      <p:sp>
        <p:nvSpPr>
          <p:cNvPr id="6" name="lens"/>
          <p:cNvSpPr/>
          <p:nvPr/>
        </p:nvSpPr>
        <p:spPr>
          <a:xfrm>
            <a:off x="3291840" y="1188720"/>
            <a:ext cx="5120640" cy="4983480"/>
          </a:xfrm>
          <a:prstGeom prst="ellipse">
            <a:avLst/>
          </a:prstGeom>
          <a:solidFill>
            <a:srgbClr val="1E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p96_photo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1880" y="2697480"/>
            <a:ext cx="4480560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206240" y="4206240"/>
            <a:ext cx="3291840" cy="3657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400" b="0" i="0" lang="ar-SA">
                <a:solidFill>
                  <a:srgbClr val="C9D2E8"/>
                </a:solidFill>
                <a:latin typeface="Arial"/>
                <a:ea typeface="Arial"/>
                <a:cs typeface="Arial"/>
              </a:rPr>
              <a:t>من الكتاب · ص٩٦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41080" y="1463040"/>
            <a:ext cx="3063240" cy="2926080"/>
          </a:xfrm>
          <a:prstGeom prst="roundRect">
            <a:avLst>
              <a:gd name="adj" fmla="val 7812"/>
            </a:avLst>
          </a:prstGeom>
          <a:solidFill>
            <a:srgbClr val="FFF6DD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778240" y="1554480"/>
            <a:ext cx="2788920" cy="27432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1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أتوقع:</a:t>
            </a:r>
          </a:p>
          <a:p>
            <a:pPr algn="r" rtl="1"/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ماذا تتوقعين أن يحدث لهذا المخلوق؟</a:t>
            </a:r>
          </a:p>
          <a:p>
            <a:pPr algn="r" rtl="1"/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لاحظي المنطقة الوسطى.</a:t>
            </a:r>
          </a:p>
        </p:txBody>
      </p:sp>
      <p:sp>
        <p:nvSpPr>
          <p:cNvPr id="20" name="!!strategy"/>
          <p:cNvSpPr/>
          <p:nvPr/>
        </p:nvSpPr>
        <p:spPr>
          <a:xfrm>
            <a:off x="8805672" y="36576"/>
            <a:ext cx="3063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ألاحظ وأتوقع</a:t>
            </a:r>
          </a:p>
        </p:txBody>
      </p:sp>
      <p:sp>
        <p:nvSpPr>
          <p:cNvPr id="2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3" name="nav_map0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zoom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9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9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9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الانشطار الثنائي في البراميسيوم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3721608" y="1965960"/>
            <a:ext cx="4754880" cy="20116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3721608" y="1965960"/>
            <a:ext cx="4754880" cy="20116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5596128" y="2688336"/>
            <a:ext cx="1005840" cy="566928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5596128" y="2688336"/>
            <a:ext cx="1005840" cy="566928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va1"/>
          <p:cNvSpPr/>
          <p:nvPr/>
        </p:nvSpPr>
        <p:spPr>
          <a:xfrm>
            <a:off x="3950207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va2"/>
          <p:cNvSpPr/>
          <p:nvPr/>
        </p:nvSpPr>
        <p:spPr>
          <a:xfrm>
            <a:off x="434340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vb1"/>
          <p:cNvSpPr/>
          <p:nvPr/>
        </p:nvSpPr>
        <p:spPr>
          <a:xfrm>
            <a:off x="7973568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vb2"/>
          <p:cNvSpPr/>
          <p:nvPr/>
        </p:nvSpPr>
        <p:spPr>
          <a:xfrm>
            <a:off x="763524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2960" y="4343400"/>
            <a:ext cx="3657600" cy="4572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انقري لمشاهدة ما يحدث ←</a:t>
            </a:r>
          </a:p>
        </p:txBody>
      </p:sp>
      <p:sp>
        <p:nvSpPr>
          <p:cNvPr id="16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9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slow">
    <p:fade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الانشطار الثنائي في البراميسيوم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3081528" y="2011680"/>
            <a:ext cx="6035040" cy="192024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3081528" y="2011680"/>
            <a:ext cx="6035040" cy="192024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384548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6944868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va1"/>
          <p:cNvSpPr/>
          <p:nvPr/>
        </p:nvSpPr>
        <p:spPr>
          <a:xfrm>
            <a:off x="3950207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va2"/>
          <p:cNvSpPr/>
          <p:nvPr/>
        </p:nvSpPr>
        <p:spPr>
          <a:xfrm>
            <a:off x="434340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vb1"/>
          <p:cNvSpPr/>
          <p:nvPr/>
        </p:nvSpPr>
        <p:spPr>
          <a:xfrm>
            <a:off x="7973568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vb2"/>
          <p:cNvSpPr/>
          <p:nvPr/>
        </p:nvSpPr>
        <p:spPr>
          <a:xfrm>
            <a:off x="763524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١ يتمّ تضاعف المادة الوراثية</a:t>
            </a:r>
          </a:p>
        </p:txBody>
      </p:sp>
      <p:sp>
        <p:nvSpPr>
          <p:cNvPr id="16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9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الانشطار الثنائي في البراميسيوم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2715768" y="2080260"/>
            <a:ext cx="3566160" cy="17830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5916168" y="2080260"/>
            <a:ext cx="3566160" cy="17830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064508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7264908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va1"/>
          <p:cNvSpPr/>
          <p:nvPr/>
        </p:nvSpPr>
        <p:spPr>
          <a:xfrm>
            <a:off x="3538727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va2"/>
          <p:cNvSpPr/>
          <p:nvPr/>
        </p:nvSpPr>
        <p:spPr>
          <a:xfrm>
            <a:off x="393192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vb1"/>
          <p:cNvSpPr/>
          <p:nvPr/>
        </p:nvSpPr>
        <p:spPr>
          <a:xfrm>
            <a:off x="8385048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vb2"/>
          <p:cNvSpPr/>
          <p:nvPr/>
        </p:nvSpPr>
        <p:spPr>
          <a:xfrm>
            <a:off x="804672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يتمّ تضاعف المادة الوراثية</a:t>
            </a:r>
          </a:p>
        </p:txBody>
      </p:sp>
      <p:sp>
        <p:nvSpPr>
          <p:cNvPr id="16" name="!!lab2"/>
          <p:cNvSpPr/>
          <p:nvPr/>
        </p:nvSpPr>
        <p:spPr>
          <a:xfrm>
            <a:off x="4306824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٢ تبدأ الخلية في الانقسام</a:t>
            </a:r>
          </a:p>
        </p:txBody>
      </p:sp>
      <p:sp>
        <p:nvSpPr>
          <p:cNvPr id="17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8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9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0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الانشطار الثنائي في البراميسيوم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1801367" y="2057400"/>
            <a:ext cx="3657600" cy="182880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6739128" y="2057400"/>
            <a:ext cx="3657600" cy="182880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3195827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8133588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va1"/>
          <p:cNvSpPr/>
          <p:nvPr/>
        </p:nvSpPr>
        <p:spPr>
          <a:xfrm>
            <a:off x="2670048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va2"/>
          <p:cNvSpPr/>
          <p:nvPr/>
        </p:nvSpPr>
        <p:spPr>
          <a:xfrm>
            <a:off x="3063239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vb1"/>
          <p:cNvSpPr/>
          <p:nvPr/>
        </p:nvSpPr>
        <p:spPr>
          <a:xfrm>
            <a:off x="9253728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vb2"/>
          <p:cNvSpPr/>
          <p:nvPr/>
        </p:nvSpPr>
        <p:spPr>
          <a:xfrm>
            <a:off x="891540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يتمّ تضاعف المادة الوراثية</a:t>
            </a:r>
          </a:p>
        </p:txBody>
      </p:sp>
      <p:sp>
        <p:nvSpPr>
          <p:cNvPr id="16" name="!!lab2"/>
          <p:cNvSpPr/>
          <p:nvPr/>
        </p:nvSpPr>
        <p:spPr>
          <a:xfrm>
            <a:off x="4306824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٢ تبدأ الخلية في الانقسام</a:t>
            </a:r>
          </a:p>
        </p:txBody>
      </p:sp>
      <p:sp>
        <p:nvSpPr>
          <p:cNvPr id="17" name="!!lab3"/>
          <p:cNvSpPr/>
          <p:nvPr/>
        </p:nvSpPr>
        <p:spPr>
          <a:xfrm>
            <a:off x="548640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٣ ينتج مخلوقان متماثلان</a:t>
            </a:r>
          </a:p>
        </p:txBody>
      </p:sp>
      <p:sp>
        <p:nvSpPr>
          <p:cNvPr id="18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9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0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1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2" name="nav_q_read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الانشطار الثنائي في البراميسيوم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3721608" y="1965960"/>
            <a:ext cx="4754880" cy="20116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3721608" y="1965960"/>
            <a:ext cx="4754880" cy="20116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5596128" y="2688336"/>
            <a:ext cx="1005840" cy="566928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5596128" y="2688336"/>
            <a:ext cx="1005840" cy="566928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va1"/>
          <p:cNvSpPr/>
          <p:nvPr/>
        </p:nvSpPr>
        <p:spPr>
          <a:xfrm>
            <a:off x="3950207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va2"/>
          <p:cNvSpPr/>
          <p:nvPr/>
        </p:nvSpPr>
        <p:spPr>
          <a:xfrm>
            <a:off x="434340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vb1"/>
          <p:cNvSpPr/>
          <p:nvPr/>
        </p:nvSpPr>
        <p:spPr>
          <a:xfrm>
            <a:off x="7973568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vb2"/>
          <p:cNvSpPr/>
          <p:nvPr/>
        </p:nvSpPr>
        <p:spPr>
          <a:xfrm>
            <a:off x="763524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2960" y="4343400"/>
            <a:ext cx="3657600" cy="4572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انقري لمشاهدة ما يحدث ←</a:t>
            </a:r>
          </a:p>
        </p:txBody>
      </p:sp>
      <p:sp>
        <p:nvSpPr>
          <p:cNvPr id="16" name="!!strategy"/>
          <p:cNvSpPr/>
          <p:nvPr/>
        </p:nvSpPr>
        <p:spPr>
          <a:xfrm>
            <a:off x="7205472" y="36576"/>
            <a:ext cx="4663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 بالمحاكاة البطيئة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9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fisS1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slow">
    <p:fade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الانشطار الثنائي في البراميسيوم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3081528" y="2011680"/>
            <a:ext cx="6035040" cy="192024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3081528" y="2011680"/>
            <a:ext cx="6035040" cy="192024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384548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6944868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va1"/>
          <p:cNvSpPr/>
          <p:nvPr/>
        </p:nvSpPr>
        <p:spPr>
          <a:xfrm>
            <a:off x="3950207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va2"/>
          <p:cNvSpPr/>
          <p:nvPr/>
        </p:nvSpPr>
        <p:spPr>
          <a:xfrm>
            <a:off x="434340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vb1"/>
          <p:cNvSpPr/>
          <p:nvPr/>
        </p:nvSpPr>
        <p:spPr>
          <a:xfrm>
            <a:off x="7973568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vb2"/>
          <p:cNvSpPr/>
          <p:nvPr/>
        </p:nvSpPr>
        <p:spPr>
          <a:xfrm>
            <a:off x="763524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١ يتمّ تضاعف المادة الوراثية</a:t>
            </a:r>
          </a:p>
        </p:txBody>
      </p:sp>
      <p:sp>
        <p:nvSpPr>
          <p:cNvPr id="16" name="!!strategy"/>
          <p:cNvSpPr/>
          <p:nvPr/>
        </p:nvSpPr>
        <p:spPr>
          <a:xfrm>
            <a:off x="7205472" y="36576"/>
            <a:ext cx="4663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 بالمحاكاة البطيئة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9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fisS2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3200">
        <p159:morph option="byObject"/>
      </p:transition>
    </mc:Choice>
    <mc:Fallback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الانشطار الثنائي في البراميسيوم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2715768" y="2080260"/>
            <a:ext cx="3566160" cy="17830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5916168" y="2080260"/>
            <a:ext cx="3566160" cy="17830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064508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7264908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va1"/>
          <p:cNvSpPr/>
          <p:nvPr/>
        </p:nvSpPr>
        <p:spPr>
          <a:xfrm>
            <a:off x="3538727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va2"/>
          <p:cNvSpPr/>
          <p:nvPr/>
        </p:nvSpPr>
        <p:spPr>
          <a:xfrm>
            <a:off x="393192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vb1"/>
          <p:cNvSpPr/>
          <p:nvPr/>
        </p:nvSpPr>
        <p:spPr>
          <a:xfrm>
            <a:off x="8385048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vb2"/>
          <p:cNvSpPr/>
          <p:nvPr/>
        </p:nvSpPr>
        <p:spPr>
          <a:xfrm>
            <a:off x="804672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يتمّ تضاعف المادة الوراثية</a:t>
            </a:r>
          </a:p>
        </p:txBody>
      </p:sp>
      <p:sp>
        <p:nvSpPr>
          <p:cNvPr id="16" name="!!lab2"/>
          <p:cNvSpPr/>
          <p:nvPr/>
        </p:nvSpPr>
        <p:spPr>
          <a:xfrm>
            <a:off x="4306824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٢ تبدأ الخلية في الانقسام</a:t>
            </a:r>
          </a:p>
        </p:txBody>
      </p:sp>
      <p:sp>
        <p:nvSpPr>
          <p:cNvPr id="17" name="!!strategy"/>
          <p:cNvSpPr/>
          <p:nvPr/>
        </p:nvSpPr>
        <p:spPr>
          <a:xfrm>
            <a:off x="7205472" y="36576"/>
            <a:ext cx="4663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 بالمحاكاة البطيئة</a:t>
            </a:r>
          </a:p>
        </p:txBody>
      </p:sp>
      <p:sp>
        <p:nvSpPr>
          <p:cNvPr id="18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9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0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1" name="nav_fisS3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3200">
        <p159:morph option="byObject"/>
      </p:transition>
    </mc:Choice>
    <mc:Fallback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الانشطار الثنائي في البراميسيوم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1801367" y="2057400"/>
            <a:ext cx="3657600" cy="182880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6739128" y="2057400"/>
            <a:ext cx="3657600" cy="182880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3195827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8133588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va1"/>
          <p:cNvSpPr/>
          <p:nvPr/>
        </p:nvSpPr>
        <p:spPr>
          <a:xfrm>
            <a:off x="2670048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va2"/>
          <p:cNvSpPr/>
          <p:nvPr/>
        </p:nvSpPr>
        <p:spPr>
          <a:xfrm>
            <a:off x="3063239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vb1"/>
          <p:cNvSpPr/>
          <p:nvPr/>
        </p:nvSpPr>
        <p:spPr>
          <a:xfrm>
            <a:off x="9253728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vb2"/>
          <p:cNvSpPr/>
          <p:nvPr/>
        </p:nvSpPr>
        <p:spPr>
          <a:xfrm>
            <a:off x="891540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يتمّ تضاعف المادة الوراثية</a:t>
            </a:r>
          </a:p>
        </p:txBody>
      </p:sp>
      <p:sp>
        <p:nvSpPr>
          <p:cNvPr id="16" name="!!lab2"/>
          <p:cNvSpPr/>
          <p:nvPr/>
        </p:nvSpPr>
        <p:spPr>
          <a:xfrm>
            <a:off x="4306824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٢ تبدأ الخلية في الانقسام</a:t>
            </a:r>
          </a:p>
        </p:txBody>
      </p:sp>
      <p:sp>
        <p:nvSpPr>
          <p:cNvPr id="17" name="!!lab3"/>
          <p:cNvSpPr/>
          <p:nvPr/>
        </p:nvSpPr>
        <p:spPr>
          <a:xfrm>
            <a:off x="548640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٣ ينتج مخلوقان متماثلان</a:t>
            </a:r>
          </a:p>
        </p:txBody>
      </p:sp>
      <p:sp>
        <p:nvSpPr>
          <p:cNvPr id="18" name="!!strategy"/>
          <p:cNvSpPr/>
          <p:nvPr/>
        </p:nvSpPr>
        <p:spPr>
          <a:xfrm>
            <a:off x="7205472" y="36576"/>
            <a:ext cx="4663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 بالمحاكاة البطيئة</a:t>
            </a:r>
          </a:p>
        </p:txBody>
      </p:sp>
      <p:sp>
        <p:nvSpPr>
          <p:cNvPr id="19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0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1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2" name="nav_fisS_end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3200">
        <p159:morph option="byObject"/>
      </p:transition>
    </mc:Choice>
    <mc:Fallback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ألاحظ وأفسر · أقرأ الصورة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991048"/>
            <a:ext cx="4626864" cy="3333102"/>
          </a:xfrm>
          <a:prstGeom prst="roundRect">
            <a:avLst>
              <a:gd name="adj" fmla="val 2743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6_fi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064200"/>
            <a:ext cx="4480560" cy="318679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46120" y="5205279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ص٩٦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أقرأ الصورة: </a:t>
            </a:r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ماذا يحدث لهذا البراميسيوم؟</a:t>
            </a:r>
          </a:p>
          <a:p>
            <a:pPr algn="r" rtl="1"/>
            <a:r>
              <a:rPr sz="19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إرشاد: </a:t>
            </a:r>
            <a:r>
              <a:rPr sz="1900" b="0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أنظرُ ماذا يحدث في المنطقة الوسطى؟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يتغذى على البكتيريا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907536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يتكاثر بالانشطار الثنائي؛ فقد انقسم عند منطقته الوسطى إلى براميسيومين جديدين متماثلين</a:t>
            </a:r>
          </a:p>
        </p:txBody>
      </p:sp>
      <p:sp>
        <p:nvSpPr>
          <p:cNvPr id="12" name="!!opt2">
            <a:hlinkClick action="ppaction://hlinksldjump" r:id="rId5"/>
          </p:cNvPr>
          <p:cNvSpPr/>
          <p:nvPr/>
        </p:nvSpPr>
        <p:spPr>
          <a:xfrm>
            <a:off x="5257800" y="5071872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يتحرك بسرعة في الماء</a:t>
            </a:r>
          </a:p>
        </p:txBody>
      </p:sp>
      <p:sp>
        <p:nvSpPr>
          <p:cNvPr id="13" name="!!strategy"/>
          <p:cNvSpPr/>
          <p:nvPr/>
        </p:nvSpPr>
        <p:spPr>
          <a:xfrm>
            <a:off x="8919972" y="36576"/>
            <a:ext cx="29489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ألاحظ وأفسر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6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ألاحظ وأفسر · أقرأ الصورة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انظري إلى المنطقة الوسطى في الصورة: هل ترين خلية واحدة أم خليتين تنفصلان؟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4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q_read_try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ألاحظ وأفسر · أقرأ الصورة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991048"/>
            <a:ext cx="4626864" cy="3333102"/>
          </a:xfrm>
          <a:prstGeom prst="roundRect">
            <a:avLst>
              <a:gd name="adj" fmla="val 2743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6_fi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064200"/>
            <a:ext cx="4480560" cy="318679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46120" y="5205279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ص٩٦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أقرأ الصورة: </a:t>
            </a:r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ماذا يحدث لهذا البراميسيوم؟</a:t>
            </a:r>
          </a:p>
          <a:p>
            <a:pPr algn="r" rtl="1"/>
            <a:r>
              <a:rPr sz="19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إرشاد: </a:t>
            </a:r>
            <a:r>
              <a:rPr sz="1900" b="0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أنظرُ ماذا يحدث في المنطقة الوسطى؟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يتغذى على البكتيريا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907536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يتكاثر بالانشطار الثنائي؛ فقد انقسم عند منطقته الوسطى إلى براميسيومين جديدين متماثلين</a:t>
            </a:r>
          </a:p>
        </p:txBody>
      </p:sp>
      <p:sp>
        <p:nvSpPr>
          <p:cNvPr id="12" name="!!opt2">
            <a:hlinkClick action="ppaction://hlinksldjump" r:id="rId5"/>
          </p:cNvPr>
          <p:cNvSpPr/>
          <p:nvPr/>
        </p:nvSpPr>
        <p:spPr>
          <a:xfrm>
            <a:off x="5257800" y="5071872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يتحرك بسرعة في الماء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4" name="!!strategy"/>
          <p:cNvSpPr/>
          <p:nvPr/>
        </p:nvSpPr>
        <p:spPr>
          <a:xfrm>
            <a:off x="8919972" y="36576"/>
            <a:ext cx="29489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ألاحظ وأفسر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7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763420"/>
            <a:ext cx="5266944" cy="3788359"/>
          </a:xfrm>
          <a:prstGeom prst="roundRect">
            <a:avLst>
              <a:gd name="adj" fmla="val 2413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6_fi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836572"/>
            <a:ext cx="5120640" cy="364205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886200" y="5432907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لاحظي المراحل الثلاث في شكل الكتاب: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١ يتم تضاعف المادة الوراثية.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٢ تبدأ الخلية في الانقسام.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٣ ينتج مخلوقان متماثلان.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شاهدي الحركة ببطء، ثم جربي السؤال المشابه.</a:t>
            </a:r>
          </a:p>
        </p:txBody>
      </p:sp>
      <p:sp>
        <p:nvSpPr>
          <p:cNvPr id="10" name="Rounded Rectangle 9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1" name="Rounded Rectangle 10">
            <a:hlinkClick action="ppaction://hlinksldjump" r:id="rId6"/>
          </p:cNvPr>
          <p:cNvSpPr/>
          <p:nvPr/>
        </p:nvSpPr>
        <p:spPr>
          <a:xfrm>
            <a:off x="4892040" y="5257800"/>
            <a:ext cx="3200400" cy="640080"/>
          </a:xfrm>
          <a:prstGeom prst="roundRect">
            <a:avLst>
              <a:gd name="adj" fmla="val 42857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أشاهد الحركة ببطء</a:t>
            </a:r>
          </a:p>
        </p:txBody>
      </p:sp>
      <p:sp>
        <p:nvSpPr>
          <p:cNvPr id="12" name="!!strategy"/>
          <p:cNvSpPr/>
          <p:nvPr/>
        </p:nvSpPr>
        <p:spPr>
          <a:xfrm>
            <a:off x="7891272" y="36576"/>
            <a:ext cx="39776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المعالجة: نشاط علاجي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5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ألاحظ وأفسر · أقرأ الصورة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كم مخلوقًا جديدًا ينتج عن انشطار براميسيوم واحد؟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واحد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اثنان متماثلان</a:t>
            </a:r>
          </a:p>
        </p:txBody>
      </p:sp>
      <p:sp>
        <p:nvSpPr>
          <p:cNvPr id="9" name="!!opt2">
            <a:hlinkClick action="ppaction://hlinksldjump" r:id="rId4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ثلاثة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1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إعادة التحقق: سؤال مشابه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4" name="nav_map0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ألاحظ وأفسر · أقرأ الصورة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أقرأ الصورة: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ماذا يحدث لهذا البراميسيوم؟</a:t>
            </a:r>
          </a:p>
          <a:p>
            <a:pPr algn="r" rtl="1"/>
            <a:r>
              <a:rPr sz="19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إرشاد: </a:t>
            </a:r>
            <a:r>
              <a:rPr sz="1900" b="0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أنظرُ ماذا يحدث في المنطقة الوسطى؟</a:t>
            </a:r>
          </a:p>
        </p:txBody>
      </p:sp>
      <p:sp>
        <p:nvSpPr>
          <p:cNvPr id="7" name="!!opt1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ب)  </a:t>
            </a:r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يتكاثر بالانشطار الثنائي؛ فقد انقسم عند منطقته الوسطى إلى براميسيومين جديدين متماثلين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هذه إجابة الكتاب: يتكاثر بالانشطار الثنائي؛ فقد انقسم عند منطقته الوسطى إلى براميسيومين جديدين متماثلين.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9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hunt1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المحققة العلمية · صيد الدليل (١)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Picture 4" descr="ic_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7080" y="1234440"/>
            <a:ext cx="731520" cy="731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188720"/>
            <a:ext cx="10241280" cy="8229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المهمة: </a:t>
            </a:r>
            <a:r>
              <a:rPr sz="23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اصطادي العبارة التي تصف ما يحدث للبراميسيوم خطوةً بخطوة في أثناء الانشطار.</a:t>
            </a:r>
          </a:p>
        </p:txBody>
      </p:sp>
      <p:sp>
        <p:nvSpPr>
          <p:cNvPr id="7" name="sen0"/>
          <p:cNvSpPr/>
          <p:nvPr/>
        </p:nvSpPr>
        <p:spPr>
          <a:xfrm>
            <a:off x="548640" y="2103120"/>
            <a:ext cx="11091672" cy="941832"/>
          </a:xfrm>
          <a:prstGeom prst="roundRect">
            <a:avLst>
              <a:gd name="adj" fmla="val 19417"/>
            </a:avLst>
          </a:prstGeom>
          <a:solidFill>
            <a:srgbClr val="F7FAFF"/>
          </a:solidFill>
          <a:ln w="25400">
            <a:solidFill>
              <a:srgbClr val="B9CD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0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«تتكاثر معظم الطلائعيات بالانشطار الثنائي.»</a:t>
            </a:r>
          </a:p>
        </p:txBody>
      </p:sp>
      <p:pic>
        <p:nvPicPr>
          <p:cNvPr id="8" name="Picture 7" descr="ic_cr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299716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31250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ليست هذه…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ابحثي عن كلمات تدل على خطوات: استطالة… تضاعف… انقسام.</a:t>
            </a:r>
          </a:p>
        </p:txBody>
      </p:sp>
      <p:sp>
        <p:nvSpPr>
          <p:cNvPr id="10" name="sen1"/>
          <p:cNvSpPr/>
          <p:nvPr/>
        </p:nvSpPr>
        <p:spPr>
          <a:xfrm>
            <a:off x="548640" y="3182111"/>
            <a:ext cx="11091672" cy="941832"/>
          </a:xfrm>
          <a:prstGeom prst="roundRect">
            <a:avLst>
              <a:gd name="adj" fmla="val 19417"/>
            </a:avLst>
          </a:prstGeom>
          <a:solidFill>
            <a:srgbClr val="F7FAFF"/>
          </a:solidFill>
          <a:ln w="25400">
            <a:solidFill>
              <a:srgbClr val="B9CD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0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٢)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«وهو نوع من التكاثر اللاجنسي ينقسم فيه المخلوق الحي إلى مخلوقين حيين جديدين متماثلين.»</a:t>
            </a:r>
          </a:p>
        </p:txBody>
      </p:sp>
      <p:pic>
        <p:nvPicPr>
          <p:cNvPr id="11" name="Picture 10" descr="ic_cr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378708"/>
            <a:ext cx="548640" cy="54864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31250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ليست هذه…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ابحثي عن كلمات تدل على خطوات: استطالة… تضاعف… انقسام.</a:t>
            </a:r>
          </a:p>
        </p:txBody>
      </p:sp>
      <p:sp>
        <p:nvSpPr>
          <p:cNvPr id="13" name="sen2"/>
          <p:cNvSpPr/>
          <p:nvPr/>
        </p:nvSpPr>
        <p:spPr>
          <a:xfrm>
            <a:off x="548640" y="4261104"/>
            <a:ext cx="11091672" cy="941832"/>
          </a:xfrm>
          <a:prstGeom prst="roundRect">
            <a:avLst>
              <a:gd name="adj" fmla="val 19417"/>
            </a:avLst>
          </a:prstGeom>
          <a:solidFill>
            <a:srgbClr val="F7FAFF"/>
          </a:solidFill>
          <a:ln w="25400">
            <a:solidFill>
              <a:srgbClr val="B9CD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0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«ومثال ذلك استطالة البراميسيوم وتضاعف كروموسوماته وانقسامه إلى اثنين.»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61104"/>
            <a:ext cx="11091672" cy="941832"/>
          </a:xfrm>
          <a:prstGeom prst="roundRect">
            <a:avLst>
              <a:gd name="adj" fmla="val 19417"/>
            </a:avLst>
          </a:prstGeom>
          <a:noFill/>
          <a:ln w="635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ic_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457700"/>
            <a:ext cx="548640" cy="54864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31250"/>
            </a:avLst>
          </a:prstGeom>
          <a:solidFill>
            <a:srgbClr val="E2F7E9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صيد موفّق!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تذكر هذه العبارة الخطوات: استطالة، ثم تضاعف الكروموسومات، ثم الانقسام إلى اثنين.</a:t>
            </a:r>
          </a:p>
        </p:txBody>
      </p:sp>
      <p:sp>
        <p:nvSpPr>
          <p:cNvPr id="53" name="!!strategy"/>
          <p:cNvSpPr/>
          <p:nvPr/>
        </p:nvSpPr>
        <p:spPr>
          <a:xfrm>
            <a:off x="6976872" y="36576"/>
            <a:ext cx="48920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المحققة العلمية (صيد الدليل)</a:t>
            </a:r>
          </a:p>
        </p:txBody>
      </p:sp>
      <p:sp>
        <p:nvSpPr>
          <p:cNvPr id="5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5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56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57" name="nav_hunt2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5" fill="hold">
                      <p:stCondLst>
                        <p:cond delay="0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  <p:bldP spid="14" grpId="0" animBg="1"/>
      <p:bldP spid="16" grpId="0" animBg="1"/>
    </p:bld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المحققة العلمية · صيد الدليل (٢)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Picture 4" descr="ic_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7080" y="1234440"/>
            <a:ext cx="731520" cy="731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188720"/>
            <a:ext cx="10241280" cy="8229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المهمة: </a:t>
            </a:r>
            <a:r>
              <a:rPr sz="23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اصطادي العبارة التي تبيّن نوع هذا التكاثر.</a:t>
            </a:r>
          </a:p>
        </p:txBody>
      </p:sp>
      <p:sp>
        <p:nvSpPr>
          <p:cNvPr id="7" name="sen0"/>
          <p:cNvSpPr/>
          <p:nvPr/>
        </p:nvSpPr>
        <p:spPr>
          <a:xfrm>
            <a:off x="548640" y="2103120"/>
            <a:ext cx="11091672" cy="941832"/>
          </a:xfrm>
          <a:prstGeom prst="roundRect">
            <a:avLst>
              <a:gd name="adj" fmla="val 19417"/>
            </a:avLst>
          </a:prstGeom>
          <a:solidFill>
            <a:srgbClr val="F7FAFF"/>
          </a:solidFill>
          <a:ln w="25400">
            <a:solidFill>
              <a:srgbClr val="B9CD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0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«تتكاثر معظم الطلائعيات بالانشطار الثنائي.»</a:t>
            </a:r>
          </a:p>
        </p:txBody>
      </p:sp>
      <p:pic>
        <p:nvPicPr>
          <p:cNvPr id="8" name="Picture 7" descr="ic_cr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299716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31250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ليست هذه…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ابحثي عن كلمة تصف «نوع» التكاثر.</a:t>
            </a:r>
          </a:p>
        </p:txBody>
      </p:sp>
      <p:sp>
        <p:nvSpPr>
          <p:cNvPr id="10" name="sen1"/>
          <p:cNvSpPr/>
          <p:nvPr/>
        </p:nvSpPr>
        <p:spPr>
          <a:xfrm>
            <a:off x="548640" y="3182111"/>
            <a:ext cx="11091672" cy="941832"/>
          </a:xfrm>
          <a:prstGeom prst="roundRect">
            <a:avLst>
              <a:gd name="adj" fmla="val 19417"/>
            </a:avLst>
          </a:prstGeom>
          <a:solidFill>
            <a:srgbClr val="F7FAFF"/>
          </a:solidFill>
          <a:ln w="25400">
            <a:solidFill>
              <a:srgbClr val="B9CD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0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٢)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«وهو نوع من التكاثر اللاجنسي ينقسم فيه المخلوق الحي إلى مخلوقين حيين جديدين متماثلين.»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182111"/>
            <a:ext cx="11091672" cy="941832"/>
          </a:xfrm>
          <a:prstGeom prst="roundRect">
            <a:avLst>
              <a:gd name="adj" fmla="val 19417"/>
            </a:avLst>
          </a:prstGeom>
          <a:noFill/>
          <a:ln w="635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ic_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378708"/>
            <a:ext cx="548640" cy="5486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31250"/>
            </a:avLst>
          </a:prstGeom>
          <a:solidFill>
            <a:srgbClr val="E2F7E9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صيد موفّق!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كلمة «اللاجنسي» تبيّن نوع التكاثر: مخلوق واحد ينتج مخلوقين متماثلين.</a:t>
            </a:r>
          </a:p>
        </p:txBody>
      </p:sp>
      <p:sp>
        <p:nvSpPr>
          <p:cNvPr id="14" name="sen2"/>
          <p:cNvSpPr/>
          <p:nvPr/>
        </p:nvSpPr>
        <p:spPr>
          <a:xfrm>
            <a:off x="548640" y="4261104"/>
            <a:ext cx="11091672" cy="941832"/>
          </a:xfrm>
          <a:prstGeom prst="roundRect">
            <a:avLst>
              <a:gd name="adj" fmla="val 19417"/>
            </a:avLst>
          </a:prstGeom>
          <a:solidFill>
            <a:srgbClr val="F7FAFF"/>
          </a:solidFill>
          <a:ln w="25400">
            <a:solidFill>
              <a:srgbClr val="B9CD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0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«ومثال ذلك استطالة البراميسيوم وتضاعف كروموسوماته وانقسامه إلى اثنين.»</a:t>
            </a:r>
          </a:p>
        </p:txBody>
      </p:sp>
      <p:pic>
        <p:nvPicPr>
          <p:cNvPr id="15" name="Picture 14" descr="ic_cr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457700"/>
            <a:ext cx="548640" cy="54864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31250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ليست هذه…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ابحثي عن كلمة تصف «نوع» التكاثر.</a:t>
            </a:r>
          </a:p>
        </p:txBody>
      </p:sp>
      <p:sp>
        <p:nvSpPr>
          <p:cNvPr id="53" name="!!strategy"/>
          <p:cNvSpPr/>
          <p:nvPr/>
        </p:nvSpPr>
        <p:spPr>
          <a:xfrm>
            <a:off x="6976872" y="36576"/>
            <a:ext cx="48920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المحققة العلمية (صيد الدليل)</a:t>
            </a:r>
          </a:p>
        </p:txBody>
      </p:sp>
      <p:sp>
        <p:nvSpPr>
          <p:cNvPr id="5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5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56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57" name="nav_ord1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6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3" grpId="0" animBg="1"/>
      <p:bldP spid="16" grpId="0" animBg="1"/>
    </p:bldLst>
  </p:timing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رتّبي مراحل الانشطار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Picture 4" descr="ic_g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7080" y="1188720"/>
            <a:ext cx="731520" cy="731520"/>
          </a:xfrm>
          <a:prstGeom prst="rect">
            <a:avLst/>
          </a:prstGeom>
        </p:spPr>
      </p:pic>
      <p:sp>
        <p:nvSpPr>
          <p:cNvPr id="6" name="!!ask"/>
          <p:cNvSpPr txBox="1"/>
          <p:nvPr/>
        </p:nvSpPr>
        <p:spPr>
          <a:xfrm>
            <a:off x="548640" y="1188720"/>
            <a:ext cx="10241280" cy="6858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اختاري المرحلة الأولى</a:t>
            </a:r>
          </a:p>
        </p:txBody>
      </p:sp>
      <p:sp>
        <p:nvSpPr>
          <p:cNvPr id="7" name="!!slot0"/>
          <p:cNvSpPr/>
          <p:nvPr/>
        </p:nvSpPr>
        <p:spPr>
          <a:xfrm>
            <a:off x="8028432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١</a:t>
            </a:r>
          </a:p>
        </p:txBody>
      </p:sp>
      <p:sp>
        <p:nvSpPr>
          <p:cNvPr id="8" name="!!slot1"/>
          <p:cNvSpPr/>
          <p:nvPr/>
        </p:nvSpPr>
        <p:spPr>
          <a:xfrm>
            <a:off x="4288536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٢</a:t>
            </a:r>
          </a:p>
        </p:txBody>
      </p:sp>
      <p:sp>
        <p:nvSpPr>
          <p:cNvPr id="9" name="!!slot2"/>
          <p:cNvSpPr/>
          <p:nvPr/>
        </p:nvSpPr>
        <p:spPr>
          <a:xfrm>
            <a:off x="548639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٣</a:t>
            </a:r>
          </a:p>
        </p:txBody>
      </p:sp>
      <p:sp>
        <p:nvSpPr>
          <p:cNvPr id="10" name="!!card1">
            <a:hlinkClick action="ppaction://hlinksldjump" r:id="rId5"/>
          </p:cNvPr>
          <p:cNvSpPr/>
          <p:nvPr/>
        </p:nvSpPr>
        <p:spPr>
          <a:xfrm>
            <a:off x="8028432" y="38862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تبدأ الخلية في الانقسام</a:t>
            </a:r>
          </a:p>
        </p:txBody>
      </p:sp>
      <p:sp>
        <p:nvSpPr>
          <p:cNvPr id="11" name="!!card2">
            <a:hlinkClick action="ppaction://hlinksldjump" r:id="rId5"/>
          </p:cNvPr>
          <p:cNvSpPr/>
          <p:nvPr/>
        </p:nvSpPr>
        <p:spPr>
          <a:xfrm>
            <a:off x="4288536" y="38862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ينتج مخلوقان متماثلان</a:t>
            </a:r>
          </a:p>
        </p:txBody>
      </p:sp>
      <p:sp>
        <p:nvSpPr>
          <p:cNvPr id="12" name="!!card0">
            <a:hlinkClick action="ppaction://hlinksldjump" r:id="rId6"/>
          </p:cNvPr>
          <p:cNvSpPr/>
          <p:nvPr/>
        </p:nvSpPr>
        <p:spPr>
          <a:xfrm>
            <a:off x="548639" y="38862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يتم تضاعف المادة الوراثية</a:t>
            </a:r>
          </a:p>
        </p:txBody>
      </p:sp>
      <p:sp>
        <p:nvSpPr>
          <p:cNvPr id="13" name="!!strategy"/>
          <p:cNvSpPr/>
          <p:nvPr/>
        </p:nvSpPr>
        <p:spPr>
          <a:xfrm>
            <a:off x="6976872" y="36576"/>
            <a:ext cx="48920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التعلم باللعب: رتّبي المراحل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6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رتّبي مراحل الانشطار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Picture 4" descr="ic_ga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27080" y="1188720"/>
            <a:ext cx="731520" cy="731520"/>
          </a:xfrm>
          <a:prstGeom prst="rect">
            <a:avLst/>
          </a:prstGeom>
        </p:spPr>
      </p:pic>
      <p:sp>
        <p:nvSpPr>
          <p:cNvPr id="6" name="!!ask"/>
          <p:cNvSpPr txBox="1"/>
          <p:nvPr/>
        </p:nvSpPr>
        <p:spPr>
          <a:xfrm>
            <a:off x="548640" y="1188720"/>
            <a:ext cx="10241280" cy="6858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اختاري المرحلة الثانية</a:t>
            </a:r>
          </a:p>
        </p:txBody>
      </p:sp>
      <p:sp>
        <p:nvSpPr>
          <p:cNvPr id="7" name="!!slot0"/>
          <p:cNvSpPr/>
          <p:nvPr/>
        </p:nvSpPr>
        <p:spPr>
          <a:xfrm>
            <a:off x="8028432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١</a:t>
            </a:r>
          </a:p>
        </p:txBody>
      </p:sp>
      <p:sp>
        <p:nvSpPr>
          <p:cNvPr id="8" name="!!slot1"/>
          <p:cNvSpPr/>
          <p:nvPr/>
        </p:nvSpPr>
        <p:spPr>
          <a:xfrm>
            <a:off x="4288536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٢</a:t>
            </a:r>
          </a:p>
        </p:txBody>
      </p:sp>
      <p:sp>
        <p:nvSpPr>
          <p:cNvPr id="9" name="!!slot2"/>
          <p:cNvSpPr/>
          <p:nvPr/>
        </p:nvSpPr>
        <p:spPr>
          <a:xfrm>
            <a:off x="548639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٣</a:t>
            </a:r>
          </a:p>
        </p:txBody>
      </p:sp>
      <p:sp>
        <p:nvSpPr>
          <p:cNvPr id="10" name="!!card1">
            <a:hlinkClick action="ppaction://hlinksldjump" r:id="rId6"/>
          </p:cNvPr>
          <p:cNvSpPr/>
          <p:nvPr/>
        </p:nvSpPr>
        <p:spPr>
          <a:xfrm>
            <a:off x="8028432" y="38862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تبدأ الخلية في الانقسام</a:t>
            </a:r>
          </a:p>
        </p:txBody>
      </p:sp>
      <p:sp>
        <p:nvSpPr>
          <p:cNvPr id="11" name="!!card2">
            <a:hlinkClick action="ppaction://hlinksldjump" r:id="rId7"/>
          </p:cNvPr>
          <p:cNvSpPr/>
          <p:nvPr/>
        </p:nvSpPr>
        <p:spPr>
          <a:xfrm>
            <a:off x="4288536" y="38862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ينتج مخلوقان متماثلان</a:t>
            </a:r>
          </a:p>
        </p:txBody>
      </p:sp>
      <p:sp>
        <p:nvSpPr>
          <p:cNvPr id="12" name="!!card0"/>
          <p:cNvSpPr/>
          <p:nvPr/>
        </p:nvSpPr>
        <p:spPr>
          <a:xfrm>
            <a:off x="8028432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E2F7E9"/>
          </a:solidFill>
          <a:ln w="31750">
            <a:solidFill>
              <a:srgbClr val="2FBF71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يتم تضاعف المادة الوراثية</a:t>
            </a:r>
          </a:p>
        </p:txBody>
      </p:sp>
      <p:sp>
        <p:nvSpPr>
          <p:cNvPr id="13" name="!!strategy"/>
          <p:cNvSpPr/>
          <p:nvPr/>
        </p:nvSpPr>
        <p:spPr>
          <a:xfrm>
            <a:off x="6976872" y="36576"/>
            <a:ext cx="48920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التعلم باللعب: رتّبي المراحل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6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800" advClick="0">
        <p159:morph option="byObject"/>
        <p:sndAc>
          <p:stSnd>
            <p:snd r:embed="rId4" name="correct.wav"/>
          </p:stSnd>
        </p:sndAc>
      </p:transition>
    </mc:Choice>
    <mc:Fallback>
      <p:transition spd="slow" advClick="0">
        <p:fade/>
        <p:sndAc>
          <p:stSnd>
            <p:snd r:embed="rId4" name="correct.wav"/>
          </p:stSnd>
        </p:sndAc>
      </p:transition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رتّبي مراحل الانشطار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Picture 4" descr="ic_ga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27080" y="1188720"/>
            <a:ext cx="731520" cy="731520"/>
          </a:xfrm>
          <a:prstGeom prst="rect">
            <a:avLst/>
          </a:prstGeom>
        </p:spPr>
      </p:pic>
      <p:sp>
        <p:nvSpPr>
          <p:cNvPr id="6" name="!!ask"/>
          <p:cNvSpPr txBox="1"/>
          <p:nvPr/>
        </p:nvSpPr>
        <p:spPr>
          <a:xfrm>
            <a:off x="548640" y="1188720"/>
            <a:ext cx="10241280" cy="6858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اختاري المرحلة الثالثة</a:t>
            </a:r>
          </a:p>
        </p:txBody>
      </p:sp>
      <p:sp>
        <p:nvSpPr>
          <p:cNvPr id="7" name="!!slot0"/>
          <p:cNvSpPr/>
          <p:nvPr/>
        </p:nvSpPr>
        <p:spPr>
          <a:xfrm>
            <a:off x="8028432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١</a:t>
            </a:r>
          </a:p>
        </p:txBody>
      </p:sp>
      <p:sp>
        <p:nvSpPr>
          <p:cNvPr id="8" name="!!slot1"/>
          <p:cNvSpPr/>
          <p:nvPr/>
        </p:nvSpPr>
        <p:spPr>
          <a:xfrm>
            <a:off x="4288536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٢</a:t>
            </a:r>
          </a:p>
        </p:txBody>
      </p:sp>
      <p:sp>
        <p:nvSpPr>
          <p:cNvPr id="9" name="!!slot2"/>
          <p:cNvSpPr/>
          <p:nvPr/>
        </p:nvSpPr>
        <p:spPr>
          <a:xfrm>
            <a:off x="548639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٣</a:t>
            </a:r>
          </a:p>
        </p:txBody>
      </p:sp>
      <p:sp>
        <p:nvSpPr>
          <p:cNvPr id="10" name="!!card1"/>
          <p:cNvSpPr/>
          <p:nvPr/>
        </p:nvSpPr>
        <p:spPr>
          <a:xfrm>
            <a:off x="4288536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E2F7E9"/>
          </a:solidFill>
          <a:ln w="31750">
            <a:solidFill>
              <a:srgbClr val="2FBF71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تبدأ الخلية في الانقسام</a:t>
            </a:r>
          </a:p>
        </p:txBody>
      </p:sp>
      <p:sp>
        <p:nvSpPr>
          <p:cNvPr id="11" name="!!card2">
            <a:hlinkClick action="ppaction://hlinksldjump" r:id="rId6"/>
          </p:cNvPr>
          <p:cNvSpPr/>
          <p:nvPr/>
        </p:nvSpPr>
        <p:spPr>
          <a:xfrm>
            <a:off x="4288536" y="38862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ينتج مخلوقان متماثلان</a:t>
            </a:r>
          </a:p>
        </p:txBody>
      </p:sp>
      <p:sp>
        <p:nvSpPr>
          <p:cNvPr id="12" name="!!card0"/>
          <p:cNvSpPr/>
          <p:nvPr/>
        </p:nvSpPr>
        <p:spPr>
          <a:xfrm>
            <a:off x="8028432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E2F7E9"/>
          </a:solidFill>
          <a:ln w="31750">
            <a:solidFill>
              <a:srgbClr val="2FBF71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يتم تضاعف المادة الوراثية</a:t>
            </a:r>
          </a:p>
        </p:txBody>
      </p:sp>
      <p:sp>
        <p:nvSpPr>
          <p:cNvPr id="13" name="!!strategy"/>
          <p:cNvSpPr/>
          <p:nvPr/>
        </p:nvSpPr>
        <p:spPr>
          <a:xfrm>
            <a:off x="6976872" y="36576"/>
            <a:ext cx="48920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التعلم باللعب: رتّبي المراحل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6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800" advClick="0">
        <p159:morph option="byObject"/>
        <p:sndAc>
          <p:stSnd>
            <p:snd r:embed="rId4" name="correct.wav"/>
          </p:stSnd>
        </p:sndAc>
      </p:transition>
    </mc:Choice>
    <mc:Fallback>
      <p:transition spd="slow" advClick="0">
        <p:fade/>
        <p:sndAc>
          <p:stSnd>
            <p:snd r:embed="rId4" name="correct.wav"/>
          </p:stSnd>
        </p:sndAc>
      </p:transition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رتّبي مراحل الانشطار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Picture 4" descr="ic_ga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27080" y="1188720"/>
            <a:ext cx="731520" cy="731520"/>
          </a:xfrm>
          <a:prstGeom prst="rect">
            <a:avLst/>
          </a:prstGeom>
        </p:spPr>
      </p:pic>
      <p:sp>
        <p:nvSpPr>
          <p:cNvPr id="6" name="!!ask"/>
          <p:cNvSpPr txBox="1"/>
          <p:nvPr/>
        </p:nvSpPr>
        <p:spPr>
          <a:xfrm>
            <a:off x="548640" y="1188720"/>
            <a:ext cx="10241280" cy="6858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اكتمل الترتيب!</a:t>
            </a:r>
          </a:p>
        </p:txBody>
      </p:sp>
      <p:sp>
        <p:nvSpPr>
          <p:cNvPr id="7" name="!!slot0"/>
          <p:cNvSpPr/>
          <p:nvPr/>
        </p:nvSpPr>
        <p:spPr>
          <a:xfrm>
            <a:off x="8028432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١</a:t>
            </a:r>
          </a:p>
        </p:txBody>
      </p:sp>
      <p:sp>
        <p:nvSpPr>
          <p:cNvPr id="8" name="!!slot1"/>
          <p:cNvSpPr/>
          <p:nvPr/>
        </p:nvSpPr>
        <p:spPr>
          <a:xfrm>
            <a:off x="4288536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٢</a:t>
            </a:r>
          </a:p>
        </p:txBody>
      </p:sp>
      <p:sp>
        <p:nvSpPr>
          <p:cNvPr id="9" name="!!slot2"/>
          <p:cNvSpPr/>
          <p:nvPr/>
        </p:nvSpPr>
        <p:spPr>
          <a:xfrm>
            <a:off x="548639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٣</a:t>
            </a:r>
          </a:p>
        </p:txBody>
      </p:sp>
      <p:sp>
        <p:nvSpPr>
          <p:cNvPr id="10" name="!!card1"/>
          <p:cNvSpPr/>
          <p:nvPr/>
        </p:nvSpPr>
        <p:spPr>
          <a:xfrm>
            <a:off x="4288536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E2F7E9"/>
          </a:solidFill>
          <a:ln w="31750">
            <a:solidFill>
              <a:srgbClr val="2FBF71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تبدأ الخلية في الانقسام</a:t>
            </a:r>
          </a:p>
        </p:txBody>
      </p:sp>
      <p:sp>
        <p:nvSpPr>
          <p:cNvPr id="11" name="!!card2"/>
          <p:cNvSpPr/>
          <p:nvPr/>
        </p:nvSpPr>
        <p:spPr>
          <a:xfrm>
            <a:off x="548639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E2F7E9"/>
          </a:solidFill>
          <a:ln w="31750">
            <a:solidFill>
              <a:srgbClr val="2FBF71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ينتج مخلوقان متماثلان</a:t>
            </a:r>
          </a:p>
        </p:txBody>
      </p:sp>
      <p:sp>
        <p:nvSpPr>
          <p:cNvPr id="12" name="!!card0"/>
          <p:cNvSpPr/>
          <p:nvPr/>
        </p:nvSpPr>
        <p:spPr>
          <a:xfrm>
            <a:off x="8028432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E2F7E9"/>
          </a:solidFill>
          <a:ln w="31750">
            <a:solidFill>
              <a:srgbClr val="2FBF71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يتم تضاعف المادة الوراثية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0" y="5257800"/>
            <a:ext cx="8503920" cy="868680"/>
          </a:xfrm>
          <a:prstGeom prst="roundRect">
            <a:avLst>
              <a:gd name="adj" fmla="val 31578"/>
            </a:avLst>
          </a:prstGeom>
          <a:solidFill>
            <a:srgbClr val="E2F7E9"/>
          </a:solidFill>
          <a:ln w="3175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ترتيب صحيح!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أولًا تتضاعف المادة الوراثية، ثم تنقسم الخلية، فينتج مخلوقان متماثلان.</a:t>
            </a:r>
          </a:p>
        </p:txBody>
      </p:sp>
      <p:sp>
        <p:nvSpPr>
          <p:cNvPr id="14" name="!!strategy"/>
          <p:cNvSpPr/>
          <p:nvPr/>
        </p:nvSpPr>
        <p:spPr>
          <a:xfrm>
            <a:off x="6976872" y="36576"/>
            <a:ext cx="48920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التعلم باللعب: رتّبي المراحل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7" name="nav_map0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8" name="nav_q_why">
            <a:hlinkClick action="ppaction://hlinksldjump" r:id="rId7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800" advClick="0">
        <p159:morph option="byObject"/>
        <p:sndAc>
          <p:stSnd>
            <p:snd r:embed="rId4" name="correct.wav"/>
          </p:stSnd>
        </p:sndAc>
      </p:transition>
    </mc:Choice>
    <mc:Fallback>
      <p:transition spd="slow" advClick="0">
        <p:fade/>
        <p:sndAc>
          <p:stSnd>
            <p:snd r:embed="rId4" name="correct.wav"/>
          </p:stSnd>
        </p:sndAc>
      </p:transition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رتّبي مراحل الانشطار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هل تستطيع الخلية أن تنقسم قبل أن تنسخ مادتها الوراثية؟ يجب أن تحصل كل خلية جديدة على نسخة كاملة أولًا.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4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ord1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رتّبي مراحل الانشطار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هل تستطيع الخلية أن تنقسم قبل أن تنسخ مادتها الوراثية؟ يجب أن تحصل كل خلية جديدة على نسخة كاملة أولًا.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4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ord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تقويم تكويني · لماذا؟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لماذا يكون البراميسيومان الجديدان متماثلين؟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 المادة الوراثية تضاعفت قبل الانقسام فأخذت كل خلية نسخة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لأنهما يعيشان في الماء نفسه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لأنهما تبادلا المادة الوراثية</a:t>
            </a:r>
          </a:p>
        </p:txBody>
      </p:sp>
      <p:sp>
        <p:nvSpPr>
          <p:cNvPr id="10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التقويم التكويني: لماذا؟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3" name="nav_map0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تقويم تكويني · لماذا؟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تذكّري المرحلة الأولى في شكل الكتاب: ماذا يحدث للمادة الوراثية قبل الانقسام؟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4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q_why_try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تقويم تكويني · لماذا؟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لماذا يكون البراميسيومان الجديدان متماثلين؟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 المادة الوراثية تضاعفت قبل الانقسام فأخذت كل خلية نسخة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لأنهما يعيشان في الماء نفسه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لأنهما تبادلا المادة الوراثية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التقويم التكويني: لماذا؟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4" name="nav_map0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763420"/>
            <a:ext cx="5266944" cy="3788359"/>
          </a:xfrm>
          <a:prstGeom prst="roundRect">
            <a:avLst>
              <a:gd name="adj" fmla="val 2413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6_fi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836572"/>
            <a:ext cx="5120640" cy="364205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886200" y="5432907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سؤال أبسط (صح أم خطأ):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«قبل أن ينقسم البراميسيوم تتضاعف مادته الوراثية».</a:t>
            </a:r>
          </a:p>
          <a:p>
            <a:pPr algn="r" rtl="1">
              <a:spcAft>
                <a:spcPts val="800"/>
              </a:spcAft>
            </a:pPr>
            <a:r>
              <a:rPr sz="23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الإجابة: صح ✔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شاهدي الحركة ببطء: النواة تتضاعف أولًا، ثم تأخذ كل خلية نسخة.</a:t>
            </a:r>
          </a:p>
        </p:txBody>
      </p:sp>
      <p:sp>
        <p:nvSpPr>
          <p:cNvPr id="10" name="Rounded Rectangle 9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1" name="Rounded Rectangle 10">
            <a:hlinkClick action="ppaction://hlinksldjump" r:id="rId6"/>
          </p:cNvPr>
          <p:cNvSpPr/>
          <p:nvPr/>
        </p:nvSpPr>
        <p:spPr>
          <a:xfrm>
            <a:off x="4892040" y="5257800"/>
            <a:ext cx="3200400" cy="640080"/>
          </a:xfrm>
          <a:prstGeom prst="roundRect">
            <a:avLst>
              <a:gd name="adj" fmla="val 42857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أشاهد الحركة ببطء</a:t>
            </a:r>
          </a:p>
        </p:txBody>
      </p:sp>
      <p:sp>
        <p:nvSpPr>
          <p:cNvPr id="12" name="!!strategy"/>
          <p:cNvSpPr/>
          <p:nvPr/>
        </p:nvSpPr>
        <p:spPr>
          <a:xfrm>
            <a:off x="7891272" y="36576"/>
            <a:ext cx="39776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المعالجة: نشاط علاجي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5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تقويم تكويني · لماذا؟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ماذا يحدث لو انقسمت الخلية دون أن تتضاعف مادتها الوراثية؟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لن تحصل كل خلية جديدة على نسخة كاملة من المادة الوراثية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ستنتج أربع خلايا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ستصبح الخليتان أكبر حجمًا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1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إعادة التحقق: سؤال مشابه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4" name="nav_map0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تقويم تكويني · لماذا؟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لماذا يكون البراميسيومان الجديدان متماثلين؟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لأن المادة الوراثية تضاعفت قبل الانقسام فأخذت كل خلية نسخة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في المرحلة الأولى «يتم تضاعف المادة الوراثية»، فتأخذ كل خلية جديدة نسخة مماثلة؛ ولذلك «ينتج مخلوقان متماثلان».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9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conj0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انتهت الحركة البطيئة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!!guide" descr="guide_poi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463040"/>
            <a:ext cx="2783344" cy="4389120"/>
          </a:xfrm>
          <a:prstGeom prst="rect">
            <a:avLst/>
          </a:prstGeom>
        </p:spPr>
      </p:pic>
      <p:sp>
        <p:nvSpPr>
          <p:cNvPr id="6" name="bubble"/>
          <p:cNvSpPr/>
          <p:nvPr/>
        </p:nvSpPr>
        <p:spPr>
          <a:xfrm>
            <a:off x="4389120" y="1463040"/>
            <a:ext cx="6949440" cy="1371600"/>
          </a:xfrm>
          <a:prstGeom prst="wedgeRoundRectCallout">
            <a:avLst>
              <a:gd name="adj1" fmla="val -62000"/>
              <a:gd name="adj2" fmla="val 30000"/>
              <a:gd name="adj3" fmla="val 16667"/>
            </a:avLst>
          </a:prstGeom>
          <a:solidFill>
            <a:srgbClr val="FFFFFF"/>
          </a:solidFill>
          <a:ln w="3175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r" rtl="1"/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هل لاحظتِ؟ تتضاعف المادة الوراثية أولًا، ثم تنقسم الخلية.</a:t>
            </a:r>
          </a:p>
        </p:txBody>
      </p:sp>
      <p:sp>
        <p:nvSpPr>
          <p:cNvPr id="7" name="Rounded Rectangle 6">
            <a:hlinkClick action="ppaction://hlinksldjump" r:id="rId5"/>
          </p:cNvPr>
          <p:cNvSpPr/>
          <p:nvPr/>
        </p:nvSpPr>
        <p:spPr>
          <a:xfrm>
            <a:off x="6035040" y="3474720"/>
            <a:ext cx="5303520" cy="777240"/>
          </a:xfrm>
          <a:prstGeom prst="roundRect">
            <a:avLst>
              <a:gd name="adj" fmla="val 35294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سؤال مشابه: أقرأ الصورة</a:t>
            </a:r>
          </a:p>
        </p:txBody>
      </p:sp>
      <p:sp>
        <p:nvSpPr>
          <p:cNvPr id="8" name="Rounded Rectangle 7">
            <a:hlinkClick action="ppaction://hlinksldjump" r:id="rId6"/>
          </p:cNvPr>
          <p:cNvSpPr/>
          <p:nvPr/>
        </p:nvSpPr>
        <p:spPr>
          <a:xfrm>
            <a:off x="6035040" y="4480560"/>
            <a:ext cx="5303520" cy="777240"/>
          </a:xfrm>
          <a:prstGeom prst="roundRect">
            <a:avLst>
              <a:gd name="adj" fmla="val 35294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سؤال مشابه: لماذا يتماثلان؟</a:t>
            </a:r>
          </a:p>
        </p:txBody>
      </p:sp>
      <p:sp>
        <p:nvSpPr>
          <p:cNvPr id="9" name="!!strategy"/>
          <p:cNvSpPr/>
          <p:nvPr/>
        </p:nvSpPr>
        <p:spPr>
          <a:xfrm>
            <a:off x="7205472" y="36576"/>
            <a:ext cx="4663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 بالمحاكاة البطيئة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2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الاقتران في الطلائعيات (ص٩٦)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180136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A2"/>
          <p:cNvSpPr/>
          <p:nvPr/>
        </p:nvSpPr>
        <p:spPr>
          <a:xfrm>
            <a:off x="180136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B"/>
          <p:cNvSpPr/>
          <p:nvPr/>
        </p:nvSpPr>
        <p:spPr>
          <a:xfrm>
            <a:off x="710488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B2"/>
          <p:cNvSpPr/>
          <p:nvPr/>
        </p:nvSpPr>
        <p:spPr>
          <a:xfrm>
            <a:off x="710488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a"/>
          <p:cNvSpPr/>
          <p:nvPr/>
        </p:nvSpPr>
        <p:spPr>
          <a:xfrm>
            <a:off x="294436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b"/>
          <p:cNvSpPr/>
          <p:nvPr/>
        </p:nvSpPr>
        <p:spPr>
          <a:xfrm>
            <a:off x="888796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a2"/>
          <p:cNvSpPr/>
          <p:nvPr/>
        </p:nvSpPr>
        <p:spPr>
          <a:xfrm>
            <a:off x="294436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b2"/>
          <p:cNvSpPr/>
          <p:nvPr/>
        </p:nvSpPr>
        <p:spPr>
          <a:xfrm>
            <a:off x="888796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xa"/>
          <p:cNvSpPr/>
          <p:nvPr/>
        </p:nvSpPr>
        <p:spPr>
          <a:xfrm>
            <a:off x="294436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xb"/>
          <p:cNvSpPr/>
          <p:nvPr/>
        </p:nvSpPr>
        <p:spPr>
          <a:xfrm>
            <a:off x="888796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xa2"/>
          <p:cNvSpPr/>
          <p:nvPr/>
        </p:nvSpPr>
        <p:spPr>
          <a:xfrm>
            <a:off x="294436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xb2"/>
          <p:cNvSpPr/>
          <p:nvPr/>
        </p:nvSpPr>
        <p:spPr>
          <a:xfrm>
            <a:off x="888796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2960" y="4251960"/>
            <a:ext cx="7315200" cy="5486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من الكتاب: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«وقد تتكاثر الطلائعيات بالاقتران، وهو عملية جنسية…»</a:t>
            </a:r>
          </a:p>
        </p:txBody>
      </p:sp>
      <p:sp>
        <p:nvSpPr>
          <p:cNvPr id="20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2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3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slow">
    <p:fade/>
  </p:transition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الاقتران في الطلائعيات (ص٩٦)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285292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A2"/>
          <p:cNvSpPr/>
          <p:nvPr/>
        </p:nvSpPr>
        <p:spPr>
          <a:xfrm>
            <a:off x="285292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B"/>
          <p:cNvSpPr/>
          <p:nvPr/>
        </p:nvSpPr>
        <p:spPr>
          <a:xfrm>
            <a:off x="605332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B2"/>
          <p:cNvSpPr/>
          <p:nvPr/>
        </p:nvSpPr>
        <p:spPr>
          <a:xfrm>
            <a:off x="605332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a"/>
          <p:cNvSpPr/>
          <p:nvPr/>
        </p:nvSpPr>
        <p:spPr>
          <a:xfrm>
            <a:off x="399592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b"/>
          <p:cNvSpPr/>
          <p:nvPr/>
        </p:nvSpPr>
        <p:spPr>
          <a:xfrm>
            <a:off x="783640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a2"/>
          <p:cNvSpPr/>
          <p:nvPr/>
        </p:nvSpPr>
        <p:spPr>
          <a:xfrm>
            <a:off x="399592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b2"/>
          <p:cNvSpPr/>
          <p:nvPr/>
        </p:nvSpPr>
        <p:spPr>
          <a:xfrm>
            <a:off x="783640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xa"/>
          <p:cNvSpPr/>
          <p:nvPr/>
        </p:nvSpPr>
        <p:spPr>
          <a:xfrm>
            <a:off x="399592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xb"/>
          <p:cNvSpPr/>
          <p:nvPr/>
        </p:nvSpPr>
        <p:spPr>
          <a:xfrm>
            <a:off x="783640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xa2"/>
          <p:cNvSpPr/>
          <p:nvPr/>
        </p:nvSpPr>
        <p:spPr>
          <a:xfrm>
            <a:off x="399592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xb2"/>
          <p:cNvSpPr/>
          <p:nvPr/>
        </p:nvSpPr>
        <p:spPr>
          <a:xfrm>
            <a:off x="783640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تلتحم المخلوقات بعضها ببعض</a:t>
            </a:r>
          </a:p>
        </p:txBody>
      </p:sp>
      <p:sp>
        <p:nvSpPr>
          <p:cNvPr id="20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2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3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الاقتران في الطلائعيات (ص٩٦)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285292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A2"/>
          <p:cNvSpPr/>
          <p:nvPr/>
        </p:nvSpPr>
        <p:spPr>
          <a:xfrm>
            <a:off x="285292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B"/>
          <p:cNvSpPr/>
          <p:nvPr/>
        </p:nvSpPr>
        <p:spPr>
          <a:xfrm>
            <a:off x="605332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B2"/>
          <p:cNvSpPr/>
          <p:nvPr/>
        </p:nvSpPr>
        <p:spPr>
          <a:xfrm>
            <a:off x="605332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a"/>
          <p:cNvSpPr/>
          <p:nvPr/>
        </p:nvSpPr>
        <p:spPr>
          <a:xfrm>
            <a:off x="399592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b"/>
          <p:cNvSpPr/>
          <p:nvPr/>
        </p:nvSpPr>
        <p:spPr>
          <a:xfrm>
            <a:off x="783640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a2"/>
          <p:cNvSpPr/>
          <p:nvPr/>
        </p:nvSpPr>
        <p:spPr>
          <a:xfrm>
            <a:off x="399592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b2"/>
          <p:cNvSpPr/>
          <p:nvPr/>
        </p:nvSpPr>
        <p:spPr>
          <a:xfrm>
            <a:off x="783640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xa"/>
          <p:cNvSpPr/>
          <p:nvPr/>
        </p:nvSpPr>
        <p:spPr>
          <a:xfrm>
            <a:off x="6144768" y="274320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xb"/>
          <p:cNvSpPr/>
          <p:nvPr/>
        </p:nvSpPr>
        <p:spPr>
          <a:xfrm>
            <a:off x="5687568" y="2834639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xa2"/>
          <p:cNvSpPr/>
          <p:nvPr/>
        </p:nvSpPr>
        <p:spPr>
          <a:xfrm>
            <a:off x="6144768" y="274320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xb2"/>
          <p:cNvSpPr/>
          <p:nvPr/>
        </p:nvSpPr>
        <p:spPr>
          <a:xfrm>
            <a:off x="5687568" y="2834639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تلتحم المخلوقات بعضها ببعض</a:t>
            </a:r>
          </a:p>
        </p:txBody>
      </p:sp>
      <p:sp>
        <p:nvSpPr>
          <p:cNvPr id="20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تتبادل المادة الوراثية</a:t>
            </a:r>
          </a:p>
        </p:txBody>
      </p:sp>
      <p:sp>
        <p:nvSpPr>
          <p:cNvPr id="21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2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4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الاقتران في الطلائعيات (ص٩٦)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180136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A2"/>
          <p:cNvSpPr/>
          <p:nvPr/>
        </p:nvSpPr>
        <p:spPr>
          <a:xfrm>
            <a:off x="180136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B"/>
          <p:cNvSpPr/>
          <p:nvPr/>
        </p:nvSpPr>
        <p:spPr>
          <a:xfrm>
            <a:off x="710488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B2"/>
          <p:cNvSpPr/>
          <p:nvPr/>
        </p:nvSpPr>
        <p:spPr>
          <a:xfrm>
            <a:off x="710488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a"/>
          <p:cNvSpPr/>
          <p:nvPr/>
        </p:nvSpPr>
        <p:spPr>
          <a:xfrm>
            <a:off x="294436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b"/>
          <p:cNvSpPr/>
          <p:nvPr/>
        </p:nvSpPr>
        <p:spPr>
          <a:xfrm>
            <a:off x="888796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a2"/>
          <p:cNvSpPr/>
          <p:nvPr/>
        </p:nvSpPr>
        <p:spPr>
          <a:xfrm>
            <a:off x="294436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b2"/>
          <p:cNvSpPr/>
          <p:nvPr/>
        </p:nvSpPr>
        <p:spPr>
          <a:xfrm>
            <a:off x="888796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xa"/>
          <p:cNvSpPr/>
          <p:nvPr/>
        </p:nvSpPr>
        <p:spPr>
          <a:xfrm>
            <a:off x="824788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xb"/>
          <p:cNvSpPr/>
          <p:nvPr/>
        </p:nvSpPr>
        <p:spPr>
          <a:xfrm>
            <a:off x="358444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xa2"/>
          <p:cNvSpPr/>
          <p:nvPr/>
        </p:nvSpPr>
        <p:spPr>
          <a:xfrm>
            <a:off x="824788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xb2"/>
          <p:cNvSpPr/>
          <p:nvPr/>
        </p:nvSpPr>
        <p:spPr>
          <a:xfrm>
            <a:off x="358444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تلتحم المخلوقات بعضها ببعض</a:t>
            </a:r>
          </a:p>
        </p:txBody>
      </p:sp>
      <p:sp>
        <p:nvSpPr>
          <p:cNvPr id="20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تتبادل المادة الوراثية</a:t>
            </a:r>
          </a:p>
        </p:txBody>
      </p:sp>
      <p:sp>
        <p:nvSpPr>
          <p:cNvPr id="21" name="!!lab3"/>
          <p:cNvSpPr/>
          <p:nvPr/>
        </p:nvSpPr>
        <p:spPr>
          <a:xfrm>
            <a:off x="6185916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ثم ينفصل بعضها عن بعض</a:t>
            </a:r>
          </a:p>
        </p:txBody>
      </p:sp>
      <p:sp>
        <p:nvSpPr>
          <p:cNvPr id="22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2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5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الاقتران في الطلائعيات (ص٩٦)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1229868" y="2377440"/>
            <a:ext cx="2148840" cy="118872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A2"/>
          <p:cNvSpPr/>
          <p:nvPr/>
        </p:nvSpPr>
        <p:spPr>
          <a:xfrm>
            <a:off x="3515868" y="2377440"/>
            <a:ext cx="2148840" cy="118872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B"/>
          <p:cNvSpPr/>
          <p:nvPr/>
        </p:nvSpPr>
        <p:spPr>
          <a:xfrm>
            <a:off x="6533388" y="2377440"/>
            <a:ext cx="2148840" cy="118872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B2"/>
          <p:cNvSpPr/>
          <p:nvPr/>
        </p:nvSpPr>
        <p:spPr>
          <a:xfrm>
            <a:off x="8819388" y="2377440"/>
            <a:ext cx="2148840" cy="118872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a"/>
          <p:cNvSpPr/>
          <p:nvPr/>
        </p:nvSpPr>
        <p:spPr>
          <a:xfrm>
            <a:off x="1856232" y="2798064"/>
            <a:ext cx="347472" cy="347472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b"/>
          <p:cNvSpPr/>
          <p:nvPr/>
        </p:nvSpPr>
        <p:spPr>
          <a:xfrm>
            <a:off x="7708392" y="2798064"/>
            <a:ext cx="347472" cy="347472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a2"/>
          <p:cNvSpPr/>
          <p:nvPr/>
        </p:nvSpPr>
        <p:spPr>
          <a:xfrm>
            <a:off x="4142231" y="2798064"/>
            <a:ext cx="347472" cy="347472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b2"/>
          <p:cNvSpPr/>
          <p:nvPr/>
        </p:nvSpPr>
        <p:spPr>
          <a:xfrm>
            <a:off x="9994392" y="2798064"/>
            <a:ext cx="347472" cy="347472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xa"/>
          <p:cNvSpPr/>
          <p:nvPr/>
        </p:nvSpPr>
        <p:spPr>
          <a:xfrm>
            <a:off x="7159751" y="2798064"/>
            <a:ext cx="347472" cy="347472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xb"/>
          <p:cNvSpPr/>
          <p:nvPr/>
        </p:nvSpPr>
        <p:spPr>
          <a:xfrm>
            <a:off x="2404872" y="2798064"/>
            <a:ext cx="347472" cy="347472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xa2"/>
          <p:cNvSpPr/>
          <p:nvPr/>
        </p:nvSpPr>
        <p:spPr>
          <a:xfrm>
            <a:off x="9445752" y="2798064"/>
            <a:ext cx="347472" cy="347472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xb2"/>
          <p:cNvSpPr/>
          <p:nvPr/>
        </p:nvSpPr>
        <p:spPr>
          <a:xfrm>
            <a:off x="4690871" y="2798064"/>
            <a:ext cx="347472" cy="347472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تلتحم المخلوقات بعضها ببعض</a:t>
            </a:r>
          </a:p>
        </p:txBody>
      </p:sp>
      <p:sp>
        <p:nvSpPr>
          <p:cNvPr id="20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تتبادل المادة الوراثية</a:t>
            </a:r>
          </a:p>
        </p:txBody>
      </p:sp>
      <p:sp>
        <p:nvSpPr>
          <p:cNvPr id="21" name="!!lab3"/>
          <p:cNvSpPr/>
          <p:nvPr/>
        </p:nvSpPr>
        <p:spPr>
          <a:xfrm>
            <a:off x="6185916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ثم ينفصل بعضها عن بعض</a:t>
            </a:r>
          </a:p>
        </p:txBody>
      </p:sp>
      <p:sp>
        <p:nvSpPr>
          <p:cNvPr id="22" name="!!lab4"/>
          <p:cNvSpPr/>
          <p:nvPr/>
        </p:nvSpPr>
        <p:spPr>
          <a:xfrm>
            <a:off x="548639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ينقسم كل منها بالانشطار الثنائي</a:t>
            </a:r>
          </a:p>
        </p:txBody>
      </p:sp>
      <p:sp>
        <p:nvSpPr>
          <p:cNvPr id="23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2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6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7" name="nav_q_conj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تحدٍّ قصير · صح أم خطأ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صح أم خطأ: «الاقتران عملية جنسية تتبادل فيها المخلوقات المادة الوراثية».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6195060" y="2606040"/>
            <a:ext cx="544525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صح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40" y="2606040"/>
            <a:ext cx="544525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خطأ</a:t>
            </a:r>
          </a:p>
        </p:txBody>
      </p:sp>
      <p:sp>
        <p:nvSpPr>
          <p:cNvPr id="9" name="!!strategy"/>
          <p:cNvSpPr/>
          <p:nvPr/>
        </p:nvSpPr>
        <p:spPr>
          <a:xfrm>
            <a:off x="7776972" y="36576"/>
            <a:ext cx="40919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تحدٍّ قصير: صح أم خطأ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2" name="nav_map0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تحدٍّ قصير · صح أم خطأ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ارجعي إلى نص الكتاب: «وهو عملية جنسية تلتحم فيها المخلوقات… وتتبادل المادة الوراثية».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4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q_conj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تحدٍّ قصير · صح أم خطأ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صح أم خطأ: «الاقتران عملية جنسية تتبادل فيها المخلوقات المادة الوراثية».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صح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965192" y="3520440"/>
            <a:ext cx="6675120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148072" y="3566160"/>
            <a:ext cx="6309359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صح. هذا ما يميز الاقتران عن الانشطار الثنائي: تلتحم المخلوقات وتتبادل المادة الوراثية، ثم تنفصل وينقسم كل منها.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4082006"/>
            <a:ext cx="4626864" cy="1482906"/>
          </a:xfrm>
          <a:prstGeom prst="roundRect">
            <a:avLst>
              <a:gd name="adj" fmla="val 6166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96_conj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155158"/>
            <a:ext cx="4480560" cy="133660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3291840" y="5446041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ص٩٦</a:t>
            </a:r>
          </a:p>
        </p:txBody>
      </p:sp>
      <p:pic>
        <p:nvPicPr>
          <p:cNvPr id="14" name="Picture 13" descr="ic_st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3400" y="3611880"/>
            <a:ext cx="548640" cy="548640"/>
          </a:xfrm>
          <a:prstGeom prst="rect">
            <a:avLst/>
          </a:prstGeom>
        </p:spPr>
      </p:pic>
      <p:sp>
        <p:nvSpPr>
          <p:cNvPr id="21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2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4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5" name="nav_spore0">
            <a:hlinkClick action="ppaction://hlinksldjump" r:id="rId9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الأبواغ: البوغيات (ص٩٦)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cell"/>
          <p:cNvSpPr/>
          <p:nvPr/>
        </p:nvSpPr>
        <p:spPr>
          <a:xfrm>
            <a:off x="5458968" y="2331720"/>
            <a:ext cx="1280160" cy="1280160"/>
          </a:xfrm>
          <a:prstGeom prst="ellipse">
            <a:avLst/>
          </a:prstGeom>
          <a:solidFill>
            <a:srgbClr val="EDE7FF"/>
          </a:solidFill>
          <a:ln w="762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dna"/>
          <p:cNvSpPr/>
          <p:nvPr/>
        </p:nvSpPr>
        <p:spPr>
          <a:xfrm>
            <a:off x="5779008" y="2834640"/>
            <a:ext cx="640080" cy="274320"/>
          </a:xfrm>
          <a:prstGeom prst="doubleWave">
            <a:avLst/>
          </a:prstGeom>
          <a:solidFill>
            <a:srgbClr val="7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4251960"/>
            <a:ext cx="7772400" cy="5486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من الكتاب: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«وتحتوي الأبواغ على المادة الوراثية داخل غشاء يحميها»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463040"/>
            <a:ext cx="3291840" cy="1188720"/>
          </a:xfrm>
          <a:prstGeom prst="roundRect">
            <a:avLst>
              <a:gd name="adj" fmla="val 15384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r" rtl="1"/>
            <a:r>
              <a:rPr sz="18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البلازموديوم</a:t>
            </a:r>
          </a:p>
          <a:p>
            <a:pPr algn="r" rtl="1"/>
            <a:r>
              <a:rPr sz="1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من البوغيات، يحتاج إلى جسم مخلوق حي آخر لينمو داخله، ويسبب مرض الملاريا.</a:t>
            </a:r>
          </a:p>
        </p:txBody>
      </p:sp>
      <p:sp>
        <p:nvSpPr>
          <p:cNvPr id="11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4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slow">
    <p:fade/>
  </p:transition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الأبواغ: البوغيات (ص٩٦)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cell"/>
          <p:cNvSpPr/>
          <p:nvPr/>
        </p:nvSpPr>
        <p:spPr>
          <a:xfrm>
            <a:off x="5458968" y="2331720"/>
            <a:ext cx="1280160" cy="1280160"/>
          </a:xfrm>
          <a:prstGeom prst="ellipse">
            <a:avLst/>
          </a:prstGeom>
          <a:solidFill>
            <a:srgbClr val="EDE7FF"/>
          </a:solidFill>
          <a:ln w="762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dna"/>
          <p:cNvSpPr/>
          <p:nvPr/>
        </p:nvSpPr>
        <p:spPr>
          <a:xfrm>
            <a:off x="5779008" y="2834640"/>
            <a:ext cx="640080" cy="274320"/>
          </a:xfrm>
          <a:prstGeom prst="doubleWave">
            <a:avLst/>
          </a:prstGeom>
          <a:solidFill>
            <a:srgbClr val="7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bad"/>
          <p:cNvSpPr/>
          <p:nvPr/>
        </p:nvSpPr>
        <p:spPr>
          <a:xfrm>
            <a:off x="7287768" y="1920240"/>
            <a:ext cx="3840480" cy="548640"/>
          </a:xfrm>
          <a:prstGeom prst="roundRect">
            <a:avLst>
              <a:gd name="adj" fmla="val 50000"/>
            </a:avLst>
          </a:prstGeom>
          <a:solidFill>
            <a:srgbClr val="FFE0CC"/>
          </a:solidFill>
          <a:ln w="25400">
            <a:solidFill>
              <a:srgbClr val="E07B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800" b="1" i="0" lang="ar-SA">
                <a:solidFill>
                  <a:srgbClr val="9A3D00"/>
                </a:solidFill>
                <a:latin typeface="Arial"/>
                <a:ea typeface="Arial"/>
                <a:cs typeface="Arial"/>
              </a:rPr>
              <a:t>ظروف قاسية: جفاف وحرارة</a:t>
            </a:r>
          </a:p>
        </p:txBody>
      </p:sp>
      <p:sp>
        <p:nvSpPr>
          <p:cNvPr id="10" name="!!lab1"/>
          <p:cNvSpPr/>
          <p:nvPr/>
        </p:nvSpPr>
        <p:spPr>
          <a:xfrm>
            <a:off x="6185916" y="5074920"/>
            <a:ext cx="5454396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تتحمل الأبواغ الظروف القاسية</a:t>
            </a:r>
          </a:p>
        </p:txBody>
      </p:sp>
      <p:sp>
        <p:nvSpPr>
          <p:cNvPr id="11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4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الأبواغ: البوغيات (ص٩٦)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cell"/>
          <p:cNvSpPr/>
          <p:nvPr/>
        </p:nvSpPr>
        <p:spPr>
          <a:xfrm>
            <a:off x="4453128" y="1920240"/>
            <a:ext cx="3291840" cy="2103120"/>
          </a:xfrm>
          <a:prstGeom prst="ellipse">
            <a:avLst/>
          </a:prstGeom>
          <a:solidFill>
            <a:srgbClr val="EDE7FF"/>
          </a:solidFill>
          <a:ln w="762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dna"/>
          <p:cNvSpPr/>
          <p:nvPr/>
        </p:nvSpPr>
        <p:spPr>
          <a:xfrm>
            <a:off x="5641848" y="2788920"/>
            <a:ext cx="914400" cy="365760"/>
          </a:xfrm>
          <a:prstGeom prst="doubleWave">
            <a:avLst/>
          </a:prstGeom>
          <a:solidFill>
            <a:srgbClr val="7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good"/>
          <p:cNvSpPr/>
          <p:nvPr/>
        </p:nvSpPr>
        <p:spPr>
          <a:xfrm>
            <a:off x="8202168" y="1920240"/>
            <a:ext cx="2926080" cy="548640"/>
          </a:xfrm>
          <a:prstGeom prst="roundRect">
            <a:avLst>
              <a:gd name="adj" fmla="val 50000"/>
            </a:avLst>
          </a:prstGeom>
          <a:solidFill>
            <a:srgbClr val="D7F5E3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8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ظروف مناسبة</a:t>
            </a:r>
          </a:p>
        </p:txBody>
      </p:sp>
      <p:sp>
        <p:nvSpPr>
          <p:cNvPr id="10" name="!!lab1"/>
          <p:cNvSpPr/>
          <p:nvPr/>
        </p:nvSpPr>
        <p:spPr>
          <a:xfrm>
            <a:off x="6185916" y="5074920"/>
            <a:ext cx="5454396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تتحمل الأبواغ الظروف القاسية</a:t>
            </a:r>
          </a:p>
        </p:txBody>
      </p:sp>
      <p:sp>
        <p:nvSpPr>
          <p:cNvPr id="11" name="!!lab2"/>
          <p:cNvSpPr/>
          <p:nvPr/>
        </p:nvSpPr>
        <p:spPr>
          <a:xfrm>
            <a:off x="548639" y="5074920"/>
            <a:ext cx="5454396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تنمو عندما تتهيأ ظروف مناسبة</a:t>
            </a:r>
          </a:p>
        </p:txBody>
      </p:sp>
      <p:sp>
        <p:nvSpPr>
          <p:cNvPr id="12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5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6" name="nav_q_spore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تحدٍّ قصير · فسّري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لماذا تستطيع الأبواغ أن تتحمل الظروف القاسية؟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 المادة الوراثية داخل غشاء يحميها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لأنها كبيرة الحجم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لأنها تصنع غذاءها بنفسها</a:t>
            </a:r>
          </a:p>
        </p:txBody>
      </p:sp>
      <p:sp>
        <p:nvSpPr>
          <p:cNvPr id="10" name="!!strategy"/>
          <p:cNvSpPr/>
          <p:nvPr/>
        </p:nvSpPr>
        <p:spPr>
          <a:xfrm>
            <a:off x="8234172" y="36576"/>
            <a:ext cx="36347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تحدٍّ قصير: فسّري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3" name="nav_map0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تحدٍّ قصير · فسّري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ماذا يحيط بالمادة الوراثية داخل البوغ؟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4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q_spore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تحدٍّ قصير · فسّري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لماذا تستطيع الأبواغ أن تتحمل الظروف القاسية؟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لأن المادة الوراثية داخل غشاء يحميها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965192" y="3520440"/>
            <a:ext cx="6675120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148072" y="3566160"/>
            <a:ext cx="6309359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«وتحتوي الأبواغ على المادة الوراثية داخل غشاء يحميها»؛ لذا تتحمل الظروف القاسية حتى تتهيأ ظروف مناسبة فتنمو.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3529992"/>
            <a:ext cx="4626864" cy="2586934"/>
          </a:xfrm>
          <a:prstGeom prst="roundRect">
            <a:avLst>
              <a:gd name="adj" fmla="val 3534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96_spores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603144"/>
            <a:ext cx="4480560" cy="244063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3291840" y="5998055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ص٩٦</a:t>
            </a:r>
          </a:p>
        </p:txBody>
      </p:sp>
      <p:pic>
        <p:nvPicPr>
          <p:cNvPr id="14" name="Picture 13" descr="ic_st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3400" y="3611880"/>
            <a:ext cx="548640" cy="548640"/>
          </a:xfrm>
          <a:prstGeom prst="rect">
            <a:avLst/>
          </a:prstGeom>
        </p:spPr>
      </p:pic>
      <p:sp>
        <p:nvSpPr>
          <p:cNvPr id="21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2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4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5" name="nav_cmp96">
            <a:hlinkClick action="ppaction://hlinksldjump" r:id="rId9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مقارنة بصرية: طرق تكاثر الطلائعيات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66960" y="2148840"/>
            <a:ext cx="1691640" cy="640080"/>
          </a:xfrm>
          <a:prstGeom prst="roundRect">
            <a:avLst>
              <a:gd name="adj" fmla="val 17142"/>
            </a:avLst>
          </a:prstGeom>
          <a:solidFill>
            <a:srgbClr val="E7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النوع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66960" y="2880360"/>
            <a:ext cx="1691640" cy="1508760"/>
          </a:xfrm>
          <a:prstGeom prst="roundRect">
            <a:avLst>
              <a:gd name="adj" fmla="val 7272"/>
            </a:avLst>
          </a:prstGeom>
          <a:solidFill>
            <a:srgbClr val="E7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ماذا يحدث؟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66960" y="4480560"/>
            <a:ext cx="1691640" cy="640080"/>
          </a:xfrm>
          <a:prstGeom prst="roundRect">
            <a:avLst>
              <a:gd name="adj" fmla="val 17142"/>
            </a:avLst>
          </a:prstGeom>
          <a:solidFill>
            <a:srgbClr val="E7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مثال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12280" y="1325880"/>
            <a:ext cx="3017520" cy="731520"/>
          </a:xfrm>
          <a:prstGeom prst="roundRect">
            <a:avLst>
              <a:gd name="adj" fmla="val 18749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12280" y="2148840"/>
            <a:ext cx="3017520" cy="64008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 w="25400">
            <a:solidFill>
              <a:srgbClr val="3BB5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لاجنسي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12280" y="2880360"/>
            <a:ext cx="3017520" cy="1508760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 w="25400">
            <a:solidFill>
              <a:srgbClr val="3BB5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ينقسم المخلوق الحي إلى مخلوقين جديدين متماثلين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12280" y="4480560"/>
            <a:ext cx="3017520" cy="64008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 w="25400">
            <a:solidFill>
              <a:srgbClr val="3BB5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البراميسيوم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1325880"/>
            <a:ext cx="3017520" cy="731520"/>
          </a:xfrm>
          <a:prstGeom prst="roundRect">
            <a:avLst>
              <a:gd name="adj" fmla="val 18749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الاقتران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0" y="2148840"/>
            <a:ext cx="3017520" cy="64008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جنسي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0" y="2880360"/>
            <a:ext cx="3017520" cy="1508760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تلتحم المخلوقات وتتبادل المادة الوراثية، ثم تنفصل وتنقسم بالانشطار الثنائي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4480560"/>
            <a:ext cx="3017520" cy="64008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الطلائعيات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19" y="1325880"/>
            <a:ext cx="3017520" cy="731520"/>
          </a:xfrm>
          <a:prstGeom prst="roundRect">
            <a:avLst>
              <a:gd name="adj" fmla="val 18749"/>
            </a:avLst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الأبواغ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19" y="2148840"/>
            <a:ext cx="3017520" cy="64008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 w="25400">
            <a:solidFill>
              <a:srgbClr val="F28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البوغيات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19" y="2880360"/>
            <a:ext cx="3017520" cy="1508760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 w="25400">
            <a:solidFill>
              <a:srgbClr val="F28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مادة وراثية داخل غشاء يحميها، تتحمل الظروف القاسية ثم تنمو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19" y="4480560"/>
            <a:ext cx="3017520" cy="64008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 w="25400">
            <a:solidFill>
              <a:srgbClr val="F28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البلازموديوم</a:t>
            </a:r>
          </a:p>
        </p:txBody>
      </p:sp>
      <p:sp>
        <p:nvSpPr>
          <p:cNvPr id="45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المقارنة البصرية</a:t>
            </a:r>
          </a:p>
        </p:txBody>
      </p:sp>
      <p:sp>
        <p:nvSpPr>
          <p:cNvPr id="4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4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48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49" name="nav_cls1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 التصنيف (١/٢): إلى أي سلة تنتمي العبارة؟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«تلتحم المخلوقات وتتبادل المادة الوراثية»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</a:t>
            </a:r>
          </a:p>
        </p:txBody>
      </p:sp>
      <p:sp>
        <p:nvSpPr>
          <p:cNvPr id="9" name="!!opt2">
            <a:hlinkClick action="ppaction://hlinksldjump" r:id="rId4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</a:t>
            </a:r>
          </a:p>
        </p:txBody>
      </p:sp>
      <p:sp>
        <p:nvSpPr>
          <p:cNvPr id="10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التعلم باللعب: التصنيف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3" name="nav_map0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 التصنيف (١/٢): إلى أي سلة تنتمي العبارة؟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تذكّري: في أي طريقة تتبادل المخلوقات المادة الوراثية؟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4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cls1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 التصنيف (١/٢): إلى أي سلة تنتمي العبارة؟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«تلتحم المخلوقات وتتبادل المادة الوراثية»</a:t>
            </a:r>
          </a:p>
        </p:txBody>
      </p:sp>
      <p:sp>
        <p:nvSpPr>
          <p:cNvPr id="7" name="!!opt1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الاقتران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هذه صفة الاقتران: عملية جنسية تلتحم فيها المخلوقات وتتبادل المادة الوراثية.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9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cls2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 التصنيف (٢/٢): إلى أي سلة تنتمي العبارة؟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«مادة وراثية داخل غشاء يحميها»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</p:txBody>
      </p:sp>
      <p:sp>
        <p:nvSpPr>
          <p:cNvPr id="8" name="!!opt1">
            <a:hlinkClick action="ppaction://hlinksldjump" r:id="rId4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</a:t>
            </a:r>
          </a:p>
        </p:txBody>
      </p:sp>
      <p:sp>
        <p:nvSpPr>
          <p:cNvPr id="10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التعلم باللعب: التصنيف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3" name="nav_map0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 التصنيف (٢/٢): إلى أي سلة تنتمي العبارة؟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تذكّري: ما الذي يحمي المادة الوراثية حتى تتحسن الظروف؟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4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cls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 التصنيف (٢/٢): إلى أي سلة تنتمي العبارة؟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«مادة وراثية داخل غشاء يحميها»</a:t>
            </a:r>
          </a:p>
        </p:txBody>
      </p:sp>
      <p:sp>
        <p:nvSpPr>
          <p:cNvPr id="7" name="!!opt2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الأبواغ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هذه صفة الأبواغ: تحتوي على المادة الوراثية داخل غشاء يحميها.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9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map1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الخريطة تنمو: بطاقة الطلائعيات</a:t>
            </a:r>
          </a:p>
        </p:txBody>
      </p:sp>
      <p:sp>
        <p:nvSpPr>
          <p:cNvPr id="4" name="!!mapscreen"/>
          <p:cNvSpPr/>
          <p:nvPr/>
        </p:nvSpPr>
        <p:spPr>
          <a:xfrm>
            <a:off x="411480" y="1143000"/>
            <a:ext cx="11365992" cy="5029200"/>
          </a:xfrm>
          <a:prstGeom prst="roundRect">
            <a:avLst>
              <a:gd name="adj" fmla="val 4545"/>
            </a:avLst>
          </a:prstGeom>
          <a:solidFill>
            <a:srgbClr val="FFFFFF">
              <a:alpha val="92000"/>
            </a:srgbClr>
          </a:solidFill>
          <a:ln w="19050">
            <a:solidFill>
              <a:srgbClr val="2B3A55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mapcenter"/>
          <p:cNvSpPr/>
          <p:nvPr/>
        </p:nvSpPr>
        <p:spPr>
          <a:xfrm>
            <a:off x="2651760" y="1325880"/>
            <a:ext cx="6903720" cy="777240"/>
          </a:xfrm>
          <a:prstGeom prst="roundRect">
            <a:avLst>
              <a:gd name="adj" fmla="val 49411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كيف تتكاثر المخلوقات الحية الدقيقة؟</a:t>
            </a:r>
          </a:p>
        </p:txBody>
      </p:sp>
      <p:cxnSp>
        <p:nvCxnSpPr>
          <p:cNvPr id="6" name="!!line_p"/>
          <p:cNvCxnSpPr/>
          <p:nvPr/>
        </p:nvCxnSpPr>
        <p:spPr>
          <a:xfrm>
            <a:off x="6099048" y="2103120"/>
            <a:ext cx="3707892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!!br_p">
            <a:hlinkClick action="ppaction://hlinksldjump" r:id="rId5"/>
          </p:cNvPr>
          <p:cNvSpPr/>
          <p:nvPr/>
        </p:nvSpPr>
        <p:spPr>
          <a:xfrm>
            <a:off x="832104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الطلائعيات</a:t>
            </a:r>
          </a:p>
        </p:txBody>
      </p:sp>
      <p:cxnSp>
        <p:nvCxnSpPr>
          <p:cNvPr id="8" name="!!line_f"/>
          <p:cNvCxnSpPr/>
          <p:nvPr/>
        </p:nvCxnSpPr>
        <p:spPr>
          <a:xfrm>
            <a:off x="6099048" y="2103120"/>
            <a:ext cx="4572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!!br_f">
            <a:hlinkClick action="ppaction://hlinksldjump" r:id="rId6"/>
          </p:cNvPr>
          <p:cNvSpPr/>
          <p:nvPr/>
        </p:nvSpPr>
        <p:spPr>
          <a:xfrm>
            <a:off x="461772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الفطريات</a:t>
            </a:r>
          </a:p>
        </p:txBody>
      </p:sp>
      <p:cxnSp>
        <p:nvCxnSpPr>
          <p:cNvPr id="10" name="!!line_b"/>
          <p:cNvCxnSpPr/>
          <p:nvPr/>
        </p:nvCxnSpPr>
        <p:spPr>
          <a:xfrm flipH="1">
            <a:off x="2400300" y="2103120"/>
            <a:ext cx="3698748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br_b"/>
          <p:cNvSpPr/>
          <p:nvPr/>
        </p:nvSpPr>
        <p:spPr>
          <a:xfrm>
            <a:off x="91440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C9D2DE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البكتيريا</a:t>
            </a:r>
          </a:p>
        </p:txBody>
      </p:sp>
      <p:pic>
        <p:nvPicPr>
          <p:cNvPr id="12" name="!!lock_b" descr="ic_lo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" y="2587752"/>
            <a:ext cx="502920" cy="502920"/>
          </a:xfrm>
          <a:prstGeom prst="rect">
            <a:avLst/>
          </a:prstGeom>
        </p:spPr>
      </p:pic>
      <p:sp>
        <p:nvSpPr>
          <p:cNvPr id="13" name="!!card_1_p_1"/>
          <p:cNvSpPr/>
          <p:nvPr/>
        </p:nvSpPr>
        <p:spPr>
          <a:xfrm>
            <a:off x="8321040" y="33832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 (لاجنسي)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البراميسيوم</a:t>
            </a:r>
          </a:p>
        </p:txBody>
      </p:sp>
      <p:sp>
        <p:nvSpPr>
          <p:cNvPr id="14" name="!!card_1_p_2"/>
          <p:cNvSpPr/>
          <p:nvPr/>
        </p:nvSpPr>
        <p:spPr>
          <a:xfrm>
            <a:off x="8321040" y="42976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 (جنسي)</a:t>
            </a:r>
          </a:p>
        </p:txBody>
      </p:sp>
      <p:sp>
        <p:nvSpPr>
          <p:cNvPr id="15" name="!!card_1_p_3"/>
          <p:cNvSpPr/>
          <p:nvPr/>
        </p:nvSpPr>
        <p:spPr>
          <a:xfrm>
            <a:off x="8321040" y="52120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 (البوغيات)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البلازموديوم</a:t>
            </a:r>
          </a:p>
        </p:txBody>
      </p:sp>
      <p:sp>
        <p:nvSpPr>
          <p:cNvPr id="20" name="!!strategy"/>
          <p:cNvSpPr/>
          <p:nvPr/>
        </p:nvSpPr>
        <p:spPr>
          <a:xfrm>
            <a:off x="8577072" y="36576"/>
            <a:ext cx="3291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خريطة المفاهيم</a:t>
            </a:r>
          </a:p>
        </p:txBody>
      </p:sp>
      <p:sp>
        <p:nvSpPr>
          <p:cNvPr id="2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</a:t>
            </a:r>
          </a:p>
        </p:txBody>
      </p:sp>
      <p:sp>
        <p:nvSpPr>
          <p:cNvPr id="23" name="nav_p97page">
            <a:hlinkClick action="ppaction://hlinksldjump" r:id="rId6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</p:bldLst>
  </p:timing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الفطريات والبكتيريا: صفحة ٩٧ على الشاشة الذكية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43000"/>
            <a:ext cx="5577840" cy="5029200"/>
          </a:xfrm>
          <a:prstGeom prst="roundRect">
            <a:avLst>
              <a:gd name="adj" fmla="val 4545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7_p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7648" y="1261872"/>
            <a:ext cx="4076942" cy="4800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263640" y="1188720"/>
            <a:ext cx="5440680" cy="4983480"/>
          </a:xfrm>
          <a:prstGeom prst="roundRect">
            <a:avLst>
              <a:gd name="adj" fmla="val 4587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97_fungi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6658" y="1280160"/>
            <a:ext cx="3554642" cy="4800600"/>
          </a:xfrm>
          <a:prstGeom prst="rect">
            <a:avLst/>
          </a:prstGeom>
        </p:spPr>
      </p:pic>
      <p:sp>
        <p:nvSpPr>
          <p:cNvPr id="15" name="!!strategy"/>
          <p:cNvSpPr/>
          <p:nvPr/>
        </p:nvSpPr>
        <p:spPr>
          <a:xfrm>
            <a:off x="8462772" y="36576"/>
            <a:ext cx="34061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القراءة الموجهة</a:t>
            </a:r>
          </a:p>
        </p:txBody>
      </p:sp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8" name="nav_map1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الشريحة المجهرية ①: فطر الخميرة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pic>
        <p:nvPicPr>
          <p:cNvPr id="5" name="Picture 4" descr="microscop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2103120"/>
            <a:ext cx="3175782" cy="393192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2926080" y="1188720"/>
            <a:ext cx="5029200" cy="4983480"/>
          </a:xfrm>
          <a:prstGeom prst="ellipse">
            <a:avLst/>
          </a:prstGeom>
          <a:solidFill>
            <a:srgbClr val="1E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p97_yeast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6200" y="1783080"/>
            <a:ext cx="3108960" cy="398678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83879" y="1371600"/>
            <a:ext cx="3520440" cy="3291840"/>
          </a:xfrm>
          <a:prstGeom prst="roundRect">
            <a:avLst>
              <a:gd name="adj" fmla="val 6944"/>
            </a:avLst>
          </a:prstGeom>
          <a:solidFill>
            <a:srgbClr val="FFF6DD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321040" y="1463040"/>
            <a:ext cx="3246120" cy="31089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1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أتوقع:</a:t>
            </a:r>
          </a:p>
          <a:p>
            <a:pPr algn="r" rtl="1"/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لاحظي الخلايا الصغيرة الملتصقة بالخلايا الكبيرة.</a:t>
            </a:r>
          </a:p>
          <a:p>
            <a:pPr algn="r" rtl="1"/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ماذا تتوقعين أن تكون؟</a:t>
            </a:r>
          </a:p>
        </p:txBody>
      </p:sp>
      <p:sp>
        <p:nvSpPr>
          <p:cNvPr id="20" name="!!strategy"/>
          <p:cNvSpPr/>
          <p:nvPr/>
        </p:nvSpPr>
        <p:spPr>
          <a:xfrm>
            <a:off x="8805672" y="36576"/>
            <a:ext cx="3063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ألاحظ وأتوقع</a:t>
            </a:r>
          </a:p>
        </p:txBody>
      </p:sp>
      <p:sp>
        <p:nvSpPr>
          <p:cNvPr id="2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23" name="nav_map1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zoom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9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9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9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التبرعم في الخميرة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"/>
          <p:cNvSpPr/>
          <p:nvPr/>
        </p:nvSpPr>
        <p:spPr>
          <a:xfrm>
            <a:off x="4160520" y="2011680"/>
            <a:ext cx="2286000" cy="26517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D"/>
          <p:cNvSpPr/>
          <p:nvPr/>
        </p:nvSpPr>
        <p:spPr>
          <a:xfrm>
            <a:off x="6117336" y="2322575"/>
            <a:ext cx="109728" cy="109728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960620" y="3154680"/>
            <a:ext cx="685800" cy="54864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4960620" y="3154680"/>
            <a:ext cx="685800" cy="54864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4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slow">
    <p:fade/>
  </p:transition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التبرعم في الخميرة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"/>
          <p:cNvSpPr/>
          <p:nvPr/>
        </p:nvSpPr>
        <p:spPr>
          <a:xfrm>
            <a:off x="4160520" y="2011680"/>
            <a:ext cx="2286000" cy="26517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D"/>
          <p:cNvSpPr/>
          <p:nvPr/>
        </p:nvSpPr>
        <p:spPr>
          <a:xfrm>
            <a:off x="5920740" y="1851660"/>
            <a:ext cx="777240" cy="77724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960620" y="3154680"/>
            <a:ext cx="685800" cy="54864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4960620" y="3154680"/>
            <a:ext cx="685800" cy="54864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١ يتكوّن البرعم بنمو بروز صغير على الخلية الأم</a:t>
            </a:r>
          </a:p>
        </p:txBody>
      </p:sp>
      <p:sp>
        <p:nvSpPr>
          <p:cNvPr id="12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5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التبرعم في الخميرة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"/>
          <p:cNvSpPr/>
          <p:nvPr/>
        </p:nvSpPr>
        <p:spPr>
          <a:xfrm>
            <a:off x="4160520" y="2011680"/>
            <a:ext cx="2286000" cy="26517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D"/>
          <p:cNvSpPr/>
          <p:nvPr/>
        </p:nvSpPr>
        <p:spPr>
          <a:xfrm>
            <a:off x="5897879" y="1508760"/>
            <a:ext cx="1188720" cy="118872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709160" y="3493007"/>
            <a:ext cx="640080" cy="512064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5394960" y="2578607"/>
            <a:ext cx="640080" cy="512064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يتكوّن البرعم بنمو بروز صغير على الخلية الأم</a:t>
            </a:r>
          </a:p>
        </p:txBody>
      </p:sp>
      <p:sp>
        <p:nvSpPr>
          <p:cNvPr id="12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٢ تنقسم نواة الخلية الأم انقسامًا متساويًا</a:t>
            </a:r>
          </a:p>
        </p:txBody>
      </p:sp>
      <p:sp>
        <p:nvSpPr>
          <p:cNvPr id="13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6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التبرعم في الخميرة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"/>
          <p:cNvSpPr/>
          <p:nvPr/>
        </p:nvSpPr>
        <p:spPr>
          <a:xfrm>
            <a:off x="4160520" y="2011680"/>
            <a:ext cx="2286000" cy="26517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D"/>
          <p:cNvSpPr/>
          <p:nvPr/>
        </p:nvSpPr>
        <p:spPr>
          <a:xfrm>
            <a:off x="5920740" y="1303020"/>
            <a:ext cx="1417320" cy="141732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709160" y="3493007"/>
            <a:ext cx="640080" cy="512064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6345936" y="1783080"/>
            <a:ext cx="566928" cy="45720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يتكوّن البرعم بنمو بروز صغير على الخلية الأم</a:t>
            </a:r>
          </a:p>
        </p:txBody>
      </p:sp>
      <p:sp>
        <p:nvSpPr>
          <p:cNvPr id="12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٢ تنقسم نواة الخلية الأم انقسامًا متساويًا</a:t>
            </a:r>
          </a:p>
        </p:txBody>
      </p:sp>
      <p:sp>
        <p:nvSpPr>
          <p:cNvPr id="13" name="!!lab3"/>
          <p:cNvSpPr/>
          <p:nvPr/>
        </p:nvSpPr>
        <p:spPr>
          <a:xfrm>
            <a:off x="6185916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٣ تصبح إحدى النواتين جزءًا من البرعم النامي</a:t>
            </a:r>
          </a:p>
        </p:txBody>
      </p:sp>
      <p:sp>
        <p:nvSpPr>
          <p:cNvPr id="14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7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التبرعم في الخميرة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"/>
          <p:cNvSpPr/>
          <p:nvPr/>
        </p:nvSpPr>
        <p:spPr>
          <a:xfrm>
            <a:off x="4160520" y="2011680"/>
            <a:ext cx="2286000" cy="26517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D"/>
          <p:cNvSpPr/>
          <p:nvPr/>
        </p:nvSpPr>
        <p:spPr>
          <a:xfrm>
            <a:off x="7726680" y="2080260"/>
            <a:ext cx="1737360" cy="19659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709160" y="3493007"/>
            <a:ext cx="640080" cy="512064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8275320" y="2898648"/>
            <a:ext cx="640080" cy="512064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يتكوّن البرعم بنمو بروز صغير على الخلية الأم</a:t>
            </a:r>
          </a:p>
        </p:txBody>
      </p:sp>
      <p:sp>
        <p:nvSpPr>
          <p:cNvPr id="12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٢ تنقسم نواة الخلية الأم انقسامًا متساويًا</a:t>
            </a:r>
          </a:p>
        </p:txBody>
      </p:sp>
      <p:sp>
        <p:nvSpPr>
          <p:cNvPr id="13" name="!!lab3"/>
          <p:cNvSpPr/>
          <p:nvPr/>
        </p:nvSpPr>
        <p:spPr>
          <a:xfrm>
            <a:off x="6185916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٣ تصبح إحدى النواتين جزءًا من البرعم النامي</a:t>
            </a:r>
          </a:p>
        </p:txBody>
      </p:sp>
      <p:sp>
        <p:nvSpPr>
          <p:cNvPr id="14" name="!!lab4"/>
          <p:cNvSpPr/>
          <p:nvPr/>
        </p:nvSpPr>
        <p:spPr>
          <a:xfrm>
            <a:off x="548639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٤ ينفصل البرعم ويصبح مخلوقًا حيًا جديدًا</a:t>
            </a:r>
          </a:p>
        </p:txBody>
      </p:sp>
      <p:sp>
        <p:nvSpPr>
          <p:cNvPr id="15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8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fspore0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التبرعم في الخميرة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"/>
          <p:cNvSpPr/>
          <p:nvPr/>
        </p:nvSpPr>
        <p:spPr>
          <a:xfrm>
            <a:off x="4160520" y="2011680"/>
            <a:ext cx="2286000" cy="26517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D"/>
          <p:cNvSpPr/>
          <p:nvPr/>
        </p:nvSpPr>
        <p:spPr>
          <a:xfrm>
            <a:off x="6117336" y="2322575"/>
            <a:ext cx="109728" cy="109728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960620" y="3154680"/>
            <a:ext cx="685800" cy="54864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4960620" y="3154680"/>
            <a:ext cx="685800" cy="54864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strategy"/>
          <p:cNvSpPr/>
          <p:nvPr/>
        </p:nvSpPr>
        <p:spPr>
          <a:xfrm>
            <a:off x="7205472" y="36576"/>
            <a:ext cx="4663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 بالمحاكاة البطيئة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4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budS1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slow">
    <p:fade/>
  </p:transition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التبرعم في الخميرة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"/>
          <p:cNvSpPr/>
          <p:nvPr/>
        </p:nvSpPr>
        <p:spPr>
          <a:xfrm>
            <a:off x="4160520" y="2011680"/>
            <a:ext cx="2286000" cy="26517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D"/>
          <p:cNvSpPr/>
          <p:nvPr/>
        </p:nvSpPr>
        <p:spPr>
          <a:xfrm>
            <a:off x="5920740" y="1851660"/>
            <a:ext cx="777240" cy="77724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960620" y="3154680"/>
            <a:ext cx="685800" cy="54864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4960620" y="3154680"/>
            <a:ext cx="685800" cy="54864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١ يتكوّن البرعم بنمو بروز صغير على الخلية الأم</a:t>
            </a:r>
          </a:p>
        </p:txBody>
      </p:sp>
      <p:sp>
        <p:nvSpPr>
          <p:cNvPr id="12" name="!!strategy"/>
          <p:cNvSpPr/>
          <p:nvPr/>
        </p:nvSpPr>
        <p:spPr>
          <a:xfrm>
            <a:off x="7205472" y="36576"/>
            <a:ext cx="4663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 بالمحاكاة البطيئة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5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6" name="nav_budS2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3200">
        <p159:morph option="byObject"/>
      </p:transition>
    </mc:Choice>
    <mc:Fallback>
      <p:transition spd="slow">
        <p:fade/>
      </p:transition>
    </mc:Fallback>
  </mc:AlternateContent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التبرعم في الخميرة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"/>
          <p:cNvSpPr/>
          <p:nvPr/>
        </p:nvSpPr>
        <p:spPr>
          <a:xfrm>
            <a:off x="4160520" y="2011680"/>
            <a:ext cx="2286000" cy="26517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D"/>
          <p:cNvSpPr/>
          <p:nvPr/>
        </p:nvSpPr>
        <p:spPr>
          <a:xfrm>
            <a:off x="5897879" y="1508760"/>
            <a:ext cx="1188720" cy="118872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709160" y="3493007"/>
            <a:ext cx="640080" cy="512064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5394960" y="2578607"/>
            <a:ext cx="640080" cy="512064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يتكوّن البرعم بنمو بروز صغير على الخلية الأم</a:t>
            </a:r>
          </a:p>
        </p:txBody>
      </p:sp>
      <p:sp>
        <p:nvSpPr>
          <p:cNvPr id="12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٢ تنقسم نواة الخلية الأم انقسامًا متساويًا</a:t>
            </a:r>
          </a:p>
        </p:txBody>
      </p:sp>
      <p:sp>
        <p:nvSpPr>
          <p:cNvPr id="13" name="!!strategy"/>
          <p:cNvSpPr/>
          <p:nvPr/>
        </p:nvSpPr>
        <p:spPr>
          <a:xfrm>
            <a:off x="7205472" y="36576"/>
            <a:ext cx="4663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 بالمحاكاة البطيئة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6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7" name="nav_budS3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3200">
        <p159:morph option="byObject"/>
      </p:transition>
    </mc:Choice>
    <mc:Fallback>
      <p:transition spd="slow">
        <p:fade/>
      </p:transition>
    </mc:Fallback>
  </mc:AlternateContent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التبرعم في الخميرة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"/>
          <p:cNvSpPr/>
          <p:nvPr/>
        </p:nvSpPr>
        <p:spPr>
          <a:xfrm>
            <a:off x="4160520" y="2011680"/>
            <a:ext cx="2286000" cy="26517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D"/>
          <p:cNvSpPr/>
          <p:nvPr/>
        </p:nvSpPr>
        <p:spPr>
          <a:xfrm>
            <a:off x="5920740" y="1303020"/>
            <a:ext cx="1417320" cy="141732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709160" y="3493007"/>
            <a:ext cx="640080" cy="512064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6345936" y="1783080"/>
            <a:ext cx="566928" cy="45720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يتكوّن البرعم بنمو بروز صغير على الخلية الأم</a:t>
            </a:r>
          </a:p>
        </p:txBody>
      </p:sp>
      <p:sp>
        <p:nvSpPr>
          <p:cNvPr id="12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٢ تنقسم نواة الخلية الأم انقسامًا متساويًا</a:t>
            </a:r>
          </a:p>
        </p:txBody>
      </p:sp>
      <p:sp>
        <p:nvSpPr>
          <p:cNvPr id="13" name="!!lab3"/>
          <p:cNvSpPr/>
          <p:nvPr/>
        </p:nvSpPr>
        <p:spPr>
          <a:xfrm>
            <a:off x="6185916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٣ تصبح إحدى النواتين جزءًا من البرعم النامي</a:t>
            </a:r>
          </a:p>
        </p:txBody>
      </p:sp>
      <p:sp>
        <p:nvSpPr>
          <p:cNvPr id="14" name="!!strategy"/>
          <p:cNvSpPr/>
          <p:nvPr/>
        </p:nvSpPr>
        <p:spPr>
          <a:xfrm>
            <a:off x="7205472" y="36576"/>
            <a:ext cx="4663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 بالمحاكاة البطيئة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7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8" name="nav_budS4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3200">
        <p159:morph option="byObject"/>
      </p:transition>
    </mc:Choice>
    <mc:Fallback>
      <p:transition spd="slow">
        <p:fade/>
      </p:transition>
    </mc:Fallback>
  </mc:AlternateContent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التبرعم في الخميرة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"/>
          <p:cNvSpPr/>
          <p:nvPr/>
        </p:nvSpPr>
        <p:spPr>
          <a:xfrm>
            <a:off x="4160520" y="2011680"/>
            <a:ext cx="2286000" cy="26517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D"/>
          <p:cNvSpPr/>
          <p:nvPr/>
        </p:nvSpPr>
        <p:spPr>
          <a:xfrm>
            <a:off x="7726680" y="2080260"/>
            <a:ext cx="1737360" cy="19659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709160" y="3493007"/>
            <a:ext cx="640080" cy="512064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8275320" y="2898648"/>
            <a:ext cx="640080" cy="512064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يتكوّن البرعم بنمو بروز صغير على الخلية الأم</a:t>
            </a:r>
          </a:p>
        </p:txBody>
      </p:sp>
      <p:sp>
        <p:nvSpPr>
          <p:cNvPr id="12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٢ تنقسم نواة الخلية الأم انقسامًا متساويًا</a:t>
            </a:r>
          </a:p>
        </p:txBody>
      </p:sp>
      <p:sp>
        <p:nvSpPr>
          <p:cNvPr id="13" name="!!lab3"/>
          <p:cNvSpPr/>
          <p:nvPr/>
        </p:nvSpPr>
        <p:spPr>
          <a:xfrm>
            <a:off x="6185916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٣ تصبح إحدى النواتين جزءًا من البرعم النامي</a:t>
            </a:r>
          </a:p>
        </p:txBody>
      </p:sp>
      <p:sp>
        <p:nvSpPr>
          <p:cNvPr id="14" name="!!lab4"/>
          <p:cNvSpPr/>
          <p:nvPr/>
        </p:nvSpPr>
        <p:spPr>
          <a:xfrm>
            <a:off x="548639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٤ ينفصل البرعم ويصبح مخلوقًا حيًا جديدًا</a:t>
            </a:r>
          </a:p>
        </p:txBody>
      </p:sp>
      <p:sp>
        <p:nvSpPr>
          <p:cNvPr id="15" name="!!strategy"/>
          <p:cNvSpPr/>
          <p:nvPr/>
        </p:nvSpPr>
        <p:spPr>
          <a:xfrm>
            <a:off x="7205472" y="36576"/>
            <a:ext cx="4663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 بالمحاكاة البطيئة</a:t>
            </a:r>
          </a:p>
        </p:txBody>
      </p:sp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8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budS_end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3200">
        <p159:morph option="byObject"/>
      </p:transition>
    </mc:Choice>
    <mc:Fallback>
      <p:transition spd="slow">
        <p:fade/>
      </p:transition>
    </mc:Fallback>
  </mc:AlternateContent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انتهت الحركة البطيئة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pic>
        <p:nvPicPr>
          <p:cNvPr id="5" name="!!guide" descr="guide_po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463040"/>
            <a:ext cx="2783344" cy="4389120"/>
          </a:xfrm>
          <a:prstGeom prst="rect">
            <a:avLst/>
          </a:prstGeom>
        </p:spPr>
      </p:pic>
      <p:sp>
        <p:nvSpPr>
          <p:cNvPr id="6" name="bubble"/>
          <p:cNvSpPr/>
          <p:nvPr/>
        </p:nvSpPr>
        <p:spPr>
          <a:xfrm>
            <a:off x="4389120" y="1463040"/>
            <a:ext cx="6949440" cy="1371600"/>
          </a:xfrm>
          <a:prstGeom prst="wedgeRoundRectCallout">
            <a:avLst>
              <a:gd name="adj1" fmla="val -62000"/>
              <a:gd name="adj2" fmla="val 30000"/>
              <a:gd name="adj3" fmla="val 16667"/>
            </a:avLst>
          </a:prstGeom>
          <a:solidFill>
            <a:srgbClr val="FFFFFF"/>
          </a:solidFill>
          <a:ln w="3175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r" rtl="1"/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لاحظتِ؟ النواة انقسمت انقسامًا متساويًا، فأخذ البرعم نواة مماثلة.</a:t>
            </a:r>
          </a:p>
        </p:txBody>
      </p:sp>
      <p:sp>
        <p:nvSpPr>
          <p:cNvPr id="7" name="Rounded Rectangle 6">
            <a:hlinkClick action="ppaction://hlinksldjump" r:id="rId4"/>
          </p:cNvPr>
          <p:cNvSpPr/>
          <p:nvPr/>
        </p:nvSpPr>
        <p:spPr>
          <a:xfrm>
            <a:off x="6949440" y="3566160"/>
            <a:ext cx="4389120" cy="777240"/>
          </a:xfrm>
          <a:prstGeom prst="roundRect">
            <a:avLst>
              <a:gd name="adj" fmla="val 35294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8" name="!!strategy"/>
          <p:cNvSpPr/>
          <p:nvPr/>
        </p:nvSpPr>
        <p:spPr>
          <a:xfrm>
            <a:off x="7205472" y="36576"/>
            <a:ext cx="4663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 بالمحاكاة البطيئة</a:t>
            </a:r>
          </a:p>
        </p:txBody>
      </p:sp>
      <p:sp>
        <p:nvSpPr>
          <p:cNvPr id="9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0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1" name="nav_map1">
            <a:hlinkClick action="ppaction://hlinksldjump" r:id="rId5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تكاثر الفطريات بالأبواغ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ale"/>
          <p:cNvSpPr/>
          <p:nvPr/>
        </p:nvSpPr>
        <p:spPr>
          <a:xfrm>
            <a:off x="3493008" y="2377440"/>
            <a:ext cx="1188720" cy="1188720"/>
          </a:xfrm>
          <a:prstGeom prst="ellipse">
            <a:avLst/>
          </a:prstGeom>
          <a:solidFill>
            <a:srgbClr val="A9D4FF"/>
          </a:solidFill>
          <a:ln w="38100">
            <a:solidFill>
              <a:srgbClr val="3D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female"/>
          <p:cNvSpPr/>
          <p:nvPr/>
        </p:nvSpPr>
        <p:spPr>
          <a:xfrm>
            <a:off x="7516368" y="2377440"/>
            <a:ext cx="1188720" cy="1188720"/>
          </a:xfrm>
          <a:prstGeom prst="ellipse">
            <a:avLst/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2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slow">
    <p:fade/>
  </p:transition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تكاثر الفطريات بالأبواغ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ale"/>
          <p:cNvSpPr/>
          <p:nvPr/>
        </p:nvSpPr>
        <p:spPr>
          <a:xfrm>
            <a:off x="5184648" y="2377440"/>
            <a:ext cx="1188720" cy="1188720"/>
          </a:xfrm>
          <a:prstGeom prst="ellipse">
            <a:avLst/>
          </a:prstGeom>
          <a:solidFill>
            <a:srgbClr val="A9D4FF"/>
          </a:solidFill>
          <a:ln w="38100">
            <a:solidFill>
              <a:srgbClr val="3D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female"/>
          <p:cNvSpPr/>
          <p:nvPr/>
        </p:nvSpPr>
        <p:spPr>
          <a:xfrm>
            <a:off x="5824727" y="2377440"/>
            <a:ext cx="1188720" cy="1188720"/>
          </a:xfrm>
          <a:prstGeom prst="ellipse">
            <a:avLst/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تندمج الخلايا الذكرية مع الخلايا الأنثوية</a:t>
            </a:r>
          </a:p>
        </p:txBody>
      </p:sp>
      <p:sp>
        <p:nvSpPr>
          <p:cNvPr id="10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3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تكاثر الفطريات بالأبواغ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sac"/>
          <p:cNvSpPr/>
          <p:nvPr/>
        </p:nvSpPr>
        <p:spPr>
          <a:xfrm>
            <a:off x="5184648" y="2240280"/>
            <a:ext cx="1828800" cy="1463040"/>
          </a:xfrm>
          <a:prstGeom prst="ellipse">
            <a:avLst/>
          </a:prstGeom>
          <a:solidFill>
            <a:srgbClr val="F6E3B5"/>
          </a:solidFill>
          <a:ln w="38100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s0"/>
          <p:cNvSpPr/>
          <p:nvPr/>
        </p:nvSpPr>
        <p:spPr>
          <a:xfrm>
            <a:off x="5559552" y="261518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s1"/>
          <p:cNvSpPr/>
          <p:nvPr/>
        </p:nvSpPr>
        <p:spPr>
          <a:xfrm>
            <a:off x="5971032" y="247802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s2"/>
          <p:cNvSpPr/>
          <p:nvPr/>
        </p:nvSpPr>
        <p:spPr>
          <a:xfrm>
            <a:off x="6382512" y="261518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s3"/>
          <p:cNvSpPr/>
          <p:nvPr/>
        </p:nvSpPr>
        <p:spPr>
          <a:xfrm>
            <a:off x="5605272" y="307238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s4"/>
          <p:cNvSpPr/>
          <p:nvPr/>
        </p:nvSpPr>
        <p:spPr>
          <a:xfrm>
            <a:off x="6016752" y="3118103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s5"/>
          <p:cNvSpPr/>
          <p:nvPr/>
        </p:nvSpPr>
        <p:spPr>
          <a:xfrm>
            <a:off x="6382512" y="302666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تندمج الخلايا الذكرية مع الخلايا الأنثوية</a:t>
            </a:r>
          </a:p>
        </p:txBody>
      </p:sp>
      <p:sp>
        <p:nvSpPr>
          <p:cNvPr id="15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تتبادل المادة الوراثية وتنتج الأبواغ داخل غلاف</a:t>
            </a:r>
          </a:p>
        </p:txBody>
      </p:sp>
      <p:sp>
        <p:nvSpPr>
          <p:cNvPr id="16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9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تكاثر الفطريات بالأبواغ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sac"/>
          <p:cNvSpPr/>
          <p:nvPr/>
        </p:nvSpPr>
        <p:spPr>
          <a:xfrm>
            <a:off x="5184648" y="2240280"/>
            <a:ext cx="1828800" cy="1463040"/>
          </a:xfrm>
          <a:prstGeom prst="ellipse">
            <a:avLst/>
          </a:prstGeom>
          <a:solidFill>
            <a:srgbClr val="F6E3B5"/>
          </a:solidFill>
          <a:ln w="38100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s0"/>
          <p:cNvSpPr/>
          <p:nvPr/>
        </p:nvSpPr>
        <p:spPr>
          <a:xfrm>
            <a:off x="3227832" y="202082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s1"/>
          <p:cNvSpPr/>
          <p:nvPr/>
        </p:nvSpPr>
        <p:spPr>
          <a:xfrm>
            <a:off x="4599432" y="165506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s2"/>
          <p:cNvSpPr/>
          <p:nvPr/>
        </p:nvSpPr>
        <p:spPr>
          <a:xfrm>
            <a:off x="7434071" y="1746503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s3"/>
          <p:cNvSpPr/>
          <p:nvPr/>
        </p:nvSpPr>
        <p:spPr>
          <a:xfrm>
            <a:off x="3593592" y="366674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s4"/>
          <p:cNvSpPr/>
          <p:nvPr/>
        </p:nvSpPr>
        <p:spPr>
          <a:xfrm>
            <a:off x="6153912" y="398678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s5"/>
          <p:cNvSpPr/>
          <p:nvPr/>
        </p:nvSpPr>
        <p:spPr>
          <a:xfrm>
            <a:off x="8714232" y="348386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تندمج الخلايا الذكرية مع الخلايا الأنثوية</a:t>
            </a:r>
          </a:p>
        </p:txBody>
      </p:sp>
      <p:sp>
        <p:nvSpPr>
          <p:cNvPr id="15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تتبادل المادة الوراثية وتنتج الأبواغ داخل غلاف</a:t>
            </a:r>
          </a:p>
        </p:txBody>
      </p:sp>
      <p:sp>
        <p:nvSpPr>
          <p:cNvPr id="16" name="!!lab3"/>
          <p:cNvSpPr/>
          <p:nvPr/>
        </p:nvSpPr>
        <p:spPr>
          <a:xfrm>
            <a:off x="6185916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تنتشر الأبواغ</a:t>
            </a:r>
          </a:p>
        </p:txBody>
      </p:sp>
      <p:sp>
        <p:nvSpPr>
          <p:cNvPr id="17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8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9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20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تكاثر الفطريات بالأبواغ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ground"/>
          <p:cNvSpPr/>
          <p:nvPr/>
        </p:nvSpPr>
        <p:spPr>
          <a:xfrm>
            <a:off x="3355848" y="4229100"/>
            <a:ext cx="5486400" cy="411480"/>
          </a:xfrm>
          <a:prstGeom prst="roundRect">
            <a:avLst>
              <a:gd name="adj" fmla="val 50000"/>
            </a:avLst>
          </a:prstGeom>
          <a:solidFill>
            <a:srgbClr val="E3B27A"/>
          </a:solidFill>
          <a:ln w="25400">
            <a:solidFill>
              <a:srgbClr val="B0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hy"/>
          <p:cNvSpPr/>
          <p:nvPr/>
        </p:nvSpPr>
        <p:spPr>
          <a:xfrm>
            <a:off x="6181344" y="3063239"/>
            <a:ext cx="201168" cy="100584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2540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s0"/>
          <p:cNvSpPr/>
          <p:nvPr/>
        </p:nvSpPr>
        <p:spPr>
          <a:xfrm>
            <a:off x="3227832" y="202082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s1"/>
          <p:cNvSpPr/>
          <p:nvPr/>
        </p:nvSpPr>
        <p:spPr>
          <a:xfrm>
            <a:off x="4599432" y="165506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s2"/>
          <p:cNvSpPr/>
          <p:nvPr/>
        </p:nvSpPr>
        <p:spPr>
          <a:xfrm>
            <a:off x="7434071" y="1746503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s3"/>
          <p:cNvSpPr/>
          <p:nvPr/>
        </p:nvSpPr>
        <p:spPr>
          <a:xfrm>
            <a:off x="3593592" y="366674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s4"/>
          <p:cNvSpPr/>
          <p:nvPr/>
        </p:nvSpPr>
        <p:spPr>
          <a:xfrm>
            <a:off x="6135624" y="3968496"/>
            <a:ext cx="292608" cy="292608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s5"/>
          <p:cNvSpPr/>
          <p:nvPr/>
        </p:nvSpPr>
        <p:spPr>
          <a:xfrm>
            <a:off x="8714232" y="348386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تندمج الخلايا الذكرية مع الخلايا الأنثوية</a:t>
            </a:r>
          </a:p>
        </p:txBody>
      </p:sp>
      <p:sp>
        <p:nvSpPr>
          <p:cNvPr id="16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تتبادل المادة الوراثية وتنتج الأبواغ داخل غلاف</a:t>
            </a:r>
          </a:p>
        </p:txBody>
      </p:sp>
      <p:sp>
        <p:nvSpPr>
          <p:cNvPr id="17" name="!!lab3"/>
          <p:cNvSpPr/>
          <p:nvPr/>
        </p:nvSpPr>
        <p:spPr>
          <a:xfrm>
            <a:off x="6185916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تنتشر الأبواغ</a:t>
            </a:r>
          </a:p>
        </p:txBody>
      </p:sp>
      <p:sp>
        <p:nvSpPr>
          <p:cNvPr id="18" name="!!lab4"/>
          <p:cNvSpPr/>
          <p:nvPr/>
        </p:nvSpPr>
        <p:spPr>
          <a:xfrm>
            <a:off x="548639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إذا سقطت في بيئة مناسبة تنمو وتنتج فطرًا جديدًا</a:t>
            </a:r>
          </a:p>
        </p:txBody>
      </p:sp>
      <p:sp>
        <p:nvSpPr>
          <p:cNvPr id="19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2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22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3" name="nav_bfis0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الشريحة المجهرية ②: البكتيريا — الانشطار الثنائي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4636008" y="2468880"/>
            <a:ext cx="2926080" cy="100584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4636008" y="2468880"/>
            <a:ext cx="2926080" cy="100584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D1"/>
          <p:cNvSpPr/>
          <p:nvPr/>
        </p:nvSpPr>
        <p:spPr>
          <a:xfrm>
            <a:off x="5687568" y="2807208"/>
            <a:ext cx="822960" cy="329184"/>
          </a:xfrm>
          <a:prstGeom prst="doubleWave">
            <a:avLst/>
          </a:prstGeom>
          <a:solidFill>
            <a:srgbClr val="7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D2"/>
          <p:cNvSpPr/>
          <p:nvPr/>
        </p:nvSpPr>
        <p:spPr>
          <a:xfrm>
            <a:off x="5687568" y="2807208"/>
            <a:ext cx="822960" cy="329184"/>
          </a:xfrm>
          <a:prstGeom prst="doubleWave">
            <a:avLst/>
          </a:prstGeom>
          <a:solidFill>
            <a:srgbClr val="7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822960" y="1463040"/>
            <a:ext cx="3566160" cy="914400"/>
          </a:xfrm>
          <a:prstGeom prst="roundRect">
            <a:avLst>
              <a:gd name="adj" fmla="val 20000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8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إي.كولاي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بكتيريا تعيش في أمعاء الإنسان</a:t>
            </a:r>
          </a:p>
        </p:txBody>
      </p:sp>
      <p:sp>
        <p:nvSpPr>
          <p:cNvPr id="12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5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slow">
    <p:fade/>
  </p:transition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الشريحة المجهرية ②: البكتيريا — الانشطار الثنائي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3904487" y="2468880"/>
            <a:ext cx="4389120" cy="100584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3904487" y="2468880"/>
            <a:ext cx="4389120" cy="100584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D1"/>
          <p:cNvSpPr/>
          <p:nvPr/>
        </p:nvSpPr>
        <p:spPr>
          <a:xfrm>
            <a:off x="4590288" y="2807208"/>
            <a:ext cx="822960" cy="329184"/>
          </a:xfrm>
          <a:prstGeom prst="doubleWave">
            <a:avLst/>
          </a:prstGeom>
          <a:solidFill>
            <a:srgbClr val="7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D2"/>
          <p:cNvSpPr/>
          <p:nvPr/>
        </p:nvSpPr>
        <p:spPr>
          <a:xfrm>
            <a:off x="6784848" y="2807208"/>
            <a:ext cx="822960" cy="329184"/>
          </a:xfrm>
          <a:prstGeom prst="doubleWave">
            <a:avLst/>
          </a:prstGeom>
          <a:solidFill>
            <a:srgbClr val="7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١ يتمّ تضاعف المادة الوراثية</a:t>
            </a:r>
          </a:p>
        </p:txBody>
      </p:sp>
      <p:sp>
        <p:nvSpPr>
          <p:cNvPr id="12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5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الشريحة المجهرية ②: البكتيريا — الانشطار الثنائي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3767328" y="2491740"/>
            <a:ext cx="2377440" cy="96012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6053328" y="2491740"/>
            <a:ext cx="2377440" cy="96012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D1"/>
          <p:cNvSpPr/>
          <p:nvPr/>
        </p:nvSpPr>
        <p:spPr>
          <a:xfrm>
            <a:off x="4544568" y="2807208"/>
            <a:ext cx="822960" cy="329184"/>
          </a:xfrm>
          <a:prstGeom prst="doubleWave">
            <a:avLst/>
          </a:prstGeom>
          <a:solidFill>
            <a:srgbClr val="7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D2"/>
          <p:cNvSpPr/>
          <p:nvPr/>
        </p:nvSpPr>
        <p:spPr>
          <a:xfrm>
            <a:off x="6830568" y="2807208"/>
            <a:ext cx="822960" cy="329184"/>
          </a:xfrm>
          <a:prstGeom prst="doubleWave">
            <a:avLst/>
          </a:prstGeom>
          <a:solidFill>
            <a:srgbClr val="7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يتمّ تضاعف المادة الوراثية</a:t>
            </a:r>
          </a:p>
        </p:txBody>
      </p:sp>
      <p:sp>
        <p:nvSpPr>
          <p:cNvPr id="12" name="!!lab2"/>
          <p:cNvSpPr/>
          <p:nvPr/>
        </p:nvSpPr>
        <p:spPr>
          <a:xfrm>
            <a:off x="4306824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٢ تبدأ الخلية في الانقسام</a:t>
            </a:r>
          </a:p>
        </p:txBody>
      </p:sp>
      <p:sp>
        <p:nvSpPr>
          <p:cNvPr id="13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6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الشريحة المجهرية ②: البكتيريا — الانشطار الثنائي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3081528" y="2468880"/>
            <a:ext cx="2377440" cy="100584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6739128" y="2468880"/>
            <a:ext cx="2377440" cy="100584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D1"/>
          <p:cNvSpPr/>
          <p:nvPr/>
        </p:nvSpPr>
        <p:spPr>
          <a:xfrm>
            <a:off x="3858768" y="2807208"/>
            <a:ext cx="822960" cy="329184"/>
          </a:xfrm>
          <a:prstGeom prst="doubleWave">
            <a:avLst/>
          </a:prstGeom>
          <a:solidFill>
            <a:srgbClr val="7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D2"/>
          <p:cNvSpPr/>
          <p:nvPr/>
        </p:nvSpPr>
        <p:spPr>
          <a:xfrm>
            <a:off x="7516368" y="2807208"/>
            <a:ext cx="822960" cy="329184"/>
          </a:xfrm>
          <a:prstGeom prst="doubleWave">
            <a:avLst/>
          </a:prstGeom>
          <a:solidFill>
            <a:srgbClr val="7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يتمّ تضاعف المادة الوراثية</a:t>
            </a:r>
          </a:p>
        </p:txBody>
      </p:sp>
      <p:sp>
        <p:nvSpPr>
          <p:cNvPr id="12" name="!!lab2"/>
          <p:cNvSpPr/>
          <p:nvPr/>
        </p:nvSpPr>
        <p:spPr>
          <a:xfrm>
            <a:off x="4306824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٢ تبدأ الخلية في الانقسام</a:t>
            </a:r>
          </a:p>
        </p:txBody>
      </p:sp>
      <p:sp>
        <p:nvSpPr>
          <p:cNvPr id="13" name="!!lab3"/>
          <p:cNvSpPr/>
          <p:nvPr/>
        </p:nvSpPr>
        <p:spPr>
          <a:xfrm>
            <a:off x="548640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٣ ينتج مخلوقان متماثلان</a:t>
            </a:r>
          </a:p>
        </p:txBody>
      </p:sp>
      <p:sp>
        <p:nvSpPr>
          <p:cNvPr id="14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7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8" name="nav_bconj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البكتيريا: الاقتران — أقرأ الصورة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158978"/>
            <a:ext cx="4901184" cy="4997242"/>
          </a:xfrm>
          <a:prstGeom prst="roundRect">
            <a:avLst>
              <a:gd name="adj" fmla="val 1865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7_bac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232130"/>
            <a:ext cx="4754880" cy="485093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520440" y="6037349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2120" y="1234440"/>
            <a:ext cx="6126480" cy="1051560"/>
          </a:xfrm>
          <a:prstGeom prst="roundRect">
            <a:avLst>
              <a:gd name="adj" fmla="val 21739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0" y="1261872"/>
            <a:ext cx="5852160" cy="10058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ماذا يمثل الجسر الذي يربط بين الخليتين في الصورة؟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532120" y="2468880"/>
            <a:ext cx="6126480" cy="963168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ممر تنتقل عبره المادة الوراثية من خلية إلى أخرى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532120" y="3633216"/>
            <a:ext cx="6126480" cy="963168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أنبوب لنقل الغذاء</a:t>
            </a:r>
          </a:p>
        </p:txBody>
      </p:sp>
      <p:sp>
        <p:nvSpPr>
          <p:cNvPr id="12" name="!!opt2">
            <a:hlinkClick action="ppaction://hlinksldjump" r:id="rId6"/>
          </p:cNvPr>
          <p:cNvSpPr/>
          <p:nvPr/>
        </p:nvSpPr>
        <p:spPr>
          <a:xfrm>
            <a:off x="5532120" y="4797552"/>
            <a:ext cx="6126480" cy="963168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ذيل تتحرك به البكتيريا</a:t>
            </a:r>
          </a:p>
        </p:txBody>
      </p:sp>
      <p:sp>
        <p:nvSpPr>
          <p:cNvPr id="13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6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البكتيريا: الاقتران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اقرئي تعليق الصورة في الكتاب: «تُظهر كيف تنتقل المعلومات الوراثية عبر جسر…»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4" name="nav_map1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bconj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البكتيريا: الاقتران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ماذا يمثل الجسر الذي يربط بين الخليتين في الصورة؟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ممر تنتقل عبره المادة الوراثية من خلية إلى أخرى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965192" y="3520440"/>
            <a:ext cx="6675120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148072" y="3566160"/>
            <a:ext cx="6309359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في الاقتران تتصل خليتان معًا، وتنتقل المادة الوراثية من إحداهما إلى الأخرى عبر الجسر، ثم تنفصلان وتنقسمان.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3526237"/>
            <a:ext cx="4626864" cy="2594445"/>
          </a:xfrm>
          <a:prstGeom prst="roundRect">
            <a:avLst>
              <a:gd name="adj" fmla="val 3524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97_bacttex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599389"/>
            <a:ext cx="4480560" cy="2448141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3291840" y="600181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ص٩٧</a:t>
            </a:r>
          </a:p>
        </p:txBody>
      </p:sp>
      <p:pic>
        <p:nvPicPr>
          <p:cNvPr id="14" name="Picture 13" descr="ic_st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3400" y="3611880"/>
            <a:ext cx="548640" cy="548640"/>
          </a:xfrm>
          <a:prstGeom prst="rect">
            <a:avLst/>
          </a:prstGeom>
        </p:spPr>
      </p:pic>
      <p:sp>
        <p:nvSpPr>
          <p:cNvPr id="21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2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24" name="nav_map1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5" name="nav_bc0">
            <a:hlinkClick action="ppaction://hlinksldjump" r:id="rId9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الاقتران في البكتيريا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3995928" y="16002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A2"/>
          <p:cNvSpPr/>
          <p:nvPr/>
        </p:nvSpPr>
        <p:spPr>
          <a:xfrm>
            <a:off x="3995928" y="16002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B"/>
          <p:cNvSpPr/>
          <p:nvPr/>
        </p:nvSpPr>
        <p:spPr>
          <a:xfrm>
            <a:off x="4544568" y="34290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B2"/>
          <p:cNvSpPr/>
          <p:nvPr/>
        </p:nvSpPr>
        <p:spPr>
          <a:xfrm>
            <a:off x="4544568" y="34290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G"/>
          <p:cNvSpPr/>
          <p:nvPr/>
        </p:nvSpPr>
        <p:spPr>
          <a:xfrm>
            <a:off x="6464807" y="1874519"/>
            <a:ext cx="365760" cy="365760"/>
          </a:xfrm>
          <a:prstGeom prst="ellipse">
            <a:avLst/>
          </a:prstGeom>
          <a:solidFill>
            <a:srgbClr val="7E63D6"/>
          </a:solidFill>
          <a:ln w="12700">
            <a:solidFill>
              <a:srgbClr val="4B36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5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slow">
    <p:fade/>
  </p:transition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الاقتران في البكتيريا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3995928" y="16002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A2"/>
          <p:cNvSpPr/>
          <p:nvPr/>
        </p:nvSpPr>
        <p:spPr>
          <a:xfrm>
            <a:off x="3995928" y="16002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B"/>
          <p:cNvSpPr/>
          <p:nvPr/>
        </p:nvSpPr>
        <p:spPr>
          <a:xfrm>
            <a:off x="4544568" y="34290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B2"/>
          <p:cNvSpPr/>
          <p:nvPr/>
        </p:nvSpPr>
        <p:spPr>
          <a:xfrm>
            <a:off x="4544568" y="34290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BR"/>
          <p:cNvSpPr/>
          <p:nvPr/>
        </p:nvSpPr>
        <p:spPr>
          <a:xfrm>
            <a:off x="5989320" y="2423160"/>
            <a:ext cx="219456" cy="1097280"/>
          </a:xfrm>
          <a:prstGeom prst="rect">
            <a:avLst/>
          </a:prstGeom>
          <a:solidFill>
            <a:srgbClr val="E07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G"/>
          <p:cNvSpPr/>
          <p:nvPr/>
        </p:nvSpPr>
        <p:spPr>
          <a:xfrm>
            <a:off x="6464807" y="1874519"/>
            <a:ext cx="365760" cy="365760"/>
          </a:xfrm>
          <a:prstGeom prst="ellipse">
            <a:avLst/>
          </a:prstGeom>
          <a:solidFill>
            <a:srgbClr val="7E63D6"/>
          </a:solidFill>
          <a:ln w="12700">
            <a:solidFill>
              <a:srgbClr val="4B36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تتصل خليتان معًا</a:t>
            </a:r>
          </a:p>
        </p:txBody>
      </p:sp>
      <p:sp>
        <p:nvSpPr>
          <p:cNvPr id="14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7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الاقتران في البكتيريا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3995928" y="16002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A2"/>
          <p:cNvSpPr/>
          <p:nvPr/>
        </p:nvSpPr>
        <p:spPr>
          <a:xfrm>
            <a:off x="3995928" y="16002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B"/>
          <p:cNvSpPr/>
          <p:nvPr/>
        </p:nvSpPr>
        <p:spPr>
          <a:xfrm>
            <a:off x="4544568" y="34290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B2"/>
          <p:cNvSpPr/>
          <p:nvPr/>
        </p:nvSpPr>
        <p:spPr>
          <a:xfrm>
            <a:off x="4544568" y="34290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BR"/>
          <p:cNvSpPr/>
          <p:nvPr/>
        </p:nvSpPr>
        <p:spPr>
          <a:xfrm>
            <a:off x="5989320" y="2423160"/>
            <a:ext cx="219456" cy="1097280"/>
          </a:xfrm>
          <a:prstGeom prst="rect">
            <a:avLst/>
          </a:prstGeom>
          <a:solidFill>
            <a:srgbClr val="E07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G"/>
          <p:cNvSpPr/>
          <p:nvPr/>
        </p:nvSpPr>
        <p:spPr>
          <a:xfrm>
            <a:off x="5943600" y="2816352"/>
            <a:ext cx="310896" cy="310896"/>
          </a:xfrm>
          <a:prstGeom prst="ellipse">
            <a:avLst/>
          </a:prstGeom>
          <a:solidFill>
            <a:srgbClr val="7E63D6"/>
          </a:solidFill>
          <a:ln w="12700">
            <a:solidFill>
              <a:srgbClr val="4B36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تتصل خليتان معًا</a:t>
            </a:r>
          </a:p>
        </p:txBody>
      </p:sp>
      <p:sp>
        <p:nvSpPr>
          <p:cNvPr id="14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تنتقل المادة الوراثية من إحداهما إلى الأخرى</a:t>
            </a:r>
          </a:p>
        </p:txBody>
      </p:sp>
      <p:sp>
        <p:nvSpPr>
          <p:cNvPr id="15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8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الاقتران في البكتيريا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3447287" y="146304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A2"/>
          <p:cNvSpPr/>
          <p:nvPr/>
        </p:nvSpPr>
        <p:spPr>
          <a:xfrm>
            <a:off x="3447287" y="146304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B"/>
          <p:cNvSpPr/>
          <p:nvPr/>
        </p:nvSpPr>
        <p:spPr>
          <a:xfrm>
            <a:off x="5093208" y="356616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B2"/>
          <p:cNvSpPr/>
          <p:nvPr/>
        </p:nvSpPr>
        <p:spPr>
          <a:xfrm>
            <a:off x="5093208" y="356616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G"/>
          <p:cNvSpPr/>
          <p:nvPr/>
        </p:nvSpPr>
        <p:spPr>
          <a:xfrm>
            <a:off x="6190488" y="3840480"/>
            <a:ext cx="365760" cy="365760"/>
          </a:xfrm>
          <a:prstGeom prst="ellipse">
            <a:avLst/>
          </a:prstGeom>
          <a:solidFill>
            <a:srgbClr val="7E63D6"/>
          </a:solidFill>
          <a:ln w="12700">
            <a:solidFill>
              <a:srgbClr val="4B36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تتصل خليتان معًا</a:t>
            </a:r>
          </a:p>
        </p:txBody>
      </p:sp>
      <p:sp>
        <p:nvSpPr>
          <p:cNvPr id="13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تنتقل المادة الوراثية من إحداهما إلى الأخرى</a:t>
            </a:r>
          </a:p>
        </p:txBody>
      </p:sp>
      <p:sp>
        <p:nvSpPr>
          <p:cNvPr id="14" name="!!lab3"/>
          <p:cNvSpPr/>
          <p:nvPr/>
        </p:nvSpPr>
        <p:spPr>
          <a:xfrm>
            <a:off x="6185916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تنفصل الخليتان</a:t>
            </a:r>
          </a:p>
        </p:txBody>
      </p:sp>
      <p:sp>
        <p:nvSpPr>
          <p:cNvPr id="15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8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الاقتران في البكتيريا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2990087" y="1463040"/>
            <a:ext cx="219456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A2"/>
          <p:cNvSpPr/>
          <p:nvPr/>
        </p:nvSpPr>
        <p:spPr>
          <a:xfrm>
            <a:off x="5367528" y="1463040"/>
            <a:ext cx="219456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B"/>
          <p:cNvSpPr/>
          <p:nvPr/>
        </p:nvSpPr>
        <p:spPr>
          <a:xfrm>
            <a:off x="4636007" y="3566160"/>
            <a:ext cx="219456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B2"/>
          <p:cNvSpPr/>
          <p:nvPr/>
        </p:nvSpPr>
        <p:spPr>
          <a:xfrm>
            <a:off x="7013448" y="3566160"/>
            <a:ext cx="219456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G"/>
          <p:cNvSpPr/>
          <p:nvPr/>
        </p:nvSpPr>
        <p:spPr>
          <a:xfrm>
            <a:off x="5550407" y="3840480"/>
            <a:ext cx="365760" cy="365760"/>
          </a:xfrm>
          <a:prstGeom prst="ellipse">
            <a:avLst/>
          </a:prstGeom>
          <a:solidFill>
            <a:srgbClr val="7E63D6"/>
          </a:solidFill>
          <a:ln w="12700">
            <a:solidFill>
              <a:srgbClr val="4B36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تتصل خليتان معًا</a:t>
            </a:r>
          </a:p>
        </p:txBody>
      </p:sp>
      <p:sp>
        <p:nvSpPr>
          <p:cNvPr id="13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تنتقل المادة الوراثية من إحداهما إلى الأخرى</a:t>
            </a:r>
          </a:p>
        </p:txBody>
      </p:sp>
      <p:sp>
        <p:nvSpPr>
          <p:cNvPr id="14" name="!!lab3"/>
          <p:cNvSpPr/>
          <p:nvPr/>
        </p:nvSpPr>
        <p:spPr>
          <a:xfrm>
            <a:off x="6185916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تنفصل الخليتان</a:t>
            </a:r>
          </a:p>
        </p:txBody>
      </p:sp>
      <p:sp>
        <p:nvSpPr>
          <p:cNvPr id="15" name="!!lab4"/>
          <p:cNvSpPr/>
          <p:nvPr/>
        </p:nvSpPr>
        <p:spPr>
          <a:xfrm>
            <a:off x="548639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وتنقسمان</a:t>
            </a:r>
          </a:p>
        </p:txBody>
      </p:sp>
      <p:sp>
        <p:nvSpPr>
          <p:cNvPr id="16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9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cmp97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أقارن وأستنتج: التبرعم والانشطار الثنائي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Oval 4"/>
          <p:cNvSpPr/>
          <p:nvPr/>
        </p:nvSpPr>
        <p:spPr>
          <a:xfrm>
            <a:off x="4937760" y="1325880"/>
            <a:ext cx="5120640" cy="3657600"/>
          </a:xfrm>
          <a:prstGeom prst="ellipse">
            <a:avLst/>
          </a:prstGeom>
          <a:solidFill>
            <a:srgbClr val="D8F0B8">
              <a:alpha val="75000"/>
            </a:srgbClr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2148840" y="1325880"/>
            <a:ext cx="5120640" cy="3657600"/>
          </a:xfrm>
          <a:prstGeom prst="ellipse">
            <a:avLst/>
          </a:prstGeom>
          <a:solidFill>
            <a:srgbClr val="FFC2D1">
              <a:alpha val="75000"/>
            </a:srgbClr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360920" y="1965960"/>
            <a:ext cx="2514600" cy="2377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24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التبرعم</a:t>
            </a:r>
          </a:p>
          <a:p>
            <a:pPr algn="ctr" rtl="1"/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بروز صغير ينمو على الخلية الأم ثم ينفصل</a:t>
            </a:r>
          </a:p>
          <a:p>
            <a:pPr algn="ctr" rtl="1"/>
            <a:r>
              <a:rPr sz="17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مثل الخميرة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1965960"/>
            <a:ext cx="2514600" cy="2377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24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  <a:p>
            <a:pPr algn="ctr" rtl="1"/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تنقسم الخلية إلى خليتين متماثلتين</a:t>
            </a:r>
          </a:p>
          <a:p>
            <a:pPr algn="ctr" rtl="1"/>
            <a:r>
              <a:rPr sz="17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مثل البراميسيوم والبكتيريا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83480" y="2103120"/>
            <a:ext cx="2240280" cy="21031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20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أوجه الشبه</a:t>
            </a:r>
          </a:p>
          <a:p>
            <a:pPr algn="ct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تكاثر لاجنسي</a:t>
            </a:r>
          </a:p>
          <a:p>
            <a:pPr algn="ct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المخلوق الجديد يشبه أصله</a:t>
            </a:r>
          </a:p>
        </p:txBody>
      </p:sp>
      <p:sp>
        <p:nvSpPr>
          <p:cNvPr id="10" name="Rounded Rectangle 9">
            <a:hlinkClick action="ppaction://hlinksldjump" r:id="rId4"/>
          </p:cNvPr>
          <p:cNvSpPr/>
          <p:nvPr/>
        </p:nvSpPr>
        <p:spPr>
          <a:xfrm>
            <a:off x="3840480" y="5257800"/>
            <a:ext cx="4526280" cy="731520"/>
          </a:xfrm>
          <a:prstGeom prst="roundRect">
            <a:avLst>
              <a:gd name="adj" fmla="val 37499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سؤال: ما وجه الشبه بينهما؟ ←</a:t>
            </a:r>
          </a:p>
        </p:txBody>
      </p:sp>
      <p:sp>
        <p:nvSpPr>
          <p:cNvPr id="37" name="!!strategy"/>
          <p:cNvSpPr/>
          <p:nvPr/>
        </p:nvSpPr>
        <p:spPr>
          <a:xfrm>
            <a:off x="8691372" y="36576"/>
            <a:ext cx="31775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أقارن وأستنتج</a:t>
            </a:r>
          </a:p>
        </p:txBody>
      </p:sp>
      <p:sp>
        <p:nvSpPr>
          <p:cNvPr id="38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39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40" name="nav_map1">
            <a:hlinkClick action="ppaction://hlinksldjump" r:id="rId5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6" grpId="0" animBg="1"/>
      <p:bldP spid="8" grpId="0" animBg="1"/>
      <p:bldP spid="9" grpId="0" animBg="1"/>
      <p:bldP spid="10" grpId="0" animBg="1"/>
    </p:bldLst>
  </p:timing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أقارن وأستنتج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وجه الشبه بين التبرعم والانشطار الثنائي؟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كلاهما تكاثر لاجنسي ينتج مخلوقًا يشبه أصله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كلاهما تتبادل فيه خليتان المادة الوراثية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كلاهما يحدث في البكتيريا فقط</a:t>
            </a:r>
          </a:p>
        </p:txBody>
      </p:sp>
      <p:sp>
        <p:nvSpPr>
          <p:cNvPr id="10" name="!!strategy"/>
          <p:cNvSpPr/>
          <p:nvPr/>
        </p:nvSpPr>
        <p:spPr>
          <a:xfrm>
            <a:off x="8691372" y="36576"/>
            <a:ext cx="31775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أقارن وأستنتج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3" name="nav_map1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أقارن وأستنتج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هل يحتاج التبرعم أو الانشطار إلى خليتين؟ ماذا يعني ذلك عن نوع التكاثر؟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4" name="nav_map1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q_cmp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أقارن وأستنتج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وجه الشبه بين التبرعم والانشطار الثنائي؟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كلاهما تكاثر لاجنسي ينتج مخلوقًا يشبه أصله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التبرعم والانشطار الثنائي كلاهما تكاثر لاجنسي من مخلوق واحد، والمخلوق الجديد يشبه أصله لأن نواته مماثلة.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9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who1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من أنا؟ (١/٣)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8801" y="1161288"/>
            <a:ext cx="3928797" cy="4992624"/>
          </a:xfrm>
          <a:prstGeom prst="roundRect">
            <a:avLst>
              <a:gd name="adj" fmla="val 2327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7_yeas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953" y="1234440"/>
            <a:ext cx="3782493" cy="4846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897086" y="60350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ص٩٧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1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اقرئي الوصف: </a:t>
            </a:r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فطر وحيد الخلية، أُستخدم في صنع الخبز، وينمو على خليتي بروز صغير.</a:t>
            </a:r>
          </a:p>
          <a:p>
            <a:pPr algn="r" rtl="1"/>
            <a:r>
              <a:rPr sz="18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اختاري اسمي وطريقة تكاثري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البراميسيوم – الانشطار الثنائي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907536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الخميرة – التبرعم</a:t>
            </a:r>
          </a:p>
        </p:txBody>
      </p:sp>
      <p:sp>
        <p:nvSpPr>
          <p:cNvPr id="12" name="!!opt2">
            <a:hlinkClick action="ppaction://hlinksldjump" r:id="rId5"/>
          </p:cNvPr>
          <p:cNvSpPr/>
          <p:nvPr/>
        </p:nvSpPr>
        <p:spPr>
          <a:xfrm>
            <a:off x="5257800" y="5071872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إي.كولاي – الانشطار الثنائي</a:t>
            </a:r>
          </a:p>
        </p:txBody>
      </p:sp>
      <p:sp>
        <p:nvSpPr>
          <p:cNvPr id="13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التعلم باللعب: من أنا؟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6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من أنا؟ (١/٣)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ابحثي في الوصف عن كلمة «بروز صغير».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4" name="nav_map1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who1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من أنا؟ (١/٣)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اقرئي الوصف: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فطر وحيد الخلية، أُستخدم في صنع الخبز، وينمو على خليتي بروز صغير.</a:t>
            </a:r>
          </a:p>
          <a:p>
            <a:pPr algn="r" rtl="1"/>
            <a:r>
              <a:rPr sz="18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اختاري اسمي وطريقة تكاثري</a:t>
            </a:r>
          </a:p>
        </p:txBody>
      </p:sp>
      <p:sp>
        <p:nvSpPr>
          <p:cNvPr id="7" name="!!opt1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الخميرة – التبرعم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أنا الخميرة! أتكاثر لاجنسيًا بالتبرعم: يتكوّن البرعم بنمو بروز صغير على الخلية الأم.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9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who2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من أنا؟ (٢/٣)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2912364"/>
            <a:ext cx="4626864" cy="1490472"/>
          </a:xfrm>
          <a:prstGeom prst="roundRect">
            <a:avLst>
              <a:gd name="adj" fmla="val 6134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6_phot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985516"/>
            <a:ext cx="4480560" cy="13441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46120" y="4283964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ص٩٦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1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اقرئي الوصف: </a:t>
            </a:r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طلائعي، أستطيل وتتضاعف كروموسوماتي وأنقسم إلى اثنين.</a:t>
            </a:r>
          </a:p>
          <a:p>
            <a:pPr algn="r" rtl="1"/>
            <a:r>
              <a:rPr sz="18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اختاري اسمي وطريقة تكاثري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البراميسيوم – الانشطار الثنائي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907536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الخميرة – التبرعم</a:t>
            </a:r>
          </a:p>
        </p:txBody>
      </p:sp>
      <p:sp>
        <p:nvSpPr>
          <p:cNvPr id="12" name="!!opt2">
            <a:hlinkClick action="ppaction://hlinksldjump" r:id="rId6"/>
          </p:cNvPr>
          <p:cNvSpPr/>
          <p:nvPr/>
        </p:nvSpPr>
        <p:spPr>
          <a:xfrm>
            <a:off x="5257800" y="5071872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إي.كولاي – الانشطار الثنائي</a:t>
            </a:r>
          </a:p>
        </p:txBody>
      </p:sp>
      <p:sp>
        <p:nvSpPr>
          <p:cNvPr id="13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التعلم باللعب: من أنا؟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6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من أنا؟ (٢/٣)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ابحثي في الوصف عن كلمة «طلائعي» و«أنقسم إلى اثنين».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4" name="nav_map1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who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من أنا؟ (٢/٣)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اقرئي الوصف: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طلائعي، أستطيل وتتضاعف كروموسوماتي وأنقسم إلى اثنين.</a:t>
            </a:r>
          </a:p>
          <a:p>
            <a:pPr algn="r" rtl="1"/>
            <a:r>
              <a:rPr sz="18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اختاري اسمي وطريقة تكاثري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البراميسيوم – الانشطار الثنائي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أنا البراميسيوم! أتكاثر بالانشطار الثنائي: أستطيل وتتضاعف كروموسوماتي وأنقسم إلى اثنين.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9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who3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من أنا؟ (٣/٣)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2464308"/>
            <a:ext cx="4626864" cy="2386584"/>
          </a:xfrm>
          <a:prstGeom prst="roundRect">
            <a:avLst>
              <a:gd name="adj" fmla="val 3831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bact_ro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537460"/>
            <a:ext cx="4480560" cy="2240280"/>
          </a:xfrm>
          <a:prstGeom prst="rect">
            <a:avLst/>
          </a:prstGeom>
        </p:spPr>
      </p:pic>
      <p:sp>
        <p:nvSpPr>
          <p:cNvPr id="7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1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اقرئي الوصف: </a:t>
            </a:r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بكتيريا أعيش في أمعاء الإنسان، وأتكاثر غالبًا بالانشطار الثنائي.</a:t>
            </a:r>
          </a:p>
          <a:p>
            <a:pPr algn="r" rtl="1"/>
            <a:r>
              <a:rPr sz="18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اختاري اسمي وطريقة تكاثري</a:t>
            </a:r>
          </a:p>
        </p:txBody>
      </p:sp>
      <p:sp>
        <p:nvSpPr>
          <p:cNvPr id="9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البراميسيوم – الانشطار الثنائي</a:t>
            </a:r>
          </a:p>
        </p:txBody>
      </p:sp>
      <p:sp>
        <p:nvSpPr>
          <p:cNvPr id="10" name="!!opt1">
            <a:hlinkClick action="ppaction://hlinksldjump" r:id="rId5"/>
          </p:cNvPr>
          <p:cNvSpPr/>
          <p:nvPr/>
        </p:nvSpPr>
        <p:spPr>
          <a:xfrm>
            <a:off x="5257800" y="3907536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الخميرة – التبرعم</a:t>
            </a:r>
          </a:p>
        </p:txBody>
      </p:sp>
      <p:sp>
        <p:nvSpPr>
          <p:cNvPr id="11" name="!!opt2">
            <a:hlinkClick action="ppaction://hlinksldjump" r:id="rId6"/>
          </p:cNvPr>
          <p:cNvSpPr/>
          <p:nvPr/>
        </p:nvSpPr>
        <p:spPr>
          <a:xfrm>
            <a:off x="5257800" y="5071872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إي.كولاي – الانشطار الثنائي</a:t>
            </a:r>
          </a:p>
        </p:txBody>
      </p:sp>
      <p:sp>
        <p:nvSpPr>
          <p:cNvPr id="12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التعلم باللعب: من أنا؟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5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من أنا؟ (٣/٣)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ابحثي في الوصف عن «أمعاء الإنسان».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4" name="nav_map1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who3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من أنا؟ (٣/٣)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اقرئي الوصف: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بكتيريا أعيش في أمعاء الإنسان، وأتكاثر غالبًا بالانشطار الثنائي.</a:t>
            </a:r>
          </a:p>
          <a:p>
            <a:pPr algn="r" rtl="1"/>
            <a:r>
              <a:rPr sz="18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اختاري اسمي وطريقة تكاثري</a:t>
            </a:r>
          </a:p>
        </p:txBody>
      </p:sp>
      <p:sp>
        <p:nvSpPr>
          <p:cNvPr id="7" name="!!opt2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إي.كولاي – الانشطار الثنائي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أنا بكتيريا إي.كولاي! أعيش في أمعاء الإنسان، وأتكاثر بالانشطار الثنائي مثل معظم البكتيريا.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9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err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اكتشفي الخطأ العلمي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أيّ العبارات الآتية غير صحيحة علميًا؟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تتكاثر الخميرة لاجنسيًا بالتبرعم</a:t>
            </a:r>
          </a:p>
        </p:txBody>
      </p:sp>
      <p:sp>
        <p:nvSpPr>
          <p:cNvPr id="8" name="!!opt1">
            <a:hlinkClick action="ppaction://hlinksldjump" r:id="rId4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تتكاثر معظم البكتيريا بالانشطار الثنائي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في التبرعم ينتج مخلوق جديد تختلف كروموسوماته عن كروموسومات الخلية الأم</a:t>
            </a:r>
          </a:p>
        </p:txBody>
      </p:sp>
      <p:sp>
        <p:nvSpPr>
          <p:cNvPr id="10" name="!!strategy"/>
          <p:cNvSpPr/>
          <p:nvPr/>
        </p:nvSpPr>
        <p:spPr>
          <a:xfrm>
            <a:off x="8005572" y="36576"/>
            <a:ext cx="38633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اكتشفي الخطأ العلمي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3" name="nav_map1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اكتشفي الخطأ العلمي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راجعي ما يحدث لنواة الخلية الأم في التبرعم: هل تنقسم انقسامًا متساويًا؟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4" name="nav_map1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err_try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اكتشفي الخطأ العلمي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أيّ العبارات الآتية غير صحيحة علميًا؟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تتكاثر الخميرة لاجنسيًا بالتبرعم</a:t>
            </a:r>
          </a:p>
        </p:txBody>
      </p:sp>
      <p:sp>
        <p:nvSpPr>
          <p:cNvPr id="8" name="!!opt1">
            <a:hlinkClick action="ppaction://hlinksldjump" r:id="rId4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تتكاثر معظم البكتيريا بالانشطار الثنائي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في التبرعم ينتج مخلوق جديد تختلف كروموسوماته عن كروموسومات الخلية الأم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1" name="!!strategy"/>
          <p:cNvSpPr/>
          <p:nvPr/>
        </p:nvSpPr>
        <p:spPr>
          <a:xfrm>
            <a:off x="8005572" y="36576"/>
            <a:ext cx="38633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اكتشفي الخطأ العلمي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4" name="nav_map1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8841" y="1161288"/>
            <a:ext cx="3928797" cy="4992624"/>
          </a:xfrm>
          <a:prstGeom prst="roundRect">
            <a:avLst>
              <a:gd name="adj" fmla="val 2327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7_yeas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1993" y="1234440"/>
            <a:ext cx="3782493" cy="4846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17126" y="60350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من الكتاب ص٩٧:</a:t>
            </a:r>
          </a:p>
          <a:p>
            <a:pPr algn="r" rtl="1">
              <a:spcAft>
                <a:spcPts val="800"/>
              </a:spcAft>
            </a:pPr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«تنقسم نواة الخلية الأم انقسامًا متساويًا، وينتج عن ذلك نواتان متماثلتان في كروموسوماتهما»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شاهدي حركة التبرعم ببطء.</a:t>
            </a:r>
          </a:p>
        </p:txBody>
      </p:sp>
      <p:sp>
        <p:nvSpPr>
          <p:cNvPr id="10" name="Rounded Rectangle 9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1" name="Rounded Rectangle 10">
            <a:hlinkClick action="ppaction://hlinksldjump" r:id="rId6"/>
          </p:cNvPr>
          <p:cNvSpPr/>
          <p:nvPr/>
        </p:nvSpPr>
        <p:spPr>
          <a:xfrm>
            <a:off x="4892040" y="5257800"/>
            <a:ext cx="3200400" cy="640080"/>
          </a:xfrm>
          <a:prstGeom prst="roundRect">
            <a:avLst>
              <a:gd name="adj" fmla="val 42857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أشاهد الحركة ببطء</a:t>
            </a:r>
          </a:p>
        </p:txBody>
      </p:sp>
      <p:sp>
        <p:nvSpPr>
          <p:cNvPr id="12" name="!!strategy"/>
          <p:cNvSpPr/>
          <p:nvPr/>
        </p:nvSpPr>
        <p:spPr>
          <a:xfrm>
            <a:off x="7891272" y="36576"/>
            <a:ext cx="39776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المعالجة: نشاط علاجي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5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اكتشفي الخطأ العلمي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صح أم خطأ: «يحصل البرعم على نواة مماثلة لنواة الخلية الأم».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6195060" y="2606040"/>
            <a:ext cx="544525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صح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40" y="2606040"/>
            <a:ext cx="544525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خطأ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0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إعادة التحقق: سؤال مشابه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3" name="nav_map1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اكتشفي الخطأ العلمي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أيّ العبارات الآتية غير صحيحة علميًا؟</a:t>
            </a:r>
          </a:p>
        </p:txBody>
      </p:sp>
      <p:sp>
        <p:nvSpPr>
          <p:cNvPr id="7" name="!!opt2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ج)  </a:t>
            </a:r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في التبرعم ينتج مخلوق جديد تختلف كروموسوماته عن كروموسومات الخلية الأم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العبارة (ج) خاطئة؛ لأن نواة الخلية الأم تنقسم انقسامًا متساويًا، فتكون كروموسومات البرعم مماثلة لكروموسومات الخلية الأم.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9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chk97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أختبر نفسي (ص٩٧) · 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2337281"/>
            <a:ext cx="4626864" cy="2640636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7_chec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410433"/>
            <a:ext cx="4480560" cy="249433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46120" y="4859046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ص٩٧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2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أستنتج: </a:t>
            </a:r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عندما يحدث التبرعم، هل يشبه المخلوق الجديد أصله؟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نعم يشبهه؛ لأن نواة الأم تنقسم انقسامًا متساويًا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907536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 يشبهه؛ لأنه أصغر حجمًا</a:t>
            </a:r>
          </a:p>
        </p:txBody>
      </p:sp>
      <p:sp>
        <p:nvSpPr>
          <p:cNvPr id="12" name="!!opt2">
            <a:hlinkClick action="ppaction://hlinksldjump" r:id="rId6"/>
          </p:cNvPr>
          <p:cNvSpPr/>
          <p:nvPr/>
        </p:nvSpPr>
        <p:spPr>
          <a:xfrm>
            <a:off x="5257800" y="5071872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 يشبهه؛ لأنه اقترن بخلية أخرى</a:t>
            </a:r>
          </a:p>
        </p:txBody>
      </p:sp>
      <p:sp>
        <p:nvSpPr>
          <p:cNvPr id="13" name="!!strategy"/>
          <p:cNvSpPr/>
          <p:nvPr/>
        </p:nvSpPr>
        <p:spPr>
          <a:xfrm>
            <a:off x="8005572" y="36576"/>
            <a:ext cx="38633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الرمز السري للمختبر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6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أختبر نفسي (ص٩٧) · 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تذكّري حركة التبرعم: ماذا حدث للنواة قبل أن تنتقل إحدى النواتين إلى البرعم؟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4" name="nav_map1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chk97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أختبر نفسي (ص٩٧) · 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أستنتج: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عندما يحدث التبرعم، هل يشبه المخلوق الجديد أصله؟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نعم يشبهه؛ لأن نواة الأم تنقسم انقسامًا متساويًا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الإجابة النموذجية: نعم يشبهه؛ لأن نواة الخلية الأم تنقسم انقسامًا متساويًا، فتكون كروموسومات المخلوق الجديد مماثلة لكروموسومات أصله.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9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ct97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التفكير الناقد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2413638"/>
            <a:ext cx="4352544" cy="2487922"/>
          </a:xfrm>
          <a:prstGeom prst="roundRect">
            <a:avLst>
              <a:gd name="adj" fmla="val 3675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7_chec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486790"/>
            <a:ext cx="4206240" cy="234161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971799" y="4782689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83480" y="1234440"/>
            <a:ext cx="6675120" cy="1600200"/>
          </a:xfrm>
          <a:prstGeom prst="roundRect">
            <a:avLst>
              <a:gd name="adj" fmla="val 14285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9281160" y="1097280"/>
            <a:ext cx="2286000" cy="438912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التفكير الناقد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6360" y="1508760"/>
            <a:ext cx="6309359" cy="12801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5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فيمَ يختلف الانشطار الثنائي عن الاقتران (التزاوج)؟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6360" y="2971800"/>
            <a:ext cx="6309359" cy="5486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9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ناقشي مع مجموعتك… ثم اضغطي لإظهار الإجابة النموذجية</a:t>
            </a:r>
          </a:p>
        </p:txBody>
      </p:sp>
      <p:sp>
        <p:nvSpPr>
          <p:cNvPr id="12" name="revealbtn"/>
          <p:cNvSpPr/>
          <p:nvPr/>
        </p:nvSpPr>
        <p:spPr>
          <a:xfrm>
            <a:off x="6492240" y="3611880"/>
            <a:ext cx="3657600" cy="640080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إظهار الإجابة النموذجية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83480" y="4389120"/>
            <a:ext cx="6675120" cy="1783080"/>
          </a:xfrm>
          <a:prstGeom prst="roundRect">
            <a:avLst>
              <a:gd name="adj" fmla="val 12820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166360" y="4434840"/>
            <a:ext cx="6309359" cy="16916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 تكاثر لاجنسي ينقسم فيه المخلوق إلى مخلوقين متماثلين، أمّا الاقتران فتكاثر جنسي تتصل فيه خليتان وتتبادلان المادة الوراثية.</a:t>
            </a:r>
          </a:p>
        </p:txBody>
      </p:sp>
      <p:sp>
        <p:nvSpPr>
          <p:cNvPr id="15" name="!!strategy"/>
          <p:cNvSpPr/>
          <p:nvPr/>
        </p:nvSpPr>
        <p:spPr>
          <a:xfrm>
            <a:off x="8577072" y="36576"/>
            <a:ext cx="3291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التفكير الناقد</a:t>
            </a:r>
          </a:p>
        </p:txBody>
      </p:sp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8" name="nav_map1">
            <a:hlinkClick action="ppaction://hlinksldjump" r:id="rId5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tf97">
            <a:hlinkClick action="ppaction://hlinksldjump" r:id="rId6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تحقق سريع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صح أم خطأ: «في الانشطار الثنائي تتبادل خليتان المادة الوراثية».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6195060" y="2606040"/>
            <a:ext cx="544525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صح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40" y="2606040"/>
            <a:ext cx="544525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خطأ</a:t>
            </a:r>
          </a:p>
        </p:txBody>
      </p:sp>
      <p:sp>
        <p:nvSpPr>
          <p:cNvPr id="9" name="!!strategy"/>
          <p:cNvSpPr/>
          <p:nvPr/>
        </p:nvSpPr>
        <p:spPr>
          <a:xfrm>
            <a:off x="8691372" y="36576"/>
            <a:ext cx="31775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التحقق السريع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2" name="nav_map1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تحقق سريع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من الذي تتبادل فيه الخلايا المادة الوراثية: الانشطار أم الاقتران؟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4" name="nav_map1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tf97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تحقق سريع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صح أم خطأ: «في الانشطار الثنائي تتبادل خليتان المادة الوراثية».</a:t>
            </a:r>
          </a:p>
        </p:txBody>
      </p:sp>
      <p:sp>
        <p:nvSpPr>
          <p:cNvPr id="7" name="!!opt1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خطأ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خطأ؛ تبادل المادة الوراثية يحدث في الاقتران، أما في الانشطار الثنائي فينقسم مخلوق واحد إلى مخلوقين متماثلين.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9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map2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الخريطة تنمو: بطاقات الفطريات والبكتيريا</a:t>
            </a:r>
          </a:p>
        </p:txBody>
      </p:sp>
      <p:sp>
        <p:nvSpPr>
          <p:cNvPr id="4" name="!!mapscreen"/>
          <p:cNvSpPr/>
          <p:nvPr/>
        </p:nvSpPr>
        <p:spPr>
          <a:xfrm>
            <a:off x="411480" y="1143000"/>
            <a:ext cx="11365992" cy="5029200"/>
          </a:xfrm>
          <a:prstGeom prst="roundRect">
            <a:avLst>
              <a:gd name="adj" fmla="val 4545"/>
            </a:avLst>
          </a:prstGeom>
          <a:solidFill>
            <a:srgbClr val="FFFFFF">
              <a:alpha val="92000"/>
            </a:srgbClr>
          </a:solidFill>
          <a:ln w="19050">
            <a:solidFill>
              <a:srgbClr val="2B3A55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mapcenter"/>
          <p:cNvSpPr/>
          <p:nvPr/>
        </p:nvSpPr>
        <p:spPr>
          <a:xfrm>
            <a:off x="2651760" y="1325880"/>
            <a:ext cx="6903720" cy="777240"/>
          </a:xfrm>
          <a:prstGeom prst="roundRect">
            <a:avLst>
              <a:gd name="adj" fmla="val 49411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كيف تتكاثر المخلوقات الحية الدقيقة؟</a:t>
            </a:r>
          </a:p>
        </p:txBody>
      </p:sp>
      <p:cxnSp>
        <p:nvCxnSpPr>
          <p:cNvPr id="6" name="!!line_p"/>
          <p:cNvCxnSpPr/>
          <p:nvPr/>
        </p:nvCxnSpPr>
        <p:spPr>
          <a:xfrm>
            <a:off x="6099048" y="2103120"/>
            <a:ext cx="3707892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!!br_p">
            <a:hlinkClick action="ppaction://hlinksldjump" r:id="rId4"/>
          </p:cNvPr>
          <p:cNvSpPr/>
          <p:nvPr/>
        </p:nvSpPr>
        <p:spPr>
          <a:xfrm>
            <a:off x="832104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الطلائعيات</a:t>
            </a:r>
          </a:p>
        </p:txBody>
      </p:sp>
      <p:cxnSp>
        <p:nvCxnSpPr>
          <p:cNvPr id="8" name="!!line_f"/>
          <p:cNvCxnSpPr/>
          <p:nvPr/>
        </p:nvCxnSpPr>
        <p:spPr>
          <a:xfrm>
            <a:off x="6099048" y="2103120"/>
            <a:ext cx="4572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!!br_f">
            <a:hlinkClick action="ppaction://hlinksldjump" r:id="rId5"/>
          </p:cNvPr>
          <p:cNvSpPr/>
          <p:nvPr/>
        </p:nvSpPr>
        <p:spPr>
          <a:xfrm>
            <a:off x="461772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الفطريات</a:t>
            </a:r>
          </a:p>
        </p:txBody>
      </p:sp>
      <p:cxnSp>
        <p:nvCxnSpPr>
          <p:cNvPr id="10" name="!!line_b"/>
          <p:cNvCxnSpPr/>
          <p:nvPr/>
        </p:nvCxnSpPr>
        <p:spPr>
          <a:xfrm flipH="1">
            <a:off x="2400300" y="2103120"/>
            <a:ext cx="3698748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br_b">
            <a:hlinkClick action="ppaction://hlinksldjump" r:id="rId6"/>
          </p:cNvPr>
          <p:cNvSpPr/>
          <p:nvPr/>
        </p:nvSpPr>
        <p:spPr>
          <a:xfrm>
            <a:off x="91440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البكتيريا</a:t>
            </a:r>
          </a:p>
        </p:txBody>
      </p:sp>
      <p:sp>
        <p:nvSpPr>
          <p:cNvPr id="12" name="!!card_1_p_1"/>
          <p:cNvSpPr/>
          <p:nvPr/>
        </p:nvSpPr>
        <p:spPr>
          <a:xfrm>
            <a:off x="8321040" y="33832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 (لاجنسي)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البراميسيوم</a:t>
            </a:r>
          </a:p>
        </p:txBody>
      </p:sp>
      <p:sp>
        <p:nvSpPr>
          <p:cNvPr id="13" name="!!card_1_p_2"/>
          <p:cNvSpPr/>
          <p:nvPr/>
        </p:nvSpPr>
        <p:spPr>
          <a:xfrm>
            <a:off x="8321040" y="42976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 (جنسي)</a:t>
            </a:r>
          </a:p>
        </p:txBody>
      </p:sp>
      <p:sp>
        <p:nvSpPr>
          <p:cNvPr id="14" name="!!card_1_p_3"/>
          <p:cNvSpPr/>
          <p:nvPr/>
        </p:nvSpPr>
        <p:spPr>
          <a:xfrm>
            <a:off x="8321040" y="52120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 (البوغيات)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البلازموديوم</a:t>
            </a:r>
          </a:p>
        </p:txBody>
      </p:sp>
      <p:sp>
        <p:nvSpPr>
          <p:cNvPr id="15" name="!!card_2_f_1"/>
          <p:cNvSpPr/>
          <p:nvPr/>
        </p:nvSpPr>
        <p:spPr>
          <a:xfrm>
            <a:off x="4617720" y="33832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9D2"/>
          </a:solidFill>
          <a:ln w="3175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التبرعم (لاجنسي)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الخميرة</a:t>
            </a:r>
          </a:p>
        </p:txBody>
      </p:sp>
      <p:sp>
        <p:nvSpPr>
          <p:cNvPr id="16" name="!!card_2_f_2"/>
          <p:cNvSpPr/>
          <p:nvPr/>
        </p:nvSpPr>
        <p:spPr>
          <a:xfrm>
            <a:off x="4617720" y="42976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9D2"/>
          </a:solidFill>
          <a:ln w="3175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</a:t>
            </a:r>
          </a:p>
        </p:txBody>
      </p:sp>
      <p:sp>
        <p:nvSpPr>
          <p:cNvPr id="17" name="!!card_2_b_1"/>
          <p:cNvSpPr/>
          <p:nvPr/>
        </p:nvSpPr>
        <p:spPr>
          <a:xfrm>
            <a:off x="914400" y="33832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3EC"/>
          </a:solidFill>
          <a:ln w="31750">
            <a:solidFill>
              <a:srgbClr val="FF7AA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إي.كولاي</a:t>
            </a:r>
          </a:p>
        </p:txBody>
      </p:sp>
      <p:sp>
        <p:nvSpPr>
          <p:cNvPr id="18" name="!!card_2_b_2"/>
          <p:cNvSpPr/>
          <p:nvPr/>
        </p:nvSpPr>
        <p:spPr>
          <a:xfrm>
            <a:off x="914400" y="42976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3EC"/>
          </a:solidFill>
          <a:ln w="31750">
            <a:solidFill>
              <a:srgbClr val="FF7AA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عبر جسر بين خليتين</a:t>
            </a:r>
          </a:p>
        </p:txBody>
      </p:sp>
      <p:sp>
        <p:nvSpPr>
          <p:cNvPr id="25" name="!!strategy"/>
          <p:cNvSpPr/>
          <p:nvPr/>
        </p:nvSpPr>
        <p:spPr>
          <a:xfrm>
            <a:off x="8577072" y="36576"/>
            <a:ext cx="3291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خريطة المفاهيم</a:t>
            </a:r>
          </a:p>
        </p:txBody>
      </p:sp>
      <p:sp>
        <p:nvSpPr>
          <p:cNvPr id="2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</a:t>
            </a:r>
          </a:p>
        </p:txBody>
      </p:sp>
      <p:sp>
        <p:nvSpPr>
          <p:cNvPr id="28" name="nav_p98page">
            <a:hlinkClick action="ppaction://hlinksldjump" r:id="rId7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</p:bldLst>
  </p:timing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نمو العفن: صفحة ٩٨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43000"/>
            <a:ext cx="5577840" cy="5029200"/>
          </a:xfrm>
          <a:prstGeom prst="roundRect">
            <a:avLst>
              <a:gd name="adj" fmla="val 4545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p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796" y="1261872"/>
            <a:ext cx="3650646" cy="4800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263640" y="1188720"/>
            <a:ext cx="5440680" cy="4983480"/>
          </a:xfrm>
          <a:prstGeom prst="roundRect">
            <a:avLst>
              <a:gd name="adj" fmla="val 4587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98_activity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98780" y="1280160"/>
            <a:ext cx="2570400" cy="4800600"/>
          </a:xfrm>
          <a:prstGeom prst="rect">
            <a:avLst/>
          </a:prstGeom>
        </p:spPr>
      </p:pic>
      <p:sp>
        <p:nvSpPr>
          <p:cNvPr id="15" name="!!strategy"/>
          <p:cNvSpPr/>
          <p:nvPr/>
        </p:nvSpPr>
        <p:spPr>
          <a:xfrm>
            <a:off x="8462772" y="36576"/>
            <a:ext cx="34061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القراءة الموجهة</a:t>
            </a:r>
          </a:p>
        </p:txBody>
      </p:sp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8" name="nav_map2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طاولة التجارب: حدّدي الأدوات اللازمة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pic>
        <p:nvPicPr>
          <p:cNvPr id="5" name="Picture 4" descr="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3977639"/>
            <a:ext cx="9966960" cy="2240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143000"/>
            <a:ext cx="11091672" cy="5486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2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اضغطي على الأدوات التي نحتاجها في نشاط «نمو العفن»</a:t>
            </a:r>
          </a:p>
        </p:txBody>
      </p:sp>
      <p:pic>
        <p:nvPicPr>
          <p:cNvPr id="7" name="Picture 6" descr="tool_breadIc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86416" y="1828800"/>
            <a:ext cx="1325880" cy="1435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021824" y="3291840"/>
            <a:ext cx="1664208" cy="5943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5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قطعة خبز</a:t>
            </a:r>
          </a:p>
        </p:txBody>
      </p:sp>
      <p:pic>
        <p:nvPicPr>
          <p:cNvPr id="9" name="Picture 8" descr="ic_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27664" y="1783080"/>
            <a:ext cx="502920" cy="502920"/>
          </a:xfrm>
          <a:prstGeom prst="rect">
            <a:avLst/>
          </a:prstGeom>
        </p:spPr>
      </p:pic>
      <p:pic>
        <p:nvPicPr>
          <p:cNvPr id="10" name="Picture 9" descr="tool_wat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13648" y="1828800"/>
            <a:ext cx="1325880" cy="1435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449056" y="3291840"/>
            <a:ext cx="1664208" cy="5943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5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ماء</a:t>
            </a:r>
          </a:p>
        </p:txBody>
      </p:sp>
      <p:pic>
        <p:nvPicPr>
          <p:cNvPr id="12" name="Picture 11" descr="ic_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4896" y="1783080"/>
            <a:ext cx="502920" cy="502920"/>
          </a:xfrm>
          <a:prstGeom prst="rect">
            <a:avLst/>
          </a:prstGeom>
        </p:spPr>
      </p:pic>
      <p:pic>
        <p:nvPicPr>
          <p:cNvPr id="13" name="Picture 12" descr="tool_bagIc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0880" y="1828800"/>
            <a:ext cx="1325880" cy="1435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76288" y="3291840"/>
            <a:ext cx="1664208" cy="5943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5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كيس بلاستيكي ذاتي الغلق</a:t>
            </a:r>
          </a:p>
        </p:txBody>
      </p:sp>
      <p:pic>
        <p:nvPicPr>
          <p:cNvPr id="15" name="Picture 14" descr="ic_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82128" y="1783080"/>
            <a:ext cx="502920" cy="502920"/>
          </a:xfrm>
          <a:prstGeom prst="rect">
            <a:avLst/>
          </a:prstGeom>
        </p:spPr>
      </p:pic>
      <p:pic>
        <p:nvPicPr>
          <p:cNvPr id="16" name="Picture 15" descr="tool_len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68112" y="1828800"/>
            <a:ext cx="1325880" cy="1435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303520" y="3291840"/>
            <a:ext cx="1664208" cy="5943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5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عدسة مكبرة</a:t>
            </a:r>
          </a:p>
        </p:txBody>
      </p:sp>
      <p:pic>
        <p:nvPicPr>
          <p:cNvPr id="18" name="Picture 17" descr="ic_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1783080"/>
            <a:ext cx="502920" cy="502920"/>
          </a:xfrm>
          <a:prstGeom prst="rect">
            <a:avLst/>
          </a:prstGeom>
        </p:spPr>
      </p:pic>
      <p:pic>
        <p:nvPicPr>
          <p:cNvPr id="19" name="Picture 18" descr="tool_sal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95344" y="1828800"/>
            <a:ext cx="1325880" cy="1435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30752" y="3291840"/>
            <a:ext cx="1664208" cy="5943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5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ملح</a:t>
            </a:r>
          </a:p>
        </p:txBody>
      </p:sp>
      <p:pic>
        <p:nvPicPr>
          <p:cNvPr id="21" name="Picture 20" descr="ic_cros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36592" y="1783080"/>
            <a:ext cx="502920" cy="50292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2926080" y="4754880"/>
            <a:ext cx="6309360" cy="640080"/>
          </a:xfrm>
          <a:prstGeom prst="roundRect">
            <a:avLst>
              <a:gd name="adj" fmla="val 42857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 نحتاج إلى </a:t>
            </a:r>
            <a:r>
              <a:rPr sz="19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ملح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 في هذه التجربة</a:t>
            </a:r>
          </a:p>
        </p:txBody>
      </p:sp>
      <p:pic>
        <p:nvPicPr>
          <p:cNvPr id="23" name="Picture 22" descr="tool_scissor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322576" y="1828800"/>
            <a:ext cx="1325880" cy="1435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157984" y="3291840"/>
            <a:ext cx="1664208" cy="5943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5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مقص</a:t>
            </a:r>
          </a:p>
        </p:txBody>
      </p:sp>
      <p:pic>
        <p:nvPicPr>
          <p:cNvPr id="25" name="Picture 24" descr="ic_cros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163824" y="1783080"/>
            <a:ext cx="502920" cy="502920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2926080" y="4754880"/>
            <a:ext cx="6309360" cy="640080"/>
          </a:xfrm>
          <a:prstGeom prst="roundRect">
            <a:avLst>
              <a:gd name="adj" fmla="val 42857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 نحتاج إلى </a:t>
            </a:r>
            <a:r>
              <a:rPr sz="19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مقص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 في هذه التجربة</a:t>
            </a:r>
          </a:p>
        </p:txBody>
      </p:sp>
      <p:pic>
        <p:nvPicPr>
          <p:cNvPr id="27" name="Picture 26" descr="tool_thermo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9808" y="1828800"/>
            <a:ext cx="1325880" cy="143560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85216" y="3291840"/>
            <a:ext cx="1664208" cy="5943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5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ميزان حرارة</a:t>
            </a:r>
          </a:p>
        </p:txBody>
      </p:sp>
      <p:pic>
        <p:nvPicPr>
          <p:cNvPr id="29" name="Picture 28" descr="ic_cros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91056" y="1783080"/>
            <a:ext cx="502920" cy="502920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>
            <a:off x="2926080" y="4754880"/>
            <a:ext cx="6309360" cy="640080"/>
          </a:xfrm>
          <a:prstGeom prst="roundRect">
            <a:avLst>
              <a:gd name="adj" fmla="val 42857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 نحتاج إلى </a:t>
            </a:r>
            <a:r>
              <a:rPr sz="19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ميزان حرارة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 في هذه التجربة</a:t>
            </a:r>
          </a:p>
        </p:txBody>
      </p:sp>
      <p:sp>
        <p:nvSpPr>
          <p:cNvPr id="94" name="!!strategy"/>
          <p:cNvSpPr/>
          <p:nvPr/>
        </p:nvSpPr>
        <p:spPr>
          <a:xfrm>
            <a:off x="6291072" y="36576"/>
            <a:ext cx="5577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التعلم بالتجربة: المختبر الافتراضي</a:t>
            </a:r>
          </a:p>
        </p:txBody>
      </p:sp>
      <p:sp>
        <p:nvSpPr>
          <p:cNvPr id="9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9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97" name="nav_map2">
            <a:hlinkClick action="ppaction://hlinksldjump" r:id="rId1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98" name="nav_step1">
            <a:hlinkClick action="ppaction://hlinksldjump" r:id="rId1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" dur="250" autoRev="1" fill="hold"/>
                                        <p:tgtEl>
                                          <p:spTgt spid="7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0" dur="250" autoRev="1" fill="hold"/>
                                        <p:tgtEl>
                                          <p:spTgt spid="10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1" fill="hold">
                      <p:stCondLst>
                        <p:cond delay="0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0" dur="250" autoRev="1" fill="hold"/>
                                        <p:tgtEl>
                                          <p:spTgt spid="13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" fill="hold">
                      <p:stCondLst>
                        <p:cond delay="0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0" dur="250" autoRev="1" fill="hold"/>
                                        <p:tgtEl>
                                          <p:spTgt spid="16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8" fill="hold">
                      <p:stCondLst>
                        <p:cond delay="0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60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5" fill="hold">
                      <p:stCondLst>
                        <p:cond delay="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xit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0" presetClass="exit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7" restart="whenNotActive" fill="hold" evtFilter="cancelBubble" nodeType="interactiveSeq">
                <p:stCondLst>
                  <p:cond evt="onClick" delay="0">
                    <p:tgtEl>
                      <p:spTgt spid="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2" fill="hold">
                      <p:stCondLst>
                        <p:cond delay="0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xit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0" presetClass="exit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6" grpId="0" animBg="1"/>
      <p:bldP spid="30" grpId="0" animBg="1"/>
    </p:bldLst>
  </p:timing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①: نجهّز التجربة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234440"/>
            <a:ext cx="6903720" cy="1920240"/>
          </a:xfrm>
          <a:prstGeom prst="roundRect">
            <a:avLst>
              <a:gd name="adj" fmla="val 1190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892040" y="1280160"/>
            <a:ext cx="6629400" cy="18288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2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①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«أرطّب قطعة خبز بالماء، وأضعها داخل كيس بلاستيكي ذاتي الغلق. أغلق الكيس وأضعه في مكان مظلم دافئ عدة أيام».</a:t>
            </a:r>
          </a:p>
        </p:txBody>
      </p:sp>
      <p:pic>
        <p:nvPicPr>
          <p:cNvPr id="7" name="Picture 6" descr="ba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1280160"/>
            <a:ext cx="3291840" cy="3529584"/>
          </a:xfrm>
          <a:prstGeom prst="rect">
            <a:avLst/>
          </a:prstGeom>
        </p:spPr>
      </p:pic>
      <p:pic>
        <p:nvPicPr>
          <p:cNvPr id="8" name="Picture 7" descr="bread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7320" y="2103120"/>
            <a:ext cx="2103120" cy="21945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754880" y="3337560"/>
            <a:ext cx="6903720" cy="5486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2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أتوقع: ماذا سيحدث للخبز بعد عدة أيام؟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18320" y="3977639"/>
            <a:ext cx="2240280" cy="777240"/>
          </a:xfrm>
          <a:prstGeom prst="roundRect">
            <a:avLst>
              <a:gd name="adj" fmla="val 35294"/>
            </a:avLst>
          </a:prstGeom>
          <a:solidFill>
            <a:srgbClr val="DCEBFF"/>
          </a:solidFill>
          <a:ln w="2540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سيبقى كما هو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0" y="4937760"/>
            <a:ext cx="6903720" cy="777240"/>
          </a:xfrm>
          <a:prstGeom prst="roundRect">
            <a:avLst>
              <a:gd name="adj" fmla="val 35294"/>
            </a:avLst>
          </a:prstGeom>
          <a:solidFill>
            <a:srgbClr val="E2F7E9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توقع جميل!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لنختبره ونلاحظ ما يحدث.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86600" y="3977639"/>
            <a:ext cx="2240280" cy="777240"/>
          </a:xfrm>
          <a:prstGeom prst="roundRect">
            <a:avLst>
              <a:gd name="adj" fmla="val 35294"/>
            </a:avLst>
          </a:prstGeom>
          <a:solidFill>
            <a:srgbClr val="FFE3EC"/>
          </a:solidFill>
          <a:ln w="2540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سينمو عليه شيء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0" y="4937760"/>
            <a:ext cx="6903720" cy="777240"/>
          </a:xfrm>
          <a:prstGeom prst="roundRect">
            <a:avLst>
              <a:gd name="adj" fmla="val 35294"/>
            </a:avLst>
          </a:prstGeom>
          <a:solidFill>
            <a:srgbClr val="E2F7E9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توقع جميل!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لنختبره ونلاحظ ما يحدث.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79" y="3977639"/>
            <a:ext cx="2240280" cy="777240"/>
          </a:xfrm>
          <a:prstGeom prst="roundRect">
            <a:avLst>
              <a:gd name="adj" fmla="val 35294"/>
            </a:avLst>
          </a:prstGeom>
          <a:solidFill>
            <a:srgbClr val="E2F7E9"/>
          </a:solidFill>
          <a:ln w="2540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سيذوب في الماء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0" y="4937760"/>
            <a:ext cx="6903720" cy="777240"/>
          </a:xfrm>
          <a:prstGeom prst="roundRect">
            <a:avLst>
              <a:gd name="adj" fmla="val 35294"/>
            </a:avLst>
          </a:prstGeom>
          <a:solidFill>
            <a:srgbClr val="E2F7E9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توقع جميل!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لنختبره ونلاحظ ما يحدث.</a:t>
            </a:r>
          </a:p>
        </p:txBody>
      </p:sp>
      <p:sp>
        <p:nvSpPr>
          <p:cNvPr id="27" name="!!strategy"/>
          <p:cNvSpPr/>
          <p:nvPr/>
        </p:nvSpPr>
        <p:spPr>
          <a:xfrm>
            <a:off x="6291072" y="36576"/>
            <a:ext cx="5577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التعلم بالتجربة: المختبر الافتراضي</a:t>
            </a:r>
          </a:p>
        </p:txBody>
      </p:sp>
      <p:sp>
        <p:nvSpPr>
          <p:cNvPr id="28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9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30" name="nav_map2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31" name="nav_days">
            <a:hlinkClick action="ppaction://hlinksldjump" r:id="rId7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" fill="hold">
                      <p:stCondLst>
                        <p:cond delay="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3" grpId="0" animBg="1"/>
      <p:bldP spid="15" grpId="0" animBg="1"/>
    </p:bldLst>
  </p:timing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مرور الأيام: نلاحظ التغيرات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pic>
        <p:nvPicPr>
          <p:cNvPr id="5" name="Picture 4" descr="ba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1920" y="1280160"/>
            <a:ext cx="4297680" cy="4608576"/>
          </a:xfrm>
          <a:prstGeom prst="rect">
            <a:avLst/>
          </a:prstGeom>
        </p:spPr>
      </p:pic>
      <p:pic>
        <p:nvPicPr>
          <p:cNvPr id="6" name="Picture 5" descr="bread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2331720"/>
            <a:ext cx="2743200" cy="2871216"/>
          </a:xfrm>
          <a:prstGeom prst="rect">
            <a:avLst/>
          </a:prstGeom>
        </p:spPr>
      </p:pic>
      <p:pic>
        <p:nvPicPr>
          <p:cNvPr id="7" name="Picture 6" descr="bread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9160" y="2331720"/>
            <a:ext cx="2743200" cy="2871216"/>
          </a:xfrm>
          <a:prstGeom prst="rect">
            <a:avLst/>
          </a:prstGeom>
        </p:spPr>
      </p:pic>
      <p:pic>
        <p:nvPicPr>
          <p:cNvPr id="8" name="Picture 7" descr="bread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9160" y="2331720"/>
            <a:ext cx="2743200" cy="2871216"/>
          </a:xfrm>
          <a:prstGeom prst="rect">
            <a:avLst/>
          </a:prstGeom>
        </p:spPr>
      </p:pic>
      <p:pic>
        <p:nvPicPr>
          <p:cNvPr id="9" name="Picture 8" descr="bread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09160" y="2331720"/>
            <a:ext cx="2743200" cy="287121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778240" y="2011680"/>
            <a:ext cx="2651760" cy="1188720"/>
          </a:xfrm>
          <a:prstGeom prst="roundRect">
            <a:avLst>
              <a:gd name="adj" fmla="val 23076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0" i="0" lang="ar-SA">
                <a:solidFill>
                  <a:srgbClr val="C9D2E8"/>
                </a:solidFill>
                <a:latin typeface="Arial"/>
                <a:ea typeface="Arial"/>
                <a:cs typeface="Arial"/>
              </a:rPr>
              <a:t>اليوم </a:t>
            </a:r>
            <a:r>
              <a:rPr sz="4000" b="1" i="0" lang="ar-SA">
                <a:solidFill>
                  <a:srgbClr val="FFD34A"/>
                </a:solidFill>
                <a:latin typeface="Arial"/>
                <a:ea typeface="Arial"/>
                <a:cs typeface="Arial"/>
              </a:rPr>
              <a:t>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0" y="2011680"/>
            <a:ext cx="2651760" cy="1188720"/>
          </a:xfrm>
          <a:prstGeom prst="roundRect">
            <a:avLst>
              <a:gd name="adj" fmla="val 23076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0" i="0" lang="ar-SA">
                <a:solidFill>
                  <a:srgbClr val="C9D2E8"/>
                </a:solidFill>
                <a:latin typeface="Arial"/>
                <a:ea typeface="Arial"/>
                <a:cs typeface="Arial"/>
              </a:rPr>
              <a:t>اليوم </a:t>
            </a:r>
            <a:r>
              <a:rPr sz="4000" b="1" i="0" lang="ar-SA">
                <a:solidFill>
                  <a:srgbClr val="FFD34A"/>
                </a:solidFill>
                <a:latin typeface="Arial"/>
                <a:ea typeface="Arial"/>
                <a:cs typeface="Arial"/>
              </a:rPr>
              <a:t>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78240" y="2011680"/>
            <a:ext cx="2651760" cy="1188720"/>
          </a:xfrm>
          <a:prstGeom prst="roundRect">
            <a:avLst>
              <a:gd name="adj" fmla="val 23076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0" i="0" lang="ar-SA">
                <a:solidFill>
                  <a:srgbClr val="C9D2E8"/>
                </a:solidFill>
                <a:latin typeface="Arial"/>
                <a:ea typeface="Arial"/>
                <a:cs typeface="Arial"/>
              </a:rPr>
              <a:t>اليوم </a:t>
            </a:r>
            <a:r>
              <a:rPr sz="4000" b="1" i="0" lang="ar-SA">
                <a:solidFill>
                  <a:srgbClr val="FFD34A"/>
                </a:solidFill>
                <a:latin typeface="Arial"/>
                <a:ea typeface="Arial"/>
                <a:cs typeface="Arial"/>
              </a:rPr>
              <a:t>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78240" y="2011680"/>
            <a:ext cx="2651760" cy="1188720"/>
          </a:xfrm>
          <a:prstGeom prst="roundRect">
            <a:avLst>
              <a:gd name="adj" fmla="val 23076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0" i="0" lang="ar-SA">
                <a:solidFill>
                  <a:srgbClr val="C9D2E8"/>
                </a:solidFill>
                <a:latin typeface="Arial"/>
                <a:ea typeface="Arial"/>
                <a:cs typeface="Arial"/>
              </a:rPr>
              <a:t>اليوم </a:t>
            </a:r>
            <a:r>
              <a:rPr sz="4000" b="1" i="0" lang="ar-SA">
                <a:solidFill>
                  <a:srgbClr val="FFD34A"/>
                </a:solidFill>
                <a:latin typeface="Arial"/>
                <a:ea typeface="Arial"/>
                <a:cs typeface="Arial"/>
              </a:rPr>
              <a:t>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011680"/>
            <a:ext cx="3108960" cy="1188720"/>
          </a:xfrm>
          <a:prstGeom prst="roundRect">
            <a:avLst>
              <a:gd name="adj" fmla="val 19230"/>
            </a:avLst>
          </a:prstGeom>
          <a:solidFill>
            <a:srgbClr val="FFFFFF"/>
          </a:solidFill>
          <a:ln w="25400">
            <a:solidFill>
              <a:srgbClr val="D5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يظهر زغب أبيض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383280"/>
            <a:ext cx="3108960" cy="1188720"/>
          </a:xfrm>
          <a:prstGeom prst="roundRect">
            <a:avLst>
              <a:gd name="adj" fmla="val 19230"/>
            </a:avLst>
          </a:prstGeom>
          <a:solidFill>
            <a:srgbClr val="FFFFFF"/>
          </a:solidFill>
          <a:ln w="25400">
            <a:solidFill>
              <a:srgbClr val="D5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تظهر بقع سوداء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754880"/>
            <a:ext cx="3108960" cy="1188720"/>
          </a:xfrm>
          <a:prstGeom prst="roundRect">
            <a:avLst>
              <a:gd name="adj" fmla="val 19230"/>
            </a:avLst>
          </a:prstGeom>
          <a:solidFill>
            <a:srgbClr val="FFFFFF"/>
          </a:solidFill>
          <a:ln w="25400">
            <a:solidFill>
              <a:srgbClr val="D5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ينتشر العفن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78240" y="3383280"/>
            <a:ext cx="2651760" cy="1280160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25400">
            <a:solidFill>
              <a:srgbClr val="D5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مكان مظلم دافئ</a:t>
            </a:r>
          </a:p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الكيس مغلق</a:t>
            </a:r>
          </a:p>
        </p:txBody>
      </p:sp>
      <p:sp>
        <p:nvSpPr>
          <p:cNvPr id="42" name="!!strategy"/>
          <p:cNvSpPr/>
          <p:nvPr/>
        </p:nvSpPr>
        <p:spPr>
          <a:xfrm>
            <a:off x="6291072" y="36576"/>
            <a:ext cx="5577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التعلم بالتجربة: المختبر الافتراضي</a:t>
            </a:r>
          </a:p>
        </p:txBody>
      </p:sp>
      <p:sp>
        <p:nvSpPr>
          <p:cNvPr id="4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4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45" name="nav_map2">
            <a:hlinkClick action="ppaction://hlinksldjump" r:id="rId9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46" name="nav_step2">
            <a:hlinkClick action="ppaction://hlinksldjump" r:id="rId10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9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4" grpId="0" animBg="1"/>
      <p:bldP spid="12" grpId="0" animBg="1"/>
      <p:bldP spid="15" grpId="0" animBg="1"/>
      <p:bldP spid="13" grpId="0" animBg="1"/>
      <p:bldP spid="16" grpId="0" animBg="1"/>
    </p:bldLst>
  </p:timing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②: ألاحظ بالعدسة المكبرة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4185" y="1161288"/>
            <a:ext cx="5892509" cy="5038344"/>
          </a:xfrm>
          <a:prstGeom prst="roundRect">
            <a:avLst>
              <a:gd name="adj" fmla="val 1814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mol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337" y="1234440"/>
            <a:ext cx="5746205" cy="48920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656182" y="6080759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pic>
        <p:nvPicPr>
          <p:cNvPr id="8" name="Picture 7" descr="tool_le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6240" y="3017520"/>
            <a:ext cx="2194560" cy="23774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812280" y="1234440"/>
            <a:ext cx="4846320" cy="2194560"/>
          </a:xfrm>
          <a:prstGeom prst="roundRect">
            <a:avLst>
              <a:gd name="adj" fmla="val 10416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949440" y="1280160"/>
            <a:ext cx="4572000" cy="21031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1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②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«ألاحظ. أستخدم عدسة مكبرة، وألاحظ قطعة الخبز، وأفحص كل تركيب».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12280" y="3611880"/>
            <a:ext cx="4846320" cy="1097280"/>
          </a:xfrm>
          <a:prstGeom prst="roundRect">
            <a:avLst>
              <a:gd name="adj" fmla="val 20833"/>
            </a:avLst>
          </a:prstGeom>
          <a:solidFill>
            <a:srgbClr val="FFF6DD"/>
          </a:solidFill>
          <a:ln w="25400">
            <a:solidFill>
              <a:srgbClr val="F2D2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تعليق الكتاب: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«البقع السوداء أعلى الخيوط الفطرية هي محافظ الأبواغ»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12280" y="4892040"/>
            <a:ext cx="4846320" cy="914400"/>
          </a:xfrm>
          <a:prstGeom prst="roundRect">
            <a:avLst>
              <a:gd name="adj" fmla="val 25000"/>
            </a:avLst>
          </a:prstGeom>
          <a:solidFill>
            <a:srgbClr val="FFE0E0"/>
          </a:solidFill>
          <a:ln w="31750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C0392B"/>
                </a:solidFill>
                <a:latin typeface="Segoe UI Emoji"/>
                <a:ea typeface="Segoe UI Emoji"/>
                <a:cs typeface="Segoe UI Emoji"/>
              </a:rPr>
              <a:t>⚠</a:t>
            </a:r>
            <a:r>
              <a:rPr sz="2300" b="1" i="0" lang="ar-SA">
                <a:solidFill>
                  <a:srgbClr val="C0392B"/>
                </a:solidFill>
                <a:latin typeface="Arial"/>
                <a:ea typeface="Arial"/>
                <a:cs typeface="Arial"/>
              </a:rPr>
              <a:t> أحذر. </a:t>
            </a:r>
            <a:r>
              <a:rPr sz="23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 أفتح الكيس.</a:t>
            </a:r>
          </a:p>
        </p:txBody>
      </p:sp>
      <p:sp>
        <p:nvSpPr>
          <p:cNvPr id="19" name="!!strategy"/>
          <p:cNvSpPr/>
          <p:nvPr/>
        </p:nvSpPr>
        <p:spPr>
          <a:xfrm>
            <a:off x="6291072" y="36576"/>
            <a:ext cx="5577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التعلم بالتجربة: المختبر الافتراضي</a:t>
            </a:r>
          </a:p>
        </p:txBody>
      </p:sp>
      <p:sp>
        <p:nvSpPr>
          <p:cNvPr id="2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22" name="nav_map2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3" name="nav_safe">
            <a:hlinkClick action="ppaction://hlinksldjump" r:id="rId7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1950 -0.1600 E" pathEditMode="relative" ptsTypes="">
                                      <p:cBhvr>
                                        <p:cTn id="4" dur="22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سؤال السلامة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لماذا يحذّرنا الكتاب من فتح الكيس؟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حتى لا تنتشر أبواغ العفن في الهواء ونستنشقها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حتى لا يبرد الخبز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حتى لا يتغير لون الكيس</a:t>
            </a:r>
          </a:p>
        </p:txBody>
      </p:sp>
      <p:sp>
        <p:nvSpPr>
          <p:cNvPr id="10" name="!!strategy"/>
          <p:cNvSpPr/>
          <p:nvPr/>
        </p:nvSpPr>
        <p:spPr>
          <a:xfrm>
            <a:off x="8119872" y="36576"/>
            <a:ext cx="37490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السلامة في المختبر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3" name="nav_map2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سؤال السلامة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تذكّري: الأبواغ صغيرة جدًا وتنتشر في الهواء.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4" name="nav_map2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safe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سؤال السلامة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لماذا يحذّرنا الكتاب من فتح الكيس؟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حتى لا تنتشر أبواغ العفن في الهواء ونستنشقها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أبواغ العفن صغيرة جدًا وتنتشر في الهواء؛ لذا نبقي الكيس مغلقًا حتى لا تنتشر الأبواغ ونستنشقها.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9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parts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③: أدوّن البيانات · حدّدي أجزاء الصورة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9945" y="1161288"/>
            <a:ext cx="5892509" cy="5038344"/>
          </a:xfrm>
          <a:prstGeom prst="roundRect">
            <a:avLst>
              <a:gd name="adj" fmla="val 1814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mol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3097" y="1234440"/>
            <a:ext cx="5746205" cy="48920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1942" y="6080759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1234440"/>
            <a:ext cx="4160520" cy="1828800"/>
          </a:xfrm>
          <a:prstGeom prst="roundRect">
            <a:avLst>
              <a:gd name="adj" fmla="val 12500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35240" y="1280160"/>
            <a:ext cx="3886200" cy="17373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8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③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«أدوّن ملاحظاتي… وأرسم ما شاهدته، وأكتب أسماء أجزاء عفن الخبز الظاهرة».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3154680"/>
            <a:ext cx="4160520" cy="10972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9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المهمة: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اضغطي على محافظ الأبواغ (البقع السوداء) وعلى الخيوط الفطرية.</a:t>
            </a:r>
          </a:p>
        </p:txBody>
      </p:sp>
      <p:sp>
        <p:nvSpPr>
          <p:cNvPr id="11" name="Oval 10"/>
          <p:cNvSpPr/>
          <p:nvPr/>
        </p:nvSpPr>
        <p:spPr>
          <a:xfrm>
            <a:off x="1932490" y="2115007"/>
            <a:ext cx="1264165" cy="1076248"/>
          </a:xfrm>
          <a:prstGeom prst="ellipse">
            <a:avLst/>
          </a:prstGeom>
          <a:solidFill>
            <a:srgbClr val="FFFFFF">
              <a:alpha val="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1932490" y="2115007"/>
            <a:ext cx="1264165" cy="1076248"/>
          </a:xfrm>
          <a:prstGeom prst="ellipse">
            <a:avLst/>
          </a:prstGeom>
          <a:noFill/>
          <a:ln w="635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1841050" y="3099815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محافظ الأبواغ</a:t>
            </a:r>
          </a:p>
        </p:txBody>
      </p:sp>
      <p:sp>
        <p:nvSpPr>
          <p:cNvPr id="14" name="Oval 13"/>
          <p:cNvSpPr/>
          <p:nvPr/>
        </p:nvSpPr>
        <p:spPr>
          <a:xfrm>
            <a:off x="4575744" y="4463186"/>
            <a:ext cx="1436551" cy="1076248"/>
          </a:xfrm>
          <a:prstGeom prst="ellipse">
            <a:avLst/>
          </a:prstGeom>
          <a:solidFill>
            <a:srgbClr val="FFFFFF">
              <a:alpha val="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4575744" y="4463186"/>
            <a:ext cx="1436551" cy="1076248"/>
          </a:xfrm>
          <a:prstGeom prst="ellipse">
            <a:avLst/>
          </a:prstGeom>
          <a:noFill/>
          <a:ln w="635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4484304" y="5447995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خيوط فطرية</a:t>
            </a:r>
          </a:p>
        </p:txBody>
      </p:sp>
      <p:sp>
        <p:nvSpPr>
          <p:cNvPr id="17" name="Oval 16"/>
          <p:cNvSpPr/>
          <p:nvPr/>
        </p:nvSpPr>
        <p:spPr>
          <a:xfrm>
            <a:off x="4805592" y="1381201"/>
            <a:ext cx="1723861" cy="1467611"/>
          </a:xfrm>
          <a:prstGeom prst="ellipse">
            <a:avLst/>
          </a:prstGeom>
          <a:solidFill>
            <a:srgbClr val="FFFFFF">
              <a:alpha val="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7498079" y="4389120"/>
            <a:ext cx="4160520" cy="1188720"/>
          </a:xfrm>
          <a:prstGeom prst="roundRect">
            <a:avLst>
              <a:gd name="adj" fmla="val 19230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8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ليس هنا…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محافظ الأبواغ أعلى الخيوط ولونها أسود.</a:t>
            </a:r>
          </a:p>
        </p:txBody>
      </p:sp>
      <p:sp>
        <p:nvSpPr>
          <p:cNvPr id="34" name="!!strategy"/>
          <p:cNvSpPr/>
          <p:nvPr/>
        </p:nvSpPr>
        <p:spPr>
          <a:xfrm>
            <a:off x="8119872" y="36576"/>
            <a:ext cx="37490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تحديد أجزاء الصورة</a:t>
            </a:r>
          </a:p>
        </p:txBody>
      </p:sp>
      <p:sp>
        <p:nvSpPr>
          <p:cNvPr id="3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3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37" name="nav_map2">
            <a:hlinkClick action="ppaction://hlinksldjump" r:id="rId5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38" name="nav_q_cause">
            <a:hlinkClick action="ppaction://hlinksldjump" r:id="rId6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2" fill="hold">
                      <p:stCondLst>
                        <p:cond delay="0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5" grpId="0" animBg="1"/>
      <p:bldP spid="16" grpId="0" animBg="1"/>
      <p:bldP spid="18" grpId="0" animBg="1"/>
    </p:bldLst>
  </p:timing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④: أفسّر البيانات (سؤال الكتاب)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2608" y="1161288"/>
            <a:ext cx="2741184" cy="4992624"/>
          </a:xfrm>
          <a:prstGeom prst="roundRect">
            <a:avLst>
              <a:gd name="adj" fmla="val 3335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activit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5760" y="1234440"/>
            <a:ext cx="2594880" cy="4846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303280" y="60350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أفسّر البيانات: </a:t>
            </a:r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الذي سبّب التغيرات في قطعة الخبز؟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نمو العفن؛ لأنه وجد رطوبة ودفئًا وظلامًا وغذاءً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907536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الماء أذاب الخبز</a:t>
            </a:r>
          </a:p>
        </p:txBody>
      </p:sp>
      <p:sp>
        <p:nvSpPr>
          <p:cNvPr id="12" name="!!opt2">
            <a:hlinkClick action="ppaction://hlinksldjump" r:id="rId6"/>
          </p:cNvPr>
          <p:cNvSpPr/>
          <p:nvPr/>
        </p:nvSpPr>
        <p:spPr>
          <a:xfrm>
            <a:off x="5257800" y="5071872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الكيس غيّر لون الخبز</a:t>
            </a:r>
          </a:p>
        </p:txBody>
      </p:sp>
      <p:sp>
        <p:nvSpPr>
          <p:cNvPr id="13" name="!!strategy"/>
          <p:cNvSpPr/>
          <p:nvPr/>
        </p:nvSpPr>
        <p:spPr>
          <a:xfrm>
            <a:off x="8577072" y="36576"/>
            <a:ext cx="3291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أفسّر البيانات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6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④: أفسّر البيانات (سؤال الكتاب)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ما الشروط التي وفّرناها داخل الكيس؟ ومن الذي يحتاج إلى هذه الشروط لينمو؟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4" name="nav_map2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q_cause_try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④: أفسّر البيانات (سؤال الكتاب)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2608" y="1161288"/>
            <a:ext cx="2741184" cy="4992624"/>
          </a:xfrm>
          <a:prstGeom prst="roundRect">
            <a:avLst>
              <a:gd name="adj" fmla="val 3335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activit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5760" y="1234440"/>
            <a:ext cx="2594880" cy="4846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303280" y="60350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أفسّر البيانات: </a:t>
            </a:r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الذي سبّب التغيرات في قطعة الخبز؟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نمو العفن؛ لأنه وجد رطوبة ودفئًا وظلامًا وغذاءً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907536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الماء أذاب الخبز</a:t>
            </a:r>
          </a:p>
        </p:txBody>
      </p:sp>
      <p:sp>
        <p:nvSpPr>
          <p:cNvPr id="12" name="!!opt2">
            <a:hlinkClick action="ppaction://hlinksldjump" r:id="rId6"/>
          </p:cNvPr>
          <p:cNvSpPr/>
          <p:nvPr/>
        </p:nvSpPr>
        <p:spPr>
          <a:xfrm>
            <a:off x="5257800" y="5071872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الكيس غيّر لون الخبز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4" name="!!strategy"/>
          <p:cNvSpPr/>
          <p:nvPr/>
        </p:nvSpPr>
        <p:spPr>
          <a:xfrm>
            <a:off x="8577072" y="36576"/>
            <a:ext cx="3291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أفسّر البيانات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7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7079" y="1161288"/>
            <a:ext cx="3452320" cy="4992624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tex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0231" y="1234440"/>
            <a:ext cx="3306016" cy="4846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978888" y="60350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من الكتاب ص٩٨:</a:t>
            </a:r>
          </a:p>
          <a:p>
            <a:pPr algn="r" rtl="1">
              <a:spcAft>
                <a:spcPts val="800"/>
              </a:spcAft>
            </a:pPr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«وتعد البيئة الدافئة الرطبة الوسط المثالي لنمو هذا العفن»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الكيس كان: دافئًا ✔ رطبًا ✔ فيه غذاء (الخبز) ✔</a:t>
            </a:r>
          </a:p>
        </p:txBody>
      </p:sp>
      <p:sp>
        <p:nvSpPr>
          <p:cNvPr id="10" name="Rounded Rectangle 9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1" name="!!strategy"/>
          <p:cNvSpPr/>
          <p:nvPr/>
        </p:nvSpPr>
        <p:spPr>
          <a:xfrm>
            <a:off x="7891272" y="36576"/>
            <a:ext cx="39776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المعالجة: نشاط علاجي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4" name="nav_map2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④: أفسّر البيانات (سؤال الكتاب)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أي بيئة هي الوسط المثالي لنمو عفن الخبز؟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دافئة رطبة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باردة جافة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مضيئة جافة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1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إعادة التحقق: سؤال مشابه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4" name="nav_map2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④: أفسّر البيانات (سؤال الكتاب)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أفسّر البيانات: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الذي سبّب التغيرات في قطعة الخبز؟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نمو العفن؛ لأنه وجد رطوبة ودفئًا وظلامًا وغذاءً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الإجابة النموذجية: نمو عفن الخبز؛ فقد وجد في الكيس المغلق رطوبة ودفئًا وظلامًا وغذاءً، وهي الظروف المناسبة لنموه وتكاثره.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9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q_source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⑤: أستنتج (سؤال الكتاب)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2608" y="1161288"/>
            <a:ext cx="2741184" cy="4992624"/>
          </a:xfrm>
          <a:prstGeom prst="roundRect">
            <a:avLst>
              <a:gd name="adj" fmla="val 3335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activit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5760" y="1234440"/>
            <a:ext cx="2594880" cy="4846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303280" y="60350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أستنتج: </a:t>
            </a:r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مصدر العفن الذي نما على قطعة الخبز؟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أبواغ العفن في الهواء سقطت على الخبز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907536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الماء تحوّل إلى عفن</a:t>
            </a:r>
          </a:p>
        </p:txBody>
      </p:sp>
      <p:sp>
        <p:nvSpPr>
          <p:cNvPr id="12" name="!!opt2">
            <a:hlinkClick action="ppaction://hlinksldjump" r:id="rId6"/>
          </p:cNvPr>
          <p:cNvSpPr/>
          <p:nvPr/>
        </p:nvSpPr>
        <p:spPr>
          <a:xfrm>
            <a:off x="5257800" y="5071872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الكيس صنع العفن</a:t>
            </a:r>
          </a:p>
        </p:txBody>
      </p:sp>
      <p:sp>
        <p:nvSpPr>
          <p:cNvPr id="13" name="!!strategy"/>
          <p:cNvSpPr/>
          <p:nvPr/>
        </p:nvSpPr>
        <p:spPr>
          <a:xfrm>
            <a:off x="9491472" y="36576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أستنتج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6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⑤: أستنتج (سؤال الكتاب)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تذكّري ما قرأناه في ص٩٧: الأبواغ تنتشر، فإذا سقطت في بيئة مناسبة نمت.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4" name="nav_map2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q_source_try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⑤: أستنتج (سؤال الكتاب)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2608" y="1161288"/>
            <a:ext cx="2741184" cy="4992624"/>
          </a:xfrm>
          <a:prstGeom prst="roundRect">
            <a:avLst>
              <a:gd name="adj" fmla="val 3335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activit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5760" y="1234440"/>
            <a:ext cx="2594880" cy="4846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303280" y="60350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أستنتج: </a:t>
            </a:r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مصدر العفن الذي نما على قطعة الخبز؟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أبواغ العفن في الهواء سقطت على الخبز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907536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الماء تحوّل إلى عفن</a:t>
            </a:r>
          </a:p>
        </p:txBody>
      </p:sp>
      <p:sp>
        <p:nvSpPr>
          <p:cNvPr id="12" name="!!opt2">
            <a:hlinkClick action="ppaction://hlinksldjump" r:id="rId6"/>
          </p:cNvPr>
          <p:cNvSpPr/>
          <p:nvPr/>
        </p:nvSpPr>
        <p:spPr>
          <a:xfrm>
            <a:off x="5257800" y="5071872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الكيس صنع العفن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4" name="!!strategy"/>
          <p:cNvSpPr/>
          <p:nvPr/>
        </p:nvSpPr>
        <p:spPr>
          <a:xfrm>
            <a:off x="9491472" y="36576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أستنتج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7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7079" y="1161288"/>
            <a:ext cx="3452320" cy="4992624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tex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0231" y="1234440"/>
            <a:ext cx="3306016" cy="4846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978888" y="60350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من الكتاب ص٩٨:</a:t>
            </a:r>
          </a:p>
          <a:p>
            <a:pPr algn="r" rtl="1">
              <a:spcAft>
                <a:spcPts val="800"/>
              </a:spcAft>
            </a:pPr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«وأبواغ هذا العفن صغيرة جدًا، ولكنها إذا سقطت في بيئة مناسبة فإنها تنمو سريعًا»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العفن لا يأتي من الماء أو الكيس، بل من أبواغ صغيرة لا نراها.</a:t>
            </a:r>
          </a:p>
        </p:txBody>
      </p:sp>
      <p:sp>
        <p:nvSpPr>
          <p:cNvPr id="10" name="Rounded Rectangle 9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1" name="!!strategy"/>
          <p:cNvSpPr/>
          <p:nvPr/>
        </p:nvSpPr>
        <p:spPr>
          <a:xfrm>
            <a:off x="7891272" y="36576"/>
            <a:ext cx="39776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المعالجة: نشاط علاجي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4" name="nav_map2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⑤: أستنتج (سؤال الكتاب)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أين كانت أبواغ العفن قبل أن تصل إلى الخبز؟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في الهواء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داخل الماء فقط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داخل الكيس المصنع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1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إعادة التحقق: سؤال مشابه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4" name="nav_map2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⑤: أستنتج (سؤال الكتاب)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أستنتج: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مصدر العفن الذي نما على قطعة الخبز؟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أبواغ العفن في الهواء سقطت على الخبز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الإجابة النموذجية: مصدر العفن أبواغ العفن المنتشرة في الهواء؛ سقطت على الخبز قبل وضعه في الكيس، فلما وجدت بيئة مناسبة نمت.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9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comp1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أكملي التجربة (١/٢) · ماذا يحدث لو؟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ماذا يحدث لو وضعنا خبزًا جافًا في الثلاجة؟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يقلّ نمو العفن كثيرًا؛ لغياب الدفء والرطوبة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ينمو العفن أسرع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 فرق بين الحالتين</a:t>
            </a:r>
          </a:p>
        </p:txBody>
      </p:sp>
      <p:sp>
        <p:nvSpPr>
          <p:cNvPr id="10" name="!!strategy"/>
          <p:cNvSpPr/>
          <p:nvPr/>
        </p:nvSpPr>
        <p:spPr>
          <a:xfrm>
            <a:off x="6976872" y="36576"/>
            <a:ext cx="48920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التعلم باللعب: أكملي التجربة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3" name="nav_map2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أكملي التجربة (١/٢) · ماذا يحدث لو؟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تذكّري الوسط المثالي لنمو العفن: دافئ أم بارد؟ رطب أم جاف؟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4" name="nav_map2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comp1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أكملي التجربة (١/٢) · ماذا يحدث لو؟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ماذا يحدث لو وضعنا خبزًا جافًا في الثلاجة؟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يقلّ نمو العفن كثيرًا؛ لغياب الدفء والرطوبة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البيئة الدافئة الرطبة هي الوسط المثالي لنمو العفن؛ فإذا غاب الدفء والرطوبة قلّت فرصة نموه.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9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comp2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أكملي التجربة (٢/٢) · الاستنتاج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أيّ استنتاج تدعمه تجربتنا؟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يحتاج العفن إلى بيئة دافئة رطبة لينمو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العفن يصنع غذاءه من الضوء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العفن ينمو في الأماكن الجافة فقط</a:t>
            </a:r>
          </a:p>
        </p:txBody>
      </p:sp>
      <p:sp>
        <p:nvSpPr>
          <p:cNvPr id="10" name="!!strategy"/>
          <p:cNvSpPr/>
          <p:nvPr/>
        </p:nvSpPr>
        <p:spPr>
          <a:xfrm>
            <a:off x="6976872" y="36576"/>
            <a:ext cx="48920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التعلم باللعب: أكملي التجربة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3" name="nav_map2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أكملي التجربة (٢/٢) · الاستنتاج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ما الظروف التي وفّرناها فنما العفن؟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4" name="nav_map2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comp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أكملي التجربة (٢/٢) · الاستنتاج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أيّ استنتاج تدعمه تجربتنا؟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يحتاج العفن إلى بيئة دافئة رطبة لينمو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نما العفن عندما توافرت له بيئة دافئة رطبة وغذاء؛ إذن يحتاج العفن إلى بيئة دافئة رطبة لينمو.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9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moldtext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عفن الخبز؟ (ص٩٨)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76488" y="1305721"/>
            <a:ext cx="3255264" cy="4703756"/>
          </a:xfrm>
          <a:prstGeom prst="roundRect">
            <a:avLst>
              <a:gd name="adj" fmla="val 2808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tex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9640" y="1378873"/>
            <a:ext cx="3108960" cy="455745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921240" y="5890606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572000"/>
            <a:ext cx="7680960" cy="914400"/>
          </a:xfrm>
          <a:prstGeom prst="roundRect">
            <a:avLst>
              <a:gd name="adj" fmla="val 15000"/>
            </a:avLst>
          </a:prstGeom>
          <a:solidFill>
            <a:srgbClr val="E3B27A"/>
          </a:solidFill>
          <a:ln w="25400">
            <a:solidFill>
              <a:srgbClr val="B0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40080" y="5029200"/>
            <a:ext cx="1828800" cy="4114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500" b="1" i="0" lang="ar-SA">
                <a:solidFill>
                  <a:srgbClr val="6B4300"/>
                </a:solidFill>
                <a:latin typeface="Arial"/>
                <a:ea typeface="Arial"/>
                <a:cs typeface="Arial"/>
              </a:rPr>
              <a:t>سطح الخبز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4434840"/>
            <a:ext cx="2194560" cy="146304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3200400" y="4434840"/>
            <a:ext cx="2194560" cy="146304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5303520" y="4434840"/>
            <a:ext cx="2194560" cy="146304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1463040" y="4526280"/>
            <a:ext cx="109728" cy="64008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3566160" y="4526280"/>
            <a:ext cx="109728" cy="64008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5669279" y="4526280"/>
            <a:ext cx="109728" cy="64008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772400" y="4526280"/>
            <a:ext cx="109728" cy="64008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4297680" y="2377440"/>
            <a:ext cx="109728" cy="210312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4096512" y="2057400"/>
            <a:ext cx="512064" cy="512064"/>
          </a:xfrm>
          <a:prstGeom prst="ellipse">
            <a:avLst/>
          </a:prstGeom>
          <a:solidFill>
            <a:srgbClr val="2F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5166360" y="2743200"/>
            <a:ext cx="109728" cy="173736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4965192" y="2423160"/>
            <a:ext cx="512064" cy="512064"/>
          </a:xfrm>
          <a:prstGeom prst="ellipse">
            <a:avLst/>
          </a:prstGeom>
          <a:solidFill>
            <a:srgbClr val="2F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035040" y="2377440"/>
            <a:ext cx="109728" cy="210312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5833872" y="2057400"/>
            <a:ext cx="512064" cy="512064"/>
          </a:xfrm>
          <a:prstGeom prst="ellipse">
            <a:avLst/>
          </a:prstGeom>
          <a:solidFill>
            <a:srgbClr val="2F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6903720" y="2743200"/>
            <a:ext cx="109728" cy="173736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6702552" y="2423160"/>
            <a:ext cx="512064" cy="512064"/>
          </a:xfrm>
          <a:prstGeom prst="ellipse">
            <a:avLst/>
          </a:prstGeom>
          <a:solidFill>
            <a:srgbClr val="2F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7772400" y="2377440"/>
            <a:ext cx="109728" cy="210312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7571231" y="2057400"/>
            <a:ext cx="512064" cy="512064"/>
          </a:xfrm>
          <a:prstGeom prst="ellipse">
            <a:avLst/>
          </a:prstGeom>
          <a:solidFill>
            <a:srgbClr val="2F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548640" y="3429000"/>
            <a:ext cx="3474720" cy="82296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2540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خيوط فطرية تنتشر وتشبه جذور النبات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560320" y="5532120"/>
            <a:ext cx="5669280" cy="731520"/>
          </a:xfrm>
          <a:prstGeom prst="roundRect">
            <a:avLst>
              <a:gd name="adj" fmla="val 25000"/>
            </a:avLst>
          </a:prstGeom>
          <a:solidFill>
            <a:srgbClr val="FFE9D2"/>
          </a:solidFill>
          <a:ln w="25400">
            <a:solidFill>
              <a:srgbClr val="F28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خيوط تنمو إلى أسفل لتثبيت العفن، وتفرز مواد كيميائية (إنزيمات)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80560" y="1188720"/>
            <a:ext cx="3749039" cy="822960"/>
          </a:xfrm>
          <a:prstGeom prst="roundRect">
            <a:avLst>
              <a:gd name="adj" fmla="val 22222"/>
            </a:avLst>
          </a:prstGeom>
          <a:solidFill>
            <a:srgbClr val="EDE7FF"/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خيوط تنمو إلى أعلى تكوّن الأبواغ (تكاثر لاجنسي)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2194560"/>
            <a:ext cx="3474720" cy="1051560"/>
          </a:xfrm>
          <a:prstGeom prst="roundRect">
            <a:avLst>
              <a:gd name="adj" fmla="val 17391"/>
            </a:avLst>
          </a:prstGeom>
          <a:solidFill>
            <a:srgbClr val="FFF6DD"/>
          </a:solidFill>
          <a:ln w="25400">
            <a:solidFill>
              <a:srgbClr val="F2D2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ويحدث التكاثر الجنسي عندما يندمج خيطان فطريان معًا ويكوّنان أبواغًا جديدة</a:t>
            </a:r>
          </a:p>
        </p:txBody>
      </p:sp>
      <p:sp>
        <p:nvSpPr>
          <p:cNvPr id="90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القراءة الموجهة بالرسم</a:t>
            </a:r>
          </a:p>
        </p:txBody>
      </p:sp>
      <p:sp>
        <p:nvSpPr>
          <p:cNvPr id="9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9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93" name="nav_map2">
            <a:hlinkClick action="ppaction://hlinksldjump" r:id="rId5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94" name="nav_enz0">
            <a:hlinkClick action="ppaction://hlinksldjump" r:id="rId6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53" presetClass="entr" presetSubtype="16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5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53" presetClass="entr" presetSubtype="16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27" grpId="0" animBg="1"/>
      <p:bldP spid="13" grpId="0" animBg="1"/>
      <p:bldP spid="14" grpId="0" animBg="1"/>
      <p:bldP spid="15" grpId="0" animBg="1"/>
      <p:bldP spid="16" grpId="0" animBg="1"/>
      <p:bldP spid="28" grpId="0" animBg="1"/>
      <p:bldP spid="17" grpId="0" animBg="1"/>
      <p:bldP spid="19" grpId="0" animBg="1"/>
      <p:bldP spid="21" grpId="0" animBg="1"/>
      <p:bldP spid="23" grpId="0" animBg="1"/>
      <p:bldP spid="25" grpId="0" animBg="1"/>
      <p:bldP spid="18" grpId="0" animBg="1"/>
      <p:bldP spid="20" grpId="0" animBg="1"/>
      <p:bldP spid="22" grpId="0" animBg="1"/>
      <p:bldP spid="24" grpId="0" animBg="1"/>
      <p:bldP spid="26" grpId="0" animBg="1"/>
      <p:bldP spid="29" grpId="0" animBg="1"/>
      <p:bldP spid="30" grpId="0" animBg="1"/>
    </p:bldLst>
  </p:timing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محاكاة: كيف تساعد الإنزيمات العفن؟ (ص٩٨)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hy"/>
          <p:cNvSpPr/>
          <p:nvPr/>
        </p:nvSpPr>
        <p:spPr>
          <a:xfrm>
            <a:off x="1005839" y="2674620"/>
            <a:ext cx="3291840" cy="68580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2540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f1"/>
          <p:cNvSpPr/>
          <p:nvPr/>
        </p:nvSpPr>
        <p:spPr>
          <a:xfrm>
            <a:off x="7269479" y="1920240"/>
            <a:ext cx="1188720" cy="914400"/>
          </a:xfrm>
          <a:prstGeom prst="roundRect">
            <a:avLst>
              <a:gd name="adj" fmla="val 50000"/>
            </a:avLst>
          </a:prstGeom>
          <a:solidFill>
            <a:srgbClr val="F6C26B"/>
          </a:solidFill>
          <a:ln w="254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f2"/>
          <p:cNvSpPr/>
          <p:nvPr/>
        </p:nvSpPr>
        <p:spPr>
          <a:xfrm>
            <a:off x="8458200" y="2468880"/>
            <a:ext cx="1188720" cy="914400"/>
          </a:xfrm>
          <a:prstGeom prst="roundRect">
            <a:avLst>
              <a:gd name="adj" fmla="val 50000"/>
            </a:avLst>
          </a:prstGeom>
          <a:solidFill>
            <a:srgbClr val="F6C26B"/>
          </a:solidFill>
          <a:ln w="254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f3"/>
          <p:cNvSpPr/>
          <p:nvPr/>
        </p:nvSpPr>
        <p:spPr>
          <a:xfrm>
            <a:off x="7543800" y="3063240"/>
            <a:ext cx="1188720" cy="914400"/>
          </a:xfrm>
          <a:prstGeom prst="roundRect">
            <a:avLst>
              <a:gd name="adj" fmla="val 50000"/>
            </a:avLst>
          </a:prstGeom>
          <a:solidFill>
            <a:srgbClr val="F6C26B"/>
          </a:solidFill>
          <a:ln w="254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e0"/>
          <p:cNvSpPr/>
          <p:nvPr/>
        </p:nvSpPr>
        <p:spPr>
          <a:xfrm>
            <a:off x="3776472" y="2359152"/>
            <a:ext cx="310896" cy="310896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e1"/>
          <p:cNvSpPr/>
          <p:nvPr/>
        </p:nvSpPr>
        <p:spPr>
          <a:xfrm>
            <a:off x="3776472" y="2679192"/>
            <a:ext cx="310896" cy="310896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e2"/>
          <p:cNvSpPr/>
          <p:nvPr/>
        </p:nvSpPr>
        <p:spPr>
          <a:xfrm>
            <a:off x="3776472" y="2999232"/>
            <a:ext cx="310896" cy="310896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e3"/>
          <p:cNvSpPr/>
          <p:nvPr/>
        </p:nvSpPr>
        <p:spPr>
          <a:xfrm>
            <a:off x="3776472" y="3319272"/>
            <a:ext cx="310896" cy="310896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822960" y="4160520"/>
            <a:ext cx="4754880" cy="548640"/>
          </a:xfrm>
          <a:prstGeom prst="roundRect">
            <a:avLst>
              <a:gd name="adj" fmla="val 41666"/>
            </a:avLst>
          </a:prstGeom>
          <a:solidFill>
            <a:srgbClr val="FFF6DD"/>
          </a:solidFill>
          <a:ln w="25400">
            <a:solidFill>
              <a:srgbClr val="F2D2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دون إنزيم: تفاعل بطيء جدًا ⏳ · مع الإنزيم: سريع </a:t>
            </a:r>
            <a:r>
              <a:rPr sz="1600" b="1" i="0" lang="ar-SA">
                <a:solidFill>
                  <a:srgbClr val="2B3A55"/>
                </a:solidFill>
                <a:latin typeface="Segoe UI Emoji"/>
                <a:ea typeface="Segoe UI Emoji"/>
                <a:cs typeface="Segoe UI Emoji"/>
              </a:rPr>
              <a:t>⚡</a:t>
            </a:r>
          </a:p>
        </p:txBody>
      </p:sp>
      <p:sp>
        <p:nvSpPr>
          <p:cNvPr id="16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9" name="nav_map2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slow">
    <p:fade/>
  </p:transition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محاكاة: كيف تساعد الإنزيمات العفن؟ (ص٩٨)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hy"/>
          <p:cNvSpPr/>
          <p:nvPr/>
        </p:nvSpPr>
        <p:spPr>
          <a:xfrm>
            <a:off x="1005839" y="2674620"/>
            <a:ext cx="3291840" cy="68580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2540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f1"/>
          <p:cNvSpPr/>
          <p:nvPr/>
        </p:nvSpPr>
        <p:spPr>
          <a:xfrm>
            <a:off x="7269479" y="1920240"/>
            <a:ext cx="1188720" cy="914400"/>
          </a:xfrm>
          <a:prstGeom prst="roundRect">
            <a:avLst>
              <a:gd name="adj" fmla="val 50000"/>
            </a:avLst>
          </a:prstGeom>
          <a:solidFill>
            <a:srgbClr val="F6C26B"/>
          </a:solidFill>
          <a:ln w="254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f2"/>
          <p:cNvSpPr/>
          <p:nvPr/>
        </p:nvSpPr>
        <p:spPr>
          <a:xfrm>
            <a:off x="8458200" y="2468880"/>
            <a:ext cx="1188720" cy="914400"/>
          </a:xfrm>
          <a:prstGeom prst="roundRect">
            <a:avLst>
              <a:gd name="adj" fmla="val 50000"/>
            </a:avLst>
          </a:prstGeom>
          <a:solidFill>
            <a:srgbClr val="F6C26B"/>
          </a:solidFill>
          <a:ln w="254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f3"/>
          <p:cNvSpPr/>
          <p:nvPr/>
        </p:nvSpPr>
        <p:spPr>
          <a:xfrm>
            <a:off x="7543800" y="3063240"/>
            <a:ext cx="1188720" cy="914400"/>
          </a:xfrm>
          <a:prstGeom prst="roundRect">
            <a:avLst>
              <a:gd name="adj" fmla="val 50000"/>
            </a:avLst>
          </a:prstGeom>
          <a:solidFill>
            <a:srgbClr val="F6C26B"/>
          </a:solidFill>
          <a:ln w="254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e0"/>
          <p:cNvSpPr/>
          <p:nvPr/>
        </p:nvSpPr>
        <p:spPr>
          <a:xfrm>
            <a:off x="7040880" y="2103120"/>
            <a:ext cx="365760" cy="365760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e1"/>
          <p:cNvSpPr/>
          <p:nvPr/>
        </p:nvSpPr>
        <p:spPr>
          <a:xfrm>
            <a:off x="9692640" y="2103120"/>
            <a:ext cx="365760" cy="365760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e2"/>
          <p:cNvSpPr/>
          <p:nvPr/>
        </p:nvSpPr>
        <p:spPr>
          <a:xfrm>
            <a:off x="7040880" y="3566159"/>
            <a:ext cx="365760" cy="365760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e3"/>
          <p:cNvSpPr/>
          <p:nvPr/>
        </p:nvSpPr>
        <p:spPr>
          <a:xfrm>
            <a:off x="9692640" y="3566159"/>
            <a:ext cx="365760" cy="365760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تفرز الخيوط الفطرية مواد تُسمّى إنزيمات</a:t>
            </a:r>
          </a:p>
        </p:txBody>
      </p:sp>
      <p:sp>
        <p:nvSpPr>
          <p:cNvPr id="16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9" name="nav_map2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محاكاة: كيف تساعد الإنزيمات العفن؟ (ص٩٨)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hy"/>
          <p:cNvSpPr/>
          <p:nvPr/>
        </p:nvSpPr>
        <p:spPr>
          <a:xfrm>
            <a:off x="1005839" y="2674620"/>
            <a:ext cx="3291840" cy="68580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2540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e0"/>
          <p:cNvSpPr/>
          <p:nvPr/>
        </p:nvSpPr>
        <p:spPr>
          <a:xfrm>
            <a:off x="7040880" y="2103120"/>
            <a:ext cx="365760" cy="365760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e1"/>
          <p:cNvSpPr/>
          <p:nvPr/>
        </p:nvSpPr>
        <p:spPr>
          <a:xfrm>
            <a:off x="9692640" y="2103120"/>
            <a:ext cx="365760" cy="365760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e2"/>
          <p:cNvSpPr/>
          <p:nvPr/>
        </p:nvSpPr>
        <p:spPr>
          <a:xfrm>
            <a:off x="7040880" y="3566159"/>
            <a:ext cx="365760" cy="365760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e3"/>
          <p:cNvSpPr/>
          <p:nvPr/>
        </p:nvSpPr>
        <p:spPr>
          <a:xfrm>
            <a:off x="9692640" y="3566159"/>
            <a:ext cx="365760" cy="365760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b0"/>
          <p:cNvSpPr/>
          <p:nvPr/>
        </p:nvSpPr>
        <p:spPr>
          <a:xfrm>
            <a:off x="7424928" y="2167127"/>
            <a:ext cx="329184" cy="329184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b1"/>
          <p:cNvSpPr/>
          <p:nvPr/>
        </p:nvSpPr>
        <p:spPr>
          <a:xfrm>
            <a:off x="8110728" y="2167127"/>
            <a:ext cx="329184" cy="329184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b2"/>
          <p:cNvSpPr/>
          <p:nvPr/>
        </p:nvSpPr>
        <p:spPr>
          <a:xfrm>
            <a:off x="8796528" y="2167127"/>
            <a:ext cx="329184" cy="329184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b3"/>
          <p:cNvSpPr/>
          <p:nvPr/>
        </p:nvSpPr>
        <p:spPr>
          <a:xfrm>
            <a:off x="7424928" y="2807208"/>
            <a:ext cx="329184" cy="329184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b4"/>
          <p:cNvSpPr/>
          <p:nvPr/>
        </p:nvSpPr>
        <p:spPr>
          <a:xfrm>
            <a:off x="8110728" y="2807208"/>
            <a:ext cx="329184" cy="329184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b5"/>
          <p:cNvSpPr/>
          <p:nvPr/>
        </p:nvSpPr>
        <p:spPr>
          <a:xfrm>
            <a:off x="8796528" y="2807208"/>
            <a:ext cx="329184" cy="329184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b6"/>
          <p:cNvSpPr/>
          <p:nvPr/>
        </p:nvSpPr>
        <p:spPr>
          <a:xfrm>
            <a:off x="7424928" y="3447287"/>
            <a:ext cx="329184" cy="329184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!!b7"/>
          <p:cNvSpPr/>
          <p:nvPr/>
        </p:nvSpPr>
        <p:spPr>
          <a:xfrm>
            <a:off x="8110728" y="3447287"/>
            <a:ext cx="329184" cy="329184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!!b8"/>
          <p:cNvSpPr/>
          <p:nvPr/>
        </p:nvSpPr>
        <p:spPr>
          <a:xfrm>
            <a:off x="8796528" y="3447287"/>
            <a:ext cx="329184" cy="329184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تفرز الخيوط الفطرية مواد تُسمّى إنزيمات</a:t>
            </a:r>
          </a:p>
        </p:txBody>
      </p:sp>
      <p:sp>
        <p:nvSpPr>
          <p:cNvPr id="22" name="!!lab2"/>
          <p:cNvSpPr/>
          <p:nvPr/>
        </p:nvSpPr>
        <p:spPr>
          <a:xfrm>
            <a:off x="4306824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يسرّع الإنزيم التفاعلات الكيميائية فيتحلل الطعام</a:t>
            </a:r>
          </a:p>
        </p:txBody>
      </p:sp>
      <p:sp>
        <p:nvSpPr>
          <p:cNvPr id="23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2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26" name="nav_map2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محاكاة: كيف تساعد الإنزيمات العفن؟ (ص٩٨)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hy"/>
          <p:cNvSpPr/>
          <p:nvPr/>
        </p:nvSpPr>
        <p:spPr>
          <a:xfrm>
            <a:off x="1005839" y="2674620"/>
            <a:ext cx="3291840" cy="68580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2540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e0"/>
          <p:cNvSpPr/>
          <p:nvPr/>
        </p:nvSpPr>
        <p:spPr>
          <a:xfrm>
            <a:off x="3776472" y="2359152"/>
            <a:ext cx="310896" cy="310896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e1"/>
          <p:cNvSpPr/>
          <p:nvPr/>
        </p:nvSpPr>
        <p:spPr>
          <a:xfrm>
            <a:off x="3776472" y="2679192"/>
            <a:ext cx="310896" cy="310896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e2"/>
          <p:cNvSpPr/>
          <p:nvPr/>
        </p:nvSpPr>
        <p:spPr>
          <a:xfrm>
            <a:off x="3776472" y="2999232"/>
            <a:ext cx="310896" cy="310896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e3"/>
          <p:cNvSpPr/>
          <p:nvPr/>
        </p:nvSpPr>
        <p:spPr>
          <a:xfrm>
            <a:off x="3776472" y="3319272"/>
            <a:ext cx="310896" cy="310896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b0"/>
          <p:cNvSpPr/>
          <p:nvPr/>
        </p:nvSpPr>
        <p:spPr>
          <a:xfrm>
            <a:off x="1929384" y="2798064"/>
            <a:ext cx="164592" cy="164592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b1"/>
          <p:cNvSpPr/>
          <p:nvPr/>
        </p:nvSpPr>
        <p:spPr>
          <a:xfrm>
            <a:off x="2386584" y="2798064"/>
            <a:ext cx="164592" cy="164592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b2"/>
          <p:cNvSpPr/>
          <p:nvPr/>
        </p:nvSpPr>
        <p:spPr>
          <a:xfrm>
            <a:off x="2843784" y="2798064"/>
            <a:ext cx="164592" cy="164592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b3"/>
          <p:cNvSpPr/>
          <p:nvPr/>
        </p:nvSpPr>
        <p:spPr>
          <a:xfrm>
            <a:off x="3300984" y="2798064"/>
            <a:ext cx="164592" cy="164592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b4"/>
          <p:cNvSpPr/>
          <p:nvPr/>
        </p:nvSpPr>
        <p:spPr>
          <a:xfrm>
            <a:off x="3758184" y="2798064"/>
            <a:ext cx="164592" cy="164592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b5"/>
          <p:cNvSpPr/>
          <p:nvPr/>
        </p:nvSpPr>
        <p:spPr>
          <a:xfrm>
            <a:off x="1929384" y="3054096"/>
            <a:ext cx="164592" cy="164592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b6"/>
          <p:cNvSpPr/>
          <p:nvPr/>
        </p:nvSpPr>
        <p:spPr>
          <a:xfrm>
            <a:off x="2386584" y="3054096"/>
            <a:ext cx="164592" cy="164592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!!b7"/>
          <p:cNvSpPr/>
          <p:nvPr/>
        </p:nvSpPr>
        <p:spPr>
          <a:xfrm>
            <a:off x="2843784" y="3054096"/>
            <a:ext cx="164592" cy="164592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!!b8"/>
          <p:cNvSpPr/>
          <p:nvPr/>
        </p:nvSpPr>
        <p:spPr>
          <a:xfrm>
            <a:off x="3300984" y="3054096"/>
            <a:ext cx="164592" cy="164592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تفرز الخيوط الفطرية مواد تُسمّى إنزيمات</a:t>
            </a:r>
          </a:p>
        </p:txBody>
      </p:sp>
      <p:sp>
        <p:nvSpPr>
          <p:cNvPr id="22" name="!!lab2"/>
          <p:cNvSpPr/>
          <p:nvPr/>
        </p:nvSpPr>
        <p:spPr>
          <a:xfrm>
            <a:off x="4306824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يسرّع الإنزيم التفاعلات الكيميائية فيتحلل الطعام</a:t>
            </a:r>
          </a:p>
        </p:txBody>
      </p:sp>
      <p:sp>
        <p:nvSpPr>
          <p:cNvPr id="23" name="!!lab3"/>
          <p:cNvSpPr/>
          <p:nvPr/>
        </p:nvSpPr>
        <p:spPr>
          <a:xfrm>
            <a:off x="548640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يسهل امتصاص المواد الغذائية</a:t>
            </a:r>
          </a:p>
        </p:txBody>
      </p:sp>
      <p:sp>
        <p:nvSpPr>
          <p:cNvPr id="24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2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27" name="nav_map2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8" name="nav_evid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أقرأ وأستدل · صيد الدليل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pic>
        <p:nvPicPr>
          <p:cNvPr id="5" name="Picture 4" descr="ic_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7080" y="1234440"/>
            <a:ext cx="731520" cy="731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188720"/>
            <a:ext cx="10241280" cy="8229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المهمة: </a:t>
            </a:r>
            <a:r>
              <a:rPr sz="23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اختاري الدليل الذي يوضح ما تفعله الإنزيمات.</a:t>
            </a:r>
          </a:p>
        </p:txBody>
      </p:sp>
      <p:sp>
        <p:nvSpPr>
          <p:cNvPr id="7" name="sen0"/>
          <p:cNvSpPr/>
          <p:nvPr/>
        </p:nvSpPr>
        <p:spPr>
          <a:xfrm>
            <a:off x="548640" y="2103120"/>
            <a:ext cx="11091672" cy="674369"/>
          </a:xfrm>
          <a:prstGeom prst="roundRect">
            <a:avLst>
              <a:gd name="adj" fmla="val 27118"/>
            </a:avLst>
          </a:prstGeom>
          <a:solidFill>
            <a:srgbClr val="F7FAFF"/>
          </a:solidFill>
          <a:ln w="25400">
            <a:solidFill>
              <a:srgbClr val="B9CD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0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«يتركب عفن الخبز من خيوط دقيقة تسمى الخيوط الفطرية.»</a:t>
            </a:r>
          </a:p>
        </p:txBody>
      </p:sp>
      <p:pic>
        <p:nvPicPr>
          <p:cNvPr id="8" name="Picture 7" descr="ic_cr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165985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31250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ليست هذه…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ابحثي عن عبارة فيها كلمة «الإنزيم».</a:t>
            </a:r>
          </a:p>
        </p:txBody>
      </p:sp>
      <p:sp>
        <p:nvSpPr>
          <p:cNvPr id="10" name="sen1"/>
          <p:cNvSpPr/>
          <p:nvPr/>
        </p:nvSpPr>
        <p:spPr>
          <a:xfrm>
            <a:off x="548640" y="2914650"/>
            <a:ext cx="11091672" cy="674369"/>
          </a:xfrm>
          <a:prstGeom prst="roundRect">
            <a:avLst>
              <a:gd name="adj" fmla="val 27118"/>
            </a:avLst>
          </a:prstGeom>
          <a:solidFill>
            <a:srgbClr val="F7FAFF"/>
          </a:solidFill>
          <a:ln w="25400">
            <a:solidFill>
              <a:srgbClr val="B9CD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0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٢)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«تنتشر هذه الخيوط لتغطي مساحة كبيرة.»</a:t>
            </a:r>
          </a:p>
        </p:txBody>
      </p:sp>
      <p:pic>
        <p:nvPicPr>
          <p:cNvPr id="11" name="Picture 10" descr="ic_cr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977515"/>
            <a:ext cx="548640" cy="54864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31250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ليست هذه…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ابحثي عن عبارة فيها كلمة «الإنزيم».</a:t>
            </a:r>
          </a:p>
        </p:txBody>
      </p:sp>
      <p:sp>
        <p:nvSpPr>
          <p:cNvPr id="13" name="sen2"/>
          <p:cNvSpPr/>
          <p:nvPr/>
        </p:nvSpPr>
        <p:spPr>
          <a:xfrm>
            <a:off x="548640" y="3726179"/>
            <a:ext cx="11091672" cy="674369"/>
          </a:xfrm>
          <a:prstGeom prst="roundRect">
            <a:avLst>
              <a:gd name="adj" fmla="val 27118"/>
            </a:avLst>
          </a:prstGeom>
          <a:solidFill>
            <a:srgbClr val="F7FAFF"/>
          </a:solidFill>
          <a:ln w="25400">
            <a:solidFill>
              <a:srgbClr val="B9CD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0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«ويسبب الإنزيم تسريع حدوث التفاعلات الكيميائية.»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26179"/>
            <a:ext cx="11091672" cy="674369"/>
          </a:xfrm>
          <a:prstGeom prst="roundRect">
            <a:avLst>
              <a:gd name="adj" fmla="val 27118"/>
            </a:avLst>
          </a:prstGeom>
          <a:noFill/>
          <a:ln w="635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ic_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789045"/>
            <a:ext cx="548640" cy="54864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31250"/>
            </a:avLst>
          </a:prstGeom>
          <a:solidFill>
            <a:srgbClr val="E2F7E9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صيد موفّق!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هذه العبارة تبيّن عمل الإنزيم: يسرّع التفاعلات الكيميائية، فيسهل هضم الطعام وامتصاصه.</a:t>
            </a:r>
          </a:p>
        </p:txBody>
      </p:sp>
      <p:sp>
        <p:nvSpPr>
          <p:cNvPr id="17" name="sen3"/>
          <p:cNvSpPr/>
          <p:nvPr/>
        </p:nvSpPr>
        <p:spPr>
          <a:xfrm>
            <a:off x="548640" y="4537709"/>
            <a:ext cx="11091672" cy="674369"/>
          </a:xfrm>
          <a:prstGeom prst="roundRect">
            <a:avLst>
              <a:gd name="adj" fmla="val 27118"/>
            </a:avLst>
          </a:prstGeom>
          <a:solidFill>
            <a:srgbClr val="F7FAFF"/>
          </a:solidFill>
          <a:ln w="25400">
            <a:solidFill>
              <a:srgbClr val="B9CD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0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٤)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«وهناك خيوط فطرية تنمو إلى أعلى.»</a:t>
            </a:r>
          </a:p>
        </p:txBody>
      </p:sp>
      <p:pic>
        <p:nvPicPr>
          <p:cNvPr id="18" name="Picture 17" descr="ic_cr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600575"/>
            <a:ext cx="548640" cy="54864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31250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ليست هذه…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ابحثي عن عبارة فيها كلمة «الإنزيم».</a:t>
            </a:r>
          </a:p>
        </p:txBody>
      </p:sp>
      <p:sp>
        <p:nvSpPr>
          <p:cNvPr id="70" name="!!strategy"/>
          <p:cNvSpPr/>
          <p:nvPr/>
        </p:nvSpPr>
        <p:spPr>
          <a:xfrm>
            <a:off x="8919972" y="36576"/>
            <a:ext cx="29489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أقرأ وأستدل</a:t>
            </a:r>
          </a:p>
        </p:txBody>
      </p:sp>
      <p:sp>
        <p:nvSpPr>
          <p:cNvPr id="7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7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73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74" name="nav_chk98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5" fill="hold">
                      <p:stCondLst>
                        <p:cond delay="0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8" fill="hold">
                      <p:stCondLst>
                        <p:cond delay="0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  <p:bldP spid="14" grpId="0" animBg="1"/>
      <p:bldP spid="16" grpId="0" animBg="1"/>
      <p:bldP spid="19" grpId="0" animBg="1"/>
    </p:bldLst>
  </p:timing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أختبر نفسي (ص٩٨) · 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2667969"/>
            <a:ext cx="4626864" cy="197926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chec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741121"/>
            <a:ext cx="4480560" cy="183295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46120" y="4528358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2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أستنتج: </a:t>
            </a:r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كيف تساعد الإنزيمات العفن على هضم الطعام؟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تسرّع التفاعلات فتحلّل الطعام إلى مواد بسيطة يسهل امتصاصها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907536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تصنع الغذاء من ضوء الشمس</a:t>
            </a:r>
          </a:p>
        </p:txBody>
      </p:sp>
      <p:sp>
        <p:nvSpPr>
          <p:cNvPr id="12" name="!!opt2">
            <a:hlinkClick action="ppaction://hlinksldjump" r:id="rId6"/>
          </p:cNvPr>
          <p:cNvSpPr/>
          <p:nvPr/>
        </p:nvSpPr>
        <p:spPr>
          <a:xfrm>
            <a:off x="5257800" y="5071872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تحرّك العفن نحو الطعام</a:t>
            </a:r>
          </a:p>
        </p:txBody>
      </p:sp>
      <p:sp>
        <p:nvSpPr>
          <p:cNvPr id="13" name="!!strategy"/>
          <p:cNvSpPr/>
          <p:nvPr/>
        </p:nvSpPr>
        <p:spPr>
          <a:xfrm>
            <a:off x="8005572" y="36576"/>
            <a:ext cx="38633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الرمز السري للمختبر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6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أختبر نفسي (ص٩٨) · 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تذكّري المحاكاة: ماذا حدث لقطع الطعام الكبيرة عندما وصلت إليها الإنزيمات؟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4" name="nav_map2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chk98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أختبر نفسي (ص٩٨) · 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أستنتج: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كيف تساعد الإنزيمات العفن على هضم الطعام؟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تسرّع التفاعلات فتحلّل الطعام إلى مواد بسيطة يسهل امتصاصها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الإجابة النموذجية: تفرز الخيوط الفطرية إنزيمات تسرّع التفاعلات الكيميائية، فتحلّل الطعام إلى مواد بسيطة يسهل امتصاصها.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9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ct98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التفكير الناقد (ص٩٨)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2724080"/>
            <a:ext cx="4352544" cy="1867038"/>
          </a:xfrm>
          <a:prstGeom prst="roundRect">
            <a:avLst>
              <a:gd name="adj" fmla="val 4897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chec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797232"/>
            <a:ext cx="4206240" cy="172073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971799" y="4472247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83480" y="1234440"/>
            <a:ext cx="6675120" cy="1600200"/>
          </a:xfrm>
          <a:prstGeom prst="roundRect">
            <a:avLst>
              <a:gd name="adj" fmla="val 14285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9281160" y="1097280"/>
            <a:ext cx="2286000" cy="438912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التفكير الناقد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6360" y="1508760"/>
            <a:ext cx="6309359" cy="12801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5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كيف يمكن أن تكون الإنزيمات مهمة لنشاطات أخرى غير الهضم؟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6360" y="2971800"/>
            <a:ext cx="6309359" cy="5486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9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ناقشي مع مجموعتك… ثم اضغطي لإظهار الإجابة النموذجية</a:t>
            </a:r>
          </a:p>
        </p:txBody>
      </p:sp>
      <p:sp>
        <p:nvSpPr>
          <p:cNvPr id="12" name="revealbtn"/>
          <p:cNvSpPr/>
          <p:nvPr/>
        </p:nvSpPr>
        <p:spPr>
          <a:xfrm>
            <a:off x="6492240" y="3611880"/>
            <a:ext cx="3657600" cy="640080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إظهار الإجابة النموذجية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83480" y="4389120"/>
            <a:ext cx="6675120" cy="1783080"/>
          </a:xfrm>
          <a:prstGeom prst="roundRect">
            <a:avLst>
              <a:gd name="adj" fmla="val 12820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166360" y="4434840"/>
            <a:ext cx="6309359" cy="16916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لأنها تسرّع التفاعلات الكيميائية عمومًا، فتُعين على بناء المواد في الخلايا، والتنفس الخلوي، وإنتاج الطاقة.</a:t>
            </a:r>
          </a:p>
        </p:txBody>
      </p:sp>
      <p:sp>
        <p:nvSpPr>
          <p:cNvPr id="15" name="!!strategy"/>
          <p:cNvSpPr/>
          <p:nvPr/>
        </p:nvSpPr>
        <p:spPr>
          <a:xfrm>
            <a:off x="8577072" y="36576"/>
            <a:ext cx="3291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التفكير الناقد</a:t>
            </a:r>
          </a:p>
        </p:txBody>
      </p:sp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8" name="nav_map2">
            <a:hlinkClick action="ppaction://hlinksldjump" r:id="rId5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map3">
            <a:hlinkClick action="ppaction://hlinksldjump" r:id="rId6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الخريطة تنمو: بطاقة عفن الخبز</a:t>
            </a:r>
          </a:p>
        </p:txBody>
      </p:sp>
      <p:sp>
        <p:nvSpPr>
          <p:cNvPr id="4" name="!!mapscreen"/>
          <p:cNvSpPr/>
          <p:nvPr/>
        </p:nvSpPr>
        <p:spPr>
          <a:xfrm>
            <a:off x="411480" y="1143000"/>
            <a:ext cx="11365992" cy="5029200"/>
          </a:xfrm>
          <a:prstGeom prst="roundRect">
            <a:avLst>
              <a:gd name="adj" fmla="val 4545"/>
            </a:avLst>
          </a:prstGeom>
          <a:solidFill>
            <a:srgbClr val="FFFFFF">
              <a:alpha val="92000"/>
            </a:srgbClr>
          </a:solidFill>
          <a:ln w="19050">
            <a:solidFill>
              <a:srgbClr val="2B3A55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mapcenter"/>
          <p:cNvSpPr/>
          <p:nvPr/>
        </p:nvSpPr>
        <p:spPr>
          <a:xfrm>
            <a:off x="2651760" y="1325880"/>
            <a:ext cx="6903720" cy="777240"/>
          </a:xfrm>
          <a:prstGeom prst="roundRect">
            <a:avLst>
              <a:gd name="adj" fmla="val 49411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كيف تتكاثر المخلوقات الحية الدقيقة؟</a:t>
            </a:r>
          </a:p>
        </p:txBody>
      </p:sp>
      <p:cxnSp>
        <p:nvCxnSpPr>
          <p:cNvPr id="6" name="!!line_p"/>
          <p:cNvCxnSpPr/>
          <p:nvPr/>
        </p:nvCxnSpPr>
        <p:spPr>
          <a:xfrm>
            <a:off x="6099048" y="2103120"/>
            <a:ext cx="3707892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!!br_p">
            <a:hlinkClick action="ppaction://hlinksldjump" r:id="rId4"/>
          </p:cNvPr>
          <p:cNvSpPr/>
          <p:nvPr/>
        </p:nvSpPr>
        <p:spPr>
          <a:xfrm>
            <a:off x="832104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الطلائعيات</a:t>
            </a:r>
          </a:p>
        </p:txBody>
      </p:sp>
      <p:cxnSp>
        <p:nvCxnSpPr>
          <p:cNvPr id="8" name="!!line_f"/>
          <p:cNvCxnSpPr/>
          <p:nvPr/>
        </p:nvCxnSpPr>
        <p:spPr>
          <a:xfrm>
            <a:off x="6099048" y="2103120"/>
            <a:ext cx="4572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!!br_f">
            <a:hlinkClick action="ppaction://hlinksldjump" r:id="rId5"/>
          </p:cNvPr>
          <p:cNvSpPr/>
          <p:nvPr/>
        </p:nvSpPr>
        <p:spPr>
          <a:xfrm>
            <a:off x="461772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الفطريات</a:t>
            </a:r>
          </a:p>
        </p:txBody>
      </p:sp>
      <p:cxnSp>
        <p:nvCxnSpPr>
          <p:cNvPr id="10" name="!!line_b"/>
          <p:cNvCxnSpPr/>
          <p:nvPr/>
        </p:nvCxnSpPr>
        <p:spPr>
          <a:xfrm flipH="1">
            <a:off x="2400300" y="2103120"/>
            <a:ext cx="3698748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br_b">
            <a:hlinkClick action="ppaction://hlinksldjump" r:id="rId6"/>
          </p:cNvPr>
          <p:cNvSpPr/>
          <p:nvPr/>
        </p:nvSpPr>
        <p:spPr>
          <a:xfrm>
            <a:off x="91440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البكتيريا</a:t>
            </a:r>
          </a:p>
        </p:txBody>
      </p:sp>
      <p:sp>
        <p:nvSpPr>
          <p:cNvPr id="12" name="!!card_1_p_1"/>
          <p:cNvSpPr/>
          <p:nvPr/>
        </p:nvSpPr>
        <p:spPr>
          <a:xfrm>
            <a:off x="8321040" y="33832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 (لاجنسي)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البراميسيوم</a:t>
            </a:r>
          </a:p>
        </p:txBody>
      </p:sp>
      <p:sp>
        <p:nvSpPr>
          <p:cNvPr id="13" name="!!card_1_p_2"/>
          <p:cNvSpPr/>
          <p:nvPr/>
        </p:nvSpPr>
        <p:spPr>
          <a:xfrm>
            <a:off x="8321040" y="42976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 (جنسي)</a:t>
            </a:r>
          </a:p>
        </p:txBody>
      </p:sp>
      <p:sp>
        <p:nvSpPr>
          <p:cNvPr id="14" name="!!card_1_p_3"/>
          <p:cNvSpPr/>
          <p:nvPr/>
        </p:nvSpPr>
        <p:spPr>
          <a:xfrm>
            <a:off x="8321040" y="52120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 (البوغيات)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البلازموديوم</a:t>
            </a:r>
          </a:p>
        </p:txBody>
      </p:sp>
      <p:sp>
        <p:nvSpPr>
          <p:cNvPr id="15" name="!!card_2_f_1"/>
          <p:cNvSpPr/>
          <p:nvPr/>
        </p:nvSpPr>
        <p:spPr>
          <a:xfrm>
            <a:off x="4617720" y="33832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9D2"/>
          </a:solidFill>
          <a:ln w="3175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التبرعم (لاجنسي)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الخميرة</a:t>
            </a:r>
          </a:p>
        </p:txBody>
      </p:sp>
      <p:sp>
        <p:nvSpPr>
          <p:cNvPr id="16" name="!!card_2_f_2"/>
          <p:cNvSpPr/>
          <p:nvPr/>
        </p:nvSpPr>
        <p:spPr>
          <a:xfrm>
            <a:off x="4617720" y="42976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9D2"/>
          </a:solidFill>
          <a:ln w="3175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</a:t>
            </a:r>
          </a:p>
        </p:txBody>
      </p:sp>
      <p:sp>
        <p:nvSpPr>
          <p:cNvPr id="17" name="!!card_2_b_1"/>
          <p:cNvSpPr/>
          <p:nvPr/>
        </p:nvSpPr>
        <p:spPr>
          <a:xfrm>
            <a:off x="914400" y="33832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3EC"/>
          </a:solidFill>
          <a:ln w="31750">
            <a:solidFill>
              <a:srgbClr val="FF7AA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إي.كولاي</a:t>
            </a:r>
          </a:p>
        </p:txBody>
      </p:sp>
      <p:sp>
        <p:nvSpPr>
          <p:cNvPr id="18" name="!!card_2_b_2"/>
          <p:cNvSpPr/>
          <p:nvPr/>
        </p:nvSpPr>
        <p:spPr>
          <a:xfrm>
            <a:off x="914400" y="42976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3EC"/>
          </a:solidFill>
          <a:ln w="31750">
            <a:solidFill>
              <a:srgbClr val="FF7AA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عبر جسر بين خليتين</a:t>
            </a:r>
          </a:p>
        </p:txBody>
      </p:sp>
      <p:sp>
        <p:nvSpPr>
          <p:cNvPr id="19" name="!!card_3_f_3"/>
          <p:cNvSpPr/>
          <p:nvPr/>
        </p:nvSpPr>
        <p:spPr>
          <a:xfrm>
            <a:off x="4617720" y="52120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9D2"/>
          </a:solidFill>
          <a:ln w="3175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عفن الخبز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خيوط فطرية وإنزيمات وأبواغ</a:t>
            </a:r>
          </a:p>
        </p:txBody>
      </p:sp>
      <p:sp>
        <p:nvSpPr>
          <p:cNvPr id="20" name="!!strategy"/>
          <p:cNvSpPr/>
          <p:nvPr/>
        </p:nvSpPr>
        <p:spPr>
          <a:xfrm>
            <a:off x="8577072" y="36576"/>
            <a:ext cx="3291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خريطة المفاهيم</a:t>
            </a:r>
          </a:p>
        </p:txBody>
      </p:sp>
      <p:sp>
        <p:nvSpPr>
          <p:cNvPr id="2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</a:t>
            </a:r>
          </a:p>
        </p:txBody>
      </p:sp>
      <p:sp>
        <p:nvSpPr>
          <p:cNvPr id="23" name="nav_faith">
            <a:hlinkClick action="ppaction://hlinksldjump" r:id="rId7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ربط بالدين: نتأمل في خلق الله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15568"/>
            <a:ext cx="11091672" cy="4114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7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اضغطي على البطاقة لقلبها</a:t>
            </a:r>
          </a:p>
        </p:txBody>
      </p:sp>
      <p:sp>
        <p:nvSpPr>
          <p:cNvPr id="5" name="card0"/>
          <p:cNvSpPr/>
          <p:nvPr/>
        </p:nvSpPr>
        <p:spPr>
          <a:xfrm>
            <a:off x="6195060" y="1600200"/>
            <a:ext cx="5445252" cy="2185416"/>
          </a:xfrm>
          <a:prstGeom prst="roundRect">
            <a:avLst>
              <a:gd name="adj" fmla="val 10460"/>
            </a:avLst>
          </a:prstGeom>
          <a:solidFill>
            <a:srgbClr val="1E8E5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﴿فَلَا أُقْسِمُ بِمَا تُبْصِرُونَ ۝ وَمَا لَا تُبْصِرُونَ﴾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5060" y="1600200"/>
            <a:ext cx="544525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﴿فَلَا أُقْسِمُ بِمَا تُبْصِرُونَ ۝ وَمَا لَا تُبْصِرُونَ﴾</a:t>
            </a:r>
          </a:p>
          <a:p>
            <a:pPr algn="ct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[الحاقة: ٣٨–٣٩]</a:t>
            </a:r>
          </a:p>
          <a:p>
            <a:pPr algn="ctr" rtl="1"/>
            <a:r>
              <a:rPr sz="17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✔ من خلق الله ما لا نراه بأعيننا، كالمخلوقات الحية الدقيقة التي نراها بالمجهر.</a:t>
            </a:r>
          </a:p>
        </p:txBody>
      </p:sp>
      <p:sp>
        <p:nvSpPr>
          <p:cNvPr id="7" name="card1"/>
          <p:cNvSpPr/>
          <p:nvPr/>
        </p:nvSpPr>
        <p:spPr>
          <a:xfrm>
            <a:off x="548640" y="1600200"/>
            <a:ext cx="5445252" cy="2185416"/>
          </a:xfrm>
          <a:prstGeom prst="roundRect">
            <a:avLst>
              <a:gd name="adj" fmla="val 10460"/>
            </a:avLst>
          </a:prstGeom>
          <a:solidFill>
            <a:srgbClr val="3D86C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﴿صُنْعَ اللَّهِ الَّذِي أَتْقَنَ كُلَّ شَيْءٍ﴾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544525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3D86C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3D86C6"/>
                </a:solidFill>
                <a:latin typeface="Arial"/>
                <a:ea typeface="Arial"/>
                <a:cs typeface="Arial"/>
              </a:rPr>
              <a:t>﴿صُنْعَ اللَّهِ الَّذِي أَتْقَنَ كُلَّ شَيْءٍ﴾</a:t>
            </a:r>
          </a:p>
          <a:p>
            <a:pPr algn="ct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[النمل: ٨٨]</a:t>
            </a:r>
          </a:p>
          <a:p>
            <a:pPr algn="ctr" rtl="1"/>
            <a:r>
              <a:rPr sz="17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✔ نرى الإتقان في خلية واحدة تنقسم فتنتج مخلوقين متماثلين.</a:t>
            </a:r>
          </a:p>
        </p:txBody>
      </p:sp>
      <p:sp>
        <p:nvSpPr>
          <p:cNvPr id="9" name="card2"/>
          <p:cNvSpPr/>
          <p:nvPr/>
        </p:nvSpPr>
        <p:spPr>
          <a:xfrm>
            <a:off x="6195060" y="3986784"/>
            <a:ext cx="5445252" cy="2185416"/>
          </a:xfrm>
          <a:prstGeom prst="roundRect">
            <a:avLst>
              <a:gd name="adj" fmla="val 10460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«الطُّهُورُ شَطْرُ الإِيمَانِ»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3986784"/>
            <a:ext cx="544525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8E7CF0"/>
                </a:solidFill>
                <a:latin typeface="Arial"/>
                <a:ea typeface="Arial"/>
                <a:cs typeface="Arial"/>
              </a:rPr>
              <a:t>«الطُّهُورُ شَطْرُ الإِيمَانِ»</a:t>
            </a:r>
          </a:p>
          <a:p>
            <a:pPr algn="ct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رواه مسلم</a:t>
            </a:r>
          </a:p>
          <a:p>
            <a:pPr algn="ctr" rtl="1"/>
            <a:r>
              <a:rPr sz="17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✔ النظافة وغسل اليدين يحمياننا من المخلوقات الدقيقة الضارة.</a:t>
            </a:r>
          </a:p>
        </p:txBody>
      </p:sp>
      <p:sp>
        <p:nvSpPr>
          <p:cNvPr id="11" name="card3"/>
          <p:cNvSpPr/>
          <p:nvPr/>
        </p:nvSpPr>
        <p:spPr>
          <a:xfrm>
            <a:off x="548640" y="3986784"/>
            <a:ext cx="5445252" cy="2185416"/>
          </a:xfrm>
          <a:prstGeom prst="roundRect">
            <a:avLst>
              <a:gd name="adj" fmla="val 10460"/>
            </a:avLst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«غَطُّوا الإِنَاءَ، وَأَوْكُوا السِّقَاءَ»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86784"/>
            <a:ext cx="544525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F28C28"/>
                </a:solidFill>
                <a:latin typeface="Arial"/>
                <a:ea typeface="Arial"/>
                <a:cs typeface="Arial"/>
              </a:rPr>
              <a:t>«غَطُّوا الإِنَاءَ، وَأَوْكُوا السِّقَاءَ»</a:t>
            </a:r>
          </a:p>
          <a:p>
            <a:pPr algn="ct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رواه مسلم</a:t>
            </a:r>
          </a:p>
          <a:p>
            <a:pPr algn="ctr" rtl="1"/>
            <a:r>
              <a:rPr sz="17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✔ تغطية الطعام والشراب هدي نبوي يحفظهما من التلوث.</a:t>
            </a:r>
          </a:p>
        </p:txBody>
      </p:sp>
      <p:sp>
        <p:nvSpPr>
          <p:cNvPr id="35" name="!!strategy"/>
          <p:cNvSpPr/>
          <p:nvPr/>
        </p:nvSpPr>
        <p:spPr>
          <a:xfrm>
            <a:off x="8805672" y="36576"/>
            <a:ext cx="3063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الربط بالدين</a:t>
            </a:r>
          </a:p>
        </p:txBody>
      </p:sp>
      <p:sp>
        <p:nvSpPr>
          <p:cNvPr id="3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3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38" name="nav_map3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39" name="nav_life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" fill="hold">
                      <p:stCondLst>
                        <p:cond delay="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2" grpId="0" animBg="1"/>
    </p:bldLst>
  </p:timing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ربط بالحياة: المخلوقات الدقيقة في بيتي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15568"/>
            <a:ext cx="11091672" cy="4114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7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اضغطي على البطاقة لقلبها</a:t>
            </a:r>
          </a:p>
        </p:txBody>
      </p:sp>
      <p:sp>
        <p:nvSpPr>
          <p:cNvPr id="5" name="card0"/>
          <p:cNvSpPr/>
          <p:nvPr/>
        </p:nvSpPr>
        <p:spPr>
          <a:xfrm>
            <a:off x="807720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خبز بيتنا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7720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F28C28"/>
                </a:solidFill>
                <a:latin typeface="Arial"/>
                <a:ea typeface="Arial"/>
                <a:cs typeface="Arial"/>
              </a:rPr>
              <a:t>خبز بيتنا</a:t>
            </a:r>
          </a:p>
          <a:p>
            <a:pPr algn="ctr" rtl="1"/>
            <a:r>
              <a:rPr sz="15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✔ الخميرة تتغذى على نشا الدقيق وتكوّن فقاقيع من ثاني أكسيد الكربون فتنتفخ العجينة (ص٩٤).</a:t>
            </a:r>
          </a:p>
        </p:txBody>
      </p:sp>
      <p:sp>
        <p:nvSpPr>
          <p:cNvPr id="7" name="card1"/>
          <p:cNvSpPr/>
          <p:nvPr/>
        </p:nvSpPr>
        <p:spPr>
          <a:xfrm>
            <a:off x="431292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اللبن الرائب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292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5AA9E6"/>
                </a:solidFill>
                <a:latin typeface="Arial"/>
                <a:ea typeface="Arial"/>
                <a:cs typeface="Arial"/>
              </a:rPr>
              <a:t>اللبن الرائب</a:t>
            </a:r>
          </a:p>
          <a:p>
            <a:pPr algn="ctr" rtl="1"/>
            <a:r>
              <a:rPr sz="15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✔ تُستعمل البكتيريا العصوية لإنتاج اللبن الرائب (ص٩٥).</a:t>
            </a:r>
          </a:p>
        </p:txBody>
      </p:sp>
      <p:sp>
        <p:nvSpPr>
          <p:cNvPr id="9" name="card2"/>
          <p:cNvSpPr/>
          <p:nvPr/>
        </p:nvSpPr>
        <p:spPr>
          <a:xfrm>
            <a:off x="548639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حفظ الخبز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39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3BB59A"/>
                </a:solidFill>
                <a:latin typeface="Arial"/>
                <a:ea typeface="Arial"/>
                <a:cs typeface="Arial"/>
              </a:rPr>
              <a:t>حفظ الخبز</a:t>
            </a:r>
          </a:p>
          <a:p>
            <a:pPr algn="ctr" rtl="1"/>
            <a:r>
              <a:rPr sz="15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✔ أحفظه جافًا في كيس مغلق أو في الثلاجة؛ لأن الدفء والرطوبة يساعدان العفن على النمو.</a:t>
            </a:r>
          </a:p>
        </p:txBody>
      </p:sp>
      <p:sp>
        <p:nvSpPr>
          <p:cNvPr id="11" name="card3"/>
          <p:cNvSpPr/>
          <p:nvPr/>
        </p:nvSpPr>
        <p:spPr>
          <a:xfrm>
            <a:off x="807720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C0392B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خبز متعفّن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C0392B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C0392B"/>
                </a:solidFill>
                <a:latin typeface="Arial"/>
                <a:ea typeface="Arial"/>
                <a:cs typeface="Arial"/>
              </a:rPr>
              <a:t>خبز متعفّن</a:t>
            </a:r>
          </a:p>
          <a:p>
            <a:pPr algn="ctr" rtl="1"/>
            <a:r>
              <a:rPr sz="15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✔ لا آكله ولا أقرّبه من أنفي؛ فأبواغ العفن تنتشر في الهواء.</a:t>
            </a:r>
          </a:p>
        </p:txBody>
      </p:sp>
      <p:sp>
        <p:nvSpPr>
          <p:cNvPr id="13" name="card4"/>
          <p:cNvSpPr/>
          <p:nvPr/>
        </p:nvSpPr>
        <p:spPr>
          <a:xfrm>
            <a:off x="431292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بعد الوضوء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8E7CF0"/>
                </a:solidFill>
                <a:latin typeface="Arial"/>
                <a:ea typeface="Arial"/>
                <a:cs typeface="Arial"/>
              </a:rPr>
              <a:t>بعد الوضوء</a:t>
            </a:r>
          </a:p>
          <a:p>
            <a:pPr algn="ctr" rtl="1"/>
            <a:r>
              <a:rPr sz="15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✔ أجفف ما بين أصابعي؛ فبعض الفطريات تتكاثر في الحرارة والرطوبة وتسبب القدم الرياضي (ص٩٤).</a:t>
            </a:r>
          </a:p>
        </p:txBody>
      </p:sp>
      <p:sp>
        <p:nvSpPr>
          <p:cNvPr id="15" name="card5"/>
          <p:cNvSpPr/>
          <p:nvPr/>
        </p:nvSpPr>
        <p:spPr>
          <a:xfrm>
            <a:off x="548639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3D86C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الدواء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39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3D86C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3D86C6"/>
                </a:solidFill>
                <a:latin typeface="Arial"/>
                <a:ea typeface="Arial"/>
                <a:cs typeface="Arial"/>
              </a:rPr>
              <a:t>الدواء</a:t>
            </a:r>
          </a:p>
          <a:p>
            <a:pPr algn="ctr" rtl="1"/>
            <a:r>
              <a:rPr sz="15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✔ يُستخدم فطر البنسيليوم لصناعة الأدوية (ص٩٤)، ونأخذ الدواء بإرشاد الطبيب.</a:t>
            </a:r>
          </a:p>
        </p:txBody>
      </p:sp>
      <p:sp>
        <p:nvSpPr>
          <p:cNvPr id="51" name="!!strategy"/>
          <p:cNvSpPr/>
          <p:nvPr/>
        </p:nvSpPr>
        <p:spPr>
          <a:xfrm>
            <a:off x="8691372" y="36576"/>
            <a:ext cx="31775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الربط بالحياة</a:t>
            </a:r>
          </a:p>
        </p:txBody>
      </p:sp>
      <p:sp>
        <p:nvSpPr>
          <p:cNvPr id="5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5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54" name="nav_map3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55" name="nav_national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" fill="hold">
                      <p:stCondLst>
                        <p:cond delay="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" fill="hold">
                      <p:stCondLst>
                        <p:cond delay="0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2" grpId="0" animBg="1"/>
      <p:bldP spid="14" grpId="0" animBg="1"/>
      <p:bldP spid="16" grpId="0" animBg="1"/>
    </p:bldLst>
  </p:timing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شريحة وطنية: جهود المملكة في صحتنا وعلومنا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16952" y="1280160"/>
            <a:ext cx="4023360" cy="2286000"/>
          </a:xfrm>
          <a:prstGeom prst="roundRect">
            <a:avLst>
              <a:gd name="adj" fmla="val 10000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54112" y="1371600"/>
            <a:ext cx="3749039" cy="141732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000" b="1" i="0" lang="ar-SA">
                <a:solidFill>
                  <a:srgbClr val="1E6B3A"/>
                </a:solidFill>
                <a:latin typeface="Arial"/>
                <a:ea typeface="Arial"/>
                <a:cs typeface="Arial"/>
              </a:rPr>
              <a:t>الهيئة العامة للغذاء والدواء</a:t>
            </a:r>
          </a:p>
          <a:p>
            <a:pPr algn="r" rtl="1"/>
            <a:r>
              <a:rPr sz="16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تراقب سلامة غذائنا، ومنها المخاطر الميكروبية في الأغذية.</a:t>
            </a:r>
          </a:p>
        </p:txBody>
      </p:sp>
      <p:sp>
        <p:nvSpPr>
          <p:cNvPr id="6" name="Rounded Rectangle 5">
            <a:hlinkClick r:id="rId4"/>
          </p:cNvPr>
          <p:cNvSpPr/>
          <p:nvPr/>
        </p:nvSpPr>
        <p:spPr>
          <a:xfrm>
            <a:off x="8165592" y="2880360"/>
            <a:ext cx="2926080" cy="502920"/>
          </a:xfrm>
          <a:prstGeom prst="roundRect">
            <a:avLst>
              <a:gd name="adj" fmla="val 49090"/>
            </a:avLst>
          </a:prstGeom>
          <a:solidFill>
            <a:srgbClr val="1E8E5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زيارة الموقع: sfda.gov.sa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10711" y="1280160"/>
            <a:ext cx="4023360" cy="2286000"/>
          </a:xfrm>
          <a:prstGeom prst="roundRect">
            <a:avLst>
              <a:gd name="adj" fmla="val 10000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547871" y="1371600"/>
            <a:ext cx="3749039" cy="141732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000" b="1" i="0" lang="ar-SA">
                <a:solidFill>
                  <a:srgbClr val="1E6B3A"/>
                </a:solidFill>
                <a:latin typeface="Arial"/>
                <a:ea typeface="Arial"/>
                <a:cs typeface="Arial"/>
              </a:rPr>
              <a:t>وزارة الصحة</a:t>
            </a:r>
          </a:p>
          <a:p>
            <a:pPr algn="r" rtl="1"/>
            <a:r>
              <a:rPr sz="16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تنشر التوعية الصحية للوقاية من العدوى والأمراض.</a:t>
            </a:r>
          </a:p>
        </p:txBody>
      </p:sp>
      <p:sp>
        <p:nvSpPr>
          <p:cNvPr id="9" name="Rounded Rectangle 8">
            <a:hlinkClick r:id="rId5"/>
          </p:cNvPr>
          <p:cNvSpPr/>
          <p:nvPr/>
        </p:nvSpPr>
        <p:spPr>
          <a:xfrm>
            <a:off x="3959351" y="2880360"/>
            <a:ext cx="2926080" cy="502920"/>
          </a:xfrm>
          <a:prstGeom prst="roundRect">
            <a:avLst>
              <a:gd name="adj" fmla="val 49090"/>
            </a:avLst>
          </a:prstGeom>
          <a:solidFill>
            <a:srgbClr val="1E8E5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زيارة الموقع: moh.gov.sa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6952" y="3749039"/>
            <a:ext cx="4023360" cy="2286000"/>
          </a:xfrm>
          <a:prstGeom prst="roundRect">
            <a:avLst>
              <a:gd name="adj" fmla="val 10000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54112" y="3840479"/>
            <a:ext cx="3749039" cy="141732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000" b="1" i="0" lang="ar-SA">
                <a:solidFill>
                  <a:srgbClr val="1E6B3A"/>
                </a:solidFill>
                <a:latin typeface="Arial"/>
                <a:ea typeface="Arial"/>
                <a:cs typeface="Arial"/>
              </a:rPr>
              <a:t>كاوست · مركز أبحاث البحر الأحمر</a:t>
            </a:r>
          </a:p>
          <a:p>
            <a:pPr algn="r" rtl="1"/>
            <a:r>
              <a:rPr sz="16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علماء سعوديون يدرسون المخلوقات الحية الدقيقة في البحر الأحمر.</a:t>
            </a:r>
          </a:p>
        </p:txBody>
      </p:sp>
      <p:sp>
        <p:nvSpPr>
          <p:cNvPr id="12" name="Rounded Rectangle 11">
            <a:hlinkClick r:id="rId6"/>
          </p:cNvPr>
          <p:cNvSpPr/>
          <p:nvPr/>
        </p:nvSpPr>
        <p:spPr>
          <a:xfrm>
            <a:off x="8165592" y="5349240"/>
            <a:ext cx="2926080" cy="502920"/>
          </a:xfrm>
          <a:prstGeom prst="roundRect">
            <a:avLst>
              <a:gd name="adj" fmla="val 49090"/>
            </a:avLst>
          </a:prstGeom>
          <a:solidFill>
            <a:srgbClr val="1E8E5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زيارة الموقع: rsrc.kaust.edu.sa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10711" y="3749039"/>
            <a:ext cx="4023360" cy="2286000"/>
          </a:xfrm>
          <a:prstGeom prst="roundRect">
            <a:avLst>
              <a:gd name="adj" fmla="val 10000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547871" y="3840479"/>
            <a:ext cx="3749039" cy="141732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000" b="1" i="0" lang="ar-SA">
                <a:solidFill>
                  <a:srgbClr val="1E6B3A"/>
                </a:solidFill>
                <a:latin typeface="Arial"/>
                <a:ea typeface="Arial"/>
                <a:cs typeface="Arial"/>
              </a:rPr>
              <a:t>رؤية المملكة ٢٠٣٠</a:t>
            </a:r>
          </a:p>
          <a:p>
            <a:pPr algn="r" rtl="1"/>
            <a:r>
              <a:rPr sz="16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برنامج تحول القطاع الصحي يركّز على الوقاية وصحة المجتمع.</a:t>
            </a:r>
          </a:p>
        </p:txBody>
      </p:sp>
      <p:sp>
        <p:nvSpPr>
          <p:cNvPr id="15" name="Rounded Rectangle 14">
            <a:hlinkClick r:id="rId7"/>
          </p:cNvPr>
          <p:cNvSpPr/>
          <p:nvPr/>
        </p:nvSpPr>
        <p:spPr>
          <a:xfrm>
            <a:off x="3959351" y="5349240"/>
            <a:ext cx="2926080" cy="502920"/>
          </a:xfrm>
          <a:prstGeom prst="roundRect">
            <a:avLst>
              <a:gd name="adj" fmla="val 49090"/>
            </a:avLst>
          </a:prstGeom>
          <a:solidFill>
            <a:srgbClr val="1E8E5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زيارة الموقع: vision2030.gov.sa</a:t>
            </a:r>
          </a:p>
        </p:txBody>
      </p:sp>
      <p:pic>
        <p:nvPicPr>
          <p:cNvPr id="16" name="!!guide" descr="guide_che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2103120"/>
            <a:ext cx="2435426" cy="3840480"/>
          </a:xfrm>
          <a:prstGeom prst="rect">
            <a:avLst/>
          </a:prstGeom>
        </p:spPr>
      </p:pic>
      <p:sp>
        <p:nvSpPr>
          <p:cNvPr id="17" name="bubble"/>
          <p:cNvSpPr/>
          <p:nvPr/>
        </p:nvSpPr>
        <p:spPr>
          <a:xfrm>
            <a:off x="320040" y="1188720"/>
            <a:ext cx="2926080" cy="868680"/>
          </a:xfrm>
          <a:prstGeom prst="wedgeRoundRectCallout">
            <a:avLst>
              <a:gd name="adj1" fmla="val 10000"/>
              <a:gd name="adj2" fmla="val 95000"/>
              <a:gd name="adj3" fmla="val 16667"/>
            </a:avLst>
          </a:prstGeom>
          <a:solidFill>
            <a:srgbClr val="FFFFFF"/>
          </a:solidFill>
          <a:ln w="3175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وطني يرعى العلم وصحة الإنسان </a:t>
            </a:r>
            <a:r>
              <a:rPr sz="1700" b="0" i="0" lang="ar-SA">
                <a:solidFill>
                  <a:srgbClr val="2B3A55"/>
                </a:solidFill>
                <a:latin typeface="Segoe UI Emoji"/>
                <a:ea typeface="Segoe UI Emoji"/>
                <a:cs typeface="Segoe UI Emoji"/>
              </a:rPr>
              <a:t>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5897880"/>
            <a:ext cx="3108960" cy="3657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2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الروابط تحتاج إلى اتصال بالإنترنت</a:t>
            </a:r>
          </a:p>
        </p:txBody>
      </p:sp>
      <p:sp>
        <p:nvSpPr>
          <p:cNvPr id="19" name="!!strategy"/>
          <p:cNvSpPr/>
          <p:nvPr/>
        </p:nvSpPr>
        <p:spPr>
          <a:xfrm>
            <a:off x="8805672" y="36576"/>
            <a:ext cx="3063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الربط الوطني</a:t>
            </a:r>
          </a:p>
        </p:txBody>
      </p:sp>
      <p:sp>
        <p:nvSpPr>
          <p:cNvPr id="2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22" name="nav_map3">
            <a:hlinkClick action="ppaction://hlinksldjump" r:id="rId9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3" name="nav_vocab">
            <a:hlinkClick action="ppaction://hlinksldjump" r:id="rId10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بطاقات المفردات: درسنا الجديد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15568"/>
            <a:ext cx="11091672" cy="4114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7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اضغطي على البطاقة لقلبها</a:t>
            </a:r>
          </a:p>
        </p:txBody>
      </p:sp>
      <p:sp>
        <p:nvSpPr>
          <p:cNvPr id="5" name="card0"/>
          <p:cNvSpPr/>
          <p:nvPr/>
        </p:nvSpPr>
        <p:spPr>
          <a:xfrm>
            <a:off x="807720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7720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3BB59A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تكاثر لاجنسي ينقسم فيه المخلوق الحي إلى مخلوقين جديدين متماثلين.</a:t>
            </a:r>
          </a:p>
        </p:txBody>
      </p:sp>
      <p:sp>
        <p:nvSpPr>
          <p:cNvPr id="7" name="card1"/>
          <p:cNvSpPr/>
          <p:nvPr/>
        </p:nvSpPr>
        <p:spPr>
          <a:xfrm>
            <a:off x="431292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الاقتران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292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8E7CF0"/>
                </a:solidFill>
                <a:latin typeface="Arial"/>
                <a:ea typeface="Arial"/>
                <a:cs typeface="Arial"/>
              </a:rPr>
              <a:t>الاقتران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عملية جنسية تلتحم فيها المخلوقات وتتبادل المادة الوراثية.</a:t>
            </a:r>
          </a:p>
        </p:txBody>
      </p:sp>
      <p:sp>
        <p:nvSpPr>
          <p:cNvPr id="9" name="card2"/>
          <p:cNvSpPr/>
          <p:nvPr/>
        </p:nvSpPr>
        <p:spPr>
          <a:xfrm>
            <a:off x="548639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التبرعم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39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F28C28"/>
                </a:solidFill>
                <a:latin typeface="Arial"/>
                <a:ea typeface="Arial"/>
                <a:cs typeface="Arial"/>
              </a:rPr>
              <a:t>التبرعم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تكاثر لاجنسي يتكوّن فيه برعم بنمو بروز صغير على الخلية الأم ثم ينفصل.</a:t>
            </a:r>
          </a:p>
        </p:txBody>
      </p:sp>
      <p:sp>
        <p:nvSpPr>
          <p:cNvPr id="11" name="card3"/>
          <p:cNvSpPr/>
          <p:nvPr/>
        </p:nvSpPr>
        <p:spPr>
          <a:xfrm>
            <a:off x="807720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الأبواغ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5AA9E6"/>
                </a:solidFill>
                <a:latin typeface="Arial"/>
                <a:ea typeface="Arial"/>
                <a:cs typeface="Arial"/>
              </a:rPr>
              <a:t>الأبواغ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تحتوي على المادة الوراثية داخل غشاء يحميها، وتنمو في بيئة مناسبة.</a:t>
            </a:r>
          </a:p>
        </p:txBody>
      </p:sp>
      <p:sp>
        <p:nvSpPr>
          <p:cNvPr id="13" name="card4"/>
          <p:cNvSpPr/>
          <p:nvPr/>
        </p:nvSpPr>
        <p:spPr>
          <a:xfrm>
            <a:off x="431292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3D86C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الخيوط الفطرية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3D86C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3D86C6"/>
                </a:solidFill>
                <a:latin typeface="Arial"/>
                <a:ea typeface="Arial"/>
                <a:cs typeface="Arial"/>
              </a:rPr>
              <a:t>الخيوط الفطرية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خيوط دقيقة يتركب منها عفن الخبز، تشبه جذور النبات.</a:t>
            </a:r>
          </a:p>
        </p:txBody>
      </p:sp>
      <p:sp>
        <p:nvSpPr>
          <p:cNvPr id="15" name="card5"/>
          <p:cNvSpPr/>
          <p:nvPr/>
        </p:nvSpPr>
        <p:spPr>
          <a:xfrm>
            <a:off x="548639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الإنزيمات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39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FF7AA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FF7AA2"/>
                </a:solidFill>
                <a:latin typeface="Arial"/>
                <a:ea typeface="Arial"/>
                <a:cs typeface="Arial"/>
              </a:rPr>
              <a:t>الإنزيمات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بروتينات تسرّع حدوث التفاعلات الكيميائية.</a:t>
            </a:r>
          </a:p>
        </p:txBody>
      </p:sp>
      <p:sp>
        <p:nvSpPr>
          <p:cNvPr id="51" name="!!strategy"/>
          <p:cNvSpPr/>
          <p:nvPr/>
        </p:nvSpPr>
        <p:spPr>
          <a:xfrm>
            <a:off x="8462772" y="36576"/>
            <a:ext cx="34061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بطاقات المفردات</a:t>
            </a:r>
          </a:p>
        </p:txBody>
      </p:sp>
      <p:sp>
        <p:nvSpPr>
          <p:cNvPr id="5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5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54" name="nav_map3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55" name="nav_final0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" fill="hold">
                      <p:stCondLst>
                        <p:cond delay="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" fill="hold">
                      <p:stCondLst>
                        <p:cond delay="0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2" grpId="0" animBg="1"/>
      <p:bldP spid="14" grpId="0" animBg="1"/>
      <p:bldP spid="16" grpId="0" animBg="1"/>
    </p:bldLst>
  </p:timing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Segoe UI Emoji"/>
                <a:ea typeface="Segoe UI Emoji"/>
                <a:cs typeface="Segoe UI Emoji"/>
              </a:rPr>
              <a:t>🏆</a:t>
            </a:r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 تحدي العالمة الصغيرة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09759" y="3383280"/>
            <a:ext cx="2103120" cy="914400"/>
          </a:xfrm>
          <a:prstGeom prst="roundRect">
            <a:avLst>
              <a:gd name="adj" fmla="val 20000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6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أتذكر</a:t>
            </a:r>
          </a:p>
        </p:txBody>
      </p:sp>
      <p:pic>
        <p:nvPicPr>
          <p:cNvPr id="5" name="Picture 4" descr="ic_st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9567" y="2697480"/>
            <a:ext cx="594360" cy="5943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223759" y="2880360"/>
            <a:ext cx="2103120" cy="1417320"/>
          </a:xfrm>
          <a:prstGeom prst="roundRect">
            <a:avLst>
              <a:gd name="adj" fmla="val 12903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6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أفهم</a:t>
            </a:r>
          </a:p>
        </p:txBody>
      </p:sp>
      <p:pic>
        <p:nvPicPr>
          <p:cNvPr id="7" name="Picture 6" descr="ic_st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3567" y="2194560"/>
            <a:ext cx="594360" cy="5943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937759" y="2377440"/>
            <a:ext cx="2103120" cy="1920240"/>
          </a:xfrm>
          <a:prstGeom prst="roundRect">
            <a:avLst>
              <a:gd name="adj" fmla="val 9523"/>
            </a:avLst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6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أطبق</a:t>
            </a:r>
          </a:p>
        </p:txBody>
      </p:sp>
      <p:pic>
        <p:nvPicPr>
          <p:cNvPr id="9" name="Picture 8" descr="ic_st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7568" y="1691640"/>
            <a:ext cx="594360" cy="59436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2651760" y="1874519"/>
            <a:ext cx="2103120" cy="2423160"/>
          </a:xfrm>
          <a:prstGeom prst="roundRect">
            <a:avLst>
              <a:gd name="adj" fmla="val 8695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6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أستنتج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1568" y="1188720"/>
            <a:ext cx="594360" cy="594360"/>
          </a:xfrm>
          <a:prstGeom prst="rect">
            <a:avLst/>
          </a:prstGeom>
        </p:spPr>
      </p:pic>
      <p:pic>
        <p:nvPicPr>
          <p:cNvPr id="12" name="!!guide" descr="guide_che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2011680"/>
            <a:ext cx="2319454" cy="3657600"/>
          </a:xfrm>
          <a:prstGeom prst="rect">
            <a:avLst/>
          </a:prstGeom>
        </p:spPr>
      </p:pic>
      <p:sp>
        <p:nvSpPr>
          <p:cNvPr id="51" name="!!strategy"/>
          <p:cNvSpPr/>
          <p:nvPr/>
        </p:nvSpPr>
        <p:spPr>
          <a:xfrm>
            <a:off x="5833872" y="36576"/>
            <a:ext cx="60350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تحدي العالمة الصغيرة (التقويم الختامي)</a:t>
            </a:r>
          </a:p>
        </p:txBody>
      </p:sp>
      <p:sp>
        <p:nvSpPr>
          <p:cNvPr id="5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5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54" name="nav_f1">
            <a:hlinkClick action="ppaction://hlinksldjump" r:id="rId6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8" grpId="0" animBg="1"/>
      <p:bldP spid="10" grpId="0" animBg="1"/>
    </p:bldLst>
  </p:timing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١: أتذكر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طريقة تكاثر معظم الطلائعيات؟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التبرعم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 فقط</a:t>
            </a:r>
          </a:p>
        </p:txBody>
      </p:sp>
      <p:sp>
        <p:nvSpPr>
          <p:cNvPr id="9" name="!!strategy"/>
          <p:cNvSpPr/>
          <p:nvPr/>
        </p:nvSpPr>
        <p:spPr>
          <a:xfrm>
            <a:off x="5833872" y="36576"/>
            <a:ext cx="60350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تحدي العالمة الصغيرة (التقويم الختامي)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2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١: أتذكر</a:t>
            </a:r>
          </a:p>
        </p:txBody>
      </p:sp>
      <p:pic>
        <p:nvPicPr>
          <p:cNvPr id="4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ارجعي إلى أول جملة في فقرة الطلائعيات ص٩٦.</a:t>
            </a:r>
          </a:p>
        </p:txBody>
      </p:sp>
      <p:sp>
        <p:nvSpPr>
          <p:cNvPr id="9" name="Rounded Rectangle 8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0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3" name="nav_map3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f1_try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١: أتذكر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طريقة تكاثر معظم الطلائعيات؟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التبرعم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 فقط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0" name="!!strategy"/>
          <p:cNvSpPr/>
          <p:nvPr/>
        </p:nvSpPr>
        <p:spPr>
          <a:xfrm>
            <a:off x="5833872" y="36576"/>
            <a:ext cx="60350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تحدي العالمة الصغيرة (التقويم الختامي)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3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9768" y="2159115"/>
            <a:ext cx="5266944" cy="2996969"/>
          </a:xfrm>
          <a:prstGeom prst="roundRect">
            <a:avLst>
              <a:gd name="adj" fmla="val 3051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p96_protist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232267"/>
            <a:ext cx="5120640" cy="285066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86200" y="5037212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«تتكاثر معظم الطلائعيات بالانشطار الثنائي».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راجعي الصورة، ثم جربي السؤال المشابه.</a:t>
            </a:r>
          </a:p>
        </p:txBody>
      </p:sp>
      <p:sp>
        <p:nvSpPr>
          <p:cNvPr id="9" name="Rounded Rectangle 8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0" name="!!strategy"/>
          <p:cNvSpPr/>
          <p:nvPr/>
        </p:nvSpPr>
        <p:spPr>
          <a:xfrm>
            <a:off x="7891272" y="36576"/>
            <a:ext cx="39776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المعالجة: نشاط علاجي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3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١: أتذكر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بأي طريقة يتكاثر البراميسيوم عادة؟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التبرعم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محافظ الأبواغ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0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إعادة التحقق: سؤال مشابه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3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١: أتذكر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طريقة تكاثر معظم الطلائعيات؟</a:t>
            </a:r>
          </a:p>
        </p:txBody>
      </p:sp>
      <p:sp>
        <p:nvSpPr>
          <p:cNvPr id="6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</p:txBody>
      </p:sp>
      <p:pic>
        <p:nvPicPr>
          <p:cNvPr id="7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«تتكاثر معظم الطلائعيات بالانشطار الثنائي».</a:t>
            </a:r>
          </a:p>
        </p:txBody>
      </p:sp>
      <p:pic>
        <p:nvPicPr>
          <p:cNvPr id="10" name="Picture 9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9" name="nav_map3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f2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٢: أفهم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لماذا يُعد الاقتران عملية جنسية؟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 المخلوقات تتبادل فيه المادة الوراثية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 المخلوق ينقسم إلى اثنين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 البرعم ينفصل عن الخلية الأم</a:t>
            </a:r>
          </a:p>
        </p:txBody>
      </p:sp>
      <p:sp>
        <p:nvSpPr>
          <p:cNvPr id="9" name="!!strategy"/>
          <p:cNvSpPr/>
          <p:nvPr/>
        </p:nvSpPr>
        <p:spPr>
          <a:xfrm>
            <a:off x="5833872" y="36576"/>
            <a:ext cx="60350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تحدي العالمة الصغيرة (التقويم الختامي)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2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٢: أفهم</a:t>
            </a:r>
          </a:p>
        </p:txBody>
      </p:sp>
      <p:pic>
        <p:nvPicPr>
          <p:cNvPr id="4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ماذا يحدث للمادة الوراثية في الاقتران؟</a:t>
            </a:r>
          </a:p>
        </p:txBody>
      </p:sp>
      <p:sp>
        <p:nvSpPr>
          <p:cNvPr id="9" name="Rounded Rectangle 8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0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3" name="nav_map3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f2_try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٢: أفهم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لماذا يُعد الاقتران عملية جنسية؟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 المخلوقات تتبادل فيه المادة الوراثية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 المخلوق ينقسم إلى اثنين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 البرعم ينفصل عن الخلية الأم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0" name="!!strategy"/>
          <p:cNvSpPr/>
          <p:nvPr/>
        </p:nvSpPr>
        <p:spPr>
          <a:xfrm>
            <a:off x="5833872" y="36576"/>
            <a:ext cx="60350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تحدي العالمة الصغيرة (التقويم الختامي)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3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9768" y="2820675"/>
            <a:ext cx="5266944" cy="1673849"/>
          </a:xfrm>
          <a:prstGeom prst="roundRect">
            <a:avLst>
              <a:gd name="adj" fmla="val 5462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p96_conj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893827"/>
            <a:ext cx="5120640" cy="1527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86200" y="4375652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في الاقتران تلتحم المخلوقات وتتبادل المادة الوراثية؛ لذا هو عملية جنسية.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راجعي الصورة، ثم جربي السؤال المشابه.</a:t>
            </a:r>
          </a:p>
        </p:txBody>
      </p:sp>
      <p:sp>
        <p:nvSpPr>
          <p:cNvPr id="9" name="Rounded Rectangle 8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0" name="!!strategy"/>
          <p:cNvSpPr/>
          <p:nvPr/>
        </p:nvSpPr>
        <p:spPr>
          <a:xfrm>
            <a:off x="7891272" y="36576"/>
            <a:ext cx="39776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المعالجة: نشاط علاجي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3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٢: أفهم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الذي يحدث في الاقتران ولا يحدث في الانشطار الثنائي؟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تبادل المادة الوراثية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انقسام الخلية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تضاعف المادة الوراثية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0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إعادة التحقق: سؤال مشابه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3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٢: أفهم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لماذا يُعد الاقتران عملية جنسية؟</a:t>
            </a:r>
          </a:p>
        </p:txBody>
      </p:sp>
      <p:sp>
        <p:nvSpPr>
          <p:cNvPr id="6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لأن المخلوقات تتبادل فيه المادة الوراثية</a:t>
            </a:r>
          </a:p>
        </p:txBody>
      </p:sp>
      <p:pic>
        <p:nvPicPr>
          <p:cNvPr id="7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في الاقتران تلتحم المخلوقات وتتبادل المادة الوراثية؛ لذا هو عملية جنسية.</a:t>
            </a:r>
          </a:p>
        </p:txBody>
      </p:sp>
      <p:pic>
        <p:nvPicPr>
          <p:cNvPr id="10" name="Picture 9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9" name="nav_map3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f3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٣: أطبق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وضعت خبّازة عجينًا فيه خميرة في مكان دافئ، فزادت خلايا الخميرة. كيف تكاثرت؟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التبرعم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</p:txBody>
      </p:sp>
      <p:sp>
        <p:nvSpPr>
          <p:cNvPr id="9" name="!!strategy"/>
          <p:cNvSpPr/>
          <p:nvPr/>
        </p:nvSpPr>
        <p:spPr>
          <a:xfrm>
            <a:off x="5833872" y="36576"/>
            <a:ext cx="60350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تحدي العالمة الصغيرة (التقويم الختامي)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2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٣: أطبق</a:t>
            </a:r>
          </a:p>
        </p:txBody>
      </p:sp>
      <p:pic>
        <p:nvPicPr>
          <p:cNvPr id="4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تذكّري صورة الخميرة في الكتاب: خلايا صغيرة تبرز من الخلايا الكبيرة.</a:t>
            </a:r>
          </a:p>
        </p:txBody>
      </p:sp>
      <p:sp>
        <p:nvSpPr>
          <p:cNvPr id="9" name="Rounded Rectangle 8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0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3" name="nav_map3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f3_try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٣: أطبق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وضعت خبّازة عجينًا فيه خميرة في مكان دافئ، فزادت خلايا الخميرة. كيف تكاثرت؟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التبرعم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0" name="!!strategy"/>
          <p:cNvSpPr/>
          <p:nvPr/>
        </p:nvSpPr>
        <p:spPr>
          <a:xfrm>
            <a:off x="5833872" y="36576"/>
            <a:ext cx="60350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تحدي العالمة الصغيرة (التقويم الختامي)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3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8841" y="1161288"/>
            <a:ext cx="3928797" cy="4992624"/>
          </a:xfrm>
          <a:prstGeom prst="roundRect">
            <a:avLst>
              <a:gd name="adj" fmla="val 2327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p97_yeas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1993" y="1234440"/>
            <a:ext cx="3782493" cy="48463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217126" y="60350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تتكاثر الخميرة لاجنسيًا بالتبرعم: بروز صغير ينمو على الخلية الأم ثم ينفصل.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راجعي الصورة، ثم جربي السؤال المشابه.</a:t>
            </a:r>
          </a:p>
        </p:txBody>
      </p:sp>
      <p:sp>
        <p:nvSpPr>
          <p:cNvPr id="9" name="Rounded Rectangle 8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0" name="!!strategy"/>
          <p:cNvSpPr/>
          <p:nvPr/>
        </p:nvSpPr>
        <p:spPr>
          <a:xfrm>
            <a:off x="7891272" y="36576"/>
            <a:ext cx="39776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المعالجة: نشاط علاجي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3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٣: أطبق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الذي يتكوّن على خلية الخميرة الأم في التبرعم؟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بروز صغير (برعم)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جسر بين خليتين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محفظة أبواغ سوداء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0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إعادة التحقق: سؤال مشابه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3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٣: أطبق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وضعت خبّازة عجينًا فيه خميرة في مكان دافئ، فزادت خلايا الخميرة. كيف تكاثرت؟</a:t>
            </a:r>
          </a:p>
        </p:txBody>
      </p:sp>
      <p:sp>
        <p:nvSpPr>
          <p:cNvPr id="6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التبرعم</a:t>
            </a:r>
          </a:p>
        </p:txBody>
      </p:sp>
      <p:pic>
        <p:nvPicPr>
          <p:cNvPr id="7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تتكاثر الخميرة لاجنسيًا بالتبرعم: بروز صغير ينمو على الخلية الأم ثم ينفصل.</a:t>
            </a:r>
          </a:p>
        </p:txBody>
      </p:sp>
      <p:pic>
        <p:nvPicPr>
          <p:cNvPr id="10" name="Picture 9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9" name="nav_map3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f4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٤: أستنتج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نما عفن على خبز سارة في مكان دافئ رطب، مع أن أحدًا لم يضعه عليه. ما التفسير؟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أبواغ في الهواء سقطت على الخبز فنمت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الخبز تحوّل وحده إلى عفن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الرطوبة وحدها صنعت العفن</a:t>
            </a:r>
          </a:p>
        </p:txBody>
      </p:sp>
      <p:sp>
        <p:nvSpPr>
          <p:cNvPr id="9" name="!!strategy"/>
          <p:cNvSpPr/>
          <p:nvPr/>
        </p:nvSpPr>
        <p:spPr>
          <a:xfrm>
            <a:off x="5833872" y="36576"/>
            <a:ext cx="60350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تحدي العالمة الصغيرة (التقويم الختامي)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2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٤: أستنتج</a:t>
            </a:r>
          </a:p>
        </p:txBody>
      </p:sp>
      <p:pic>
        <p:nvPicPr>
          <p:cNvPr id="4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تذكّري نتيجة الخطوة الخامسة في نشاط نمو العفن.</a:t>
            </a:r>
          </a:p>
        </p:txBody>
      </p:sp>
      <p:sp>
        <p:nvSpPr>
          <p:cNvPr id="9" name="Rounded Rectangle 8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0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3" name="nav_map3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f4_try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٤: أستنتج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نما عفن على خبز سارة في مكان دافئ رطب، مع أن أحدًا لم يضعه عليه. ما التفسير؟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أبواغ في الهواء سقطت على الخبز فنمت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الخبز تحوّل وحده إلى عفن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الرطوبة وحدها صنعت العفن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0" name="!!strategy"/>
          <p:cNvSpPr/>
          <p:nvPr/>
        </p:nvSpPr>
        <p:spPr>
          <a:xfrm>
            <a:off x="5833872" y="36576"/>
            <a:ext cx="60350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تحدي العالمة الصغيرة (التقويم الختامي)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3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37079" y="1161288"/>
            <a:ext cx="3452320" cy="4992624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p98_tex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0231" y="1234440"/>
            <a:ext cx="3306016" cy="48463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978888" y="60350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أبواغ العفن صغيرة جدًا ومنتشرة في الهواء، فإذا سقطت في بيئة مناسبة (دافئة رطبة) نمت.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راجعي الصورة، ثم جربي السؤال المشابه.</a:t>
            </a:r>
          </a:p>
        </p:txBody>
      </p:sp>
      <p:sp>
        <p:nvSpPr>
          <p:cNvPr id="9" name="Rounded Rectangle 8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0" name="!!strategy"/>
          <p:cNvSpPr/>
          <p:nvPr/>
        </p:nvSpPr>
        <p:spPr>
          <a:xfrm>
            <a:off x="7891272" y="36576"/>
            <a:ext cx="39776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المعالجة: نشاط علاجي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3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٤: أستنتج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الذي يحتاج إليه بوغ العفن لينمو على الخبز؟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بيئة دافئة رطبة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ضوء شمس قوي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برودة شديدة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0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إعادة التحقق: سؤال مشابه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3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٤: أستنتج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نما عفن على خبز سارة في مكان دافئ رطب، مع أن أحدًا لم يضعه عليه. ما التفسير؟</a:t>
            </a:r>
          </a:p>
        </p:txBody>
      </p:sp>
      <p:sp>
        <p:nvSpPr>
          <p:cNvPr id="6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أبواغ في الهواء سقطت على الخبز فنمت</a:t>
            </a:r>
          </a:p>
        </p:txBody>
      </p:sp>
      <p:pic>
        <p:nvPicPr>
          <p:cNvPr id="7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أبواغ العفن صغيرة جدًا ومنتشرة في الهواء، فإذا سقطت في بيئة مناسبة (دافئة رطبة) نمت.</a:t>
            </a:r>
          </a:p>
        </p:txBody>
      </p:sp>
      <p:pic>
        <p:nvPicPr>
          <p:cNvPr id="10" name="Picture 9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9" name="nav_map3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map4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خريطة المفاهيم المكتملة</a:t>
            </a:r>
          </a:p>
        </p:txBody>
      </p:sp>
      <p:sp>
        <p:nvSpPr>
          <p:cNvPr id="4" name="!!mapscreen"/>
          <p:cNvSpPr/>
          <p:nvPr/>
        </p:nvSpPr>
        <p:spPr>
          <a:xfrm>
            <a:off x="411480" y="1143000"/>
            <a:ext cx="11365992" cy="5029200"/>
          </a:xfrm>
          <a:prstGeom prst="roundRect">
            <a:avLst>
              <a:gd name="adj" fmla="val 4545"/>
            </a:avLst>
          </a:prstGeom>
          <a:solidFill>
            <a:srgbClr val="FFFFFF">
              <a:alpha val="92000"/>
            </a:srgbClr>
          </a:solidFill>
          <a:ln w="19050">
            <a:solidFill>
              <a:srgbClr val="2B3A55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mapcenter"/>
          <p:cNvSpPr/>
          <p:nvPr/>
        </p:nvSpPr>
        <p:spPr>
          <a:xfrm>
            <a:off x="2651760" y="1325880"/>
            <a:ext cx="6903720" cy="777240"/>
          </a:xfrm>
          <a:prstGeom prst="roundRect">
            <a:avLst>
              <a:gd name="adj" fmla="val 49411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كيف تتكاثر المخلوقات الحية الدقيقة؟</a:t>
            </a:r>
          </a:p>
        </p:txBody>
      </p:sp>
      <p:cxnSp>
        <p:nvCxnSpPr>
          <p:cNvPr id="6" name="!!line_p"/>
          <p:cNvCxnSpPr/>
          <p:nvPr/>
        </p:nvCxnSpPr>
        <p:spPr>
          <a:xfrm>
            <a:off x="6099048" y="2103120"/>
            <a:ext cx="3707892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!!br_p">
            <a:hlinkClick action="ppaction://hlinksldjump" r:id="rId4"/>
          </p:cNvPr>
          <p:cNvSpPr/>
          <p:nvPr/>
        </p:nvSpPr>
        <p:spPr>
          <a:xfrm>
            <a:off x="832104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الطلائعيات</a:t>
            </a:r>
          </a:p>
        </p:txBody>
      </p:sp>
      <p:cxnSp>
        <p:nvCxnSpPr>
          <p:cNvPr id="8" name="!!line_f"/>
          <p:cNvCxnSpPr/>
          <p:nvPr/>
        </p:nvCxnSpPr>
        <p:spPr>
          <a:xfrm>
            <a:off x="6099048" y="2103120"/>
            <a:ext cx="4572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!!br_f">
            <a:hlinkClick action="ppaction://hlinksldjump" r:id="rId5"/>
          </p:cNvPr>
          <p:cNvSpPr/>
          <p:nvPr/>
        </p:nvSpPr>
        <p:spPr>
          <a:xfrm>
            <a:off x="461772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الفطريات</a:t>
            </a:r>
          </a:p>
        </p:txBody>
      </p:sp>
      <p:cxnSp>
        <p:nvCxnSpPr>
          <p:cNvPr id="10" name="!!line_b"/>
          <p:cNvCxnSpPr/>
          <p:nvPr/>
        </p:nvCxnSpPr>
        <p:spPr>
          <a:xfrm flipH="1">
            <a:off x="2400300" y="2103120"/>
            <a:ext cx="3698748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br_b">
            <a:hlinkClick action="ppaction://hlinksldjump" r:id="rId6"/>
          </p:cNvPr>
          <p:cNvSpPr/>
          <p:nvPr/>
        </p:nvSpPr>
        <p:spPr>
          <a:xfrm>
            <a:off x="91440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البكتيريا</a:t>
            </a:r>
          </a:p>
        </p:txBody>
      </p:sp>
      <p:sp>
        <p:nvSpPr>
          <p:cNvPr id="12" name="!!card_1_p_1"/>
          <p:cNvSpPr/>
          <p:nvPr/>
        </p:nvSpPr>
        <p:spPr>
          <a:xfrm>
            <a:off x="8321040" y="33832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 (لاجنسي)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البراميسيوم</a:t>
            </a:r>
          </a:p>
        </p:txBody>
      </p:sp>
      <p:sp>
        <p:nvSpPr>
          <p:cNvPr id="13" name="!!card_1_p_2"/>
          <p:cNvSpPr/>
          <p:nvPr/>
        </p:nvSpPr>
        <p:spPr>
          <a:xfrm>
            <a:off x="8321040" y="42976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 (جنسي)</a:t>
            </a:r>
          </a:p>
        </p:txBody>
      </p:sp>
      <p:sp>
        <p:nvSpPr>
          <p:cNvPr id="14" name="!!card_1_p_3"/>
          <p:cNvSpPr/>
          <p:nvPr/>
        </p:nvSpPr>
        <p:spPr>
          <a:xfrm>
            <a:off x="8321040" y="52120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 (البوغيات)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البلازموديوم</a:t>
            </a:r>
          </a:p>
        </p:txBody>
      </p:sp>
      <p:sp>
        <p:nvSpPr>
          <p:cNvPr id="15" name="!!card_2_f_1"/>
          <p:cNvSpPr/>
          <p:nvPr/>
        </p:nvSpPr>
        <p:spPr>
          <a:xfrm>
            <a:off x="4617720" y="33832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9D2"/>
          </a:solidFill>
          <a:ln w="3175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التبرعم (لاجنسي)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الخميرة</a:t>
            </a:r>
          </a:p>
        </p:txBody>
      </p:sp>
      <p:sp>
        <p:nvSpPr>
          <p:cNvPr id="16" name="!!card_2_f_2"/>
          <p:cNvSpPr/>
          <p:nvPr/>
        </p:nvSpPr>
        <p:spPr>
          <a:xfrm>
            <a:off x="4617720" y="42976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9D2"/>
          </a:solidFill>
          <a:ln w="3175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</a:t>
            </a:r>
          </a:p>
        </p:txBody>
      </p:sp>
      <p:sp>
        <p:nvSpPr>
          <p:cNvPr id="17" name="!!card_2_b_1"/>
          <p:cNvSpPr/>
          <p:nvPr/>
        </p:nvSpPr>
        <p:spPr>
          <a:xfrm>
            <a:off x="914400" y="33832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3EC"/>
          </a:solidFill>
          <a:ln w="31750">
            <a:solidFill>
              <a:srgbClr val="FF7AA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إي.كولاي</a:t>
            </a:r>
          </a:p>
        </p:txBody>
      </p:sp>
      <p:sp>
        <p:nvSpPr>
          <p:cNvPr id="18" name="!!card_2_b_2"/>
          <p:cNvSpPr/>
          <p:nvPr/>
        </p:nvSpPr>
        <p:spPr>
          <a:xfrm>
            <a:off x="914400" y="42976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3EC"/>
          </a:solidFill>
          <a:ln w="31750">
            <a:solidFill>
              <a:srgbClr val="FF7AA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عبر جسر بين خليتين</a:t>
            </a:r>
          </a:p>
        </p:txBody>
      </p:sp>
      <p:sp>
        <p:nvSpPr>
          <p:cNvPr id="19" name="!!card_3_f_3"/>
          <p:cNvSpPr/>
          <p:nvPr/>
        </p:nvSpPr>
        <p:spPr>
          <a:xfrm>
            <a:off x="4617720" y="52120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9D2"/>
          </a:solidFill>
          <a:ln w="3175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عفن الخبز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خيوط فطرية وإنزيمات وأبواغ</a:t>
            </a:r>
          </a:p>
        </p:txBody>
      </p:sp>
      <p:sp>
        <p:nvSpPr>
          <p:cNvPr id="20" name="!!strategy"/>
          <p:cNvSpPr/>
          <p:nvPr/>
        </p:nvSpPr>
        <p:spPr>
          <a:xfrm>
            <a:off x="8577072" y="36576"/>
            <a:ext cx="3291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خريطة المفاهيم</a:t>
            </a:r>
          </a:p>
        </p:txBody>
      </p:sp>
      <p:sp>
        <p:nvSpPr>
          <p:cNvPr id="2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23" name="nav_blank">
            <a:hlinkClick action="ppaction://hlinksldjump" r:id="rId7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ختامي: أكملي الفراغات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94760" y="1234440"/>
            <a:ext cx="7863840" cy="841248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540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١) تتكاثر معظم الطلائعيات بـ …………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07592"/>
            <a:ext cx="3108960" cy="694944"/>
          </a:xfrm>
          <a:prstGeom prst="roundRect">
            <a:avLst>
              <a:gd name="adj" fmla="val 50000"/>
            </a:avLst>
          </a:prstGeom>
          <a:solidFill>
            <a:srgbClr val="E2F7E9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94760" y="2221992"/>
            <a:ext cx="7863840" cy="841248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540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٢) تتكاثر الخميرة لاجنسيًا بـ …………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95144"/>
            <a:ext cx="3108960" cy="694944"/>
          </a:xfrm>
          <a:prstGeom prst="roundRect">
            <a:avLst>
              <a:gd name="adj" fmla="val 50000"/>
            </a:avLst>
          </a:prstGeom>
          <a:solidFill>
            <a:srgbClr val="E2F7E9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التبرعم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94760" y="3209544"/>
            <a:ext cx="7863840" cy="841248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540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٣) تتكاثر بعض البكتيريا بـ…… حيث تنتقل المادة الوراثية عبر جسر …………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282696"/>
            <a:ext cx="3108960" cy="694944"/>
          </a:xfrm>
          <a:prstGeom prst="roundRect">
            <a:avLst>
              <a:gd name="adj" fmla="val 50000"/>
            </a:avLst>
          </a:prstGeom>
          <a:solidFill>
            <a:srgbClr val="E2F7E9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الاقتران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94760" y="4197096"/>
            <a:ext cx="7863840" cy="841248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540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٤) البقع السوداء أعلى الخيوط الفطرية هي …………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270248"/>
            <a:ext cx="3108960" cy="694944"/>
          </a:xfrm>
          <a:prstGeom prst="roundRect">
            <a:avLst>
              <a:gd name="adj" fmla="val 50000"/>
            </a:avLst>
          </a:prstGeom>
          <a:solidFill>
            <a:srgbClr val="E2F7E9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محافظ الأبواغ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94760" y="5184648"/>
            <a:ext cx="7863840" cy="841248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540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٥) المواد التي تسرّع التفاعلات الكيميائية تُسمّى …………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257800"/>
            <a:ext cx="3108960" cy="694944"/>
          </a:xfrm>
          <a:prstGeom prst="roundRect">
            <a:avLst>
              <a:gd name="adj" fmla="val 50000"/>
            </a:avLst>
          </a:prstGeom>
          <a:solidFill>
            <a:srgbClr val="E2F7E9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الإنزيمات</a:t>
            </a:r>
          </a:p>
        </p:txBody>
      </p:sp>
      <p:sp>
        <p:nvSpPr>
          <p:cNvPr id="38" name="!!strategy"/>
          <p:cNvSpPr/>
          <p:nvPr/>
        </p:nvSpPr>
        <p:spPr>
          <a:xfrm>
            <a:off x="8691372" y="36576"/>
            <a:ext cx="31775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النشاط المفرغ</a:t>
            </a:r>
          </a:p>
        </p:txBody>
      </p:sp>
      <p:sp>
        <p:nvSpPr>
          <p:cNvPr id="39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40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41" name="nav_cert">
            <a:hlinkClick action="ppaction://hlinksldjump" r:id="rId4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9" grpId="0" animBg="1"/>
      <p:bldP spid="11" grpId="0" animBg="1"/>
      <p:bldP spid="13" grpId="0" animBg="1"/>
    </p:bldLst>
  </p:timing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97280" y="411480"/>
            <a:ext cx="9994392" cy="5806440"/>
          </a:xfrm>
          <a:prstGeom prst="roundRect">
            <a:avLst>
              <a:gd name="adj" fmla="val 5511"/>
            </a:avLst>
          </a:prstGeom>
          <a:solidFill>
            <a:srgbClr val="FFFDF5"/>
          </a:solidFill>
          <a:ln w="101600">
            <a:solidFill>
              <a:srgbClr val="FFD34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1371600" y="685800"/>
            <a:ext cx="9445752" cy="5257800"/>
          </a:xfrm>
          <a:prstGeom prst="roundRect">
            <a:avLst>
              <a:gd name="adj" fmla="val 5217"/>
            </a:avLst>
          </a:prstGeom>
          <a:noFill/>
          <a:ln w="25400">
            <a:solidFill>
              <a:srgbClr val="E8C4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ic_med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58968" y="777240"/>
            <a:ext cx="1280160" cy="1280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2011680"/>
            <a:ext cx="9262872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3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شهادة: عالمة المخلوقات الحية الدقيقة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60" y="2788920"/>
            <a:ext cx="5056632" cy="594360"/>
          </a:xfrm>
          <a:prstGeom prst="roundRect">
            <a:avLst>
              <a:gd name="adj" fmla="val 46153"/>
            </a:avLst>
          </a:prstGeom>
          <a:solidFill>
            <a:srgbClr val="FFFFFF"/>
          </a:solidFill>
          <a:ln w="25400">
            <a:solidFill>
              <a:srgbClr val="C9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اسم الطالبة: ……………………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520440"/>
            <a:ext cx="7498079" cy="13258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2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مبارك يا عالمتي الصغيرة!</a:t>
            </a:r>
          </a:p>
          <a:p>
            <a:pPr algn="ctr" rtl="1"/>
            <a:r>
              <a:rPr sz="2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لقد اكتشفتِ أسرار تكاثر المخلوقات الحية الدقيقة بنجاح.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4892040"/>
            <a:ext cx="8897112" cy="5486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26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pic>
        <p:nvPicPr>
          <p:cNvPr id="10" name="!!guide" descr="guide_che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09760" y="3246120"/>
            <a:ext cx="1739590" cy="2743200"/>
          </a:xfrm>
          <a:prstGeom prst="rect">
            <a:avLst/>
          </a:prstGeom>
        </p:spPr>
      </p:pic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0" y="914400"/>
            <a:ext cx="731520" cy="731520"/>
          </a:xfrm>
          <a:prstGeom prst="rect">
            <a:avLst/>
          </a:prstGeom>
        </p:spPr>
      </p:pic>
      <p:pic>
        <p:nvPicPr>
          <p:cNvPr id="12" name="Picture 11" descr="ic_st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0" y="914400"/>
            <a:ext cx="731520" cy="731520"/>
          </a:xfrm>
          <a:prstGeom prst="rect">
            <a:avLst/>
          </a:prstGeom>
        </p:spPr>
      </p:pic>
      <p:sp>
        <p:nvSpPr>
          <p:cNvPr id="13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التعزيز والتحفيز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</p:spTree>
  </p:cSld>
  <p:clrMapOvr>
    <a:masterClrMapping/>
  </p:clrMapOvr>
  <p:transition spd="slow">
    <p:zoom/>
    <p:sndAc>
      <p:stSnd>
        <p:snd r:embed="rId4" name="fanfare.wav"/>
      </p:stSnd>
    </p:sndAc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