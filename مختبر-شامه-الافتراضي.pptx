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correct.wav" ContentType="audio/wav"/>
  <Override PartName="/ppt/media/snd_door.wav" ContentType="audio/wav"/>
  <Override PartName="/ppt/media/snd_fanfare.wav" ContentType="audio/wav"/>
  <Override PartName="/ppt/media/snd_hint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الغلاف. رحبي بالطالبات وأخبريهن أننا أمام بوابة مختبر علوم افتراضي.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تظهر المرشدة «العالمة نور». اقرئي الترحيب بصوت متحمس.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اقرئي القوانين مع الطالبات بندًا بندًا بالنقر.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مراجعة الدرس السابق (ص٩٤) ببطاقات تُقلب بالنقر، قبل تحديات الرمز السري.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مراجعة صفحة ٩٥ ببطاقات تُقلب بالنقر.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«أقرأ الصورة» من ص٩٥ (مراجعة).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«أستنتج» من ص٩٥ مع الإجابة النموذجية.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«التفكير الناقد» من ص٩٥.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مراجعة قبلية لدرس الفطريات المجهرية (ص٩٤) وليست شرحًا لمحتوى جديد. كل إجابة صحيحة تكشف رقمًا من الرمز السري.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الأول (مراجعة ص٩٤): اختيار من متعدد.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الأول (مراجعة ص٩٤): اختيار من متعدد.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الأول (مراجعة ص٩٤): اختيار من متعدد.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الثاني (مراجعة ص٩٤): كيف تحصل الفطريات على غذائها؟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الثاني (مراجعة ص٩٤): كيف تحصل الفطريات على غذائها؟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الثاني (مراجعة ص٩٤): كيف تحصل الفطريات على غذائها؟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الثالث (مراجعة ص٩٤): صورة البنسيليوم من الكتاب دون تعليقها.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الثالث (مراجعة ص٩٤): صورة البنسيليوم من الكتاب دون تعليقها.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 الثالث (مراجعة ص٩٤): صورة البنسيليوم من الكتاب دون تعليقها.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اكتمل الرمز ٣٥٧. انقري لفتح الباب.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انفتح الباب! انتهت المراجعة القبلية.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فاصل واضح: انتهت المراجعة، ونبدأ الدرس الجديد من صفحة ٩٦. سنعود إلى الفطريات، لكن موضوعنا الآن طرق تكاثرها.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خريطة المفاهيم في بدايتها: ثلاثة فروع، والمفتوح منها فرع الطلائعيات فقط. اضغطي على فرع الطلائعيات أو على زر الانتقال.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اعرضي الصفحة كاملة، ثم انقري لتكبير فقرة الطلائعيات.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صورة البراميسيوم من الكتاب داخل عدسة المجهر. اسألي: ماذا تتوقعين أن يحدث لهذا المخلوق؟ (توقع غير مُقيَّم)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براميسيوم واحد قبل الانقسام. انقري لعرض المرحلة الأولى.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المرحلة ١ (من شكل الكتاب): تضاعف المادة الوراثية، ويستطيل البراميسيوم.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المرحلة ٢: تبدأ الخلية في الانقسام عند المنطقة الوسطى.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المرحلة ٣: ينتج مخلوقان متماثلان.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براميسيوم واحد قبل الانقسام. انقري لعرض المرحلة الأولى.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المرحلة ١ (من شكل الكتاب): تضاعف المادة الوراثية، ويستطيل البراميسيوم.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المرحلة ٢: تبدأ الخلية في الانقسام عند المنطقة الوسطى.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المرحلة ٣: ينتج مخلوقان متماثلان.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«أقرأ الصورة» الأصلي من الكتاب ص٩٦.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«أقرأ الصورة» الأصلي من الكتاب ص٩٦.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«أقرأ الصورة» الأصلي من الكتاب ص٩٦.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استراتيجية فهم قرائي: تضغط الطالبة على العبارة، فتظهر علامة صح أو تلميح.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المهمة الثانية من صيد الدليل.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ترتيب: تختار الطالبة المرحلة التالية، فتنتقل البطاقة إلى مكانها.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ترتيب: تختار الطالبة المرحلة التالية، فتنتقل البطاقة إلى مكانها.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ترتيب: تختار الطالبة المرحلة التالية، فتنتقل البطاقة إلى مكانها.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ترتيب: تختار الطالبة المرحلة التالية، فتنتقل البطاقة إلى مكانها.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استنتاجي. عند الخطأ: تلميح، ثم محاولة ثانية، ثم إعادة الحركة ببطء وسؤال أبسط.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استنتاجي. عند الخطأ: تلميح، ثم محاولة ثانية، ثم إعادة الحركة ببطء وسؤال أبسط.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استنتاجي. عند الخطأ: تلميح، ثم محاولة ثانية، ثم إعادة الحركة ببطء وسؤال أبسط.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بعد الحركة البطيئة اختاري السؤال المشابه المناسب.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الاقتران عملية جنسية. اللونان الأزرق والوردي يمثلان المادة الوراثية لكل مخلوق.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تلتحم المخلوقات.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تتبادل المادة الوراثية (انتقل جزء من الأزرق والوردي).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تنفصل المخلوقات.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ينقسم كل منها بالانشطار الثنائي.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تحقق سريع من مفهوم الاقتران.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البوغ: مادة وراثية داخل غشاء يحميها.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تتحمل الأبواغ الظروف القاسية.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عندما تتهيأ ظروف مناسبة لنموها فإنها تنمو.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تحقق من مفهوم الأبواغ.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انقري لكشف الأعمدة واحدًا تلو الآخر، واطلبي من الطالبات التوقع قبل الكشف.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تصنيف: تختار الطالبة السلة المناسبة.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تصنيف: تختار الطالبة السلة المناسبة.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أُضيفت بطاقات الطلائعيات، وفُتح فرع الفطريات. اضغطي عليه للانتقال إلى ص٩٧.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اعرضي الصفحة كاملة، ثم انقري لتكبير فقرة الفطريات.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صورة الخميرة من الكتاب. اسألي: لاحظي الخلايا الصغيرة الملتصقة بالخلايا الكبيرة، ماذا تتوقعين أن تكون؟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خلية خميرة أم. انقري لعرض الخطوات بنصوص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يتكوّن البرعم بنمو بروز صغير على الخلية الأم.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تنقسم نواة الخلية الأم انقسامًا متساويًا، وينتج عن ذلك نواتان متماثلتان في كروموسوماتهما.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تصبح إحدى هاتين النواتين جزءًا من البرعم النامي.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ينفصل البرعم، ويصبح مخلوقًا حيًا جديدًا.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خلية خميرة أم. انقري لعرض الخطوات بنصوص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يتكوّن البرعم بنمو بروز صغير على الخلية الأم.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تنقسم نواة الخلية الأم انقسامًا متساويًا، وينتج عن ذلك نواتان متماثلتان في كروموسوماتهما.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تصبح إحدى هاتين النواتين جزءًا من البرعم النامي.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ينفصل البرعم، ويصبح مخلوقًا حيًا جديدًا.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خلية ذكرية (زرقاء) وخلية أنثوية (وردية).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تندمج الخلايا الذكرية مع الخلايا الأنثوية لتبادل المادة الوراثية.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إنتاج الأبواغ، وتُحفظ داخل غلاف.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ثم تنتشر منه.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فإذا سقطت في بيئة مناسبة لنموها فإنها تنمو وتنتج فطرًا جديدًا.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خلية بكتيريا عصوية. «تتكاثر معظم البكتيريا بالانشطار الثنائي، ومنها بكتيريا (إي.كولاي) التي تعيش في أمعاء الإنسان».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تتضاعف المادة الوراثية.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تبدأ الخلية في الانقسام.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ينتج مخلوقان متماثلان.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صورة المجهر الإلكتروني من الكتاب. سؤال قراءة صورة من تصميم العرض.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خليتان من البكتيريا.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تتصل خليتان معًا عبر جسر.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تنتقل المادة الوراثية من إحداهما إلى الأخرى.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تنفصل الخليتان إحداهما عن الأخرى.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وتنقسمان.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مخطط فن يُكشف بالنقر، ثم سؤال استنتاجي.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مقارنة.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«من أنا؟»: صورة دون اسم، ووصف علمي، والخيار يجمع الاسم وطريقة التكاثر.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«من أنا؟»: صورة دون اسم، ووصف علمي، والخيار يجمع الاسم وطريقة التكاثر.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لعبة «من أنا؟»: صورة دون اسم، ووصف علمي، والخيار يجمع الاسم وطريقة التكاثر.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ثلاث عبارات، والمطلوب تحديد العبارة غير الصحيحة.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ثلاث عبارات، والمطلوب تحديد العبارة غير الصحيحة.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ثلاث عبارات، والمطلوب تحديد العبارة غير الصحيحة.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«أختبر نفسي»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نقاش مفتوح، ثم إظهار الإجابة النموذجية.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تحقق سريع بعد التفكير الناقد.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أُضيفت بطاقات الفطريات والبكتيريا. ننتقل الآن إلى طاولة التجارب في ص٩٨.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صندوق النشاط من الكتاب. سنحوّله إلى تجربة على طاولة المختبر.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كل أداة: الأداة الصحيحة تظهر عليها علامة ✔، والخاطئة تُظهر تنبيهًا. الأدوات الصحيحة: خبز، ماء، كيس ذاتي الغلق، عدسة مكبرة.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نص الخطوة الأولى من الكتاب. ثم توقع غير مُقيَّم: ماذا سيحدث للخبز بعد عدة أيام؟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انقري لتمرير الأيام. الرسم توضيحي، وبعده نقارن بالصورة الحقيقية في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صورة العفن الحقيقية من الكتاب مع تعليقها الأصلي. ⚠ أحذر: لا أفتح الكيس.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سلامة مرتبط بتحذير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المكان المناسب في الصورة. محافظ الأبواغ: البقع السوداء. الخيوط الفطرية: الخيوط البيضاء الرفيعة.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الخطوة ٤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الخطوة ٤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الخطوة ٤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الخطوة ٥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الخطوة ٥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الخطوة ٥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«ماذا يحدث لو؟» من تصميم العرض.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استخلاص الاستنتاج.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رسم توضيحي يُكشف جزءًا بعد جزء بنصوص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خيط فطري (يسار) وقطع طعام كبيرة (يمين). البنفسجي = إنزيمات.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«وتفرز هذه الخيوط مواد كيميائية… بروتينات تسمى إنزيمات».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«ويسبب الإنزيم تسريع حدوث التفاعلات الكيميائية»، فيتحلل الطعام إلى مواد بسيطة.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«تسهل امتصاص المواد الغذائية».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استراتيجية «أقرأ وأستدل».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«أختبر نفسي» الأصلي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نقاش مفتوح، ثم إظهار الإجابة النموذجية.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أُضيفت بطاقة عفن الخبز. ننتقل إلى «تحدي العالمة الصغيرة».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بطاقات مفردات الدرس تُقلب بالنقر قبل التحدي الختامي.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أربعة مستويات متدرجة: أتذكر، أفهم، أطبق، أستنتج.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١: أتذكر.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١: أتذكر.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١: أتذكر.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٢: أفهم.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٢: أفهم.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٢: أفهم.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٣: أطبق.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٣: أطبق.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٣: أطبق.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٤: أستنتج.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تلميح دون كشف الإجابة. شجعي الطالبة على المحاولة مرة 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٤: أستنتج.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علاجي: راجعي المفهوم مع الطالبة بالصورة أو الحركة، ثم انتقلي إلى السؤال المشابه.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المستوى ٤: أستنتج.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تغذية راجعة للإجابة الصحيحة: اطلبي من الطالبة أن تشرح لماذا هذه الإجابة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الخريطة مكتملة بكل بطاقاتها. راجعيها مع الطالبات بالإشارة إلى كل فرع.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تكمل الطالبات شفهيًا أو على السبورة، ثم انقري لإظهار كل 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الشهادة الافتراضية. اكتبي اسم الطالبة في الخانة.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3.jpg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4.jpg"/><Relationship Id="rId5" Type="http://schemas.openxmlformats.org/officeDocument/2006/relationships/slide" Target="slide8.xml"/><Relationship Id="rId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16.jpg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7.jpg"/><Relationship Id="rId5" Type="http://schemas.openxmlformats.org/officeDocument/2006/relationships/slide" Target="slide12.xml"/><Relationship Id="rId6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Relationship Id="rId9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slide" Target="slide15.xml"/><Relationship Id="rId5" Type="http://schemas.openxmlformats.org/officeDocument/2006/relationships/slide" Target="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slide" Target="slide17.xml"/><Relationship Id="rId5" Type="http://schemas.openxmlformats.org/officeDocument/2006/relationships/slide" Target="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19.jpg"/><Relationship Id="rId5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Relationship Id="rId4" Type="http://schemas.openxmlformats.org/officeDocument/2006/relationships/slide" Target="slide19.xml"/><Relationship Id="rId5" Type="http://schemas.openxmlformats.org/officeDocument/2006/relationships/slide" Target="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19.jpg"/><Relationship Id="rId7" Type="http://schemas.openxmlformats.org/officeDocument/2006/relationships/image" Target="../media/image9.png"/><Relationship Id="rId8" Type="http://schemas.openxmlformats.org/officeDocument/2006/relationships/image" Target="../media/image18.png"/><Relationship Id="rId9" Type="http://schemas.openxmlformats.org/officeDocument/2006/relationships/slide" Target="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Relationship Id="rId4" Type="http://schemas.openxmlformats.org/officeDocument/2006/relationships/slide" Target="slide21.xml"/><Relationship Id="rId5" Type="http://schemas.openxmlformats.org/officeDocument/2006/relationships/slide" Target="slide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Relationship Id="rId4" Type="http://schemas.openxmlformats.org/officeDocument/2006/relationships/slide" Target="slide23.xml"/><Relationship Id="rId5" Type="http://schemas.openxmlformats.org/officeDocument/2006/relationships/slide" Target="slide2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Relationship Id="rId4" Type="http://schemas.openxmlformats.org/officeDocument/2006/relationships/image" Target="../media/image19.jpg"/><Relationship Id="rId5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Relationship Id="rId4" Type="http://schemas.openxmlformats.org/officeDocument/2006/relationships/slide" Target="slide23.xml"/><Relationship Id="rId5" Type="http://schemas.openxmlformats.org/officeDocument/2006/relationships/slide" Target="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19.jpg"/><Relationship Id="rId7" Type="http://schemas.openxmlformats.org/officeDocument/2006/relationships/image" Target="../media/image9.png"/><Relationship Id="rId8" Type="http://schemas.openxmlformats.org/officeDocument/2006/relationships/image" Target="../media/image18.png"/><Relationship Id="rId9" Type="http://schemas.openxmlformats.org/officeDocument/2006/relationships/slide" Target="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Relationship Id="rId4" Type="http://schemas.openxmlformats.org/officeDocument/2006/relationships/image" Target="../media/image20.jpg"/><Relationship Id="rId5" Type="http://schemas.openxmlformats.org/officeDocument/2006/relationships/slide" Target="slide27.xml"/><Relationship Id="rId6" Type="http://schemas.openxmlformats.org/officeDocument/2006/relationships/slide" Target="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g"/><Relationship Id="rId4" Type="http://schemas.openxmlformats.org/officeDocument/2006/relationships/image" Target="../media/image20.jpg"/><Relationship Id="rId5" Type="http://schemas.openxmlformats.org/officeDocument/2006/relationships/slide" Target="slide29.xml"/><Relationship Id="rId6" Type="http://schemas.openxmlformats.org/officeDocument/2006/relationships/slide" Target="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Relationship Id="rId4" Type="http://schemas.openxmlformats.org/officeDocument/2006/relationships/image" Target="../media/image20.jpg"/><Relationship Id="rId5" Type="http://schemas.openxmlformats.org/officeDocument/2006/relationships/slide" Target="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Relationship Id="rId4" Type="http://schemas.openxmlformats.org/officeDocument/2006/relationships/slide" Target="slide31.xml"/><Relationship Id="rId5" Type="http://schemas.openxmlformats.org/officeDocument/2006/relationships/slide" Target="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21.jpg"/><Relationship Id="rId7" Type="http://schemas.openxmlformats.org/officeDocument/2006/relationships/image" Target="../media/image9.png"/><Relationship Id="rId8" Type="http://schemas.openxmlformats.org/officeDocument/2006/relationships/image" Target="../media/image22.png"/><Relationship Id="rId9" Type="http://schemas.openxmlformats.org/officeDocument/2006/relationships/slide" Target="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audio" Target="../media/snd_door.wav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audio" Target="../media/snd_fanfare.wav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3.png"/><Relationship Id="rId9" Type="http://schemas.openxmlformats.org/officeDocument/2006/relationships/slide" Target="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jpg"/><Relationship Id="rId4" Type="http://schemas.openxmlformats.org/officeDocument/2006/relationships/image" Target="../media/image24.jpg"/><Relationship Id="rId5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slide" Target="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slide" Target="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27.jpg"/><Relationship Id="rId6" Type="http://schemas.openxmlformats.org/officeDocument/2006/relationships/slide" Target="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jpg"/><Relationship Id="rId4" Type="http://schemas.openxmlformats.org/officeDocument/2006/relationships/image" Target="../media/image28.jpg"/><Relationship Id="rId5" Type="http://schemas.openxmlformats.org/officeDocument/2006/relationships/slide" Target="slide47.xml"/><Relationship Id="rId6" Type="http://schemas.openxmlformats.org/officeDocument/2006/relationships/slide" Target="slide51.xml"/><Relationship Id="rId7" Type="http://schemas.openxmlformats.org/officeDocument/2006/relationships/slide" Target="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48.xml"/><Relationship Id="rId8" Type="http://schemas.openxmlformats.org/officeDocument/2006/relationships/slide" Target="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jpg"/><Relationship Id="rId4" Type="http://schemas.openxmlformats.org/officeDocument/2006/relationships/image" Target="../media/image28.jpg"/><Relationship Id="rId5" Type="http://schemas.openxmlformats.org/officeDocument/2006/relationships/slide" Target="slide49.xml"/><Relationship Id="rId6" Type="http://schemas.openxmlformats.org/officeDocument/2006/relationships/slide" Target="slide51.xml"/><Relationship Id="rId7" Type="http://schemas.openxmlformats.org/officeDocument/2006/relationships/slide" Target="slide3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jpg"/><Relationship Id="rId4" Type="http://schemas.openxmlformats.org/officeDocument/2006/relationships/image" Target="../media/image28.jpg"/><Relationship Id="rId5" Type="http://schemas.openxmlformats.org/officeDocument/2006/relationships/slide" Target="slide50.xml"/><Relationship Id="rId6" Type="http://schemas.openxmlformats.org/officeDocument/2006/relationships/slide" Target="slide42.xml"/><Relationship Id="rId7" Type="http://schemas.openxmlformats.org/officeDocument/2006/relationships/slide" Target="slide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jpg"/><Relationship Id="rId4" Type="http://schemas.openxmlformats.org/officeDocument/2006/relationships/slide" Target="slide49.xml"/><Relationship Id="rId5" Type="http://schemas.openxmlformats.org/officeDocument/2006/relationships/slide" Target="slide51.xml"/><Relationship Id="rId6" Type="http://schemas.openxmlformats.org/officeDocument/2006/relationships/slide" Target="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35.xml"/><Relationship Id="rId8" Type="http://schemas.openxmlformats.org/officeDocument/2006/relationships/slide" Target="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11.png"/><Relationship Id="rId7" Type="http://schemas.openxmlformats.org/officeDocument/2006/relationships/slide" Target="slide35.xml"/><Relationship Id="rId8" Type="http://schemas.openxmlformats.org/officeDocument/2006/relationships/slide" Target="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11.png"/><Relationship Id="rId7" Type="http://schemas.openxmlformats.org/officeDocument/2006/relationships/slide" Target="slide35.xml"/><Relationship Id="rId8" Type="http://schemas.openxmlformats.org/officeDocument/2006/relationships/slide" Target="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jpg"/><Relationship Id="rId4" Type="http://schemas.openxmlformats.org/officeDocument/2006/relationships/image" Target="../media/image30.png"/><Relationship Id="rId5" Type="http://schemas.openxmlformats.org/officeDocument/2006/relationships/slide" Target="slide58.xml"/><Relationship Id="rId6" Type="http://schemas.openxmlformats.org/officeDocument/2006/relationships/slide" Target="slide55.xml"/><Relationship Id="rId7" Type="http://schemas.openxmlformats.org/officeDocument/2006/relationships/slide" Target="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30.png"/><Relationship Id="rId6" Type="http://schemas.openxmlformats.org/officeDocument/2006/relationships/slide" Target="slide56.xml"/><Relationship Id="rId7" Type="http://schemas.openxmlformats.org/officeDocument/2006/relationships/slide" Target="slide59.xml"/><Relationship Id="rId8" Type="http://schemas.openxmlformats.org/officeDocument/2006/relationships/slide" Target="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30.png"/><Relationship Id="rId6" Type="http://schemas.openxmlformats.org/officeDocument/2006/relationships/slide" Target="slide57.xml"/><Relationship Id="rId7" Type="http://schemas.openxmlformats.org/officeDocument/2006/relationships/slide" Target="slide3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30.png"/><Relationship Id="rId6" Type="http://schemas.openxmlformats.org/officeDocument/2006/relationships/slide" Target="slide35.xml"/><Relationship Id="rId7" Type="http://schemas.openxmlformats.org/officeDocument/2006/relationships/slide" Target="slide6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54.xml"/><Relationship Id="rId8" Type="http://schemas.openxmlformats.org/officeDocument/2006/relationships/slide" Target="slide3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55.xml"/><Relationship Id="rId8" Type="http://schemas.openxmlformats.org/officeDocument/2006/relationships/slide" Target="slide3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.jpg"/><Relationship Id="rId4" Type="http://schemas.openxmlformats.org/officeDocument/2006/relationships/slide" Target="slide65.xml"/><Relationship Id="rId5" Type="http://schemas.openxmlformats.org/officeDocument/2006/relationships/slide" Target="slide61.xml"/><Relationship Id="rId6" Type="http://schemas.openxmlformats.org/officeDocument/2006/relationships/slide" Target="slide3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62.xml"/><Relationship Id="rId8" Type="http://schemas.openxmlformats.org/officeDocument/2006/relationships/slide" Target="slide3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.jpg"/><Relationship Id="rId4" Type="http://schemas.openxmlformats.org/officeDocument/2006/relationships/slide" Target="slide65.xml"/><Relationship Id="rId5" Type="http://schemas.openxmlformats.org/officeDocument/2006/relationships/slide" Target="slide63.xml"/><Relationship Id="rId6" Type="http://schemas.openxmlformats.org/officeDocument/2006/relationships/slide" Target="slide3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.jpg"/><Relationship Id="rId4" Type="http://schemas.openxmlformats.org/officeDocument/2006/relationships/image" Target="../media/image28.jpg"/><Relationship Id="rId5" Type="http://schemas.openxmlformats.org/officeDocument/2006/relationships/slide" Target="slide64.xml"/><Relationship Id="rId6" Type="http://schemas.openxmlformats.org/officeDocument/2006/relationships/slide" Target="slide42.xml"/><Relationship Id="rId7" Type="http://schemas.openxmlformats.org/officeDocument/2006/relationships/slide" Target="slide3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.jpg"/><Relationship Id="rId4" Type="http://schemas.openxmlformats.org/officeDocument/2006/relationships/slide" Target="slide65.xml"/><Relationship Id="rId5" Type="http://schemas.openxmlformats.org/officeDocument/2006/relationships/slide" Target="slide63.xml"/><Relationship Id="rId6" Type="http://schemas.openxmlformats.org/officeDocument/2006/relationships/slide" Target="slide3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35.xml"/><Relationship Id="rId8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slide" Target="slide50.xml"/><Relationship Id="rId6" Type="http://schemas.openxmlformats.org/officeDocument/2006/relationships/slide" Target="slide64.xml"/><Relationship Id="rId7" Type="http://schemas.openxmlformats.org/officeDocument/2006/relationships/slide" Target="slide3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7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.jpg"/><Relationship Id="rId4" Type="http://schemas.openxmlformats.org/officeDocument/2006/relationships/slide" Target="slide74.xml"/><Relationship Id="rId5" Type="http://schemas.openxmlformats.org/officeDocument/2006/relationships/slide" Target="slide73.xml"/><Relationship Id="rId6" Type="http://schemas.openxmlformats.org/officeDocument/2006/relationships/slide" Target="slide3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72.xml"/><Relationship Id="rId8" Type="http://schemas.openxmlformats.org/officeDocument/2006/relationships/slide" Target="slide3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31.jpg"/><Relationship Id="rId7" Type="http://schemas.openxmlformats.org/officeDocument/2006/relationships/image" Target="../media/image9.png"/><Relationship Id="rId8" Type="http://schemas.openxmlformats.org/officeDocument/2006/relationships/slide" Target="slide35.xml"/><Relationship Id="rId9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.jpg"/><Relationship Id="rId4" Type="http://schemas.openxmlformats.org/officeDocument/2006/relationships/slide" Target="slide3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.jpg"/><Relationship Id="rId4" Type="http://schemas.openxmlformats.org/officeDocument/2006/relationships/slide" Target="slide80.xml"/><Relationship Id="rId5" Type="http://schemas.openxmlformats.org/officeDocument/2006/relationships/slide" Target="slide79.xml"/><Relationship Id="rId6" Type="http://schemas.openxmlformats.org/officeDocument/2006/relationships/slide" Target="slide3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78.xml"/><Relationship Id="rId8" Type="http://schemas.openxmlformats.org/officeDocument/2006/relationships/slide" Target="slide3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32.jpg"/><Relationship Id="rId7" Type="http://schemas.openxmlformats.org/officeDocument/2006/relationships/image" Target="../media/image9.png"/><Relationship Id="rId8" Type="http://schemas.openxmlformats.org/officeDocument/2006/relationships/slide" Target="slide35.xml"/><Relationship Id="rId9" Type="http://schemas.openxmlformats.org/officeDocument/2006/relationships/slide" Target="slide8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.jpg"/><Relationship Id="rId4" Type="http://schemas.openxmlformats.org/officeDocument/2006/relationships/slide" Target="slide35.xml"/><Relationship Id="rId5" Type="http://schemas.openxmlformats.org/officeDocument/2006/relationships/slide" Target="slide8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.jpg"/><Relationship Id="rId4" Type="http://schemas.openxmlformats.org/officeDocument/2006/relationships/slide" Target="slide83.xml"/><Relationship Id="rId5" Type="http://schemas.openxmlformats.org/officeDocument/2006/relationships/slide" Target="slide84.xml"/><Relationship Id="rId6" Type="http://schemas.openxmlformats.org/officeDocument/2006/relationships/slide" Target="slide3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82.xml"/><Relationship Id="rId8" Type="http://schemas.openxmlformats.org/officeDocument/2006/relationships/slide" Target="slide3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35.xml"/><Relationship Id="rId8" Type="http://schemas.openxmlformats.org/officeDocument/2006/relationships/slide" Target="slide8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.jpg"/><Relationship Id="rId4" Type="http://schemas.openxmlformats.org/officeDocument/2006/relationships/slide" Target="slide86.xml"/><Relationship Id="rId5" Type="http://schemas.openxmlformats.org/officeDocument/2006/relationships/slide" Target="slide87.xml"/><Relationship Id="rId6" Type="http://schemas.openxmlformats.org/officeDocument/2006/relationships/slide" Target="slide3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85.xml"/><Relationship Id="rId8" Type="http://schemas.openxmlformats.org/officeDocument/2006/relationships/slide" Target="slide3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35.xml"/><Relationship Id="rId8" Type="http://schemas.openxmlformats.org/officeDocument/2006/relationships/slide" Target="slide8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slide" Target="slide36.xml"/><Relationship Id="rId6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slide" Target="slide8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35.jpg"/><Relationship Id="rId6" Type="http://schemas.openxmlformats.org/officeDocument/2006/relationships/slide" Target="slide8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9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9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9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10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10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slide" Target="slide136.xml"/><Relationship Id="rId5" Type="http://schemas.openxmlformats.org/officeDocument/2006/relationships/slide" Target="slide8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10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11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7.jpg"/><Relationship Id="rId4" Type="http://schemas.openxmlformats.org/officeDocument/2006/relationships/image" Target="../media/image36.jpg"/><Relationship Id="rId5" Type="http://schemas.openxmlformats.org/officeDocument/2006/relationships/slide" Target="slide113.xml"/><Relationship Id="rId6" Type="http://schemas.openxmlformats.org/officeDocument/2006/relationships/slide" Target="slide112.xml"/><Relationship Id="rId7" Type="http://schemas.openxmlformats.org/officeDocument/2006/relationships/slide" Target="slide8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11.xml"/><Relationship Id="rId8" Type="http://schemas.openxmlformats.org/officeDocument/2006/relationships/slide" Target="slide8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37.jpg"/><Relationship Id="rId7" Type="http://schemas.openxmlformats.org/officeDocument/2006/relationships/image" Target="../media/image9.png"/><Relationship Id="rId8" Type="http://schemas.openxmlformats.org/officeDocument/2006/relationships/slide" Target="slide88.xml"/><Relationship Id="rId9" Type="http://schemas.openxmlformats.org/officeDocument/2006/relationships/slide" Target="slide1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7.jpg"/><Relationship Id="rId4" Type="http://schemas.openxmlformats.org/officeDocument/2006/relationships/slide" Target="slide8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7.jpg"/><Relationship Id="rId4" Type="http://schemas.openxmlformats.org/officeDocument/2006/relationships/slide" Target="slide88.xml"/><Relationship Id="rId5" Type="http://schemas.openxmlformats.org/officeDocument/2006/relationships/slide" Target="slide11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7.jpg"/><Relationship Id="rId4" Type="http://schemas.openxmlformats.org/officeDocument/2006/relationships/slide" Target="slide120.xml"/><Relationship Id="rId5" Type="http://schemas.openxmlformats.org/officeDocument/2006/relationships/slide" Target="slide88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7.jpg"/><Relationship Id="rId4" Type="http://schemas.openxmlformats.org/officeDocument/2006/relationships/slide" Target="slide122.xml"/><Relationship Id="rId5" Type="http://schemas.openxmlformats.org/officeDocument/2006/relationships/slide" Target="slide121.xml"/><Relationship Id="rId6" Type="http://schemas.openxmlformats.org/officeDocument/2006/relationships/slide" Target="slide8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20.xml"/><Relationship Id="rId8" Type="http://schemas.openxmlformats.org/officeDocument/2006/relationships/slide" Target="slide88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7.jpg"/><Relationship Id="rId4" Type="http://schemas.openxmlformats.org/officeDocument/2006/relationships/image" Target="../media/image35.jpg"/><Relationship Id="rId5" Type="http://schemas.openxmlformats.org/officeDocument/2006/relationships/slide" Target="slide124.xml"/><Relationship Id="rId6" Type="http://schemas.openxmlformats.org/officeDocument/2006/relationships/slide" Target="slide125.xml"/><Relationship Id="rId7" Type="http://schemas.openxmlformats.org/officeDocument/2006/relationships/slide" Target="slide8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23.xml"/><Relationship Id="rId8" Type="http://schemas.openxmlformats.org/officeDocument/2006/relationships/slide" Target="slide8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2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7.jpg"/><Relationship Id="rId4" Type="http://schemas.openxmlformats.org/officeDocument/2006/relationships/image" Target="../media/image27.jpg"/><Relationship Id="rId5" Type="http://schemas.openxmlformats.org/officeDocument/2006/relationships/slide" Target="slide128.xml"/><Relationship Id="rId6" Type="http://schemas.openxmlformats.org/officeDocument/2006/relationships/slide" Target="slide127.xml"/><Relationship Id="rId7" Type="http://schemas.openxmlformats.org/officeDocument/2006/relationships/slide" Target="slide88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26.xml"/><Relationship Id="rId8" Type="http://schemas.openxmlformats.org/officeDocument/2006/relationships/slide" Target="slide8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2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7.jpg"/><Relationship Id="rId4" Type="http://schemas.openxmlformats.org/officeDocument/2006/relationships/image" Target="../media/image38.png"/><Relationship Id="rId5" Type="http://schemas.openxmlformats.org/officeDocument/2006/relationships/slide" Target="slide130.xml"/><Relationship Id="rId6" Type="http://schemas.openxmlformats.org/officeDocument/2006/relationships/slide" Target="slide131.xml"/><Relationship Id="rId7" Type="http://schemas.openxmlformats.org/officeDocument/2006/relationships/slide" Target="slide88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29.xml"/><Relationship Id="rId8" Type="http://schemas.openxmlformats.org/officeDocument/2006/relationships/slide" Target="slide88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3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7.jpg"/><Relationship Id="rId4" Type="http://schemas.openxmlformats.org/officeDocument/2006/relationships/slide" Target="slide133.xml"/><Relationship Id="rId5" Type="http://schemas.openxmlformats.org/officeDocument/2006/relationships/slide" Target="slide137.xml"/><Relationship Id="rId6" Type="http://schemas.openxmlformats.org/officeDocument/2006/relationships/slide" Target="slide8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34.xml"/><Relationship Id="rId8" Type="http://schemas.openxmlformats.org/officeDocument/2006/relationships/slide" Target="slide88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7.jpg"/><Relationship Id="rId4" Type="http://schemas.openxmlformats.org/officeDocument/2006/relationships/slide" Target="slide135.xml"/><Relationship Id="rId5" Type="http://schemas.openxmlformats.org/officeDocument/2006/relationships/slide" Target="slide137.xml"/><Relationship Id="rId6" Type="http://schemas.openxmlformats.org/officeDocument/2006/relationships/slide" Target="slide88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7.jpg"/><Relationship Id="rId4" Type="http://schemas.openxmlformats.org/officeDocument/2006/relationships/image" Target="../media/image35.jpg"/><Relationship Id="rId5" Type="http://schemas.openxmlformats.org/officeDocument/2006/relationships/slide" Target="slide136.xml"/><Relationship Id="rId6" Type="http://schemas.openxmlformats.org/officeDocument/2006/relationships/slide" Target="slide96.xml"/><Relationship Id="rId7" Type="http://schemas.openxmlformats.org/officeDocument/2006/relationships/slide" Target="slide88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7.jpg"/><Relationship Id="rId4" Type="http://schemas.openxmlformats.org/officeDocument/2006/relationships/slide" Target="slide137.xml"/><Relationship Id="rId5" Type="http://schemas.openxmlformats.org/officeDocument/2006/relationships/slide" Target="slide135.xml"/><Relationship Id="rId6" Type="http://schemas.openxmlformats.org/officeDocument/2006/relationships/slide" Target="slide8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3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7.jpg"/><Relationship Id="rId4" Type="http://schemas.openxmlformats.org/officeDocument/2006/relationships/image" Target="../media/image39.jpg"/><Relationship Id="rId5" Type="http://schemas.openxmlformats.org/officeDocument/2006/relationships/slide" Target="slide140.xml"/><Relationship Id="rId6" Type="http://schemas.openxmlformats.org/officeDocument/2006/relationships/slide" Target="slide139.xml"/><Relationship Id="rId7" Type="http://schemas.openxmlformats.org/officeDocument/2006/relationships/slide" Target="slide8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38.xml"/><Relationship Id="rId8" Type="http://schemas.openxmlformats.org/officeDocument/2006/relationships/slide" Target="slide8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4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7.jpg"/><Relationship Id="rId4" Type="http://schemas.openxmlformats.org/officeDocument/2006/relationships/image" Target="../media/image39.jpg"/><Relationship Id="rId5" Type="http://schemas.openxmlformats.org/officeDocument/2006/relationships/slide" Target="slide88.xml"/><Relationship Id="rId6" Type="http://schemas.openxmlformats.org/officeDocument/2006/relationships/slide" Target="slide14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7.jpg"/><Relationship Id="rId4" Type="http://schemas.openxmlformats.org/officeDocument/2006/relationships/slide" Target="slide143.xml"/><Relationship Id="rId5" Type="http://schemas.openxmlformats.org/officeDocument/2006/relationships/slide" Target="slide144.xml"/><Relationship Id="rId6" Type="http://schemas.openxmlformats.org/officeDocument/2006/relationships/slide" Target="slide88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42.xml"/><Relationship Id="rId8" Type="http://schemas.openxmlformats.org/officeDocument/2006/relationships/slide" Target="slide88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88.xml"/><Relationship Id="rId8" Type="http://schemas.openxmlformats.org/officeDocument/2006/relationships/slide" Target="slide14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.jpg"/><Relationship Id="rId4" Type="http://schemas.openxmlformats.org/officeDocument/2006/relationships/slide" Target="slide36.xml"/><Relationship Id="rId5" Type="http://schemas.openxmlformats.org/officeDocument/2006/relationships/slide" Target="slide89.xml"/><Relationship Id="rId6" Type="http://schemas.openxmlformats.org/officeDocument/2006/relationships/slide" Target="slide107.xml"/><Relationship Id="rId7" Type="http://schemas.openxmlformats.org/officeDocument/2006/relationships/slide" Target="slide14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7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slide" Target="slide145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7.jp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11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29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slide" Target="slide145.xml"/><Relationship Id="rId15" Type="http://schemas.openxmlformats.org/officeDocument/2006/relationships/slide" Target="slide148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7.jp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slide" Target="slide145.xml"/><Relationship Id="rId7" Type="http://schemas.openxmlformats.org/officeDocument/2006/relationships/slide" Target="slide14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7.jp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slide" Target="slide145.xml"/><Relationship Id="rId10" Type="http://schemas.openxmlformats.org/officeDocument/2006/relationships/slide" Target="slide150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7.jpg"/><Relationship Id="rId4" Type="http://schemas.openxmlformats.org/officeDocument/2006/relationships/image" Target="../media/image55.jpg"/><Relationship Id="rId5" Type="http://schemas.openxmlformats.org/officeDocument/2006/relationships/image" Target="../media/image46.png"/><Relationship Id="rId6" Type="http://schemas.openxmlformats.org/officeDocument/2006/relationships/slide" Target="slide145.xml"/><Relationship Id="rId7" Type="http://schemas.openxmlformats.org/officeDocument/2006/relationships/slide" Target="slide15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.jpg"/><Relationship Id="rId4" Type="http://schemas.openxmlformats.org/officeDocument/2006/relationships/slide" Target="slide153.xml"/><Relationship Id="rId5" Type="http://schemas.openxmlformats.org/officeDocument/2006/relationships/slide" Target="slide152.xml"/><Relationship Id="rId6" Type="http://schemas.openxmlformats.org/officeDocument/2006/relationships/slide" Target="slide145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51.xml"/><Relationship Id="rId8" Type="http://schemas.openxmlformats.org/officeDocument/2006/relationships/slide" Target="slide145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45.xml"/><Relationship Id="rId8" Type="http://schemas.openxmlformats.org/officeDocument/2006/relationships/slide" Target="slide15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7.jpg"/><Relationship Id="rId4" Type="http://schemas.openxmlformats.org/officeDocument/2006/relationships/image" Target="../media/image55.jpg"/><Relationship Id="rId5" Type="http://schemas.openxmlformats.org/officeDocument/2006/relationships/slide" Target="slide145.xml"/><Relationship Id="rId6" Type="http://schemas.openxmlformats.org/officeDocument/2006/relationships/slide" Target="slide15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.jpg"/><Relationship Id="rId4" Type="http://schemas.openxmlformats.org/officeDocument/2006/relationships/image" Target="../media/image41.jpg"/><Relationship Id="rId5" Type="http://schemas.openxmlformats.org/officeDocument/2006/relationships/slide" Target="slide160.xml"/><Relationship Id="rId6" Type="http://schemas.openxmlformats.org/officeDocument/2006/relationships/slide" Target="slide156.xml"/><Relationship Id="rId7" Type="http://schemas.openxmlformats.org/officeDocument/2006/relationships/slide" Target="slide14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57.xml"/><Relationship Id="rId8" Type="http://schemas.openxmlformats.org/officeDocument/2006/relationships/slide" Target="slide14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.jpg"/><Relationship Id="rId4" Type="http://schemas.openxmlformats.org/officeDocument/2006/relationships/image" Target="../media/image41.jpg"/><Relationship Id="rId5" Type="http://schemas.openxmlformats.org/officeDocument/2006/relationships/slide" Target="slide160.xml"/><Relationship Id="rId6" Type="http://schemas.openxmlformats.org/officeDocument/2006/relationships/slide" Target="slide158.xml"/><Relationship Id="rId7" Type="http://schemas.openxmlformats.org/officeDocument/2006/relationships/slide" Target="slide145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slide" Target="slide159.xml"/><Relationship Id="rId6" Type="http://schemas.openxmlformats.org/officeDocument/2006/relationships/slide" Target="slide145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.jpg"/><Relationship Id="rId4" Type="http://schemas.openxmlformats.org/officeDocument/2006/relationships/slide" Target="slide160.xml"/><Relationship Id="rId5" Type="http://schemas.openxmlformats.org/officeDocument/2006/relationships/slide" Target="slide158.xml"/><Relationship Id="rId6" Type="http://schemas.openxmlformats.org/officeDocument/2006/relationships/slide" Target="slide14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45.xml"/><Relationship Id="rId8" Type="http://schemas.openxmlformats.org/officeDocument/2006/relationships/slide" Target="slide16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.jpg"/><Relationship Id="rId4" Type="http://schemas.openxmlformats.org/officeDocument/2006/relationships/image" Target="../media/image41.jpg"/><Relationship Id="rId5" Type="http://schemas.openxmlformats.org/officeDocument/2006/relationships/slide" Target="slide166.xml"/><Relationship Id="rId6" Type="http://schemas.openxmlformats.org/officeDocument/2006/relationships/slide" Target="slide162.xml"/><Relationship Id="rId7" Type="http://schemas.openxmlformats.org/officeDocument/2006/relationships/slide" Target="slide145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63.xml"/><Relationship Id="rId8" Type="http://schemas.openxmlformats.org/officeDocument/2006/relationships/slide" Target="slide145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7.jpg"/><Relationship Id="rId4" Type="http://schemas.openxmlformats.org/officeDocument/2006/relationships/image" Target="../media/image41.jpg"/><Relationship Id="rId5" Type="http://schemas.openxmlformats.org/officeDocument/2006/relationships/slide" Target="slide166.xml"/><Relationship Id="rId6" Type="http://schemas.openxmlformats.org/officeDocument/2006/relationships/slide" Target="slide164.xml"/><Relationship Id="rId7" Type="http://schemas.openxmlformats.org/officeDocument/2006/relationships/slide" Target="slide145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slide" Target="slide165.xml"/><Relationship Id="rId6" Type="http://schemas.openxmlformats.org/officeDocument/2006/relationships/slide" Target="slide14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.jpg"/><Relationship Id="rId4" Type="http://schemas.openxmlformats.org/officeDocument/2006/relationships/slide" Target="slide166.xml"/><Relationship Id="rId5" Type="http://schemas.openxmlformats.org/officeDocument/2006/relationships/slide" Target="slide164.xml"/><Relationship Id="rId6" Type="http://schemas.openxmlformats.org/officeDocument/2006/relationships/slide" Target="slide14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45.xml"/><Relationship Id="rId8" Type="http://schemas.openxmlformats.org/officeDocument/2006/relationships/slide" Target="slide16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7.jpg"/><Relationship Id="rId4" Type="http://schemas.openxmlformats.org/officeDocument/2006/relationships/slide" Target="slide169.xml"/><Relationship Id="rId5" Type="http://schemas.openxmlformats.org/officeDocument/2006/relationships/slide" Target="slide168.xml"/><Relationship Id="rId6" Type="http://schemas.openxmlformats.org/officeDocument/2006/relationships/slide" Target="slide145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67.xml"/><Relationship Id="rId8" Type="http://schemas.openxmlformats.org/officeDocument/2006/relationships/slide" Target="slide145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45.xml"/><Relationship Id="rId8" Type="http://schemas.openxmlformats.org/officeDocument/2006/relationships/slide" Target="slide170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.jpg"/><Relationship Id="rId4" Type="http://schemas.openxmlformats.org/officeDocument/2006/relationships/slide" Target="slide172.xml"/><Relationship Id="rId5" Type="http://schemas.openxmlformats.org/officeDocument/2006/relationships/slide" Target="slide171.xml"/><Relationship Id="rId6" Type="http://schemas.openxmlformats.org/officeDocument/2006/relationships/slide" Target="slide145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70.xml"/><Relationship Id="rId8" Type="http://schemas.openxmlformats.org/officeDocument/2006/relationships/slide" Target="slide145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45.xml"/><Relationship Id="rId8" Type="http://schemas.openxmlformats.org/officeDocument/2006/relationships/slide" Target="slide173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slide" Target="slide145.xml"/><Relationship Id="rId6" Type="http://schemas.openxmlformats.org/officeDocument/2006/relationships/slide" Target="slide174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.jpg"/><Relationship Id="rId4" Type="http://schemas.openxmlformats.org/officeDocument/2006/relationships/slide" Target="slide14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.jpg"/><Relationship Id="rId4" Type="http://schemas.openxmlformats.org/officeDocument/2006/relationships/slide" Target="slide14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.jpg"/><Relationship Id="rId4" Type="http://schemas.openxmlformats.org/officeDocument/2006/relationships/slide" Target="slide145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.jpg"/><Relationship Id="rId4" Type="http://schemas.openxmlformats.org/officeDocument/2006/relationships/slide" Target="slide145.xml"/><Relationship Id="rId5" Type="http://schemas.openxmlformats.org/officeDocument/2006/relationships/slide" Target="slide178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11.png"/><Relationship Id="rId7" Type="http://schemas.openxmlformats.org/officeDocument/2006/relationships/slide" Target="slide145.xml"/><Relationship Id="rId8" Type="http://schemas.openxmlformats.org/officeDocument/2006/relationships/slide" Target="slide17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.jpg"/><Relationship Id="rId4" Type="http://schemas.openxmlformats.org/officeDocument/2006/relationships/image" Target="../media/image57.jpg"/><Relationship Id="rId5" Type="http://schemas.openxmlformats.org/officeDocument/2006/relationships/slide" Target="slide181.xml"/><Relationship Id="rId6" Type="http://schemas.openxmlformats.org/officeDocument/2006/relationships/slide" Target="slide180.xml"/><Relationship Id="rId7" Type="http://schemas.openxmlformats.org/officeDocument/2006/relationships/slide" Target="slide14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79.xml"/><Relationship Id="rId8" Type="http://schemas.openxmlformats.org/officeDocument/2006/relationships/slide" Target="slide145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45.xml"/><Relationship Id="rId8" Type="http://schemas.openxmlformats.org/officeDocument/2006/relationships/slide" Target="slide18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.jpg"/><Relationship Id="rId4" Type="http://schemas.openxmlformats.org/officeDocument/2006/relationships/image" Target="../media/image57.jpg"/><Relationship Id="rId5" Type="http://schemas.openxmlformats.org/officeDocument/2006/relationships/slide" Target="slide145.xml"/><Relationship Id="rId6" Type="http://schemas.openxmlformats.org/officeDocument/2006/relationships/slide" Target="slide183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.jpg"/><Relationship Id="rId4" Type="http://schemas.openxmlformats.org/officeDocument/2006/relationships/slide" Target="slide36.xml"/><Relationship Id="rId5" Type="http://schemas.openxmlformats.org/officeDocument/2006/relationships/slide" Target="slide89.xml"/><Relationship Id="rId6" Type="http://schemas.openxmlformats.org/officeDocument/2006/relationships/slide" Target="slide107.xml"/><Relationship Id="rId7" Type="http://schemas.openxmlformats.org/officeDocument/2006/relationships/slide" Target="slide184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7.jpg"/><Relationship Id="rId4" Type="http://schemas.openxmlformats.org/officeDocument/2006/relationships/slide" Target="slide183.xml"/><Relationship Id="rId5" Type="http://schemas.openxmlformats.org/officeDocument/2006/relationships/slide" Target="slide185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slide" Target="slide18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7.jpg"/><Relationship Id="rId4" Type="http://schemas.openxmlformats.org/officeDocument/2006/relationships/slide" Target="slide191.xml"/><Relationship Id="rId5" Type="http://schemas.openxmlformats.org/officeDocument/2006/relationships/slide" Target="slide187.xml"/><Relationship Id="rId6" Type="http://schemas.openxmlformats.org/officeDocument/2006/relationships/slide" Target="slide183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88.xml"/><Relationship Id="rId8" Type="http://schemas.openxmlformats.org/officeDocument/2006/relationships/slide" Target="slide183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7.jpg"/><Relationship Id="rId4" Type="http://schemas.openxmlformats.org/officeDocument/2006/relationships/slide" Target="slide191.xml"/><Relationship Id="rId5" Type="http://schemas.openxmlformats.org/officeDocument/2006/relationships/slide" Target="slide189.xml"/><Relationship Id="rId6" Type="http://schemas.openxmlformats.org/officeDocument/2006/relationships/slide" Target="slide18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7.jpg"/><Relationship Id="rId4" Type="http://schemas.openxmlformats.org/officeDocument/2006/relationships/image" Target="../media/image26.jpg"/><Relationship Id="rId5" Type="http://schemas.openxmlformats.org/officeDocument/2006/relationships/slide" Target="slide190.xml"/><Relationship Id="rId6" Type="http://schemas.openxmlformats.org/officeDocument/2006/relationships/slide" Target="slide183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7.jpg"/><Relationship Id="rId4" Type="http://schemas.openxmlformats.org/officeDocument/2006/relationships/slide" Target="slide191.xml"/><Relationship Id="rId5" Type="http://schemas.openxmlformats.org/officeDocument/2006/relationships/slide" Target="slide189.xml"/><Relationship Id="rId6" Type="http://schemas.openxmlformats.org/officeDocument/2006/relationships/slide" Target="slide18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83.xml"/><Relationship Id="rId8" Type="http://schemas.openxmlformats.org/officeDocument/2006/relationships/slide" Target="slide19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7.jpg"/><Relationship Id="rId4" Type="http://schemas.openxmlformats.org/officeDocument/2006/relationships/slide" Target="slide197.xml"/><Relationship Id="rId5" Type="http://schemas.openxmlformats.org/officeDocument/2006/relationships/slide" Target="slide193.xml"/><Relationship Id="rId6" Type="http://schemas.openxmlformats.org/officeDocument/2006/relationships/slide" Target="slide183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194.xml"/><Relationship Id="rId8" Type="http://schemas.openxmlformats.org/officeDocument/2006/relationships/slide" Target="slide18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7.jpg"/><Relationship Id="rId4" Type="http://schemas.openxmlformats.org/officeDocument/2006/relationships/slide" Target="slide197.xml"/><Relationship Id="rId5" Type="http://schemas.openxmlformats.org/officeDocument/2006/relationships/slide" Target="slide195.xml"/><Relationship Id="rId6" Type="http://schemas.openxmlformats.org/officeDocument/2006/relationships/slide" Target="slide183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7.jpg"/><Relationship Id="rId4" Type="http://schemas.openxmlformats.org/officeDocument/2006/relationships/image" Target="../media/image31.jpg"/><Relationship Id="rId5" Type="http://schemas.openxmlformats.org/officeDocument/2006/relationships/slide" Target="slide196.xml"/><Relationship Id="rId6" Type="http://schemas.openxmlformats.org/officeDocument/2006/relationships/slide" Target="slide183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7.jpg"/><Relationship Id="rId4" Type="http://schemas.openxmlformats.org/officeDocument/2006/relationships/slide" Target="slide197.xml"/><Relationship Id="rId5" Type="http://schemas.openxmlformats.org/officeDocument/2006/relationships/slide" Target="slide195.xml"/><Relationship Id="rId6" Type="http://schemas.openxmlformats.org/officeDocument/2006/relationships/slide" Target="slide183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83.xml"/><Relationship Id="rId8" Type="http://schemas.openxmlformats.org/officeDocument/2006/relationships/slide" Target="slide198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7.jpg"/><Relationship Id="rId4" Type="http://schemas.openxmlformats.org/officeDocument/2006/relationships/slide" Target="slide203.xml"/><Relationship Id="rId5" Type="http://schemas.openxmlformats.org/officeDocument/2006/relationships/slide" Target="slide199.xml"/><Relationship Id="rId6" Type="http://schemas.openxmlformats.org/officeDocument/2006/relationships/slide" Target="slide18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200.xml"/><Relationship Id="rId8" Type="http://schemas.openxmlformats.org/officeDocument/2006/relationships/slide" Target="slide183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7.jpg"/><Relationship Id="rId4" Type="http://schemas.openxmlformats.org/officeDocument/2006/relationships/slide" Target="slide203.xml"/><Relationship Id="rId5" Type="http://schemas.openxmlformats.org/officeDocument/2006/relationships/slide" Target="slide201.xml"/><Relationship Id="rId6" Type="http://schemas.openxmlformats.org/officeDocument/2006/relationships/slide" Target="slide183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7.jpg"/><Relationship Id="rId4" Type="http://schemas.openxmlformats.org/officeDocument/2006/relationships/image" Target="../media/image35.jpg"/><Relationship Id="rId5" Type="http://schemas.openxmlformats.org/officeDocument/2006/relationships/slide" Target="slide202.xml"/><Relationship Id="rId6" Type="http://schemas.openxmlformats.org/officeDocument/2006/relationships/slide" Target="slide183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7.jpg"/><Relationship Id="rId4" Type="http://schemas.openxmlformats.org/officeDocument/2006/relationships/slide" Target="slide203.xml"/><Relationship Id="rId5" Type="http://schemas.openxmlformats.org/officeDocument/2006/relationships/slide" Target="slide201.xml"/><Relationship Id="rId6" Type="http://schemas.openxmlformats.org/officeDocument/2006/relationships/slide" Target="slide183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83.xml"/><Relationship Id="rId8" Type="http://schemas.openxmlformats.org/officeDocument/2006/relationships/slide" Target="slide204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7.jpg"/><Relationship Id="rId4" Type="http://schemas.openxmlformats.org/officeDocument/2006/relationships/slide" Target="slide209.xml"/><Relationship Id="rId5" Type="http://schemas.openxmlformats.org/officeDocument/2006/relationships/slide" Target="slide205.xml"/><Relationship Id="rId6" Type="http://schemas.openxmlformats.org/officeDocument/2006/relationships/slide" Target="slide18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7.jpg"/><Relationship Id="rId4" Type="http://schemas.openxmlformats.org/officeDocument/2006/relationships/audio" Target="../media/snd_hint.wav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" Target="slide206.xml"/><Relationship Id="rId8" Type="http://schemas.openxmlformats.org/officeDocument/2006/relationships/slide" Target="slide183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7.jpg"/><Relationship Id="rId4" Type="http://schemas.openxmlformats.org/officeDocument/2006/relationships/slide" Target="slide209.xml"/><Relationship Id="rId5" Type="http://schemas.openxmlformats.org/officeDocument/2006/relationships/slide" Target="slide207.xml"/><Relationship Id="rId6" Type="http://schemas.openxmlformats.org/officeDocument/2006/relationships/slide" Target="slide183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slide" Target="slide208.xml"/><Relationship Id="rId6" Type="http://schemas.openxmlformats.org/officeDocument/2006/relationships/slide" Target="slide183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7.jpg"/><Relationship Id="rId4" Type="http://schemas.openxmlformats.org/officeDocument/2006/relationships/slide" Target="slide209.xml"/><Relationship Id="rId5" Type="http://schemas.openxmlformats.org/officeDocument/2006/relationships/slide" Target="slide207.xml"/><Relationship Id="rId6" Type="http://schemas.openxmlformats.org/officeDocument/2006/relationships/slide" Target="slide183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7.jpg"/><Relationship Id="rId4" Type="http://schemas.openxmlformats.org/officeDocument/2006/relationships/audio" Target="../media/snd_correct.wav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" Target="slide183.xml"/><Relationship Id="rId8" Type="http://schemas.openxmlformats.org/officeDocument/2006/relationships/slide" Target="slide210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1.jpg"/><Relationship Id="rId4" Type="http://schemas.openxmlformats.org/officeDocument/2006/relationships/slide" Target="slide36.xml"/><Relationship Id="rId5" Type="http://schemas.openxmlformats.org/officeDocument/2006/relationships/slide" Target="slide89.xml"/><Relationship Id="rId6" Type="http://schemas.openxmlformats.org/officeDocument/2006/relationships/slide" Target="slide107.xml"/><Relationship Id="rId7" Type="http://schemas.openxmlformats.org/officeDocument/2006/relationships/slide" Target="slide21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7.jpg"/><Relationship Id="rId4" Type="http://schemas.openxmlformats.org/officeDocument/2006/relationships/slide" Target="slide21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1.jpg"/><Relationship Id="rId4" Type="http://schemas.openxmlformats.org/officeDocument/2006/relationships/audio" Target="../media/snd_fanfare.wav"/><Relationship Id="rId5" Type="http://schemas.openxmlformats.org/officeDocument/2006/relationships/image" Target="../media/image58.png"/><Relationship Id="rId6" Type="http://schemas.openxmlformats.org/officeDocument/2006/relationships/image" Target="../media/image23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doorframe" descr="door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57200"/>
            <a:ext cx="5605272" cy="4993787"/>
          </a:xfrm>
          <a:prstGeom prst="rect">
            <a:avLst/>
          </a:prstGeom>
        </p:spPr>
      </p:pic>
      <p:sp>
        <p:nvSpPr>
          <p:cNvPr id="4" name="!!doorsign"/>
          <p:cNvSpPr txBox="1"/>
          <p:nvPr/>
        </p:nvSpPr>
        <p:spPr>
          <a:xfrm>
            <a:off x="4158109" y="528539"/>
            <a:ext cx="3872733" cy="407656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مختبر العلوم</a:t>
            </a:r>
          </a:p>
        </p:txBody>
      </p:sp>
      <p:pic>
        <p:nvPicPr>
          <p:cNvPr id="5" name="!!doorL" descr="door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668" y="1017727"/>
            <a:ext cx="2598807" cy="4433260"/>
          </a:xfrm>
          <a:prstGeom prst="rect">
            <a:avLst/>
          </a:prstGeom>
        </p:spPr>
      </p:pic>
      <p:pic>
        <p:nvPicPr>
          <p:cNvPr id="6" name="!!doorR" descr="door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1017727"/>
            <a:ext cx="2598807" cy="4433260"/>
          </a:xfrm>
          <a:prstGeom prst="rect">
            <a:avLst/>
          </a:prstGeom>
        </p:spPr>
      </p:pic>
      <p:sp>
        <p:nvSpPr>
          <p:cNvPr id="7" name="!!coverpanel"/>
          <p:cNvSpPr/>
          <p:nvPr/>
        </p:nvSpPr>
        <p:spPr>
          <a:xfrm>
            <a:off x="1828800" y="4709160"/>
            <a:ext cx="8531352" cy="1508760"/>
          </a:xfrm>
          <a:prstGeom prst="roundRect">
            <a:avLst>
              <a:gd name="adj" fmla="val 24242"/>
            </a:avLst>
          </a:prstGeom>
          <a:solidFill>
            <a:srgbClr val="FFFFFF">
              <a:alpha val="96000"/>
            </a:srgbClr>
          </a:solidFill>
          <a:ln w="3810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overtitle"/>
          <p:cNvSpPr txBox="1"/>
          <p:nvPr/>
        </p:nvSpPr>
        <p:spPr>
          <a:xfrm>
            <a:off x="1920240" y="4709160"/>
            <a:ext cx="8348472" cy="7772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4000" b="1" i="0" lang="ar-SA">
                <a:solidFill>
                  <a:srgbClr val="23325C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4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 مختبر شامه الافتراضي</a:t>
            </a:r>
          </a:p>
        </p:txBody>
      </p:sp>
      <p:sp>
        <p:nvSpPr>
          <p:cNvPr id="9" name="!!coversub"/>
          <p:cNvSpPr txBox="1"/>
          <p:nvPr/>
        </p:nvSpPr>
        <p:spPr>
          <a:xfrm>
            <a:off x="1920240" y="5394960"/>
            <a:ext cx="8348472" cy="4572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2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رحلة علمية لاكتشاف تكاثر المخلوقات الحية الدقيقة</a:t>
            </a:r>
          </a:p>
        </p:txBody>
      </p:sp>
      <p:sp>
        <p:nvSpPr>
          <p:cNvPr id="10" name="!!covermeta"/>
          <p:cNvSpPr txBox="1"/>
          <p:nvPr/>
        </p:nvSpPr>
        <p:spPr>
          <a:xfrm>
            <a:off x="1920240" y="5788152"/>
            <a:ext cx="8348472" cy="384048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7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العلوم · الصف السادس الابتدائي · المعلمة: أ/ شامه البقمي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مختبر شامه الافتراضي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مرحبًا بعالماتي الصغيرات</a:t>
            </a:r>
          </a:p>
        </p:txBody>
      </p:sp>
      <p:pic>
        <p:nvPicPr>
          <p:cNvPr id="4" name="!!doorframe" descr="door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188720"/>
            <a:ext cx="4873752" cy="4342069"/>
          </a:xfrm>
          <a:prstGeom prst="rect">
            <a:avLst/>
          </a:prstGeom>
        </p:spPr>
      </p:pic>
      <p:sp>
        <p:nvSpPr>
          <p:cNvPr id="5" name="!!doorsign"/>
          <p:cNvSpPr txBox="1"/>
          <p:nvPr/>
        </p:nvSpPr>
        <p:spPr>
          <a:xfrm>
            <a:off x="4410816" y="1250749"/>
            <a:ext cx="3367319" cy="354454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مختبر العلوم</a:t>
            </a:r>
          </a:p>
        </p:txBody>
      </p:sp>
      <p:pic>
        <p:nvPicPr>
          <p:cNvPr id="6" name="!!doorL" descr="door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827" y="1676095"/>
            <a:ext cx="2259648" cy="3854694"/>
          </a:xfrm>
          <a:prstGeom prst="rect">
            <a:avLst/>
          </a:prstGeom>
        </p:spPr>
      </p:pic>
      <p:pic>
        <p:nvPicPr>
          <p:cNvPr id="7" name="!!doorR" descr="door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1676095"/>
            <a:ext cx="2259648" cy="3854694"/>
          </a:xfrm>
          <a:prstGeom prst="rect">
            <a:avLst/>
          </a:prstGeom>
        </p:spPr>
      </p:pic>
      <p:pic>
        <p:nvPicPr>
          <p:cNvPr id="8" name="!!guide" descr="guide_wa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743200"/>
            <a:ext cx="2232474" cy="3520440"/>
          </a:xfrm>
          <a:prstGeom prst="rect">
            <a:avLst/>
          </a:prstGeom>
        </p:spPr>
      </p:pic>
      <p:sp>
        <p:nvSpPr>
          <p:cNvPr id="9" name="bubble"/>
          <p:cNvSpPr/>
          <p:nvPr/>
        </p:nvSpPr>
        <p:spPr>
          <a:xfrm>
            <a:off x="228600" y="1051560"/>
            <a:ext cx="3017520" cy="1600200"/>
          </a:xfrm>
          <a:prstGeom prst="wedgeRoundRectCallout">
            <a:avLst>
              <a:gd name="adj1" fmla="val -10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r" rtl="1"/>
            <a:r>
              <a:rPr sz="16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أهلًا بكنّ يا عالماتي! </a:t>
            </a:r>
          </a:p>
          <a:p>
            <a:pPr algn="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أنا «العالمة نور»، مرشدتكن في رحلة اليوم داخل مختبر شامه الافتراضي.</a:t>
            </a:r>
          </a:p>
        </p:txBody>
      </p:sp>
      <p:pic>
        <p:nvPicPr>
          <p:cNvPr id="10" name="Picture 9" descr="microsc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2194560"/>
            <a:ext cx="2658794" cy="3291840"/>
          </a:xfrm>
          <a:prstGeom prst="rect">
            <a:avLst/>
          </a:prstGeom>
        </p:spPr>
      </p:pic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مختبر شامه الافتراضي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قوانين مختبرنا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11112" y="1371600"/>
            <a:ext cx="5029200" cy="1188720"/>
          </a:xfrm>
          <a:prstGeom prst="roundRect">
            <a:avLst>
              <a:gd name="adj" fmla="val 23076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r" rtl="1"/>
            <a:r>
              <a:rPr sz="2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١. أرفع يدي قبل الإجابة</a:t>
            </a:r>
          </a:p>
        </p:txBody>
      </p:sp>
      <p:pic>
        <p:nvPicPr>
          <p:cNvPr id="5" name="Picture 4" descr="ic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600200"/>
            <a:ext cx="73152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53312" y="1371600"/>
            <a:ext cx="5029200" cy="1188720"/>
          </a:xfrm>
          <a:prstGeom prst="roundRect">
            <a:avLst>
              <a:gd name="adj" fmla="val 23076"/>
            </a:avLst>
          </a:prstGeom>
          <a:solidFill>
            <a:srgbClr val="E2F7E9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r" rtl="1"/>
            <a:r>
              <a:rPr sz="2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٢. أتعاون مع فريقي</a:t>
            </a:r>
          </a:p>
        </p:txBody>
      </p:sp>
      <p:pic>
        <p:nvPicPr>
          <p:cNvPr id="7" name="Picture 6" descr="ic_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1600200"/>
            <a:ext cx="731520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11112" y="2788920"/>
            <a:ext cx="5029200" cy="1188720"/>
          </a:xfrm>
          <a:prstGeom prst="roundRect">
            <a:avLst>
              <a:gd name="adj" fmla="val 23076"/>
            </a:avLst>
          </a:prstGeom>
          <a:solidFill>
            <a:srgbClr val="DCEB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r" rtl="1"/>
            <a:r>
              <a:rPr sz="2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٣. أفكر قبل أن أختار</a:t>
            </a:r>
          </a:p>
        </p:txBody>
      </p:sp>
      <p:pic>
        <p:nvPicPr>
          <p:cNvPr id="9" name="Picture 8" descr="ic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017520"/>
            <a:ext cx="731520" cy="731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53312" y="2788920"/>
            <a:ext cx="5029200" cy="1188720"/>
          </a:xfrm>
          <a:prstGeom prst="roundRect">
            <a:avLst>
              <a:gd name="adj" fmla="val 23076"/>
            </a:avLst>
          </a:prstGeom>
          <a:solidFill>
            <a:srgbClr val="FFE3E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r" rtl="1"/>
            <a:r>
              <a:rPr sz="2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٤. الخطأ فرصة لأتعلم</a:t>
            </a:r>
          </a:p>
        </p:txBody>
      </p:sp>
      <p:pic>
        <p:nvPicPr>
          <p:cNvPr id="11" name="Picture 10" descr="ic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3017520"/>
            <a:ext cx="731520" cy="731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377440" y="4434840"/>
            <a:ext cx="9262872" cy="914400"/>
          </a:xfrm>
          <a:prstGeom prst="roundRect">
            <a:avLst>
              <a:gd name="adj" fmla="val 30000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B35A00"/>
                </a:solidFill>
                <a:latin typeface="Arial"/>
                <a:ea typeface="Arial"/>
                <a:cs typeface="Arial"/>
              </a:rPr>
              <a:t>بطاقة السلامة: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المختبر الحقيقي لا نلمس العينات، ولا نفتح الأكياس المغلقة.</a:t>
            </a:r>
          </a:p>
        </p:txBody>
      </p:sp>
      <p:pic>
        <p:nvPicPr>
          <p:cNvPr id="13" name="!!guide" descr="guide_po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977639"/>
            <a:ext cx="1449659" cy="2286000"/>
          </a:xfrm>
          <a:prstGeom prst="rect">
            <a:avLst/>
          </a:prstGeom>
        </p:spPr>
      </p:pic>
      <p:sp>
        <p:nvSpPr>
          <p:cNvPr id="5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5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مختبر شامه الافتراضي</a:t>
            </a:r>
          </a:p>
        </p:txBody>
      </p:sp>
      <p:sp>
        <p:nvSpPr>
          <p:cNvPr id="58" name="nav_rev94">
            <a:hlinkClick action="ppaction://hlinksldjump" r:id="rId9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بطاقات المراجعة: ما المخلوقات الحية الدقيقة؟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7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اضغطي على البطاقة لقلبها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" y="1655635"/>
            <a:ext cx="3438144" cy="4415409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94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728787"/>
            <a:ext cx="3291840" cy="42691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57400" y="595217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sp>
        <p:nvSpPr>
          <p:cNvPr id="9" name="card0"/>
          <p:cNvSpPr/>
          <p:nvPr/>
        </p:nvSpPr>
        <p:spPr>
          <a:xfrm>
            <a:off x="7955280" y="1600200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المخلوق الحي الدقيق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00200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5AA9E6"/>
                </a:solidFill>
                <a:latin typeface="Arial"/>
                <a:ea typeface="Arial"/>
                <a:cs typeface="Arial"/>
              </a:rPr>
              <a:t>المخلوق الحي الدقيق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مخلوق حي مجهري لا يُرى بالعين المجردة.</a:t>
            </a:r>
          </a:p>
        </p:txBody>
      </p:sp>
      <p:sp>
        <p:nvSpPr>
          <p:cNvPr id="11" name="card1"/>
          <p:cNvSpPr/>
          <p:nvPr/>
        </p:nvSpPr>
        <p:spPr>
          <a:xfrm>
            <a:off x="4069080" y="1600200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وحيد الخلية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600200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3BB59A"/>
                </a:solidFill>
                <a:latin typeface="Arial"/>
                <a:ea typeface="Arial"/>
                <a:cs typeface="Arial"/>
              </a:rPr>
              <a:t>وحيد الخلية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يتكوّن جسمه من خلية واحدة.</a:t>
            </a:r>
          </a:p>
        </p:txBody>
      </p:sp>
      <p:sp>
        <p:nvSpPr>
          <p:cNvPr id="13" name="card2"/>
          <p:cNvSpPr/>
          <p:nvPr/>
        </p:nvSpPr>
        <p:spPr>
          <a:xfrm>
            <a:off x="7955280" y="3986784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الفطريات المجهرية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986784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F28C28"/>
                </a:solidFill>
                <a:latin typeface="Arial"/>
                <a:ea typeface="Arial"/>
                <a:cs typeface="Arial"/>
              </a:rPr>
              <a:t>الفطريات المجهرية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تشمل العفن والخميرة، لا تصنع غذاءها، وتمتص المواد المغذية من الوسط الذي تعيش فيه.</a:t>
            </a:r>
          </a:p>
        </p:txBody>
      </p:sp>
      <p:sp>
        <p:nvSpPr>
          <p:cNvPr id="15" name="card3"/>
          <p:cNvSpPr/>
          <p:nvPr/>
        </p:nvSpPr>
        <p:spPr>
          <a:xfrm>
            <a:off x="4069080" y="3986784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فوائد وأضرار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986784"/>
            <a:ext cx="3685031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8E7CF0"/>
                </a:solidFill>
                <a:latin typeface="Arial"/>
                <a:ea typeface="Arial"/>
                <a:cs typeface="Arial"/>
              </a:rPr>
              <a:t>فوائد وأضرار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 في صنع الخبز، والبنسيليوم لصناعة الأدوية، وبعضها يسبب أمراضًا مثل القدم الرياضي.</a:t>
            </a:r>
          </a:p>
        </p:txBody>
      </p:sp>
      <p:sp>
        <p:nvSpPr>
          <p:cNvPr id="3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3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37" name="nav_rev95">
            <a:hlinkClick action="ppaction://hlinksldjump" r:id="rId5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بطاقات المراجعة: الطلائعيات والبكتيريا والبدائيات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7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اضغطي على البطاقة لقلبها</a:t>
            </a:r>
          </a:p>
        </p:txBody>
      </p:sp>
      <p:sp>
        <p:nvSpPr>
          <p:cNvPr id="6" name="card0"/>
          <p:cNvSpPr/>
          <p:nvPr/>
        </p:nvSpPr>
        <p:spPr>
          <a:xfrm>
            <a:off x="807720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الطلائعيات الشبيهة بالنباتات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720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3BB59A"/>
                </a:solidFill>
                <a:latin typeface="Arial"/>
                <a:ea typeface="Arial"/>
                <a:cs typeface="Arial"/>
              </a:rPr>
              <a:t>الطلائعيات الشبيهة بالنباتات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تصنع غذاءها بنفسها، مثل اليوجلينا والدياتومات.</a:t>
            </a:r>
          </a:p>
        </p:txBody>
      </p:sp>
      <p:sp>
        <p:nvSpPr>
          <p:cNvPr id="8" name="card1"/>
          <p:cNvSpPr/>
          <p:nvPr/>
        </p:nvSpPr>
        <p:spPr>
          <a:xfrm>
            <a:off x="431292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تراكيب الحركة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5AA9E6"/>
                </a:solidFill>
                <a:latin typeface="Arial"/>
                <a:ea typeface="Arial"/>
                <a:cs typeface="Arial"/>
              </a:rPr>
              <a:t>تراكيب الحركة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الأسواط، والأهداب، والأقدام الكاذبة في الأميبا.</a:t>
            </a:r>
          </a:p>
        </p:txBody>
      </p:sp>
      <p:sp>
        <p:nvSpPr>
          <p:cNvPr id="10" name="card2"/>
          <p:cNvSpPr/>
          <p:nvPr/>
        </p:nvSpPr>
        <p:spPr>
          <a:xfrm>
            <a:off x="548639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7AA2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البكتيريا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39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FF7AA2"/>
                </a:solidFill>
                <a:latin typeface="Arial"/>
                <a:ea typeface="Arial"/>
                <a:cs typeface="Arial"/>
              </a:rPr>
              <a:t>البكتيريا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وحيدة الخلية؛ بعضها ضار (كروية تسبب التهاب الحلق)، ومعظمها غير ضار (عصوية لإنتاج اللبن الرائب).</a:t>
            </a:r>
          </a:p>
        </p:txBody>
      </p:sp>
      <p:sp>
        <p:nvSpPr>
          <p:cNvPr id="12" name="card3"/>
          <p:cNvSpPr/>
          <p:nvPr/>
        </p:nvSpPr>
        <p:spPr>
          <a:xfrm>
            <a:off x="807720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البدائيات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F28C28"/>
                </a:solidFill>
                <a:latin typeface="Arial"/>
                <a:ea typeface="Arial"/>
                <a:cs typeface="Arial"/>
              </a:rPr>
              <a:t>البدائيات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وحيدة الخلية، تختلف صفاتها الوراثية عن البكتيريا، وتعيش في ظروف قاسية.</a:t>
            </a:r>
          </a:p>
        </p:txBody>
      </p:sp>
      <p:sp>
        <p:nvSpPr>
          <p:cNvPr id="14" name="card4"/>
          <p:cNvSpPr/>
          <p:nvPr/>
        </p:nvSpPr>
        <p:spPr>
          <a:xfrm>
            <a:off x="431292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الميكروبات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8E7CF0"/>
                </a:solidFill>
                <a:latin typeface="Arial"/>
                <a:ea typeface="Arial"/>
                <a:cs typeface="Arial"/>
              </a:rPr>
              <a:t>الميكروبات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مصطلح يصف المخلوقات الحية الدقيقة المفيدة والضارة، وليس الضارة فقط.</a:t>
            </a:r>
          </a:p>
        </p:txBody>
      </p:sp>
      <p:sp>
        <p:nvSpPr>
          <p:cNvPr id="16" name="card5"/>
          <p:cNvSpPr/>
          <p:nvPr/>
        </p:nvSpPr>
        <p:spPr>
          <a:xfrm>
            <a:off x="548639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3D86C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الدياتومات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39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3D86C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3D86C6"/>
                </a:solidFill>
                <a:latin typeface="Arial"/>
                <a:ea typeface="Arial"/>
                <a:cs typeface="Arial"/>
              </a:rPr>
              <a:t>الدياتومات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تعيش في البحيرات والمحيطات، ومصدر الغذاء الرئيس في الأنظمة البيئية البحرية.</a:t>
            </a:r>
          </a:p>
        </p:txBody>
      </p:sp>
      <p:sp>
        <p:nvSpPr>
          <p:cNvPr id="5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5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  <p:sp>
        <p:nvSpPr>
          <p:cNvPr id="53" name="nav_p95read">
            <a:hlinkClick action="ppaction://hlinksldjump" r:id="rId4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أقرأ الصورة (ص٩٥)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799" y="1161288"/>
            <a:ext cx="4208801" cy="4992624"/>
          </a:xfrm>
          <a:prstGeom prst="roundRect">
            <a:avLst>
              <a:gd name="adj" fmla="val 2172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5_roc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51" y="1234440"/>
            <a:ext cx="4062497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37088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ص٩٥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أقرأ الصورة: </a:t>
            </a:r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أين كانت تعيش المخلوقات التي كوّنت هذه الصخور؟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مياه البحر الضحلة المالحة قرب الشاطئ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الصحراء الجافة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داخل جسم الإنسان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أقرأ الصورة (ص٩٥)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الإرشاد في الكتاب: حدّدي أماكن هذه الصخور. انظري إلى الماء حولها.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  <p:sp>
        <p:nvSpPr>
          <p:cNvPr id="13" name="nav_p95read">
            <a:hlinkClick action="ppaction://hlinksldjump" r:id="rId7"/>
          </p:cNvPr>
          <p:cNvSpPr/>
          <p:nvPr/>
        </p:nvSpPr>
        <p:spPr>
          <a:xfrm>
            <a:off x="6563563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أقرأ الصورة (ص٩٥)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أقرأ الصورة: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أين كانت تعيش المخلوقات التي كوّنت هذه الصخور؟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في مياه البحر الضحلة المالحة قرب الشاطئ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الإجابة النموذجية: نتجت هذه الصخور من مستعمرات بكتيريا وطحالب بدائية كانت تعيش في مياه البحر الضحلة المالحة قرب الشاطئ.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  <p:sp>
        <p:nvSpPr>
          <p:cNvPr id="18" name="nav_p95skin">
            <a:hlinkClick action="ppaction://hlinksldjump" r:id="rId7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(ص٩٥)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220128"/>
            <a:ext cx="4352544" cy="2874942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5_archa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93280"/>
            <a:ext cx="4206240" cy="2728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71799" y="497619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234440"/>
            <a:ext cx="667512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281160" y="109728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أستنتج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508760"/>
            <a:ext cx="6309359" cy="12801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5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هل يُحتمل وجود بدائيات على جلدي؟ أوضّح إجابتي.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971800"/>
            <a:ext cx="6309359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9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ناقشي مع مجموعتك… ثم اضغطي لإظهار الإجابة النموذجية</a:t>
            </a:r>
          </a:p>
        </p:txBody>
      </p:sp>
      <p:sp>
        <p:nvSpPr>
          <p:cNvPr id="12" name="revealbtn"/>
          <p:cNvSpPr/>
          <p:nvPr/>
        </p:nvSpPr>
        <p:spPr>
          <a:xfrm>
            <a:off x="6492240" y="361188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إظهار الإجابة النموذجية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4389120"/>
            <a:ext cx="6675120" cy="1783080"/>
          </a:xfrm>
          <a:prstGeom prst="roundRect">
            <a:avLst>
              <a:gd name="adj" fmla="val 12820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66360" y="4434840"/>
            <a:ext cx="6309359" cy="1691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نعم يُحتمل؛ فالبدائيات تعيش في بيئات قاسية متنوعة، منها الأماكن شديدة الملوحة، وجلدي مالح بالعرق فيصلح بيئة لها.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  <p:sp>
        <p:nvSpPr>
          <p:cNvPr id="17" name="nav_p95diat">
            <a:hlinkClick action="ppaction://hlinksldjump" r:id="rId5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التفكير الناقد (ص٩٥)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445945"/>
            <a:ext cx="4626864" cy="2423309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5_ch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19097"/>
            <a:ext cx="4480560" cy="22770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475038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ص٩٥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أين توجد الدياتومات: قرب سطح البحيرات والمحيطات أم في أعماق المياه؟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قرب السطح؛ لأنها تصنع غذاءها وتحتاج إلى ضوء الشمس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الأعماق؛ لأنها تحب الظلام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الأعماق؛ لأن الماء هناك أدفأ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التفكير الناقد (ص٩٥)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الدياتومات شبيهة بالنباتات. ماذا تحتاج النباتات لتصنع غذاءها؟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  <p:sp>
        <p:nvSpPr>
          <p:cNvPr id="13" name="nav_p95diat">
            <a:hlinkClick action="ppaction://hlinksldjump" r:id="rId7"/>
          </p:cNvPr>
          <p:cNvSpPr/>
          <p:nvPr/>
        </p:nvSpPr>
        <p:spPr>
          <a:xfrm>
            <a:off x="6563563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التفكير الناقد (ص٩٥)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أين توجد الدياتومات: قرب سطح البحيرات والمحيطات أم في أعماق المياه؟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قرب السطح؛ لأنها تصنع غذاءها وتحتاج إلى ضوء الشمس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الإجابة النموذجية: قرب السطح؛ لأنها شبيهة بالنباتات تصنع غذاءها بنفسها، وهذا يحتاج إلى ضوء الشمس الذي لا يصل إلى الأعماق.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ص٩٥</a:t>
            </a:r>
          </a:p>
        </p:txBody>
      </p:sp>
      <p:sp>
        <p:nvSpPr>
          <p:cNvPr id="18" name="nav_code">
            <a:hlinkClick action="ppaction://hlinksldjump" r:id="rId7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Segoe UI Emoji"/>
                <a:ea typeface="Segoe UI Emoji"/>
                <a:cs typeface="Segoe UI Emoji"/>
              </a:rPr>
              <a:t>🔐</a:t>
            </a:r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 ساعدونا لندخل المختبر!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pic>
        <p:nvPicPr>
          <p:cNvPr id="5" name="!!doorframe" descr="door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188720"/>
            <a:ext cx="4873752" cy="4342069"/>
          </a:xfrm>
          <a:prstGeom prst="rect">
            <a:avLst/>
          </a:prstGeom>
        </p:spPr>
      </p:pic>
      <p:sp>
        <p:nvSpPr>
          <p:cNvPr id="6" name="!!doorsign"/>
          <p:cNvSpPr txBox="1"/>
          <p:nvPr/>
        </p:nvSpPr>
        <p:spPr>
          <a:xfrm>
            <a:off x="4410816" y="1250749"/>
            <a:ext cx="3367319" cy="354454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مختبر العلوم</a:t>
            </a:r>
          </a:p>
        </p:txBody>
      </p:sp>
      <p:pic>
        <p:nvPicPr>
          <p:cNvPr id="7" name="!!doorL" descr="door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827" y="1676095"/>
            <a:ext cx="2259648" cy="3854694"/>
          </a:xfrm>
          <a:prstGeom prst="rect">
            <a:avLst/>
          </a:prstGeom>
        </p:spPr>
      </p:pic>
      <p:pic>
        <p:nvPicPr>
          <p:cNvPr id="8" name="!!doorR" descr="door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1676095"/>
            <a:ext cx="2259648" cy="3854694"/>
          </a:xfrm>
          <a:prstGeom prst="rect">
            <a:avLst/>
          </a:prstGeom>
        </p:spPr>
      </p:pic>
      <p:pic>
        <p:nvPicPr>
          <p:cNvPr id="9" name="!!guide" descr="guide_po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377440"/>
            <a:ext cx="2435426" cy="3840480"/>
          </a:xfrm>
          <a:prstGeom prst="rect">
            <a:avLst/>
          </a:prstGeom>
        </p:spPr>
      </p:pic>
      <p:sp>
        <p:nvSpPr>
          <p:cNvPr id="10" name="bubble"/>
          <p:cNvSpPr/>
          <p:nvPr/>
        </p:nvSpPr>
        <p:spPr>
          <a:xfrm>
            <a:off x="3611880" y="1143000"/>
            <a:ext cx="4983480" cy="2697480"/>
          </a:xfrm>
          <a:prstGeom prst="wedgeRoundRectCallout">
            <a:avLst>
              <a:gd name="adj1" fmla="val -62000"/>
              <a:gd name="adj2" fmla="val 78000"/>
              <a:gd name="adj3" fmla="val 16667"/>
            </a:avLst>
          </a:prstGeom>
          <a:solidFill>
            <a:srgbClr val="FFFFFF"/>
          </a:solidFill>
          <a:ln w="3175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r" rtl="1"/>
            <a:r>
              <a:rPr sz="19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عالماتي المبدعات!</a:t>
            </a:r>
          </a:p>
          <a:p>
            <a:pPr algn="r" rtl="1"/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أبواب مختبرنا مغلقة، ولن نستطيع الدخول إلا بعد حل ثلاثة تحديات علمية.</a:t>
            </a:r>
          </a:p>
          <a:p>
            <a:pPr algn="r" rtl="1"/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كل إجابة صحيحة تكشف رقمًا من الرمز السري.</a:t>
            </a:r>
          </a:p>
          <a:p>
            <a:pPr algn="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هل أنتن مستعدات؟</a:t>
            </a:r>
          </a:p>
        </p:txBody>
      </p:sp>
      <p:sp>
        <p:nvSpPr>
          <p:cNvPr id="11" name="!!lockpanel"/>
          <p:cNvSpPr/>
          <p:nvPr/>
        </p:nvSpPr>
        <p:spPr>
          <a:xfrm>
            <a:off x="7955279" y="4846320"/>
            <a:ext cx="3840480" cy="1234440"/>
          </a:xfrm>
          <a:prstGeom prst="roundRect">
            <a:avLst>
              <a:gd name="adj" fmla="val 22222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!!lockpanelic" descr="ic_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59" y="5148072"/>
            <a:ext cx="621792" cy="621792"/>
          </a:xfrm>
          <a:prstGeom prst="rect">
            <a:avLst/>
          </a:prstGeom>
        </p:spPr>
      </p:pic>
      <p:sp>
        <p:nvSpPr>
          <p:cNvPr id="13" name="!!lockpaneld0"/>
          <p:cNvSpPr/>
          <p:nvPr/>
        </p:nvSpPr>
        <p:spPr>
          <a:xfrm>
            <a:off x="10195559" y="5029200"/>
            <a:ext cx="749808" cy="868680"/>
          </a:xfrm>
          <a:prstGeom prst="roundRect">
            <a:avLst>
              <a:gd name="adj" fmla="val 14634"/>
            </a:avLst>
          </a:prstGeom>
          <a:solidFill>
            <a:srgbClr val="3D4A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400" b="1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؟</a:t>
            </a:r>
          </a:p>
        </p:txBody>
      </p:sp>
      <p:sp>
        <p:nvSpPr>
          <p:cNvPr id="14" name="!!lockpaneld1"/>
          <p:cNvSpPr/>
          <p:nvPr/>
        </p:nvSpPr>
        <p:spPr>
          <a:xfrm>
            <a:off x="9326880" y="5029200"/>
            <a:ext cx="749808" cy="868680"/>
          </a:xfrm>
          <a:prstGeom prst="roundRect">
            <a:avLst>
              <a:gd name="adj" fmla="val 14634"/>
            </a:avLst>
          </a:prstGeom>
          <a:solidFill>
            <a:srgbClr val="3D4A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400" b="1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؟</a:t>
            </a:r>
          </a:p>
        </p:txBody>
      </p:sp>
      <p:sp>
        <p:nvSpPr>
          <p:cNvPr id="15" name="!!lockpaneld2"/>
          <p:cNvSpPr/>
          <p:nvPr/>
        </p:nvSpPr>
        <p:spPr>
          <a:xfrm>
            <a:off x="8458200" y="5029200"/>
            <a:ext cx="749808" cy="868680"/>
          </a:xfrm>
          <a:prstGeom prst="roundRect">
            <a:avLst>
              <a:gd name="adj" fmla="val 14634"/>
            </a:avLst>
          </a:prstGeom>
          <a:solidFill>
            <a:srgbClr val="3D4A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400" b="1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؟</a:t>
            </a:r>
          </a:p>
        </p:txBody>
      </p:sp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9006840" y="3931920"/>
            <a:ext cx="2651760" cy="685800"/>
          </a:xfrm>
          <a:prstGeom prst="roundRect">
            <a:avLst>
              <a:gd name="adj" fmla="val 4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نعم، مستعدات!</a:t>
            </a:r>
          </a:p>
        </p:txBody>
      </p:sp>
      <p:sp>
        <p:nvSpPr>
          <p:cNvPr id="17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8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الأول · أتذكر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أيٌّ مما يلي من الفطريات المجهرية؟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</a:t>
            </a:r>
          </a:p>
        </p:txBody>
      </p:sp>
      <p:sp>
        <p:nvSpPr>
          <p:cNvPr id="9" name="!!opt2">
            <a:hlinkClick action="ppaction://hlinksldjump" r:id="rId4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اليوجلينا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الأول · أتذكر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الفطر المجهري الذي نستخدمه في صنع الخبز.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13" name="nav_ch1_try2">
            <a:hlinkClick action="ppaction://hlinksldjump" r:id="rId7"/>
          </p:cNvPr>
          <p:cNvSpPr/>
          <p:nvPr/>
        </p:nvSpPr>
        <p:spPr>
          <a:xfrm>
            <a:off x="6563563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الأول · أتذكر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أيٌّ مما يلي من الفطريات المجهرية؟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</a:t>
            </a:r>
          </a:p>
        </p:txBody>
      </p:sp>
      <p:sp>
        <p:nvSpPr>
          <p:cNvPr id="9" name="!!opt2">
            <a:hlinkClick action="ppaction://hlinksldjump" r:id="rId4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اليوجلينا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736217"/>
            <a:ext cx="5266944" cy="3842765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4_fung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09369"/>
            <a:ext cx="5120640" cy="36964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86200" y="546011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لنقرأ معًا من صفحة ٩٤: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«تشمل الفطريات المجهرية العفن والخميرة»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أما البراميسيوم واليوجلينا والدياتومات فهي من الطلائعيات.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الأول · أتذكر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أيٌّ من هذه الأمثلة من الفطريات المجهرية أيضًا؟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العفن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الطحالب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الأول · أتذكر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أيٌّ مما يلي من الفطريات المجهرية؟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الخميرة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5192" y="3520440"/>
            <a:ext cx="6675120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48072" y="3566160"/>
            <a:ext cx="6309359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 من الفطريات المجهرية؛ فالكتاب يقول: «تشمل الفطريات المجهرية العفن والخميرة». لقد كشفتِ الرقم الأول من الرمز: 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0718" y="3447288"/>
            <a:ext cx="3756402" cy="2752344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94_fung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70" y="3520440"/>
            <a:ext cx="3610098" cy="26060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856609" y="608076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pic>
        <p:nvPicPr>
          <p:cNvPr id="14" name="Picture 13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548640" cy="548640"/>
          </a:xfrm>
          <a:prstGeom prst="rect">
            <a:avLst/>
          </a:prstGeom>
        </p:spPr>
      </p:pic>
      <p:sp>
        <p:nvSpPr>
          <p:cNvPr id="15" name="lk"/>
          <p:cNvSpPr/>
          <p:nvPr/>
        </p:nvSpPr>
        <p:spPr>
          <a:xfrm>
            <a:off x="2103120" y="182880"/>
            <a:ext cx="2765145" cy="888796"/>
          </a:xfrm>
          <a:prstGeom prst="roundRect">
            <a:avLst>
              <a:gd name="adj" fmla="val 22222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lkic" descr="ic_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4489" y="400141"/>
            <a:ext cx="447690" cy="447690"/>
          </a:xfrm>
          <a:prstGeom prst="rect">
            <a:avLst/>
          </a:prstGeom>
        </p:spPr>
      </p:pic>
      <p:sp>
        <p:nvSpPr>
          <p:cNvPr id="17" name="lkd0"/>
          <p:cNvSpPr/>
          <p:nvPr/>
        </p:nvSpPr>
        <p:spPr>
          <a:xfrm>
            <a:off x="3716121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8" name="lkd1"/>
          <p:cNvSpPr/>
          <p:nvPr/>
        </p:nvSpPr>
        <p:spPr>
          <a:xfrm>
            <a:off x="3090672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3D4A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؟</a:t>
            </a:r>
          </a:p>
        </p:txBody>
      </p:sp>
      <p:sp>
        <p:nvSpPr>
          <p:cNvPr id="19" name="lkd2"/>
          <p:cNvSpPr/>
          <p:nvPr/>
        </p:nvSpPr>
        <p:spPr>
          <a:xfrm>
            <a:off x="2465222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3D4A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؟</a:t>
            </a:r>
          </a:p>
        </p:txBody>
      </p:sp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23" name="nav_ch2">
            <a:hlinkClick action="ppaction://hlinksldjump" r:id="rId9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الثاني · أفهم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نما عفن على قطعة خبز رطبة. من أين حصل العفن على غذائه؟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صنع غذاءه بنفسه من ضوء الشمس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امتص الغذاء من الخبز الذي يعيش عليه</a:t>
            </a:r>
          </a:p>
        </p:txBody>
      </p:sp>
      <p:sp>
        <p:nvSpPr>
          <p:cNvPr id="9" name="!!opt2">
            <a:hlinkClick action="ppaction://hlinksldjump" r:id="rId4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افترس مخلوقات أصغر منه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الثاني · أفهم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هل تستطيع الفطريات أن تصنع غذاءها بنفسها مثل النباتات؟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13" name="nav_ch2_try2">
            <a:hlinkClick action="ppaction://hlinksldjump" r:id="rId7"/>
          </p:cNvPr>
          <p:cNvSpPr/>
          <p:nvPr/>
        </p:nvSpPr>
        <p:spPr>
          <a:xfrm>
            <a:off x="6563563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الثاني · أفهم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نما عفن على قطعة خبز رطبة. من أين حصل العفن على غذائه؟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صنع غذاءه بنفسه من ضوء الشمس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امتص الغذاء من الخبز الذي يعيش عليه</a:t>
            </a:r>
          </a:p>
        </p:txBody>
      </p:sp>
      <p:sp>
        <p:nvSpPr>
          <p:cNvPr id="9" name="!!opt2">
            <a:hlinkClick action="ppaction://hlinksldjump" r:id="rId4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افترس مخلوقات أصغر منه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736217"/>
            <a:ext cx="5266944" cy="3842765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4_fung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09369"/>
            <a:ext cx="5120640" cy="36964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86200" y="546011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لنقرأ معًا من صفحة ٩٤: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«لا تستطيع صنع غذائها بنفسها، وبدلًا من ذلك تمتص المواد المغذية من الوسط الذي تعيش فيه»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الخبز هو الوسط الذي عاش عليه العفن.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الثاني · أفهم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صح أم خطأ: «الخميرة تصنع غذاءها بنفسها».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619506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صح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4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خطأ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الثاني · أفهم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نما عفن على قطعة خبز رطبة. من أين حصل العفن على غذائه؟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امتص الغذاء من الخبز الذي يعيش عليه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5192" y="3520440"/>
            <a:ext cx="6675120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48072" y="3566160"/>
            <a:ext cx="6309359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الفطريات لا تستطيع صنع غذائها بنفسها، بل تمتص المواد المغذية من الوسط الذي تعيش فيه، والخبز هو هذا الوسط. الرقم الثاني: 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0718" y="3447288"/>
            <a:ext cx="3756402" cy="2752344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94_fung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70" y="3520440"/>
            <a:ext cx="3610098" cy="26060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856609" y="608076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pic>
        <p:nvPicPr>
          <p:cNvPr id="14" name="Picture 13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548640" cy="548640"/>
          </a:xfrm>
          <a:prstGeom prst="rect">
            <a:avLst/>
          </a:prstGeom>
        </p:spPr>
      </p:pic>
      <p:sp>
        <p:nvSpPr>
          <p:cNvPr id="15" name="lk"/>
          <p:cNvSpPr/>
          <p:nvPr/>
        </p:nvSpPr>
        <p:spPr>
          <a:xfrm>
            <a:off x="2103120" y="182880"/>
            <a:ext cx="2765145" cy="888796"/>
          </a:xfrm>
          <a:prstGeom prst="roundRect">
            <a:avLst>
              <a:gd name="adj" fmla="val 22222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lkic" descr="ic_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4489" y="400141"/>
            <a:ext cx="447690" cy="447690"/>
          </a:xfrm>
          <a:prstGeom prst="rect">
            <a:avLst/>
          </a:prstGeom>
        </p:spPr>
      </p:pic>
      <p:sp>
        <p:nvSpPr>
          <p:cNvPr id="17" name="lkd0"/>
          <p:cNvSpPr/>
          <p:nvPr/>
        </p:nvSpPr>
        <p:spPr>
          <a:xfrm>
            <a:off x="3716121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8" name="lkd1"/>
          <p:cNvSpPr/>
          <p:nvPr/>
        </p:nvSpPr>
        <p:spPr>
          <a:xfrm>
            <a:off x="3090672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٥</a:t>
            </a:r>
          </a:p>
        </p:txBody>
      </p:sp>
      <p:sp>
        <p:nvSpPr>
          <p:cNvPr id="19" name="lkd2"/>
          <p:cNvSpPr/>
          <p:nvPr/>
        </p:nvSpPr>
        <p:spPr>
          <a:xfrm>
            <a:off x="2465222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3D4A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؟</a:t>
            </a:r>
          </a:p>
        </p:txBody>
      </p:sp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23" name="nav_ch3">
            <a:hlinkClick action="ppaction://hlinksldjump" r:id="rId9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الثالث · سؤال بصري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179958"/>
            <a:ext cx="4626864" cy="4955282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4_pen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53110"/>
            <a:ext cx="4480560" cy="48089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601636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5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هذا فطر مجهري يُستخدم في صناعة الأدوية. ما اسمه؟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البنسيليوم</a:t>
            </a:r>
          </a:p>
        </p:txBody>
      </p:sp>
      <p:sp>
        <p:nvSpPr>
          <p:cNvPr id="12" name="!!opt2">
            <a:hlinkClick action="ppaction://hlinksldjump" r:id="rId5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الثالث · سؤال بصري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اسم هذا الفطر قريب من اسم دواء مشهور يُعالج الالتهابات.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13" name="nav_ch3_try2">
            <a:hlinkClick action="ppaction://hlinksldjump" r:id="rId7"/>
          </p:cNvPr>
          <p:cNvSpPr/>
          <p:nvPr/>
        </p:nvSpPr>
        <p:spPr>
          <a:xfrm>
            <a:off x="6563563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الثالث · سؤال بصري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179958"/>
            <a:ext cx="4626864" cy="4955282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4_pen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53110"/>
            <a:ext cx="4480560" cy="48089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601636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5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هذا فطر مجهري يُستخدم في صناعة الأدوية. ما اسمه؟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البنسيليوم</a:t>
            </a:r>
          </a:p>
        </p:txBody>
      </p:sp>
      <p:sp>
        <p:nvSpPr>
          <p:cNvPr id="12" name="!!opt2">
            <a:hlinkClick action="ppaction://hlinksldjump" r:id="rId5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2412" y="1161288"/>
            <a:ext cx="4661655" cy="499262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4_pen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64" y="1234440"/>
            <a:ext cx="4515351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83555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انظري إلى التعليق أسفل الصورة في صفحة ٩٤: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«يُستخدم فطر البنسيليوم لصناعة الأدوية»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الثالث · سؤال بصري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فيمَ يُستخدم فطر البنسيليوم؟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صناعة الأدوية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صنع الخبز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صنع غذائه من الضوء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التحدي الثالث · سؤال بصري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هذا فطر مجهري يُستخدم في صناعة الأدوية. ما اسمه؟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البنسيليوم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5192" y="3520440"/>
            <a:ext cx="6675120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48072" y="3566160"/>
            <a:ext cx="6309359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إنه فطر البنسيليوم؛ ففي الكتاب: «يُستخدم فطر البنسيليوم لصناعة الأدوية». الرقم الثالث: ٧ — اكتمل الرمز!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4177636"/>
            <a:ext cx="4626864" cy="1291647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94_peni_c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50788"/>
            <a:ext cx="4480560" cy="114534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91840" y="535041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ص٩٤</a:t>
            </a:r>
          </a:p>
        </p:txBody>
      </p:sp>
      <p:pic>
        <p:nvPicPr>
          <p:cNvPr id="14" name="Picture 13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548640" cy="548640"/>
          </a:xfrm>
          <a:prstGeom prst="rect">
            <a:avLst/>
          </a:prstGeom>
        </p:spPr>
      </p:pic>
      <p:sp>
        <p:nvSpPr>
          <p:cNvPr id="15" name="lk"/>
          <p:cNvSpPr/>
          <p:nvPr/>
        </p:nvSpPr>
        <p:spPr>
          <a:xfrm>
            <a:off x="2103120" y="182880"/>
            <a:ext cx="2765145" cy="888796"/>
          </a:xfrm>
          <a:prstGeom prst="roundRect">
            <a:avLst>
              <a:gd name="adj" fmla="val 22222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lkic" descr="ic_un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4489" y="400141"/>
            <a:ext cx="447690" cy="447690"/>
          </a:xfrm>
          <a:prstGeom prst="rect">
            <a:avLst/>
          </a:prstGeom>
        </p:spPr>
      </p:pic>
      <p:sp>
        <p:nvSpPr>
          <p:cNvPr id="17" name="lkd0"/>
          <p:cNvSpPr/>
          <p:nvPr/>
        </p:nvSpPr>
        <p:spPr>
          <a:xfrm>
            <a:off x="3716121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8" name="lkd1"/>
          <p:cNvSpPr/>
          <p:nvPr/>
        </p:nvSpPr>
        <p:spPr>
          <a:xfrm>
            <a:off x="3090672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٥</a:t>
            </a:r>
          </a:p>
        </p:txBody>
      </p:sp>
      <p:sp>
        <p:nvSpPr>
          <p:cNvPr id="19" name="lkd2"/>
          <p:cNvSpPr/>
          <p:nvPr/>
        </p:nvSpPr>
        <p:spPr>
          <a:xfrm>
            <a:off x="2465222" y="314553"/>
            <a:ext cx="539861" cy="625449"/>
          </a:xfrm>
          <a:prstGeom prst="roundRect">
            <a:avLst>
              <a:gd name="adj" fmla="val 20325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٧</a:t>
            </a:r>
          </a:p>
        </p:txBody>
      </p:sp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23" name="nav_open1">
            <a:hlinkClick action="ppaction://hlinksldjump" r:id="rId9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الرمز السري: ٣٥٧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pic>
        <p:nvPicPr>
          <p:cNvPr id="5" name="!!doorframe" descr="door_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188720"/>
            <a:ext cx="4873752" cy="4342069"/>
          </a:xfrm>
          <a:prstGeom prst="rect">
            <a:avLst/>
          </a:prstGeom>
        </p:spPr>
      </p:pic>
      <p:sp>
        <p:nvSpPr>
          <p:cNvPr id="6" name="!!doorsign"/>
          <p:cNvSpPr txBox="1"/>
          <p:nvPr/>
        </p:nvSpPr>
        <p:spPr>
          <a:xfrm>
            <a:off x="4410816" y="1250749"/>
            <a:ext cx="3367319" cy="354454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مختبر العلوم</a:t>
            </a:r>
          </a:p>
        </p:txBody>
      </p:sp>
      <p:pic>
        <p:nvPicPr>
          <p:cNvPr id="7" name="!!doorL" descr="door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4827" y="1676095"/>
            <a:ext cx="2259648" cy="3854694"/>
          </a:xfrm>
          <a:prstGeom prst="rect">
            <a:avLst/>
          </a:prstGeom>
        </p:spPr>
      </p:pic>
      <p:pic>
        <p:nvPicPr>
          <p:cNvPr id="8" name="!!doorR" descr="door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76" y="1676095"/>
            <a:ext cx="2259648" cy="3854694"/>
          </a:xfrm>
          <a:prstGeom prst="rect">
            <a:avLst/>
          </a:prstGeom>
        </p:spPr>
      </p:pic>
      <p:sp>
        <p:nvSpPr>
          <p:cNvPr id="9" name="!!final_lock"/>
          <p:cNvSpPr/>
          <p:nvPr/>
        </p:nvSpPr>
        <p:spPr>
          <a:xfrm>
            <a:off x="4178808" y="4937760"/>
            <a:ext cx="3840480" cy="1234440"/>
          </a:xfrm>
          <a:prstGeom prst="roundRect">
            <a:avLst>
              <a:gd name="adj" fmla="val 22222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final_lockic" descr="ic_un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5239512"/>
            <a:ext cx="621792" cy="621792"/>
          </a:xfrm>
          <a:prstGeom prst="rect">
            <a:avLst/>
          </a:prstGeom>
        </p:spPr>
      </p:pic>
      <p:sp>
        <p:nvSpPr>
          <p:cNvPr id="11" name="!!final_lockd0"/>
          <p:cNvSpPr/>
          <p:nvPr/>
        </p:nvSpPr>
        <p:spPr>
          <a:xfrm>
            <a:off x="6419088" y="5120640"/>
            <a:ext cx="749808" cy="868680"/>
          </a:xfrm>
          <a:prstGeom prst="roundRect">
            <a:avLst>
              <a:gd name="adj" fmla="val 14634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2" name="!!final_lockd1"/>
          <p:cNvSpPr/>
          <p:nvPr/>
        </p:nvSpPr>
        <p:spPr>
          <a:xfrm>
            <a:off x="5550408" y="5120640"/>
            <a:ext cx="749808" cy="868680"/>
          </a:xfrm>
          <a:prstGeom prst="roundRect">
            <a:avLst>
              <a:gd name="adj" fmla="val 14634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٥</a:t>
            </a:r>
          </a:p>
        </p:txBody>
      </p:sp>
      <p:sp>
        <p:nvSpPr>
          <p:cNvPr id="13" name="!!final_lockd2"/>
          <p:cNvSpPr/>
          <p:nvPr/>
        </p:nvSpPr>
        <p:spPr>
          <a:xfrm>
            <a:off x="4681728" y="5120640"/>
            <a:ext cx="749808" cy="868680"/>
          </a:xfrm>
          <a:prstGeom prst="roundRect">
            <a:avLst>
              <a:gd name="adj" fmla="val 14634"/>
            </a:avLst>
          </a:prstGeom>
          <a:solidFill>
            <a:srgbClr val="FFD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٧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</p:spTree>
  </p:cSld>
  <p:clrMapOvr>
    <a:masterClrMapping/>
  </p:clrMapOvr>
  <p:transition spd="med">
    <p:fade/>
    <p:sndAc>
      <p:stSnd>
        <p:snd r:embed="rId4" name="door.wav"/>
      </p:stSnd>
    </p:sndAc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٩٤</a:t>
            </a:r>
          </a:p>
        </p:txBody>
      </p:sp>
      <p:pic>
        <p:nvPicPr>
          <p:cNvPr id="4" name="!!doorframe" descr="door_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188720"/>
            <a:ext cx="4873752" cy="4342069"/>
          </a:xfrm>
          <a:prstGeom prst="rect">
            <a:avLst/>
          </a:prstGeom>
        </p:spPr>
      </p:pic>
      <p:sp>
        <p:nvSpPr>
          <p:cNvPr id="5" name="!!doorsign"/>
          <p:cNvSpPr txBox="1"/>
          <p:nvPr/>
        </p:nvSpPr>
        <p:spPr>
          <a:xfrm>
            <a:off x="4410816" y="1250749"/>
            <a:ext cx="3367319" cy="354454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مختبر العلوم</a:t>
            </a:r>
          </a:p>
        </p:txBody>
      </p:sp>
      <p:sp>
        <p:nvSpPr>
          <p:cNvPr id="6" name="!!doorlight"/>
          <p:cNvSpPr/>
          <p:nvPr/>
        </p:nvSpPr>
        <p:spPr>
          <a:xfrm>
            <a:off x="3834827" y="1676095"/>
            <a:ext cx="4519297" cy="3854694"/>
          </a:xfrm>
          <a:prstGeom prst="roundRect">
            <a:avLst>
              <a:gd name="adj" fmla="val 1186"/>
            </a:avLst>
          </a:prstGeom>
          <a:solidFill>
            <a:srgbClr val="FFF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!!doorL" descr="door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578" y="1676095"/>
            <a:ext cx="2259648" cy="3854694"/>
          </a:xfrm>
          <a:prstGeom prst="rect">
            <a:avLst/>
          </a:prstGeom>
        </p:spPr>
      </p:pic>
      <p:pic>
        <p:nvPicPr>
          <p:cNvPr id="8" name="!!doorR" descr="door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2724" y="1676095"/>
            <a:ext cx="2259648" cy="3854694"/>
          </a:xfrm>
          <a:prstGeom prst="rect">
            <a:avLst/>
          </a:prstGeom>
        </p:spPr>
      </p:pic>
      <p:sp>
        <p:nvSpPr>
          <p:cNvPr id="9" name="msg"/>
          <p:cNvSpPr/>
          <p:nvPr/>
        </p:nvSpPr>
        <p:spPr>
          <a:xfrm>
            <a:off x="2103120" y="1965960"/>
            <a:ext cx="7982712" cy="214884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50800">
            <a:solidFill>
              <a:srgbClr val="FFD34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msgt"/>
          <p:cNvSpPr txBox="1"/>
          <p:nvPr/>
        </p:nvSpPr>
        <p:spPr>
          <a:xfrm>
            <a:off x="2194560" y="2011680"/>
            <a:ext cx="7799831" cy="20574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3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أحسنتن يا عالماتي!</a:t>
            </a:r>
          </a:p>
          <a:p>
            <a:pPr algn="ctr" rtl="1"/>
            <a:r>
              <a:rPr sz="3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لقد نجحتن في فتح مختبر العلوم!</a:t>
            </a:r>
          </a:p>
        </p:txBody>
      </p:sp>
      <p:pic>
        <p:nvPicPr>
          <p:cNvPr id="11" name="!!guide" descr="guide_che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0" y="2377440"/>
            <a:ext cx="2435426" cy="3840480"/>
          </a:xfrm>
          <a:prstGeom prst="rect">
            <a:avLst/>
          </a:prstGeom>
        </p:spPr>
      </p:pic>
      <p:sp>
        <p:nvSpPr>
          <p:cNvPr id="18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9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مراجعة قبلية · ص٩٤</a:t>
            </a:r>
          </a:p>
        </p:txBody>
      </p:sp>
      <p:sp>
        <p:nvSpPr>
          <p:cNvPr id="20" name="nav_newlesson">
            <a:hlinkClick action="ppaction://hlinksldjump" r:id="rId9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  <p:sndAc>
          <p:stSnd>
            <p:snd r:embed="rId4" name="fanfare.wav"/>
          </p:stSnd>
        </p:sndAc>
      </p:transition>
    </mc:Choice>
    <mc:Fallback>
      <p:transition spd="slow">
        <p:fade/>
        <p:sndAc>
          <p:stSnd>
            <p:snd r:embed="rId4" name="fanfar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درسنا الجديد: كيف تتكاثر المخلوقات الحية الدقيقة؟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234440"/>
            <a:ext cx="2907792" cy="54864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✔ انتهت المراجعة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234440"/>
            <a:ext cx="2907792" cy="548640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بداية الدرس الجديد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9320" y="1938528"/>
            <a:ext cx="5537678" cy="2980944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96_int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472" y="2011680"/>
            <a:ext cx="5391374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96487" y="48006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74920"/>
            <a:ext cx="6949440" cy="1051560"/>
          </a:xfrm>
          <a:prstGeom prst="roundRect">
            <a:avLst>
              <a:gd name="adj" fmla="val 21739"/>
            </a:avLst>
          </a:prstGeom>
          <a:solidFill>
            <a:srgbClr val="FFF6DD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46320" y="5120640"/>
            <a:ext cx="6583680" cy="9601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أتوقع: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كيف يصبح مخلوق واحد ملايين المخلوقات؟</a:t>
            </a:r>
          </a:p>
        </p:txBody>
      </p:sp>
      <p:pic>
        <p:nvPicPr>
          <p:cNvPr id="12" name="!!guide" descr="guide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240280"/>
            <a:ext cx="2464420" cy="3886200"/>
          </a:xfrm>
          <a:prstGeom prst="rect">
            <a:avLst/>
          </a:prstGeom>
        </p:spPr>
      </p:pic>
      <p:sp>
        <p:nvSpPr>
          <p:cNvPr id="13" name="bubble"/>
          <p:cNvSpPr/>
          <p:nvPr/>
        </p:nvSpPr>
        <p:spPr>
          <a:xfrm>
            <a:off x="411480" y="1143000"/>
            <a:ext cx="4023360" cy="868680"/>
          </a:xfrm>
          <a:prstGeom prst="wedgeRoundRectCallout">
            <a:avLst>
              <a:gd name="adj1" fmla="val 10000"/>
              <a:gd name="adj2" fmla="val 90000"/>
              <a:gd name="adj3" fmla="val 16667"/>
            </a:avLst>
          </a:prstGeom>
          <a:solidFill>
            <a:srgbClr val="FFFFFF"/>
          </a:solidFill>
          <a:ln w="3175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r" rtl="1"/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قرأنا السؤال من الكتاب. ما توقعاتكن؟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خريطة رحلتنا العلمية</a:t>
            </a:r>
          </a:p>
        </p:txBody>
      </p:sp>
      <p:sp>
        <p:nvSpPr>
          <p:cNvPr id="4" name="!!mapscreen"/>
          <p:cNvSpPr/>
          <p:nvPr/>
        </p:nvSpPr>
        <p:spPr>
          <a:xfrm>
            <a:off x="411480" y="1143000"/>
            <a:ext cx="11365992" cy="50292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B3A55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mapcenter"/>
          <p:cNvSpPr/>
          <p:nvPr/>
        </p:nvSpPr>
        <p:spPr>
          <a:xfrm>
            <a:off x="2651760" y="1325880"/>
            <a:ext cx="6903720" cy="777240"/>
          </a:xfrm>
          <a:prstGeom prst="roundRect">
            <a:avLst>
              <a:gd name="adj" fmla="val 49411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كيف تتكاثر المخلوقات الحية الدقيقة؟</a:t>
            </a:r>
          </a:p>
        </p:txBody>
      </p:sp>
      <p:cxnSp>
        <p:nvCxnSpPr>
          <p:cNvPr id="6" name="!!line_p"/>
          <p:cNvCxnSpPr/>
          <p:nvPr/>
        </p:nvCxnSpPr>
        <p:spPr>
          <a:xfrm>
            <a:off x="6099048" y="2103120"/>
            <a:ext cx="370789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br_p">
            <a:hlinkClick action="ppaction://hlinksldjump" r:id="rId5"/>
          </p:cNvPr>
          <p:cNvSpPr/>
          <p:nvPr/>
        </p:nvSpPr>
        <p:spPr>
          <a:xfrm>
            <a:off x="832104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الطلائعيات</a:t>
            </a:r>
          </a:p>
        </p:txBody>
      </p:sp>
      <p:cxnSp>
        <p:nvCxnSpPr>
          <p:cNvPr id="8" name="!!line_f"/>
          <p:cNvCxnSpPr/>
          <p:nvPr/>
        </p:nvCxnSpPr>
        <p:spPr>
          <a:xfrm>
            <a:off x="6099048" y="2103120"/>
            <a:ext cx="457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br_f"/>
          <p:cNvSpPr/>
          <p:nvPr/>
        </p:nvSpPr>
        <p:spPr>
          <a:xfrm>
            <a:off x="461772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C9D2DE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الفطريات</a:t>
            </a:r>
          </a:p>
        </p:txBody>
      </p:sp>
      <p:pic>
        <p:nvPicPr>
          <p:cNvPr id="10" name="!!lock_f" descr="ic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587752"/>
            <a:ext cx="502920" cy="502920"/>
          </a:xfrm>
          <a:prstGeom prst="rect">
            <a:avLst/>
          </a:prstGeom>
        </p:spPr>
      </p:pic>
      <p:cxnSp>
        <p:nvCxnSpPr>
          <p:cNvPr id="11" name="!!line_b"/>
          <p:cNvCxnSpPr/>
          <p:nvPr/>
        </p:nvCxnSpPr>
        <p:spPr>
          <a:xfrm flipH="1">
            <a:off x="2400300" y="2103120"/>
            <a:ext cx="3698748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!!br_b"/>
          <p:cNvSpPr/>
          <p:nvPr/>
        </p:nvSpPr>
        <p:spPr>
          <a:xfrm>
            <a:off x="91440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C9D2DE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البكتيريا</a:t>
            </a:r>
          </a:p>
        </p:txBody>
      </p:sp>
      <p:pic>
        <p:nvPicPr>
          <p:cNvPr id="13" name="!!lock_b" descr="ic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587752"/>
            <a:ext cx="502920" cy="502920"/>
          </a:xfrm>
          <a:prstGeom prst="rect">
            <a:avLst/>
          </a:prstGeom>
        </p:spPr>
      </p:pic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</a:t>
            </a:r>
          </a:p>
        </p:txBody>
      </p:sp>
      <p:sp>
        <p:nvSpPr>
          <p:cNvPr id="16" name="nav_p96page">
            <a:hlinkClick action="ppaction://hlinksldjump" r:id="rId5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الطلائعيات: صفحة ٩٦ على الشاشة الذكية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screen"/>
          <p:cNvSpPr/>
          <p:nvPr/>
        </p:nvSpPr>
        <p:spPr>
          <a:xfrm>
            <a:off x="457200" y="1143000"/>
            <a:ext cx="5577840" cy="5029200"/>
          </a:xfrm>
          <a:prstGeom prst="roundRect">
            <a:avLst>
              <a:gd name="adj" fmla="val 4545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6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316" y="1261872"/>
            <a:ext cx="3865606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234440"/>
            <a:ext cx="5440680" cy="3291840"/>
          </a:xfrm>
          <a:prstGeom prst="roundRect">
            <a:avLst>
              <a:gd name="adj" fmla="val 6944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96_protis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6848"/>
            <a:ext cx="5257800" cy="29270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709160"/>
            <a:ext cx="5440680" cy="9144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نقرأ معًا: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 الطريقة التي تتكاثر بها معظم الطلائعيات؟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2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المجهر الافتراضي: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microsc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0"/>
            <a:ext cx="3397348" cy="4206240"/>
          </a:xfrm>
          <a:prstGeom prst="rect">
            <a:avLst/>
          </a:prstGeom>
        </p:spPr>
      </p:pic>
      <p:sp>
        <p:nvSpPr>
          <p:cNvPr id="6" name="lens"/>
          <p:cNvSpPr/>
          <p:nvPr/>
        </p:nvSpPr>
        <p:spPr>
          <a:xfrm>
            <a:off x="3291840" y="1188720"/>
            <a:ext cx="5120640" cy="4983480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96_pho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697480"/>
            <a:ext cx="448056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42062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400" b="0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463040"/>
            <a:ext cx="3063240" cy="2926080"/>
          </a:xfrm>
          <a:prstGeom prst="roundRect">
            <a:avLst>
              <a:gd name="adj" fmla="val 7812"/>
            </a:avLst>
          </a:prstGeom>
          <a:solidFill>
            <a:srgbClr val="FFF6DD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0" y="1554480"/>
            <a:ext cx="2788920" cy="27432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1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أتوقع:</a:t>
            </a:r>
          </a:p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ماذا تتوقعين أن يحدث لهذا المخلوق؟</a:t>
            </a:r>
          </a:p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لاحظي المنطقة الوسطى.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2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721608" y="1965960"/>
            <a:ext cx="4754880" cy="20116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3721608" y="1965960"/>
            <a:ext cx="4754880" cy="20116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5596128" y="2688336"/>
            <a:ext cx="1005840" cy="566928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5596128" y="2688336"/>
            <a:ext cx="1005840" cy="566928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3950207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434340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797356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763524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انقري لمشاهدة ما يحدث ←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081528" y="2011680"/>
            <a:ext cx="6035040" cy="192024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3081528" y="2011680"/>
            <a:ext cx="6035040" cy="192024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38454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694486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3950207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434340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797356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763524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2715768" y="2080260"/>
            <a:ext cx="3566160" cy="17830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5916168" y="2080260"/>
            <a:ext cx="3566160" cy="17830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06450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726490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3538727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393192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838504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804672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6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٢ تبدأ الخلية في الانقسام</a:t>
            </a:r>
          </a:p>
        </p:txBody>
      </p:sp>
      <p:sp>
        <p:nvSpPr>
          <p:cNvPr id="17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8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9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1801367" y="2057400"/>
            <a:ext cx="3657600" cy="182880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6739128" y="2057400"/>
            <a:ext cx="3657600" cy="182880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3195827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813358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267004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3063239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925372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891540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6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تبدأ الخلية في الانقسام</a:t>
            </a:r>
          </a:p>
        </p:txBody>
      </p:sp>
      <p:sp>
        <p:nvSpPr>
          <p:cNvPr id="17" name="!!lab3"/>
          <p:cNvSpPr/>
          <p:nvPr/>
        </p:nvSpPr>
        <p:spPr>
          <a:xfrm>
            <a:off x="548640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٣ ينتج مخلوقان متماثلان</a:t>
            </a:r>
          </a:p>
        </p:txBody>
      </p:sp>
      <p:sp>
        <p:nvSpPr>
          <p:cNvPr id="18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9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0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1" name="nav_q_read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721608" y="1965960"/>
            <a:ext cx="4754880" cy="20116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3721608" y="1965960"/>
            <a:ext cx="4754880" cy="20116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5596128" y="2688336"/>
            <a:ext cx="1005840" cy="566928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5596128" y="2688336"/>
            <a:ext cx="1005840" cy="566928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3950207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434340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797356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763524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انقري لمشاهدة ما يحدث ←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fisS1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081528" y="2011680"/>
            <a:ext cx="6035040" cy="192024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3081528" y="2011680"/>
            <a:ext cx="6035040" cy="192024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38454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694486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3950207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434340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797356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763524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fisS2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2715768" y="2080260"/>
            <a:ext cx="3566160" cy="17830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5916168" y="2080260"/>
            <a:ext cx="3566160" cy="17830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06450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726490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3538727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393192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838504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804672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6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٢ تبدأ الخلية في الانقسام</a:t>
            </a:r>
          </a:p>
        </p:txBody>
      </p:sp>
      <p:sp>
        <p:nvSpPr>
          <p:cNvPr id="17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8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9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0" name="nav_fisS3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الانشطار الثنائي في البراميسيوم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1801367" y="2057400"/>
            <a:ext cx="3657600" cy="182880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6739128" y="2057400"/>
            <a:ext cx="3657600" cy="182880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3195827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8133588" y="2720340"/>
            <a:ext cx="868680" cy="50292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va1"/>
          <p:cNvSpPr/>
          <p:nvPr/>
        </p:nvSpPr>
        <p:spPr>
          <a:xfrm>
            <a:off x="267004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va2"/>
          <p:cNvSpPr/>
          <p:nvPr/>
        </p:nvSpPr>
        <p:spPr>
          <a:xfrm>
            <a:off x="3063239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vb1"/>
          <p:cNvSpPr/>
          <p:nvPr/>
        </p:nvSpPr>
        <p:spPr>
          <a:xfrm>
            <a:off x="9253728" y="2514600"/>
            <a:ext cx="274320" cy="274320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vb2"/>
          <p:cNvSpPr/>
          <p:nvPr/>
        </p:nvSpPr>
        <p:spPr>
          <a:xfrm>
            <a:off x="8915400" y="3227832"/>
            <a:ext cx="219456" cy="219456"/>
          </a:xfrm>
          <a:prstGeom prst="ellipse">
            <a:avLst/>
          </a:prstGeom>
          <a:solidFill>
            <a:srgbClr val="F7C873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6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تبدأ الخلية في الانقسام</a:t>
            </a:r>
          </a:p>
        </p:txBody>
      </p:sp>
      <p:sp>
        <p:nvSpPr>
          <p:cNvPr id="17" name="!!lab3"/>
          <p:cNvSpPr/>
          <p:nvPr/>
        </p:nvSpPr>
        <p:spPr>
          <a:xfrm>
            <a:off x="548640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٣ ينتج مخلوقان متماثلان</a:t>
            </a:r>
          </a:p>
        </p:txBody>
      </p:sp>
      <p:sp>
        <p:nvSpPr>
          <p:cNvPr id="18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9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0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1" name="nav_fisS_end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ألاحظ وأفسر · أقرأ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991048"/>
            <a:ext cx="4626864" cy="3333102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6_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64200"/>
            <a:ext cx="4480560" cy="31867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520527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أقرأ الصورة: </a:t>
            </a:r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يحدث لهذا البراميسيوم؟</a:t>
            </a:r>
          </a:p>
          <a:p>
            <a:pPr algn="r" rtl="1"/>
            <a:r>
              <a:rPr sz="19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إرشاد: </a:t>
            </a:r>
            <a:r>
              <a:rPr sz="1900" b="0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أنظرُ ماذا يحدث في المنطقة الوسطى؟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يتغذى على البكتيريا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يتكاثر بالانشطار الثنائي؛ فقد انقسم عند منطقته الوسطى إلى براميسيومين جديدين متماثلين</a:t>
            </a:r>
          </a:p>
        </p:txBody>
      </p:sp>
      <p:sp>
        <p:nvSpPr>
          <p:cNvPr id="12" name="!!opt2">
            <a:hlinkClick action="ppaction://hlinksldjump" r:id="rId5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يتحرك بسرعة في الماء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5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ألاحظ وأفسر · أقرأ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انظري إلى المنطقة الوسطى في الصورة: هل ترين خلية واحدة أم خليتين تنفصلان؟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read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ألاحظ وأفسر · أقرأ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991048"/>
            <a:ext cx="4626864" cy="3333102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6_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64200"/>
            <a:ext cx="4480560" cy="31867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520527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أقرأ الصورة: </a:t>
            </a:r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يحدث لهذا البراميسيوم؟</a:t>
            </a:r>
          </a:p>
          <a:p>
            <a:pPr algn="r" rtl="1"/>
            <a:r>
              <a:rPr sz="19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إرشاد: </a:t>
            </a:r>
            <a:r>
              <a:rPr sz="1900" b="0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أنظرُ ماذا يحدث في المنطقة الوسطى؟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يتغذى على البكتيريا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يتكاثر بالانشطار الثنائي؛ فقد انقسم عند منطقته الوسطى إلى براميسيومين جديدين متماثلين</a:t>
            </a:r>
          </a:p>
        </p:txBody>
      </p:sp>
      <p:sp>
        <p:nvSpPr>
          <p:cNvPr id="12" name="!!opt2">
            <a:hlinkClick action="ppaction://hlinksldjump" r:id="rId5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يتحرك بسرعة في الماء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6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763420"/>
            <a:ext cx="5266944" cy="3788359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6_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36572"/>
            <a:ext cx="5120640" cy="36420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86200" y="5432907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لاحظي المراحل الثلاث في شكل الكتاب: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١ يتم تضاعف المادة الوراثية.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٢ تبدأ الخلية في الانقسام.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٣ ينتج مخلوقان متماثلان.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شاهدي الحركة ببطء، ثم جربي السؤال المشابه.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892040" y="5257800"/>
            <a:ext cx="3200400" cy="640080"/>
          </a:xfrm>
          <a:prstGeom prst="roundRect">
            <a:avLst>
              <a:gd name="adj" fmla="val 42857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أشاهد الحركة ببطء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4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ألاحظ وأفسر · أقرأ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كم مخلوقًا جديدًا ينتج عن انشطار براميسيوم واحد؟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واحد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اثنان متماثلان</a:t>
            </a:r>
          </a:p>
        </p:txBody>
      </p:sp>
      <p:sp>
        <p:nvSpPr>
          <p:cNvPr id="9" name="!!opt2">
            <a:hlinkClick action="ppaction://hlinksldjump" r:id="rId4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ثلاثة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ألاحظ وأفسر · أقرأ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أقرأ الصورة: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يحدث لهذا البراميسيوم؟</a:t>
            </a:r>
          </a:p>
          <a:p>
            <a:pPr algn="r" rtl="1"/>
            <a:r>
              <a:rPr sz="19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إرشاد: </a:t>
            </a:r>
            <a:r>
              <a:rPr sz="1900" b="0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أنظرُ ماذا يحدث في المنطقة الوسطى؟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يتكاثر بالانشطار الثنائي؛ فقد انقسم عند منطقته الوسطى إلى براميسيومين جديدين متماثلين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هذه إجابة الكتاب: يتكاثر بالانشطار الثنائي؛ فقد انقسم عند منطقته الوسطى إلى براميسيومين جديدين متماثلين.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hunt1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المحققة العلمية · صيد الدليل (١)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ic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23444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10241280" cy="8229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المهمة: </a:t>
            </a:r>
            <a:r>
              <a:rPr sz="23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اصطادي العبارة التي تصف ما يحدث للبراميسيوم خطوةً بخطوة في أثناء الانشطار.</a:t>
            </a:r>
          </a:p>
        </p:txBody>
      </p:sp>
      <p:sp>
        <p:nvSpPr>
          <p:cNvPr id="7" name="sen0"/>
          <p:cNvSpPr/>
          <p:nvPr/>
        </p:nvSpPr>
        <p:spPr>
          <a:xfrm>
            <a:off x="548640" y="2103120"/>
            <a:ext cx="11091672" cy="941832"/>
          </a:xfrm>
          <a:prstGeom prst="roundRect">
            <a:avLst>
              <a:gd name="adj" fmla="val 19417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«تتكاثر معظم الطلائعيات بالانشطار الثنائي.»</a:t>
            </a:r>
          </a:p>
        </p:txBody>
      </p:sp>
      <p:pic>
        <p:nvPicPr>
          <p:cNvPr id="8" name="Picture 7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99716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كلمات تدل على خطوات: استطالة… تضاعف… انقسام.</a:t>
            </a:r>
          </a:p>
        </p:txBody>
      </p:sp>
      <p:sp>
        <p:nvSpPr>
          <p:cNvPr id="10" name="sen1"/>
          <p:cNvSpPr/>
          <p:nvPr/>
        </p:nvSpPr>
        <p:spPr>
          <a:xfrm>
            <a:off x="548640" y="3182111"/>
            <a:ext cx="11091672" cy="941832"/>
          </a:xfrm>
          <a:prstGeom prst="roundRect">
            <a:avLst>
              <a:gd name="adj" fmla="val 19417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«وهو نوع من التكاثر اللاجنسي ينقسم فيه المخلوق الحي إلى مخلوقين حيين جديدين متماثلين.»</a:t>
            </a:r>
          </a:p>
        </p:txBody>
      </p:sp>
      <p:pic>
        <p:nvPicPr>
          <p:cNvPr id="11" name="Picture 10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78708"/>
            <a:ext cx="548640" cy="548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كلمات تدل على خطوات: استطالة… تضاعف… انقسام.</a:t>
            </a:r>
          </a:p>
        </p:txBody>
      </p:sp>
      <p:sp>
        <p:nvSpPr>
          <p:cNvPr id="13" name="sen2"/>
          <p:cNvSpPr/>
          <p:nvPr/>
        </p:nvSpPr>
        <p:spPr>
          <a:xfrm>
            <a:off x="548640" y="4261104"/>
            <a:ext cx="11091672" cy="941832"/>
          </a:xfrm>
          <a:prstGeom prst="roundRect">
            <a:avLst>
              <a:gd name="adj" fmla="val 19417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«ومثال ذلك استطالة البراميسيوم وتضاعف كروموسوماته وانقسامه إلى اثنين.»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61104"/>
            <a:ext cx="11091672" cy="941832"/>
          </a:xfrm>
          <a:prstGeom prst="roundRect">
            <a:avLst>
              <a:gd name="adj" fmla="val 19417"/>
            </a:avLst>
          </a:prstGeom>
          <a:noFill/>
          <a:ln w="635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57700"/>
            <a:ext cx="548640" cy="5486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صيد موفّق!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تذكر هذه العبارة الخطوات: استطالة، ثم تضاعف الكروموسومات، ثم الانقسام إلى اثنين.</a:t>
            </a:r>
          </a:p>
        </p:txBody>
      </p:sp>
      <p:sp>
        <p:nvSpPr>
          <p:cNvPr id="5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5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55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56" name="nav_hunt2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  <p:bldP spid="16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المحققة العلمية · صيد الدليل (٢)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ic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23444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10241280" cy="8229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المهمة: </a:t>
            </a:r>
            <a:r>
              <a:rPr sz="23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اصطادي العبارة التي تبيّن نوع هذا التكاثر.</a:t>
            </a:r>
          </a:p>
        </p:txBody>
      </p:sp>
      <p:sp>
        <p:nvSpPr>
          <p:cNvPr id="7" name="sen0"/>
          <p:cNvSpPr/>
          <p:nvPr/>
        </p:nvSpPr>
        <p:spPr>
          <a:xfrm>
            <a:off x="548640" y="2103120"/>
            <a:ext cx="11091672" cy="941832"/>
          </a:xfrm>
          <a:prstGeom prst="roundRect">
            <a:avLst>
              <a:gd name="adj" fmla="val 19417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«تتكاثر معظم الطلائعيات بالانشطار الثنائي.»</a:t>
            </a:r>
          </a:p>
        </p:txBody>
      </p:sp>
      <p:pic>
        <p:nvPicPr>
          <p:cNvPr id="8" name="Picture 7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99716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كلمة تصف «نوع» التكاثر.</a:t>
            </a:r>
          </a:p>
        </p:txBody>
      </p:sp>
      <p:sp>
        <p:nvSpPr>
          <p:cNvPr id="10" name="sen1"/>
          <p:cNvSpPr/>
          <p:nvPr/>
        </p:nvSpPr>
        <p:spPr>
          <a:xfrm>
            <a:off x="548640" y="3182111"/>
            <a:ext cx="11091672" cy="941832"/>
          </a:xfrm>
          <a:prstGeom prst="roundRect">
            <a:avLst>
              <a:gd name="adj" fmla="val 19417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«وهو نوع من التكاثر اللاجنسي ينقسم فيه المخلوق الحي إلى مخلوقين حيين جديدين متماثلين.»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82111"/>
            <a:ext cx="11091672" cy="941832"/>
          </a:xfrm>
          <a:prstGeom prst="roundRect">
            <a:avLst>
              <a:gd name="adj" fmla="val 19417"/>
            </a:avLst>
          </a:prstGeom>
          <a:noFill/>
          <a:ln w="635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78708"/>
            <a:ext cx="548640" cy="548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صيد موفّق!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كلمة «اللاجنسي» تبيّن نوع التكاثر: مخلوق واحد ينتج مخلوقين متماثلين.</a:t>
            </a:r>
          </a:p>
        </p:txBody>
      </p:sp>
      <p:sp>
        <p:nvSpPr>
          <p:cNvPr id="14" name="sen2"/>
          <p:cNvSpPr/>
          <p:nvPr/>
        </p:nvSpPr>
        <p:spPr>
          <a:xfrm>
            <a:off x="548640" y="4261104"/>
            <a:ext cx="11091672" cy="941832"/>
          </a:xfrm>
          <a:prstGeom prst="roundRect">
            <a:avLst>
              <a:gd name="adj" fmla="val 19417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«ومثال ذلك استطالة البراميسيوم وتضاعف كروموسوماته وانقسامه إلى اثنين.»</a:t>
            </a:r>
          </a:p>
        </p:txBody>
      </p:sp>
      <p:pic>
        <p:nvPicPr>
          <p:cNvPr id="15" name="Picture 14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57700"/>
            <a:ext cx="548640" cy="5486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كلمة تصف «نوع» التكاثر.</a:t>
            </a:r>
          </a:p>
        </p:txBody>
      </p:sp>
      <p:sp>
        <p:nvSpPr>
          <p:cNvPr id="5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5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55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56" name="nav_ord1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6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رتّبي مراحل الانشطار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ic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188720"/>
            <a:ext cx="731520" cy="731520"/>
          </a:xfrm>
          <a:prstGeom prst="rect">
            <a:avLst/>
          </a:prstGeom>
        </p:spPr>
      </p:pic>
      <p:sp>
        <p:nvSpPr>
          <p:cNvPr id="6" name="!!ask"/>
          <p:cNvSpPr txBox="1"/>
          <p:nvPr/>
        </p:nvSpPr>
        <p:spPr>
          <a:xfrm>
            <a:off x="548640" y="118872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اختاري المرحلة الأولى</a:t>
            </a:r>
          </a:p>
        </p:txBody>
      </p:sp>
      <p:sp>
        <p:nvSpPr>
          <p:cNvPr id="7" name="!!slot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8" name="!!slot1"/>
          <p:cNvSpPr/>
          <p:nvPr/>
        </p:nvSpPr>
        <p:spPr>
          <a:xfrm>
            <a:off x="4288536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٢</a:t>
            </a:r>
          </a:p>
        </p:txBody>
      </p:sp>
      <p:sp>
        <p:nvSpPr>
          <p:cNvPr id="9" name="!!slot2"/>
          <p:cNvSpPr/>
          <p:nvPr/>
        </p:nvSpPr>
        <p:spPr>
          <a:xfrm>
            <a:off x="548639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0" name="!!card1">
            <a:hlinkClick action="ppaction://hlinksldjump" r:id="rId5"/>
          </p:cNvPr>
          <p:cNvSpPr/>
          <p:nvPr/>
        </p:nvSpPr>
        <p:spPr>
          <a:xfrm>
            <a:off x="8028432" y="38862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تبدأ الخلية في الانقسام</a:t>
            </a:r>
          </a:p>
        </p:txBody>
      </p:sp>
      <p:sp>
        <p:nvSpPr>
          <p:cNvPr id="11" name="!!card2">
            <a:hlinkClick action="ppaction://hlinksldjump" r:id="rId5"/>
          </p:cNvPr>
          <p:cNvSpPr/>
          <p:nvPr/>
        </p:nvSpPr>
        <p:spPr>
          <a:xfrm>
            <a:off x="4288536" y="38862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ينتج مخلوقان متماثلان</a:t>
            </a:r>
          </a:p>
        </p:txBody>
      </p:sp>
      <p:sp>
        <p:nvSpPr>
          <p:cNvPr id="12" name="!!card0">
            <a:hlinkClick action="ppaction://hlinksldjump" r:id="rId6"/>
          </p:cNvPr>
          <p:cNvSpPr/>
          <p:nvPr/>
        </p:nvSpPr>
        <p:spPr>
          <a:xfrm>
            <a:off x="548639" y="38862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يتم تضاعف المادة الوراثية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5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رتّبي مراحل الانشطار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ic_g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188720"/>
            <a:ext cx="731520" cy="731520"/>
          </a:xfrm>
          <a:prstGeom prst="rect">
            <a:avLst/>
          </a:prstGeom>
        </p:spPr>
      </p:pic>
      <p:sp>
        <p:nvSpPr>
          <p:cNvPr id="6" name="!!ask"/>
          <p:cNvSpPr txBox="1"/>
          <p:nvPr/>
        </p:nvSpPr>
        <p:spPr>
          <a:xfrm>
            <a:off x="548640" y="118872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اختاري المرحلة الثانية</a:t>
            </a:r>
          </a:p>
        </p:txBody>
      </p:sp>
      <p:sp>
        <p:nvSpPr>
          <p:cNvPr id="7" name="!!slot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8" name="!!slot1"/>
          <p:cNvSpPr/>
          <p:nvPr/>
        </p:nvSpPr>
        <p:spPr>
          <a:xfrm>
            <a:off x="4288536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٢</a:t>
            </a:r>
          </a:p>
        </p:txBody>
      </p:sp>
      <p:sp>
        <p:nvSpPr>
          <p:cNvPr id="9" name="!!slot2"/>
          <p:cNvSpPr/>
          <p:nvPr/>
        </p:nvSpPr>
        <p:spPr>
          <a:xfrm>
            <a:off x="548639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0" name="!!card1">
            <a:hlinkClick action="ppaction://hlinksldjump" r:id="rId6"/>
          </p:cNvPr>
          <p:cNvSpPr/>
          <p:nvPr/>
        </p:nvSpPr>
        <p:spPr>
          <a:xfrm>
            <a:off x="8028432" y="38862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تبدأ الخلية في الانقسام</a:t>
            </a:r>
          </a:p>
        </p:txBody>
      </p:sp>
      <p:sp>
        <p:nvSpPr>
          <p:cNvPr id="11" name="!!card2">
            <a:hlinkClick action="ppaction://hlinksldjump" r:id="rId7"/>
          </p:cNvPr>
          <p:cNvSpPr/>
          <p:nvPr/>
        </p:nvSpPr>
        <p:spPr>
          <a:xfrm>
            <a:off x="4288536" y="38862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ينتج مخلوقان متماثلان</a:t>
            </a:r>
          </a:p>
        </p:txBody>
      </p:sp>
      <p:sp>
        <p:nvSpPr>
          <p:cNvPr id="12" name="!!card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يتم تضاعف المادة الوراثية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5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 advClick="0">
        <p159:morph option="byObject"/>
        <p:sndAc>
          <p:stSnd>
            <p:snd r:embed="rId4" name="correct.wav"/>
          </p:stSnd>
        </p:sndAc>
      </p:transition>
    </mc:Choice>
    <mc:Fallback>
      <p:transition spd="slow" advClick="0">
        <p:fade/>
        <p:sndAc>
          <p:stSnd>
            <p:snd r:embed="rId4" name="correct.wav"/>
          </p:stSnd>
        </p:sndAc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رتّبي مراحل الانشطار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ic_g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188720"/>
            <a:ext cx="731520" cy="731520"/>
          </a:xfrm>
          <a:prstGeom prst="rect">
            <a:avLst/>
          </a:prstGeom>
        </p:spPr>
      </p:pic>
      <p:sp>
        <p:nvSpPr>
          <p:cNvPr id="6" name="!!ask"/>
          <p:cNvSpPr txBox="1"/>
          <p:nvPr/>
        </p:nvSpPr>
        <p:spPr>
          <a:xfrm>
            <a:off x="548640" y="118872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اختاري المرحلة الثالثة</a:t>
            </a:r>
          </a:p>
        </p:txBody>
      </p:sp>
      <p:sp>
        <p:nvSpPr>
          <p:cNvPr id="7" name="!!slot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8" name="!!slot1"/>
          <p:cNvSpPr/>
          <p:nvPr/>
        </p:nvSpPr>
        <p:spPr>
          <a:xfrm>
            <a:off x="4288536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٢</a:t>
            </a:r>
          </a:p>
        </p:txBody>
      </p:sp>
      <p:sp>
        <p:nvSpPr>
          <p:cNvPr id="9" name="!!slot2"/>
          <p:cNvSpPr/>
          <p:nvPr/>
        </p:nvSpPr>
        <p:spPr>
          <a:xfrm>
            <a:off x="548639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0" name="!!card1"/>
          <p:cNvSpPr/>
          <p:nvPr/>
        </p:nvSpPr>
        <p:spPr>
          <a:xfrm>
            <a:off x="4288536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تبدأ الخلية في الانقسام</a:t>
            </a:r>
          </a:p>
        </p:txBody>
      </p:sp>
      <p:sp>
        <p:nvSpPr>
          <p:cNvPr id="11" name="!!card2">
            <a:hlinkClick action="ppaction://hlinksldjump" r:id="rId6"/>
          </p:cNvPr>
          <p:cNvSpPr/>
          <p:nvPr/>
        </p:nvSpPr>
        <p:spPr>
          <a:xfrm>
            <a:off x="4288536" y="38862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ينتج مخلوقان متماثلان</a:t>
            </a:r>
          </a:p>
        </p:txBody>
      </p:sp>
      <p:sp>
        <p:nvSpPr>
          <p:cNvPr id="12" name="!!card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يتم تضاعف المادة الوراثية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5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 advClick="0">
        <p159:morph option="byObject"/>
        <p:sndAc>
          <p:stSnd>
            <p:snd r:embed="rId4" name="correct.wav"/>
          </p:stSnd>
        </p:sndAc>
      </p:transition>
    </mc:Choice>
    <mc:Fallback>
      <p:transition spd="slow" advClick="0">
        <p:fade/>
        <p:sndAc>
          <p:stSnd>
            <p:snd r:embed="rId4" name="correct.wav"/>
          </p:stSnd>
        </p:sndAc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رتّبي مراحل الانشطار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Picture 4" descr="ic_g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1188720"/>
            <a:ext cx="731520" cy="731520"/>
          </a:xfrm>
          <a:prstGeom prst="rect">
            <a:avLst/>
          </a:prstGeom>
        </p:spPr>
      </p:pic>
      <p:sp>
        <p:nvSpPr>
          <p:cNvPr id="6" name="!!ask"/>
          <p:cNvSpPr txBox="1"/>
          <p:nvPr/>
        </p:nvSpPr>
        <p:spPr>
          <a:xfrm>
            <a:off x="548640" y="118872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اكتمل الترتيب!</a:t>
            </a:r>
          </a:p>
        </p:txBody>
      </p:sp>
      <p:sp>
        <p:nvSpPr>
          <p:cNvPr id="7" name="!!slot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8" name="!!slot1"/>
          <p:cNvSpPr/>
          <p:nvPr/>
        </p:nvSpPr>
        <p:spPr>
          <a:xfrm>
            <a:off x="4288536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٢</a:t>
            </a:r>
          </a:p>
        </p:txBody>
      </p:sp>
      <p:sp>
        <p:nvSpPr>
          <p:cNvPr id="9" name="!!slot2"/>
          <p:cNvSpPr/>
          <p:nvPr/>
        </p:nvSpPr>
        <p:spPr>
          <a:xfrm>
            <a:off x="548639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25400">
            <a:solidFill>
              <a:srgbClr val="B9CD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3000" b="1" i="0" lang="ar-SA">
                <a:solidFill>
                  <a:srgbClr val="C2CEDD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0" name="!!card1"/>
          <p:cNvSpPr/>
          <p:nvPr/>
        </p:nvSpPr>
        <p:spPr>
          <a:xfrm>
            <a:off x="4288536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تبدأ الخلية في الانقسام</a:t>
            </a:r>
          </a:p>
        </p:txBody>
      </p:sp>
      <p:sp>
        <p:nvSpPr>
          <p:cNvPr id="11" name="!!card2"/>
          <p:cNvSpPr/>
          <p:nvPr/>
        </p:nvSpPr>
        <p:spPr>
          <a:xfrm>
            <a:off x="548639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ينتج مخلوقان متماثلان</a:t>
            </a:r>
          </a:p>
        </p:txBody>
      </p:sp>
      <p:sp>
        <p:nvSpPr>
          <p:cNvPr id="12" name="!!card0"/>
          <p:cNvSpPr/>
          <p:nvPr/>
        </p:nvSpPr>
        <p:spPr>
          <a:xfrm>
            <a:off x="8028432" y="2057400"/>
            <a:ext cx="3611880" cy="1143000"/>
          </a:xfrm>
          <a:prstGeom prst="roundRect">
            <a:avLst>
              <a:gd name="adj" fmla="val 16000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يتم تضاعف المادة الوراثية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257800"/>
            <a:ext cx="8503920" cy="868680"/>
          </a:xfrm>
          <a:prstGeom prst="roundRect">
            <a:avLst>
              <a:gd name="adj" fmla="val 31578"/>
            </a:avLst>
          </a:prstGeom>
          <a:solidFill>
            <a:srgbClr val="E2F7E9"/>
          </a:solidFill>
          <a:ln w="3175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ترتيب صحيح!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أولًا تتضاعف المادة الوراثية، ثم تنقسم الخلية، فينتج مخلوقان متماثلان.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6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7" name="nav_q_why">
            <a:hlinkClick action="ppaction://hlinksldjump" r:id="rId7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 advClick="0">
        <p159:morph option="byObject"/>
        <p:sndAc>
          <p:stSnd>
            <p:snd r:embed="rId4" name="correct.wav"/>
          </p:stSnd>
        </p:sndAc>
      </p:transition>
    </mc:Choice>
    <mc:Fallback>
      <p:transition spd="slow" advClick="0">
        <p:fade/>
        <p:sndAc>
          <p:stSnd>
            <p:snd r:embed="rId4" name="correct.wav"/>
          </p:stSnd>
        </p:sndAc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رتّبي مراحل الانشطار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هل تستطيع الخلية أن تنقسم قبل أن تنسخ مادتها الوراثية؟ يجب أن تحصل كل خلية جديدة على نسخة كاملة أولًا.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ord1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رتّبي مراحل الانشطار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هل تستطيع الخلية أن تنقسم قبل أن تنسخ مادتها الوراثية؟ يجب أن تحصل كل خلية جديدة على نسخة كاملة أولًا.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ord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تقويم تكويني · لماذا؟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يكون البراميسيومان الجديدان متماثلين؟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المادة الوراثية تضاعفت قبل الانقسام فأخذت كل خلية نسخة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لأنهما يعيشان في الماء نفسه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لأنهما تبادلا المادة الوراثية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2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تقويم تكويني · لماذا؟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المرحلة الأولى في شكل الكتاب: ماذا يحدث للمادة الوراثية قبل الانقسام؟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why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تقويم تكويني · لماذا؟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يكون البراميسيومان الجديدان متماثلين؟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المادة الوراثية تضاعفت قبل الانقسام فأخذت كل خلية نسخة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لأنهما يعيشان في الماء نفسه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لأنهما تبادلا المادة الوراثية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763420"/>
            <a:ext cx="5266944" cy="3788359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6_fi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36572"/>
            <a:ext cx="5120640" cy="36420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86200" y="5432907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سؤال أبسط (صح أم خطأ):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«قبل أن ينقسم البراميسيوم تتضاعف مادته الوراثية».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الإجابة: صح ✔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شاهدي الحركة ببطء: النواة تتضاعف أولًا، ثم تأخذ كل خلية نسخة.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892040" y="5257800"/>
            <a:ext cx="3200400" cy="640080"/>
          </a:xfrm>
          <a:prstGeom prst="roundRect">
            <a:avLst>
              <a:gd name="adj" fmla="val 42857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أشاهد الحركة ببطء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4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تقويم تكويني · لماذا؟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يحدث لو انقسمت الخلية دون أن تتضاعف مادتها الوراثية؟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لن تحصل كل خلية جديدة على نسخة كاملة من المادة الوراثية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ستنتج أربع خلايا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ستصبح الخليتان أكبر حجمًا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تقويم تكويني · لماذا؟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يكون البراميسيومان الجديدان متماثلين؟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لأن المادة الوراثية تضاعفت قبل الانقسام فأخذت كل خلية نسخة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المرحلة الأولى «يتم تضاعف المادة الوراثية»، فتأخذ كل خلية جديدة نسخة مماثلة؛ ولذلك «ينتج مخلوقان متماثلان».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onj0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انتهت الحركة البطيئة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po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63040"/>
            <a:ext cx="2783344" cy="4389120"/>
          </a:xfrm>
          <a:prstGeom prst="rect">
            <a:avLst/>
          </a:prstGeom>
        </p:spPr>
      </p:pic>
      <p:sp>
        <p:nvSpPr>
          <p:cNvPr id="6" name="bubble"/>
          <p:cNvSpPr/>
          <p:nvPr/>
        </p:nvSpPr>
        <p:spPr>
          <a:xfrm>
            <a:off x="4389120" y="1463040"/>
            <a:ext cx="6949440" cy="1371600"/>
          </a:xfrm>
          <a:prstGeom prst="wedgeRoundRectCallout">
            <a:avLst>
              <a:gd name="adj1" fmla="val -62000"/>
              <a:gd name="adj2" fmla="val 30000"/>
              <a:gd name="adj3" fmla="val 16667"/>
            </a:avLst>
          </a:prstGeom>
          <a:solidFill>
            <a:srgbClr val="FFFFFF"/>
          </a:solidFill>
          <a:ln w="3175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r" rtl="1"/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هل لاحظتِ؟ تتضاعف المادة الوراثية أولًا، ثم تنقسم الخلية.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6035040" y="3474720"/>
            <a:ext cx="5303520" cy="777240"/>
          </a:xfrm>
          <a:prstGeom prst="roundRect">
            <a:avLst>
              <a:gd name="adj" fmla="val 35294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سؤال مشابه: أقرأ الصورة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6035040" y="4480560"/>
            <a:ext cx="5303520" cy="777240"/>
          </a:xfrm>
          <a:prstGeom prst="roundRect">
            <a:avLst>
              <a:gd name="adj" fmla="val 35294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سؤال مشابه: لماذا يتماثلان؟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1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الاقتران في الطلائعيات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180136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180136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710488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710488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a"/>
          <p:cNvSpPr/>
          <p:nvPr/>
        </p:nvSpPr>
        <p:spPr>
          <a:xfrm>
            <a:off x="294436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"/>
          <p:cNvSpPr/>
          <p:nvPr/>
        </p:nvSpPr>
        <p:spPr>
          <a:xfrm>
            <a:off x="888796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a2"/>
          <p:cNvSpPr/>
          <p:nvPr/>
        </p:nvSpPr>
        <p:spPr>
          <a:xfrm>
            <a:off x="294436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888796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xa"/>
          <p:cNvSpPr/>
          <p:nvPr/>
        </p:nvSpPr>
        <p:spPr>
          <a:xfrm>
            <a:off x="294436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xb"/>
          <p:cNvSpPr/>
          <p:nvPr/>
        </p:nvSpPr>
        <p:spPr>
          <a:xfrm>
            <a:off x="888796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xa2"/>
          <p:cNvSpPr/>
          <p:nvPr/>
        </p:nvSpPr>
        <p:spPr>
          <a:xfrm>
            <a:off x="294436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xb2"/>
          <p:cNvSpPr/>
          <p:nvPr/>
        </p:nvSpPr>
        <p:spPr>
          <a:xfrm>
            <a:off x="888796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من الكتاب: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«وقد تتكاثر الطلائعيات بالاقتران، وهو عملية جنسية…»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2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الاقتران في الطلائعيات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28529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28529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60533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60533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a"/>
          <p:cNvSpPr/>
          <p:nvPr/>
        </p:nvSpPr>
        <p:spPr>
          <a:xfrm>
            <a:off x="399592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"/>
          <p:cNvSpPr/>
          <p:nvPr/>
        </p:nvSpPr>
        <p:spPr>
          <a:xfrm>
            <a:off x="783640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a2"/>
          <p:cNvSpPr/>
          <p:nvPr/>
        </p:nvSpPr>
        <p:spPr>
          <a:xfrm>
            <a:off x="399592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783640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xa"/>
          <p:cNvSpPr/>
          <p:nvPr/>
        </p:nvSpPr>
        <p:spPr>
          <a:xfrm>
            <a:off x="399592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xb"/>
          <p:cNvSpPr/>
          <p:nvPr/>
        </p:nvSpPr>
        <p:spPr>
          <a:xfrm>
            <a:off x="783640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xa2"/>
          <p:cNvSpPr/>
          <p:nvPr/>
        </p:nvSpPr>
        <p:spPr>
          <a:xfrm>
            <a:off x="399592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xb2"/>
          <p:cNvSpPr/>
          <p:nvPr/>
        </p:nvSpPr>
        <p:spPr>
          <a:xfrm>
            <a:off x="783640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تلتحم المخلوقات بعضها ببعض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2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الاقتران في الطلائعيات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28529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28529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60533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605332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a"/>
          <p:cNvSpPr/>
          <p:nvPr/>
        </p:nvSpPr>
        <p:spPr>
          <a:xfrm>
            <a:off x="399592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"/>
          <p:cNvSpPr/>
          <p:nvPr/>
        </p:nvSpPr>
        <p:spPr>
          <a:xfrm>
            <a:off x="783640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a2"/>
          <p:cNvSpPr/>
          <p:nvPr/>
        </p:nvSpPr>
        <p:spPr>
          <a:xfrm>
            <a:off x="399592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783640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xa"/>
          <p:cNvSpPr/>
          <p:nvPr/>
        </p:nvSpPr>
        <p:spPr>
          <a:xfrm>
            <a:off x="6144768" y="274320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xb"/>
          <p:cNvSpPr/>
          <p:nvPr/>
        </p:nvSpPr>
        <p:spPr>
          <a:xfrm>
            <a:off x="5687568" y="2834639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xa2"/>
          <p:cNvSpPr/>
          <p:nvPr/>
        </p:nvSpPr>
        <p:spPr>
          <a:xfrm>
            <a:off x="6144768" y="274320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xb2"/>
          <p:cNvSpPr/>
          <p:nvPr/>
        </p:nvSpPr>
        <p:spPr>
          <a:xfrm>
            <a:off x="5687568" y="2834639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تلتحم المخلوقات بعضها ببعض</a:t>
            </a:r>
          </a:p>
        </p:txBody>
      </p:sp>
      <p:sp>
        <p:nvSpPr>
          <p:cNvPr id="20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تتبادل المادة الوراثية</a:t>
            </a:r>
          </a:p>
        </p:txBody>
      </p:sp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3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الاقتران في الطلائعيات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180136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180136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710488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7104888" y="2194560"/>
            <a:ext cx="3291840" cy="155448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a"/>
          <p:cNvSpPr/>
          <p:nvPr/>
        </p:nvSpPr>
        <p:spPr>
          <a:xfrm>
            <a:off x="294436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"/>
          <p:cNvSpPr/>
          <p:nvPr/>
        </p:nvSpPr>
        <p:spPr>
          <a:xfrm>
            <a:off x="888796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a2"/>
          <p:cNvSpPr/>
          <p:nvPr/>
        </p:nvSpPr>
        <p:spPr>
          <a:xfrm>
            <a:off x="294436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888796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xa"/>
          <p:cNvSpPr/>
          <p:nvPr/>
        </p:nvSpPr>
        <p:spPr>
          <a:xfrm>
            <a:off x="824788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xb"/>
          <p:cNvSpPr/>
          <p:nvPr/>
        </p:nvSpPr>
        <p:spPr>
          <a:xfrm>
            <a:off x="358444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xa2"/>
          <p:cNvSpPr/>
          <p:nvPr/>
        </p:nvSpPr>
        <p:spPr>
          <a:xfrm>
            <a:off x="8247888" y="2788920"/>
            <a:ext cx="365760" cy="365760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xb2"/>
          <p:cNvSpPr/>
          <p:nvPr/>
        </p:nvSpPr>
        <p:spPr>
          <a:xfrm>
            <a:off x="3584448" y="2788920"/>
            <a:ext cx="365760" cy="365760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تلتحم المخلوقات بعضها ببعض</a:t>
            </a:r>
          </a:p>
        </p:txBody>
      </p:sp>
      <p:sp>
        <p:nvSpPr>
          <p:cNvPr id="20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تتبادل المادة الوراثية</a:t>
            </a:r>
          </a:p>
        </p:txBody>
      </p:sp>
      <p:sp>
        <p:nvSpPr>
          <p:cNvPr id="21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ثم ينفصل بعضها عن بعض</a:t>
            </a:r>
          </a:p>
        </p:txBody>
      </p:sp>
      <p:sp>
        <p:nvSpPr>
          <p:cNvPr id="2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4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الاقتران في الطلائعيات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1229868" y="2377440"/>
            <a:ext cx="2148840" cy="118872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3515868" y="2377440"/>
            <a:ext cx="2148840" cy="118872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6533388" y="2377440"/>
            <a:ext cx="2148840" cy="118872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8819388" y="2377440"/>
            <a:ext cx="2148840" cy="1188720"/>
          </a:xfrm>
          <a:prstGeom prst="ellipse">
            <a:avLst/>
          </a:prstGeom>
          <a:solidFill>
            <a:srgbClr val="CDEFC4"/>
          </a:solidFill>
          <a:ln w="38100">
            <a:solidFill>
              <a:srgbClr val="5E9E5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a"/>
          <p:cNvSpPr/>
          <p:nvPr/>
        </p:nvSpPr>
        <p:spPr>
          <a:xfrm>
            <a:off x="1856232" y="2798064"/>
            <a:ext cx="347472" cy="347472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"/>
          <p:cNvSpPr/>
          <p:nvPr/>
        </p:nvSpPr>
        <p:spPr>
          <a:xfrm>
            <a:off x="7708392" y="2798064"/>
            <a:ext cx="347472" cy="34747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a2"/>
          <p:cNvSpPr/>
          <p:nvPr/>
        </p:nvSpPr>
        <p:spPr>
          <a:xfrm>
            <a:off x="4142231" y="2798064"/>
            <a:ext cx="347472" cy="347472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9994392" y="2798064"/>
            <a:ext cx="347472" cy="34747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xa"/>
          <p:cNvSpPr/>
          <p:nvPr/>
        </p:nvSpPr>
        <p:spPr>
          <a:xfrm>
            <a:off x="7159751" y="2798064"/>
            <a:ext cx="347472" cy="347472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xb"/>
          <p:cNvSpPr/>
          <p:nvPr/>
        </p:nvSpPr>
        <p:spPr>
          <a:xfrm>
            <a:off x="2404872" y="2798064"/>
            <a:ext cx="347472" cy="34747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xa2"/>
          <p:cNvSpPr/>
          <p:nvPr/>
        </p:nvSpPr>
        <p:spPr>
          <a:xfrm>
            <a:off x="9445752" y="2798064"/>
            <a:ext cx="347472" cy="347472"/>
          </a:xfrm>
          <a:prstGeom prst="ellipse">
            <a:avLst/>
          </a:prstGeom>
          <a:solidFill>
            <a:srgbClr val="5AA9E6"/>
          </a:solidFill>
          <a:ln w="127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xb2"/>
          <p:cNvSpPr/>
          <p:nvPr/>
        </p:nvSpPr>
        <p:spPr>
          <a:xfrm>
            <a:off x="4690871" y="2798064"/>
            <a:ext cx="347472" cy="34747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C24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تلتحم المخلوقات بعضها ببعض</a:t>
            </a:r>
          </a:p>
        </p:txBody>
      </p:sp>
      <p:sp>
        <p:nvSpPr>
          <p:cNvPr id="20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تتبادل المادة الوراثية</a:t>
            </a:r>
          </a:p>
        </p:txBody>
      </p:sp>
      <p:sp>
        <p:nvSpPr>
          <p:cNvPr id="21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ثم ينفصل بعضها عن بعض</a:t>
            </a:r>
          </a:p>
        </p:txBody>
      </p:sp>
      <p:sp>
        <p:nvSpPr>
          <p:cNvPr id="22" name="!!lab4"/>
          <p:cNvSpPr/>
          <p:nvPr/>
        </p:nvSpPr>
        <p:spPr>
          <a:xfrm>
            <a:off x="548639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ينقسم كل منها بالانشطار الثنائي</a:t>
            </a:r>
          </a:p>
        </p:txBody>
      </p:sp>
      <p:sp>
        <p:nvSpPr>
          <p:cNvPr id="2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5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6" name="nav_q_conj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تحدٍّ قصير · صح أم خطأ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صح أم خطأ: «الاقتران عملية جنسية تتبادل فيها المخلوقات المادة الوراثية».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619506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صح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4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خطأ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1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تحدٍّ قصير · صح أم خطأ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ارجعي إلى نص الكتاب: «وهو عملية جنسية تلتحم فيها المخلوقات… وتتبادل المادة الوراثية».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conj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تحدٍّ قصير · صح أم خطأ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صح أم خطأ: «الاقتران عملية جنسية تتبادل فيها المخلوقات المادة الوراثية».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صح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5192" y="3520440"/>
            <a:ext cx="6675120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48072" y="3566160"/>
            <a:ext cx="6309359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صح. هذا ما يميز الاقتران عن الانشطار الثنائي: تلتحم المخلوقات وتتبادل المادة الوراثية، ثم تنفصل وينقسم كل منها.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4082006"/>
            <a:ext cx="4626864" cy="1482906"/>
          </a:xfrm>
          <a:prstGeom prst="roundRect">
            <a:avLst>
              <a:gd name="adj" fmla="val 6166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96_conj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55158"/>
            <a:ext cx="4480560" cy="13366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91840" y="5446041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pic>
        <p:nvPicPr>
          <p:cNvPr id="14" name="Picture 13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548640" cy="548640"/>
          </a:xfrm>
          <a:prstGeom prst="rect">
            <a:avLst/>
          </a:prstGeom>
        </p:spPr>
      </p:pic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4" name="nav_spore0">
            <a:hlinkClick action="ppaction://hlinksldjump" r:id="rId9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الأبواغ: البوغيات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cell"/>
          <p:cNvSpPr/>
          <p:nvPr/>
        </p:nvSpPr>
        <p:spPr>
          <a:xfrm>
            <a:off x="5458968" y="2331720"/>
            <a:ext cx="1280160" cy="1280160"/>
          </a:xfrm>
          <a:prstGeom prst="ellipse">
            <a:avLst/>
          </a:prstGeom>
          <a:solidFill>
            <a:srgbClr val="EDE7FF"/>
          </a:solidFill>
          <a:ln w="762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na"/>
          <p:cNvSpPr/>
          <p:nvPr/>
        </p:nvSpPr>
        <p:spPr>
          <a:xfrm>
            <a:off x="5779008" y="2834640"/>
            <a:ext cx="640080" cy="274320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7772400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من الكتاب: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«وتحتوي الأبواغ على المادة الوراثية داخل غشاء يحميها»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291840" cy="1188720"/>
          </a:xfrm>
          <a:prstGeom prst="roundRect">
            <a:avLst>
              <a:gd name="adj" fmla="val 15384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r" rtl="1"/>
            <a:r>
              <a:rPr sz="18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البلازموديوم</a:t>
            </a:r>
          </a:p>
          <a:p>
            <a:pPr algn="r" rtl="1"/>
            <a:r>
              <a:rPr sz="1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من البوغيات، يحتاج إلى جسم مخلوق حي آخر لينمو داخله، ويسبب مرض الملاريا.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الأبواغ: البوغيات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cell"/>
          <p:cNvSpPr/>
          <p:nvPr/>
        </p:nvSpPr>
        <p:spPr>
          <a:xfrm>
            <a:off x="5458968" y="2331720"/>
            <a:ext cx="1280160" cy="1280160"/>
          </a:xfrm>
          <a:prstGeom prst="ellipse">
            <a:avLst/>
          </a:prstGeom>
          <a:solidFill>
            <a:srgbClr val="EDE7FF"/>
          </a:solidFill>
          <a:ln w="762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na"/>
          <p:cNvSpPr/>
          <p:nvPr/>
        </p:nvSpPr>
        <p:spPr>
          <a:xfrm>
            <a:off x="5779008" y="2834640"/>
            <a:ext cx="640080" cy="274320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ad"/>
          <p:cNvSpPr/>
          <p:nvPr/>
        </p:nvSpPr>
        <p:spPr>
          <a:xfrm>
            <a:off x="7287768" y="1920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FFE0CC"/>
          </a:solidFill>
          <a:ln w="25400">
            <a:solidFill>
              <a:srgbClr val="E07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800" b="1" i="0" lang="ar-SA">
                <a:solidFill>
                  <a:srgbClr val="9A3D00"/>
                </a:solidFill>
                <a:latin typeface="Arial"/>
                <a:ea typeface="Arial"/>
                <a:cs typeface="Arial"/>
              </a:rPr>
              <a:t>ظروف قاسية: جفاف وحرارة</a:t>
            </a:r>
          </a:p>
        </p:txBody>
      </p:sp>
      <p:sp>
        <p:nvSpPr>
          <p:cNvPr id="10" name="!!lab1"/>
          <p:cNvSpPr/>
          <p:nvPr/>
        </p:nvSpPr>
        <p:spPr>
          <a:xfrm>
            <a:off x="6185916" y="5074920"/>
            <a:ext cx="5454396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تتحمل الأبواغ الظروف القاسية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الأبواغ: البوغيات (ص٩٦)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cell"/>
          <p:cNvSpPr/>
          <p:nvPr/>
        </p:nvSpPr>
        <p:spPr>
          <a:xfrm>
            <a:off x="4453128" y="1920240"/>
            <a:ext cx="3291840" cy="2103120"/>
          </a:xfrm>
          <a:prstGeom prst="ellipse">
            <a:avLst/>
          </a:prstGeom>
          <a:solidFill>
            <a:srgbClr val="EDE7FF"/>
          </a:solidFill>
          <a:ln w="762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na"/>
          <p:cNvSpPr/>
          <p:nvPr/>
        </p:nvSpPr>
        <p:spPr>
          <a:xfrm>
            <a:off x="5641848" y="2788920"/>
            <a:ext cx="914400" cy="365760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good"/>
          <p:cNvSpPr/>
          <p:nvPr/>
        </p:nvSpPr>
        <p:spPr>
          <a:xfrm>
            <a:off x="8202168" y="192024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D7F5E3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8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ظروف مناسبة</a:t>
            </a:r>
          </a:p>
        </p:txBody>
      </p:sp>
      <p:sp>
        <p:nvSpPr>
          <p:cNvPr id="10" name="!!lab1"/>
          <p:cNvSpPr/>
          <p:nvPr/>
        </p:nvSpPr>
        <p:spPr>
          <a:xfrm>
            <a:off x="6185916" y="5074920"/>
            <a:ext cx="5454396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تتحمل الأبواغ الظروف القاسية</a:t>
            </a:r>
          </a:p>
        </p:txBody>
      </p:sp>
      <p:sp>
        <p:nvSpPr>
          <p:cNvPr id="11" name="!!lab2"/>
          <p:cNvSpPr/>
          <p:nvPr/>
        </p:nvSpPr>
        <p:spPr>
          <a:xfrm>
            <a:off x="548639" y="5074920"/>
            <a:ext cx="5454396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تنمو عندما تتهيأ ظروف مناسبة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4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5" name="nav_q_spore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تحدٍّ قصير · فسّري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تستطيع الأبواغ أن تتحمل الظروف القاسية؟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المادة الوراثية داخل غشاء يحميها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لأنها كبيرة الحجم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لأنها تصنع غذاءها بنفسها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2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تحدٍّ قصير · فسّري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ماذا يحيط بالمادة الوراثية داخل البوغ؟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spore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تحدٍّ قصير · فسّري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تستطيع الأبواغ أن تتحمل الظروف القاسية؟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لأن المادة الوراثية داخل غشاء يحميها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5192" y="3520440"/>
            <a:ext cx="6675120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48072" y="3566160"/>
            <a:ext cx="6309359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«وتحتوي الأبواغ على المادة الوراثية داخل غشاء يحميها»؛ لذا تتحمل الظروف القاسية حتى تتهيأ ظروف مناسبة فتنمو.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3529992"/>
            <a:ext cx="4626864" cy="2586934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96_spor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603144"/>
            <a:ext cx="4480560" cy="244063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91840" y="5998055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pic>
        <p:nvPicPr>
          <p:cNvPr id="14" name="Picture 13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548640" cy="548640"/>
          </a:xfrm>
          <a:prstGeom prst="rect">
            <a:avLst/>
          </a:prstGeom>
        </p:spPr>
      </p:pic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2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4" name="nav_cmp96">
            <a:hlinkClick action="ppaction://hlinksldjump" r:id="rId9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مقارنة بصرية: طرق تكاثر الطلائعيات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2148840"/>
            <a:ext cx="1691640" cy="640080"/>
          </a:xfrm>
          <a:prstGeom prst="roundRect">
            <a:avLst>
              <a:gd name="adj" fmla="val 17142"/>
            </a:avLst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النوع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2880360"/>
            <a:ext cx="1691640" cy="1508760"/>
          </a:xfrm>
          <a:prstGeom prst="roundRect">
            <a:avLst>
              <a:gd name="adj" fmla="val 7272"/>
            </a:avLst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ماذا يحدث؟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4480560"/>
            <a:ext cx="1691640" cy="640080"/>
          </a:xfrm>
          <a:prstGeom prst="roundRect">
            <a:avLst>
              <a:gd name="adj" fmla="val 17142"/>
            </a:avLst>
          </a:prstGeom>
          <a:solidFill>
            <a:srgbClr val="E7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مثال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325880"/>
            <a:ext cx="3017520" cy="731520"/>
          </a:xfrm>
          <a:prstGeom prst="roundRect">
            <a:avLst>
              <a:gd name="adj" fmla="val 18749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148840"/>
            <a:ext cx="301752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3BB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لاجنسي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880360"/>
            <a:ext cx="301752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25400">
            <a:solidFill>
              <a:srgbClr val="3BB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ينقسم المخلوق الحي إلى مخلوقين جديدين متماثلين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480560"/>
            <a:ext cx="301752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3BB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25880"/>
            <a:ext cx="3017520" cy="731520"/>
          </a:xfrm>
          <a:prstGeom prst="roundRect">
            <a:avLst>
              <a:gd name="adj" fmla="val 18749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148840"/>
            <a:ext cx="301752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جنسي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880360"/>
            <a:ext cx="301752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تلتحم المخلوقات وتتبادل المادة الوراثية، ثم تنفصل وتنقسم بالانشطار الثنائي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480560"/>
            <a:ext cx="301752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الطلائعيات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1325880"/>
            <a:ext cx="3017520" cy="731520"/>
          </a:xfrm>
          <a:prstGeom prst="roundRect">
            <a:avLst>
              <a:gd name="adj" fmla="val 18749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2148840"/>
            <a:ext cx="301752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البوغيات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19" y="2880360"/>
            <a:ext cx="301752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مادة وراثية داخل غشاء يحميها، تتحمل الظروف القاسية ثم تنمو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" y="4480560"/>
            <a:ext cx="301752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البلازموديوم</a:t>
            </a:r>
          </a:p>
        </p:txBody>
      </p:sp>
      <p:sp>
        <p:nvSpPr>
          <p:cNvPr id="4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4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47" name="nav_map0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48" name="nav_cls1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 التصنيف (١/٢): إلى أي سلة تنتمي العبارة؟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«تلتحم المخلوقات وتتبادل المادة الوراثية»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sp>
        <p:nvSpPr>
          <p:cNvPr id="9" name="!!opt2">
            <a:hlinkClick action="ppaction://hlinksldjump" r:id="rId4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2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 التصنيف (١/٢): إلى أي سلة تنتمي العبارة؟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تذكّري: في أي طريقة تتبادل المخلوقات المادة الوراثية؟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cls1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 التصنيف (١/٢): إلى أي سلة تنتمي العبارة؟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«تلتحم المخلوقات وتتبادل المادة الوراثية»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هذه صفة الاقتران: عملية جنسية تلتحم فيها المخلوقات وتتبادل المادة الوراثية.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ls2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 التصنيف (٢/٢): إلى أي سلة تنتمي العبارة؟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«مادة وراثية داخل غشاء يحميها»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8" name="!!opt1">
            <a:hlinkClick action="ppaction://hlinksldjump" r:id="rId4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2" name="nav_map0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 التصنيف (٢/٢): إلى أي سلة تنتمي العبارة؟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تذكّري: ما الذي يحمي المادة الوراثية حتى تتحسن الظروف؟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3" name="nav_map0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cls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 التصنيف (٢/٢): إلى أي سلة تنتمي العبارة؟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٩٦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«مادة وراثية داخل غشاء يحميها»</a:t>
            </a:r>
          </a:p>
        </p:txBody>
      </p:sp>
      <p:sp>
        <p:nvSpPr>
          <p:cNvPr id="7" name="!!opt2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هذه صفة الأبواغ: تحتوي على المادة الوراثية داخل غشاء يحميها.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ص٩٦</a:t>
            </a:r>
          </a:p>
        </p:txBody>
      </p:sp>
      <p:sp>
        <p:nvSpPr>
          <p:cNvPr id="18" name="nav_map0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map1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الخريطة تنمو: بطاقة الطلائعيات</a:t>
            </a:r>
          </a:p>
        </p:txBody>
      </p:sp>
      <p:sp>
        <p:nvSpPr>
          <p:cNvPr id="4" name="!!mapscreen"/>
          <p:cNvSpPr/>
          <p:nvPr/>
        </p:nvSpPr>
        <p:spPr>
          <a:xfrm>
            <a:off x="411480" y="1143000"/>
            <a:ext cx="11365992" cy="50292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B3A55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mapcenter"/>
          <p:cNvSpPr/>
          <p:nvPr/>
        </p:nvSpPr>
        <p:spPr>
          <a:xfrm>
            <a:off x="2651760" y="1325880"/>
            <a:ext cx="6903720" cy="777240"/>
          </a:xfrm>
          <a:prstGeom prst="roundRect">
            <a:avLst>
              <a:gd name="adj" fmla="val 49411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كيف تتكاثر المخلوقات الحية الدقيقة؟</a:t>
            </a:r>
          </a:p>
        </p:txBody>
      </p:sp>
      <p:cxnSp>
        <p:nvCxnSpPr>
          <p:cNvPr id="6" name="!!line_p"/>
          <p:cNvCxnSpPr/>
          <p:nvPr/>
        </p:nvCxnSpPr>
        <p:spPr>
          <a:xfrm>
            <a:off x="6099048" y="2103120"/>
            <a:ext cx="370789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br_p">
            <a:hlinkClick action="ppaction://hlinksldjump" r:id="rId5"/>
          </p:cNvPr>
          <p:cNvSpPr/>
          <p:nvPr/>
        </p:nvSpPr>
        <p:spPr>
          <a:xfrm>
            <a:off x="832104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الطلائعيات</a:t>
            </a:r>
          </a:p>
        </p:txBody>
      </p:sp>
      <p:cxnSp>
        <p:nvCxnSpPr>
          <p:cNvPr id="8" name="!!line_f"/>
          <p:cNvCxnSpPr/>
          <p:nvPr/>
        </p:nvCxnSpPr>
        <p:spPr>
          <a:xfrm>
            <a:off x="6099048" y="2103120"/>
            <a:ext cx="457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br_f">
            <a:hlinkClick action="ppaction://hlinksldjump" r:id="rId6"/>
          </p:cNvPr>
          <p:cNvSpPr/>
          <p:nvPr/>
        </p:nvSpPr>
        <p:spPr>
          <a:xfrm>
            <a:off x="461772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الفطريات</a:t>
            </a:r>
          </a:p>
        </p:txBody>
      </p:sp>
      <p:cxnSp>
        <p:nvCxnSpPr>
          <p:cNvPr id="10" name="!!line_b"/>
          <p:cNvCxnSpPr/>
          <p:nvPr/>
        </p:nvCxnSpPr>
        <p:spPr>
          <a:xfrm flipH="1">
            <a:off x="2400300" y="2103120"/>
            <a:ext cx="3698748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br_b"/>
          <p:cNvSpPr/>
          <p:nvPr/>
        </p:nvSpPr>
        <p:spPr>
          <a:xfrm>
            <a:off x="91440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C9D2DE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البكتيريا</a:t>
            </a:r>
          </a:p>
        </p:txBody>
      </p:sp>
      <p:pic>
        <p:nvPicPr>
          <p:cNvPr id="12" name="!!lock_b" descr="ic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587752"/>
            <a:ext cx="502920" cy="502920"/>
          </a:xfrm>
          <a:prstGeom prst="rect">
            <a:avLst/>
          </a:prstGeom>
        </p:spPr>
      </p:pic>
      <p:sp>
        <p:nvSpPr>
          <p:cNvPr id="13" name="!!card_1_p_1"/>
          <p:cNvSpPr/>
          <p:nvPr/>
        </p:nvSpPr>
        <p:spPr>
          <a:xfrm>
            <a:off x="832104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البراميسيوم</a:t>
            </a:r>
          </a:p>
        </p:txBody>
      </p:sp>
      <p:sp>
        <p:nvSpPr>
          <p:cNvPr id="14" name="!!card_1_p_2"/>
          <p:cNvSpPr/>
          <p:nvPr/>
        </p:nvSpPr>
        <p:spPr>
          <a:xfrm>
            <a:off x="832104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 (جنسي)</a:t>
            </a:r>
          </a:p>
        </p:txBody>
      </p:sp>
      <p:sp>
        <p:nvSpPr>
          <p:cNvPr id="15" name="!!card_1_p_3"/>
          <p:cNvSpPr/>
          <p:nvPr/>
        </p:nvSpPr>
        <p:spPr>
          <a:xfrm>
            <a:off x="8321040" y="52120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 (البوغيات)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البلازموديوم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</a:t>
            </a:r>
          </a:p>
        </p:txBody>
      </p:sp>
      <p:sp>
        <p:nvSpPr>
          <p:cNvPr id="22" name="nav_p97page">
            <a:hlinkClick action="ppaction://hlinksldjump" r:id="rId6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الفطريات والبكتيريا: صفحة ٩٧ على الشاشة الذكية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5577840" cy="5029200"/>
          </a:xfrm>
          <a:prstGeom prst="roundRect">
            <a:avLst>
              <a:gd name="adj" fmla="val 4545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7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648" y="1261872"/>
            <a:ext cx="4076942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188720"/>
            <a:ext cx="5440680" cy="4983480"/>
          </a:xfrm>
          <a:prstGeom prst="roundRect">
            <a:avLst>
              <a:gd name="adj" fmla="val 4587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97_fung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658" y="1280160"/>
            <a:ext cx="3554642" cy="4800600"/>
          </a:xfrm>
          <a:prstGeom prst="rect">
            <a:avLst/>
          </a:prstGeom>
        </p:spPr>
      </p:pic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7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الشريحة المجهرية ①: فطر الخميرة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Picture 4" descr="microsc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03120"/>
            <a:ext cx="3175782" cy="39319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926080" y="1188720"/>
            <a:ext cx="5029200" cy="4983480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97_yea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783080"/>
            <a:ext cx="3108960" cy="39867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371600"/>
            <a:ext cx="3520440" cy="3291840"/>
          </a:xfrm>
          <a:prstGeom prst="roundRect">
            <a:avLst>
              <a:gd name="adj" fmla="val 6944"/>
            </a:avLst>
          </a:prstGeom>
          <a:solidFill>
            <a:srgbClr val="FFF6DD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40" y="1463040"/>
            <a:ext cx="3246120" cy="31089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1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أتوقع:</a:t>
            </a:r>
          </a:p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لاحظي الخلايا الصغيرة الملتصقة بالخلايا الكبيرة.</a:t>
            </a:r>
          </a:p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ماذا تتوقعين أن تكون؟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22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6117336" y="2322575"/>
            <a:ext cx="109728" cy="109728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5920740" y="1851660"/>
            <a:ext cx="777240" cy="77724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5897879" y="1508760"/>
            <a:ext cx="1188720" cy="118872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709160" y="34930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5394960" y="25786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٢ تنقسم نواة الخلية الأم انقسامًا متساويًا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5920740" y="1303020"/>
            <a:ext cx="1417320" cy="141732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709160" y="34930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6345936" y="1783080"/>
            <a:ext cx="566928" cy="45720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تنقسم نواة الخلية الأم انقسامًا متساويًا</a:t>
            </a:r>
          </a:p>
        </p:txBody>
      </p:sp>
      <p:sp>
        <p:nvSpPr>
          <p:cNvPr id="13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٣ تصبح إحدى النواتين جزءًا من البرعم النامي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6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7726680" y="2080260"/>
            <a:ext cx="1737360" cy="19659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709160" y="34930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8275320" y="2898648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تنقسم نواة الخلية الأم انقسامًا متساويًا</a:t>
            </a:r>
          </a:p>
        </p:txBody>
      </p:sp>
      <p:sp>
        <p:nvSpPr>
          <p:cNvPr id="13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٣ تصبح إحدى النواتين جزءًا من البرعم النامي</a:t>
            </a:r>
          </a:p>
        </p:txBody>
      </p:sp>
      <p:sp>
        <p:nvSpPr>
          <p:cNvPr id="14" name="!!lab4"/>
          <p:cNvSpPr/>
          <p:nvPr/>
        </p:nvSpPr>
        <p:spPr>
          <a:xfrm>
            <a:off x="548639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٤ ينفصل البرعم ويصبح مخلوقًا حيًا جديدًا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7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8" name="nav_fspore0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6117336" y="2322575"/>
            <a:ext cx="109728" cy="109728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budS1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5920740" y="1851660"/>
            <a:ext cx="777240" cy="77724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4960620" y="3154680"/>
            <a:ext cx="685800" cy="54864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5" name="nav_budS2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5897879" y="1508760"/>
            <a:ext cx="1188720" cy="118872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709160" y="34930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5394960" y="25786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٢ تنقسم نواة الخلية الأم انقسامًا متساويًا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6" name="nav_budS3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5920740" y="1303020"/>
            <a:ext cx="1417320" cy="141732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709160" y="34930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6345936" y="1783080"/>
            <a:ext cx="566928" cy="457200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تنقسم نواة الخلية الأم انقسامًا متساويًا</a:t>
            </a:r>
          </a:p>
        </p:txBody>
      </p:sp>
      <p:sp>
        <p:nvSpPr>
          <p:cNvPr id="13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٣ تصبح إحدى النواتين جزءًا من البرعم النامي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6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7" name="nav_budS4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التبرعم في الخميرة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"/>
          <p:cNvSpPr/>
          <p:nvPr/>
        </p:nvSpPr>
        <p:spPr>
          <a:xfrm>
            <a:off x="4160520" y="2011680"/>
            <a:ext cx="2286000" cy="26517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D"/>
          <p:cNvSpPr/>
          <p:nvPr/>
        </p:nvSpPr>
        <p:spPr>
          <a:xfrm>
            <a:off x="7726680" y="2080260"/>
            <a:ext cx="1737360" cy="1965960"/>
          </a:xfrm>
          <a:prstGeom prst="ellipse">
            <a:avLst/>
          </a:prstGeom>
          <a:solidFill>
            <a:srgbClr val="D8F0B8"/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N1"/>
          <p:cNvSpPr/>
          <p:nvPr/>
        </p:nvSpPr>
        <p:spPr>
          <a:xfrm>
            <a:off x="4709160" y="3493007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2"/>
          <p:cNvSpPr/>
          <p:nvPr/>
        </p:nvSpPr>
        <p:spPr>
          <a:xfrm>
            <a:off x="8275320" y="2898648"/>
            <a:ext cx="640080" cy="512064"/>
          </a:xfrm>
          <a:prstGeom prst="ellipse">
            <a:avLst/>
          </a:prstGeom>
          <a:solidFill>
            <a:srgbClr val="B9A6F0"/>
          </a:solidFill>
          <a:ln w="254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يتكوّن البرعم بنمو بروز صغير على الخلية الأم</a:t>
            </a:r>
          </a:p>
        </p:txBody>
      </p:sp>
      <p:sp>
        <p:nvSpPr>
          <p:cNvPr id="12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تنقسم نواة الخلية الأم انقسامًا متساويًا</a:t>
            </a:r>
          </a:p>
        </p:txBody>
      </p:sp>
      <p:sp>
        <p:nvSpPr>
          <p:cNvPr id="13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٣ تصبح إحدى النواتين جزءًا من البرعم النامي</a:t>
            </a:r>
          </a:p>
        </p:txBody>
      </p:sp>
      <p:sp>
        <p:nvSpPr>
          <p:cNvPr id="14" name="!!lab4"/>
          <p:cNvSpPr/>
          <p:nvPr/>
        </p:nvSpPr>
        <p:spPr>
          <a:xfrm>
            <a:off x="548639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٤ ينفصل البرعم ويصبح مخلوقًا حيًا جديدًا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7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8" name="nav_budS_end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200">
        <p159:morph option="byObject"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انتهت الحركة البطيئة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2783344" cy="4389120"/>
          </a:xfrm>
          <a:prstGeom prst="rect">
            <a:avLst/>
          </a:prstGeom>
        </p:spPr>
      </p:pic>
      <p:sp>
        <p:nvSpPr>
          <p:cNvPr id="6" name="bubble"/>
          <p:cNvSpPr/>
          <p:nvPr/>
        </p:nvSpPr>
        <p:spPr>
          <a:xfrm>
            <a:off x="4389120" y="1463040"/>
            <a:ext cx="6949440" cy="1371600"/>
          </a:xfrm>
          <a:prstGeom prst="wedgeRoundRectCallout">
            <a:avLst>
              <a:gd name="adj1" fmla="val -62000"/>
              <a:gd name="adj2" fmla="val 30000"/>
              <a:gd name="adj3" fmla="val 16667"/>
            </a:avLst>
          </a:prstGeom>
          <a:solidFill>
            <a:srgbClr val="FFFFFF"/>
          </a:solidFill>
          <a:ln w="3175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r" rtl="1"/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لاحظتِ؟ النواة انقسمت انقسامًا متساويًا، فأخذ البرعم نواة مماثلة.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6949440" y="3566160"/>
            <a:ext cx="4389120" cy="777240"/>
          </a:xfrm>
          <a:prstGeom prst="roundRect">
            <a:avLst>
              <a:gd name="adj" fmla="val 35294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8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9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0" name="nav_map1">
            <a:hlinkClick action="ppaction://hlinksldjump" r:id="rId5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تكاثر الفطريات بالأبواغ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ale"/>
          <p:cNvSpPr/>
          <p:nvPr/>
        </p:nvSpPr>
        <p:spPr>
          <a:xfrm>
            <a:off x="3493008" y="2377440"/>
            <a:ext cx="1188720" cy="1188720"/>
          </a:xfrm>
          <a:prstGeom prst="ellipse">
            <a:avLst/>
          </a:prstGeom>
          <a:solidFill>
            <a:srgbClr val="A9D4FF"/>
          </a:solidFill>
          <a:ln w="38100">
            <a:solidFill>
              <a:srgbClr val="3D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female"/>
          <p:cNvSpPr/>
          <p:nvPr/>
        </p:nvSpPr>
        <p:spPr>
          <a:xfrm>
            <a:off x="7516368" y="2377440"/>
            <a:ext cx="1188720" cy="1188720"/>
          </a:xfrm>
          <a:prstGeom prst="ellipse">
            <a:avLst/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1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تكاثر الفطريات بالأبواغ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male"/>
          <p:cNvSpPr/>
          <p:nvPr/>
        </p:nvSpPr>
        <p:spPr>
          <a:xfrm>
            <a:off x="5184648" y="2377440"/>
            <a:ext cx="1188720" cy="1188720"/>
          </a:xfrm>
          <a:prstGeom prst="ellipse">
            <a:avLst/>
          </a:prstGeom>
          <a:solidFill>
            <a:srgbClr val="A9D4FF"/>
          </a:solidFill>
          <a:ln w="38100">
            <a:solidFill>
              <a:srgbClr val="3D8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female"/>
          <p:cNvSpPr/>
          <p:nvPr/>
        </p:nvSpPr>
        <p:spPr>
          <a:xfrm>
            <a:off x="5824727" y="2377440"/>
            <a:ext cx="1188720" cy="1188720"/>
          </a:xfrm>
          <a:prstGeom prst="ellipse">
            <a:avLst/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تندمج الخلايا الذكرية مع الخلايا الأنثوية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2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تكاثر الفطريات بالأبواغ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sac"/>
          <p:cNvSpPr/>
          <p:nvPr/>
        </p:nvSpPr>
        <p:spPr>
          <a:xfrm>
            <a:off x="5184648" y="2240280"/>
            <a:ext cx="1828800" cy="1463040"/>
          </a:xfrm>
          <a:prstGeom prst="ellipse">
            <a:avLst/>
          </a:prstGeom>
          <a:solidFill>
            <a:srgbClr val="F6E3B5"/>
          </a:solidFill>
          <a:ln w="381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s0"/>
          <p:cNvSpPr/>
          <p:nvPr/>
        </p:nvSpPr>
        <p:spPr>
          <a:xfrm>
            <a:off x="5559552" y="261518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s1"/>
          <p:cNvSpPr/>
          <p:nvPr/>
        </p:nvSpPr>
        <p:spPr>
          <a:xfrm>
            <a:off x="5971032" y="247802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s2"/>
          <p:cNvSpPr/>
          <p:nvPr/>
        </p:nvSpPr>
        <p:spPr>
          <a:xfrm>
            <a:off x="6382512" y="261518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s3"/>
          <p:cNvSpPr/>
          <p:nvPr/>
        </p:nvSpPr>
        <p:spPr>
          <a:xfrm>
            <a:off x="5605272" y="307238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s4"/>
          <p:cNvSpPr/>
          <p:nvPr/>
        </p:nvSpPr>
        <p:spPr>
          <a:xfrm>
            <a:off x="6016752" y="3118103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s5"/>
          <p:cNvSpPr/>
          <p:nvPr/>
        </p:nvSpPr>
        <p:spPr>
          <a:xfrm>
            <a:off x="6382512" y="302666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تندمج الخلايا الذكرية مع الخلايا الأنثوية</a:t>
            </a:r>
          </a:p>
        </p:txBody>
      </p:sp>
      <p:sp>
        <p:nvSpPr>
          <p:cNvPr id="15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تتبادل المادة الوراثية وتنتج الأبواغ داخل غلاف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تكاثر الفطريات بالأبواغ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sac"/>
          <p:cNvSpPr/>
          <p:nvPr/>
        </p:nvSpPr>
        <p:spPr>
          <a:xfrm>
            <a:off x="5184648" y="2240280"/>
            <a:ext cx="1828800" cy="1463040"/>
          </a:xfrm>
          <a:prstGeom prst="ellipse">
            <a:avLst/>
          </a:prstGeom>
          <a:solidFill>
            <a:srgbClr val="F6E3B5"/>
          </a:solidFill>
          <a:ln w="381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s0"/>
          <p:cNvSpPr/>
          <p:nvPr/>
        </p:nvSpPr>
        <p:spPr>
          <a:xfrm>
            <a:off x="3227832" y="202082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s1"/>
          <p:cNvSpPr/>
          <p:nvPr/>
        </p:nvSpPr>
        <p:spPr>
          <a:xfrm>
            <a:off x="4599432" y="165506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s2"/>
          <p:cNvSpPr/>
          <p:nvPr/>
        </p:nvSpPr>
        <p:spPr>
          <a:xfrm>
            <a:off x="7434071" y="1746503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s3"/>
          <p:cNvSpPr/>
          <p:nvPr/>
        </p:nvSpPr>
        <p:spPr>
          <a:xfrm>
            <a:off x="3593592" y="366674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s4"/>
          <p:cNvSpPr/>
          <p:nvPr/>
        </p:nvSpPr>
        <p:spPr>
          <a:xfrm>
            <a:off x="6153912" y="398678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s5"/>
          <p:cNvSpPr/>
          <p:nvPr/>
        </p:nvSpPr>
        <p:spPr>
          <a:xfrm>
            <a:off x="8714232" y="348386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تندمج الخلايا الذكرية مع الخلايا الأنثوية</a:t>
            </a:r>
          </a:p>
        </p:txBody>
      </p:sp>
      <p:sp>
        <p:nvSpPr>
          <p:cNvPr id="15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تتبادل المادة الوراثية وتنتج الأبواغ داخل غلاف</a:t>
            </a:r>
          </a:p>
        </p:txBody>
      </p:sp>
      <p:sp>
        <p:nvSpPr>
          <p:cNvPr id="16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تنتشر الأبواغ</a:t>
            </a:r>
          </a:p>
        </p:txBody>
      </p:sp>
      <p:sp>
        <p:nvSpPr>
          <p:cNvPr id="17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8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9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تكاثر الفطريات بالأبواغ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ground"/>
          <p:cNvSpPr/>
          <p:nvPr/>
        </p:nvSpPr>
        <p:spPr>
          <a:xfrm>
            <a:off x="3355848" y="4229100"/>
            <a:ext cx="5486400" cy="411480"/>
          </a:xfrm>
          <a:prstGeom prst="roundRect">
            <a:avLst>
              <a:gd name="adj" fmla="val 50000"/>
            </a:avLst>
          </a:prstGeom>
          <a:solidFill>
            <a:srgbClr val="E3B27A"/>
          </a:solidFill>
          <a:ln w="25400">
            <a:solidFill>
              <a:srgbClr val="B0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hy"/>
          <p:cNvSpPr/>
          <p:nvPr/>
        </p:nvSpPr>
        <p:spPr>
          <a:xfrm>
            <a:off x="6181344" y="3063239"/>
            <a:ext cx="201168" cy="100584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2540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s0"/>
          <p:cNvSpPr/>
          <p:nvPr/>
        </p:nvSpPr>
        <p:spPr>
          <a:xfrm>
            <a:off x="3227832" y="202082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s1"/>
          <p:cNvSpPr/>
          <p:nvPr/>
        </p:nvSpPr>
        <p:spPr>
          <a:xfrm>
            <a:off x="4599432" y="165506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s2"/>
          <p:cNvSpPr/>
          <p:nvPr/>
        </p:nvSpPr>
        <p:spPr>
          <a:xfrm>
            <a:off x="7434071" y="1746503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s3"/>
          <p:cNvSpPr/>
          <p:nvPr/>
        </p:nvSpPr>
        <p:spPr>
          <a:xfrm>
            <a:off x="3593592" y="366674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s4"/>
          <p:cNvSpPr/>
          <p:nvPr/>
        </p:nvSpPr>
        <p:spPr>
          <a:xfrm>
            <a:off x="6135624" y="3968496"/>
            <a:ext cx="292608" cy="292608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s5"/>
          <p:cNvSpPr/>
          <p:nvPr/>
        </p:nvSpPr>
        <p:spPr>
          <a:xfrm>
            <a:off x="8714232" y="3483864"/>
            <a:ext cx="256032" cy="256032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تندمج الخلايا الذكرية مع الخلايا الأنثوية</a:t>
            </a:r>
          </a:p>
        </p:txBody>
      </p:sp>
      <p:sp>
        <p:nvSpPr>
          <p:cNvPr id="16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تتبادل المادة الوراثية وتنتج الأبواغ داخل غلاف</a:t>
            </a:r>
          </a:p>
        </p:txBody>
      </p:sp>
      <p:sp>
        <p:nvSpPr>
          <p:cNvPr id="17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تنتشر الأبواغ</a:t>
            </a:r>
          </a:p>
        </p:txBody>
      </p:sp>
      <p:sp>
        <p:nvSpPr>
          <p:cNvPr id="18" name="!!lab4"/>
          <p:cNvSpPr/>
          <p:nvPr/>
        </p:nvSpPr>
        <p:spPr>
          <a:xfrm>
            <a:off x="548639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إذا سقطت في بيئة مناسبة تنمو وتنتج فطرًا جديدًا</a:t>
            </a:r>
          </a:p>
        </p:txBody>
      </p:sp>
      <p:sp>
        <p:nvSpPr>
          <p:cNvPr id="1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21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2" name="nav_bfis0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الشريحة المجهرية ②: البكتيريا — الانشطار الثنائي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4636008" y="2468880"/>
            <a:ext cx="2926080" cy="100584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4636008" y="2468880"/>
            <a:ext cx="2926080" cy="100584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1"/>
          <p:cNvSpPr/>
          <p:nvPr/>
        </p:nvSpPr>
        <p:spPr>
          <a:xfrm>
            <a:off x="568756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2"/>
          <p:cNvSpPr/>
          <p:nvPr/>
        </p:nvSpPr>
        <p:spPr>
          <a:xfrm>
            <a:off x="568756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3566160" cy="914400"/>
          </a:xfrm>
          <a:prstGeom prst="roundRect">
            <a:avLst>
              <a:gd name="adj" fmla="val 2000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8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إي.كولاي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بكتيريا تعيش في أمعاء الإنسان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الشريحة المجهرية ②: البكتيريا — الانشطار الثنائي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904487" y="2468880"/>
            <a:ext cx="4389120" cy="100584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3904487" y="2468880"/>
            <a:ext cx="4389120" cy="100584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1"/>
          <p:cNvSpPr/>
          <p:nvPr/>
        </p:nvSpPr>
        <p:spPr>
          <a:xfrm>
            <a:off x="459028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2"/>
          <p:cNvSpPr/>
          <p:nvPr/>
        </p:nvSpPr>
        <p:spPr>
          <a:xfrm>
            <a:off x="678484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الشريحة المجهرية ②: البكتيريا — الانشطار الثنائي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767328" y="2491740"/>
            <a:ext cx="2377440" cy="96012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6053328" y="2491740"/>
            <a:ext cx="2377440" cy="96012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1"/>
          <p:cNvSpPr/>
          <p:nvPr/>
        </p:nvSpPr>
        <p:spPr>
          <a:xfrm>
            <a:off x="454456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2"/>
          <p:cNvSpPr/>
          <p:nvPr/>
        </p:nvSpPr>
        <p:spPr>
          <a:xfrm>
            <a:off x="683056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2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٢ تبدأ الخلية في الانقسام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الشريحة المجهرية ②: البكتيريا — الانشطار الثنائي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081528" y="2468880"/>
            <a:ext cx="2377440" cy="100584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B"/>
          <p:cNvSpPr/>
          <p:nvPr/>
        </p:nvSpPr>
        <p:spPr>
          <a:xfrm>
            <a:off x="6739128" y="2468880"/>
            <a:ext cx="2377440" cy="100584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1"/>
          <p:cNvSpPr/>
          <p:nvPr/>
        </p:nvSpPr>
        <p:spPr>
          <a:xfrm>
            <a:off x="385876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2"/>
          <p:cNvSpPr/>
          <p:nvPr/>
        </p:nvSpPr>
        <p:spPr>
          <a:xfrm>
            <a:off x="7516368" y="2807208"/>
            <a:ext cx="822960" cy="329184"/>
          </a:xfrm>
          <a:prstGeom prst="doubleWave">
            <a:avLst/>
          </a:prstGeom>
          <a:solidFill>
            <a:srgbClr val="7E6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 يتمّ تضاعف المادة الوراثية</a:t>
            </a:r>
          </a:p>
        </p:txBody>
      </p:sp>
      <p:sp>
        <p:nvSpPr>
          <p:cNvPr id="12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 تبدأ الخلية في الانقسام</a:t>
            </a:r>
          </a:p>
        </p:txBody>
      </p:sp>
      <p:sp>
        <p:nvSpPr>
          <p:cNvPr id="13" name="!!lab3"/>
          <p:cNvSpPr/>
          <p:nvPr/>
        </p:nvSpPr>
        <p:spPr>
          <a:xfrm>
            <a:off x="548640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٣ ينتج مخلوقان متماثلان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6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7" name="nav_bconj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البكتيريا: الاقتران — أقرأ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158978"/>
            <a:ext cx="4901184" cy="4997242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7_ba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32130"/>
            <a:ext cx="4754880" cy="48509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520440" y="603734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234440"/>
            <a:ext cx="6126480" cy="1051560"/>
          </a:xfrm>
          <a:prstGeom prst="roundRect">
            <a:avLst>
              <a:gd name="adj" fmla="val 21739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0" y="1261872"/>
            <a:ext cx="5852160" cy="10058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يمثل الجسر الذي يربط بين الخليتين في الصورة؟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532120" y="2468880"/>
            <a:ext cx="6126480" cy="963168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ممر تنتقل عبره المادة الوراثية من خلية إلى أخرى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532120" y="3633216"/>
            <a:ext cx="6126480" cy="963168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أنبوب لنقل الغذاء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532120" y="4797552"/>
            <a:ext cx="6126480" cy="963168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ذيل تتحرك به البكتيريا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البكتيريا: الاقتران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اقرئي تعليق الصورة في الكتاب: «تُظهر كيف تنتقل المعلومات الوراثية عبر جسر…»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bconj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البكتيريا: الاقتران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يمثل الجسر الذي يربط بين الخليتين في الصورة؟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ممر تنتقل عبره المادة الوراثية من خلية إلى أخرى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65192" y="3520440"/>
            <a:ext cx="6675120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48072" y="3566160"/>
            <a:ext cx="6309359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الاقتران تتصل خليتان معًا، وتنتقل المادة الوراثية من إحداهما إلى الأخرى عبر الجسر، ثم تنفصلان وتنقسمان.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3526237"/>
            <a:ext cx="4626864" cy="2594445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97_bacttex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99389"/>
            <a:ext cx="4480560" cy="244814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91840" y="600181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pic>
        <p:nvPicPr>
          <p:cNvPr id="14" name="Picture 13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548640" cy="548640"/>
          </a:xfrm>
          <a:prstGeom prst="rect">
            <a:avLst/>
          </a:prstGeom>
        </p:spPr>
      </p:pic>
      <p:sp>
        <p:nvSpPr>
          <p:cNvPr id="2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2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4" name="nav_bc0">
            <a:hlinkClick action="ppaction://hlinksldjump" r:id="rId9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الاقتران في البكتيريا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995928" y="16002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3995928" y="16002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4544568" y="34290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4544568" y="34290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G"/>
          <p:cNvSpPr/>
          <p:nvPr/>
        </p:nvSpPr>
        <p:spPr>
          <a:xfrm>
            <a:off x="6464807" y="1874519"/>
            <a:ext cx="365760" cy="365760"/>
          </a:xfrm>
          <a:prstGeom prst="ellipse">
            <a:avLst/>
          </a:prstGeom>
          <a:solidFill>
            <a:srgbClr val="7E63D6"/>
          </a:solidFill>
          <a:ln w="12700">
            <a:solidFill>
              <a:srgbClr val="4B3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الاقتران في البكتيريا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995928" y="16002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3995928" y="16002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4544568" y="34290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4544568" y="34290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BR"/>
          <p:cNvSpPr/>
          <p:nvPr/>
        </p:nvSpPr>
        <p:spPr>
          <a:xfrm>
            <a:off x="5989320" y="2423160"/>
            <a:ext cx="219456" cy="1097280"/>
          </a:xfrm>
          <a:prstGeom prst="rect">
            <a:avLst/>
          </a:prstGeom>
          <a:solidFill>
            <a:srgbClr val="E0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G"/>
          <p:cNvSpPr/>
          <p:nvPr/>
        </p:nvSpPr>
        <p:spPr>
          <a:xfrm>
            <a:off x="6464807" y="1874519"/>
            <a:ext cx="365760" cy="365760"/>
          </a:xfrm>
          <a:prstGeom prst="ellipse">
            <a:avLst/>
          </a:prstGeom>
          <a:solidFill>
            <a:srgbClr val="7E63D6"/>
          </a:solidFill>
          <a:ln w="12700">
            <a:solidFill>
              <a:srgbClr val="4B3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تتصل خليتان معًا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6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الاقتران في البكتيريا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995928" y="16002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3995928" y="16002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4544568" y="34290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4544568" y="342900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BR"/>
          <p:cNvSpPr/>
          <p:nvPr/>
        </p:nvSpPr>
        <p:spPr>
          <a:xfrm>
            <a:off x="5989320" y="2423160"/>
            <a:ext cx="219456" cy="1097280"/>
          </a:xfrm>
          <a:prstGeom prst="rect">
            <a:avLst/>
          </a:prstGeom>
          <a:solidFill>
            <a:srgbClr val="E07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G"/>
          <p:cNvSpPr/>
          <p:nvPr/>
        </p:nvSpPr>
        <p:spPr>
          <a:xfrm>
            <a:off x="5943600" y="2816352"/>
            <a:ext cx="310896" cy="310896"/>
          </a:xfrm>
          <a:prstGeom prst="ellipse">
            <a:avLst/>
          </a:prstGeom>
          <a:solidFill>
            <a:srgbClr val="7E63D6"/>
          </a:solidFill>
          <a:ln w="12700">
            <a:solidFill>
              <a:srgbClr val="4B3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تتصل خليتان معًا</a:t>
            </a:r>
          </a:p>
        </p:txBody>
      </p:sp>
      <p:sp>
        <p:nvSpPr>
          <p:cNvPr id="14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تنتقل المادة الوراثية من إحداهما إلى الأخرى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7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الاقتران في البكتيريا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3447287" y="146304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3447287" y="146304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5093208" y="356616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5093208" y="356616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G"/>
          <p:cNvSpPr/>
          <p:nvPr/>
        </p:nvSpPr>
        <p:spPr>
          <a:xfrm>
            <a:off x="6190488" y="3840480"/>
            <a:ext cx="365760" cy="365760"/>
          </a:xfrm>
          <a:prstGeom prst="ellipse">
            <a:avLst/>
          </a:prstGeom>
          <a:solidFill>
            <a:srgbClr val="7E63D6"/>
          </a:solidFill>
          <a:ln w="12700">
            <a:solidFill>
              <a:srgbClr val="4B3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تتصل خليتان معًا</a:t>
            </a:r>
          </a:p>
        </p:txBody>
      </p:sp>
      <p:sp>
        <p:nvSpPr>
          <p:cNvPr id="13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تنتقل المادة الوراثية من إحداهما إلى الأخرى</a:t>
            </a:r>
          </a:p>
        </p:txBody>
      </p:sp>
      <p:sp>
        <p:nvSpPr>
          <p:cNvPr id="14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تنفصل الخليتان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7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 الاقتران في البكتيريا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A"/>
          <p:cNvSpPr/>
          <p:nvPr/>
        </p:nvSpPr>
        <p:spPr>
          <a:xfrm>
            <a:off x="2990087" y="14630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2"/>
          <p:cNvSpPr/>
          <p:nvPr/>
        </p:nvSpPr>
        <p:spPr>
          <a:xfrm>
            <a:off x="5367528" y="14630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B"/>
          <p:cNvSpPr/>
          <p:nvPr/>
        </p:nvSpPr>
        <p:spPr>
          <a:xfrm>
            <a:off x="4636007" y="35661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B2"/>
          <p:cNvSpPr/>
          <p:nvPr/>
        </p:nvSpPr>
        <p:spPr>
          <a:xfrm>
            <a:off x="7013448" y="35661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FFC2D1"/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G"/>
          <p:cNvSpPr/>
          <p:nvPr/>
        </p:nvSpPr>
        <p:spPr>
          <a:xfrm>
            <a:off x="5550407" y="3840480"/>
            <a:ext cx="365760" cy="365760"/>
          </a:xfrm>
          <a:prstGeom prst="ellipse">
            <a:avLst/>
          </a:prstGeom>
          <a:solidFill>
            <a:srgbClr val="7E63D6"/>
          </a:solidFill>
          <a:ln w="12700">
            <a:solidFill>
              <a:srgbClr val="4B36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lab1"/>
          <p:cNvSpPr/>
          <p:nvPr/>
        </p:nvSpPr>
        <p:spPr>
          <a:xfrm>
            <a:off x="6185916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تتصل خليتان معًا</a:t>
            </a:r>
          </a:p>
        </p:txBody>
      </p:sp>
      <p:sp>
        <p:nvSpPr>
          <p:cNvPr id="13" name="!!lab2"/>
          <p:cNvSpPr/>
          <p:nvPr/>
        </p:nvSpPr>
        <p:spPr>
          <a:xfrm>
            <a:off x="548639" y="5074920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تنتقل المادة الوراثية من إحداهما إلى الأخرى</a:t>
            </a:r>
          </a:p>
        </p:txBody>
      </p:sp>
      <p:sp>
        <p:nvSpPr>
          <p:cNvPr id="14" name="!!lab3"/>
          <p:cNvSpPr/>
          <p:nvPr/>
        </p:nvSpPr>
        <p:spPr>
          <a:xfrm>
            <a:off x="6185916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تنفصل الخليتان</a:t>
            </a:r>
          </a:p>
        </p:txBody>
      </p:sp>
      <p:sp>
        <p:nvSpPr>
          <p:cNvPr id="15" name="!!lab4"/>
          <p:cNvSpPr/>
          <p:nvPr/>
        </p:nvSpPr>
        <p:spPr>
          <a:xfrm>
            <a:off x="548639" y="5641848"/>
            <a:ext cx="5454396" cy="502920"/>
          </a:xfrm>
          <a:prstGeom prst="roundRect">
            <a:avLst>
              <a:gd name="adj" fmla="val 49090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وتنقسمان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mp97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أقارن وأستنتج: التبرعم والانشطار الثنائي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Oval 4"/>
          <p:cNvSpPr/>
          <p:nvPr/>
        </p:nvSpPr>
        <p:spPr>
          <a:xfrm>
            <a:off x="4937760" y="1325880"/>
            <a:ext cx="5120640" cy="3657600"/>
          </a:xfrm>
          <a:prstGeom prst="ellipse">
            <a:avLst/>
          </a:prstGeom>
          <a:solidFill>
            <a:srgbClr val="D8F0B8">
              <a:alpha val="75000"/>
            </a:srgbClr>
          </a:solidFill>
          <a:ln w="38100">
            <a:solidFill>
              <a:srgbClr val="7FA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148840" y="1325880"/>
            <a:ext cx="5120640" cy="3657600"/>
          </a:xfrm>
          <a:prstGeom prst="ellipse">
            <a:avLst/>
          </a:prstGeom>
          <a:solidFill>
            <a:srgbClr val="FFC2D1">
              <a:alpha val="75000"/>
            </a:srgbClr>
          </a:solidFill>
          <a:ln w="38100">
            <a:solidFill>
              <a:srgbClr val="D95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60920" y="1965960"/>
            <a:ext cx="2514600" cy="2377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4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</a:t>
            </a:r>
          </a:p>
          <a:p>
            <a:pPr algn="ctr" rtl="1"/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بروز صغير ينمو على الخلية الأم ثم ينفصل</a:t>
            </a:r>
          </a:p>
          <a:p>
            <a:pPr algn="ctr" rtl="1"/>
            <a:r>
              <a:rPr sz="17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مثل الخميرة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65960"/>
            <a:ext cx="2514600" cy="2377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4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  <a:p>
            <a:pPr algn="ctr" rtl="1"/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تنقسم الخلية إلى خليتين متماثلتين</a:t>
            </a:r>
          </a:p>
          <a:p>
            <a:pPr algn="ctr" rtl="1"/>
            <a:r>
              <a:rPr sz="17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مثل البراميسيوم والبكتيريا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103120"/>
            <a:ext cx="2240280" cy="21031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أوجه الشبه</a:t>
            </a:r>
          </a:p>
          <a:p>
            <a:pPr algn="ctr" rtl="1"/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تكاثر لاجنسي</a:t>
            </a:r>
          </a:p>
          <a:p>
            <a:pPr algn="ctr" rtl="1"/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المخلوق الجديد يشبه أصله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840480" y="5257800"/>
            <a:ext cx="4526280" cy="731520"/>
          </a:xfrm>
          <a:prstGeom prst="roundRect">
            <a:avLst>
              <a:gd name="adj" fmla="val 37499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سؤال: ما وجه الشبه بينهما؟ ←</a:t>
            </a:r>
          </a:p>
        </p:txBody>
      </p:sp>
      <p:sp>
        <p:nvSpPr>
          <p:cNvPr id="37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38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39" name="nav_map1">
            <a:hlinkClick action="ppaction://hlinksldjump" r:id="rId5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أقارن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وجه الشبه بين التبرعم والانشطار الثنائي؟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كلاهما تكاثر لاجنسي ينتج مخلوقًا يشبه أصله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كلاهما تتبادل فيه خليتان المادة الوراثية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كلاهما يحدث في البكتيريا فقط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2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أقارن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هل يحتاج التبرعم أو الانشطار إلى خليتين؟ ماذا يعني ذلك عن نوع التكاثر؟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cmp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أقارن وأستنتج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وجه الشبه بين التبرعم والانشطار الثنائي؟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كلاهما تكاثر لاجنسي ينتج مخلوقًا يشبه أصله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 والانشطار الثنائي كلاهما تكاثر لاجنسي من مخلوق واحد، والمخلوق الجديد يشبه أصله لأن نواته مماثلة.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who1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(١/٣)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8801" y="1161288"/>
            <a:ext cx="3928797" cy="4992624"/>
          </a:xfrm>
          <a:prstGeom prst="roundRect">
            <a:avLst>
              <a:gd name="adj" fmla="val 2327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7_yea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53" y="1234440"/>
            <a:ext cx="3782493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97086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اقرئي الوصف: </a:t>
            </a:r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فطر وحيد الخلية، أُستخدم في صنع الخبز، وينمو على خليتي بروز صغير.</a:t>
            </a:r>
          </a:p>
          <a:p>
            <a:pPr algn="r" rtl="1"/>
            <a:r>
              <a:rPr sz="18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اختاري اسمي وطريقة تكاثري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 – الانشطار الثنائي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 – التبرعم</a:t>
            </a:r>
          </a:p>
        </p:txBody>
      </p:sp>
      <p:sp>
        <p:nvSpPr>
          <p:cNvPr id="12" name="!!opt2">
            <a:hlinkClick action="ppaction://hlinksldjump" r:id="rId5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إي.كولاي – الانشطار الثنائي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(١/٣)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في الوصف عن كلمة «بروز صغير».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who1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(١/٣)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اقرئي الوصف: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فطر وحيد الخلية، أُستخدم في صنع الخبز، وينمو على خليتي بروز صغير.</a:t>
            </a:r>
          </a:p>
          <a:p>
            <a:pPr algn="r" rtl="1"/>
            <a:r>
              <a:rPr sz="18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اختاري اسمي وطريقة تكاثري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الخميرة – التبرعم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أنا الخميرة! أتكاثر لاجنسيًا بالتبرعم: يتكوّن البرعم بنمو بروز صغير على الخلية الأم.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who2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(٢/٣)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912364"/>
            <a:ext cx="4626864" cy="1490472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6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85516"/>
            <a:ext cx="4480560" cy="13441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4283964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اقرئي الوصف: </a:t>
            </a:r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طلائعي، أستطيل وتتضاعف كروموسوماتي وأنقسم إلى اثنين.</a:t>
            </a:r>
          </a:p>
          <a:p>
            <a:pPr algn="r" rtl="1"/>
            <a:r>
              <a:rPr sz="18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اختاري اسمي وطريقة تكاثري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 – الانشطار الثنائي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 – التبرعم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إي.كولاي – الانشطار الثنائي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(٢/٣)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في الوصف عن كلمة «طلائعي» و«أنقسم إلى اثنين».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who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(٢/٣)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اقرئي الوصف: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طلائعي، أستطيل وتتضاعف كروموسوماتي وأنقسم إلى اثنين.</a:t>
            </a:r>
          </a:p>
          <a:p>
            <a:pPr algn="r" rtl="1"/>
            <a:r>
              <a:rPr sz="18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اختاري اسمي وطريقة تكاثري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البراميسيوم – الانشطار الثنائي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أنا البراميسيوم! أتكاثر بالانشطار الثنائي: أستطيل وتتضاعف كروموسوماتي وأنقسم إلى اثنين.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who3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(٣/٣)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464308"/>
            <a:ext cx="4626864" cy="2386584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act_r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37460"/>
            <a:ext cx="4480560" cy="2240280"/>
          </a:xfrm>
          <a:prstGeom prst="rect">
            <a:avLst/>
          </a:prstGeom>
        </p:spPr>
      </p:pic>
      <p:sp>
        <p:nvSpPr>
          <p:cNvPr id="7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اقرئي الوصف: </a:t>
            </a:r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بكتيريا أعيش في أمعاء الإنسان، وأتكاثر غالبًا بالانشطار الثنائي.</a:t>
            </a:r>
          </a:p>
          <a:p>
            <a:pPr algn="r" rtl="1"/>
            <a:r>
              <a:rPr sz="18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اختاري اسمي وطريقة تكاثري</a:t>
            </a:r>
          </a:p>
        </p:txBody>
      </p:sp>
      <p:sp>
        <p:nvSpPr>
          <p:cNvPr id="9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البراميسيوم – الانشطار الثنائي</a:t>
            </a:r>
          </a:p>
        </p:txBody>
      </p:sp>
      <p:sp>
        <p:nvSpPr>
          <p:cNvPr id="10" name="!!opt1">
            <a:hlinkClick action="ppaction://hlinksldjump" r:id="rId5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الخميرة – التبرعم</a:t>
            </a:r>
          </a:p>
        </p:txBody>
      </p:sp>
      <p:sp>
        <p:nvSpPr>
          <p:cNvPr id="11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إي.كولاي – الانشطار الثنائي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(٣/٣)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في الوصف عن «أمعاء الإنسان».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who3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من أنا؟ (٣/٣)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اقرئي الوصف: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بكتيريا أعيش في أمعاء الإنسان، وأتكاثر غالبًا بالانشطار الثنائي.</a:t>
            </a:r>
          </a:p>
          <a:p>
            <a:pPr algn="r" rtl="1"/>
            <a:r>
              <a:rPr sz="18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اختاري اسمي وطريقة تكاثري</a:t>
            </a:r>
          </a:p>
        </p:txBody>
      </p:sp>
      <p:sp>
        <p:nvSpPr>
          <p:cNvPr id="7" name="!!opt2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إي.كولاي – الانشطار الثنائي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أنا بكتيريا إي.كولاي! أعيش في أمعاء الإنسان، وأتكاثر بالانشطار الثنائي مثل معظم البكتيريا.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err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اكتشفي الخطأ العلمي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أيّ العبارات الآتية غير صحيحة علميًا؟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تتكاثر الخميرة لاجنسيًا بالتبرعم</a:t>
            </a:r>
          </a:p>
        </p:txBody>
      </p:sp>
      <p:sp>
        <p:nvSpPr>
          <p:cNvPr id="8" name="!!opt1">
            <a:hlinkClick action="ppaction://hlinksldjump" r:id="rId4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تتكاثر معظم البكتيريا بالانشطار الثنائي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التبرعم ينتج مخلوق جديد تختلف كروموسوماته عن كروموسومات الخلية الأم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2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اكتشفي الخطأ العلمي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راجعي ما يحدث لنواة الخلية الأم في التبرعم: هل تنقسم انقسامًا متساويًا؟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err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اكتشفي الخطأ العلمي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أيّ العبارات الآتية غير صحيحة علميًا؟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تتكاثر الخميرة لاجنسيًا بالتبرعم</a:t>
            </a:r>
          </a:p>
        </p:txBody>
      </p:sp>
      <p:sp>
        <p:nvSpPr>
          <p:cNvPr id="8" name="!!opt1">
            <a:hlinkClick action="ppaction://hlinksldjump" r:id="rId4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تتكاثر معظم البكتيريا بالانشطار الثنائي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التبرعم ينتج مخلوق جديد تختلف كروموسوماته عن كروموسومات الخلية الأم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8841" y="1161288"/>
            <a:ext cx="3928797" cy="4992624"/>
          </a:xfrm>
          <a:prstGeom prst="roundRect">
            <a:avLst>
              <a:gd name="adj" fmla="val 2327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7_yea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993" y="1234440"/>
            <a:ext cx="3782493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17126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من الكتاب ص٩٧: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«تنقسم نواة الخلية الأم انقسامًا متساويًا، وينتج عن ذلك نواتان متماثلتان في كروموسوماتهما»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شاهدي حركة التبرعم ببطء.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892040" y="5257800"/>
            <a:ext cx="3200400" cy="640080"/>
          </a:xfrm>
          <a:prstGeom prst="roundRect">
            <a:avLst>
              <a:gd name="adj" fmla="val 42857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أشاهد الحركة ببطء</a:t>
            </a:r>
          </a:p>
        </p:txBody>
      </p:sp>
      <p:sp>
        <p:nvSpPr>
          <p:cNvPr id="1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4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اكتشفي الخطأ العلمي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صح أم خطأ: «يحصل البرعم على نواة مماثلة لنواة الخلية الأم».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619506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صح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4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خطأ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2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اكتشفي الخطأ العلمي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أيّ العبارات الآتية غير صحيحة علميًا؟</a:t>
            </a:r>
          </a:p>
        </p:txBody>
      </p:sp>
      <p:sp>
        <p:nvSpPr>
          <p:cNvPr id="7" name="!!opt2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ج)  </a:t>
            </a:r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في التبرعم ينتج مخلوق جديد تختلف كروموسوماته عن كروموسومات الخلية الأم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العبارة (ج) خاطئة؛ لأن نواة الخلية الأم تنقسم انقسامًا متساويًا، فتكون كروموسومات البرعم مماثلة لكروموسومات الخلية الأم.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hk97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(ص٩٧)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337281"/>
            <a:ext cx="4626864" cy="2640636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7_ch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0433"/>
            <a:ext cx="4480560" cy="24943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485904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عندما يحدث التبرعم، هل يشبه المخلوق الجديد أصله؟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نعم يشبهه؛ لأن نواة الأم تنقسم انقسامًا متساويًا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يشبهه؛ لأنه أصغر حجمًا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9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يشبهه؛ لأنه اقترن بخلية أخرى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5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(ص٩٧)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حركة التبرعم: ماذا حدث للنواة قبل أن تنتقل إحدى النواتين إلى البرعم؟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chk97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(ص٩٧)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عندما يحدث التبرعم، هل يشبه المخلوق الجديد أصله؟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نعم يشبهه؛ لأن نواة الأم تنقسم انقسامًا متساويًا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الإجابة النموذجية: نعم يشبهه؛ لأن نواة الخلية الأم تنقسم انقسامًا متساويًا، فتكون كروموسومات المخلوق الجديد مماثلة لكروموسومات أصله.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t97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التفكير الناقد (ص٩٧)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413638"/>
            <a:ext cx="4352544" cy="2487922"/>
          </a:xfrm>
          <a:prstGeom prst="roundRect">
            <a:avLst>
              <a:gd name="adj" fmla="val 3675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7_ch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86790"/>
            <a:ext cx="4206240" cy="23416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71799" y="478268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234440"/>
            <a:ext cx="667512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281160" y="109728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التفكير الناقد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508760"/>
            <a:ext cx="6309359" cy="12801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5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فيمَ يختلف الانشطار الثنائي عن الاقتران (التزاوج)؟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971800"/>
            <a:ext cx="6309359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9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ناقشي مع مجموعتك… ثم اضغطي لإظهار الإجابة النموذجية</a:t>
            </a:r>
          </a:p>
        </p:txBody>
      </p:sp>
      <p:sp>
        <p:nvSpPr>
          <p:cNvPr id="12" name="revealbtn"/>
          <p:cNvSpPr/>
          <p:nvPr/>
        </p:nvSpPr>
        <p:spPr>
          <a:xfrm>
            <a:off x="6492240" y="361188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إظهار الإجابة النموذجية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4389120"/>
            <a:ext cx="6675120" cy="1783080"/>
          </a:xfrm>
          <a:prstGeom prst="roundRect">
            <a:avLst>
              <a:gd name="adj" fmla="val 12820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66360" y="4434840"/>
            <a:ext cx="6309359" cy="1691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 تكاثر لاجنسي ينقسم فيه المخلوق إلى مخلوقين متماثلين، أمّا الاقتران فتكاثر جنسي تتصل فيه خليتان وتتبادلان المادة الوراثية.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7" name="nav_map1">
            <a:hlinkClick action="ppaction://hlinksldjump" r:id="rId5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8" name="nav_tf97">
            <a:hlinkClick action="ppaction://hlinksldjump" r:id="rId6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تحقق سريع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صح أم خطأ: «في الانشطار الثنائي تتبادل خليتان المادة الوراثية».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619506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صح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40" y="2606040"/>
            <a:ext cx="544525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خطأ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1" name="nav_map1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تحقق سريع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من الذي تتبادل فيه الخلايا المادة الوراثية: الانشطار أم الاقتران؟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3" name="nav_map1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tf97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تحقق سريع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٩٧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صح أم خطأ: «في الانشطار الثنائي تتبادل خليتان المادة الوراثية».</a:t>
            </a:r>
          </a:p>
        </p:txBody>
      </p:sp>
      <p:sp>
        <p:nvSpPr>
          <p:cNvPr id="7" name="!!opt1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خطأ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خطأ؛ تبادل المادة الوراثية يحدث في الاقتران، أما في الانشطار الثنائي فينقسم مخلوق واحد إلى مخلوقين متماثلين.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ص٩٧</a:t>
            </a:r>
          </a:p>
        </p:txBody>
      </p:sp>
      <p:sp>
        <p:nvSpPr>
          <p:cNvPr id="18" name="nav_map1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map2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الخريطة تنمو: بطاقات الفطريات والبكتيريا</a:t>
            </a:r>
          </a:p>
        </p:txBody>
      </p:sp>
      <p:sp>
        <p:nvSpPr>
          <p:cNvPr id="4" name="!!mapscreen"/>
          <p:cNvSpPr/>
          <p:nvPr/>
        </p:nvSpPr>
        <p:spPr>
          <a:xfrm>
            <a:off x="411480" y="1143000"/>
            <a:ext cx="11365992" cy="50292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B3A55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mapcenter"/>
          <p:cNvSpPr/>
          <p:nvPr/>
        </p:nvSpPr>
        <p:spPr>
          <a:xfrm>
            <a:off x="2651760" y="1325880"/>
            <a:ext cx="6903720" cy="777240"/>
          </a:xfrm>
          <a:prstGeom prst="roundRect">
            <a:avLst>
              <a:gd name="adj" fmla="val 49411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كيف تتكاثر المخلوقات الحية الدقيقة؟</a:t>
            </a:r>
          </a:p>
        </p:txBody>
      </p:sp>
      <p:cxnSp>
        <p:nvCxnSpPr>
          <p:cNvPr id="6" name="!!line_p"/>
          <p:cNvCxnSpPr/>
          <p:nvPr/>
        </p:nvCxnSpPr>
        <p:spPr>
          <a:xfrm>
            <a:off x="6099048" y="2103120"/>
            <a:ext cx="370789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br_p">
            <a:hlinkClick action="ppaction://hlinksldjump" r:id="rId4"/>
          </p:cNvPr>
          <p:cNvSpPr/>
          <p:nvPr/>
        </p:nvSpPr>
        <p:spPr>
          <a:xfrm>
            <a:off x="832104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الطلائعيات</a:t>
            </a:r>
          </a:p>
        </p:txBody>
      </p:sp>
      <p:cxnSp>
        <p:nvCxnSpPr>
          <p:cNvPr id="8" name="!!line_f"/>
          <p:cNvCxnSpPr/>
          <p:nvPr/>
        </p:nvCxnSpPr>
        <p:spPr>
          <a:xfrm>
            <a:off x="6099048" y="2103120"/>
            <a:ext cx="457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br_f">
            <a:hlinkClick action="ppaction://hlinksldjump" r:id="rId5"/>
          </p:cNvPr>
          <p:cNvSpPr/>
          <p:nvPr/>
        </p:nvSpPr>
        <p:spPr>
          <a:xfrm>
            <a:off x="461772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الفطريات</a:t>
            </a:r>
          </a:p>
        </p:txBody>
      </p:sp>
      <p:cxnSp>
        <p:nvCxnSpPr>
          <p:cNvPr id="10" name="!!line_b"/>
          <p:cNvCxnSpPr/>
          <p:nvPr/>
        </p:nvCxnSpPr>
        <p:spPr>
          <a:xfrm flipH="1">
            <a:off x="2400300" y="2103120"/>
            <a:ext cx="3698748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br_b">
            <a:hlinkClick action="ppaction://hlinksldjump" r:id="rId6"/>
          </p:cNvPr>
          <p:cNvSpPr/>
          <p:nvPr/>
        </p:nvSpPr>
        <p:spPr>
          <a:xfrm>
            <a:off x="91440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F7AA2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البكتيريا</a:t>
            </a:r>
          </a:p>
        </p:txBody>
      </p:sp>
      <p:sp>
        <p:nvSpPr>
          <p:cNvPr id="12" name="!!card_1_p_1"/>
          <p:cNvSpPr/>
          <p:nvPr/>
        </p:nvSpPr>
        <p:spPr>
          <a:xfrm>
            <a:off x="832104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البراميسيوم</a:t>
            </a:r>
          </a:p>
        </p:txBody>
      </p:sp>
      <p:sp>
        <p:nvSpPr>
          <p:cNvPr id="13" name="!!card_1_p_2"/>
          <p:cNvSpPr/>
          <p:nvPr/>
        </p:nvSpPr>
        <p:spPr>
          <a:xfrm>
            <a:off x="832104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 (جنسي)</a:t>
            </a:r>
          </a:p>
        </p:txBody>
      </p:sp>
      <p:sp>
        <p:nvSpPr>
          <p:cNvPr id="14" name="!!card_1_p_3"/>
          <p:cNvSpPr/>
          <p:nvPr/>
        </p:nvSpPr>
        <p:spPr>
          <a:xfrm>
            <a:off x="8321040" y="52120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 (البوغيات)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البلازموديوم</a:t>
            </a:r>
          </a:p>
        </p:txBody>
      </p:sp>
      <p:sp>
        <p:nvSpPr>
          <p:cNvPr id="15" name="!!card_2_f_1"/>
          <p:cNvSpPr/>
          <p:nvPr/>
        </p:nvSpPr>
        <p:spPr>
          <a:xfrm>
            <a:off x="461772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الخميرة</a:t>
            </a:r>
          </a:p>
        </p:txBody>
      </p:sp>
      <p:sp>
        <p:nvSpPr>
          <p:cNvPr id="16" name="!!card_2_f_2"/>
          <p:cNvSpPr/>
          <p:nvPr/>
        </p:nvSpPr>
        <p:spPr>
          <a:xfrm>
            <a:off x="461772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sp>
        <p:nvSpPr>
          <p:cNvPr id="17" name="!!card_2_b_1"/>
          <p:cNvSpPr/>
          <p:nvPr/>
        </p:nvSpPr>
        <p:spPr>
          <a:xfrm>
            <a:off x="91440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3EC"/>
          </a:solidFill>
          <a:ln w="3175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إي.كولاي</a:t>
            </a:r>
          </a:p>
        </p:txBody>
      </p:sp>
      <p:sp>
        <p:nvSpPr>
          <p:cNvPr id="18" name="!!card_2_b_2"/>
          <p:cNvSpPr/>
          <p:nvPr/>
        </p:nvSpPr>
        <p:spPr>
          <a:xfrm>
            <a:off x="91440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3EC"/>
          </a:solidFill>
          <a:ln w="3175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عبر جسر بين خليتين</a:t>
            </a:r>
          </a:p>
        </p:txBody>
      </p:sp>
      <p:sp>
        <p:nvSpPr>
          <p:cNvPr id="2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</a:t>
            </a:r>
          </a:p>
        </p:txBody>
      </p:sp>
      <p:sp>
        <p:nvSpPr>
          <p:cNvPr id="27" name="nav_p98page">
            <a:hlinkClick action="ppaction://hlinksldjump" r:id="rId7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نمو العفن: صفحة ٩٨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5577840" cy="5029200"/>
          </a:xfrm>
          <a:prstGeom prst="roundRect">
            <a:avLst>
              <a:gd name="adj" fmla="val 4545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796" y="1261872"/>
            <a:ext cx="3650646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188720"/>
            <a:ext cx="5440680" cy="4983480"/>
          </a:xfrm>
          <a:prstGeom prst="roundRect">
            <a:avLst>
              <a:gd name="adj" fmla="val 4587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98_activit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780" y="1280160"/>
            <a:ext cx="2570400" cy="4800600"/>
          </a:xfrm>
          <a:prstGeom prst="rect">
            <a:avLst/>
          </a:prstGeom>
        </p:spPr>
      </p:pic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7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طاولة التجارب: حدّدي الأدوات اللازمة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977639"/>
            <a:ext cx="996696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اضغطي على الأدوات التي نحتاجها في نشاط «نمو العفن»</a:t>
            </a:r>
          </a:p>
        </p:txBody>
      </p:sp>
      <p:pic>
        <p:nvPicPr>
          <p:cNvPr id="7" name="Picture 6" descr="tool_bread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416" y="1828800"/>
            <a:ext cx="1325880" cy="1435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21824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قطعة خبز</a:t>
            </a:r>
          </a:p>
        </p:txBody>
      </p:sp>
      <p:pic>
        <p:nvPicPr>
          <p:cNvPr id="9" name="Picture 8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4" y="1783080"/>
            <a:ext cx="502920" cy="502920"/>
          </a:xfrm>
          <a:prstGeom prst="rect">
            <a:avLst/>
          </a:prstGeom>
        </p:spPr>
      </p:pic>
      <p:pic>
        <p:nvPicPr>
          <p:cNvPr id="10" name="Picture 9" descr="tool_wa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1828800"/>
            <a:ext cx="1325880" cy="1435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9056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ماء</a:t>
            </a:r>
          </a:p>
        </p:txBody>
      </p:sp>
      <p:pic>
        <p:nvPicPr>
          <p:cNvPr id="12" name="Picture 11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1783080"/>
            <a:ext cx="502920" cy="502920"/>
          </a:xfrm>
          <a:prstGeom prst="rect">
            <a:avLst/>
          </a:prstGeom>
        </p:spPr>
      </p:pic>
      <p:pic>
        <p:nvPicPr>
          <p:cNvPr id="13" name="Picture 12" descr="tool_bag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1828800"/>
            <a:ext cx="1325880" cy="1435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6288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كيس بلاستيكي ذاتي الغلق</a:t>
            </a:r>
          </a:p>
        </p:txBody>
      </p:sp>
      <p:pic>
        <p:nvPicPr>
          <p:cNvPr id="15" name="Picture 14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1783080"/>
            <a:ext cx="502920" cy="502920"/>
          </a:xfrm>
          <a:prstGeom prst="rect">
            <a:avLst/>
          </a:prstGeom>
        </p:spPr>
      </p:pic>
      <p:pic>
        <p:nvPicPr>
          <p:cNvPr id="16" name="Picture 15" descr="tool_le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8112" y="1828800"/>
            <a:ext cx="1325880" cy="1435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0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عدسة مكبرة</a:t>
            </a:r>
          </a:p>
        </p:txBody>
      </p:sp>
      <p:pic>
        <p:nvPicPr>
          <p:cNvPr id="18" name="Picture 17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783080"/>
            <a:ext cx="502920" cy="502920"/>
          </a:xfrm>
          <a:prstGeom prst="rect">
            <a:avLst/>
          </a:prstGeom>
        </p:spPr>
      </p:pic>
      <p:pic>
        <p:nvPicPr>
          <p:cNvPr id="19" name="Picture 18" descr="tool_sa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5344" y="1828800"/>
            <a:ext cx="1325880" cy="1435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30752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ملح</a:t>
            </a:r>
          </a:p>
        </p:txBody>
      </p:sp>
      <p:pic>
        <p:nvPicPr>
          <p:cNvPr id="21" name="Picture 20" descr="ic_cro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592" y="1783080"/>
            <a:ext cx="502920" cy="5029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926080" y="4754880"/>
            <a:ext cx="6309360" cy="640080"/>
          </a:xfrm>
          <a:prstGeom prst="roundRect">
            <a:avLst>
              <a:gd name="adj" fmla="val 42857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نحتاج إلى </a:t>
            </a:r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ملح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 في هذه التجربة</a:t>
            </a:r>
          </a:p>
        </p:txBody>
      </p:sp>
      <p:pic>
        <p:nvPicPr>
          <p:cNvPr id="23" name="Picture 22" descr="tool_scisso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2576" y="1828800"/>
            <a:ext cx="1325880" cy="1435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57984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مقص</a:t>
            </a:r>
          </a:p>
        </p:txBody>
      </p:sp>
      <p:pic>
        <p:nvPicPr>
          <p:cNvPr id="25" name="Picture 24" descr="ic_cro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3824" y="1783080"/>
            <a:ext cx="502920" cy="50292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926080" y="4754880"/>
            <a:ext cx="6309360" cy="640080"/>
          </a:xfrm>
          <a:prstGeom prst="roundRect">
            <a:avLst>
              <a:gd name="adj" fmla="val 42857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نحتاج إلى </a:t>
            </a:r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مقص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 في هذه التجربة</a:t>
            </a:r>
          </a:p>
        </p:txBody>
      </p:sp>
      <p:pic>
        <p:nvPicPr>
          <p:cNvPr id="27" name="Picture 26" descr="tool_therm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808" y="1828800"/>
            <a:ext cx="1325880" cy="1435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5216" y="3291840"/>
            <a:ext cx="1664208" cy="594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ميزان حرارة</a:t>
            </a:r>
          </a:p>
        </p:txBody>
      </p:sp>
      <p:pic>
        <p:nvPicPr>
          <p:cNvPr id="29" name="Picture 28" descr="ic_cro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1056" y="1783080"/>
            <a:ext cx="502920" cy="5029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926080" y="4754880"/>
            <a:ext cx="6309360" cy="640080"/>
          </a:xfrm>
          <a:prstGeom prst="roundRect">
            <a:avLst>
              <a:gd name="adj" fmla="val 42857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نحتاج إلى </a:t>
            </a:r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ميزان حرارة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 في هذه التجربة</a:t>
            </a:r>
          </a:p>
        </p:txBody>
      </p:sp>
      <p:sp>
        <p:nvSpPr>
          <p:cNvPr id="9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9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96" name="nav_map2">
            <a:hlinkClick action="ppaction://hlinksldjump" r:id="rId1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97" name="nav_step1">
            <a:hlinkClick action="ppaction://hlinksldjump" r:id="rId1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  <p:bldP spid="30" grpId="0" animBg="1"/>
    </p:bld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①: نجهّز التجربة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34440"/>
            <a:ext cx="6903720" cy="1920240"/>
          </a:xfrm>
          <a:prstGeom prst="roundRect">
            <a:avLst>
              <a:gd name="adj" fmla="val 1190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92040" y="1280160"/>
            <a:ext cx="6629400" cy="18288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①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«أرطّب قطعة خبز بالماء، وأضعها داخل كيس بلاستيكي ذاتي الغلق. أغلق الكيس وأضعه في مكان مظلم دافئ عدة أيام».</a:t>
            </a:r>
          </a:p>
        </p:txBody>
      </p:sp>
      <p:pic>
        <p:nvPicPr>
          <p:cNvPr id="7" name="Picture 6" descr="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3291840" cy="3529584"/>
          </a:xfrm>
          <a:prstGeom prst="rect">
            <a:avLst/>
          </a:prstGeom>
        </p:spPr>
      </p:pic>
      <p:pic>
        <p:nvPicPr>
          <p:cNvPr id="8" name="Picture 7" descr="brea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103120"/>
            <a:ext cx="210312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3337560"/>
            <a:ext cx="6903720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أتوقع: ماذا سيحدث للخبز بعد عدة أيام؟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3977639"/>
            <a:ext cx="2240280" cy="777240"/>
          </a:xfrm>
          <a:prstGeom prst="roundRect">
            <a:avLst>
              <a:gd name="adj" fmla="val 35294"/>
            </a:avLst>
          </a:prstGeom>
          <a:solidFill>
            <a:srgbClr val="DCEBFF"/>
          </a:solidFill>
          <a:ln w="2540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سيبقى كما هو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937760"/>
            <a:ext cx="6903720" cy="777240"/>
          </a:xfrm>
          <a:prstGeom prst="roundRect">
            <a:avLst>
              <a:gd name="adj" fmla="val 35294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توقع جميل!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لنختبره ونلاحظ ما يحدث.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977639"/>
            <a:ext cx="2240280" cy="777240"/>
          </a:xfrm>
          <a:prstGeom prst="roundRect">
            <a:avLst>
              <a:gd name="adj" fmla="val 35294"/>
            </a:avLst>
          </a:prstGeom>
          <a:solidFill>
            <a:srgbClr val="FFE3EC"/>
          </a:solidFill>
          <a:ln w="2540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سينمو عليه شيء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937760"/>
            <a:ext cx="6903720" cy="777240"/>
          </a:xfrm>
          <a:prstGeom prst="roundRect">
            <a:avLst>
              <a:gd name="adj" fmla="val 35294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توقع جميل!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لنختبره ونلاحظ ما يحدث.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79" y="3977639"/>
            <a:ext cx="2240280" cy="777240"/>
          </a:xfrm>
          <a:prstGeom prst="roundRect">
            <a:avLst>
              <a:gd name="adj" fmla="val 35294"/>
            </a:avLst>
          </a:prstGeom>
          <a:solidFill>
            <a:srgbClr val="E2F7E9"/>
          </a:solidFill>
          <a:ln w="2540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سيذوب في الماء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937760"/>
            <a:ext cx="6903720" cy="777240"/>
          </a:xfrm>
          <a:prstGeom prst="roundRect">
            <a:avLst>
              <a:gd name="adj" fmla="val 35294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توقع جميل!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لنختبره ونلاحظ ما يحدث.</a:t>
            </a:r>
          </a:p>
        </p:txBody>
      </p:sp>
      <p:sp>
        <p:nvSpPr>
          <p:cNvPr id="27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8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29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30" name="nav_days">
            <a:hlinkClick action="ppaction://hlinksldjump" r:id="rId7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مرور الأيام: نلاحظ التغيرات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Picture 4" descr="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280160"/>
            <a:ext cx="4297680" cy="4608576"/>
          </a:xfrm>
          <a:prstGeom prst="rect">
            <a:avLst/>
          </a:prstGeom>
        </p:spPr>
      </p:pic>
      <p:pic>
        <p:nvPicPr>
          <p:cNvPr id="6" name="Picture 5" descr="brea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331720"/>
            <a:ext cx="2743200" cy="2871216"/>
          </a:xfrm>
          <a:prstGeom prst="rect">
            <a:avLst/>
          </a:prstGeom>
        </p:spPr>
      </p:pic>
      <p:pic>
        <p:nvPicPr>
          <p:cNvPr id="7" name="Picture 6" descr="brea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331720"/>
            <a:ext cx="2743200" cy="2871216"/>
          </a:xfrm>
          <a:prstGeom prst="rect">
            <a:avLst/>
          </a:prstGeom>
        </p:spPr>
      </p:pic>
      <p:pic>
        <p:nvPicPr>
          <p:cNvPr id="8" name="Picture 7" descr="brea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331720"/>
            <a:ext cx="2743200" cy="2871216"/>
          </a:xfrm>
          <a:prstGeom prst="rect">
            <a:avLst/>
          </a:prstGeom>
        </p:spPr>
      </p:pic>
      <p:pic>
        <p:nvPicPr>
          <p:cNvPr id="9" name="Picture 8" descr="brea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331720"/>
            <a:ext cx="2743200" cy="28712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78240" y="2011680"/>
            <a:ext cx="2651760" cy="1188720"/>
          </a:xfrm>
          <a:prstGeom prst="roundRect">
            <a:avLst>
              <a:gd name="adj" fmla="val 23076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0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اليوم </a:t>
            </a:r>
            <a:r>
              <a:rPr sz="4000" b="1" i="0" lang="ar-SA">
                <a:solidFill>
                  <a:srgbClr val="FFD34A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011680"/>
            <a:ext cx="2651760" cy="1188720"/>
          </a:xfrm>
          <a:prstGeom prst="roundRect">
            <a:avLst>
              <a:gd name="adj" fmla="val 23076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0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اليوم </a:t>
            </a:r>
            <a:r>
              <a:rPr sz="4000" b="1" i="0" lang="ar-SA">
                <a:solidFill>
                  <a:srgbClr val="FFD34A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011680"/>
            <a:ext cx="2651760" cy="1188720"/>
          </a:xfrm>
          <a:prstGeom prst="roundRect">
            <a:avLst>
              <a:gd name="adj" fmla="val 23076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0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اليوم </a:t>
            </a:r>
            <a:r>
              <a:rPr sz="4000" b="1" i="0" lang="ar-SA">
                <a:solidFill>
                  <a:srgbClr val="FFD34A"/>
                </a:solidFill>
                <a:latin typeface="Arial"/>
                <a:ea typeface="Arial"/>
                <a:cs typeface="Arial"/>
              </a:rPr>
              <a:t>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011680"/>
            <a:ext cx="2651760" cy="1188720"/>
          </a:xfrm>
          <a:prstGeom prst="roundRect">
            <a:avLst>
              <a:gd name="adj" fmla="val 23076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0" i="0" lang="ar-SA">
                <a:solidFill>
                  <a:srgbClr val="C9D2E8"/>
                </a:solidFill>
                <a:latin typeface="Arial"/>
                <a:ea typeface="Arial"/>
                <a:cs typeface="Arial"/>
              </a:rPr>
              <a:t>اليوم </a:t>
            </a:r>
            <a:r>
              <a:rPr sz="4000" b="1" i="0" lang="ar-SA">
                <a:solidFill>
                  <a:srgbClr val="FFD34A"/>
                </a:solidFill>
                <a:latin typeface="Arial"/>
                <a:ea typeface="Arial"/>
                <a:cs typeface="Arial"/>
              </a:rPr>
              <a:t>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3108960" cy="118872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يظهر زغب أبيض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3108960" cy="118872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تظهر بقع سوداء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3108960" cy="118872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ينتشر العفن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383280"/>
            <a:ext cx="2651760" cy="128016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مكان مظلم دافئ</a:t>
            </a:r>
          </a:p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الكيس مغلق</a:t>
            </a:r>
          </a:p>
        </p:txBody>
      </p:sp>
      <p:sp>
        <p:nvSpPr>
          <p:cNvPr id="42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43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44" name="nav_map2">
            <a:hlinkClick action="ppaction://hlinksldjump" r:id="rId9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45" name="nav_step2">
            <a:hlinkClick action="ppaction://hlinksldjump" r:id="rId10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2" grpId="0" animBg="1"/>
      <p:bldP spid="15" grpId="0" animBg="1"/>
      <p:bldP spid="13" grpId="0" animBg="1"/>
      <p:bldP spid="16" grpId="0" animBg="1"/>
    </p:bld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②: ألاحظ بالعدسة المكبرة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4185" y="1161288"/>
            <a:ext cx="5892509" cy="5038344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mo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37" y="1234440"/>
            <a:ext cx="5746205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56182" y="608075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pic>
        <p:nvPicPr>
          <p:cNvPr id="8" name="Picture 7" descr="tool_l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017520"/>
            <a:ext cx="2194560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12280" y="1234440"/>
            <a:ext cx="4846320" cy="2194560"/>
          </a:xfrm>
          <a:prstGeom prst="roundRect">
            <a:avLst>
              <a:gd name="adj" fmla="val 10416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572000" cy="21031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② </a:t>
            </a: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«ألاحظ. أستخدم عدسة مكبرة، وألاحظ قطعة الخبز، وأفحص كل تركيب».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611880"/>
            <a:ext cx="4846320" cy="1097280"/>
          </a:xfrm>
          <a:prstGeom prst="roundRect">
            <a:avLst>
              <a:gd name="adj" fmla="val 20833"/>
            </a:avLst>
          </a:prstGeom>
          <a:solidFill>
            <a:srgbClr val="FFF6DD"/>
          </a:solidFill>
          <a:ln w="25400">
            <a:solidFill>
              <a:srgbClr val="F2D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تعليق الكتاب: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«البقع السوداء أعلى الخيوط الفطرية هي محافظ الأبواغ»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892040"/>
            <a:ext cx="4846320" cy="914400"/>
          </a:xfrm>
          <a:prstGeom prst="roundRect">
            <a:avLst>
              <a:gd name="adj" fmla="val 25000"/>
            </a:avLst>
          </a:prstGeom>
          <a:solidFill>
            <a:srgbClr val="FFE0E0"/>
          </a:solidFill>
          <a:ln w="317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C0392B"/>
                </a:solidFill>
                <a:latin typeface="Segoe UI Emoji"/>
                <a:ea typeface="Segoe UI Emoji"/>
                <a:cs typeface="Segoe UI Emoji"/>
              </a:rPr>
              <a:t>⚠</a:t>
            </a:r>
            <a:r>
              <a:rPr sz="2300" b="1" i="0" lang="ar-SA">
                <a:solidFill>
                  <a:srgbClr val="C0392B"/>
                </a:solidFill>
                <a:latin typeface="Arial"/>
                <a:ea typeface="Arial"/>
                <a:cs typeface="Arial"/>
              </a:rPr>
              <a:t> أحذر. </a:t>
            </a:r>
            <a:r>
              <a:rPr sz="23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أفتح الكيس.</a:t>
            </a:r>
          </a:p>
        </p:txBody>
      </p:sp>
      <p:sp>
        <p:nvSpPr>
          <p:cNvPr id="1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21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2" name="nav_safe">
            <a:hlinkClick action="ppaction://hlinksldjump" r:id="rId7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0" presetClass="path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950 -0.1600 E" pathEditMode="relative" ptsTypes="">
                                      <p:cBhvr>
                                        <p:cTn id="4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سؤال السلامة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يحذّرنا الكتاب من فتح الكيس؟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حتى لا تنتشر أبواغ العفن في الهواء ونستنشقها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حتى لا يبرد الخبز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حتى لا يتغير لون الكيس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2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سؤال السلامة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تذكّري: الأبواغ صغيرة جدًا وتنتشر في الهواء.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safe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سؤال السلامة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يحذّرنا الكتاب من فتح الكيس؟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حتى لا تنتشر أبواغ العفن في الهواء ونستنشقها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العفن صغيرة جدًا وتنتشر في الهواء؛ لذا نبقي الكيس مغلقًا حتى لا تنتشر الأبواغ ونستنشقها.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parts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③: أدوّن البيانات · حدّدي أجزاء الصورة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9945" y="1161288"/>
            <a:ext cx="5892509" cy="5038344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mo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97" y="1234440"/>
            <a:ext cx="5746205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1942" y="6080759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34440"/>
            <a:ext cx="4160520" cy="1828800"/>
          </a:xfrm>
          <a:prstGeom prst="roundRect">
            <a:avLst>
              <a:gd name="adj" fmla="val 12500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35240" y="1280160"/>
            <a:ext cx="3886200" cy="17373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8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③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«أدوّن ملاحظاتي… وأرسم ما شاهدته، وأكتب أسماء أجزاء عفن الخبز الظاهرة».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154680"/>
            <a:ext cx="4160520" cy="10972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9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المهمة: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اضغطي على محافظ الأبواغ (البقع السوداء) وعلى الخيوط الفطرية.</a:t>
            </a:r>
          </a:p>
        </p:txBody>
      </p:sp>
      <p:sp>
        <p:nvSpPr>
          <p:cNvPr id="11" name="Oval 10"/>
          <p:cNvSpPr/>
          <p:nvPr/>
        </p:nvSpPr>
        <p:spPr>
          <a:xfrm>
            <a:off x="1932490" y="2115007"/>
            <a:ext cx="1264165" cy="1076248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932490" y="2115007"/>
            <a:ext cx="1264165" cy="1076248"/>
          </a:xfrm>
          <a:prstGeom prst="ellipse">
            <a:avLst/>
          </a:prstGeom>
          <a:noFill/>
          <a:ln w="635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841050" y="3099815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محافظ الأبواغ</a:t>
            </a:r>
          </a:p>
        </p:txBody>
      </p:sp>
      <p:sp>
        <p:nvSpPr>
          <p:cNvPr id="14" name="Oval 13"/>
          <p:cNvSpPr/>
          <p:nvPr/>
        </p:nvSpPr>
        <p:spPr>
          <a:xfrm>
            <a:off x="4575744" y="4463186"/>
            <a:ext cx="1436551" cy="1076248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75744" y="4463186"/>
            <a:ext cx="1436551" cy="1076248"/>
          </a:xfrm>
          <a:prstGeom prst="ellipse">
            <a:avLst/>
          </a:prstGeom>
          <a:noFill/>
          <a:ln w="635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484304" y="5447995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خيوط فطرية</a:t>
            </a:r>
          </a:p>
        </p:txBody>
      </p:sp>
      <p:sp>
        <p:nvSpPr>
          <p:cNvPr id="17" name="Oval 16"/>
          <p:cNvSpPr/>
          <p:nvPr/>
        </p:nvSpPr>
        <p:spPr>
          <a:xfrm>
            <a:off x="4805592" y="1381201"/>
            <a:ext cx="1723861" cy="1467611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498079" y="4389120"/>
            <a:ext cx="4160520" cy="1188720"/>
          </a:xfrm>
          <a:prstGeom prst="roundRect">
            <a:avLst>
              <a:gd name="adj" fmla="val 1923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8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 هنا…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محافظ الأبواغ أعلى الخيوط ولونها أسود.</a:t>
            </a:r>
          </a:p>
        </p:txBody>
      </p:sp>
      <p:sp>
        <p:nvSpPr>
          <p:cNvPr id="3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3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36" name="nav_map2">
            <a:hlinkClick action="ppaction://hlinksldjump" r:id="rId5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37" name="nav_q_cause">
            <a:hlinkClick action="ppaction://hlinksldjump" r:id="rId6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8" grpId="0" animBg="1"/>
    </p:bld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④: أفسّر البيانات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2608" y="1161288"/>
            <a:ext cx="2741184" cy="4992624"/>
          </a:xfrm>
          <a:prstGeom prst="roundRect">
            <a:avLst>
              <a:gd name="adj" fmla="val 3335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activi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60" y="1234440"/>
            <a:ext cx="259488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03280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أفسّر البيانات: </a:t>
            </a:r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الذي سبّب التغيرات في قطعة الخبز؟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نمو العفن؛ لأنه وجد رطوبة ودفئًا وظلامًا وغذاءً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الماء أذاب الخبز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الكيس غيّر لون الخبز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5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④: أفسّر البيانات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 الشروط التي وفّرناها داخل الكيس؟ ومن الذي يحتاج إلى هذه الشروط لينمو؟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cause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④: أفسّر البيانات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2608" y="1161288"/>
            <a:ext cx="2741184" cy="4992624"/>
          </a:xfrm>
          <a:prstGeom prst="roundRect">
            <a:avLst>
              <a:gd name="adj" fmla="val 3335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activi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60" y="1234440"/>
            <a:ext cx="259488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03280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أفسّر البيانات: </a:t>
            </a:r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الذي سبّب التغيرات في قطعة الخبز؟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نمو العفن؛ لأنه وجد رطوبة ودفئًا وظلامًا وغذاءً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الماء أذاب الخبز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الكيس غيّر لون الخبز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6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7079" y="1161288"/>
            <a:ext cx="3452320" cy="4992624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tex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231" y="1234440"/>
            <a:ext cx="3306016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78888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من الكتاب ص٩٨: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«وتعد البيئة الدافئة الرطبة الوسط المثالي لنمو هذا العفن»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الكيس كان: دافئًا ✔ رطبًا ✔ فيه غذاء (الخبز) ✔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④: أفسّر البيانات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 بيئة هي الوسط المثالي لنمو عفن الخبز؟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دافئة رطبة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باردة جافة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مضيئة جافة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④: أفسّر البيانات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أفسّر البيانات: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الذي سبّب التغيرات في قطعة الخبز؟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نمو العفن؛ لأنه وجد رطوبة ودفئًا وظلامًا وغذاءً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الإجابة النموذجية: نمو عفن الخبز؛ فقد وجد في الكيس المغلق رطوبة ودفئًا وظلامًا وغذاءً، وهي الظروف المناسبة لنموه وتكاثره.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q_source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⑤: أستنتج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2608" y="1161288"/>
            <a:ext cx="2741184" cy="4992624"/>
          </a:xfrm>
          <a:prstGeom prst="roundRect">
            <a:avLst>
              <a:gd name="adj" fmla="val 3335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activi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60" y="1234440"/>
            <a:ext cx="259488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03280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مصدر العفن الذي نما على قطعة الخبز؟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العفن في الهواء سقطت على الخبز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الماء تحوّل إلى عفن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الكيس صنع العفن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5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⑤: أستنتج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ما قرأناه في ص٩٧: الأبواغ تنتشر، فإذا سقطت في بيئة مناسبة نمت.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q_source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⑤: أستنتج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2608" y="1161288"/>
            <a:ext cx="2741184" cy="4992624"/>
          </a:xfrm>
          <a:prstGeom prst="roundRect">
            <a:avLst>
              <a:gd name="adj" fmla="val 3335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activi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60" y="1234440"/>
            <a:ext cx="259488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03280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مصدر العفن الذي نما على قطعة الخبز؟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العفن في الهواء سقطت على الخبز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الماء تحوّل إلى عفن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8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8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الكيس صنع العفن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6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7079" y="1161288"/>
            <a:ext cx="3452320" cy="4992624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tex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231" y="1234440"/>
            <a:ext cx="3306016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78888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من الكتاب ص٩٨:</a:t>
            </a:r>
          </a:p>
          <a:p>
            <a:pPr algn="r" rtl="1">
              <a:spcAft>
                <a:spcPts val="800"/>
              </a:spcAft>
            </a:pPr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«وأبواغ هذا العفن صغيرة جدًا، ولكنها إذا سقطت في بيئة مناسبة فإنها تنمو سريعًا»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العفن لا يأتي من الماء أو الكيس، بل من أبواغ صغيرة لا نراها.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⑤: أستنتج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أين كانت أبواغ العفن قبل أن تصل إلى الخبز؟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الهواء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داخل الماء فقط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داخل الكيس المصنع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الخطوة ⑤: أستنتج (سؤال الكتاب)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مصدر العفن الذي نما على قطعة الخبز؟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أبواغ العفن في الهواء سقطت على الخبز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الإجابة النموذجية: مصدر العفن أبواغ العفن المنتشرة في الهواء؛ سقطت على الخبز قبل وضعه في الكيس، فلما وجدت بيئة مناسبة نمت.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omp1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أكملي التجربة (١/٢) · ماذا يحدث لو؟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يحدث لو وضعنا خبزًا جافًا في الثلاجة؟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يقلّ نمو العفن كثيرًا؛ لغياب الدفء والرطوبة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ينمو العفن أسرع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لا فرق بين الحالتين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2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أكملي التجربة (١/٢) · ماذا يحدث لو؟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الوسط المثالي لنمو العفن: دافئ أم بارد؟ رطب أم جاف؟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comp1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أكملي التجربة (١/٢) · ماذا يحدث لو؟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ماذا يحدث لو وضعنا خبزًا جافًا في الثلاجة؟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يقلّ نمو العفن كثيرًا؛ لغياب الدفء والرطوبة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البيئة الدافئة الرطبة هي الوسط المثالي لنمو العفن؛ فإذا غاب الدفء والرطوبة قلّت فرصة نموه.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omp2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أكملي التجربة (٢/٢) · الاستنتاج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أيّ استنتاج تدعمه تجربتنا؟</a:t>
            </a:r>
          </a:p>
        </p:txBody>
      </p:sp>
      <p:sp>
        <p:nvSpPr>
          <p:cNvPr id="7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يحتاج العفن إلى بيئة دافئة رطبة لينمو</a:t>
            </a:r>
          </a:p>
        </p:txBody>
      </p:sp>
      <p:sp>
        <p:nvSpPr>
          <p:cNvPr id="8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العفن يصنع غذاءه من الضوء</a:t>
            </a:r>
          </a:p>
        </p:txBody>
      </p:sp>
      <p:sp>
        <p:nvSpPr>
          <p:cNvPr id="9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العفن ينمو في الأماكن الجافة فقط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2" name="nav_map2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أكملي التجربة (٢/٢) · الاستنتاج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 الظروف التي وفّرناها فنما العفن؟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comp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لعبة: أكملي التجربة (٢/٢) · الاستنتاج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أيّ استنتاج تدعمه تجربتنا؟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يحتاج العفن إلى بيئة دافئة رطبة لينمو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نما العفن عندما توافرت له بيئة دافئة رطبة وغذاء؛ إذن يحتاج العفن إلى بيئة دافئة رطبة لينمو.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moldtext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عفن الخبز؟ (ص٩٨)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76488" y="1305721"/>
            <a:ext cx="3255264" cy="4703756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tex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378873"/>
            <a:ext cx="3108960" cy="45574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921240" y="589060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E3B27A"/>
          </a:solidFill>
          <a:ln w="25400">
            <a:solidFill>
              <a:srgbClr val="B0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500" b="1" i="0" lang="ar-SA">
                <a:solidFill>
                  <a:srgbClr val="6B4300"/>
                </a:solidFill>
                <a:latin typeface="Arial"/>
                <a:ea typeface="Arial"/>
                <a:cs typeface="Arial"/>
              </a:rPr>
              <a:t>سطح الخبز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434840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200400" y="4434840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03520" y="4434840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463040" y="45262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566160" y="45262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669279" y="45262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0" y="452628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29768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096512" y="2057400"/>
            <a:ext cx="512064" cy="512064"/>
          </a:xfrm>
          <a:prstGeom prst="ellipse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109728" cy="173736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65192" y="2423160"/>
            <a:ext cx="512064" cy="512064"/>
          </a:xfrm>
          <a:prstGeom prst="ellipse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03504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833872" y="2057400"/>
            <a:ext cx="512064" cy="512064"/>
          </a:xfrm>
          <a:prstGeom prst="ellipse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903720" y="2743200"/>
            <a:ext cx="109728" cy="173736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702552" y="2423160"/>
            <a:ext cx="512064" cy="512064"/>
          </a:xfrm>
          <a:prstGeom prst="ellipse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72400" y="23774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1905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571231" y="2057400"/>
            <a:ext cx="512064" cy="512064"/>
          </a:xfrm>
          <a:prstGeom prst="ellipse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48640" y="3429000"/>
            <a:ext cx="347472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خيوط فطرية تنتشر وتشبه جذور النبات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5532120"/>
            <a:ext cx="5669280" cy="731520"/>
          </a:xfrm>
          <a:prstGeom prst="roundRect">
            <a:avLst>
              <a:gd name="adj" fmla="val 25000"/>
            </a:avLst>
          </a:prstGeom>
          <a:solidFill>
            <a:srgbClr val="FFE9D2"/>
          </a:solidFill>
          <a:ln w="254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خيوط تنمو إلى أسفل لتثبيت العفن، وتفرز مواد كيميائية (إنزيمات)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1188720"/>
            <a:ext cx="3749039" cy="822960"/>
          </a:xfrm>
          <a:prstGeom prst="roundRect">
            <a:avLst>
              <a:gd name="adj" fmla="val 22222"/>
            </a:avLst>
          </a:prstGeom>
          <a:solidFill>
            <a:srgbClr val="EDE7FF"/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خيوط تنمو إلى أعلى تكوّن الأبواغ (تكاثر لاجنسي)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194560"/>
            <a:ext cx="3474720" cy="1051560"/>
          </a:xfrm>
          <a:prstGeom prst="roundRect">
            <a:avLst>
              <a:gd name="adj" fmla="val 17391"/>
            </a:avLst>
          </a:prstGeom>
          <a:solidFill>
            <a:srgbClr val="FFF6DD"/>
          </a:solidFill>
          <a:ln w="25400">
            <a:solidFill>
              <a:srgbClr val="F2D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ويحدث التكاثر الجنسي عندما يندمج خيطان فطريان معًا ويكوّنان أبواغًا جديدة</a:t>
            </a:r>
          </a:p>
        </p:txBody>
      </p:sp>
      <p:sp>
        <p:nvSpPr>
          <p:cNvPr id="9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9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92" name="nav_map2">
            <a:hlinkClick action="ppaction://hlinksldjump" r:id="rId5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93" name="nav_enz0">
            <a:hlinkClick action="ppaction://hlinksldjump" r:id="rId6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7" grpId="0" animBg="1"/>
      <p:bldP spid="13" grpId="0" animBg="1"/>
      <p:bldP spid="14" grpId="0" animBg="1"/>
      <p:bldP spid="15" grpId="0" animBg="1"/>
      <p:bldP spid="16" grpId="0" animBg="1"/>
      <p:bldP spid="28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9" grpId="0" animBg="1"/>
      <p:bldP spid="30" grpId="0" animBg="1"/>
    </p:bld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محاكاة: كيف تساعد الإنزيمات العفن؟ (ص٩٨)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hy"/>
          <p:cNvSpPr/>
          <p:nvPr/>
        </p:nvSpPr>
        <p:spPr>
          <a:xfrm>
            <a:off x="1005839" y="2674620"/>
            <a:ext cx="3291840" cy="68580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2540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f1"/>
          <p:cNvSpPr/>
          <p:nvPr/>
        </p:nvSpPr>
        <p:spPr>
          <a:xfrm>
            <a:off x="7269479" y="1920240"/>
            <a:ext cx="1188720" cy="914400"/>
          </a:xfrm>
          <a:prstGeom prst="roundRect">
            <a:avLst>
              <a:gd name="adj" fmla="val 50000"/>
            </a:avLst>
          </a:prstGeom>
          <a:solidFill>
            <a:srgbClr val="F6C26B"/>
          </a:solidFill>
          <a:ln w="254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f2"/>
          <p:cNvSpPr/>
          <p:nvPr/>
        </p:nvSpPr>
        <p:spPr>
          <a:xfrm>
            <a:off x="8458200" y="2468880"/>
            <a:ext cx="1188720" cy="914400"/>
          </a:xfrm>
          <a:prstGeom prst="roundRect">
            <a:avLst>
              <a:gd name="adj" fmla="val 50000"/>
            </a:avLst>
          </a:prstGeom>
          <a:solidFill>
            <a:srgbClr val="F6C26B"/>
          </a:solidFill>
          <a:ln w="254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f3"/>
          <p:cNvSpPr/>
          <p:nvPr/>
        </p:nvSpPr>
        <p:spPr>
          <a:xfrm>
            <a:off x="7543800" y="3063240"/>
            <a:ext cx="1188720" cy="914400"/>
          </a:xfrm>
          <a:prstGeom prst="roundRect">
            <a:avLst>
              <a:gd name="adj" fmla="val 50000"/>
            </a:avLst>
          </a:prstGeom>
          <a:solidFill>
            <a:srgbClr val="F6C26B"/>
          </a:solidFill>
          <a:ln w="254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e0"/>
          <p:cNvSpPr/>
          <p:nvPr/>
        </p:nvSpPr>
        <p:spPr>
          <a:xfrm>
            <a:off x="3776472" y="235915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e1"/>
          <p:cNvSpPr/>
          <p:nvPr/>
        </p:nvSpPr>
        <p:spPr>
          <a:xfrm>
            <a:off x="3776472" y="267919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e2"/>
          <p:cNvSpPr/>
          <p:nvPr/>
        </p:nvSpPr>
        <p:spPr>
          <a:xfrm>
            <a:off x="3776472" y="299923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e3"/>
          <p:cNvSpPr/>
          <p:nvPr/>
        </p:nvSpPr>
        <p:spPr>
          <a:xfrm>
            <a:off x="3776472" y="331927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4754880" cy="548640"/>
          </a:xfrm>
          <a:prstGeom prst="roundRect">
            <a:avLst>
              <a:gd name="adj" fmla="val 41666"/>
            </a:avLst>
          </a:prstGeom>
          <a:solidFill>
            <a:srgbClr val="FFF6DD"/>
          </a:solidFill>
          <a:ln w="25400">
            <a:solidFill>
              <a:srgbClr val="F2D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دون إنزيم: تفاعل بطيء جدًا ⏳ · مع الإنزيم: سريع </a:t>
            </a:r>
            <a:r>
              <a:rPr sz="1600" b="1" i="0" lang="ar-SA">
                <a:solidFill>
                  <a:srgbClr val="2B3A55"/>
                </a:solidFill>
                <a:latin typeface="Segoe UI Emoji"/>
                <a:ea typeface="Segoe UI Emoji"/>
                <a:cs typeface="Segoe UI Emoji"/>
              </a:rPr>
              <a:t>⚡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slow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محاكاة: كيف تساعد الإنزيمات العفن؟ (ص٩٨)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hy"/>
          <p:cNvSpPr/>
          <p:nvPr/>
        </p:nvSpPr>
        <p:spPr>
          <a:xfrm>
            <a:off x="1005839" y="2674620"/>
            <a:ext cx="3291840" cy="68580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2540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f1"/>
          <p:cNvSpPr/>
          <p:nvPr/>
        </p:nvSpPr>
        <p:spPr>
          <a:xfrm>
            <a:off x="7269479" y="1920240"/>
            <a:ext cx="1188720" cy="914400"/>
          </a:xfrm>
          <a:prstGeom prst="roundRect">
            <a:avLst>
              <a:gd name="adj" fmla="val 50000"/>
            </a:avLst>
          </a:prstGeom>
          <a:solidFill>
            <a:srgbClr val="F6C26B"/>
          </a:solidFill>
          <a:ln w="254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f2"/>
          <p:cNvSpPr/>
          <p:nvPr/>
        </p:nvSpPr>
        <p:spPr>
          <a:xfrm>
            <a:off x="8458200" y="2468880"/>
            <a:ext cx="1188720" cy="914400"/>
          </a:xfrm>
          <a:prstGeom prst="roundRect">
            <a:avLst>
              <a:gd name="adj" fmla="val 50000"/>
            </a:avLst>
          </a:prstGeom>
          <a:solidFill>
            <a:srgbClr val="F6C26B"/>
          </a:solidFill>
          <a:ln w="254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f3"/>
          <p:cNvSpPr/>
          <p:nvPr/>
        </p:nvSpPr>
        <p:spPr>
          <a:xfrm>
            <a:off x="7543800" y="3063240"/>
            <a:ext cx="1188720" cy="914400"/>
          </a:xfrm>
          <a:prstGeom prst="roundRect">
            <a:avLst>
              <a:gd name="adj" fmla="val 50000"/>
            </a:avLst>
          </a:prstGeom>
          <a:solidFill>
            <a:srgbClr val="F6C26B"/>
          </a:solidFill>
          <a:ln w="254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e0"/>
          <p:cNvSpPr/>
          <p:nvPr/>
        </p:nvSpPr>
        <p:spPr>
          <a:xfrm>
            <a:off x="7040880" y="2103120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e1"/>
          <p:cNvSpPr/>
          <p:nvPr/>
        </p:nvSpPr>
        <p:spPr>
          <a:xfrm>
            <a:off x="9692640" y="2103120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e2"/>
          <p:cNvSpPr/>
          <p:nvPr/>
        </p:nvSpPr>
        <p:spPr>
          <a:xfrm>
            <a:off x="7040880" y="3566159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e3"/>
          <p:cNvSpPr/>
          <p:nvPr/>
        </p:nvSpPr>
        <p:spPr>
          <a:xfrm>
            <a:off x="9692640" y="3566159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تفرز الخيوط الفطرية مواد تُسمّى إنزيمات</a:t>
            </a:r>
          </a:p>
        </p:txBody>
      </p:sp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محاكاة: كيف تساعد الإنزيمات العفن؟ (ص٩٨)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hy"/>
          <p:cNvSpPr/>
          <p:nvPr/>
        </p:nvSpPr>
        <p:spPr>
          <a:xfrm>
            <a:off x="1005839" y="2674620"/>
            <a:ext cx="3291840" cy="68580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2540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e0"/>
          <p:cNvSpPr/>
          <p:nvPr/>
        </p:nvSpPr>
        <p:spPr>
          <a:xfrm>
            <a:off x="7040880" y="2103120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e1"/>
          <p:cNvSpPr/>
          <p:nvPr/>
        </p:nvSpPr>
        <p:spPr>
          <a:xfrm>
            <a:off x="9692640" y="2103120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e2"/>
          <p:cNvSpPr/>
          <p:nvPr/>
        </p:nvSpPr>
        <p:spPr>
          <a:xfrm>
            <a:off x="7040880" y="3566159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e3"/>
          <p:cNvSpPr/>
          <p:nvPr/>
        </p:nvSpPr>
        <p:spPr>
          <a:xfrm>
            <a:off x="9692640" y="3566159"/>
            <a:ext cx="365760" cy="365760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0"/>
          <p:cNvSpPr/>
          <p:nvPr/>
        </p:nvSpPr>
        <p:spPr>
          <a:xfrm>
            <a:off x="7424928" y="2167127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b1"/>
          <p:cNvSpPr/>
          <p:nvPr/>
        </p:nvSpPr>
        <p:spPr>
          <a:xfrm>
            <a:off x="8110728" y="2167127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8796528" y="2167127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b3"/>
          <p:cNvSpPr/>
          <p:nvPr/>
        </p:nvSpPr>
        <p:spPr>
          <a:xfrm>
            <a:off x="7424928" y="2807208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4"/>
          <p:cNvSpPr/>
          <p:nvPr/>
        </p:nvSpPr>
        <p:spPr>
          <a:xfrm>
            <a:off x="8110728" y="2807208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b5"/>
          <p:cNvSpPr/>
          <p:nvPr/>
        </p:nvSpPr>
        <p:spPr>
          <a:xfrm>
            <a:off x="8796528" y="2807208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b6"/>
          <p:cNvSpPr/>
          <p:nvPr/>
        </p:nvSpPr>
        <p:spPr>
          <a:xfrm>
            <a:off x="7424928" y="3447287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b7"/>
          <p:cNvSpPr/>
          <p:nvPr/>
        </p:nvSpPr>
        <p:spPr>
          <a:xfrm>
            <a:off x="8110728" y="3447287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b8"/>
          <p:cNvSpPr/>
          <p:nvPr/>
        </p:nvSpPr>
        <p:spPr>
          <a:xfrm>
            <a:off x="8796528" y="3447287"/>
            <a:ext cx="329184" cy="329184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تفرز الخيوط الفطرية مواد تُسمّى إنزيمات</a:t>
            </a:r>
          </a:p>
        </p:txBody>
      </p:sp>
      <p:sp>
        <p:nvSpPr>
          <p:cNvPr id="22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يسرّع الإنزيم التفاعلات الكيميائية فيتحلل الطعام</a:t>
            </a:r>
          </a:p>
        </p:txBody>
      </p:sp>
      <p:sp>
        <p:nvSpPr>
          <p:cNvPr id="2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25" name="nav_map2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محاكاة: كيف تساعد الإنزيمات العفن؟ (ص٩٨)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viewport"/>
          <p:cNvSpPr/>
          <p:nvPr/>
        </p:nvSpPr>
        <p:spPr>
          <a:xfrm>
            <a:off x="548640" y="1234440"/>
            <a:ext cx="11091672" cy="3703320"/>
          </a:xfrm>
          <a:prstGeom prst="roundRect">
            <a:avLst>
              <a:gd name="adj" fmla="val 8641"/>
            </a:avLst>
          </a:prstGeom>
          <a:solidFill>
            <a:srgbClr val="EAFBF7"/>
          </a:solidFill>
          <a:ln w="76200">
            <a:solidFill>
              <a:srgbClr val="2B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vplabel"/>
          <p:cNvSpPr/>
          <p:nvPr/>
        </p:nvSpPr>
        <p:spPr>
          <a:xfrm>
            <a:off x="9445752" y="134416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2B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Segoe UI Emoji"/>
                <a:ea typeface="Segoe UI Emoji"/>
                <a:cs typeface="Segoe UI Emoji"/>
              </a:rPr>
              <a:t>🔬</a:t>
            </a:r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 المجهر الافتراضي</a:t>
            </a:r>
          </a:p>
        </p:txBody>
      </p:sp>
      <p:sp>
        <p:nvSpPr>
          <p:cNvPr id="7" name="!!hy"/>
          <p:cNvSpPr/>
          <p:nvPr/>
        </p:nvSpPr>
        <p:spPr>
          <a:xfrm>
            <a:off x="1005839" y="2674620"/>
            <a:ext cx="3291840" cy="685800"/>
          </a:xfrm>
          <a:prstGeom prst="roundRect">
            <a:avLst>
              <a:gd name="adj" fmla="val 50000"/>
            </a:avLst>
          </a:prstGeom>
          <a:solidFill>
            <a:srgbClr val="F4F4EE"/>
          </a:solidFill>
          <a:ln w="25400">
            <a:solidFill>
              <a:srgbClr val="A9A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e0"/>
          <p:cNvSpPr/>
          <p:nvPr/>
        </p:nvSpPr>
        <p:spPr>
          <a:xfrm>
            <a:off x="3776472" y="235915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e1"/>
          <p:cNvSpPr/>
          <p:nvPr/>
        </p:nvSpPr>
        <p:spPr>
          <a:xfrm>
            <a:off x="3776472" y="267919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e2"/>
          <p:cNvSpPr/>
          <p:nvPr/>
        </p:nvSpPr>
        <p:spPr>
          <a:xfrm>
            <a:off x="3776472" y="299923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e3"/>
          <p:cNvSpPr/>
          <p:nvPr/>
        </p:nvSpPr>
        <p:spPr>
          <a:xfrm>
            <a:off x="3776472" y="3319272"/>
            <a:ext cx="310896" cy="310896"/>
          </a:xfrm>
          <a:prstGeom prst="chord">
            <a:avLst/>
          </a:prstGeom>
          <a:solidFill>
            <a:srgbClr val="B48CFF"/>
          </a:solidFill>
          <a:ln w="12700">
            <a:solidFill>
              <a:srgbClr val="7E6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b0"/>
          <p:cNvSpPr/>
          <p:nvPr/>
        </p:nvSpPr>
        <p:spPr>
          <a:xfrm>
            <a:off x="1929384" y="2798064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b1"/>
          <p:cNvSpPr/>
          <p:nvPr/>
        </p:nvSpPr>
        <p:spPr>
          <a:xfrm>
            <a:off x="2386584" y="2798064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b2"/>
          <p:cNvSpPr/>
          <p:nvPr/>
        </p:nvSpPr>
        <p:spPr>
          <a:xfrm>
            <a:off x="2843784" y="2798064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b3"/>
          <p:cNvSpPr/>
          <p:nvPr/>
        </p:nvSpPr>
        <p:spPr>
          <a:xfrm>
            <a:off x="3300984" y="2798064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b4"/>
          <p:cNvSpPr/>
          <p:nvPr/>
        </p:nvSpPr>
        <p:spPr>
          <a:xfrm>
            <a:off x="3758184" y="2798064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b5"/>
          <p:cNvSpPr/>
          <p:nvPr/>
        </p:nvSpPr>
        <p:spPr>
          <a:xfrm>
            <a:off x="1929384" y="3054096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b6"/>
          <p:cNvSpPr/>
          <p:nvPr/>
        </p:nvSpPr>
        <p:spPr>
          <a:xfrm>
            <a:off x="2386584" y="3054096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b7"/>
          <p:cNvSpPr/>
          <p:nvPr/>
        </p:nvSpPr>
        <p:spPr>
          <a:xfrm>
            <a:off x="2843784" y="3054096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b8"/>
          <p:cNvSpPr/>
          <p:nvPr/>
        </p:nvSpPr>
        <p:spPr>
          <a:xfrm>
            <a:off x="3300984" y="3054096"/>
            <a:ext cx="164592" cy="164592"/>
          </a:xfrm>
          <a:prstGeom prst="ellipse">
            <a:avLst/>
          </a:prstGeom>
          <a:solidFill>
            <a:srgbClr val="F6C26B"/>
          </a:solidFill>
          <a:ln w="12700">
            <a:solidFill>
              <a:srgbClr val="C98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lab1"/>
          <p:cNvSpPr/>
          <p:nvPr/>
        </p:nvSpPr>
        <p:spPr>
          <a:xfrm>
            <a:off x="8065008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تفرز الخيوط الفطرية مواد تُسمّى إنزيمات</a:t>
            </a:r>
          </a:p>
        </p:txBody>
      </p:sp>
      <p:sp>
        <p:nvSpPr>
          <p:cNvPr id="22" name="!!lab2"/>
          <p:cNvSpPr/>
          <p:nvPr/>
        </p:nvSpPr>
        <p:spPr>
          <a:xfrm>
            <a:off x="4306824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FFFFFF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يسرّع الإنزيم التفاعلات الكيميائية فيتحلل الطعام</a:t>
            </a:r>
          </a:p>
        </p:txBody>
      </p:sp>
      <p:sp>
        <p:nvSpPr>
          <p:cNvPr id="23" name="!!lab3"/>
          <p:cNvSpPr/>
          <p:nvPr/>
        </p:nvSpPr>
        <p:spPr>
          <a:xfrm>
            <a:off x="548640" y="5074920"/>
            <a:ext cx="3575304" cy="566928"/>
          </a:xfrm>
          <a:prstGeom prst="roundRect">
            <a:avLst>
              <a:gd name="adj" fmla="val 43548"/>
            </a:avLst>
          </a:prstGeom>
          <a:solidFill>
            <a:srgbClr val="5AA9E6"/>
          </a:solidFill>
          <a:ln w="25400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يسهل امتصاص المواد الغذائية</a:t>
            </a:r>
          </a:p>
        </p:txBody>
      </p:sp>
      <p:sp>
        <p:nvSpPr>
          <p:cNvPr id="24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5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26" name="nav_map2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27" name="nav_evid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أقرأ وأستدل · صيد الدليل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Picture 4" descr="ic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23444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10241280" cy="8229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3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المهمة: </a:t>
            </a:r>
            <a:r>
              <a:rPr sz="23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اختاري الدليل الذي يوضح ما تفعله الإنزيمات.</a:t>
            </a:r>
          </a:p>
        </p:txBody>
      </p:sp>
      <p:sp>
        <p:nvSpPr>
          <p:cNvPr id="7" name="sen0"/>
          <p:cNvSpPr/>
          <p:nvPr/>
        </p:nvSpPr>
        <p:spPr>
          <a:xfrm>
            <a:off x="548640" y="2103120"/>
            <a:ext cx="11091672" cy="674369"/>
          </a:xfrm>
          <a:prstGeom prst="roundRect">
            <a:avLst>
              <a:gd name="adj" fmla="val 27118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١)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«يتركب عفن الخبز من خيوط دقيقة تسمى الخيوط الفطرية.»</a:t>
            </a:r>
          </a:p>
        </p:txBody>
      </p:sp>
      <p:pic>
        <p:nvPicPr>
          <p:cNvPr id="8" name="Picture 7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65985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عبارة فيها كلمة «الإنزيم».</a:t>
            </a:r>
          </a:p>
        </p:txBody>
      </p:sp>
      <p:sp>
        <p:nvSpPr>
          <p:cNvPr id="10" name="sen1"/>
          <p:cNvSpPr/>
          <p:nvPr/>
        </p:nvSpPr>
        <p:spPr>
          <a:xfrm>
            <a:off x="548640" y="2914650"/>
            <a:ext cx="11091672" cy="674369"/>
          </a:xfrm>
          <a:prstGeom prst="roundRect">
            <a:avLst>
              <a:gd name="adj" fmla="val 27118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٢)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«تنتشر هذه الخيوط لتغطي مساحة كبيرة.»</a:t>
            </a:r>
          </a:p>
        </p:txBody>
      </p:sp>
      <p:pic>
        <p:nvPicPr>
          <p:cNvPr id="11" name="Picture 10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77515"/>
            <a:ext cx="548640" cy="548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عبارة فيها كلمة «الإنزيم».</a:t>
            </a:r>
          </a:p>
        </p:txBody>
      </p:sp>
      <p:sp>
        <p:nvSpPr>
          <p:cNvPr id="13" name="sen2"/>
          <p:cNvSpPr/>
          <p:nvPr/>
        </p:nvSpPr>
        <p:spPr>
          <a:xfrm>
            <a:off x="548640" y="3726179"/>
            <a:ext cx="11091672" cy="674369"/>
          </a:xfrm>
          <a:prstGeom prst="roundRect">
            <a:avLst>
              <a:gd name="adj" fmla="val 27118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«ويسبب الإنزيم تسريع حدوث التفاعلات الكيميائية.»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26179"/>
            <a:ext cx="11091672" cy="674369"/>
          </a:xfrm>
          <a:prstGeom prst="roundRect">
            <a:avLst>
              <a:gd name="adj" fmla="val 27118"/>
            </a:avLst>
          </a:prstGeom>
          <a:noFill/>
          <a:ln w="635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89045"/>
            <a:ext cx="548640" cy="5486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صيد موفّق!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هذه العبارة تبيّن عمل الإنزيم: يسرّع التفاعلات الكيميائية، فيسهل هضم الطعام وامتصاصه.</a:t>
            </a:r>
          </a:p>
        </p:txBody>
      </p:sp>
      <p:sp>
        <p:nvSpPr>
          <p:cNvPr id="17" name="sen3"/>
          <p:cNvSpPr/>
          <p:nvPr/>
        </p:nvSpPr>
        <p:spPr>
          <a:xfrm>
            <a:off x="548640" y="4537709"/>
            <a:ext cx="11091672" cy="674369"/>
          </a:xfrm>
          <a:prstGeom prst="roundRect">
            <a:avLst>
              <a:gd name="adj" fmla="val 27118"/>
            </a:avLst>
          </a:prstGeom>
          <a:solidFill>
            <a:srgbClr val="F7FAFF"/>
          </a:solidFill>
          <a:ln w="25400">
            <a:solidFill>
              <a:srgbClr val="B9CD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r" rtl="1"/>
            <a:r>
              <a:rPr sz="20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٤)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«وهناك خيوط فطرية تنمو إلى أعلى.»</a:t>
            </a:r>
          </a:p>
        </p:txBody>
      </p:sp>
      <p:pic>
        <p:nvPicPr>
          <p:cNvPr id="18" name="Picture 17" descr="ic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600575"/>
            <a:ext cx="548640" cy="5486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31250"/>
            </a:avLst>
          </a:prstGeom>
          <a:solidFill>
            <a:srgbClr val="FFF1CC"/>
          </a:solidFill>
          <a:ln w="25400">
            <a:solidFill>
              <a:srgbClr val="E8C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9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ليست هذه… </a:t>
            </a:r>
            <a:r>
              <a:rPr sz="19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ابحثي عن عبارة فيها كلمة «الإنزيم».</a:t>
            </a:r>
          </a:p>
        </p:txBody>
      </p:sp>
      <p:sp>
        <p:nvSpPr>
          <p:cNvPr id="7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7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72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73" name="nav_chk98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  <p:bldP spid="16" grpId="0" animBg="1"/>
      <p:bldP spid="19" grpId="0" animBg="1"/>
    </p:bld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(ص٩٨)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667969"/>
            <a:ext cx="4626864" cy="197926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ch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41121"/>
            <a:ext cx="4480560" cy="18329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4528358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!!qpanel"/>
          <p:cNvSpPr/>
          <p:nvPr/>
        </p:nvSpPr>
        <p:spPr>
          <a:xfrm>
            <a:off x="5257800" y="1234440"/>
            <a:ext cx="6400800" cy="1325880"/>
          </a:xfrm>
          <a:prstGeom prst="roundRect">
            <a:avLst>
              <a:gd name="adj" fmla="val 17241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prompt"/>
          <p:cNvSpPr txBox="1"/>
          <p:nvPr/>
        </p:nvSpPr>
        <p:spPr>
          <a:xfrm>
            <a:off x="5394960" y="1280160"/>
            <a:ext cx="6126480" cy="12344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2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كيف تساعد الإنزيمات العفن على هضم الطعام؟</a:t>
            </a:r>
          </a:p>
        </p:txBody>
      </p:sp>
      <p:sp>
        <p:nvSpPr>
          <p:cNvPr id="10" name="!!opt0">
            <a:hlinkClick action="ppaction://hlinksldjump" r:id="rId5"/>
          </p:cNvPr>
          <p:cNvSpPr/>
          <p:nvPr/>
        </p:nvSpPr>
        <p:spPr>
          <a:xfrm>
            <a:off x="5257800" y="2743200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تسرّع التفاعلات فتحلّل الطعام إلى مواد بسيطة يسهل امتصاصها</a:t>
            </a:r>
          </a:p>
        </p:txBody>
      </p:sp>
      <p:sp>
        <p:nvSpPr>
          <p:cNvPr id="11" name="!!opt1">
            <a:hlinkClick action="ppaction://hlinksldjump" r:id="rId6"/>
          </p:cNvPr>
          <p:cNvSpPr/>
          <p:nvPr/>
        </p:nvSpPr>
        <p:spPr>
          <a:xfrm>
            <a:off x="5257800" y="3907536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تصنع الغذاء من ضوء الشمس</a:t>
            </a:r>
          </a:p>
        </p:txBody>
      </p:sp>
      <p:sp>
        <p:nvSpPr>
          <p:cNvPr id="12" name="!!opt2">
            <a:hlinkClick action="ppaction://hlinksldjump" r:id="rId6"/>
          </p:cNvPr>
          <p:cNvSpPr/>
          <p:nvPr/>
        </p:nvSpPr>
        <p:spPr>
          <a:xfrm>
            <a:off x="5257800" y="5071872"/>
            <a:ext cx="6400800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1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17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تحرّك العفن نحو الطعام</a:t>
            </a:r>
          </a:p>
        </p:txBody>
      </p:sp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5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(ص٩٨)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pic>
        <p:nvPicPr>
          <p:cNvPr id="5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المحاكاة: ماذا حدث لقطع الطعام الكبيرة عندما وصلت إليها الإنزيمات؟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3" name="nav_map2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4" name="nav_chk98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أختبر نفسي (ص٩٨) · أستنتج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أستنتج: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كيف تساعد الإنزيمات العفن على هضم الطعام؟</a:t>
            </a:r>
          </a:p>
        </p:txBody>
      </p:sp>
      <p:sp>
        <p:nvSpPr>
          <p:cNvPr id="7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18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تسرّع التفاعلات فتحلّل الطعام إلى مواد بسيطة يسهل امتصاصها</a:t>
            </a:r>
          </a:p>
        </p:txBody>
      </p:sp>
      <p:pic>
        <p:nvPicPr>
          <p:cNvPr id="8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الإجابة النموذجية: تفرز الخيوط الفطرية إنزيمات تسرّع التفاعلات الكيميائية، فتحلّل الطعام إلى مواد بسيطة يسهل امتصاصها.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8" name="nav_map2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ct98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التفكير الناقد (ص٩٨)</a:t>
            </a:r>
          </a:p>
        </p:txBody>
      </p:sp>
      <p:sp>
        <p:nvSpPr>
          <p:cNvPr id="4" name="!!pagechip"/>
          <p:cNvSpPr/>
          <p:nvPr/>
        </p:nvSpPr>
        <p:spPr>
          <a:xfrm>
            <a:off x="411480" y="347472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صفحة </a:t>
            </a:r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٩٨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2724080"/>
            <a:ext cx="4352544" cy="1867038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98_ch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97232"/>
            <a:ext cx="4206240" cy="17207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71799" y="4472247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234440"/>
            <a:ext cx="667512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9281160" y="109728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التفكير الناقد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508760"/>
            <a:ext cx="6309359" cy="128016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5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كيف يمكن أن تكون الإنزيمات مهمة لنشاطات أخرى غير الهضم؟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971800"/>
            <a:ext cx="6309359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9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ناقشي مع مجموعتك… ثم اضغطي لإظهار الإجابة النموذجية</a:t>
            </a:r>
          </a:p>
        </p:txBody>
      </p:sp>
      <p:sp>
        <p:nvSpPr>
          <p:cNvPr id="12" name="revealbtn"/>
          <p:cNvSpPr/>
          <p:nvPr/>
        </p:nvSpPr>
        <p:spPr>
          <a:xfrm>
            <a:off x="6492240" y="361188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إظهار الإجابة النموذجية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4389120"/>
            <a:ext cx="6675120" cy="1783080"/>
          </a:xfrm>
          <a:prstGeom prst="roundRect">
            <a:avLst>
              <a:gd name="adj" fmla="val 12820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66360" y="4434840"/>
            <a:ext cx="6309359" cy="1691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لأنها تسرّع التفاعلات الكيميائية عمومًا، فتُعين على بناء المواد في الخلايا، والتنفس الخلوي، وإنتاج الطاقة.</a:t>
            </a:r>
          </a:p>
        </p:txBody>
      </p:sp>
      <p:sp>
        <p:nvSpPr>
          <p:cNvPr id="15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6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 · ص٩٨</a:t>
            </a:r>
          </a:p>
        </p:txBody>
      </p:sp>
      <p:sp>
        <p:nvSpPr>
          <p:cNvPr id="17" name="nav_map2">
            <a:hlinkClick action="ppaction://hlinksldjump" r:id="rId5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8" name="nav_map3">
            <a:hlinkClick action="ppaction://hlinksldjump" r:id="rId6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الخريطة تنمو: بطاقة عفن الخبز</a:t>
            </a:r>
          </a:p>
        </p:txBody>
      </p:sp>
      <p:sp>
        <p:nvSpPr>
          <p:cNvPr id="4" name="!!mapscreen"/>
          <p:cNvSpPr/>
          <p:nvPr/>
        </p:nvSpPr>
        <p:spPr>
          <a:xfrm>
            <a:off x="411480" y="1143000"/>
            <a:ext cx="11365992" cy="50292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B3A55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mapcenter"/>
          <p:cNvSpPr/>
          <p:nvPr/>
        </p:nvSpPr>
        <p:spPr>
          <a:xfrm>
            <a:off x="2651760" y="1325880"/>
            <a:ext cx="6903720" cy="777240"/>
          </a:xfrm>
          <a:prstGeom prst="roundRect">
            <a:avLst>
              <a:gd name="adj" fmla="val 49411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كيف تتكاثر المخلوقات الحية الدقيقة؟</a:t>
            </a:r>
          </a:p>
        </p:txBody>
      </p:sp>
      <p:cxnSp>
        <p:nvCxnSpPr>
          <p:cNvPr id="6" name="!!line_p"/>
          <p:cNvCxnSpPr/>
          <p:nvPr/>
        </p:nvCxnSpPr>
        <p:spPr>
          <a:xfrm>
            <a:off x="6099048" y="2103120"/>
            <a:ext cx="370789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br_p">
            <a:hlinkClick action="ppaction://hlinksldjump" r:id="rId4"/>
          </p:cNvPr>
          <p:cNvSpPr/>
          <p:nvPr/>
        </p:nvSpPr>
        <p:spPr>
          <a:xfrm>
            <a:off x="832104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الطلائعيات</a:t>
            </a:r>
          </a:p>
        </p:txBody>
      </p:sp>
      <p:cxnSp>
        <p:nvCxnSpPr>
          <p:cNvPr id="8" name="!!line_f"/>
          <p:cNvCxnSpPr/>
          <p:nvPr/>
        </p:nvCxnSpPr>
        <p:spPr>
          <a:xfrm>
            <a:off x="6099048" y="2103120"/>
            <a:ext cx="457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br_f">
            <a:hlinkClick action="ppaction://hlinksldjump" r:id="rId5"/>
          </p:cNvPr>
          <p:cNvSpPr/>
          <p:nvPr/>
        </p:nvSpPr>
        <p:spPr>
          <a:xfrm>
            <a:off x="461772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الفطريات</a:t>
            </a:r>
          </a:p>
        </p:txBody>
      </p:sp>
      <p:cxnSp>
        <p:nvCxnSpPr>
          <p:cNvPr id="10" name="!!line_b"/>
          <p:cNvCxnSpPr/>
          <p:nvPr/>
        </p:nvCxnSpPr>
        <p:spPr>
          <a:xfrm flipH="1">
            <a:off x="2400300" y="2103120"/>
            <a:ext cx="3698748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br_b">
            <a:hlinkClick action="ppaction://hlinksldjump" r:id="rId6"/>
          </p:cNvPr>
          <p:cNvSpPr/>
          <p:nvPr/>
        </p:nvSpPr>
        <p:spPr>
          <a:xfrm>
            <a:off x="91440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F7AA2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البكتيريا</a:t>
            </a:r>
          </a:p>
        </p:txBody>
      </p:sp>
      <p:sp>
        <p:nvSpPr>
          <p:cNvPr id="12" name="!!card_1_p_1"/>
          <p:cNvSpPr/>
          <p:nvPr/>
        </p:nvSpPr>
        <p:spPr>
          <a:xfrm>
            <a:off x="832104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البراميسيوم</a:t>
            </a:r>
          </a:p>
        </p:txBody>
      </p:sp>
      <p:sp>
        <p:nvSpPr>
          <p:cNvPr id="13" name="!!card_1_p_2"/>
          <p:cNvSpPr/>
          <p:nvPr/>
        </p:nvSpPr>
        <p:spPr>
          <a:xfrm>
            <a:off x="832104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 (جنسي)</a:t>
            </a:r>
          </a:p>
        </p:txBody>
      </p:sp>
      <p:sp>
        <p:nvSpPr>
          <p:cNvPr id="14" name="!!card_1_p_3"/>
          <p:cNvSpPr/>
          <p:nvPr/>
        </p:nvSpPr>
        <p:spPr>
          <a:xfrm>
            <a:off x="8321040" y="52120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 (البوغيات)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البلازموديوم</a:t>
            </a:r>
          </a:p>
        </p:txBody>
      </p:sp>
      <p:sp>
        <p:nvSpPr>
          <p:cNvPr id="15" name="!!card_2_f_1"/>
          <p:cNvSpPr/>
          <p:nvPr/>
        </p:nvSpPr>
        <p:spPr>
          <a:xfrm>
            <a:off x="461772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الخميرة</a:t>
            </a:r>
          </a:p>
        </p:txBody>
      </p:sp>
      <p:sp>
        <p:nvSpPr>
          <p:cNvPr id="16" name="!!card_2_f_2"/>
          <p:cNvSpPr/>
          <p:nvPr/>
        </p:nvSpPr>
        <p:spPr>
          <a:xfrm>
            <a:off x="461772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sp>
        <p:nvSpPr>
          <p:cNvPr id="17" name="!!card_2_b_1"/>
          <p:cNvSpPr/>
          <p:nvPr/>
        </p:nvSpPr>
        <p:spPr>
          <a:xfrm>
            <a:off x="91440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3EC"/>
          </a:solidFill>
          <a:ln w="3175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إي.كولاي</a:t>
            </a:r>
          </a:p>
        </p:txBody>
      </p:sp>
      <p:sp>
        <p:nvSpPr>
          <p:cNvPr id="18" name="!!card_2_b_2"/>
          <p:cNvSpPr/>
          <p:nvPr/>
        </p:nvSpPr>
        <p:spPr>
          <a:xfrm>
            <a:off x="91440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3EC"/>
          </a:solidFill>
          <a:ln w="3175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عبر جسر بين خليتين</a:t>
            </a:r>
          </a:p>
        </p:txBody>
      </p:sp>
      <p:sp>
        <p:nvSpPr>
          <p:cNvPr id="19" name="!!card_3_f_3"/>
          <p:cNvSpPr/>
          <p:nvPr/>
        </p:nvSpPr>
        <p:spPr>
          <a:xfrm>
            <a:off x="4617720" y="52120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عفن الخبز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خيوط فطرية وإنزيمات وأبواغ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2FA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الدرس الجديد</a:t>
            </a:r>
          </a:p>
        </p:txBody>
      </p:sp>
      <p:sp>
        <p:nvSpPr>
          <p:cNvPr id="22" name="nav_vocab">
            <a:hlinkClick action="ppaction://hlinksldjump" r:id="rId7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بطاقات المفردات: درسنا الجديد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1672" cy="4114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17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اضغطي على البطاقة لقلبها</a:t>
            </a:r>
          </a:p>
        </p:txBody>
      </p:sp>
      <p:sp>
        <p:nvSpPr>
          <p:cNvPr id="5" name="card0"/>
          <p:cNvSpPr/>
          <p:nvPr/>
        </p:nvSpPr>
        <p:spPr>
          <a:xfrm>
            <a:off x="807720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720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3BB59A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تكاثر لاجنسي ينقسم فيه المخلوق الحي إلى مخلوقين جديدين متماثلين.</a:t>
            </a:r>
          </a:p>
        </p:txBody>
      </p:sp>
      <p:sp>
        <p:nvSpPr>
          <p:cNvPr id="7" name="card1"/>
          <p:cNvSpPr/>
          <p:nvPr/>
        </p:nvSpPr>
        <p:spPr>
          <a:xfrm>
            <a:off x="431292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الاقتران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8E7C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8E7CF0"/>
                </a:solidFill>
                <a:latin typeface="Arial"/>
                <a:ea typeface="Arial"/>
                <a:cs typeface="Arial"/>
              </a:rPr>
              <a:t>الاقتران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عملية جنسية تلتحم فيها المخلوقات وتتبادل المادة الوراثية.</a:t>
            </a:r>
          </a:p>
        </p:txBody>
      </p:sp>
      <p:sp>
        <p:nvSpPr>
          <p:cNvPr id="9" name="card2"/>
          <p:cNvSpPr/>
          <p:nvPr/>
        </p:nvSpPr>
        <p:spPr>
          <a:xfrm>
            <a:off x="548639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التبرعم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" y="1600200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F28C28"/>
                </a:solidFill>
                <a:latin typeface="Arial"/>
                <a:ea typeface="Arial"/>
                <a:cs typeface="Arial"/>
              </a:rPr>
              <a:t>التبرعم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تكاثر لاجنسي يتكوّن فيه برعم بنمو بروز صغير على الخلية الأم ثم ينفصل.</a:t>
            </a:r>
          </a:p>
        </p:txBody>
      </p:sp>
      <p:sp>
        <p:nvSpPr>
          <p:cNvPr id="11" name="card3"/>
          <p:cNvSpPr/>
          <p:nvPr/>
        </p:nvSpPr>
        <p:spPr>
          <a:xfrm>
            <a:off x="807720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الأبواغ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5AA9E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5AA9E6"/>
                </a:solidFill>
                <a:latin typeface="Arial"/>
                <a:ea typeface="Arial"/>
                <a:cs typeface="Arial"/>
              </a:rPr>
              <a:t>الأبواغ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تحتوي على المادة الوراثية داخل غشاء يحميها، وتنمو في بيئة مناسبة.</a:t>
            </a:r>
          </a:p>
        </p:txBody>
      </p:sp>
      <p:sp>
        <p:nvSpPr>
          <p:cNvPr id="13" name="card4"/>
          <p:cNvSpPr/>
          <p:nvPr/>
        </p:nvSpPr>
        <p:spPr>
          <a:xfrm>
            <a:off x="431292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3D86C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الخيوط الفطرية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3D86C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3D86C6"/>
                </a:solidFill>
                <a:latin typeface="Arial"/>
                <a:ea typeface="Arial"/>
                <a:cs typeface="Arial"/>
              </a:rPr>
              <a:t>الخيوط الفطرية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خيوط دقيقة يتركب منها عفن الخبز، تشبه جذور النبات.</a:t>
            </a:r>
          </a:p>
        </p:txBody>
      </p:sp>
      <p:sp>
        <p:nvSpPr>
          <p:cNvPr id="15" name="card5"/>
          <p:cNvSpPr/>
          <p:nvPr/>
        </p:nvSpPr>
        <p:spPr>
          <a:xfrm>
            <a:off x="548639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7AA2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الإنزيمات</a:t>
            </a:r>
          </a:p>
          <a:p>
            <a:pPr algn="ctr" rtl="1"/>
            <a:r>
              <a:rPr sz="1300" b="0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⟲ اقلبيني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39" y="3986784"/>
            <a:ext cx="3563112" cy="2185416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3810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 rtl="1"/>
            <a:r>
              <a:rPr sz="1600" b="1" i="0" lang="ar-SA">
                <a:solidFill>
                  <a:srgbClr val="FF7AA2"/>
                </a:solidFill>
                <a:latin typeface="Arial"/>
                <a:ea typeface="Arial"/>
                <a:cs typeface="Arial"/>
              </a:rPr>
              <a:t>الإنزيمات</a:t>
            </a:r>
          </a:p>
          <a:p>
            <a:pPr algn="ctr" rtl="1"/>
            <a:r>
              <a:rPr sz="16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بروتينات تسرّع حدوث التفاعلات الكيميائية.</a:t>
            </a:r>
          </a:p>
        </p:txBody>
      </p:sp>
      <p:sp>
        <p:nvSpPr>
          <p:cNvPr id="5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5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53" name="nav_map3">
            <a:hlinkClick action="ppaction://hlinksldjump" r:id="rId4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54" name="nav_final0">
            <a:hlinkClick action="ppaction://hlinksldjump" r:id="rId5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Segoe UI Emoji"/>
                <a:ea typeface="Segoe UI Emoji"/>
                <a:cs typeface="Segoe UI Emoji"/>
              </a:rPr>
              <a:t>🏆</a:t>
            </a:r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 تحدي العالمة الصغيرة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09759" y="3383280"/>
            <a:ext cx="2103120" cy="914400"/>
          </a:xfrm>
          <a:prstGeom prst="roundRect">
            <a:avLst>
              <a:gd name="adj" fmla="val 20000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6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أتذكر</a:t>
            </a:r>
          </a:p>
        </p:txBody>
      </p:sp>
      <p:pic>
        <p:nvPicPr>
          <p:cNvPr id="5" name="Picture 4" descr="ic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7" y="269748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59" y="2880360"/>
            <a:ext cx="2103120" cy="1417320"/>
          </a:xfrm>
          <a:prstGeom prst="roundRect">
            <a:avLst>
              <a:gd name="adj" fmla="val 12903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6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أفهم</a:t>
            </a:r>
          </a:p>
        </p:txBody>
      </p:sp>
      <p:pic>
        <p:nvPicPr>
          <p:cNvPr id="7" name="Picture 6" descr="ic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2194560"/>
            <a:ext cx="594360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937759" y="2377440"/>
            <a:ext cx="2103120" cy="1920240"/>
          </a:xfrm>
          <a:prstGeom prst="roundRect">
            <a:avLst>
              <a:gd name="adj" fmla="val 9523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6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أطبق</a:t>
            </a:r>
          </a:p>
        </p:txBody>
      </p:sp>
      <p:pic>
        <p:nvPicPr>
          <p:cNvPr id="9" name="Picture 8" descr="ic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691640"/>
            <a:ext cx="594360" cy="594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651760" y="1874519"/>
            <a:ext cx="2103120" cy="2423160"/>
          </a:xfrm>
          <a:prstGeom prst="roundRect">
            <a:avLst>
              <a:gd name="adj" fmla="val 8695"/>
            </a:avLst>
          </a:prstGeom>
          <a:solidFill>
            <a:srgbClr val="8E7CF0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6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أستنتج</a:t>
            </a:r>
          </a:p>
        </p:txBody>
      </p:sp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188720"/>
            <a:ext cx="594360" cy="594360"/>
          </a:xfrm>
          <a:prstGeom prst="rect">
            <a:avLst/>
          </a:prstGeom>
        </p:spPr>
      </p:pic>
      <p:pic>
        <p:nvPicPr>
          <p:cNvPr id="12" name="!!guide" descr="guide_che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2011680"/>
            <a:ext cx="2319454" cy="3657600"/>
          </a:xfrm>
          <a:prstGeom prst="rect">
            <a:avLst/>
          </a:prstGeom>
        </p:spPr>
      </p:pic>
      <p:sp>
        <p:nvSpPr>
          <p:cNvPr id="51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52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53" name="nav_f1">
            <a:hlinkClick action="ppaction://hlinksldjump" r:id="rId6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١: أتذكر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طريقة تكاثر معظم الطلائعيات؟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 فقط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1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١: أتذكر</a:t>
            </a:r>
          </a:p>
        </p:txBody>
      </p:sp>
      <p:pic>
        <p:nvPicPr>
          <p:cNvPr id="4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ارجعي إلى أول جملة في فقرة الطلائعيات ص٩٦.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3" name="nav_f1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١: أتذكر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طريقة تكاثر معظم الطلائعيات؟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 فقط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" y="2159115"/>
            <a:ext cx="5266944" cy="2996969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96_protis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32267"/>
            <a:ext cx="5120640" cy="28506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503721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«تتكاثر معظم الطلائعيات بالانشطار الثنائي».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راجعي الصورة، ثم جربي السؤال المشابه.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١: أتذكر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بأي طريقة يتكاثر البراميسيوم عادة؟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محافظ الأبواغ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١: أتذكر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طريقة تكاثر معظم الطلائعيات؟</a:t>
            </a:r>
          </a:p>
        </p:txBody>
      </p:sp>
      <p:sp>
        <p:nvSpPr>
          <p:cNvPr id="6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pic>
        <p:nvPicPr>
          <p:cNvPr id="7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«تتكاثر معظم الطلائعيات بالانشطار الثنائي».</a:t>
            </a:r>
          </a:p>
        </p:txBody>
      </p:sp>
      <p:pic>
        <p:nvPicPr>
          <p:cNvPr id="10" name="Picture 9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8" name="nav_map3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f2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٢: أفهم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يُعد الاقتران عملية جنسية؟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المخلوقات تتبادل فيه المادة الوراثية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المخلوق ينقسم إلى اثنين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البرعم ينفصل عن الخلية الأم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1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٢: أفهم</a:t>
            </a:r>
          </a:p>
        </p:txBody>
      </p:sp>
      <p:pic>
        <p:nvPicPr>
          <p:cNvPr id="4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ماذا يحدث للمادة الوراثية في الاقتران؟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3" name="nav_f2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٢: أفهم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يُعد الاقتران عملية جنسية؟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المخلوقات تتبادل فيه المادة الوراثية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المخلوق ينقسم إلى اثنين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2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2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لأن البرعم ينفصل عن الخلية الأم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" y="2820675"/>
            <a:ext cx="5266944" cy="1673849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96_conj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93827"/>
            <a:ext cx="5120640" cy="1527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4375652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الاقتران تلتحم المخلوقات وتتبادل المادة الوراثية؛ لذا هو عملية جنسية.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راجعي الصورة، ثم جربي السؤال المشابه.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٢: أفهم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الذي يحدث في الاقتران ولا يحدث في الانشطار الثنائي؟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تبادل المادة الوراثية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انقسام الخلية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تضاعف المادة الوراثية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٢: أفهم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لماذا يُعد الاقتران عملية جنسية؟</a:t>
            </a:r>
          </a:p>
        </p:txBody>
      </p:sp>
      <p:sp>
        <p:nvSpPr>
          <p:cNvPr id="6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لأن المخلوقات تتبادل فيه المادة الوراثية</a:t>
            </a:r>
          </a:p>
        </p:txBody>
      </p:sp>
      <p:pic>
        <p:nvPicPr>
          <p:cNvPr id="7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في الاقتران تلتحم المخلوقات وتتبادل المادة الوراثية؛ لذا هو عملية جنسية.</a:t>
            </a:r>
          </a:p>
        </p:txBody>
      </p:sp>
      <p:pic>
        <p:nvPicPr>
          <p:cNvPr id="10" name="Picture 9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8" name="nav_map3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f3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٣: أطبق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وضعت خبّازة عجينًا فيه خميرة في مكان دافئ، فزادت خلايا الخميرة. كيف تكاثرت؟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1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٣: أطبق</a:t>
            </a:r>
          </a:p>
        </p:txBody>
      </p:sp>
      <p:pic>
        <p:nvPicPr>
          <p:cNvPr id="4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صورة الخميرة في الكتاب: خلايا صغيرة تبرز من الخلايا الكبيرة.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3" name="nav_f3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٣: أطبق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وضعت خبّازة عجينًا فيه خميرة في مكان دافئ، فزادت خلايا الخميرة. كيف تكاثرت؟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8841" y="1161288"/>
            <a:ext cx="3928797" cy="4992624"/>
          </a:xfrm>
          <a:prstGeom prst="roundRect">
            <a:avLst>
              <a:gd name="adj" fmla="val 2327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97_yea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993" y="1234440"/>
            <a:ext cx="3782493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17126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تتكاثر الخميرة لاجنسيًا بالتبرعم: بروز صغير ينمو على الخلية الأم ثم ينفصل.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راجعي الصورة، ثم جربي السؤال المشابه.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٣: أطبق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الذي يتكوّن على خلية الخميرة الأم في التبرعم؟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بروز صغير (برعم)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جسر بين خليتين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محفظة أبواغ سوداء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٣: أطبق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وضعت خبّازة عجينًا فيه خميرة في مكان دافئ، فزادت خلايا الخميرة. كيف تكاثرت؟</a:t>
            </a:r>
          </a:p>
        </p:txBody>
      </p:sp>
      <p:sp>
        <p:nvSpPr>
          <p:cNvPr id="6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pic>
        <p:nvPicPr>
          <p:cNvPr id="7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تتكاثر الخميرة لاجنسيًا بالتبرعم: بروز صغير ينمو على الخلية الأم ثم ينفصل.</a:t>
            </a:r>
          </a:p>
        </p:txBody>
      </p:sp>
      <p:pic>
        <p:nvPicPr>
          <p:cNvPr id="10" name="Picture 9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8" name="nav_map3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f4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٤: أستنتج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نما عفن على خبز سارة في مكان دافئ رطب، مع أن أحدًا لم يضعه عليه. ما التفسير؟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في الهواء سقطت على الخبز فنمت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الخبز تحوّل وحده إلى عفن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الرطوبة وحدها صنعت العفن</a:t>
            </a:r>
          </a:p>
        </p:txBody>
      </p:sp>
      <p:sp>
        <p:nvSpPr>
          <p:cNvPr id="9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0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1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٤: أستنتج</a:t>
            </a:r>
          </a:p>
        </p:txBody>
      </p:sp>
      <p:pic>
        <p:nvPicPr>
          <p:cNvPr id="4" name="!!guide" descr="guide_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371600"/>
            <a:ext cx="2841331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0" y="1463040"/>
            <a:ext cx="7772400" cy="4206240"/>
          </a:xfrm>
          <a:prstGeom prst="roundRect">
            <a:avLst>
              <a:gd name="adj" fmla="val 5434"/>
            </a:avLst>
          </a:prstGeom>
          <a:solidFill>
            <a:srgbClr val="FFFBEA">
              <a:alpha val="96000"/>
            </a:srgbClr>
          </a:solidFill>
          <a:ln w="19050">
            <a:solidFill>
              <a:srgbClr val="F2D27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164592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164592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فكّري مرة أخرى…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7223760" cy="219456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/>
            <a:r>
              <a:rPr sz="2400" b="1" i="0" lang="ar-SA">
                <a:solidFill>
                  <a:srgbClr val="A06B00"/>
                </a:solidFill>
                <a:latin typeface="Arial"/>
                <a:ea typeface="Arial"/>
                <a:cs typeface="Arial"/>
              </a:rPr>
              <a:t>تلميح: </a:t>
            </a:r>
            <a:r>
              <a:rPr sz="24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تذكّري نتيجة الخطوة الخامسة في نشاط نمو العفن.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4206240" y="4800600"/>
            <a:ext cx="2743200" cy="685800"/>
          </a:xfrm>
          <a:prstGeom prst="roundRect">
            <a:avLst>
              <a:gd name="adj" fmla="val 4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200" b="1" i="0" lang="ar-SA">
                <a:solidFill>
                  <a:srgbClr val="5A3D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8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3" name="nav_f4_try2">
            <a:hlinkClick action="ppaction://hlinksldjump" r:id="rId7"/>
          </p:cNvPr>
          <p:cNvSpPr/>
          <p:nvPr/>
        </p:nvSpPr>
        <p:spPr>
          <a:xfrm>
            <a:off x="4237329" y="6318504"/>
            <a:ext cx="1784908" cy="457200"/>
          </a:xfrm>
          <a:prstGeom prst="roundRect">
            <a:avLst>
              <a:gd name="adj" fmla="val 50000"/>
            </a:avLst>
          </a:prstGeom>
          <a:solidFill>
            <a:srgbClr val="FFF1C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8A5A00"/>
                </a:solidFill>
                <a:latin typeface="Arial"/>
                <a:ea typeface="Arial"/>
                <a:cs typeface="Arial"/>
              </a:rPr>
              <a:t>إعادة المحاولة</a:t>
            </a:r>
          </a:p>
        </p:txBody>
      </p:sp>
    </p:spTree>
  </p:cSld>
  <p:clrMapOvr>
    <a:masterClrMapping/>
  </p:clrMapOvr>
  <p:transition spd="med">
    <p:fade/>
    <p:sndAc>
      <p:stSnd>
        <p:snd r:embed="rId4" name="hint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٤: أستنتج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نما عفن على خبز سارة في مكان دافئ رطب، مع أن أحدًا لم يضعه عليه. ما التفسير؟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548639" y="2606040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في الهواء سقطت على الخبز فنمت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548639" y="3770375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الخبز تحوّل وحده إلى عفن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4934712"/>
            <a:ext cx="11091672" cy="963167"/>
          </a:xfrm>
          <a:prstGeom prst="roundRect">
            <a:avLst>
              <a:gd name="adj" fmla="val 20886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0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الرطوبة وحدها صنعت العفن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المحاولة الثانية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علاجي قصير: لنفهم معًا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7079" y="1161288"/>
            <a:ext cx="3452320" cy="4992624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31750">
            <a:solidFill>
              <a:srgbClr val="9CC3DC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98_tex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231" y="1234440"/>
            <a:ext cx="3306016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978888" y="60350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من الكتاب · ص٩٨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234440"/>
            <a:ext cx="5760720" cy="3794760"/>
          </a:xfrm>
          <a:prstGeom prst="roundRect">
            <a:avLst>
              <a:gd name="adj" fmla="val 6024"/>
            </a:avLst>
          </a:prstGeom>
          <a:solidFill>
            <a:srgbClr val="EEF6FF">
              <a:alpha val="96000"/>
            </a:srgbClr>
          </a:solidFill>
          <a:ln w="19050">
            <a:solidFill>
              <a:srgbClr val="A9CB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80760" y="1325880"/>
            <a:ext cx="5394959" cy="361188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العفن صغيرة جدًا ومنتشرة في الهواء، فإذا سقطت في بيئة مناسبة (دافئة رطبة) نمت.</a:t>
            </a:r>
          </a:p>
          <a:p>
            <a:pPr algn="r" rtl="1">
              <a:spcAft>
                <a:spcPts val="800"/>
              </a:spcAft>
            </a:pP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راجعي الصورة، ثم جربي السؤال المشابه.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8366760" y="5257800"/>
            <a:ext cx="3291840" cy="640080"/>
          </a:xfrm>
          <a:prstGeom prst="roundRect">
            <a:avLst>
              <a:gd name="adj" fmla="val 42857"/>
            </a:avLst>
          </a:prstGeom>
          <a:solidFill>
            <a:srgbClr val="5AA9E6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أجرّب سؤالًا مشابهًا ←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٤: أستنتج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7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ما الذي يحتاج إليه بوغ العفن لينمو على الخبز؟</a:t>
            </a:r>
          </a:p>
        </p:txBody>
      </p:sp>
      <p:sp>
        <p:nvSpPr>
          <p:cNvPr id="6" name="!!opt0">
            <a:hlinkClick action="ppaction://hlinksldjump" r:id="rId4"/>
          </p:cNvPr>
          <p:cNvSpPr/>
          <p:nvPr/>
        </p:nvSpPr>
        <p:spPr>
          <a:xfrm>
            <a:off x="807720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31750">
            <a:solidFill>
              <a:srgbClr val="7FB0E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بيئة دافئة رطبة</a:t>
            </a:r>
          </a:p>
        </p:txBody>
      </p:sp>
      <p:sp>
        <p:nvSpPr>
          <p:cNvPr id="7" name="!!opt1">
            <a:hlinkClick action="ppaction://hlinksldjump" r:id="rId5"/>
          </p:cNvPr>
          <p:cNvSpPr/>
          <p:nvPr/>
        </p:nvSpPr>
        <p:spPr>
          <a:xfrm>
            <a:off x="4312920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FFE3EC"/>
          </a:solidFill>
          <a:ln w="31750">
            <a:solidFill>
              <a:srgbClr val="F29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ب)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ضوء شمس قوي</a:t>
            </a:r>
          </a:p>
        </p:txBody>
      </p:sp>
      <p:sp>
        <p:nvSpPr>
          <p:cNvPr id="8" name="!!opt2">
            <a:hlinkClick action="ppaction://hlinksldjump" r:id="rId5"/>
          </p:cNvPr>
          <p:cNvSpPr/>
          <p:nvPr/>
        </p:nvSpPr>
        <p:spPr>
          <a:xfrm>
            <a:off x="548639" y="2606040"/>
            <a:ext cx="3563112" cy="3520440"/>
          </a:xfrm>
          <a:prstGeom prst="roundRect">
            <a:avLst>
              <a:gd name="adj" fmla="val 5714"/>
            </a:avLst>
          </a:prstGeom>
          <a:solidFill>
            <a:srgbClr val="E2F7E9"/>
          </a:solidFill>
          <a:ln w="31750">
            <a:solidFill>
              <a:srgbClr val="86D3A4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3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ج)  </a:t>
            </a:r>
            <a:r>
              <a:rPr sz="23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برودة شديدة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868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D34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6B4A00"/>
                </a:solidFill>
                <a:latin typeface="Arial"/>
                <a:ea typeface="Arial"/>
                <a:cs typeface="Arial"/>
              </a:rPr>
              <a:t>سؤال مشابه للتحقق</a:t>
            </a:r>
          </a:p>
        </p:txBody>
      </p:sp>
      <p:sp>
        <p:nvSpPr>
          <p:cNvPr id="1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2" name="nav_map3">
            <a:hlinkClick action="ppaction://hlinksldjump" r:id="rId6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</p:spTree>
  </p:cSld>
  <p:clrMapOvr>
    <a:masterClrMapping/>
  </p:clrMapOvr>
  <p:transition spd="med" advClick="0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0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تحدي العالمة الصغيرة · المستوى ٤: أستنتج</a:t>
            </a:r>
          </a:p>
        </p:txBody>
      </p:sp>
      <p:sp>
        <p:nvSpPr>
          <p:cNvPr id="4" name="!!qpanel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19230"/>
            </a:avLst>
          </a:prstGeom>
          <a:solidFill>
            <a:srgbClr val="FFFFFF">
              <a:alpha val="96000"/>
            </a:srgbClr>
          </a:solidFill>
          <a:ln w="1905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prompt"/>
          <p:cNvSpPr txBox="1"/>
          <p:nvPr/>
        </p:nvSpPr>
        <p:spPr>
          <a:xfrm>
            <a:off x="731520" y="1261872"/>
            <a:ext cx="10744200" cy="114300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2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نما عفن على خبز سارة في مكان دافئ رطب، مع أن أحدًا لم يضعه عليه. ما التفسير؟</a:t>
            </a:r>
          </a:p>
        </p:txBody>
      </p:sp>
      <p:sp>
        <p:nvSpPr>
          <p:cNvPr id="6" name="!!opt0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24444"/>
            </a:avLst>
          </a:prstGeom>
          <a:solidFill>
            <a:srgbClr val="2FBF71"/>
          </a:solidFill>
          <a:ln w="31750">
            <a:solidFill>
              <a:srgbClr val="1E8E5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68680" rIns="228600" tIns="228600" bIns="228600"/>
          <a:lstStyle/>
          <a:p>
            <a:pPr algn="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أ)  </a:t>
            </a:r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أبواغ في الهواء سقطت على الخبز فنمت</a:t>
            </a:r>
          </a:p>
        </p:txBody>
      </p:sp>
      <p:pic>
        <p:nvPicPr>
          <p:cNvPr id="7" name="!!tick" descr="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54864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39" y="3520440"/>
            <a:ext cx="11091672" cy="2606040"/>
          </a:xfrm>
          <a:prstGeom prst="roundRect">
            <a:avLst>
              <a:gd name="adj" fmla="val 8771"/>
            </a:avLst>
          </a:prstGeom>
          <a:solidFill>
            <a:srgbClr val="F1FBF5">
              <a:alpha val="96000"/>
            </a:srgbClr>
          </a:solidFill>
          <a:ln w="19050">
            <a:solidFill>
              <a:srgbClr val="9ADBB6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19" y="3566160"/>
            <a:ext cx="10725912" cy="2514600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algn="r" rtl="1">
              <a:spcAft>
                <a:spcPts val="600"/>
              </a:spcAft>
            </a:pPr>
            <a:r>
              <a:rPr sz="24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أحسنتِ يا عالمتي! </a:t>
            </a:r>
          </a:p>
          <a:p>
            <a:pPr algn="r" rtl="1">
              <a:spcAft>
                <a:spcPts val="600"/>
              </a:spcAft>
            </a:pPr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أبواغ العفن صغيرة جدًا ومنتشرة في الهواء، فإذا سقطت في بيئة مناسبة (دافئة رطبة) نمت.</a:t>
            </a:r>
          </a:p>
        </p:txBody>
      </p:sp>
      <p:pic>
        <p:nvPicPr>
          <p:cNvPr id="10" name="Picture 9" descr="ic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548640" cy="548640"/>
          </a:xfrm>
          <a:prstGeom prst="rect">
            <a:avLst/>
          </a:prstGeom>
        </p:spPr>
      </p:pic>
      <p:sp>
        <p:nvSpPr>
          <p:cNvPr id="16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7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18" name="nav_map3">
            <a:hlinkClick action="ppaction://hlinksldjump" r:id="rId7"/>
          </p:cNvPr>
          <p:cNvSpPr/>
          <p:nvPr/>
        </p:nvSpPr>
        <p:spPr>
          <a:xfrm>
            <a:off x="6131966" y="6318504"/>
            <a:ext cx="2216505" cy="457200"/>
          </a:xfrm>
          <a:prstGeom prst="roundRect">
            <a:avLst>
              <a:gd name="adj" fmla="val 50000"/>
            </a:avLst>
          </a:prstGeom>
          <a:solidFill>
            <a:srgbClr val="E3F4FF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1F5F99"/>
                </a:solidFill>
                <a:latin typeface="Arial"/>
                <a:ea typeface="Arial"/>
                <a:cs typeface="Arial"/>
              </a:rPr>
              <a:t>العودة إلى المختبر</a:t>
            </a:r>
          </a:p>
        </p:txBody>
      </p:sp>
      <p:sp>
        <p:nvSpPr>
          <p:cNvPr id="19" name="nav_map4">
            <a:hlinkClick action="ppaction://hlinksldjump" r:id="rId8"/>
          </p:cNvPr>
          <p:cNvSpPr/>
          <p:nvPr/>
        </p:nvSpPr>
        <p:spPr>
          <a:xfrm>
            <a:off x="2618841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900">
        <p159:morph option="byObject"/>
        <p:sndAc>
          <p:stSnd>
            <p:snd r:embed="rId4" name="correct.wav"/>
          </p:stSnd>
        </p:sndAc>
      </p:transition>
    </mc:Choice>
    <mc:Fallback>
      <p:transition spd="slow">
        <p:fade/>
        <p:sndAc>
          <p:stSnd>
            <p:snd r:embed="rId4" name="corr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خريطة المفاهيم المكتملة</a:t>
            </a:r>
          </a:p>
        </p:txBody>
      </p:sp>
      <p:sp>
        <p:nvSpPr>
          <p:cNvPr id="4" name="!!mapscreen"/>
          <p:cNvSpPr/>
          <p:nvPr/>
        </p:nvSpPr>
        <p:spPr>
          <a:xfrm>
            <a:off x="411480" y="1143000"/>
            <a:ext cx="11365992" cy="50292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2B3A55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mapcenter"/>
          <p:cNvSpPr/>
          <p:nvPr/>
        </p:nvSpPr>
        <p:spPr>
          <a:xfrm>
            <a:off x="2651760" y="1325880"/>
            <a:ext cx="6903720" cy="777240"/>
          </a:xfrm>
          <a:prstGeom prst="roundRect">
            <a:avLst>
              <a:gd name="adj" fmla="val 49411"/>
            </a:avLst>
          </a:prstGeom>
          <a:solidFill>
            <a:srgbClr val="23325C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3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كيف تتكاثر المخلوقات الحية الدقيقة؟</a:t>
            </a:r>
          </a:p>
        </p:txBody>
      </p:sp>
      <p:cxnSp>
        <p:nvCxnSpPr>
          <p:cNvPr id="6" name="!!line_p"/>
          <p:cNvCxnSpPr/>
          <p:nvPr/>
        </p:nvCxnSpPr>
        <p:spPr>
          <a:xfrm>
            <a:off x="6099048" y="2103120"/>
            <a:ext cx="370789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br_p">
            <a:hlinkClick action="ppaction://hlinksldjump" r:id="rId4"/>
          </p:cNvPr>
          <p:cNvSpPr/>
          <p:nvPr/>
        </p:nvSpPr>
        <p:spPr>
          <a:xfrm>
            <a:off x="832104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3BB59A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الطلائعيات</a:t>
            </a:r>
          </a:p>
        </p:txBody>
      </p:sp>
      <p:cxnSp>
        <p:nvCxnSpPr>
          <p:cNvPr id="8" name="!!line_f"/>
          <p:cNvCxnSpPr/>
          <p:nvPr/>
        </p:nvCxnSpPr>
        <p:spPr>
          <a:xfrm>
            <a:off x="6099048" y="2103120"/>
            <a:ext cx="4572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br_f">
            <a:hlinkClick action="ppaction://hlinksldjump" r:id="rId5"/>
          </p:cNvPr>
          <p:cNvSpPr/>
          <p:nvPr/>
        </p:nvSpPr>
        <p:spPr>
          <a:xfrm>
            <a:off x="461772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28C28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الفطريات</a:t>
            </a:r>
          </a:p>
        </p:txBody>
      </p:sp>
      <p:cxnSp>
        <p:nvCxnSpPr>
          <p:cNvPr id="10" name="!!line_b"/>
          <p:cNvCxnSpPr/>
          <p:nvPr/>
        </p:nvCxnSpPr>
        <p:spPr>
          <a:xfrm flipH="1">
            <a:off x="2400300" y="2103120"/>
            <a:ext cx="3698748" cy="411480"/>
          </a:xfrm>
          <a:prstGeom prst="line">
            <a:avLst/>
          </a:prstGeom>
          <a:ln w="38100">
            <a:solidFill>
              <a:srgbClr val="9AA8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br_b">
            <a:hlinkClick action="ppaction://hlinksldjump" r:id="rId6"/>
          </p:cNvPr>
          <p:cNvSpPr/>
          <p:nvPr/>
        </p:nvSpPr>
        <p:spPr>
          <a:xfrm>
            <a:off x="914400" y="2514600"/>
            <a:ext cx="2971800" cy="685800"/>
          </a:xfrm>
          <a:prstGeom prst="roundRect">
            <a:avLst>
              <a:gd name="adj" fmla="val 49333"/>
            </a:avLst>
          </a:prstGeom>
          <a:solidFill>
            <a:srgbClr val="FF7AA2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البكتيريا</a:t>
            </a:r>
          </a:p>
        </p:txBody>
      </p:sp>
      <p:sp>
        <p:nvSpPr>
          <p:cNvPr id="12" name="!!card_1_p_1"/>
          <p:cNvSpPr/>
          <p:nvPr/>
        </p:nvSpPr>
        <p:spPr>
          <a:xfrm>
            <a:off x="832104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البراميسيوم</a:t>
            </a:r>
          </a:p>
        </p:txBody>
      </p:sp>
      <p:sp>
        <p:nvSpPr>
          <p:cNvPr id="13" name="!!card_1_p_2"/>
          <p:cNvSpPr/>
          <p:nvPr/>
        </p:nvSpPr>
        <p:spPr>
          <a:xfrm>
            <a:off x="832104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 (جنسي)</a:t>
            </a:r>
          </a:p>
        </p:txBody>
      </p:sp>
      <p:sp>
        <p:nvSpPr>
          <p:cNvPr id="14" name="!!card_1_p_3"/>
          <p:cNvSpPr/>
          <p:nvPr/>
        </p:nvSpPr>
        <p:spPr>
          <a:xfrm>
            <a:off x="8321040" y="52120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D8F5EC"/>
          </a:solidFill>
          <a:ln w="31750">
            <a:solidFill>
              <a:srgbClr val="3BB59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 (البوغيات)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البلازموديوم</a:t>
            </a:r>
          </a:p>
        </p:txBody>
      </p:sp>
      <p:sp>
        <p:nvSpPr>
          <p:cNvPr id="15" name="!!card_2_f_1"/>
          <p:cNvSpPr/>
          <p:nvPr/>
        </p:nvSpPr>
        <p:spPr>
          <a:xfrm>
            <a:off x="461772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التبرعم (لاجنسي)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الخميرة</a:t>
            </a:r>
          </a:p>
        </p:txBody>
      </p:sp>
      <p:sp>
        <p:nvSpPr>
          <p:cNvPr id="16" name="!!card_2_f_2"/>
          <p:cNvSpPr/>
          <p:nvPr/>
        </p:nvSpPr>
        <p:spPr>
          <a:xfrm>
            <a:off x="461772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الأبواغ</a:t>
            </a:r>
          </a:p>
        </p:txBody>
      </p:sp>
      <p:sp>
        <p:nvSpPr>
          <p:cNvPr id="17" name="!!card_2_b_1"/>
          <p:cNvSpPr/>
          <p:nvPr/>
        </p:nvSpPr>
        <p:spPr>
          <a:xfrm>
            <a:off x="914400" y="33832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3EC"/>
          </a:solidFill>
          <a:ln w="3175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مثل إي.كولاي</a:t>
            </a:r>
          </a:p>
        </p:txBody>
      </p:sp>
      <p:sp>
        <p:nvSpPr>
          <p:cNvPr id="18" name="!!card_2_b_2"/>
          <p:cNvSpPr/>
          <p:nvPr/>
        </p:nvSpPr>
        <p:spPr>
          <a:xfrm>
            <a:off x="914400" y="42976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3EC"/>
          </a:solidFill>
          <a:ln w="31750">
            <a:solidFill>
              <a:srgbClr val="FF7AA2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الاقتران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عبر جسر بين خليتين</a:t>
            </a:r>
          </a:p>
        </p:txBody>
      </p:sp>
      <p:sp>
        <p:nvSpPr>
          <p:cNvPr id="19" name="!!card_3_f_3"/>
          <p:cNvSpPr/>
          <p:nvPr/>
        </p:nvSpPr>
        <p:spPr>
          <a:xfrm>
            <a:off x="4617720" y="5212080"/>
            <a:ext cx="2971800" cy="804672"/>
          </a:xfrm>
          <a:prstGeom prst="roundRect">
            <a:avLst>
              <a:gd name="adj" fmla="val 22727"/>
            </a:avLst>
          </a:prstGeom>
          <a:solidFill>
            <a:srgbClr val="FFE9D2"/>
          </a:solidFill>
          <a:ln w="31750">
            <a:solidFill>
              <a:srgbClr val="F28C28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عفن الخبز</a:t>
            </a:r>
          </a:p>
          <a:p>
            <a:pPr algn="ctr" rtl="1"/>
            <a:r>
              <a:rPr sz="15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خيوط فطرية وإنزيمات وأبواغ</a:t>
            </a:r>
          </a:p>
        </p:txBody>
      </p:sp>
      <p:sp>
        <p:nvSpPr>
          <p:cNvPr id="20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21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22" name="nav_blank">
            <a:hlinkClick action="ppaction://hlinksldjump" r:id="rId7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so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"/>
          <p:cNvSpPr txBox="1"/>
          <p:nvPr/>
        </p:nvSpPr>
        <p:spPr>
          <a:xfrm>
            <a:off x="2103120" y="256032"/>
            <a:ext cx="9646920" cy="8686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r" rtl="1"/>
            <a:r>
              <a:rPr sz="34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نشاط ختامي: أكملي الفراغات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234440"/>
            <a:ext cx="786384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١) تتكاثر معظم الطلائعيات بـ …………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07592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الانشطار الثنائي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2221992"/>
            <a:ext cx="786384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٢) تتكاثر الخميرة لاجنسيًا بـ …………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95144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التبرعم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3209544"/>
            <a:ext cx="786384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٣) تتكاثر بعض البكتيريا بـ…… حيث تنتقل المادة الوراثية عبر جسر …………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82696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الاقتران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197096"/>
            <a:ext cx="786384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٤) البقع السوداء أعلى الخيوط الفطرية هي …………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70248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محافظ الأبواغ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5184648"/>
            <a:ext cx="786384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D5E2F0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r" rtl="1"/>
            <a:r>
              <a:rPr sz="2100" b="0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٥) المواد التي تسرّع التفاعلات الكيميائية تُسمّى …………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57800"/>
            <a:ext cx="3108960" cy="694944"/>
          </a:xfrm>
          <a:prstGeom prst="roundRect">
            <a:avLst>
              <a:gd name="adj" fmla="val 50000"/>
            </a:avLst>
          </a:prstGeom>
          <a:solidFill>
            <a:srgbClr val="E2F7E9"/>
          </a:solidFill>
          <a:ln w="25400">
            <a:solidFill>
              <a:srgbClr val="2FBF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100" b="1" i="0" lang="ar-SA">
                <a:solidFill>
                  <a:srgbClr val="1E8E52"/>
                </a:solidFill>
                <a:latin typeface="Arial"/>
                <a:ea typeface="Arial"/>
                <a:cs typeface="Arial"/>
              </a:rPr>
              <a:t>الإنزيمات</a:t>
            </a:r>
          </a:p>
        </p:txBody>
      </p:sp>
      <p:sp>
        <p:nvSpPr>
          <p:cNvPr id="38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39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  <p:sp>
        <p:nvSpPr>
          <p:cNvPr id="40" name="nav_cert">
            <a:hlinkClick action="ppaction://hlinksldjump" r:id="rId4"/>
          </p:cNvPr>
          <p:cNvSpPr/>
          <p:nvPr/>
        </p:nvSpPr>
        <p:spPr>
          <a:xfrm>
            <a:off x="4945075" y="6318504"/>
            <a:ext cx="3403396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>
            <a:noFill/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4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الانتقال إلى المهمة التالية 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" descr="bg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97280" y="411480"/>
            <a:ext cx="9994392" cy="5806440"/>
          </a:xfrm>
          <a:prstGeom prst="roundRect">
            <a:avLst>
              <a:gd name="adj" fmla="val 5511"/>
            </a:avLst>
          </a:prstGeom>
          <a:solidFill>
            <a:srgbClr val="FFFDF5"/>
          </a:solidFill>
          <a:ln w="101600">
            <a:solidFill>
              <a:srgbClr val="FFD34A"/>
            </a:solidFill>
          </a:ln>
          <a:effectLst>
            <a:outerShdw blurRad="190500" dist="50800" dir="5400000" algn="t" rotWithShape="0">
              <a:srgbClr val="2B3A5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371600" y="685800"/>
            <a:ext cx="9445752" cy="5257800"/>
          </a:xfrm>
          <a:prstGeom prst="roundRect">
            <a:avLst>
              <a:gd name="adj" fmla="val 5217"/>
            </a:avLst>
          </a:prstGeom>
          <a:noFill/>
          <a:ln w="25400">
            <a:solidFill>
              <a:srgbClr val="E8C4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c_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777240"/>
            <a:ext cx="128016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011680"/>
            <a:ext cx="9262872" cy="73152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3600" b="1" i="0" lang="ar-SA">
                <a:solidFill>
                  <a:srgbClr val="23325C"/>
                </a:solidFill>
                <a:latin typeface="Arial"/>
                <a:ea typeface="Arial"/>
                <a:cs typeface="Arial"/>
              </a:rPr>
              <a:t>شهادة: عالمة المخلوقات الحية الدقيقة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788920"/>
            <a:ext cx="5056632" cy="59436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25400">
            <a:solidFill>
              <a:srgbClr val="C9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2000" b="0" i="0" lang="ar-SA">
                <a:solidFill>
                  <a:srgbClr val="5D6B82"/>
                </a:solidFill>
                <a:latin typeface="Arial"/>
                <a:ea typeface="Arial"/>
                <a:cs typeface="Arial"/>
              </a:rPr>
              <a:t>اسم الطالبة: ……………………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20440"/>
            <a:ext cx="7498079" cy="132588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مبارك يا عالمتي الصغيرة!</a:t>
            </a:r>
          </a:p>
          <a:p>
            <a:pPr algn="ctr" rtl="1"/>
            <a:r>
              <a:rPr sz="2600" b="1" i="0" lang="ar-SA">
                <a:solidFill>
                  <a:srgbClr val="2B3A55"/>
                </a:solidFill>
                <a:latin typeface="Arial"/>
                <a:ea typeface="Arial"/>
                <a:cs typeface="Arial"/>
              </a:rPr>
              <a:t>لقد اكتشفتِ أسرار تكاثر المخلوقات الحية الدقيقة بنجاح.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892040"/>
            <a:ext cx="8897112" cy="548640"/>
          </a:xfrm>
          <a:prstGeom prst="rect">
            <a:avLst/>
          </a:prstGeom>
          <a:noFill/>
        </p:spPr>
        <p:txBody>
          <a:bodyPr wrap="square" lIns="45720" rIns="45720" anchor="ctr"/>
          <a:lstStyle/>
          <a:p>
            <a:pPr algn="ctr" rtl="1"/>
            <a:r>
              <a:rPr sz="26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pic>
        <p:nvPicPr>
          <p:cNvPr id="10" name="!!guide" descr="guide_che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3246120"/>
            <a:ext cx="1739590" cy="2743200"/>
          </a:xfrm>
          <a:prstGeom prst="rect">
            <a:avLst/>
          </a:prstGeom>
        </p:spPr>
      </p:pic>
      <p:pic>
        <p:nvPicPr>
          <p:cNvPr id="11" name="Picture 10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914400"/>
            <a:ext cx="731520" cy="731520"/>
          </a:xfrm>
          <a:prstGeom prst="rect">
            <a:avLst/>
          </a:prstGeom>
        </p:spPr>
      </p:pic>
      <p:pic>
        <p:nvPicPr>
          <p:cNvPr id="12" name="Picture 11" descr="ic_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914400"/>
            <a:ext cx="731520" cy="731520"/>
          </a:xfrm>
          <a:prstGeom prst="rect">
            <a:avLst/>
          </a:prstGeom>
        </p:spPr>
      </p:pic>
      <p:sp>
        <p:nvSpPr>
          <p:cNvPr id="13" name="!!signature"/>
          <p:cNvSpPr/>
          <p:nvPr/>
        </p:nvSpPr>
        <p:spPr>
          <a:xfrm>
            <a:off x="320040" y="633679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25400">
            <a:solidFill>
              <a:srgbClr val="8E7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700" b="1" i="0" lang="ar-SA">
                <a:solidFill>
                  <a:srgbClr val="5B4BC4"/>
                </a:solidFill>
                <a:latin typeface="Arial"/>
                <a:ea typeface="Arial"/>
                <a:cs typeface="Arial"/>
              </a:rPr>
              <a:t>أ/ شامه البقمي</a:t>
            </a:r>
          </a:p>
        </p:txBody>
      </p:sp>
      <p:sp>
        <p:nvSpPr>
          <p:cNvPr id="14" name="!!stage"/>
          <p:cNvSpPr/>
          <p:nvPr/>
        </p:nvSpPr>
        <p:spPr>
          <a:xfrm>
            <a:off x="8595360" y="6336792"/>
            <a:ext cx="3273552" cy="420624"/>
          </a:xfrm>
          <a:prstGeom prst="roundRect">
            <a:avLst>
              <a:gd name="adj" fmla="val 50000"/>
            </a:avLst>
          </a:prstGeom>
          <a:solidFill>
            <a:srgbClr val="8E7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 rtl="1"/>
            <a:r>
              <a:rPr sz="1500" b="1" i="0" lang="ar-SA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التقويم الختامي</a:t>
            </a:r>
          </a:p>
        </p:txBody>
      </p:sp>
    </p:spTree>
  </p:cSld>
  <p:clrMapOvr>
    <a:masterClrMapping/>
  </p:clrMapOvr>
  <p:transition spd="slow">
    <p:zoom/>
    <p:sndAc>
      <p:stSnd>
        <p:snd r:embed="rId4" name="fanfare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