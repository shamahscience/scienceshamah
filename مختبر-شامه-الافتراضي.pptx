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nd_correct.wav" ContentType="audio/wav"/>
  <Override PartName="/ppt/media/snd_door.wav" ContentType="audio/wav"/>
  <Override PartName="/ppt/media/snd_fanfare.wav" ContentType="audio/wav"/>
  <Override PartName="/ppt/media/snd_hint.wav" ContentType="audio/wav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الغلاف. رحبي بالطالبات وأخبريهن أننا أمام بوابة مختبر علوم افتراضي.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تظهر المرشدة «العالمة نور». اقرئي الترحيب بصوت متحمس.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اقرئي القوانين مع الطالبات بندًا بندًا بالنقر.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مراجعة الدرس السابق (ص٩٤) ببطاقات تُقلب بالنقر، قبل تحديات الرمز السري.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صفحة ٩٥ من الدرس السابق كما هي في الكتاب. اقرئيها مع الطالبات، ثم ننتقل إلى بطاقاتها.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من نص صفحة ٩٥ كما هو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من نص صفحة ٩٥ كما هو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أسئلة صفحة ٩٥ على بطاقات: الوجه سؤال الكتاب، والخلف الإجابة النموذجية. ناقشي الطالبات قبل قلب كل بطاقة.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مراجعة قبلية لدرس الفطريات المجهرية (ص٩٤) وليست شرحًا لمحتوى جديد. كل إجابة صحيحة تكشف رقمًا من الرمز السري.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اكتمل الرمز ٣٥٧. انقري لفتح الباب.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انفتح الباب! انتهت المراجعة القبلية.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فاصل واضح: انتهت المراجعة، ونبدأ الدرس الجديد من صفحة ٩٦. سنعود إلى الفطريات، لكن موضوعنا الآن طرق تكاثرها.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خريطة المفاهيم في بدايتها: ثلاثة فروع، والمفتوح منها فرع الطلائعيات فقط. اضغطي على فرع الطلائعيات أو على زر الانتقال.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اعرضي الصفحة كاملة، ثم انقري لتكبير فقرة الطلائعيات.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البراميسيوم من الكتاب داخل عدسة المجهر. اسألي: ماذا تتوقعين أن يحدث لهذا المخلوق؟ (توقع غير مُقيَّم)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براميسيوم واحد قبل الانقسام. انقري لعرض المرحلة الأولى.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١ (من شكل الكتاب): تضاعف المادة الوراثية، ويستطيل البراميسيوم.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٢: تبدأ الخلية في الانقسام عند المنطقة الوسطى.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٣: 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براميسيوم واحد قبل الانقسام. انقري لعرض المرحلة الأولى.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١ (من شكل الكتاب): تضاعف المادة الوراثية، ويستطيل البراميسيوم.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٢: تبدأ الخلية في الانقسام عند المنطقة الوسطى.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٣: 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استراتيجية فهم قرائي: تضغط الطالبة على العبارة، فتظهر علامة صح أو تلميح.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المهمة الثانية من صيد الدليل.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بعد الحركة البطيئة اختاري السؤال المشابه المناسب.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الاقتران عملية جنسية. اللونان الأزرق والوردي يمثلان المادة الوراثية لكل مخلوق.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تلتحم المخلوقات.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تتبادل المادة الوراثية (انتقل جزء من الأزرق والوردي).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تنفصل المخلوقات.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ينقسم كل منها بالانشطار الثنائي.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سريع من مفهوم الاقتران.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البوغ: مادة وراثية داخل غشاء يحميها.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تتحمل الأبواغ الظروف القاسية.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عندما تتهيأ ظروف مناسبة لنموها فإنها تنمو.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من مفهوم الأبواغ.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انقري لكشف الأعمدة واحدًا تلو الآخر، واطلبي من الطالبات التوقع قبل الكشف.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تصنيف: تختار الطالبة السلة المناسبة.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تصنيف: تختار الطالبة السلة المناسبة.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بطاقات الطلائعيات، وفُتح فرع الفطريات. اضغطي عليه للانتقال إلى ص٩٧.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اعرضي الصفحة كاملة، ثم انقري لتكبير فقرة الفطريات.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الخميرة من الكتاب. اسألي: لاحظي الخلايا الصغيرة الملتصقة بالخلايا الكبيرة، ماذا تتوقعين أن تكون؟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خميرة أم. انقري لعرض الخطوات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يتكوّن البرعم بنمو بروز صغير على الخلية الأم.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تنقسم نواة الخلية الأم انقسامًا متساويًا، وينتج عن ذلك نواتان متماثلتان في كروموسوماتهما.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تصبح إحدى هاتين النواتين جزءًا من البرعم النامي.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ينفصل البرعم، ويصبح مخلوقًا حيًا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خميرة أم. انقري لعرض الخطوات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يتكوّن البرعم بنمو بروز صغير على الخلية الأم.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تنقسم نواة الخلية الأم انقسامًا متساويًا، وينتج عن ذلك نواتان متماثلتان في كروموسوماتهما.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تصبح إحدى هاتين النواتين جزءًا من البرعم النامي.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ينفصل البرعم، ويصبح مخلوقًا حيًا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ذكرية (زرقاء) وخلية أنثوية (وردية).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تندمج الخلايا الذكرية مع الخلايا الأنثوية لتبادل المادة الوراثية.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إنتاج الأبواغ، وتُحفظ داخل غلاف.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ثم تنتشر منه.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فإذا سقطت في بيئة مناسبة لنموها فإنها تنمو وتنتج فطرًا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بكتيريا عصوية. «تتكاثر معظم البكتيريا بالانشطار الثنائي، ومنها بكتيريا (إي.كولاي) التي تعيش في أمعاء الإنسان».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تتضاعف المادة الوراثية.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تبدأ الخلية في الانقسام.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المجهر الإلكتروني من الكتاب. سؤال قراءة صورة من تصميم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خليتان من البكتيريا.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تتصل خليتان معًا عبر جسر.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تنتقل المادة الوراثية من إحداهما إلى الأخرى.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تنفصل الخليتان إحداهما عن الأخرى.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وتنقسمان.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مخطط فن يُكشف بالنقر، ثم سؤال استنتاجي.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مقارنة.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«أختبر نفسي»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نقاش مفتوح، ثم إظهار الإجابة النموذجية.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سريع بعد التفكير الناقد.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بطاقات الفطريات والبكتيريا. ننتقل الآن إلى طاولة التجارب في ص٩٨.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صندوق النشاط من الكتاب. سنحوّله إلى تجربة على طاولة المختبر.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اضغطي على كل أداة: الأداة الصحيحة تظهر عليها علامة ✔، والخاطئة تُظهر تنبيهًا. الأدوات الصحيحة: خبز، ماء، كيس ذاتي الغلق، عدسة مكبرة.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نص الخطوة الأولى من الكتاب. ثم توقع غير مُقيَّم: ماذا سيحدث للخبز بعد عدة أيام؟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انقري لتمرير الأيام. الرسم توضيحي، وبعده نقارن بالصورة الحقيقية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العفن الحقيقية من الكتاب مع تعليقها الأصلي. ⚠ أحذر: لا أفتح الكيس.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سلامة مرتبط بتحذير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اضغطي على المكان المناسب في الصورة. محافظ الأبواغ: البقع السوداء. الخيوط الفطرية: الخيوط البيضاء الرفيعة.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«ماذا يحدث لو؟» من تصميم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استخلاص الاستنتاج.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رسم توضيحي يُكشف جزءًا بعد جزء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خيط فطري (يسار) وقطع طعام كبيرة (يمين). البنفسجي = إنزيمات.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«وتفرز هذه الخيوط مواد كيميائية… بروتينات تسمى إنزيمات».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«ويسبب الإنزيم تسريع حدوث التفاعلات الكيميائية»، فيتحلل الطعام إلى مواد بسيطة.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«تسهل امتصاص المواد الغذائية».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استراتيجية «أقرأ وأستدل».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«أختبر نفسي»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نقاش مفتوح، ثم إظهار الإجابة النموذجية.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بطاقة عفن الخبز. ننتقل إلى «تحدي العالمة الصغيرة».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مفردات الدرس تُقلب بالنقر قبل التحدي الختامي.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أربعة مستويات متدرجة: أتذكر، أفهم، أطبق،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الخريطة مكتملة بكل بطاقاتها. راجعيها مع الطالبات بالإشارة إلى كل فرع.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تكمل الطالبات شفهيًا أو على السبورة، ثم انقري لإظهار كل 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الشهادة الافتراضية. اكتبي اسم الطالبة في الخانة.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13.jpg"/><Relationship Id="rId5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Relationship Id="rId7" Type="http://schemas.openxmlformats.org/officeDocument/2006/relationships/image" Target="../media/image17.jpg"/><Relationship Id="rId8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Relationship Id="rId4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Relationship Id="rId4" Type="http://schemas.openxmlformats.org/officeDocument/2006/relationships/image" Target="../media/image18.jpg"/><Relationship Id="rId5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image19.png"/><Relationship Id="rId9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Relationship Id="rId4" Type="http://schemas.openxmlformats.org/officeDocument/2006/relationships/slide" Target="slide11.xml"/><Relationship Id="rId5" Type="http://schemas.openxmlformats.org/officeDocument/2006/relationships/slide" Target="slide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slide" Target="slide13.xml"/><Relationship Id="rId5" Type="http://schemas.openxmlformats.org/officeDocument/2006/relationships/slide" Target="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Relationship Id="rId4" Type="http://schemas.openxmlformats.org/officeDocument/2006/relationships/image" Target="../media/image21.jpg"/><Relationship Id="rId5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slide" Target="slide15.xml"/><Relationship Id="rId5" Type="http://schemas.openxmlformats.org/officeDocument/2006/relationships/slide" Target="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21.jpg"/><Relationship Id="rId7" Type="http://schemas.openxmlformats.org/officeDocument/2006/relationships/image" Target="../media/image9.png"/><Relationship Id="rId8" Type="http://schemas.openxmlformats.org/officeDocument/2006/relationships/image" Target="../media/image19.png"/><Relationship Id="rId9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jpg"/><Relationship Id="rId4" Type="http://schemas.openxmlformats.org/officeDocument/2006/relationships/slide" Target="slide17.xml"/><Relationship Id="rId5" Type="http://schemas.openxmlformats.org/officeDocument/2006/relationships/slide" Target="slide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Relationship Id="rId4" Type="http://schemas.openxmlformats.org/officeDocument/2006/relationships/slide" Target="slide19.xml"/><Relationship Id="rId5" Type="http://schemas.openxmlformats.org/officeDocument/2006/relationships/slide" Target="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jpg"/><Relationship Id="rId4" Type="http://schemas.openxmlformats.org/officeDocument/2006/relationships/image" Target="../media/image21.jpg"/><Relationship Id="rId5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jpg"/><Relationship Id="rId4" Type="http://schemas.openxmlformats.org/officeDocument/2006/relationships/slide" Target="slide19.xml"/><Relationship Id="rId5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21.jpg"/><Relationship Id="rId7" Type="http://schemas.openxmlformats.org/officeDocument/2006/relationships/image" Target="../media/image9.png"/><Relationship Id="rId8" Type="http://schemas.openxmlformats.org/officeDocument/2006/relationships/image" Target="../media/image19.png"/><Relationship Id="rId9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Relationship Id="rId4" Type="http://schemas.openxmlformats.org/officeDocument/2006/relationships/image" Target="../media/image22.jpg"/><Relationship Id="rId5" Type="http://schemas.openxmlformats.org/officeDocument/2006/relationships/slide" Target="slide23.xml"/><Relationship Id="rId6" Type="http://schemas.openxmlformats.org/officeDocument/2006/relationships/slide" Target="slide2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Relationship Id="rId4" Type="http://schemas.openxmlformats.org/officeDocument/2006/relationships/image" Target="../media/image22.jpg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jpg"/><Relationship Id="rId4" Type="http://schemas.openxmlformats.org/officeDocument/2006/relationships/image" Target="../media/image22.jpg"/><Relationship Id="rId5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jpg"/><Relationship Id="rId4" Type="http://schemas.openxmlformats.org/officeDocument/2006/relationships/slide" Target="slide27.xml"/><Relationship Id="rId5" Type="http://schemas.openxmlformats.org/officeDocument/2006/relationships/slide" Target="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23.jpg"/><Relationship Id="rId7" Type="http://schemas.openxmlformats.org/officeDocument/2006/relationships/image" Target="../media/image9.png"/><Relationship Id="rId8" Type="http://schemas.openxmlformats.org/officeDocument/2006/relationships/image" Target="../media/image24.png"/><Relationship Id="rId9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jpg"/><Relationship Id="rId4" Type="http://schemas.openxmlformats.org/officeDocument/2006/relationships/audio" Target="../media/snd_door.wav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jpg"/><Relationship Id="rId4" Type="http://schemas.openxmlformats.org/officeDocument/2006/relationships/audio" Target="../media/snd_fanfare.wav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25.png"/><Relationship Id="rId9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.jpg"/><Relationship Id="rId4" Type="http://schemas.openxmlformats.org/officeDocument/2006/relationships/image" Target="../media/image26.jpg"/><Relationship Id="rId5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jpg"/><Relationship Id="rId4" Type="http://schemas.openxmlformats.org/officeDocument/2006/relationships/image" Target="../media/image19.png"/><Relationship Id="rId5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7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slide" Target="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29.jpg"/><Relationship Id="rId6" Type="http://schemas.openxmlformats.org/officeDocument/2006/relationships/slide" Target="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4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6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3.xml"/><Relationship Id="rId6" Type="http://schemas.openxmlformats.org/officeDocument/2006/relationships/slide" Target="slide47.xml"/><Relationship Id="rId7" Type="http://schemas.openxmlformats.org/officeDocument/2006/relationships/slide" Target="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44.xml"/><Relationship Id="rId8" Type="http://schemas.openxmlformats.org/officeDocument/2006/relationships/slide" Target="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5.xml"/><Relationship Id="rId6" Type="http://schemas.openxmlformats.org/officeDocument/2006/relationships/slide" Target="slide47.xml"/><Relationship Id="rId7" Type="http://schemas.openxmlformats.org/officeDocument/2006/relationships/slide" Target="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6.xml"/><Relationship Id="rId6" Type="http://schemas.openxmlformats.org/officeDocument/2006/relationships/slide" Target="slide38.xml"/><Relationship Id="rId7" Type="http://schemas.openxmlformats.org/officeDocument/2006/relationships/slide" Target="slide3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7.jpg"/><Relationship Id="rId4" Type="http://schemas.openxmlformats.org/officeDocument/2006/relationships/slide" Target="slide45.xml"/><Relationship Id="rId5" Type="http://schemas.openxmlformats.org/officeDocument/2006/relationships/slide" Target="slide47.xml"/><Relationship Id="rId6" Type="http://schemas.openxmlformats.org/officeDocument/2006/relationships/slide" Target="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1.xml"/><Relationship Id="rId8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31.xml"/><Relationship Id="rId8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31.xml"/><Relationship Id="rId8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.jpg"/><Relationship Id="rId4" Type="http://schemas.openxmlformats.org/officeDocument/2006/relationships/image" Target="../media/image32.png"/><Relationship Id="rId5" Type="http://schemas.openxmlformats.org/officeDocument/2006/relationships/slide" Target="slide54.xml"/><Relationship Id="rId6" Type="http://schemas.openxmlformats.org/officeDocument/2006/relationships/slide" Target="slide51.xml"/><Relationship Id="rId7" Type="http://schemas.openxmlformats.org/officeDocument/2006/relationships/slide" Target="slide3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52.xml"/><Relationship Id="rId7" Type="http://schemas.openxmlformats.org/officeDocument/2006/relationships/slide" Target="slide55.xml"/><Relationship Id="rId8" Type="http://schemas.openxmlformats.org/officeDocument/2006/relationships/slide" Target="slide3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53.xml"/><Relationship Id="rId7" Type="http://schemas.openxmlformats.org/officeDocument/2006/relationships/slide" Target="slide3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31.xml"/><Relationship Id="rId7" Type="http://schemas.openxmlformats.org/officeDocument/2006/relationships/slide" Target="slide5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50.xml"/><Relationship Id="rId8" Type="http://schemas.openxmlformats.org/officeDocument/2006/relationships/slide" Target="slide3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51.xml"/><Relationship Id="rId8" Type="http://schemas.openxmlformats.org/officeDocument/2006/relationships/slide" Target="slide3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7.jpg"/><Relationship Id="rId4" Type="http://schemas.openxmlformats.org/officeDocument/2006/relationships/slide" Target="slide61.xml"/><Relationship Id="rId5" Type="http://schemas.openxmlformats.org/officeDocument/2006/relationships/slide" Target="slide57.xml"/><Relationship Id="rId6" Type="http://schemas.openxmlformats.org/officeDocument/2006/relationships/slide" Target="slide3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58.xml"/><Relationship Id="rId8" Type="http://schemas.openxmlformats.org/officeDocument/2006/relationships/slide" Target="slide3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7.jpg"/><Relationship Id="rId4" Type="http://schemas.openxmlformats.org/officeDocument/2006/relationships/slide" Target="slide61.xml"/><Relationship Id="rId5" Type="http://schemas.openxmlformats.org/officeDocument/2006/relationships/slide" Target="slide59.xml"/><Relationship Id="rId6" Type="http://schemas.openxmlformats.org/officeDocument/2006/relationships/slide" Target="slide3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60.xml"/><Relationship Id="rId6" Type="http://schemas.openxmlformats.org/officeDocument/2006/relationships/slide" Target="slide38.xml"/><Relationship Id="rId7" Type="http://schemas.openxmlformats.org/officeDocument/2006/relationships/slide" Target="slide3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7.jpg"/><Relationship Id="rId4" Type="http://schemas.openxmlformats.org/officeDocument/2006/relationships/slide" Target="slide61.xml"/><Relationship Id="rId5" Type="http://schemas.openxmlformats.org/officeDocument/2006/relationships/slide" Target="slide59.xml"/><Relationship Id="rId6" Type="http://schemas.openxmlformats.org/officeDocument/2006/relationships/slide" Target="slide3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1.xml"/><Relationship Id="rId8" Type="http://schemas.openxmlformats.org/officeDocument/2006/relationships/slide" Target="slide6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7.jpg"/><Relationship Id="rId4" Type="http://schemas.openxmlformats.org/officeDocument/2006/relationships/image" Target="../media/image12.png"/><Relationship Id="rId5" Type="http://schemas.openxmlformats.org/officeDocument/2006/relationships/slide" Target="slide46.xml"/><Relationship Id="rId6" Type="http://schemas.openxmlformats.org/officeDocument/2006/relationships/slide" Target="slide60.xml"/><Relationship Id="rId7" Type="http://schemas.openxmlformats.org/officeDocument/2006/relationships/slide" Target="slide3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7.jpg"/><Relationship Id="rId4" Type="http://schemas.openxmlformats.org/officeDocument/2006/relationships/slide" Target="slide70.xml"/><Relationship Id="rId5" Type="http://schemas.openxmlformats.org/officeDocument/2006/relationships/slide" Target="slide69.xml"/><Relationship Id="rId6" Type="http://schemas.openxmlformats.org/officeDocument/2006/relationships/slide" Target="slide3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68.xml"/><Relationship Id="rId8" Type="http://schemas.openxmlformats.org/officeDocument/2006/relationships/slide" Target="slide3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3.jpg"/><Relationship Id="rId7" Type="http://schemas.openxmlformats.org/officeDocument/2006/relationships/image" Target="../media/image9.png"/><Relationship Id="rId8" Type="http://schemas.openxmlformats.org/officeDocument/2006/relationships/slide" Target="slide31.xml"/><Relationship Id="rId9" Type="http://schemas.openxmlformats.org/officeDocument/2006/relationships/slide" Target="slide7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7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7.jpg"/><Relationship Id="rId4" Type="http://schemas.openxmlformats.org/officeDocument/2006/relationships/slide" Target="slide76.xml"/><Relationship Id="rId5" Type="http://schemas.openxmlformats.org/officeDocument/2006/relationships/slide" Target="slide75.xml"/><Relationship Id="rId6" Type="http://schemas.openxmlformats.org/officeDocument/2006/relationships/slide" Target="slide3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74.xml"/><Relationship Id="rId8" Type="http://schemas.openxmlformats.org/officeDocument/2006/relationships/slide" Target="slide3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4.jpg"/><Relationship Id="rId7" Type="http://schemas.openxmlformats.org/officeDocument/2006/relationships/image" Target="../media/image9.png"/><Relationship Id="rId8" Type="http://schemas.openxmlformats.org/officeDocument/2006/relationships/slide" Target="slide31.xml"/><Relationship Id="rId9" Type="http://schemas.openxmlformats.org/officeDocument/2006/relationships/slide" Target="slide7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7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7.jpg"/><Relationship Id="rId4" Type="http://schemas.openxmlformats.org/officeDocument/2006/relationships/slide" Target="slide79.xml"/><Relationship Id="rId5" Type="http://schemas.openxmlformats.org/officeDocument/2006/relationships/slide" Target="slide80.xml"/><Relationship Id="rId6" Type="http://schemas.openxmlformats.org/officeDocument/2006/relationships/slide" Target="slide3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78.xml"/><Relationship Id="rId8" Type="http://schemas.openxmlformats.org/officeDocument/2006/relationships/slide" Target="slide3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1.xml"/><Relationship Id="rId8" Type="http://schemas.openxmlformats.org/officeDocument/2006/relationships/slide" Target="slide8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7.jpg"/><Relationship Id="rId4" Type="http://schemas.openxmlformats.org/officeDocument/2006/relationships/slide" Target="slide82.xml"/><Relationship Id="rId5" Type="http://schemas.openxmlformats.org/officeDocument/2006/relationships/slide" Target="slide83.xml"/><Relationship Id="rId6" Type="http://schemas.openxmlformats.org/officeDocument/2006/relationships/slide" Target="slide3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81.xml"/><Relationship Id="rId8" Type="http://schemas.openxmlformats.org/officeDocument/2006/relationships/slide" Target="slide3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1.xml"/><Relationship Id="rId8" Type="http://schemas.openxmlformats.org/officeDocument/2006/relationships/slide" Target="slide8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1.jpg"/><Relationship Id="rId4" Type="http://schemas.openxmlformats.org/officeDocument/2006/relationships/image" Target="../media/image19.png"/><Relationship Id="rId5" Type="http://schemas.openxmlformats.org/officeDocument/2006/relationships/slide" Target="slide32.xml"/><Relationship Id="rId6" Type="http://schemas.openxmlformats.org/officeDocument/2006/relationships/slide" Target="slide8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7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slide" Target="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37.jpg"/><Relationship Id="rId6" Type="http://schemas.openxmlformats.org/officeDocument/2006/relationships/slide" Target="slide8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3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2.png"/><Relationship Id="rId4" Type="http://schemas.openxmlformats.org/officeDocument/2006/relationships/slide" Target="slide132.xml"/><Relationship Id="rId5" Type="http://schemas.openxmlformats.org/officeDocument/2006/relationships/slide" Target="slide8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103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10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7.jpg"/><Relationship Id="rId4" Type="http://schemas.openxmlformats.org/officeDocument/2006/relationships/image" Target="../media/image38.jpg"/><Relationship Id="rId5" Type="http://schemas.openxmlformats.org/officeDocument/2006/relationships/slide" Target="slide109.xml"/><Relationship Id="rId6" Type="http://schemas.openxmlformats.org/officeDocument/2006/relationships/slide" Target="slide108.xml"/><Relationship Id="rId7" Type="http://schemas.openxmlformats.org/officeDocument/2006/relationships/slide" Target="slide84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07.xml"/><Relationship Id="rId8" Type="http://schemas.openxmlformats.org/officeDocument/2006/relationships/slide" Target="slide8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9.jpg"/><Relationship Id="rId7" Type="http://schemas.openxmlformats.org/officeDocument/2006/relationships/image" Target="../media/image9.png"/><Relationship Id="rId8" Type="http://schemas.openxmlformats.org/officeDocument/2006/relationships/slide" Target="slide84.xml"/><Relationship Id="rId9" Type="http://schemas.openxmlformats.org/officeDocument/2006/relationships/slide" Target="slide110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115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7.jpg"/><Relationship Id="rId4" Type="http://schemas.openxmlformats.org/officeDocument/2006/relationships/slide" Target="slide116.xml"/><Relationship Id="rId5" Type="http://schemas.openxmlformats.org/officeDocument/2006/relationships/slide" Target="slide84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7.jpg"/><Relationship Id="rId4" Type="http://schemas.openxmlformats.org/officeDocument/2006/relationships/slide" Target="slide118.xml"/><Relationship Id="rId5" Type="http://schemas.openxmlformats.org/officeDocument/2006/relationships/slide" Target="slide117.xml"/><Relationship Id="rId6" Type="http://schemas.openxmlformats.org/officeDocument/2006/relationships/slide" Target="slide84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16.xml"/><Relationship Id="rId8" Type="http://schemas.openxmlformats.org/officeDocument/2006/relationships/slide" Target="slide84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19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20.xml"/><Relationship Id="rId6" Type="http://schemas.openxmlformats.org/officeDocument/2006/relationships/slide" Target="slide121.xml"/><Relationship Id="rId7" Type="http://schemas.openxmlformats.org/officeDocument/2006/relationships/slide" Target="slide8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19.xml"/><Relationship Id="rId8" Type="http://schemas.openxmlformats.org/officeDocument/2006/relationships/slide" Target="slide84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2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7.jpg"/><Relationship Id="rId4" Type="http://schemas.openxmlformats.org/officeDocument/2006/relationships/image" Target="../media/image29.jpg"/><Relationship Id="rId5" Type="http://schemas.openxmlformats.org/officeDocument/2006/relationships/slide" Target="slide124.xml"/><Relationship Id="rId6" Type="http://schemas.openxmlformats.org/officeDocument/2006/relationships/slide" Target="slide123.xml"/><Relationship Id="rId7" Type="http://schemas.openxmlformats.org/officeDocument/2006/relationships/slide" Target="slide84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22.xml"/><Relationship Id="rId8" Type="http://schemas.openxmlformats.org/officeDocument/2006/relationships/slide" Target="slide84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25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7.jpg"/><Relationship Id="rId4" Type="http://schemas.openxmlformats.org/officeDocument/2006/relationships/image" Target="../media/image40.png"/><Relationship Id="rId5" Type="http://schemas.openxmlformats.org/officeDocument/2006/relationships/slide" Target="slide126.xml"/><Relationship Id="rId6" Type="http://schemas.openxmlformats.org/officeDocument/2006/relationships/slide" Target="slide127.xml"/><Relationship Id="rId7" Type="http://schemas.openxmlformats.org/officeDocument/2006/relationships/slide" Target="slide84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25.xml"/><Relationship Id="rId8" Type="http://schemas.openxmlformats.org/officeDocument/2006/relationships/slide" Target="slide84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28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7.jpg"/><Relationship Id="rId4" Type="http://schemas.openxmlformats.org/officeDocument/2006/relationships/slide" Target="slide129.xml"/><Relationship Id="rId5" Type="http://schemas.openxmlformats.org/officeDocument/2006/relationships/slide" Target="slide133.xml"/><Relationship Id="rId6" Type="http://schemas.openxmlformats.org/officeDocument/2006/relationships/slide" Target="slide8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30.xml"/><Relationship Id="rId8" Type="http://schemas.openxmlformats.org/officeDocument/2006/relationships/slide" Target="slide84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7.jpg"/><Relationship Id="rId4" Type="http://schemas.openxmlformats.org/officeDocument/2006/relationships/slide" Target="slide131.xml"/><Relationship Id="rId5" Type="http://schemas.openxmlformats.org/officeDocument/2006/relationships/slide" Target="slide133.xml"/><Relationship Id="rId6" Type="http://schemas.openxmlformats.org/officeDocument/2006/relationships/slide" Target="slide8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32.xml"/><Relationship Id="rId6" Type="http://schemas.openxmlformats.org/officeDocument/2006/relationships/slide" Target="slide92.xml"/><Relationship Id="rId7" Type="http://schemas.openxmlformats.org/officeDocument/2006/relationships/slide" Target="slide84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7.jpg"/><Relationship Id="rId4" Type="http://schemas.openxmlformats.org/officeDocument/2006/relationships/slide" Target="slide133.xml"/><Relationship Id="rId5" Type="http://schemas.openxmlformats.org/officeDocument/2006/relationships/slide" Target="slide131.xml"/><Relationship Id="rId6" Type="http://schemas.openxmlformats.org/officeDocument/2006/relationships/slide" Target="slide84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34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7.jpg"/><Relationship Id="rId4" Type="http://schemas.openxmlformats.org/officeDocument/2006/relationships/image" Target="../media/image41.jpg"/><Relationship Id="rId5" Type="http://schemas.openxmlformats.org/officeDocument/2006/relationships/slide" Target="slide136.xml"/><Relationship Id="rId6" Type="http://schemas.openxmlformats.org/officeDocument/2006/relationships/slide" Target="slide135.xml"/><Relationship Id="rId7" Type="http://schemas.openxmlformats.org/officeDocument/2006/relationships/slide" Target="slide8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34.xml"/><Relationship Id="rId8" Type="http://schemas.openxmlformats.org/officeDocument/2006/relationships/slide" Target="slide84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3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7.jpg"/><Relationship Id="rId4" Type="http://schemas.openxmlformats.org/officeDocument/2006/relationships/image" Target="../media/image41.jpg"/><Relationship Id="rId5" Type="http://schemas.openxmlformats.org/officeDocument/2006/relationships/slide" Target="slide84.xml"/><Relationship Id="rId6" Type="http://schemas.openxmlformats.org/officeDocument/2006/relationships/slide" Target="slide138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7.jpg"/><Relationship Id="rId4" Type="http://schemas.openxmlformats.org/officeDocument/2006/relationships/slide" Target="slide139.xml"/><Relationship Id="rId5" Type="http://schemas.openxmlformats.org/officeDocument/2006/relationships/slide" Target="slide140.xml"/><Relationship Id="rId6" Type="http://schemas.openxmlformats.org/officeDocument/2006/relationships/slide" Target="slide84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38.xml"/><Relationship Id="rId8" Type="http://schemas.openxmlformats.org/officeDocument/2006/relationships/slide" Target="slide84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41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.jpg"/><Relationship Id="rId4" Type="http://schemas.openxmlformats.org/officeDocument/2006/relationships/slide" Target="slide32.xml"/><Relationship Id="rId5" Type="http://schemas.openxmlformats.org/officeDocument/2006/relationships/slide" Target="slide85.xml"/><Relationship Id="rId6" Type="http://schemas.openxmlformats.org/officeDocument/2006/relationships/slide" Target="slide103.xml"/><Relationship Id="rId7" Type="http://schemas.openxmlformats.org/officeDocument/2006/relationships/slide" Target="slide14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7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slide" Target="slide141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7.jp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11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31.png"/><Relationship Id="rId12" Type="http://schemas.openxmlformats.org/officeDocument/2006/relationships/image" Target="../media/image50.png"/><Relationship Id="rId13" Type="http://schemas.openxmlformats.org/officeDocument/2006/relationships/image" Target="../media/image51.png"/><Relationship Id="rId14" Type="http://schemas.openxmlformats.org/officeDocument/2006/relationships/slide" Target="slide141.xml"/><Relationship Id="rId15" Type="http://schemas.openxmlformats.org/officeDocument/2006/relationships/slide" Target="slide144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Relationship Id="rId3" Type="http://schemas.openxmlformats.org/officeDocument/2006/relationships/image" Target="../media/image7.jp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slide" Target="slide141.xml"/><Relationship Id="rId7" Type="http://schemas.openxmlformats.org/officeDocument/2006/relationships/slide" Target="slide145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Relationship Id="rId3" Type="http://schemas.openxmlformats.org/officeDocument/2006/relationships/image" Target="../media/image7.jp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slide" Target="slide141.xml"/><Relationship Id="rId10" Type="http://schemas.openxmlformats.org/officeDocument/2006/relationships/slide" Target="slide146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Relationship Id="rId3" Type="http://schemas.openxmlformats.org/officeDocument/2006/relationships/image" Target="../media/image7.jpg"/><Relationship Id="rId4" Type="http://schemas.openxmlformats.org/officeDocument/2006/relationships/image" Target="../media/image57.jpg"/><Relationship Id="rId5" Type="http://schemas.openxmlformats.org/officeDocument/2006/relationships/image" Target="../media/image48.png"/><Relationship Id="rId6" Type="http://schemas.openxmlformats.org/officeDocument/2006/relationships/slide" Target="slide141.xml"/><Relationship Id="rId7" Type="http://schemas.openxmlformats.org/officeDocument/2006/relationships/slide" Target="slide14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7.jpg"/><Relationship Id="rId4" Type="http://schemas.openxmlformats.org/officeDocument/2006/relationships/slide" Target="slide149.xml"/><Relationship Id="rId5" Type="http://schemas.openxmlformats.org/officeDocument/2006/relationships/slide" Target="slide148.xml"/><Relationship Id="rId6" Type="http://schemas.openxmlformats.org/officeDocument/2006/relationships/slide" Target="slide141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47.xml"/><Relationship Id="rId8" Type="http://schemas.openxmlformats.org/officeDocument/2006/relationships/slide" Target="slide141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50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7.jpg"/><Relationship Id="rId4" Type="http://schemas.openxmlformats.org/officeDocument/2006/relationships/image" Target="../media/image57.jpg"/><Relationship Id="rId5" Type="http://schemas.openxmlformats.org/officeDocument/2006/relationships/slide" Target="slide141.xml"/><Relationship Id="rId6" Type="http://schemas.openxmlformats.org/officeDocument/2006/relationships/slide" Target="slide151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56.xml"/><Relationship Id="rId6" Type="http://schemas.openxmlformats.org/officeDocument/2006/relationships/slide" Target="slide152.xml"/><Relationship Id="rId7" Type="http://schemas.openxmlformats.org/officeDocument/2006/relationships/slide" Target="slide14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53.xml"/><Relationship Id="rId8" Type="http://schemas.openxmlformats.org/officeDocument/2006/relationships/slide" Target="slide141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56.xml"/><Relationship Id="rId6" Type="http://schemas.openxmlformats.org/officeDocument/2006/relationships/slide" Target="slide154.xml"/><Relationship Id="rId7" Type="http://schemas.openxmlformats.org/officeDocument/2006/relationships/slide" Target="slide141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55.xml"/><Relationship Id="rId6" Type="http://schemas.openxmlformats.org/officeDocument/2006/relationships/slide" Target="slide141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.jpg"/><Relationship Id="rId4" Type="http://schemas.openxmlformats.org/officeDocument/2006/relationships/slide" Target="slide156.xml"/><Relationship Id="rId5" Type="http://schemas.openxmlformats.org/officeDocument/2006/relationships/slide" Target="slide154.xml"/><Relationship Id="rId6" Type="http://schemas.openxmlformats.org/officeDocument/2006/relationships/slide" Target="slide141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5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62.xml"/><Relationship Id="rId6" Type="http://schemas.openxmlformats.org/officeDocument/2006/relationships/slide" Target="slide158.xml"/><Relationship Id="rId7" Type="http://schemas.openxmlformats.org/officeDocument/2006/relationships/slide" Target="slide141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59.xml"/><Relationship Id="rId8" Type="http://schemas.openxmlformats.org/officeDocument/2006/relationships/slide" Target="slide141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62.xml"/><Relationship Id="rId6" Type="http://schemas.openxmlformats.org/officeDocument/2006/relationships/slide" Target="slide160.xml"/><Relationship Id="rId7" Type="http://schemas.openxmlformats.org/officeDocument/2006/relationships/slide" Target="slide141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61.xml"/><Relationship Id="rId6" Type="http://schemas.openxmlformats.org/officeDocument/2006/relationships/slide" Target="slide141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.jpg"/><Relationship Id="rId4" Type="http://schemas.openxmlformats.org/officeDocument/2006/relationships/slide" Target="slide162.xml"/><Relationship Id="rId5" Type="http://schemas.openxmlformats.org/officeDocument/2006/relationships/slide" Target="slide160.xml"/><Relationship Id="rId6" Type="http://schemas.openxmlformats.org/officeDocument/2006/relationships/slide" Target="slide14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63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7.jpg"/><Relationship Id="rId4" Type="http://schemas.openxmlformats.org/officeDocument/2006/relationships/slide" Target="slide165.xml"/><Relationship Id="rId5" Type="http://schemas.openxmlformats.org/officeDocument/2006/relationships/slide" Target="slide164.xml"/><Relationship Id="rId6" Type="http://schemas.openxmlformats.org/officeDocument/2006/relationships/slide" Target="slide141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63.xml"/><Relationship Id="rId8" Type="http://schemas.openxmlformats.org/officeDocument/2006/relationships/slide" Target="slide141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66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7.jpg"/><Relationship Id="rId4" Type="http://schemas.openxmlformats.org/officeDocument/2006/relationships/slide" Target="slide168.xml"/><Relationship Id="rId5" Type="http://schemas.openxmlformats.org/officeDocument/2006/relationships/slide" Target="slide167.xml"/><Relationship Id="rId6" Type="http://schemas.openxmlformats.org/officeDocument/2006/relationships/slide" Target="slide141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66.xml"/><Relationship Id="rId8" Type="http://schemas.openxmlformats.org/officeDocument/2006/relationships/slide" Target="slide141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69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41.xml"/><Relationship Id="rId6" Type="http://schemas.openxmlformats.org/officeDocument/2006/relationships/slide" Target="slide170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.jpg"/><Relationship Id="rId4" Type="http://schemas.openxmlformats.org/officeDocument/2006/relationships/slide" Target="slide141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.jpg"/><Relationship Id="rId4" Type="http://schemas.openxmlformats.org/officeDocument/2006/relationships/slide" Target="slide14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.jpg"/><Relationship Id="rId4" Type="http://schemas.openxmlformats.org/officeDocument/2006/relationships/slide" Target="slide141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7.jpg"/><Relationship Id="rId4" Type="http://schemas.openxmlformats.org/officeDocument/2006/relationships/slide" Target="slide141.xml"/><Relationship Id="rId5" Type="http://schemas.openxmlformats.org/officeDocument/2006/relationships/slide" Target="slide174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141.xml"/><Relationship Id="rId8" Type="http://schemas.openxmlformats.org/officeDocument/2006/relationships/slide" Target="slide175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.jpg"/><Relationship Id="rId4" Type="http://schemas.openxmlformats.org/officeDocument/2006/relationships/image" Target="../media/image59.jpg"/><Relationship Id="rId5" Type="http://schemas.openxmlformats.org/officeDocument/2006/relationships/slide" Target="slide177.xml"/><Relationship Id="rId6" Type="http://schemas.openxmlformats.org/officeDocument/2006/relationships/slide" Target="slide176.xml"/><Relationship Id="rId7" Type="http://schemas.openxmlformats.org/officeDocument/2006/relationships/slide" Target="slide141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75.xml"/><Relationship Id="rId8" Type="http://schemas.openxmlformats.org/officeDocument/2006/relationships/slide" Target="slide141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78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.jpg"/><Relationship Id="rId4" Type="http://schemas.openxmlformats.org/officeDocument/2006/relationships/image" Target="../media/image59.jpg"/><Relationship Id="rId5" Type="http://schemas.openxmlformats.org/officeDocument/2006/relationships/slide" Target="slide141.xml"/><Relationship Id="rId6" Type="http://schemas.openxmlformats.org/officeDocument/2006/relationships/slide" Target="slide179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.jpg"/><Relationship Id="rId4" Type="http://schemas.openxmlformats.org/officeDocument/2006/relationships/slide" Target="slide32.xml"/><Relationship Id="rId5" Type="http://schemas.openxmlformats.org/officeDocument/2006/relationships/slide" Target="slide85.xml"/><Relationship Id="rId6" Type="http://schemas.openxmlformats.org/officeDocument/2006/relationships/slide" Target="slide103.xml"/><Relationship Id="rId7" Type="http://schemas.openxmlformats.org/officeDocument/2006/relationships/slide" Target="slide180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.jpg"/><Relationship Id="rId4" Type="http://schemas.openxmlformats.org/officeDocument/2006/relationships/slide" Target="slide179.xml"/><Relationship Id="rId5" Type="http://schemas.openxmlformats.org/officeDocument/2006/relationships/slide" Target="slide181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1.jpg"/><Relationship Id="rId4" Type="http://schemas.openxmlformats.org/officeDocument/2006/relationships/image" Target="../media/image9.png"/><Relationship Id="rId5" Type="http://schemas.openxmlformats.org/officeDocument/2006/relationships/image" Target="../media/image25.png"/><Relationship Id="rId6" Type="http://schemas.openxmlformats.org/officeDocument/2006/relationships/slide" Target="slide18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.jpg"/><Relationship Id="rId4" Type="http://schemas.openxmlformats.org/officeDocument/2006/relationships/slide" Target="slide187.xml"/><Relationship Id="rId5" Type="http://schemas.openxmlformats.org/officeDocument/2006/relationships/slide" Target="slide183.xml"/><Relationship Id="rId6" Type="http://schemas.openxmlformats.org/officeDocument/2006/relationships/slide" Target="slide179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84.xml"/><Relationship Id="rId8" Type="http://schemas.openxmlformats.org/officeDocument/2006/relationships/slide" Target="slide179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jpg"/><Relationship Id="rId4" Type="http://schemas.openxmlformats.org/officeDocument/2006/relationships/slide" Target="slide187.xml"/><Relationship Id="rId5" Type="http://schemas.openxmlformats.org/officeDocument/2006/relationships/slide" Target="slide185.xml"/><Relationship Id="rId6" Type="http://schemas.openxmlformats.org/officeDocument/2006/relationships/slide" Target="slide179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7.jpg"/><Relationship Id="rId4" Type="http://schemas.openxmlformats.org/officeDocument/2006/relationships/image" Target="../media/image28.jpg"/><Relationship Id="rId5" Type="http://schemas.openxmlformats.org/officeDocument/2006/relationships/slide" Target="slide186.xml"/><Relationship Id="rId6" Type="http://schemas.openxmlformats.org/officeDocument/2006/relationships/slide" Target="slide179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7.jpg"/><Relationship Id="rId4" Type="http://schemas.openxmlformats.org/officeDocument/2006/relationships/slide" Target="slide187.xml"/><Relationship Id="rId5" Type="http://schemas.openxmlformats.org/officeDocument/2006/relationships/slide" Target="slide185.xml"/><Relationship Id="rId6" Type="http://schemas.openxmlformats.org/officeDocument/2006/relationships/slide" Target="slide179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9.xml"/><Relationship Id="rId8" Type="http://schemas.openxmlformats.org/officeDocument/2006/relationships/slide" Target="slide188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7.jpg"/><Relationship Id="rId4" Type="http://schemas.openxmlformats.org/officeDocument/2006/relationships/slide" Target="slide193.xml"/><Relationship Id="rId5" Type="http://schemas.openxmlformats.org/officeDocument/2006/relationships/slide" Target="slide189.xml"/><Relationship Id="rId6" Type="http://schemas.openxmlformats.org/officeDocument/2006/relationships/slide" Target="slide179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90.xml"/><Relationship Id="rId8" Type="http://schemas.openxmlformats.org/officeDocument/2006/relationships/slide" Target="slide17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7.jpg"/><Relationship Id="rId4" Type="http://schemas.openxmlformats.org/officeDocument/2006/relationships/slide" Target="slide193.xml"/><Relationship Id="rId5" Type="http://schemas.openxmlformats.org/officeDocument/2006/relationships/slide" Target="slide191.xml"/><Relationship Id="rId6" Type="http://schemas.openxmlformats.org/officeDocument/2006/relationships/slide" Target="slide179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7.jpg"/><Relationship Id="rId4" Type="http://schemas.openxmlformats.org/officeDocument/2006/relationships/image" Target="../media/image33.jpg"/><Relationship Id="rId5" Type="http://schemas.openxmlformats.org/officeDocument/2006/relationships/slide" Target="slide192.xml"/><Relationship Id="rId6" Type="http://schemas.openxmlformats.org/officeDocument/2006/relationships/slide" Target="slide179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7.jpg"/><Relationship Id="rId4" Type="http://schemas.openxmlformats.org/officeDocument/2006/relationships/slide" Target="slide193.xml"/><Relationship Id="rId5" Type="http://schemas.openxmlformats.org/officeDocument/2006/relationships/slide" Target="slide191.xml"/><Relationship Id="rId6" Type="http://schemas.openxmlformats.org/officeDocument/2006/relationships/slide" Target="slide179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9.xml"/><Relationship Id="rId8" Type="http://schemas.openxmlformats.org/officeDocument/2006/relationships/slide" Target="slide194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7.jpg"/><Relationship Id="rId4" Type="http://schemas.openxmlformats.org/officeDocument/2006/relationships/slide" Target="slide199.xml"/><Relationship Id="rId5" Type="http://schemas.openxmlformats.org/officeDocument/2006/relationships/slide" Target="slide195.xml"/><Relationship Id="rId6" Type="http://schemas.openxmlformats.org/officeDocument/2006/relationships/slide" Target="slide179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96.xml"/><Relationship Id="rId8" Type="http://schemas.openxmlformats.org/officeDocument/2006/relationships/slide" Target="slide179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7.jpg"/><Relationship Id="rId4" Type="http://schemas.openxmlformats.org/officeDocument/2006/relationships/slide" Target="slide199.xml"/><Relationship Id="rId5" Type="http://schemas.openxmlformats.org/officeDocument/2006/relationships/slide" Target="slide197.xml"/><Relationship Id="rId6" Type="http://schemas.openxmlformats.org/officeDocument/2006/relationships/slide" Target="slide179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98.xml"/><Relationship Id="rId6" Type="http://schemas.openxmlformats.org/officeDocument/2006/relationships/slide" Target="slide179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7.jpg"/><Relationship Id="rId4" Type="http://schemas.openxmlformats.org/officeDocument/2006/relationships/slide" Target="slide199.xml"/><Relationship Id="rId5" Type="http://schemas.openxmlformats.org/officeDocument/2006/relationships/slide" Target="slide197.xml"/><Relationship Id="rId6" Type="http://schemas.openxmlformats.org/officeDocument/2006/relationships/slide" Target="slide179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9.xml"/><Relationship Id="rId8" Type="http://schemas.openxmlformats.org/officeDocument/2006/relationships/slide" Target="slide200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7.jpg"/><Relationship Id="rId4" Type="http://schemas.openxmlformats.org/officeDocument/2006/relationships/slide" Target="slide205.xml"/><Relationship Id="rId5" Type="http://schemas.openxmlformats.org/officeDocument/2006/relationships/slide" Target="slide201.xml"/><Relationship Id="rId6" Type="http://schemas.openxmlformats.org/officeDocument/2006/relationships/slide" Target="slide179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202.xml"/><Relationship Id="rId8" Type="http://schemas.openxmlformats.org/officeDocument/2006/relationships/slide" Target="slide179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7.jpg"/><Relationship Id="rId4" Type="http://schemas.openxmlformats.org/officeDocument/2006/relationships/slide" Target="slide205.xml"/><Relationship Id="rId5" Type="http://schemas.openxmlformats.org/officeDocument/2006/relationships/slide" Target="slide203.xml"/><Relationship Id="rId6" Type="http://schemas.openxmlformats.org/officeDocument/2006/relationships/slide" Target="slide179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204.xml"/><Relationship Id="rId6" Type="http://schemas.openxmlformats.org/officeDocument/2006/relationships/slide" Target="slide179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7.jpg"/><Relationship Id="rId4" Type="http://schemas.openxmlformats.org/officeDocument/2006/relationships/slide" Target="slide205.xml"/><Relationship Id="rId5" Type="http://schemas.openxmlformats.org/officeDocument/2006/relationships/slide" Target="slide203.xml"/><Relationship Id="rId6" Type="http://schemas.openxmlformats.org/officeDocument/2006/relationships/slide" Target="slide179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9.xml"/><Relationship Id="rId8" Type="http://schemas.openxmlformats.org/officeDocument/2006/relationships/slide" Target="slide206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.jpg"/><Relationship Id="rId4" Type="http://schemas.openxmlformats.org/officeDocument/2006/relationships/slide" Target="slide32.xml"/><Relationship Id="rId5" Type="http://schemas.openxmlformats.org/officeDocument/2006/relationships/slide" Target="slide85.xml"/><Relationship Id="rId6" Type="http://schemas.openxmlformats.org/officeDocument/2006/relationships/slide" Target="slide103.xml"/><Relationship Id="rId7" Type="http://schemas.openxmlformats.org/officeDocument/2006/relationships/slide" Target="slide20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7.jpg"/><Relationship Id="rId4" Type="http://schemas.openxmlformats.org/officeDocument/2006/relationships/slide" Target="slide208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1.jpg"/><Relationship Id="rId4" Type="http://schemas.openxmlformats.org/officeDocument/2006/relationships/audio" Target="../media/snd_fanfare.wav"/><Relationship Id="rId5" Type="http://schemas.openxmlformats.org/officeDocument/2006/relationships/image" Target="../media/image60.png"/><Relationship Id="rId6" Type="http://schemas.openxmlformats.org/officeDocument/2006/relationships/image" Target="../media/image25.png"/><Relationship Id="rId7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457200"/>
            <a:ext cx="5605272" cy="4993787"/>
          </a:xfrm>
          <a:prstGeom prst="rect">
            <a:avLst/>
          </a:prstGeom>
        </p:spPr>
      </p:pic>
      <p:sp>
        <p:nvSpPr>
          <p:cNvPr id="4" name="!!doorsign"/>
          <p:cNvSpPr txBox="1"/>
          <p:nvPr/>
        </p:nvSpPr>
        <p:spPr>
          <a:xfrm>
            <a:off x="4158109" y="528539"/>
            <a:ext cx="3872733" cy="407656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5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5668" y="1017727"/>
            <a:ext cx="2598807" cy="4433260"/>
          </a:xfrm>
          <a:prstGeom prst="rect">
            <a:avLst/>
          </a:prstGeom>
        </p:spPr>
      </p:pic>
      <p:pic>
        <p:nvPicPr>
          <p:cNvPr id="6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017727"/>
            <a:ext cx="2598807" cy="4433260"/>
          </a:xfrm>
          <a:prstGeom prst="rect">
            <a:avLst/>
          </a:prstGeom>
        </p:spPr>
      </p:pic>
      <p:sp>
        <p:nvSpPr>
          <p:cNvPr id="7" name="!!coverpanel"/>
          <p:cNvSpPr/>
          <p:nvPr/>
        </p:nvSpPr>
        <p:spPr>
          <a:xfrm>
            <a:off x="1828800" y="4709160"/>
            <a:ext cx="8531352" cy="1508760"/>
          </a:xfrm>
          <a:prstGeom prst="roundRect">
            <a:avLst>
              <a:gd name="adj" fmla="val 24242"/>
            </a:avLst>
          </a:prstGeom>
          <a:solidFill>
            <a:srgbClr val="FFFFFF">
              <a:alpha val="96000"/>
            </a:srgbClr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overtitle"/>
          <p:cNvSpPr txBox="1"/>
          <p:nvPr/>
        </p:nvSpPr>
        <p:spPr>
          <a:xfrm>
            <a:off x="1920240" y="4709160"/>
            <a:ext cx="8348472" cy="7772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40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4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مختبر شامه الافتراضي</a:t>
            </a:r>
          </a:p>
        </p:txBody>
      </p:sp>
      <p:sp>
        <p:nvSpPr>
          <p:cNvPr id="9" name="!!coversub"/>
          <p:cNvSpPr txBox="1"/>
          <p:nvPr/>
        </p:nvSpPr>
        <p:spPr>
          <a:xfrm>
            <a:off x="1920240" y="5394960"/>
            <a:ext cx="8348472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2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رحلة علمية لاكتشاف تكاثر المخلوقات الحية الدقيقة</a:t>
            </a:r>
          </a:p>
        </p:txBody>
      </p:sp>
      <p:sp>
        <p:nvSpPr>
          <p:cNvPr id="10" name="!!covermeta"/>
          <p:cNvSpPr txBox="1"/>
          <p:nvPr/>
        </p:nvSpPr>
        <p:spPr>
          <a:xfrm>
            <a:off x="1920240" y="5788152"/>
            <a:ext cx="8348472" cy="3840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العلوم · الصف السادس الابتدائي · المعلمة: أ/ شامه البقمي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مرحبًا بعالماتي الصغيرات</a:t>
            </a:r>
          </a:p>
        </p:txBody>
      </p:sp>
      <p:pic>
        <p:nvPicPr>
          <p:cNvPr id="4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5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6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7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pic>
        <p:nvPicPr>
          <p:cNvPr id="8" name="!!guide" descr="guide_wa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2743200"/>
            <a:ext cx="2232474" cy="3520440"/>
          </a:xfrm>
          <a:prstGeom prst="rect">
            <a:avLst/>
          </a:prstGeom>
        </p:spPr>
      </p:pic>
      <p:sp>
        <p:nvSpPr>
          <p:cNvPr id="9" name="bubble"/>
          <p:cNvSpPr/>
          <p:nvPr/>
        </p:nvSpPr>
        <p:spPr>
          <a:xfrm>
            <a:off x="228600" y="1051560"/>
            <a:ext cx="3017520" cy="1600200"/>
          </a:xfrm>
          <a:prstGeom prst="wedgeRoundRectCallout">
            <a:avLst>
              <a:gd name="adj1" fmla="val -10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6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أهلًا بكنّ يا عالماتي! 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«العالمة نور»، مرشدتكن في رحلة اليوم داخل مختبر شامه الافتراضي.</a:t>
            </a:r>
          </a:p>
        </p:txBody>
      </p:sp>
      <p:pic>
        <p:nvPicPr>
          <p:cNvPr id="10" name="Picture 9" descr="microscop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2194560"/>
            <a:ext cx="2658794" cy="3291840"/>
          </a:xfrm>
          <a:prstGeom prst="rect">
            <a:avLst/>
          </a:prstGeom>
        </p:spPr>
      </p:pic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قوانين مختبرنا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11112" y="137160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١. أرفع يدي قبل الإجابة</a:t>
            </a:r>
          </a:p>
        </p:txBody>
      </p:sp>
      <p:pic>
        <p:nvPicPr>
          <p:cNvPr id="5" name="Picture 4" descr="ic_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2" y="1600200"/>
            <a:ext cx="731520" cy="731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353312" y="137160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E2F7E9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٢. أتعاون مع فريقي</a:t>
            </a:r>
          </a:p>
        </p:txBody>
      </p:sp>
      <p:pic>
        <p:nvPicPr>
          <p:cNvPr id="7" name="Picture 6" descr="ic_s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1600200"/>
            <a:ext cx="731520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11112" y="278892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DCEB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٣. أفكر قبل أن أختار</a:t>
            </a:r>
          </a:p>
        </p:txBody>
      </p:sp>
      <p:pic>
        <p:nvPicPr>
          <p:cNvPr id="9" name="Picture 8" descr="ic_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2" y="3017520"/>
            <a:ext cx="731520" cy="731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353312" y="278892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FFE3E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٤. الخطأ فرصة لأتعلم</a:t>
            </a:r>
          </a:p>
        </p:txBody>
      </p:sp>
      <p:pic>
        <p:nvPicPr>
          <p:cNvPr id="11" name="Picture 10" descr="ic_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017520"/>
            <a:ext cx="731520" cy="7315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377440" y="4434840"/>
            <a:ext cx="9262872" cy="914400"/>
          </a:xfrm>
          <a:prstGeom prst="roundRect">
            <a:avLst>
              <a:gd name="adj" fmla="val 30000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B35A00"/>
                </a:solidFill>
                <a:latin typeface="Arial"/>
                <a:ea typeface="Arial"/>
                <a:cs typeface="Arial"/>
              </a:rPr>
              <a:t>بطاقة السلامة: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المختبر الحقيقي لا نلمس العينات، ولا نفتح الأكياس المغلقة.</a:t>
            </a:r>
          </a:p>
        </p:txBody>
      </p:sp>
      <p:pic>
        <p:nvPicPr>
          <p:cNvPr id="13" name="!!guide" descr="guide_poi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3977639"/>
            <a:ext cx="1449659" cy="2286000"/>
          </a:xfrm>
          <a:prstGeom prst="rect">
            <a:avLst/>
          </a:prstGeom>
        </p:spPr>
      </p:pic>
      <p:sp>
        <p:nvSpPr>
          <p:cNvPr id="5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  <p:sp>
        <p:nvSpPr>
          <p:cNvPr id="58" name="nav_rev94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المراجعة: ما المخلوقات الحية الدقيقة؟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" y="1655635"/>
            <a:ext cx="3438144" cy="4415409"/>
          </a:xfrm>
          <a:prstGeom prst="roundRect">
            <a:avLst>
              <a:gd name="adj" fmla="val 265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4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19" y="1728787"/>
            <a:ext cx="3291840" cy="426910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057400" y="595217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9" name="card0"/>
          <p:cNvSpPr/>
          <p:nvPr/>
        </p:nvSpPr>
        <p:spPr>
          <a:xfrm>
            <a:off x="79552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المخلوق الحي الدقيق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المخلوق الحي الدقيق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مخلوق حي مجهري لا يُرى بالعين المجردة.</a:t>
            </a:r>
          </a:p>
        </p:txBody>
      </p:sp>
      <p:sp>
        <p:nvSpPr>
          <p:cNvPr id="11" name="card1"/>
          <p:cNvSpPr/>
          <p:nvPr/>
        </p:nvSpPr>
        <p:spPr>
          <a:xfrm>
            <a:off x="40690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وحيد الخلية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وحيد الخلية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يتكوّن جسمه من خلية واحدة.</a:t>
            </a:r>
          </a:p>
        </p:txBody>
      </p:sp>
      <p:sp>
        <p:nvSpPr>
          <p:cNvPr id="13" name="card2"/>
          <p:cNvSpPr/>
          <p:nvPr/>
        </p:nvSpPr>
        <p:spPr>
          <a:xfrm>
            <a:off x="79552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 المجهرية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الفطريات المجهرية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تشمل العفن والخميرة، لا تصنع غذاءها، وتمتص المواد المغذية من الوسط الذي تعيش فيه.</a:t>
            </a:r>
          </a:p>
        </p:txBody>
      </p:sp>
      <p:sp>
        <p:nvSpPr>
          <p:cNvPr id="15" name="card3"/>
          <p:cNvSpPr/>
          <p:nvPr/>
        </p:nvSpPr>
        <p:spPr>
          <a:xfrm>
            <a:off x="40690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فوائد وأضرار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فوائد وأضرار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في صنع الخبز، والبنسيليوم لصناعة الأدوية، وبعضها يسبب أمراضًا مثل القدم الرياضي.</a:t>
            </a:r>
          </a:p>
        </p:txBody>
      </p:sp>
      <p:sp>
        <p:nvSpPr>
          <p:cNvPr id="3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37" name="nav_p95pag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صفحة ٩٥ كما في الكتاب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5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2715" y="1261872"/>
            <a:ext cx="3746809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5_protis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846" y="1280160"/>
            <a:ext cx="4370267" cy="4800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95_bac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770624"/>
            <a:ext cx="5257800" cy="381967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5_archae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1975061"/>
            <a:ext cx="5257800" cy="3410797"/>
          </a:xfrm>
          <a:prstGeom prst="rect">
            <a:avLst/>
          </a:prstGeom>
        </p:spPr>
      </p:pic>
      <p:sp>
        <p:nvSpPr>
          <p:cNvPr id="3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1" name="nav_rev95a">
            <a:hlinkClick action="ppaction://hlinksldjump" r:id="rId8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صفحة ٩٥: الطلائعيات المجهرية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 المجهرية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الطلائعيات المجهرية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«معظم الطلائعيات مخلوقات حية دقيقة وحيدة الخلية، يصعب تصنيفها إلى حيوانات أو نباتات.»</a:t>
            </a:r>
          </a:p>
        </p:txBody>
      </p:sp>
      <p:sp>
        <p:nvSpPr>
          <p:cNvPr id="8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D997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الشبيهة بالنباتات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997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9970"/>
                </a:solidFill>
                <a:latin typeface="Arial"/>
                <a:ea typeface="Arial"/>
                <a:cs typeface="Arial"/>
              </a:rPr>
              <a:t>الشبيهة بالنباتات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«فالطلائعيات الشبيهة بالنباتات -ومنها اليوجلينا- تصنع غذاءها بنفسها.»</a:t>
            </a:r>
          </a:p>
        </p:txBody>
      </p:sp>
      <p:sp>
        <p:nvSpPr>
          <p:cNvPr id="10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الدياتومات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الدياتومات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«طلائعيات شبيهة بالنباتات تعيش في البحيرات والمحيطات، وتعد مصدر الغذاء الرئيس في الأنظمة البيئية البحرية.»</a:t>
            </a:r>
          </a:p>
        </p:txBody>
      </p:sp>
      <p:sp>
        <p:nvSpPr>
          <p:cNvPr id="12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الأسواط والأهداب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الأسواط والأهداب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«بعضها له تراكيب تشبه السوط تسمى الأسواط. وبعضها له تراكيب تشبه الشعر تسمى الأهداب، وهي تتحرك جيئة وذهابًا مثل المجداف.»</a:t>
            </a:r>
          </a:p>
        </p:txBody>
      </p:sp>
      <p:sp>
        <p:nvSpPr>
          <p:cNvPr id="14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الأقدام الكاذبة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الأقدام الكاذبة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«أما الأميبا فلها تراكيب تسمى الأقدام الكاذبة تستخدمها في حركتها عن طريق انقباضها وامتدادها.»</a:t>
            </a:r>
          </a:p>
        </p:txBody>
      </p:sp>
      <p:sp>
        <p:nvSpPr>
          <p:cNvPr id="4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5" name="nav_rev95b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صفحة ٩٥: البكتيريا والبدائيات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F7AA2"/>
                </a:solidFill>
                <a:latin typeface="Arial"/>
                <a:ea typeface="Arial"/>
                <a:cs typeface="Arial"/>
              </a:rPr>
              <a:t>البكتيريا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«البكتيريا مخلوقات وحيدة الخلية. وبعض أنواع البكتيريا ضار يسبب العديد من الأمراض، فهناك بكتيريا كروية تسبب التهاب الحلق.»</a:t>
            </a:r>
          </a:p>
        </p:txBody>
      </p:sp>
      <p:sp>
        <p:nvSpPr>
          <p:cNvPr id="8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بكتيريا مفيدة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بكتيريا مفيدة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«ومعظم أنواع البكتيريا غير ضار، ومنها البكتيريا العصوية التي تستعمل لإنتاج اللبن الرائب وغيره من المواد المفيدة للجسم.»</a:t>
            </a:r>
          </a:p>
        </p:txBody>
      </p:sp>
      <p:sp>
        <p:nvSpPr>
          <p:cNvPr id="10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البدائيات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البدائيات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«مخلوقات حية وحيدة الخلية. وقد صنفت من قبل على أنها أحد أنواع البكتيريا، إلا أن العلماء اكتشفوا اختلاف صفاتها الوراثية عن البكتيريا.»</a:t>
            </a:r>
          </a:p>
        </p:txBody>
      </p:sp>
      <p:sp>
        <p:nvSpPr>
          <p:cNvPr id="12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أين تعيش البدائيات؟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أين تعيش البدائيات؟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«في الينابيع الحارة… وفي بيئات خالية من الأكسجين بالقرب من فوهات البراكين… وفي القنوات الهضمية للحيوانات، أو في أماكن شديدة الملوحة.»</a:t>
            </a:r>
          </a:p>
        </p:txBody>
      </p:sp>
      <p:sp>
        <p:nvSpPr>
          <p:cNvPr id="14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C0392B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حقيقة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C0392B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حقيقة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«يستخدم مصطلح الميكروبات لوصف المخلوقات الحية الدقيقة المفيدة والضارة وليس الضارة فقط.»</a:t>
            </a:r>
          </a:p>
        </p:txBody>
      </p:sp>
      <p:sp>
        <p:nvSpPr>
          <p:cNvPr id="4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5" name="nav_rev95q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أسئلة صفحة ٩٥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826702"/>
            <a:ext cx="3438144" cy="4073275"/>
          </a:xfrm>
          <a:prstGeom prst="roundRect">
            <a:avLst>
              <a:gd name="adj" fmla="val 265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5_ro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99854"/>
            <a:ext cx="3291840" cy="392697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057400" y="5781105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ص٩٥</a:t>
            </a:r>
          </a:p>
        </p:txBody>
      </p:sp>
      <p:sp>
        <p:nvSpPr>
          <p:cNvPr id="9" name="card0"/>
          <p:cNvSpPr/>
          <p:nvPr/>
        </p:nvSpPr>
        <p:spPr>
          <a:xfrm>
            <a:off x="4069080" y="1600200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أقرأ الصورة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1600200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أقرأ الصورة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تنتج هذه الصخور من مستعمرات بكتيريا وطحالب بدائية. تُرى أين كانت تعيش هذه المخلوقات في أثناء حياتها؟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في مياه البحر الضحلة المالحة قرب الشاطئ.</a:t>
            </a:r>
          </a:p>
        </p:txBody>
      </p:sp>
      <p:sp>
        <p:nvSpPr>
          <p:cNvPr id="11" name="card1"/>
          <p:cNvSpPr/>
          <p:nvPr/>
        </p:nvSpPr>
        <p:spPr>
          <a:xfrm>
            <a:off x="4069080" y="3191256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أستنتج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3191256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أستنتج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يُحتمل وجود بدائيات على جلدي؟ أوضح إجابتي.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نعم يُحتمل؛ فالبدائيات تعيش في بيئات قاسية متنوعة منها شديدة الملوحة، وجلدي مالح بالعرق فيصلح بيئة لها.</a:t>
            </a:r>
          </a:p>
        </p:txBody>
      </p:sp>
      <p:sp>
        <p:nvSpPr>
          <p:cNvPr id="13" name="card2"/>
          <p:cNvSpPr/>
          <p:nvPr/>
        </p:nvSpPr>
        <p:spPr>
          <a:xfrm>
            <a:off x="4069080" y="4782312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4782312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توجد الدياتومات بالقرب من سطح البحيرات والمحيطات أم في أعماق المياه؟ لماذا؟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قرب السطح؛ لأنها شبيهة بالنباتات تصنع غذاءها بنفسها، وهذا يحتاج إلى ضوء الشمس الذي لا يصل إلى الأعماق.</a:t>
            </a:r>
          </a:p>
        </p:txBody>
      </p:sp>
      <p:sp>
        <p:nvSpPr>
          <p:cNvPr id="2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29" name="nav_cod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🔐</a:t>
            </a:r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ساعدونا لندخل المختبر!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6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pic>
        <p:nvPicPr>
          <p:cNvPr id="9" name="!!guide" descr="guide_poi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2377440"/>
            <a:ext cx="2435426" cy="3840480"/>
          </a:xfrm>
          <a:prstGeom prst="rect">
            <a:avLst/>
          </a:prstGeom>
        </p:spPr>
      </p:pic>
      <p:sp>
        <p:nvSpPr>
          <p:cNvPr id="10" name="bubble"/>
          <p:cNvSpPr/>
          <p:nvPr/>
        </p:nvSpPr>
        <p:spPr>
          <a:xfrm>
            <a:off x="3611880" y="1143000"/>
            <a:ext cx="4983480" cy="2697480"/>
          </a:xfrm>
          <a:prstGeom prst="wedgeRoundRectCallout">
            <a:avLst>
              <a:gd name="adj1" fmla="val -62000"/>
              <a:gd name="adj2" fmla="val 78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9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عالماتي المبدعات!</a:t>
            </a:r>
          </a:p>
          <a:p>
            <a:pPr algn="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أبواب مختبرنا مغلقة، ولن نستطيع الدخول إلا بعد حل ثلاثة تحديات علمية.</a:t>
            </a:r>
          </a:p>
          <a:p>
            <a:pPr algn="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 إجابة صحيحة تكشف رقمًا من الرمز السري.</a:t>
            </a:r>
          </a:p>
          <a:p>
            <a:pPr algn="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أنتن مستعدات؟</a:t>
            </a:r>
          </a:p>
        </p:txBody>
      </p:sp>
      <p:sp>
        <p:nvSpPr>
          <p:cNvPr id="11" name="!!lockpanel"/>
          <p:cNvSpPr/>
          <p:nvPr/>
        </p:nvSpPr>
        <p:spPr>
          <a:xfrm>
            <a:off x="7955279" y="4846320"/>
            <a:ext cx="3840480" cy="1234440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!!lockpanel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9959" y="5148072"/>
            <a:ext cx="621792" cy="621792"/>
          </a:xfrm>
          <a:prstGeom prst="rect">
            <a:avLst/>
          </a:prstGeom>
        </p:spPr>
      </p:pic>
      <p:sp>
        <p:nvSpPr>
          <p:cNvPr id="13" name="!!lockpaneld0"/>
          <p:cNvSpPr/>
          <p:nvPr/>
        </p:nvSpPr>
        <p:spPr>
          <a:xfrm>
            <a:off x="10195559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4" name="!!lockpaneld1"/>
          <p:cNvSpPr/>
          <p:nvPr/>
        </p:nvSpPr>
        <p:spPr>
          <a:xfrm>
            <a:off x="9326880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5" name="!!lockpaneld2"/>
          <p:cNvSpPr/>
          <p:nvPr/>
        </p:nvSpPr>
        <p:spPr>
          <a:xfrm>
            <a:off x="8458200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9006840" y="3931920"/>
            <a:ext cx="2651760" cy="685800"/>
          </a:xfrm>
          <a:prstGeom prst="roundRect">
            <a:avLst>
              <a:gd name="adj" fmla="val 4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نعم، مستعدات!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اليوجلينا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الفطر المجهري الذي نستخدمه في صنع الخبز.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3" name="nav_ch1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اليوجلينا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36217"/>
            <a:ext cx="5266944" cy="3842765"/>
          </a:xfrm>
          <a:prstGeom prst="roundRect">
            <a:avLst>
              <a:gd name="adj" fmla="val 23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fung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09369"/>
            <a:ext cx="5120640" cy="3696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601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لنقرأ معًا من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«تشمل الفطريات المجهرية العفن والخميرة»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أما البراميسيوم واليوجلينا والدياتومات فهي من الطلائعيات.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من هذه الأمثلة من الفطريات المجهرية أيضًا؟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الطحالب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من الفطريات المجهرية؛ فالكتاب يقول: «تشمل الفطريات المجهرية العفن والخميرة». لقد كشفتِ الرقم الأول من الرمز: 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718" y="3447288"/>
            <a:ext cx="3756402" cy="2752344"/>
          </a:xfrm>
          <a:prstGeom prst="roundRect">
            <a:avLst>
              <a:gd name="adj" fmla="val 332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fung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70" y="3520440"/>
            <a:ext cx="3610098" cy="26060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56609" y="608076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3" name="nav_ch2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غذاءه بنفسه من ضوء الشمس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افترس مخلوقات أصغر منه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الفطريات أن تصنع غذاءها بنفسها مثل النباتات؟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3" name="nav_ch2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غذاءه بنفسه من ضوء الشمس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افترس مخلوقات أصغر منه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36217"/>
            <a:ext cx="5266944" cy="3842765"/>
          </a:xfrm>
          <a:prstGeom prst="roundRect">
            <a:avLst>
              <a:gd name="adj" fmla="val 23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fung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09369"/>
            <a:ext cx="5120640" cy="3696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601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لنقرأ معًا من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«لا تستطيع صنع غذائها بنفسها، وبدلًا من ذلك تمتص المواد المغذية من الوسط الذي تعيش فيه»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هو الوسط الذي عاش عليه العفن.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«الخميرة تصنع غذاءها بنفسها».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الفطريات لا تستطيع صنع غذائها بنفسها، بل تمتص المواد المغذية من الوسط الذي تعيش فيه، والخبز هو هذا الوسط. الرقم الثاني: 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718" y="3447288"/>
            <a:ext cx="3756402" cy="2752344"/>
          </a:xfrm>
          <a:prstGeom prst="roundRect">
            <a:avLst>
              <a:gd name="adj" fmla="val 332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fung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70" y="3520440"/>
            <a:ext cx="3610098" cy="26060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56609" y="608076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3" name="nav_ch3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79958"/>
            <a:ext cx="4626864" cy="4955282"/>
          </a:xfrm>
          <a:prstGeom prst="roundRect">
            <a:avLst>
              <a:gd name="adj" fmla="val 197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53110"/>
            <a:ext cx="4480560" cy="48089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601636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اسم هذا الفطر قريب من اسم دواء مشهور يُعالج الالتهابات.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3" name="nav_ch3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79958"/>
            <a:ext cx="4626864" cy="4955282"/>
          </a:xfrm>
          <a:prstGeom prst="roundRect">
            <a:avLst>
              <a:gd name="adj" fmla="val 197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53110"/>
            <a:ext cx="4480560" cy="48089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601636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2412" y="1161288"/>
            <a:ext cx="4661655" cy="499262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64" y="1234440"/>
            <a:ext cx="4515351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83555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انظري إلى التعليق أسفل الصورة في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«يُستخدم فطر البنسيليوم لصناعة الأدوية»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فيمَ يُستخدم فطر البنسيليوم؟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صناعة الأدوية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الخبز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غذائه من الضوء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إنه فطر البنسيليوم؛ ففي الكتاب: «يُستخدم فطر البنسيليوم لصناعة الأدوية». الرقم الثالث: ٧ — اكتمل الرمز!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4177636"/>
            <a:ext cx="4626864" cy="1291647"/>
          </a:xfrm>
          <a:prstGeom prst="roundRect">
            <a:avLst>
              <a:gd name="adj" fmla="val 70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peni_ca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250788"/>
            <a:ext cx="4480560" cy="114534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3504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un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3" name="nav_open1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الرمز السري: ٣٥٧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doorframe" descr="door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6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sp>
        <p:nvSpPr>
          <p:cNvPr id="9" name="!!final_lock"/>
          <p:cNvSpPr/>
          <p:nvPr/>
        </p:nvSpPr>
        <p:spPr>
          <a:xfrm>
            <a:off x="4178808" y="4937760"/>
            <a:ext cx="3840480" cy="1234440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final_lockic" descr="ic_un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3488" y="5239512"/>
            <a:ext cx="621792" cy="621792"/>
          </a:xfrm>
          <a:prstGeom prst="rect">
            <a:avLst/>
          </a:prstGeom>
        </p:spPr>
      </p:pic>
      <p:sp>
        <p:nvSpPr>
          <p:cNvPr id="11" name="!!final_lockd0"/>
          <p:cNvSpPr/>
          <p:nvPr/>
        </p:nvSpPr>
        <p:spPr>
          <a:xfrm>
            <a:off x="641908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2" name="!!final_lockd1"/>
          <p:cNvSpPr/>
          <p:nvPr/>
        </p:nvSpPr>
        <p:spPr>
          <a:xfrm>
            <a:off x="555040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!!final_lockd2"/>
          <p:cNvSpPr/>
          <p:nvPr/>
        </p:nvSpPr>
        <p:spPr>
          <a:xfrm>
            <a:off x="468172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  <p:sndAc>
      <p:stSnd>
        <p:snd r:embed="rId4" name="door.wav"/>
      </p:stSnd>
    </p:sndAc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4" name="!!doorframe" descr="door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5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sp>
        <p:nvSpPr>
          <p:cNvPr id="6" name="!!doorlight"/>
          <p:cNvSpPr/>
          <p:nvPr/>
        </p:nvSpPr>
        <p:spPr>
          <a:xfrm>
            <a:off x="3834827" y="1676095"/>
            <a:ext cx="4519297" cy="3854694"/>
          </a:xfrm>
          <a:prstGeom prst="roundRect">
            <a:avLst>
              <a:gd name="adj" fmla="val 1186"/>
            </a:avLst>
          </a:prstGeom>
          <a:solidFill>
            <a:srgbClr val="FFF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578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2724" y="1676095"/>
            <a:ext cx="2259648" cy="3854694"/>
          </a:xfrm>
          <a:prstGeom prst="rect">
            <a:avLst/>
          </a:prstGeom>
        </p:spPr>
      </p:pic>
      <p:sp>
        <p:nvSpPr>
          <p:cNvPr id="9" name="msg"/>
          <p:cNvSpPr/>
          <p:nvPr/>
        </p:nvSpPr>
        <p:spPr>
          <a:xfrm>
            <a:off x="2103120" y="1965960"/>
            <a:ext cx="7982712" cy="214884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50800">
            <a:solidFill>
              <a:srgbClr val="FFD34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msgt"/>
          <p:cNvSpPr txBox="1"/>
          <p:nvPr/>
        </p:nvSpPr>
        <p:spPr>
          <a:xfrm>
            <a:off x="2194560" y="2011680"/>
            <a:ext cx="7799831" cy="20574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أحسنتن يا عالماتي!</a:t>
            </a:r>
          </a:p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لقد نجحتن في فتح مختبر العلوم!</a:t>
            </a:r>
          </a:p>
        </p:txBody>
      </p:sp>
      <p:pic>
        <p:nvPicPr>
          <p:cNvPr id="11" name="!!guide" descr="guide_che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2377440"/>
            <a:ext cx="2435426" cy="3840480"/>
          </a:xfrm>
          <a:prstGeom prst="rect">
            <a:avLst/>
          </a:prstGeom>
        </p:spPr>
      </p:pic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0" name="nav_newlesson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  <p:sndAc>
          <p:stSnd>
            <p:snd r:embed="rId4" name="fanfare.wav"/>
          </p:stSnd>
        </p:sndAc>
      </p:transition>
    </mc:Choice>
    <mc:Fallback>
      <p:transition spd="slow">
        <p:fade/>
        <p:sndAc>
          <p:stSnd>
            <p:snd r:embed="rId4" name="fanfare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درسنا الجديد: كيف تتكاثر المخلوقات الحية الدقيقة؟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1234440"/>
            <a:ext cx="2907792" cy="54864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✔ انتهت المراجعة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234440"/>
            <a:ext cx="2907792" cy="548640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بداية الدرس الجديد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9320" y="1938528"/>
            <a:ext cx="5537678" cy="2980944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6_in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2472" y="2011680"/>
            <a:ext cx="5391374" cy="2834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096487" y="480060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074920"/>
            <a:ext cx="6949440" cy="1051560"/>
          </a:xfrm>
          <a:prstGeom prst="roundRect">
            <a:avLst>
              <a:gd name="adj" fmla="val 21739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46320" y="5120640"/>
            <a:ext cx="6583680" cy="960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كيف يصبح مخلوق واحد ملايين المخلوقات؟</a:t>
            </a:r>
          </a:p>
        </p:txBody>
      </p:sp>
      <p:pic>
        <p:nvPicPr>
          <p:cNvPr id="12" name="!!guide" descr="guide_w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240280"/>
            <a:ext cx="2464420" cy="3886200"/>
          </a:xfrm>
          <a:prstGeom prst="rect">
            <a:avLst/>
          </a:prstGeom>
        </p:spPr>
      </p:pic>
      <p:sp>
        <p:nvSpPr>
          <p:cNvPr id="13" name="bubble"/>
          <p:cNvSpPr/>
          <p:nvPr/>
        </p:nvSpPr>
        <p:spPr>
          <a:xfrm>
            <a:off x="411480" y="1143000"/>
            <a:ext cx="4023360" cy="868680"/>
          </a:xfrm>
          <a:prstGeom prst="wedgeRoundRectCallout">
            <a:avLst>
              <a:gd name="adj1" fmla="val 10000"/>
              <a:gd name="adj2" fmla="val 9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قرأنا السؤال من الكتاب. ما توقعاتكن؟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خريطة رحلتنا العلمية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5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/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pic>
        <p:nvPicPr>
          <p:cNvPr id="10" name="!!lock_f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2587752"/>
            <a:ext cx="502920" cy="502920"/>
          </a:xfrm>
          <a:prstGeom prst="rect">
            <a:avLst/>
          </a:prstGeom>
        </p:spPr>
      </p:pic>
      <p:cxnSp>
        <p:nvCxnSpPr>
          <p:cNvPr id="11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!!br_b"/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pic>
        <p:nvPicPr>
          <p:cNvPr id="13" name="!!lock_b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587752"/>
            <a:ext cx="502920" cy="502920"/>
          </a:xfrm>
          <a:prstGeom prst="rect">
            <a:avLst/>
          </a:prstGeom>
        </p:spPr>
      </p:pic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16" name="nav_p96pag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الطلائعيات: صفحة ٩٦ على الشاشة الذكية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screen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3316" y="1261872"/>
            <a:ext cx="3865606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234440"/>
            <a:ext cx="5440680" cy="3291840"/>
          </a:xfrm>
          <a:prstGeom prst="roundRect">
            <a:avLst>
              <a:gd name="adj" fmla="val 6944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6_protis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416848"/>
            <a:ext cx="5257800" cy="29270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4709160"/>
            <a:ext cx="5440680" cy="9144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نقرأ معًا: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الطريقة التي تتكاثر بها معظم الطلائعيات؟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المجهر الافتراضي: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micro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828800"/>
            <a:ext cx="3397348" cy="4206240"/>
          </a:xfrm>
          <a:prstGeom prst="rect">
            <a:avLst/>
          </a:prstGeom>
        </p:spPr>
      </p:pic>
      <p:sp>
        <p:nvSpPr>
          <p:cNvPr id="6" name="lens"/>
          <p:cNvSpPr/>
          <p:nvPr/>
        </p:nvSpPr>
        <p:spPr>
          <a:xfrm>
            <a:off x="3291840" y="1188720"/>
            <a:ext cx="5120640" cy="4983480"/>
          </a:xfrm>
          <a:prstGeom prst="ellipse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6_phot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2697480"/>
            <a:ext cx="448056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06240" y="42062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4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1080" y="1463040"/>
            <a:ext cx="3063240" cy="2926080"/>
          </a:xfrm>
          <a:prstGeom prst="roundRect">
            <a:avLst>
              <a:gd name="adj" fmla="val 7812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0" y="1554480"/>
            <a:ext cx="2788920" cy="27432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1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تتوقعين أن يحدث لهذا المخلوق؟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المنطقة الوسطى.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انقري لمشاهدة ما يحدث ←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38454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94486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7157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59161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0645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72649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53872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9319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8385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0467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7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3195827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13358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2670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063239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925372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915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0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1" name="nav_q_rea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انقري لمشاهدة ما يحدث ←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is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38454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94486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isS2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7157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59161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0645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72649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53872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9319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8385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0467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isS3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7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3195827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13358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2670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063239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925372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915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0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1" name="nav_fisS_en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991048"/>
            <a:ext cx="4626864" cy="3333102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064200"/>
            <a:ext cx="4480560" cy="31867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520527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يتغذى على البكتيريا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يتحرك بسرعة في الماء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انظري إلى المنطقة الوسطى في الصورة: هل ترين خلية واحدة أم خليتين تنفصلان؟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read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991048"/>
            <a:ext cx="4626864" cy="3333102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064200"/>
            <a:ext cx="4480560" cy="31867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520527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يتغذى على البكتيريا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يتحرك بسرعة في الماء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63420"/>
            <a:ext cx="5266944" cy="3788359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36572"/>
            <a:ext cx="5120640" cy="3642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3290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المراحل الثلاث في شكل الكتاب: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 يتم تضاعف المادة الوراثية.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 تبدأ الخلية في الانقسام.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 ينتج مخلوقان متماثلان.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الحركة ببطء، ثم جربي السؤال المشابه.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كم مخلوقًا جديدًا ينتج عن انشطار براميسيوم واحد؟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واحد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اثنان متماثلان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ثلاثة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إجابة الكتاب: يتكاثر بالانشطار الثنائي؛ فقد انقسم عند منطقته الوسطى إلى براميسيومين جديدين متماثلين.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hunt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المحققة العلمية · صيد الدليل (١)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اصطادي العبارة التي تصف ما يحدث للبراميسيوم خطوةً بخطوة في أثناء الانشطار.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299716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كلمات تدل على خطوات: استطالة… تضاعف… انقسام.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«وهو نوع من التكاثر اللاجنسي ينقسم فيه المخلوق الحي إلى مخلوقين حيين جديدين متماثلين.»</a:t>
            </a:r>
          </a:p>
        </p:txBody>
      </p:sp>
      <p:pic>
        <p:nvPicPr>
          <p:cNvPr id="11" name="Picture 10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78708"/>
            <a:ext cx="548640" cy="548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كلمات تدل على خطوات: استطالة… تضاعف… انقسام.</a:t>
            </a:r>
          </a:p>
        </p:txBody>
      </p:sp>
      <p:sp>
        <p:nvSpPr>
          <p:cNvPr id="13" name="sen2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«ومثال ذلك استطالة البراميسيوم وتضاعف كروموسوماته وانقسامه إلى اثنين.»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457700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تذكر هذه العبارة الخطوات: استطالة، ثم تضاعف الكروموسومات، ثم الانقسام إلى اثنين.</a:t>
            </a:r>
          </a:p>
        </p:txBody>
      </p:sp>
      <p:sp>
        <p:nvSpPr>
          <p:cNvPr id="5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5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6" name="nav_hunt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4" grpId="0" animBg="1"/>
      <p:bldP spid="16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المحققة العلمية · صيد الدليل (٢)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اصطادي العبارة التي تبيّن نوع هذا التكاثر.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299716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كلمة تصف «نوع» التكاثر.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«وهو نوع من التكاثر اللاجنسي ينقسم فيه المخلوق الحي إلى مخلوقين حيين جديدين متماثلين.»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378708"/>
            <a:ext cx="548640" cy="5486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كلمة «اللاجنسي» تبيّن نوع التكاثر: مخلوق واحد ينتج مخلوقين متماثلين.</a:t>
            </a:r>
          </a:p>
        </p:txBody>
      </p:sp>
      <p:sp>
        <p:nvSpPr>
          <p:cNvPr id="14" name="sen2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«ومثال ذلك استطالة البراميسيوم وتضاعف كروموسوماته وانقسامه إلى اثنين.»</a:t>
            </a:r>
          </a:p>
        </p:txBody>
      </p:sp>
      <p:pic>
        <p:nvPicPr>
          <p:cNvPr id="15" name="Picture 14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457700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كلمة تصف «نوع» التكاثر.</a:t>
            </a:r>
          </a:p>
        </p:txBody>
      </p:sp>
      <p:sp>
        <p:nvSpPr>
          <p:cNvPr id="5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5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6" name="nav_ord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6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6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الأولى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>
            <a:hlinkClick action="ppaction://hlinksldjump" r:id="rId5"/>
          </p:cNvPr>
          <p:cNvSpPr/>
          <p:nvPr/>
        </p:nvSpPr>
        <p:spPr>
          <a:xfrm>
            <a:off x="8028432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5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>
            <a:hlinkClick action="ppaction://hlinksldjump" r:id="rId6"/>
          </p:cNvPr>
          <p:cNvSpPr/>
          <p:nvPr/>
        </p:nvSpPr>
        <p:spPr>
          <a:xfrm>
            <a:off x="548639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الثانية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>
            <a:hlinkClick action="ppaction://hlinksldjump" r:id="rId6"/>
          </p:cNvPr>
          <p:cNvSpPr/>
          <p:nvPr/>
        </p:nvSpPr>
        <p:spPr>
          <a:xfrm>
            <a:off x="8028432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7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الثالثة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6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اكتمل الترتيب!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5257800"/>
            <a:ext cx="8503920" cy="868680"/>
          </a:xfrm>
          <a:prstGeom prst="roundRect">
            <a:avLst>
              <a:gd name="adj" fmla="val 31578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ترتيب صحيح!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أولًا تتضاعف المادة الوراثية، ثم تنقسم الخلية، فينتج مخلوقان متماثلان.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7" name="nav_q_why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الخلية أن تنقسم قبل أن تنسخ مادتها الوراثية؟ يجب أن تحصل كل خلية جديدة على نسخة كاملة أولًا.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ord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الخلية أن تنقسم قبل أن تنسخ مادتها الوراثية؟ يجب أن تحصل كل خلية جديدة على نسخة كاملة أولًا.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ord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يعيشان في الماء نفسه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تبادلا المادة الوراثية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المرحلة الأولى في شكل الكتاب: ماذا يحدث للمادة الوراثية قبل الانقسام؟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why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يعيشان في الماء نفسه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تبادلا المادة الوراثية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63420"/>
            <a:ext cx="5266944" cy="3788359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36572"/>
            <a:ext cx="5120640" cy="3642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3290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سؤال أبسط (صح أم خطأ):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«قبل أن ينقسم البراميسيوم تتضاعف مادته الوراثية».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الإجابة: صح ✔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الحركة ببطء: النواة تتضاعف أولًا، ثم تأخذ كل خلية نسخة.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انقسمت الخلية دون أن تتضاعف مادتها الوراثية؟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 تحصل كل خلية جديدة على نسخة كاملة من المادة الوراثية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ستنتج أربع خلايا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ستصبح الخليتان أكبر حجمًا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المرحلة الأولى «يتم تضاعف المادة الوراثية»، فتأخذ كل خلية جديدة نسخة مماثلة؛ ولذلك «ينتج مخلوقان متماثلان».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onj0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انتهت الحركة البطيئة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po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463040"/>
            <a:ext cx="2783344" cy="4389120"/>
          </a:xfrm>
          <a:prstGeom prst="rect">
            <a:avLst/>
          </a:prstGeom>
        </p:spPr>
      </p:pic>
      <p:sp>
        <p:nvSpPr>
          <p:cNvPr id="6" name="bubble"/>
          <p:cNvSpPr/>
          <p:nvPr/>
        </p:nvSpPr>
        <p:spPr>
          <a:xfrm>
            <a:off x="4389120" y="1463040"/>
            <a:ext cx="6949440" cy="137160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لاحظتِ؟ تتضاعف المادة الوراثية أولًا، ثم تنقسم الخلية.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6035040" y="3474720"/>
            <a:ext cx="5303520" cy="777240"/>
          </a:xfrm>
          <a:prstGeom prst="roundRect">
            <a:avLst>
              <a:gd name="adj" fmla="val 35294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 مشابه: أقرأ الصورة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6035040" y="4480560"/>
            <a:ext cx="5303520" cy="777240"/>
          </a:xfrm>
          <a:prstGeom prst="roundRect">
            <a:avLst>
              <a:gd name="adj" fmla="val 35294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 مشابه: لماذا يتماثلان؟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1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4251960"/>
            <a:ext cx="731520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من الكتاب: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«وقد تتكاثر الطلائعيات بالاقتران، وهو عملية جنسية…»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2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2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6144768" y="274320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5687568" y="2834639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6144768" y="274320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5687568" y="2834639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824788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358444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824788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358444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ثم ينفصل بعضها عن بعض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22986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51586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53338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881938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1856232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70839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4142231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999439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7159751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240487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9445752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4690871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ثم ينفصل بعضها عن بعض</a:t>
            </a:r>
          </a:p>
        </p:txBody>
      </p:sp>
      <p:sp>
        <p:nvSpPr>
          <p:cNvPr id="22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ينقسم كل منها بالانشطار الثنائي</a:t>
            </a:r>
          </a:p>
        </p:txBody>
      </p:sp>
      <p:sp>
        <p:nvSpPr>
          <p:cNvPr id="2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5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6" name="nav_q_conj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«الاقتران عملية جنسية تتبادل فيها المخلوقات المادة الوراثية».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1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ارجعي إلى نص الكتاب: «وهو عملية جنسية تلتحم فيها المخلوقات… وتتبادل المادة الوراثية».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conj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«الاقتران عملية جنسية تتبادل فيها المخلوقات المادة الوراثية».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صح. هذا ما يميز الاقتران عن الانشطار الثنائي: تلتحم المخلوقات وتتبادل المادة الوراثية، ثم تنفصل وينقسم كل منها.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4082006"/>
            <a:ext cx="4626864" cy="1482906"/>
          </a:xfrm>
          <a:prstGeom prst="roundRect">
            <a:avLst>
              <a:gd name="adj" fmla="val 616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6_conj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55158"/>
            <a:ext cx="4480560" cy="13366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44604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4" name="nav_spore0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5458968" y="2331720"/>
            <a:ext cx="1280160" cy="128016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779008" y="2834640"/>
            <a:ext cx="640080" cy="27432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4251960"/>
            <a:ext cx="777240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من الكتاب: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«وتحتوي الأبواغ على المادة الوراثية داخل غشاء يحميها»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63040"/>
            <a:ext cx="3291840" cy="1188720"/>
          </a:xfrm>
          <a:prstGeom prst="roundRect">
            <a:avLst>
              <a:gd name="adj" fmla="val 15384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r" rtl="1"/>
            <a:r>
              <a:rPr sz="18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</a:t>
            </a:r>
          </a:p>
          <a:p>
            <a:pPr algn="r" rtl="1"/>
            <a:r>
              <a:rPr sz="1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البوغيات، يحتاج إلى جسم مخلوق حي آخر لينمو داخله، ويسبب مرض الملاريا.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5458968" y="2331720"/>
            <a:ext cx="1280160" cy="128016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779008" y="2834640"/>
            <a:ext cx="640080" cy="27432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ad"/>
          <p:cNvSpPr/>
          <p:nvPr/>
        </p:nvSpPr>
        <p:spPr>
          <a:xfrm>
            <a:off x="7287768" y="1920240"/>
            <a:ext cx="3840480" cy="548640"/>
          </a:xfrm>
          <a:prstGeom prst="roundRect">
            <a:avLst>
              <a:gd name="adj" fmla="val 50000"/>
            </a:avLst>
          </a:prstGeom>
          <a:solidFill>
            <a:srgbClr val="FFE0CC"/>
          </a:solidFill>
          <a:ln w="25400">
            <a:solidFill>
              <a:srgbClr val="E07B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9A3D00"/>
                </a:solidFill>
                <a:latin typeface="Arial"/>
                <a:ea typeface="Arial"/>
                <a:cs typeface="Arial"/>
              </a:rPr>
              <a:t>ظروف قاسية: جفاف وحرارة</a:t>
            </a:r>
          </a:p>
        </p:txBody>
      </p:sp>
      <p:sp>
        <p:nvSpPr>
          <p:cNvPr id="10" name="!!lab1"/>
          <p:cNvSpPr/>
          <p:nvPr/>
        </p:nvSpPr>
        <p:spPr>
          <a:xfrm>
            <a:off x="6185916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تتحمل الأبواغ الظروف القاسية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4453128" y="1920240"/>
            <a:ext cx="3291840" cy="210312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641848" y="2788920"/>
            <a:ext cx="914400" cy="36576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good"/>
          <p:cNvSpPr/>
          <p:nvPr/>
        </p:nvSpPr>
        <p:spPr>
          <a:xfrm>
            <a:off x="8202168" y="192024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D7F5E3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ظروف مناسبة</a:t>
            </a:r>
          </a:p>
        </p:txBody>
      </p:sp>
      <p:sp>
        <p:nvSpPr>
          <p:cNvPr id="10" name="!!lab1"/>
          <p:cNvSpPr/>
          <p:nvPr/>
        </p:nvSpPr>
        <p:spPr>
          <a:xfrm>
            <a:off x="6185916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تتحمل الأبواغ الظروف القاسية</a:t>
            </a:r>
          </a:p>
        </p:txBody>
      </p:sp>
      <p:sp>
        <p:nvSpPr>
          <p:cNvPr id="11" name="!!lab2"/>
          <p:cNvSpPr/>
          <p:nvPr/>
        </p:nvSpPr>
        <p:spPr>
          <a:xfrm>
            <a:off x="548639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تنمو عندما تتهيأ ظروف مناسبة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spore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تستطيع الأبواغ أن تتحمل الظروف القاسية؟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داخل غشاء يحميها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كبيرة الحجم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تصنع غذاءها بنفسها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يحيط بالمادة الوراثية داخل البوغ؟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spore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تستطيع الأبواغ أن تتحمل الظروف القاسية؟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المادة الوراثية داخل غشاء يحميها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«وتحتوي الأبواغ على المادة الوراثية داخل غشاء يحميها»؛ لذا تتحمل الظروف القاسية حتى تتهيأ ظروف مناسبة فتنمو.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3529992"/>
            <a:ext cx="4626864" cy="2586934"/>
          </a:xfrm>
          <a:prstGeom prst="roundRect">
            <a:avLst>
              <a:gd name="adj" fmla="val 353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6_spor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603144"/>
            <a:ext cx="4480560" cy="244063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998055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4" name="nav_cmp96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مقارنة بصرية: طرق تكاثر الطلائعيات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2148840"/>
            <a:ext cx="1691640" cy="640080"/>
          </a:xfrm>
          <a:prstGeom prst="roundRect">
            <a:avLst>
              <a:gd name="adj" fmla="val 1714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النوع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2880360"/>
            <a:ext cx="1691640" cy="1508760"/>
          </a:xfrm>
          <a:prstGeom prst="roundRect">
            <a:avLst>
              <a:gd name="adj" fmla="val 727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يحدث؟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4480560"/>
            <a:ext cx="1691640" cy="640080"/>
          </a:xfrm>
          <a:prstGeom prst="roundRect">
            <a:avLst>
              <a:gd name="adj" fmla="val 1714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مثال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لاجنسي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ينقسم المخلوق الحي إلى مخلوقين جديدين متماثلين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جنسي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تلتحم المخلوقات وتتبادل المادة الوراثية، ثم تنفصل وتنقسم بالانشطار الثنائي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19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البوغيات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19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مادة وراثية داخل غشاء يحميها، تتحمل الظروف القاسية ثم تنمو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</a:t>
            </a:r>
          </a:p>
        </p:txBody>
      </p:sp>
      <p:sp>
        <p:nvSpPr>
          <p:cNvPr id="4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47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48" name="nav_cl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«تلتحم المخلوقات وتتبادل المادة الوراثية»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في أي طريقة تتبادل المخلوقات المادة الوراثية؟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ls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«تلتحم المخلوقات وتتبادل المادة الوراثية»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صفة الاقتران: عملية جنسية تلتحم فيها المخلوقات وتتبادل المادة الوراثية.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ls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«مادة وراثية داخل غشاء يحميها»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ما الذي يحمي المادة الوراثية حتى تتحسن الظروف؟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ls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«مادة وراثية داخل غشاء يحميها»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صفة الأبواغ: تحتوي على المادة الوراثية داخل غشاء يحميها.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map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بطاقة الطلائعيات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5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6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/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pic>
        <p:nvPicPr>
          <p:cNvPr id="12" name="!!lock_b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587752"/>
            <a:ext cx="502920" cy="502920"/>
          </a:xfrm>
          <a:prstGeom prst="rect">
            <a:avLst/>
          </a:prstGeom>
        </p:spPr>
      </p:pic>
      <p:sp>
        <p:nvSpPr>
          <p:cNvPr id="13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4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5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2" name="nav_p97page">
            <a:hlinkClick action="ppaction://hlinksldjump" r:id="rId6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الفطريات والبكتيريا: صفحة ٩٧ على الشاشة الذكية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648" y="1261872"/>
            <a:ext cx="4076942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7_fung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6658" y="1280160"/>
            <a:ext cx="3554642" cy="4800600"/>
          </a:xfrm>
          <a:prstGeom prst="rect">
            <a:avLst/>
          </a:prstGeom>
        </p:spPr>
      </p:pic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①: فطر الخميرة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Picture 4" descr="micro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103120"/>
            <a:ext cx="3175782" cy="39319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2926080" y="1188720"/>
            <a:ext cx="5029200" cy="4983480"/>
          </a:xfrm>
          <a:prstGeom prst="ellipse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7_yeas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1783080"/>
            <a:ext cx="3108960" cy="39867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1371600"/>
            <a:ext cx="3520440" cy="3291840"/>
          </a:xfrm>
          <a:prstGeom prst="roundRect">
            <a:avLst>
              <a:gd name="adj" fmla="val 6944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21040" y="1463040"/>
            <a:ext cx="3246120" cy="31089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1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الخلايا الصغيرة الملتصقة بالخلايا الكبيرة.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تتوقعين أن تكون؟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2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6117336" y="2322575"/>
            <a:ext cx="109728" cy="109728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851660"/>
            <a:ext cx="777240" cy="77724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897879" y="1508760"/>
            <a:ext cx="1188720" cy="11887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394960" y="25786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303020"/>
            <a:ext cx="1417320" cy="14173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345936" y="1783080"/>
            <a:ext cx="566928" cy="45720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7726680" y="2080260"/>
            <a:ext cx="1737360" cy="19659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275320" y="2898648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 ينفصل البرعم ويصبح مخلوقًا حيًا جديدًا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fspore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6117336" y="2322575"/>
            <a:ext cx="109728" cy="109728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bud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851660"/>
            <a:ext cx="777240" cy="77724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budS2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897879" y="1508760"/>
            <a:ext cx="1188720" cy="11887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394960" y="25786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6" name="nav_budS3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303020"/>
            <a:ext cx="1417320" cy="14173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345936" y="1783080"/>
            <a:ext cx="566928" cy="45720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7" name="nav_budS4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7726680" y="2080260"/>
            <a:ext cx="1737360" cy="19659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275320" y="2898648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 ينفصل البرعم ويصبح مخلوقًا حيًا جديدًا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budS_en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انتهت الحركة البطيئة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2783344" cy="4389120"/>
          </a:xfrm>
          <a:prstGeom prst="rect">
            <a:avLst/>
          </a:prstGeom>
        </p:spPr>
      </p:pic>
      <p:sp>
        <p:nvSpPr>
          <p:cNvPr id="6" name="bubble"/>
          <p:cNvSpPr/>
          <p:nvPr/>
        </p:nvSpPr>
        <p:spPr>
          <a:xfrm>
            <a:off x="4389120" y="1463040"/>
            <a:ext cx="6949440" cy="137160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لاحظتِ؟ النواة انقسمت انقسامًا متساويًا، فأخذ البرعم نواة مماثلة.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6949440" y="3566160"/>
            <a:ext cx="4389120" cy="777240"/>
          </a:xfrm>
          <a:prstGeom prst="roundRect">
            <a:avLst>
              <a:gd name="adj" fmla="val 35294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0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ale"/>
          <p:cNvSpPr/>
          <p:nvPr/>
        </p:nvSpPr>
        <p:spPr>
          <a:xfrm>
            <a:off x="3493008" y="2377440"/>
            <a:ext cx="1188720" cy="1188720"/>
          </a:xfrm>
          <a:prstGeom prst="ellipse">
            <a:avLst/>
          </a:prstGeom>
          <a:solidFill>
            <a:srgbClr val="A9D4FF"/>
          </a:solidFill>
          <a:ln w="38100">
            <a:solidFill>
              <a:srgbClr val="3D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emale"/>
          <p:cNvSpPr/>
          <p:nvPr/>
        </p:nvSpPr>
        <p:spPr>
          <a:xfrm>
            <a:off x="7516368" y="2377440"/>
            <a:ext cx="1188720" cy="1188720"/>
          </a:xfrm>
          <a:prstGeom prst="ellipse">
            <a:avLst/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1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ale"/>
          <p:cNvSpPr/>
          <p:nvPr/>
        </p:nvSpPr>
        <p:spPr>
          <a:xfrm>
            <a:off x="5184648" y="2377440"/>
            <a:ext cx="1188720" cy="1188720"/>
          </a:xfrm>
          <a:prstGeom prst="ellipse">
            <a:avLst/>
          </a:prstGeom>
          <a:solidFill>
            <a:srgbClr val="A9D4FF"/>
          </a:solidFill>
          <a:ln w="38100">
            <a:solidFill>
              <a:srgbClr val="3D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emale"/>
          <p:cNvSpPr/>
          <p:nvPr/>
        </p:nvSpPr>
        <p:spPr>
          <a:xfrm>
            <a:off x="5824727" y="2377440"/>
            <a:ext cx="1188720" cy="1188720"/>
          </a:xfrm>
          <a:prstGeom prst="ellipse">
            <a:avLst/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sac"/>
          <p:cNvSpPr/>
          <p:nvPr/>
        </p:nvSpPr>
        <p:spPr>
          <a:xfrm>
            <a:off x="5184648" y="2240280"/>
            <a:ext cx="1828800" cy="1463040"/>
          </a:xfrm>
          <a:prstGeom prst="ellipse">
            <a:avLst/>
          </a:prstGeom>
          <a:solidFill>
            <a:srgbClr val="F6E3B5"/>
          </a:solidFill>
          <a:ln w="38100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s0"/>
          <p:cNvSpPr/>
          <p:nvPr/>
        </p:nvSpPr>
        <p:spPr>
          <a:xfrm>
            <a:off x="5559552" y="26151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1"/>
          <p:cNvSpPr/>
          <p:nvPr/>
        </p:nvSpPr>
        <p:spPr>
          <a:xfrm>
            <a:off x="5971032" y="24780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2"/>
          <p:cNvSpPr/>
          <p:nvPr/>
        </p:nvSpPr>
        <p:spPr>
          <a:xfrm>
            <a:off x="6382512" y="26151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3"/>
          <p:cNvSpPr/>
          <p:nvPr/>
        </p:nvSpPr>
        <p:spPr>
          <a:xfrm>
            <a:off x="5605272" y="30723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4"/>
          <p:cNvSpPr/>
          <p:nvPr/>
        </p:nvSpPr>
        <p:spPr>
          <a:xfrm>
            <a:off x="6016752" y="31181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5"/>
          <p:cNvSpPr/>
          <p:nvPr/>
        </p:nvSpPr>
        <p:spPr>
          <a:xfrm>
            <a:off x="6382512" y="30266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5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sac"/>
          <p:cNvSpPr/>
          <p:nvPr/>
        </p:nvSpPr>
        <p:spPr>
          <a:xfrm>
            <a:off x="5184648" y="2240280"/>
            <a:ext cx="1828800" cy="1463040"/>
          </a:xfrm>
          <a:prstGeom prst="ellipse">
            <a:avLst/>
          </a:prstGeom>
          <a:solidFill>
            <a:srgbClr val="F6E3B5"/>
          </a:solidFill>
          <a:ln w="38100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s0"/>
          <p:cNvSpPr/>
          <p:nvPr/>
        </p:nvSpPr>
        <p:spPr>
          <a:xfrm>
            <a:off x="3227832" y="20208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1"/>
          <p:cNvSpPr/>
          <p:nvPr/>
        </p:nvSpPr>
        <p:spPr>
          <a:xfrm>
            <a:off x="4599432" y="16550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2"/>
          <p:cNvSpPr/>
          <p:nvPr/>
        </p:nvSpPr>
        <p:spPr>
          <a:xfrm>
            <a:off x="7434071" y="17465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3"/>
          <p:cNvSpPr/>
          <p:nvPr/>
        </p:nvSpPr>
        <p:spPr>
          <a:xfrm>
            <a:off x="3593592" y="366674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4"/>
          <p:cNvSpPr/>
          <p:nvPr/>
        </p:nvSpPr>
        <p:spPr>
          <a:xfrm>
            <a:off x="6153912" y="39867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5"/>
          <p:cNvSpPr/>
          <p:nvPr/>
        </p:nvSpPr>
        <p:spPr>
          <a:xfrm>
            <a:off x="8714232" y="34838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5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6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تنتشر الأبواغ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ground"/>
          <p:cNvSpPr/>
          <p:nvPr/>
        </p:nvSpPr>
        <p:spPr>
          <a:xfrm>
            <a:off x="3355848" y="4229100"/>
            <a:ext cx="5486400" cy="411480"/>
          </a:xfrm>
          <a:prstGeom prst="roundRect">
            <a:avLst>
              <a:gd name="adj" fmla="val 50000"/>
            </a:avLst>
          </a:prstGeom>
          <a:solidFill>
            <a:srgbClr val="E3B27A"/>
          </a:solidFill>
          <a:ln w="25400">
            <a:solidFill>
              <a:srgbClr val="B0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hy"/>
          <p:cNvSpPr/>
          <p:nvPr/>
        </p:nvSpPr>
        <p:spPr>
          <a:xfrm>
            <a:off x="6181344" y="3063239"/>
            <a:ext cx="201168" cy="100584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0"/>
          <p:cNvSpPr/>
          <p:nvPr/>
        </p:nvSpPr>
        <p:spPr>
          <a:xfrm>
            <a:off x="3227832" y="20208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1"/>
          <p:cNvSpPr/>
          <p:nvPr/>
        </p:nvSpPr>
        <p:spPr>
          <a:xfrm>
            <a:off x="4599432" y="16550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2"/>
          <p:cNvSpPr/>
          <p:nvPr/>
        </p:nvSpPr>
        <p:spPr>
          <a:xfrm>
            <a:off x="7434071" y="17465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3"/>
          <p:cNvSpPr/>
          <p:nvPr/>
        </p:nvSpPr>
        <p:spPr>
          <a:xfrm>
            <a:off x="3593592" y="366674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4"/>
          <p:cNvSpPr/>
          <p:nvPr/>
        </p:nvSpPr>
        <p:spPr>
          <a:xfrm>
            <a:off x="6135624" y="3968496"/>
            <a:ext cx="292608" cy="292608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s5"/>
          <p:cNvSpPr/>
          <p:nvPr/>
        </p:nvSpPr>
        <p:spPr>
          <a:xfrm>
            <a:off x="8714232" y="34838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6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7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تنتشر الأبواغ</a:t>
            </a:r>
          </a:p>
        </p:txBody>
      </p:sp>
      <p:sp>
        <p:nvSpPr>
          <p:cNvPr id="18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إذا سقطت في بيئة مناسبة تنمو وتنتج فطرًا جديدًا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1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2" name="nav_bfis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4636008" y="2468880"/>
            <a:ext cx="292608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4636008" y="2468880"/>
            <a:ext cx="292608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5687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5687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22960" y="1463040"/>
            <a:ext cx="3566160" cy="914400"/>
          </a:xfrm>
          <a:prstGeom prst="roundRect">
            <a:avLst>
              <a:gd name="adj" fmla="val 2000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بكتيريا تعيش في أمعاء الإنسان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04487" y="2468880"/>
            <a:ext cx="438912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904487" y="2468880"/>
            <a:ext cx="438912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459028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678484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67328" y="2491740"/>
            <a:ext cx="2377440" cy="96012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053328" y="2491740"/>
            <a:ext cx="2377440" cy="96012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4544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6830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468880"/>
            <a:ext cx="237744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468880"/>
            <a:ext cx="237744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38587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75163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3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7" name="nav_bconj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 —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58978"/>
            <a:ext cx="4901184" cy="4997242"/>
          </a:xfrm>
          <a:prstGeom prst="roundRect">
            <a:avLst>
              <a:gd name="adj" fmla="val 186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bac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32130"/>
            <a:ext cx="4754880" cy="48509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20440" y="603734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234440"/>
            <a:ext cx="6126480" cy="1051560"/>
          </a:xfrm>
          <a:prstGeom prst="roundRect">
            <a:avLst>
              <a:gd name="adj" fmla="val 21739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0" y="1261872"/>
            <a:ext cx="5852160" cy="10058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يمثل الجسر الذي يربط بين الخليتين في الصورة؟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532120" y="2468880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ممر تنتقل عبره المادة الوراثية من خلية إلى أخرى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532120" y="3633216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أنبوب لنقل الغذاء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532120" y="4797552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ذيل تتحرك به البكتيريا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اقرئي تعليق الصورة في الكتاب: «تُظهر كيف تنتقل المعلومات الوراثية عبر جسر…»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bconj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يمثل الجسر الذي يربط بين الخليتين في الصورة؟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ممر تنتقل عبره المادة الوراثية من خلية إلى أخرى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تتصل خليتان معًا، وتنتقل المادة الوراثية من إحداهما إلى الأخرى عبر الجسر، ثم تنفصلان وتنقسمان.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3526237"/>
            <a:ext cx="4626864" cy="2594445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7_bacttex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599389"/>
            <a:ext cx="4480560" cy="244814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600181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4" name="nav_bc0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6464807" y="1874519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BR"/>
          <p:cNvSpPr/>
          <p:nvPr/>
        </p:nvSpPr>
        <p:spPr>
          <a:xfrm>
            <a:off x="5989320" y="2423160"/>
            <a:ext cx="219456" cy="1097280"/>
          </a:xfrm>
          <a:prstGeom prst="rect">
            <a:avLst/>
          </a:prstGeom>
          <a:solidFill>
            <a:srgbClr val="E0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G"/>
          <p:cNvSpPr/>
          <p:nvPr/>
        </p:nvSpPr>
        <p:spPr>
          <a:xfrm>
            <a:off x="6464807" y="1874519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BR"/>
          <p:cNvSpPr/>
          <p:nvPr/>
        </p:nvSpPr>
        <p:spPr>
          <a:xfrm>
            <a:off x="5989320" y="2423160"/>
            <a:ext cx="219456" cy="1097280"/>
          </a:xfrm>
          <a:prstGeom prst="rect">
            <a:avLst/>
          </a:prstGeom>
          <a:solidFill>
            <a:srgbClr val="E0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G"/>
          <p:cNvSpPr/>
          <p:nvPr/>
        </p:nvSpPr>
        <p:spPr>
          <a:xfrm>
            <a:off x="5943600" y="2816352"/>
            <a:ext cx="310896" cy="310896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4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447287" y="146304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447287" y="146304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5093208" y="356616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5093208" y="356616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6190488" y="3840480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3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4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تنفصل الخليتان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990087" y="14630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5367528" y="14630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636007" y="356616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013448" y="356616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5550407" y="3840480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3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4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تنفصل الخليتان</a:t>
            </a:r>
          </a:p>
        </p:txBody>
      </p:sp>
      <p:sp>
        <p:nvSpPr>
          <p:cNvPr id="15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وتنقسمان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mp97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وأستنتج: التبرعم والانشطار الثنائي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Oval 4"/>
          <p:cNvSpPr/>
          <p:nvPr/>
        </p:nvSpPr>
        <p:spPr>
          <a:xfrm>
            <a:off x="4937760" y="1325880"/>
            <a:ext cx="5120640" cy="3657600"/>
          </a:xfrm>
          <a:prstGeom prst="ellipse">
            <a:avLst/>
          </a:prstGeom>
          <a:solidFill>
            <a:srgbClr val="D8F0B8">
              <a:alpha val="75000"/>
            </a:srgbClr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2148840" y="1325880"/>
            <a:ext cx="5120640" cy="3657600"/>
          </a:xfrm>
          <a:prstGeom prst="ellipse">
            <a:avLst/>
          </a:prstGeom>
          <a:solidFill>
            <a:srgbClr val="FFC2D1">
              <a:alpha val="75000"/>
            </a:srgbClr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60920" y="1965960"/>
            <a:ext cx="2514600" cy="2377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4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بروز صغير ينمو على الخلية الأم ثم ينفصل</a:t>
            </a:r>
          </a:p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965960"/>
            <a:ext cx="2514600" cy="2377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4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تنقسم الخلية إلى خليتين متماثلتين</a:t>
            </a:r>
          </a:p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مثل البراميسيوم والبكتيريا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103120"/>
            <a:ext cx="2240280" cy="2103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أوجه الشبه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المخلوق الجديد يشبه أصله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840480" y="5257800"/>
            <a:ext cx="4526280" cy="731520"/>
          </a:xfrm>
          <a:prstGeom prst="roundRect">
            <a:avLst>
              <a:gd name="adj" fmla="val 37499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سؤال: ما وجه الشبه بينهما؟ ←</a:t>
            </a:r>
          </a:p>
        </p:txBody>
      </p:sp>
      <p:sp>
        <p:nvSpPr>
          <p:cNvPr id="3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39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وجه الشبه بين التبرعم والانشطار الثنائي؟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تكاثر لاجنسي ينتج مخلوقًا يشبه أصله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تتبادل فيه خليتان المادة الوراثية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يحدث في البكتيريا فقط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يحتاج التبرعم أو الانشطار إلى خليتين؟ ماذا يعني ذلك عن نوع التكاثر؟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cmp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وجه الشبه بين التبرعم والانشطار الثنائي؟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كلاهما تكاثر لاجنسي ينتج مخلوقًا يشبه أصله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والانشطار الثنائي كلاهما تكاثر لاجنسي من مخلوق واحد، والمخلوق الجديد يشبه أصله لأن نواته مماثلة.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who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880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53" y="1234440"/>
            <a:ext cx="3782493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89708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فطر وحيد الخلية، أُستخدم في صنع الخبز، وينمو على خليتي بروز صغير.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كلمة «بروز صغير».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who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فطر وحيد الخلية، أُستخدم في صنع الخبز، وينمو على خليتي بروز صغير.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الخميرة! أتكاثر لاجنسيًا بالتبرعم: يتكوّن البرعم بنمو بروز صغير على الخلية الأم.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who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912364"/>
            <a:ext cx="4626864" cy="1490472"/>
          </a:xfrm>
          <a:prstGeom prst="roundRect">
            <a:avLst>
              <a:gd name="adj" fmla="val 613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85516"/>
            <a:ext cx="4480560" cy="13441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28396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طلائعي، أستطيل وتتضاعف كروموسوماتي وأنقسم إلى اثنين.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كلمة «طلائعي» و«أنقسم إلى اثنين».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who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طلائعي، أستطيل وتتضاعف كروموسوماتي وأنقسم إلى اثنين.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البراميسيوم! أتكاثر بالانشطار الثنائي: أستطيل وتتضاعف كروموسوماتي وأنقسم إلى اثنين.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who3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464308"/>
            <a:ext cx="4626864" cy="2386584"/>
          </a:xfrm>
          <a:prstGeom prst="roundRect">
            <a:avLst>
              <a:gd name="adj" fmla="val 383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bact_r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537460"/>
            <a:ext cx="4480560" cy="2240280"/>
          </a:xfrm>
          <a:prstGeom prst="rect">
            <a:avLst/>
          </a:prstGeom>
        </p:spPr>
      </p:pic>
      <p:sp>
        <p:nvSpPr>
          <p:cNvPr id="7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بكتيريا أعيش في أمعاء الإنسان، وأتكاثر غالبًا بالانشطار الثنائي.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9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0" name="!!opt1">
            <a:hlinkClick action="ppaction://hlinksldjump" r:id="rId5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1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«أمعاء الإنسان».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who3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بكتيريا أعيش في أمعاء الإنسان، وأتكاثر غالبًا بالانشطار الثنائي.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بكتيريا إي.كولاي! أعيش في أمعاء الإنسان، وأتكاثر بالانشطار الثنائي مثل معظم البكتيريا.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err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معظم البكتيريا بالانشطار الثنائي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ما يحدث لنواة الخلية الأم في التبرعم: هل تنقسم انقسامًا متساويًا؟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err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معظم البكتيريا بالانشطار الثنائي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884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993" y="1234440"/>
            <a:ext cx="3782493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1712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ص٩٧: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«تنقسم نواة الخلية الأم انقسامًا متساويًا، وينتج عن ذلك نواتان متماثلتان في كروموسوماتهما»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حركة التبرعم ببطء.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«يحصل البرعم على نواة مماثلة لنواة الخلية الأم».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العبارة (ج) خاطئة؛ لأن نواة الخلية الأم تنقسم انقسامًا متساويًا، فتكون كروموسومات البرعم مماثلة لكروموسومات الخلية الأم.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hk97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337281"/>
            <a:ext cx="4626864" cy="2640636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0433"/>
            <a:ext cx="4480560" cy="24943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85904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عندما يحدث التبرعم، هل يشبه المخلوق الجديد أصله؟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نعم يشبهه؛ لأن نواة الأم تنقسم انقسامًا متساويًا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يشبهه؛ لأنه أصغر حجمًا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يشبهه؛ لأنه اقترن بخلية أخرى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حركة التبرعم: ماذا حدث للنواة قبل أن تنتقل إحدى النواتين إلى البرعم؟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hk97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عندما يحدث التبرعم، هل يشبه المخلوق الجديد أصله؟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نعم يشبهه؛ لأن نواة الأم تنقسم انقسامًا متساويًا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نعم يشبهه؛ لأن نواة الخلية الأم تنقسم انقسامًا متساويًا، فتكون كروموسومات المخلوق الجديد مماثلة لكروموسومات أصله.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t97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التفكير الناقد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413638"/>
            <a:ext cx="4352544" cy="2487922"/>
          </a:xfrm>
          <a:prstGeom prst="roundRect">
            <a:avLst>
              <a:gd name="adj" fmla="val 367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86790"/>
            <a:ext cx="4206240" cy="23416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1799" y="478268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34440"/>
            <a:ext cx="6675120" cy="1600200"/>
          </a:xfrm>
          <a:prstGeom prst="roundRect">
            <a:avLst>
              <a:gd name="adj" fmla="val 14285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9281160" y="1097280"/>
            <a:ext cx="2286000" cy="438912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508760"/>
            <a:ext cx="6309359" cy="12801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فيمَ يختلف الانشطار الثنائي عن الاقتران (التزاوج)؟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971800"/>
            <a:ext cx="6309359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ناقشي مع مجموعتك… ثم اضغطي لإظهار الإجابة النموذجية</a:t>
            </a:r>
          </a:p>
        </p:txBody>
      </p:sp>
      <p:sp>
        <p:nvSpPr>
          <p:cNvPr id="12" name="revealbtn"/>
          <p:cNvSpPr/>
          <p:nvPr/>
        </p:nvSpPr>
        <p:spPr>
          <a:xfrm>
            <a:off x="6492240" y="3611880"/>
            <a:ext cx="3657600" cy="640080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إظهار الإجابة النموذجية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4389120"/>
            <a:ext cx="6675120" cy="1783080"/>
          </a:xfrm>
          <a:prstGeom prst="roundRect">
            <a:avLst>
              <a:gd name="adj" fmla="val 1282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66360" y="4434840"/>
            <a:ext cx="6309359" cy="1691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تكاثر لاجنسي ينقسم فيه المخلوق إلى مخلوقين متماثلين، أمّا الاقتران فتكاثر جنسي تتصل فيه خليتان وتتبادلان المادة الوراثية.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tf97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«في الانشطار الثنائي تتبادل خليتان المادة الوراثية».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1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الذي تتبادل فيه الخلايا المادة الوراثية: الانشطار أم الاقتران؟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tf97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«في الانشطار الثنائي تتبادل خليتان المادة الوراثية».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خطأ؛ تبادل المادة الوراثية يحدث في الاقتران، أما في الانشطار الثنائي فينقسم مخلوق واحد إلى مخلوقين متماثلين.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map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بطاقات الفطريات والبكتيريا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2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7" name="nav_p98page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</p:bld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نمو العفن: صفحة ٩٨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796" y="1261872"/>
            <a:ext cx="3650646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8_activit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8780" y="1280160"/>
            <a:ext cx="2570400" cy="4800600"/>
          </a:xfrm>
          <a:prstGeom prst="rect">
            <a:avLst/>
          </a:prstGeom>
        </p:spPr>
      </p:pic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طاولة التجارب: حدّدي الأدوات اللازمة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977639"/>
            <a:ext cx="9966960" cy="2240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اضغطي على الأدوات التي نحتاجها في نشاط «نمو العفن»</a:t>
            </a:r>
          </a:p>
        </p:txBody>
      </p:sp>
      <p:pic>
        <p:nvPicPr>
          <p:cNvPr id="7" name="Picture 6" descr="tool_bread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6416" y="1828800"/>
            <a:ext cx="1325880" cy="1435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21824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قطعة خبز</a:t>
            </a:r>
          </a:p>
        </p:txBody>
      </p:sp>
      <p:pic>
        <p:nvPicPr>
          <p:cNvPr id="9" name="Picture 8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7664" y="1783080"/>
            <a:ext cx="502920" cy="502920"/>
          </a:xfrm>
          <a:prstGeom prst="rect">
            <a:avLst/>
          </a:prstGeom>
        </p:spPr>
      </p:pic>
      <p:pic>
        <p:nvPicPr>
          <p:cNvPr id="10" name="Picture 9" descr="tool_wa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3648" y="1828800"/>
            <a:ext cx="1325880" cy="1435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49056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ماء</a:t>
            </a:r>
          </a:p>
        </p:txBody>
      </p:sp>
      <p:pic>
        <p:nvPicPr>
          <p:cNvPr id="12" name="Picture 11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1783080"/>
            <a:ext cx="502920" cy="502920"/>
          </a:xfrm>
          <a:prstGeom prst="rect">
            <a:avLst/>
          </a:prstGeom>
        </p:spPr>
      </p:pic>
      <p:pic>
        <p:nvPicPr>
          <p:cNvPr id="13" name="Picture 12" descr="tool_bagIc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1828800"/>
            <a:ext cx="1325880" cy="1435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76288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كيس بلاستيكي ذاتي الغلق</a:t>
            </a:r>
          </a:p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8" y="1783080"/>
            <a:ext cx="502920" cy="502920"/>
          </a:xfrm>
          <a:prstGeom prst="rect">
            <a:avLst/>
          </a:prstGeom>
        </p:spPr>
      </p:pic>
      <p:pic>
        <p:nvPicPr>
          <p:cNvPr id="16" name="Picture 15" descr="tool_le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68112" y="1828800"/>
            <a:ext cx="1325880" cy="1435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3520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عدسة مكبرة</a:t>
            </a:r>
          </a:p>
        </p:txBody>
      </p:sp>
      <p:pic>
        <p:nvPicPr>
          <p:cNvPr id="18" name="Picture 17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1783080"/>
            <a:ext cx="502920" cy="502920"/>
          </a:xfrm>
          <a:prstGeom prst="rect">
            <a:avLst/>
          </a:prstGeom>
        </p:spPr>
      </p:pic>
      <p:pic>
        <p:nvPicPr>
          <p:cNvPr id="19" name="Picture 18" descr="tool_sal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95344" y="1828800"/>
            <a:ext cx="1325880" cy="1435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30752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ملح</a:t>
            </a:r>
          </a:p>
        </p:txBody>
      </p:sp>
      <p:pic>
        <p:nvPicPr>
          <p:cNvPr id="21" name="Picture 20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36592" y="1783080"/>
            <a:ext cx="502920" cy="5029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ملح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pic>
        <p:nvPicPr>
          <p:cNvPr id="23" name="Picture 22" descr="tool_scissor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22576" y="1828800"/>
            <a:ext cx="1325880" cy="1435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157984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مقص</a:t>
            </a:r>
          </a:p>
        </p:txBody>
      </p:sp>
      <p:pic>
        <p:nvPicPr>
          <p:cNvPr id="25" name="Picture 24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63824" y="1783080"/>
            <a:ext cx="502920" cy="50292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مقص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pic>
        <p:nvPicPr>
          <p:cNvPr id="27" name="Picture 26" descr="tool_therm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9808" y="1828800"/>
            <a:ext cx="1325880" cy="14356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85216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ميزان حرارة</a:t>
            </a:r>
          </a:p>
        </p:txBody>
      </p:sp>
      <p:pic>
        <p:nvPicPr>
          <p:cNvPr id="29" name="Picture 28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91056" y="1783080"/>
            <a:ext cx="502920" cy="5029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ميزان حرارة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sp>
        <p:nvSpPr>
          <p:cNvPr id="9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96" name="nav_map2">
            <a:hlinkClick action="ppaction://hlinksldjump" r:id="rId1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97" name="nav_step1">
            <a:hlinkClick action="ppaction://hlinksldjump" r:id="rId1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0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60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7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6" grpId="0" animBg="1"/>
      <p:bldP spid="30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①: نجهّز التجربة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234440"/>
            <a:ext cx="6903720" cy="1920240"/>
          </a:xfrm>
          <a:prstGeom prst="roundRect">
            <a:avLst>
              <a:gd name="adj" fmla="val 1190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892040" y="1280160"/>
            <a:ext cx="6629400" cy="1828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①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«أرطّب قطعة خبز بالماء، وأضعها داخل كيس بلاستيكي ذاتي الغلق. أغلق الكيس وأضعه في مكان مظلم دافئ عدة أيام».</a:t>
            </a:r>
          </a:p>
        </p:txBody>
      </p:sp>
      <p:pic>
        <p:nvPicPr>
          <p:cNvPr id="7" name="Picture 6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280160"/>
            <a:ext cx="3291840" cy="3529584"/>
          </a:xfrm>
          <a:prstGeom prst="rect">
            <a:avLst/>
          </a:prstGeom>
        </p:spPr>
      </p:pic>
      <p:pic>
        <p:nvPicPr>
          <p:cNvPr id="8" name="Picture 7" descr="bre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2103120"/>
            <a:ext cx="210312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54880" y="3337560"/>
            <a:ext cx="690372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 ماذا سيحدث للخبز بعد عدة أيام؟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DCEBFF"/>
          </a:solidFill>
          <a:ln w="2540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سيبقى كما هو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FFE3EC"/>
          </a:solidFill>
          <a:ln w="2540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سينمو عليه شيء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79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سيذوب في الماء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2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9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0" name="nav_days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مرور الأيام: نلاحظ التغيرات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1280160"/>
            <a:ext cx="4297680" cy="4608576"/>
          </a:xfrm>
          <a:prstGeom prst="rect">
            <a:avLst/>
          </a:prstGeom>
        </p:spPr>
      </p:pic>
      <p:pic>
        <p:nvPicPr>
          <p:cNvPr id="6" name="Picture 5" descr="bre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7" name="Picture 6" descr="brea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8" name="Picture 7" descr="brea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9" name="Picture 8" descr="bread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0116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يظهر زغب أبيض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832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تظهر بقع سوداء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ينتشر العفن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3383280"/>
            <a:ext cx="2651760" cy="128016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مكان مظلم دافئ</a:t>
            </a:r>
          </a:p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الكيس مغلق</a:t>
            </a:r>
          </a:p>
        </p:txBody>
      </p:sp>
      <p:sp>
        <p:nvSpPr>
          <p:cNvPr id="4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44" name="nav_map2">
            <a:hlinkClick action="ppaction://hlinksldjump" r:id="rId9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45" name="nav_step2">
            <a:hlinkClick action="ppaction://hlinksldjump" r:id="rId10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2" grpId="0" animBg="1"/>
      <p:bldP spid="15" grpId="0" animBg="1"/>
      <p:bldP spid="13" grpId="0" animBg="1"/>
      <p:bldP spid="16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②: ألاحظ بالعدسة المكبرة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4185" y="1161288"/>
            <a:ext cx="5892509" cy="5038344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mo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37" y="1234440"/>
            <a:ext cx="5746205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656182" y="608075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pic>
        <p:nvPicPr>
          <p:cNvPr id="8" name="Picture 7" descr="tool_l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3017520"/>
            <a:ext cx="2194560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12280" y="1234440"/>
            <a:ext cx="4846320" cy="2194560"/>
          </a:xfrm>
          <a:prstGeom prst="roundRect">
            <a:avLst>
              <a:gd name="adj" fmla="val 10416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49440" y="1280160"/>
            <a:ext cx="4572000" cy="2103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②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«ألاحظ. أستخدم عدسة مكبرة، وألاحظ قطعة الخبز، وأفحص كل تركيب».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3611880"/>
            <a:ext cx="4846320" cy="1097280"/>
          </a:xfrm>
          <a:prstGeom prst="roundRect">
            <a:avLst>
              <a:gd name="adj" fmla="val 20833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تعليق الكتاب: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«البقع السوداء أعلى الخيوط الفطرية هي محافظ الأبواغ»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4892040"/>
            <a:ext cx="4846320" cy="914400"/>
          </a:xfrm>
          <a:prstGeom prst="roundRect">
            <a:avLst>
              <a:gd name="adj" fmla="val 25000"/>
            </a:avLst>
          </a:prstGeom>
          <a:solidFill>
            <a:srgbClr val="FFE0E0"/>
          </a:solidFill>
          <a:ln w="317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C0392B"/>
                </a:solidFill>
                <a:latin typeface="Segoe UI Emoji"/>
                <a:ea typeface="Segoe UI Emoji"/>
                <a:cs typeface="Segoe UI Emoji"/>
              </a:rPr>
              <a:t>⚠</a:t>
            </a:r>
            <a:r>
              <a:rPr sz="23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 أحذر.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أفتح الكيس.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1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2" name="nav_safe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950 -0.1600 E" pathEditMode="relative" ptsTypes="">
                                      <p:cBhvr>
                                        <p:cTn id="4" dur="2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يحذّرنا الكتاب من فتح الكيس؟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تنتشر أبواغ العفن في الهواء ونستنشقها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يبرد الخبز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يتغير لون الكيس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2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الأبواغ صغيرة جدًا وتنتشر في الهواء.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safe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يحذّرنا الكتاب من فتح الكيس؟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حتى لا تنتشر أبواغ العفن في الهواء ونستنشقها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وتنتشر في الهواء؛ لذا نبقي الكيس مغلقًا حتى لا تنتشر الأبواغ ونستنشقها.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parts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③: أدوّن البيانات · حدّدي أجزاء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9945" y="1161288"/>
            <a:ext cx="5892509" cy="5038344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mo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097" y="1234440"/>
            <a:ext cx="5746205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1942" y="608075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234440"/>
            <a:ext cx="4160520" cy="1828800"/>
          </a:xfrm>
          <a:prstGeom prst="roundRect">
            <a:avLst>
              <a:gd name="adj" fmla="val 12500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35240" y="1280160"/>
            <a:ext cx="3886200" cy="1737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8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③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«أدوّن ملاحظاتي… وأرسم ما شاهدته، وأكتب أسماء أجزاء عفن الخبز الظاهرة».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15468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اضغطي على محافظ الأبواغ (البقع السوداء) وعلى الخيوط الفطرية.</a:t>
            </a:r>
          </a:p>
        </p:txBody>
      </p:sp>
      <p:sp>
        <p:nvSpPr>
          <p:cNvPr id="11" name="Oval 10"/>
          <p:cNvSpPr/>
          <p:nvPr/>
        </p:nvSpPr>
        <p:spPr>
          <a:xfrm>
            <a:off x="1932490" y="2115007"/>
            <a:ext cx="1264165" cy="1076248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932490" y="2115007"/>
            <a:ext cx="1264165" cy="1076248"/>
          </a:xfrm>
          <a:prstGeom prst="ellipse">
            <a:avLst/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41050" y="3099815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14" name="Oval 13"/>
          <p:cNvSpPr/>
          <p:nvPr/>
        </p:nvSpPr>
        <p:spPr>
          <a:xfrm>
            <a:off x="4575744" y="4463186"/>
            <a:ext cx="1436551" cy="1076248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75744" y="4463186"/>
            <a:ext cx="1436551" cy="1076248"/>
          </a:xfrm>
          <a:prstGeom prst="ellipse">
            <a:avLst/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484304" y="5447995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خيوط فطرية</a:t>
            </a:r>
          </a:p>
        </p:txBody>
      </p:sp>
      <p:sp>
        <p:nvSpPr>
          <p:cNvPr id="17" name="Oval 16"/>
          <p:cNvSpPr/>
          <p:nvPr/>
        </p:nvSpPr>
        <p:spPr>
          <a:xfrm>
            <a:off x="4805592" y="1381201"/>
            <a:ext cx="1723861" cy="1467611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7498079" y="4389120"/>
            <a:ext cx="4160520" cy="1188720"/>
          </a:xfrm>
          <a:prstGeom prst="roundRect">
            <a:avLst>
              <a:gd name="adj" fmla="val 1923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 هنا…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محافظ الأبواغ أعلى الخيوط ولونها أسود.</a:t>
            </a:r>
          </a:p>
        </p:txBody>
      </p:sp>
      <p:sp>
        <p:nvSpPr>
          <p:cNvPr id="3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36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7" name="nav_q_cause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8" grpId="0" animBg="1"/>
    </p:bld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أذاب الخبز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غيّر لون الخبز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5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الشروط التي وفّرناها داخل الكيس؟ ومن الذي يحتاج إلى هذه الشروط لينمو؟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cause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أذاب الخبز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غيّر لون الخبز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6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ص٩٨: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«وتعد البيئة الدافئة الرطبة الوسط المثالي لنمو هذا العفن»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كان: دافئًا ✔ رطبًا ✔ فيه غذاء (الخبز) ✔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 بيئة هي الوسط المثالي لنمو عفن الخبز؟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دافئة رطبة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باردة جافة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مضيئة جافة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نمو عفن الخبز؛ فقد وجد في الكيس المغلق رطوبة ودفئًا وظلامًا وغذاءً، وهي الظروف المناسبة لنموه وتكاثره.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q_source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تحوّل إلى عفن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صنع العفن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5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ما قرأناه في ص٩٧: الأبواغ تنتشر، فإذا سقطت في بيئة مناسبة نمت.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source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تحوّل إلى عفن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صنع العفن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6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ص٩٨: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«وأبواغ هذا العفن صغيرة جدًا، ولكنها إذا سقطت في بيئة مناسبة فإنها تنمو سريعًا»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لا يأتي من الماء أو الكيس، بل من أبواغ صغيرة لا نراها.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أين كانت أبواغ العفن قبل أن تصل إلى الخبز؟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الهواء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داخل الماء فقط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داخل الكيس المصنع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مصدر العفن أبواغ العفن المنتشرة في الهواء؛ سقطت على الخبز قبل وضعه في الكيس، فلما وجدت بيئة مناسبة نمت.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omp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وضعنا خبزًا جافًا في الثلاجة؟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يقلّ نمو العفن كثيرًا؛ لغياب الدفء والرطوبة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ينمو العفن أسرع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فرق بين الحالتين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2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الوسط المثالي لنمو العفن: دافئ أم بارد؟ رطب أم جاف؟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omp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وضعنا خبزًا جافًا في الثلاجة؟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يقلّ نمو العفن كثيرًا؛ لغياب الدفء والرطوبة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البيئة الدافئة الرطبة هي الوسط المثالي لنمو العفن؛ فإذا غاب الدفء والرطوبة قلّت فرصة نموه.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omp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استنتاج تدعمه تجربتنا؟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يحتاج العفن إلى بيئة دافئة رطبة لينمو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يصنع غذاءه من الضوء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ينمو في الأماكن الجافة فقط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2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الظروف التي وفّرناها فنما العفن؟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omp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استنتاج تدعمه تجربتنا؟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يحتاج العفن إلى بيئة دافئة رطبة لينمو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نما العفن عندما توافرت له بيئة دافئة رطبة وغذاء؛ إذن يحتاج العفن إلى بيئة دافئة رطبة لينمو.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moldtext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عفن الخبز؟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76488" y="1305721"/>
            <a:ext cx="3255264" cy="4703756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378873"/>
            <a:ext cx="3108960" cy="45574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921240" y="589060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7680960" cy="914400"/>
          </a:xfrm>
          <a:prstGeom prst="roundRect">
            <a:avLst>
              <a:gd name="adj" fmla="val 15000"/>
            </a:avLst>
          </a:prstGeom>
          <a:solidFill>
            <a:srgbClr val="E3B27A"/>
          </a:solidFill>
          <a:ln w="25400">
            <a:solidFill>
              <a:srgbClr val="B0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828800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500" b="1" i="0" lang="ar-SA">
                <a:solidFill>
                  <a:srgbClr val="6B4300"/>
                </a:solidFill>
                <a:latin typeface="Arial"/>
                <a:ea typeface="Arial"/>
                <a:cs typeface="Arial"/>
              </a:rPr>
              <a:t>سطح الخبز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0040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30352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46304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56616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69279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77240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29768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096512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66360" y="2743200"/>
            <a:ext cx="109728" cy="173736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965192" y="242316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03504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833872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903720" y="2743200"/>
            <a:ext cx="109728" cy="173736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702552" y="242316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77240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571231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3474720" cy="82296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تنتشر وتشبه جذور النبات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60320" y="5532120"/>
            <a:ext cx="5669280" cy="731520"/>
          </a:xfrm>
          <a:prstGeom prst="roundRect">
            <a:avLst>
              <a:gd name="adj" fmla="val 25000"/>
            </a:avLst>
          </a:prstGeom>
          <a:solidFill>
            <a:srgbClr val="FFE9D2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تنمو إلى أسفل لتثبيت العفن، وتفرز مواد كيميائية (إنزيمات)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1188720"/>
            <a:ext cx="3749039" cy="822960"/>
          </a:xfrm>
          <a:prstGeom prst="roundRect">
            <a:avLst>
              <a:gd name="adj" fmla="val 22222"/>
            </a:avLst>
          </a:prstGeom>
          <a:solidFill>
            <a:srgbClr val="EDE7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تنمو إلى أعلى تكوّن الأبواغ (تكاثر لاجنسي)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194560"/>
            <a:ext cx="3474720" cy="1051560"/>
          </a:xfrm>
          <a:prstGeom prst="roundRect">
            <a:avLst>
              <a:gd name="adj" fmla="val 17391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ويحدث التكاثر الجنسي عندما يندمج خيطان فطريان معًا ويكوّنان أبواغًا جديدة</a:t>
            </a:r>
          </a:p>
        </p:txBody>
      </p:sp>
      <p:sp>
        <p:nvSpPr>
          <p:cNvPr id="9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92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93" name="nav_enz0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27" grpId="0" animBg="1"/>
      <p:bldP spid="13" grpId="0" animBg="1"/>
      <p:bldP spid="14" grpId="0" animBg="1"/>
      <p:bldP spid="15" grpId="0" animBg="1"/>
      <p:bldP spid="16" grpId="0" animBg="1"/>
      <p:bldP spid="28" grpId="0" animBg="1"/>
      <p:bldP spid="17" grpId="0" animBg="1"/>
      <p:bldP spid="19" grpId="0" animBg="1"/>
      <p:bldP spid="21" grpId="0" animBg="1"/>
      <p:bldP spid="23" grpId="0" animBg="1"/>
      <p:bldP spid="25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9" grpId="0" animBg="1"/>
      <p:bldP spid="30" grpId="0" animBg="1"/>
    </p:bld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1"/>
          <p:cNvSpPr/>
          <p:nvPr/>
        </p:nvSpPr>
        <p:spPr>
          <a:xfrm>
            <a:off x="7269479" y="1920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f2"/>
          <p:cNvSpPr/>
          <p:nvPr/>
        </p:nvSpPr>
        <p:spPr>
          <a:xfrm>
            <a:off x="8458200" y="246888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f3"/>
          <p:cNvSpPr/>
          <p:nvPr/>
        </p:nvSpPr>
        <p:spPr>
          <a:xfrm>
            <a:off x="7543800" y="3063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0"/>
          <p:cNvSpPr/>
          <p:nvPr/>
        </p:nvSpPr>
        <p:spPr>
          <a:xfrm>
            <a:off x="3776472" y="235915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e1"/>
          <p:cNvSpPr/>
          <p:nvPr/>
        </p:nvSpPr>
        <p:spPr>
          <a:xfrm>
            <a:off x="3776472" y="267919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e2"/>
          <p:cNvSpPr/>
          <p:nvPr/>
        </p:nvSpPr>
        <p:spPr>
          <a:xfrm>
            <a:off x="3776472" y="299923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e3"/>
          <p:cNvSpPr/>
          <p:nvPr/>
        </p:nvSpPr>
        <p:spPr>
          <a:xfrm>
            <a:off x="3776472" y="331927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22960" y="4160520"/>
            <a:ext cx="4754880" cy="548640"/>
          </a:xfrm>
          <a:prstGeom prst="roundRect">
            <a:avLst>
              <a:gd name="adj" fmla="val 41666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دون إنزيم: تفاعل بطيء جدًا ⏳ · مع الإنزيم: سريع </a:t>
            </a:r>
            <a:r>
              <a:rPr sz="1600" b="1" i="0" lang="ar-SA">
                <a:solidFill>
                  <a:srgbClr val="2B3A55"/>
                </a:solidFill>
                <a:latin typeface="Segoe UI Emoji"/>
                <a:ea typeface="Segoe UI Emoji"/>
                <a:cs typeface="Segoe UI Emoji"/>
              </a:rPr>
              <a:t>⚡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1"/>
          <p:cNvSpPr/>
          <p:nvPr/>
        </p:nvSpPr>
        <p:spPr>
          <a:xfrm>
            <a:off x="7269479" y="1920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f2"/>
          <p:cNvSpPr/>
          <p:nvPr/>
        </p:nvSpPr>
        <p:spPr>
          <a:xfrm>
            <a:off x="8458200" y="246888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f3"/>
          <p:cNvSpPr/>
          <p:nvPr/>
        </p:nvSpPr>
        <p:spPr>
          <a:xfrm>
            <a:off x="7543800" y="3063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0"/>
          <p:cNvSpPr/>
          <p:nvPr/>
        </p:nvSpPr>
        <p:spPr>
          <a:xfrm>
            <a:off x="704088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e1"/>
          <p:cNvSpPr/>
          <p:nvPr/>
        </p:nvSpPr>
        <p:spPr>
          <a:xfrm>
            <a:off x="969264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e2"/>
          <p:cNvSpPr/>
          <p:nvPr/>
        </p:nvSpPr>
        <p:spPr>
          <a:xfrm>
            <a:off x="704088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e3"/>
          <p:cNvSpPr/>
          <p:nvPr/>
        </p:nvSpPr>
        <p:spPr>
          <a:xfrm>
            <a:off x="969264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e0"/>
          <p:cNvSpPr/>
          <p:nvPr/>
        </p:nvSpPr>
        <p:spPr>
          <a:xfrm>
            <a:off x="704088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e1"/>
          <p:cNvSpPr/>
          <p:nvPr/>
        </p:nvSpPr>
        <p:spPr>
          <a:xfrm>
            <a:off x="969264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e2"/>
          <p:cNvSpPr/>
          <p:nvPr/>
        </p:nvSpPr>
        <p:spPr>
          <a:xfrm>
            <a:off x="704088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3"/>
          <p:cNvSpPr/>
          <p:nvPr/>
        </p:nvSpPr>
        <p:spPr>
          <a:xfrm>
            <a:off x="969264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0"/>
          <p:cNvSpPr/>
          <p:nvPr/>
        </p:nvSpPr>
        <p:spPr>
          <a:xfrm>
            <a:off x="74249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b1"/>
          <p:cNvSpPr/>
          <p:nvPr/>
        </p:nvSpPr>
        <p:spPr>
          <a:xfrm>
            <a:off x="81107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7965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b3"/>
          <p:cNvSpPr/>
          <p:nvPr/>
        </p:nvSpPr>
        <p:spPr>
          <a:xfrm>
            <a:off x="74249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b4"/>
          <p:cNvSpPr/>
          <p:nvPr/>
        </p:nvSpPr>
        <p:spPr>
          <a:xfrm>
            <a:off x="81107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b5"/>
          <p:cNvSpPr/>
          <p:nvPr/>
        </p:nvSpPr>
        <p:spPr>
          <a:xfrm>
            <a:off x="87965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b6"/>
          <p:cNvSpPr/>
          <p:nvPr/>
        </p:nvSpPr>
        <p:spPr>
          <a:xfrm>
            <a:off x="74249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b7"/>
          <p:cNvSpPr/>
          <p:nvPr/>
        </p:nvSpPr>
        <p:spPr>
          <a:xfrm>
            <a:off x="81107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b8"/>
          <p:cNvSpPr/>
          <p:nvPr/>
        </p:nvSpPr>
        <p:spPr>
          <a:xfrm>
            <a:off x="87965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2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يسرّع الإنزيم التفاعلات الكيميائية فيتحلل الطعام</a:t>
            </a:r>
          </a:p>
        </p:txBody>
      </p:sp>
      <p:sp>
        <p:nvSpPr>
          <p:cNvPr id="2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5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e0"/>
          <p:cNvSpPr/>
          <p:nvPr/>
        </p:nvSpPr>
        <p:spPr>
          <a:xfrm>
            <a:off x="3776472" y="235915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e1"/>
          <p:cNvSpPr/>
          <p:nvPr/>
        </p:nvSpPr>
        <p:spPr>
          <a:xfrm>
            <a:off x="3776472" y="267919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e2"/>
          <p:cNvSpPr/>
          <p:nvPr/>
        </p:nvSpPr>
        <p:spPr>
          <a:xfrm>
            <a:off x="3776472" y="299923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3"/>
          <p:cNvSpPr/>
          <p:nvPr/>
        </p:nvSpPr>
        <p:spPr>
          <a:xfrm>
            <a:off x="3776472" y="331927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0"/>
          <p:cNvSpPr/>
          <p:nvPr/>
        </p:nvSpPr>
        <p:spPr>
          <a:xfrm>
            <a:off x="19293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b1"/>
          <p:cNvSpPr/>
          <p:nvPr/>
        </p:nvSpPr>
        <p:spPr>
          <a:xfrm>
            <a:off x="23865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28437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b3"/>
          <p:cNvSpPr/>
          <p:nvPr/>
        </p:nvSpPr>
        <p:spPr>
          <a:xfrm>
            <a:off x="33009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b4"/>
          <p:cNvSpPr/>
          <p:nvPr/>
        </p:nvSpPr>
        <p:spPr>
          <a:xfrm>
            <a:off x="37581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b5"/>
          <p:cNvSpPr/>
          <p:nvPr/>
        </p:nvSpPr>
        <p:spPr>
          <a:xfrm>
            <a:off x="19293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b6"/>
          <p:cNvSpPr/>
          <p:nvPr/>
        </p:nvSpPr>
        <p:spPr>
          <a:xfrm>
            <a:off x="23865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b7"/>
          <p:cNvSpPr/>
          <p:nvPr/>
        </p:nvSpPr>
        <p:spPr>
          <a:xfrm>
            <a:off x="28437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b8"/>
          <p:cNvSpPr/>
          <p:nvPr/>
        </p:nvSpPr>
        <p:spPr>
          <a:xfrm>
            <a:off x="33009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2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يسرّع الإنزيم التفاعلات الكيميائية فيتحلل الطعام</a:t>
            </a:r>
          </a:p>
        </p:txBody>
      </p:sp>
      <p:sp>
        <p:nvSpPr>
          <p:cNvPr id="23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يسهل امتصاص المواد الغذائية</a:t>
            </a:r>
          </a:p>
        </p:txBody>
      </p:sp>
      <p:sp>
        <p:nvSpPr>
          <p:cNvPr id="2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6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7" name="nav_evi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أقرأ وأستدل · صيد الدليل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اختاري الدليل الذي يوضح ما تفعله الإنزيمات.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«يتركب عفن الخبز من خيوط دقيقة تسمى الخيوط الفطرية.»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165985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2914650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«تنتشر هذه الخيوط لتغطي مساحة كبيرة.»</a:t>
            </a:r>
          </a:p>
        </p:txBody>
      </p:sp>
      <p:pic>
        <p:nvPicPr>
          <p:cNvPr id="11" name="Picture 10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77515"/>
            <a:ext cx="548640" cy="548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13" name="sen2"/>
          <p:cNvSpPr/>
          <p:nvPr/>
        </p:nvSpPr>
        <p:spPr>
          <a:xfrm>
            <a:off x="548640" y="3726179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«ويسبب الإنزيم تسريع حدوث التفاعلات الكيميائية.»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26179"/>
            <a:ext cx="11091672" cy="674369"/>
          </a:xfrm>
          <a:prstGeom prst="roundRect">
            <a:avLst>
              <a:gd name="adj" fmla="val 27118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789045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العبارة تبيّن عمل الإنزيم: يسرّع التفاعلات الكيميائية، فيسهل هضم الطعام وامتصاصه.</a:t>
            </a:r>
          </a:p>
        </p:txBody>
      </p:sp>
      <p:sp>
        <p:nvSpPr>
          <p:cNvPr id="17" name="sen3"/>
          <p:cNvSpPr/>
          <p:nvPr/>
        </p:nvSpPr>
        <p:spPr>
          <a:xfrm>
            <a:off x="548640" y="4537709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٤)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«وهناك خيوط فطرية تنمو إلى أعلى.»</a:t>
            </a:r>
          </a:p>
        </p:txBody>
      </p:sp>
      <p:pic>
        <p:nvPicPr>
          <p:cNvPr id="18" name="Picture 1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600575"/>
            <a:ext cx="548640" cy="5486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7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7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72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73" name="nav_chk98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4" grpId="0" animBg="1"/>
      <p:bldP spid="16" grpId="0" animBg="1"/>
      <p:bldP spid="19" grpId="0" animBg="1"/>
    </p:bldLst>
  </p:timing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667969"/>
            <a:ext cx="4626864" cy="197926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41121"/>
            <a:ext cx="4480560" cy="18329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528358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تساعد الإنزيمات العفن على هضم الطعام؟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تسرّع التفاعلات فتحلّل الطعام إلى مواد بسيطة يسهل امتصاصها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تصنع الغذاء من ضوء الشمس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تحرّك العفن نحو الطعام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5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المحاكاة: ماذا حدث لقطع الطعام الكبيرة عندما وصلت إليها الإنزيمات؟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hk98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تساعد الإنزيمات العفن على هضم الطعام؟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تسرّع التفاعلات فتحلّل الطعام إلى مواد بسيطة يسهل امتصاصها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تفرز الخيوط الفطرية إنزيمات تسرّع التفاعلات الكيميائية، فتحلّل الطعام إلى مواد بسيطة يسهل امتصاصها.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t98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التفكير الناقد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724080"/>
            <a:ext cx="4352544" cy="1867038"/>
          </a:xfrm>
          <a:prstGeom prst="roundRect">
            <a:avLst>
              <a:gd name="adj" fmla="val 489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97232"/>
            <a:ext cx="4206240" cy="17207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1799" y="447224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34440"/>
            <a:ext cx="6675120" cy="1600200"/>
          </a:xfrm>
          <a:prstGeom prst="roundRect">
            <a:avLst>
              <a:gd name="adj" fmla="val 14285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9281160" y="1097280"/>
            <a:ext cx="2286000" cy="438912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508760"/>
            <a:ext cx="6309359" cy="12801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يمكن أن تكون الإنزيمات مهمة لنشاطات أخرى غير الهضم؟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971800"/>
            <a:ext cx="6309359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ناقشي مع مجموعتك… ثم اضغطي لإظهار الإجابة النموذجية</a:t>
            </a:r>
          </a:p>
        </p:txBody>
      </p:sp>
      <p:sp>
        <p:nvSpPr>
          <p:cNvPr id="12" name="revealbtn"/>
          <p:cNvSpPr/>
          <p:nvPr/>
        </p:nvSpPr>
        <p:spPr>
          <a:xfrm>
            <a:off x="6492240" y="3611880"/>
            <a:ext cx="3657600" cy="640080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إظهار الإجابة النموذجية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4389120"/>
            <a:ext cx="6675120" cy="1783080"/>
          </a:xfrm>
          <a:prstGeom prst="roundRect">
            <a:avLst>
              <a:gd name="adj" fmla="val 1282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66360" y="4434840"/>
            <a:ext cx="6309359" cy="1691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تسرّع التفاعلات الكيميائية عمومًا، فتُعين على بناء المواد في الخلايا، والتنفس الخلوي، وإنتاج الطاقة.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map3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بطاقة عفن الخبز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19" name="!!card_3_f_3"/>
          <p:cNvSpPr/>
          <p:nvPr/>
        </p:nvSpPr>
        <p:spPr>
          <a:xfrm>
            <a:off x="461772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عفن الخبز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وإنزيمات وأبواغ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2" name="nav_vocab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المفردات: درسنا الجديد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5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 ينقسم فيه المخلوق الحي إلى مخلوقين جديدين متماثلين.</a:t>
            </a:r>
          </a:p>
        </p:txBody>
      </p:sp>
      <p:sp>
        <p:nvSpPr>
          <p:cNvPr id="7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عملية جنسية تلتحم فيها المخلوقات وتتبادل المادة الوراثية.</a:t>
            </a:r>
          </a:p>
        </p:txBody>
      </p:sp>
      <p:sp>
        <p:nvSpPr>
          <p:cNvPr id="9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 يتكوّن فيه برعم بنمو بروز صغير على الخلية الأم ثم ينفصل.</a:t>
            </a:r>
          </a:p>
        </p:txBody>
      </p:sp>
      <p:sp>
        <p:nvSpPr>
          <p:cNvPr id="11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الأبواغ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تحتوي على المادة الوراثية داخل غشاء يحميها، وتنمو في بيئة مناسبة.</a:t>
            </a:r>
          </a:p>
        </p:txBody>
      </p:sp>
      <p:sp>
        <p:nvSpPr>
          <p:cNvPr id="13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D86C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الخيوط الفطرية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86C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86C6"/>
                </a:solidFill>
                <a:latin typeface="Arial"/>
                <a:ea typeface="Arial"/>
                <a:cs typeface="Arial"/>
              </a:rPr>
              <a:t>الخيوط الفطرية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دقيقة يتركب منها عفن الخبز، تشبه جذور النبات.</a:t>
            </a:r>
          </a:p>
        </p:txBody>
      </p:sp>
      <p:sp>
        <p:nvSpPr>
          <p:cNvPr id="15" name="card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الإنزيمات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F7AA2"/>
                </a:solidFill>
                <a:latin typeface="Arial"/>
                <a:ea typeface="Arial"/>
                <a:cs typeface="Arial"/>
              </a:rPr>
              <a:t>الإنزيمات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بروتينات تسرّع حدوث التفاعلات الكيميائية.</a:t>
            </a:r>
          </a:p>
        </p:txBody>
      </p:sp>
      <p:sp>
        <p:nvSpPr>
          <p:cNvPr id="5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3" name="nav_map3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4" name="nav_final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🏆</a:t>
            </a:r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تحدي العالمة الصغيرة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59" y="3383280"/>
            <a:ext cx="2103120" cy="914400"/>
          </a:xfrm>
          <a:prstGeom prst="roundRect">
            <a:avLst>
              <a:gd name="adj" fmla="val 2000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أتذكر</a:t>
            </a:r>
          </a:p>
        </p:txBody>
      </p:sp>
      <p:pic>
        <p:nvPicPr>
          <p:cNvPr id="5" name="Picture 4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7" y="2697480"/>
            <a:ext cx="594360" cy="594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59" y="2880360"/>
            <a:ext cx="2103120" cy="1417320"/>
          </a:xfrm>
          <a:prstGeom prst="roundRect">
            <a:avLst>
              <a:gd name="adj" fmla="val 1290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أفهم</a:t>
            </a:r>
          </a:p>
        </p:txBody>
      </p:sp>
      <p:pic>
        <p:nvPicPr>
          <p:cNvPr id="7" name="Picture 6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7" y="2194560"/>
            <a:ext cx="594360" cy="594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937759" y="2377440"/>
            <a:ext cx="2103120" cy="1920240"/>
          </a:xfrm>
          <a:prstGeom prst="roundRect">
            <a:avLst>
              <a:gd name="adj" fmla="val 952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أطبق</a:t>
            </a:r>
          </a:p>
        </p:txBody>
      </p:sp>
      <p:pic>
        <p:nvPicPr>
          <p:cNvPr id="9" name="Picture 8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1691640"/>
            <a:ext cx="594360" cy="5943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651760" y="1874519"/>
            <a:ext cx="2103120" cy="2423160"/>
          </a:xfrm>
          <a:prstGeom prst="roundRect">
            <a:avLst>
              <a:gd name="adj" fmla="val 8695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أستنتج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1188720"/>
            <a:ext cx="594360" cy="594360"/>
          </a:xfrm>
          <a:prstGeom prst="rect">
            <a:avLst/>
          </a:prstGeom>
        </p:spPr>
      </p:pic>
      <p:pic>
        <p:nvPicPr>
          <p:cNvPr id="12" name="!!guide" descr="guide_che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2011680"/>
            <a:ext cx="2319454" cy="3657600"/>
          </a:xfrm>
          <a:prstGeom prst="rect">
            <a:avLst/>
          </a:prstGeom>
        </p:spPr>
      </p:pic>
      <p:sp>
        <p:nvSpPr>
          <p:cNvPr id="5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3" name="nav_f1">
            <a:hlinkClick action="ppaction://hlinksldjump" r:id="rId6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فقط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1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ارجعي إلى أول جملة في فقرة الطلائعيات ص٩٦.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3" name="nav_f1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فقط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2159115"/>
            <a:ext cx="5266944" cy="2996969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6_protist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232267"/>
            <a:ext cx="5120640" cy="28506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86200" y="503721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الثنائي».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بأي طريقة يتكاثر البراميسيوم عادة؟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الثنائي».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8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 ينقسم إلى اثنين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البرعم ينفصل عن الخلية الأم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1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يحدث للمادة الوراثية في الاقتران؟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3" name="nav_f2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 ينقسم إلى اثنين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البرعم ينفصل عن الخلية الأم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2820675"/>
            <a:ext cx="5266944" cy="1673849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6_conj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93827"/>
            <a:ext cx="5120640" cy="1527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86200" y="437565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تلتحم المخلوقات وتتبادل المادة الوراثية؛ لذا هو عملية جنسية.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يحدث في الاقتران ولا يحدث في الانشطار الثنائي؟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تبادل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انقسام الخلية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تضاعف المادة الوراثية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تلتحم المخلوقات وتتبادل المادة الوراثية؛ لذا هو عملية جنسية.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8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3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1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صورة الخميرة في الكتاب: خلايا صغيرة تبرز من الخلايا الكبيرة.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3" name="nav_f3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884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993" y="1234440"/>
            <a:ext cx="3782493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1712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بالتبرعم: بروز صغير ينمو على الخلية الأم ثم ينفصل.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يتكوّن على خلية الخميرة الأم في التبرعم؟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بروز صغير (برعم)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جسر بين خليتين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محفظة أبواغ سوداء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بالتبرعم: بروز صغير ينمو على الخلية الأم ثم ينفصل.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8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4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تحوّل وحده إلى عفن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الرطوبة وحدها صنعت العفن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1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نتيجة الخطوة الخامسة في نشاط نمو العفن.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3" name="nav_f4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تحوّل وحده إلى عفن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الرطوبة وحدها صنعت العفن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ومنتشرة في الهواء، فإذا سقطت في بيئة مناسبة (دافئة رطبة) نمت.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يحتاج إليه بوغ العفن لينمو على الخبز؟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بيئة دافئة رطبة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ضوء شمس قوي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برودة شديدة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ومنتشرة في الهواء، فإذا سقطت في بيئة مناسبة (دافئة رطبة) نمت.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8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map4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خريطة المفاهيم المكتملة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19" name="!!card_3_f_3"/>
          <p:cNvSpPr/>
          <p:nvPr/>
        </p:nvSpPr>
        <p:spPr>
          <a:xfrm>
            <a:off x="461772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عفن الخبز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وإنزيمات وأبواغ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22" name="nav_blank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ختامي: أكملي الفراغات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0" y="1234440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١) تتكاثر معظم الطلائعيات بـ …………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07592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0" y="2221992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٢) تتكاثر الخميرة لاجنسيًا بـ …………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95144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3209544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٣) تتكاثر بعض البكتيريا بـ…… حيث تنتقل المادة الوراثية عبر جسر …………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82696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4197096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٤) البقع السوداء أعلى الخيوط الفطرية هي …………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70248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5184648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٥) المواد التي تسرّع التفاعلات الكيميائية تُسمّى …………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57800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الإنزيمات</a:t>
            </a:r>
          </a:p>
        </p:txBody>
      </p:sp>
      <p:sp>
        <p:nvSpPr>
          <p:cNvPr id="3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40" name="nav_cert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3" grpId="0" animBg="1"/>
    </p:bldLst>
  </p:timing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97280" y="411480"/>
            <a:ext cx="9994392" cy="5806440"/>
          </a:xfrm>
          <a:prstGeom prst="roundRect">
            <a:avLst>
              <a:gd name="adj" fmla="val 5511"/>
            </a:avLst>
          </a:prstGeom>
          <a:solidFill>
            <a:srgbClr val="FFFDF5"/>
          </a:solidFill>
          <a:ln w="101600">
            <a:solidFill>
              <a:srgbClr val="FFD34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371600" y="685800"/>
            <a:ext cx="9445752" cy="5257800"/>
          </a:xfrm>
          <a:prstGeom prst="roundRect">
            <a:avLst>
              <a:gd name="adj" fmla="val 5217"/>
            </a:avLst>
          </a:prstGeom>
          <a:noFill/>
          <a:ln w="25400">
            <a:solidFill>
              <a:srgbClr val="E8C4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ic_med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777240"/>
            <a:ext cx="1280160" cy="1280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11680"/>
            <a:ext cx="9262872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شهادة: عالمة المخلوقات الحية الدقيقة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788920"/>
            <a:ext cx="5056632" cy="594360"/>
          </a:xfrm>
          <a:prstGeom prst="roundRect">
            <a:avLst>
              <a:gd name="adj" fmla="val 46153"/>
            </a:avLst>
          </a:prstGeom>
          <a:solidFill>
            <a:srgbClr val="FFFFFF"/>
          </a:solidFill>
          <a:ln w="25400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اسم الطالبة: ……………………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520440"/>
            <a:ext cx="7498079" cy="13258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مبارك يا عالمتي الصغيرة!</a:t>
            </a:r>
          </a:p>
          <a:p>
            <a:pPr algn="ct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لقد اكتشفتِ أسرار تكاثر المخلوقات الحية الدقيقة بنجاح.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892040"/>
            <a:ext cx="8897112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6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pic>
        <p:nvPicPr>
          <p:cNvPr id="10" name="!!guide" descr="guide_che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3246120"/>
            <a:ext cx="1739590" cy="2743200"/>
          </a:xfrm>
          <a:prstGeom prst="rect">
            <a:avLst/>
          </a:prstGeom>
        </p:spPr>
      </p:pic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0" y="914400"/>
            <a:ext cx="731520" cy="731520"/>
          </a:xfrm>
          <a:prstGeom prst="rect">
            <a:avLst/>
          </a:prstGeom>
        </p:spPr>
      </p:pic>
      <p:pic>
        <p:nvPicPr>
          <p:cNvPr id="12" name="Picture 11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914400"/>
            <a:ext cx="731520" cy="731520"/>
          </a:xfrm>
          <a:prstGeom prst="rect">
            <a:avLst/>
          </a:prstGeom>
        </p:spPr>
      </p:pic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</p:spTree>
  </p:cSld>
  <p:clrMapOvr>
    <a:masterClrMapping/>
  </p:clrMapOvr>
  <p:transition spd="slow">
    <p:zoom/>
    <p:sndAc>
      <p:stSnd>
        <p:snd r:embed="rId4" name="fanfare.wav"/>
      </p:stSnd>
    </p:sndAc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