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ترحيب" id="{bcecb0c6-f0dc-3ee9-914c-1e4b3eb5edf7}">
          <p14:sldIdLst>
            <p14:sldId id="256"/>
          </p14:sldIdLst>
        </p14:section>
        <p14:section name="لنتذكّر" id="{b8a00e8f-8aa9-fdbe-765c-40cf8f3f26b8}">
          <p14:sldIdLst>
            <p14:sldId id="257"/>
          </p14:sldIdLst>
        </p14:section>
        <p14:section name="المفردات (ص 90)" id="{14d81866-26ba-75d5-f858-716fa5ff29bb}">
          <p14:sldIdLst>
            <p14:sldId id="258"/>
            <p14:sldId id="259"/>
            <p14:sldId id="260"/>
            <p14:sldId id="261"/>
          </p14:sldIdLst>
        </p14:section>
        <p14:section name="المهارات والأفكار العلمية (ص 91)" id="{f0fcd550-0bed-5272-5ccd-8c2f3ae9a9c1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نموذج اختبار (ص 93)" id="{79985770-e1db-a469-75a0-f1f8490ece88}">
          <p14:sldIdLst>
            <p14:sldId id="268"/>
            <p14:sldId id="269"/>
          </p14:sldIdLst>
        </p14:section>
        <p14:section name="الدرس الجديد (ص 95)" id="{57f219e7-0273-3db2-3f4a-c32fdf1da099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rtl="1" algn="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0"/>
          <p:cNvSpPr/>
          <p:nvPr/>
        </p:nvSpPr>
        <p:spPr>
          <a:xfrm>
            <a:off x="8229600" y="4663440"/>
            <a:ext cx="365760" cy="365760"/>
          </a:xfrm>
          <a:prstGeom prst="ellipse">
            <a:avLst/>
          </a:prstGeom>
          <a:solidFill>
            <a:schemeClr val="accent5">
              <a:alpha val="5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sp>
        <p:nvSpPr>
          <p:cNvPr id="3" name="dot1"/>
          <p:cNvSpPr/>
          <p:nvPr/>
        </p:nvSpPr>
        <p:spPr>
          <a:xfrm>
            <a:off x="3886200" y="2103120"/>
            <a:ext cx="274320" cy="2743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4" name="dot2"/>
          <p:cNvSpPr/>
          <p:nvPr/>
        </p:nvSpPr>
        <p:spPr>
          <a:xfrm>
            <a:off x="3840480" y="4480560"/>
            <a:ext cx="411480" cy="41148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5" name="dot3"/>
          <p:cNvSpPr/>
          <p:nvPr/>
        </p:nvSpPr>
        <p:spPr>
          <a:xfrm>
            <a:off x="3383280" y="228600"/>
            <a:ext cx="365760" cy="365760"/>
          </a:xfrm>
          <a:prstGeom prst="ellipse">
            <a:avLst/>
          </a:prstGeom>
          <a:solidFill>
            <a:schemeClr val="accent4">
              <a:alpha val="55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6" name="dot4"/>
          <p:cNvSpPr/>
          <p:nvPr/>
        </p:nvSpPr>
        <p:spPr>
          <a:xfrm>
            <a:off x="182880" y="4526280"/>
            <a:ext cx="457200" cy="457200"/>
          </a:xfrm>
          <a:prstGeom prst="ellipse">
            <a:avLst/>
          </a:prstGeom>
          <a:solidFill>
            <a:schemeClr val="accent5">
              <a:alpha val="5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sp>
        <p:nvSpPr>
          <p:cNvPr id="7" name="dot5"/>
          <p:cNvSpPr/>
          <p:nvPr/>
        </p:nvSpPr>
        <p:spPr>
          <a:xfrm>
            <a:off x="8549640" y="182880"/>
            <a:ext cx="274320" cy="27432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8" name="dot6"/>
          <p:cNvSpPr/>
          <p:nvPr/>
        </p:nvSpPr>
        <p:spPr>
          <a:xfrm>
            <a:off x="6035040" y="4617720"/>
            <a:ext cx="274320" cy="274320"/>
          </a:xfrm>
          <a:prstGeom prst="ellipse">
            <a:avLst/>
          </a:prstGeom>
          <a:solidFill>
            <a:schemeClr val="accent4">
              <a:alpha val="55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9" name="dot7"/>
          <p:cNvSpPr/>
          <p:nvPr/>
        </p:nvSpPr>
        <p:spPr>
          <a:xfrm>
            <a:off x="274320" y="274320"/>
            <a:ext cx="320040" cy="32004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10" name="halo"/>
          <p:cNvSpPr/>
          <p:nvPr/>
        </p:nvSpPr>
        <p:spPr>
          <a:xfrm>
            <a:off x="411480" y="685800"/>
            <a:ext cx="3291840" cy="3291840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accent3">
                <a:alpha val="80000"/>
              </a:schemeClr>
            </a:solidFill>
            <a:prstDash val="solid"/>
          </a:ln>
        </p:spPr>
      </p:sp>
      <p:pic>
        <p:nvPicPr>
          <p:cNvPr id="11" name="girl" descr="طالبة تلوّح بيدها مرحّب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3108960" cy="3703320"/>
          </a:xfrm>
          <a:prstGeom prst="rect">
            <a:avLst/>
          </a:prstGeom>
        </p:spPr>
      </p:pic>
      <p:sp>
        <p:nvSpPr>
          <p:cNvPr id="12" name="bubble"/>
          <p:cNvSpPr txBox="1"/>
          <p:nvPr/>
        </p:nvSpPr>
        <p:spPr>
          <a:xfrm>
            <a:off x="4023360" y="548640"/>
            <a:ext cx="4663440" cy="1600200"/>
          </a:xfrm>
          <a:prstGeom prst="wedgeRoundRectCallout">
            <a:avLst/>
          </a:prstGeom>
          <a:solidFill>
            <a:schemeClr val="bg1"/>
          </a:solidFill>
          <a:ln w="31750">
            <a:solidFill>
              <a:schemeClr val="accent5"/>
            </a:solidFill>
          </a:ln>
        </p:spPr>
        <p:txBody>
          <a:bodyPr wrap="square" lIns="76200" tIns="228600" rIns="228600" bIns="7620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مرحبًا يا صديقتي!</a:t>
            </a:r>
            <a:endParaRPr lang="en-US" sz="3600" dirty="0"/>
          </a:p>
          <a:p>
            <a:pPr rtl="1" algn="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دعونا نتذكّر معنى:</a:t>
            </a:r>
            <a:endParaRPr lang="en-US" sz="3600" dirty="0"/>
          </a:p>
        </p:txBody>
      </p:sp>
      <p:sp>
        <p:nvSpPr>
          <p:cNvPr id="13" name="word0"/>
          <p:cNvSpPr txBox="1"/>
          <p:nvPr/>
        </p:nvSpPr>
        <p:spPr>
          <a:xfrm>
            <a:off x="6766560" y="2514600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السلسلة الغذائية</a:t>
            </a:r>
            <a:endParaRPr lang="en-US" sz="1800" dirty="0"/>
          </a:p>
        </p:txBody>
      </p:sp>
      <p:sp>
        <p:nvSpPr>
          <p:cNvPr id="14" name="word1"/>
          <p:cNvSpPr txBox="1"/>
          <p:nvPr/>
        </p:nvSpPr>
        <p:spPr>
          <a:xfrm>
            <a:off x="5212080" y="251460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الفريسة</a:t>
            </a:r>
            <a:endParaRPr lang="en-US" sz="1800" dirty="0"/>
          </a:p>
        </p:txBody>
      </p:sp>
      <p:sp>
        <p:nvSpPr>
          <p:cNvPr id="15" name="word2"/>
          <p:cNvSpPr txBox="1"/>
          <p:nvPr/>
        </p:nvSpPr>
        <p:spPr>
          <a:xfrm>
            <a:off x="3657600" y="251460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المفترس</a:t>
            </a:r>
            <a:endParaRPr lang="en-US" sz="1800" dirty="0"/>
          </a:p>
        </p:txBody>
      </p:sp>
      <p:sp>
        <p:nvSpPr>
          <p:cNvPr id="16" name="sub"/>
          <p:cNvSpPr txBox="1"/>
          <p:nvPr/>
        </p:nvSpPr>
        <p:spPr>
          <a:xfrm>
            <a:off x="402336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مراجعة الفصل الثالث  |  العلوم – الصف الثاني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لنتذكّر معًا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تذكّر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6172200" y="118872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iconbg0"/>
          <p:cNvSpPr/>
          <p:nvPr/>
        </p:nvSpPr>
        <p:spPr>
          <a:xfrm>
            <a:off x="6880860" y="1463040"/>
            <a:ext cx="1097280" cy="109728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icon0" descr="السلسلة الغذائ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740" y="1645920"/>
            <a:ext cx="731520" cy="731520"/>
          </a:xfrm>
          <a:prstGeom prst="rect">
            <a:avLst/>
          </a:prstGeom>
        </p:spPr>
      </p:pic>
      <p:sp>
        <p:nvSpPr>
          <p:cNvPr id="7" name="dt0"/>
          <p:cNvSpPr txBox="1"/>
          <p:nvPr/>
        </p:nvSpPr>
        <p:spPr>
          <a:xfrm>
            <a:off x="630936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السلسلة الغذائية</a:t>
            </a:r>
            <a:endParaRPr lang="en-US" sz="2200" dirty="0"/>
          </a:p>
        </p:txBody>
      </p:sp>
      <p:sp>
        <p:nvSpPr>
          <p:cNvPr id="8" name="dd0"/>
          <p:cNvSpPr txBox="1"/>
          <p:nvPr/>
        </p:nvSpPr>
        <p:spPr>
          <a:xfrm>
            <a:off x="6355080" y="3200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طريقٌ ينتقل فيه الغذاء (الطاقة) من مخلوقٍ حيٍّ إلى آخر، وتبدأ بالشمس.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383280" y="118872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iconbg1"/>
          <p:cNvSpPr/>
          <p:nvPr/>
        </p:nvSpPr>
        <p:spPr>
          <a:xfrm>
            <a:off x="4091940" y="1463040"/>
            <a:ext cx="1097280" cy="109728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11" name="icon1" descr="الفريس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645920"/>
            <a:ext cx="731520" cy="731520"/>
          </a:xfrm>
          <a:prstGeom prst="rect">
            <a:avLst/>
          </a:prstGeom>
        </p:spPr>
      </p:pic>
      <p:sp>
        <p:nvSpPr>
          <p:cNvPr id="12" name="dt1"/>
          <p:cNvSpPr txBox="1"/>
          <p:nvPr/>
        </p:nvSpPr>
        <p:spPr>
          <a:xfrm>
            <a:off x="352044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الفريسة</a:t>
            </a:r>
            <a:endParaRPr lang="en-US" sz="2200" dirty="0"/>
          </a:p>
        </p:txBody>
      </p:sp>
      <p:sp>
        <p:nvSpPr>
          <p:cNvPr id="13" name="dd1"/>
          <p:cNvSpPr txBox="1"/>
          <p:nvPr/>
        </p:nvSpPr>
        <p:spPr>
          <a:xfrm>
            <a:off x="3566160" y="3200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حيوانٌ يصطاده حيوانٌ آخر ويأكله.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94360" y="118872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iconbg2"/>
          <p:cNvSpPr/>
          <p:nvPr/>
        </p:nvSpPr>
        <p:spPr>
          <a:xfrm>
            <a:off x="1303020" y="1463040"/>
            <a:ext cx="1097280" cy="109728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6" name="icon2" descr="المفترس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645920"/>
            <a:ext cx="731520" cy="731520"/>
          </a:xfrm>
          <a:prstGeom prst="rect">
            <a:avLst/>
          </a:prstGeom>
        </p:spPr>
      </p:pic>
      <p:sp>
        <p:nvSpPr>
          <p:cNvPr id="17" name="dt2"/>
          <p:cNvSpPr txBox="1"/>
          <p:nvPr/>
        </p:nvSpPr>
        <p:spPr>
          <a:xfrm>
            <a:off x="731520" y="26974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المفترس</a:t>
            </a:r>
            <a:endParaRPr lang="en-US" sz="2200" dirty="0"/>
          </a:p>
        </p:txBody>
      </p:sp>
      <p:sp>
        <p:nvSpPr>
          <p:cNvPr id="18" name="dd2"/>
          <p:cNvSpPr txBox="1"/>
          <p:nvPr/>
        </p:nvSpPr>
        <p:spPr>
          <a:xfrm>
            <a:off x="777240" y="3200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حيوانٌ يصطاد الحيوانات الأخرى ويأكلها.</a:t>
            </a:r>
            <a:endParaRPr lang="en-US" sz="1600" dirty="0"/>
          </a:p>
        </p:txBody>
      </p:sp>
      <p:sp>
        <p:nvSpPr>
          <p:cNvPr id="19" name="ex"/>
          <p:cNvSpPr txBox="1"/>
          <p:nvPr/>
        </p:nvSpPr>
        <p:spPr>
          <a:xfrm>
            <a:off x="22860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مثال: الطائر (المفترس) يأكل الدودة (الفريسة)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1400">
        <p15:prstTrans prst="curtains"/>
      </p:transition>
    </mc:Choice>
    <mc:Fallback>
      <p:transition spd="slow">
        <p:split orient="vert" dir="ou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مراجعة الفصل الثالث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المفردات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3291840" y="1234440"/>
            <a:ext cx="539496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bookicon" descr="كتا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463040"/>
            <a:ext cx="685800" cy="685800"/>
          </a:xfrm>
          <a:prstGeom prst="rect">
            <a:avLst/>
          </a:prstGeom>
        </p:spPr>
      </p:pic>
      <p:sp>
        <p:nvSpPr>
          <p:cNvPr id="6" name="instr"/>
          <p:cNvSpPr txBox="1"/>
          <p:nvPr/>
        </p:nvSpPr>
        <p:spPr>
          <a:xfrm>
            <a:off x="3566160" y="1417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أكمل كلًّا من الجمل التالية باستخدام العبارة المناسبة.</a:t>
            </a:r>
            <a:endParaRPr lang="en-US" sz="2200" dirty="0"/>
          </a:p>
        </p:txBody>
      </p:sp>
      <p:sp>
        <p:nvSpPr>
          <p:cNvPr id="7" name="hint"/>
          <p:cNvSpPr txBox="1"/>
          <p:nvPr/>
        </p:nvSpPr>
        <p:spPr>
          <a:xfrm>
            <a:off x="3566160" y="2514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اقرئي كل جملة، ثم اختاري الكلمة المناسبة من الصندوق.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57200" y="1234440"/>
            <a:ext cx="2468880" cy="320040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wbt"/>
          <p:cNvSpPr txBox="1"/>
          <p:nvPr/>
        </p:nvSpPr>
        <p:spPr>
          <a:xfrm>
            <a:off x="54864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صندوق الكلمات</a:t>
            </a:r>
            <a:endParaRPr lang="en-US" sz="1600" dirty="0"/>
          </a:p>
        </p:txBody>
      </p:sp>
      <p:sp>
        <p:nvSpPr>
          <p:cNvPr id="10" name="wb0"/>
          <p:cNvSpPr txBox="1"/>
          <p:nvPr/>
        </p:nvSpPr>
        <p:spPr>
          <a:xfrm>
            <a:off x="731520" y="1874520"/>
            <a:ext cx="1920240" cy="475488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سلسلة غذائية</a:t>
            </a:r>
            <a:endParaRPr lang="en-US" sz="1800" dirty="0"/>
          </a:p>
        </p:txBody>
      </p:sp>
      <p:sp>
        <p:nvSpPr>
          <p:cNvPr id="11" name="wb1"/>
          <p:cNvSpPr txBox="1"/>
          <p:nvPr/>
        </p:nvSpPr>
        <p:spPr>
          <a:xfrm>
            <a:off x="731520" y="2496312"/>
            <a:ext cx="1920240" cy="475488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الفريسة</a:t>
            </a:r>
            <a:endParaRPr lang="en-US" sz="1800" dirty="0"/>
          </a:p>
        </p:txBody>
      </p:sp>
      <p:sp>
        <p:nvSpPr>
          <p:cNvPr id="12" name="wb2"/>
          <p:cNvSpPr txBox="1"/>
          <p:nvPr/>
        </p:nvSpPr>
        <p:spPr>
          <a:xfrm>
            <a:off x="731520" y="3118104"/>
            <a:ext cx="1920240" cy="475488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الموطن</a:t>
            </a:r>
            <a:endParaRPr lang="en-US" sz="1800" dirty="0"/>
          </a:p>
        </p:txBody>
      </p:sp>
      <p:sp>
        <p:nvSpPr>
          <p:cNvPr id="13" name="wb3"/>
          <p:cNvSpPr txBox="1"/>
          <p:nvPr/>
        </p:nvSpPr>
        <p:spPr>
          <a:xfrm>
            <a:off x="731520" y="3739896"/>
            <a:ext cx="1920240" cy="475488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المفترس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honeycomb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الأول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المفردات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8229600" cy="1280160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8001000" y="16687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qtext"/>
          <p:cNvSpPr txBox="1"/>
          <p:nvPr/>
        </p:nvSpPr>
        <p:spPr>
          <a:xfrm>
            <a:off x="685800" y="1280160"/>
            <a:ext cx="7178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المكان الذي تعيش فيه المخلوقات الحيّة معًا يُسمّى ............</a:t>
            </a:r>
            <a:endParaRPr lang="en-US" sz="2000" dirty="0"/>
          </a:p>
        </p:txBody>
      </p:sp>
      <p:pic>
        <p:nvPicPr>
          <p:cNvPr id="7" name="houseicon" descr="مسك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63240"/>
            <a:ext cx="1188720" cy="1188720"/>
          </a:xfrm>
          <a:prstGeom prst="rect">
            <a:avLst/>
          </a:prstGeom>
        </p:spPr>
      </p:pic>
      <p:sp>
        <p:nvSpPr>
          <p:cNvPr id="8" name="ans1_a"/>
          <p:cNvSpPr txBox="1"/>
          <p:nvPr/>
        </p:nvSpPr>
        <p:spPr>
          <a:xfrm>
            <a:off x="2468880" y="3017520"/>
            <a:ext cx="6217920" cy="91440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الإجابة: </a:t>
            </a:r>
            <a:pPr rtl="1"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الموطن</a:t>
            </a:r>
            <a:endParaRPr lang="en-US" sz="2200" dirty="0"/>
          </a:p>
        </p:txBody>
      </p:sp>
      <p:sp>
        <p:nvSpPr>
          <p:cNvPr id="9" name="ans1_b"/>
          <p:cNvSpPr txBox="1"/>
          <p:nvPr/>
        </p:nvSpPr>
        <p:spPr>
          <a:xfrm>
            <a:off x="2468880" y="4069080"/>
            <a:ext cx="6217920" cy="6858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الموطن هو المكان الذي يجد فيه المخلوق الحي غذاءه وماءه ومأواه.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switch dir="r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الثاني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المفردات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2743200" y="1188720"/>
            <a:ext cx="59436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8001000" y="13944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6" name="qtext"/>
          <p:cNvSpPr txBox="1"/>
          <p:nvPr/>
        </p:nvSpPr>
        <p:spPr>
          <a:xfrm>
            <a:off x="2971800" y="11887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الصورة التالية توضّح جزءًا من ............</a:t>
            </a:r>
            <a:endParaRPr lang="en-US" sz="2000" dirty="0"/>
          </a:p>
        </p:txBody>
      </p:sp>
      <p:pic>
        <p:nvPicPr>
          <p:cNvPr id="7" name="pic_seahorse" descr="نباتات وحيوانات صغيرة، ثم روبيان، ثم فرس البحر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2286000"/>
            <a:ext cx="4892040" cy="2331720"/>
          </a:xfrm>
          <a:prstGeom prst="rect">
            <a:avLst/>
          </a:prstGeom>
        </p:spPr>
      </p:pic>
      <p:sp>
        <p:nvSpPr>
          <p:cNvPr id="8" name="ans1_a"/>
          <p:cNvSpPr txBox="1"/>
          <p:nvPr/>
        </p:nvSpPr>
        <p:spPr>
          <a:xfrm>
            <a:off x="457200" y="1188720"/>
            <a:ext cx="2103120" cy="1463040"/>
          </a:xfrm>
          <a:prstGeom prst="roundRect">
            <a:avLst>
              <a:gd name="adj" fmla="val 9375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الإجابة: </a:t>
            </a:r>
            <a:pPr rtl="1" algn="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سلسلة غذائية</a:t>
            </a:r>
            <a:endParaRPr lang="en-US" sz="2000" dirty="0"/>
          </a:p>
        </p:txBody>
      </p:sp>
      <p:sp>
        <p:nvSpPr>
          <p:cNvPr id="9" name="ans1_b"/>
          <p:cNvSpPr txBox="1"/>
          <p:nvPr/>
        </p:nvSpPr>
        <p:spPr>
          <a:xfrm>
            <a:off x="457200" y="2834640"/>
            <a:ext cx="3108960" cy="1783080"/>
          </a:xfrm>
          <a:prstGeom prst="roundRect">
            <a:avLst>
              <a:gd name="adj" fmla="val 7692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نباتات وحيوانات صغيرة ← الروبيان ← فرس البحر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flip dir="l"/>
      </p:transition>
    </mc:Choice>
    <mc:Fallback>
      <p:transition spd="slow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السؤالان الثالث والرابع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المفردات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743200" cy="35204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pic_bird" descr="طائر يحمل دودة في منقاره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2560320" cy="333756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3520440" y="1188720"/>
            <a:ext cx="5166360" cy="86868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num"/>
          <p:cNvSpPr txBox="1"/>
          <p:nvPr/>
        </p:nvSpPr>
        <p:spPr>
          <a:xfrm>
            <a:off x="800100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qtext"/>
          <p:cNvSpPr txBox="1"/>
          <p:nvPr/>
        </p:nvSpPr>
        <p:spPr>
          <a:xfrm>
            <a:off x="3749040" y="1188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الدودة في الصورة المقابلة هي ............</a:t>
            </a:r>
            <a:endParaRPr lang="en-US" sz="2000" dirty="0"/>
          </a:p>
        </p:txBody>
      </p:sp>
      <p:sp>
        <p:nvSpPr>
          <p:cNvPr id="9" name="ans1_a"/>
          <p:cNvSpPr txBox="1"/>
          <p:nvPr/>
        </p:nvSpPr>
        <p:spPr>
          <a:xfrm>
            <a:off x="3520440" y="2148840"/>
            <a:ext cx="5166360" cy="6858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الإجابة: </a:t>
            </a:r>
            <a:pPr rtl="1"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الفريسة</a:t>
            </a:r>
            <a:endParaRPr lang="en-US" sz="2200" dirty="0"/>
          </a:p>
        </p:txBody>
      </p:sp>
      <p:sp>
        <p:nvSpPr>
          <p:cNvPr id="10" name="card"/>
          <p:cNvSpPr/>
          <p:nvPr/>
        </p:nvSpPr>
        <p:spPr>
          <a:xfrm>
            <a:off x="3520440" y="3017520"/>
            <a:ext cx="5166360" cy="86868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num"/>
          <p:cNvSpPr txBox="1"/>
          <p:nvPr/>
        </p:nvSpPr>
        <p:spPr>
          <a:xfrm>
            <a:off x="8001000" y="3200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qtext"/>
          <p:cNvSpPr txBox="1"/>
          <p:nvPr/>
        </p:nvSpPr>
        <p:spPr>
          <a:xfrm>
            <a:off x="3749040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الطائر في الصورة المقابلة هو ............</a:t>
            </a:r>
            <a:endParaRPr lang="en-US" sz="2000" dirty="0"/>
          </a:p>
        </p:txBody>
      </p:sp>
      <p:sp>
        <p:nvSpPr>
          <p:cNvPr id="13" name="ans2_a"/>
          <p:cNvSpPr txBox="1"/>
          <p:nvPr/>
        </p:nvSpPr>
        <p:spPr>
          <a:xfrm>
            <a:off x="3520440" y="3977640"/>
            <a:ext cx="5166360" cy="6858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الإجابة: </a:t>
            </a:r>
            <a:pPr rtl="1"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المفترس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1400">
        <p15:prstTrans prst="origami"/>
      </p:transition>
    </mc:Choice>
    <mc:Fallback>
      <p:transition spd="slow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0"/>
          <p:cNvSpPr/>
          <p:nvPr/>
        </p:nvSpPr>
        <p:spPr>
          <a:xfrm>
            <a:off x="8229600" y="4663440"/>
            <a:ext cx="365760" cy="365760"/>
          </a:xfrm>
          <a:prstGeom prst="ellipse">
            <a:avLst/>
          </a:prstGeom>
          <a:solidFill>
            <a:schemeClr val="accent5">
              <a:alpha val="5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sp>
        <p:nvSpPr>
          <p:cNvPr id="3" name="dot1"/>
          <p:cNvSpPr/>
          <p:nvPr/>
        </p:nvSpPr>
        <p:spPr>
          <a:xfrm>
            <a:off x="3886200" y="2103120"/>
            <a:ext cx="274320" cy="2743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4" name="dot2"/>
          <p:cNvSpPr/>
          <p:nvPr/>
        </p:nvSpPr>
        <p:spPr>
          <a:xfrm>
            <a:off x="3840480" y="4480560"/>
            <a:ext cx="411480" cy="41148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5" name="dot3"/>
          <p:cNvSpPr/>
          <p:nvPr/>
        </p:nvSpPr>
        <p:spPr>
          <a:xfrm>
            <a:off x="3383280" y="228600"/>
            <a:ext cx="365760" cy="365760"/>
          </a:xfrm>
          <a:prstGeom prst="ellipse">
            <a:avLst/>
          </a:prstGeom>
          <a:solidFill>
            <a:schemeClr val="accent4">
              <a:alpha val="55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6" name="dot4"/>
          <p:cNvSpPr/>
          <p:nvPr/>
        </p:nvSpPr>
        <p:spPr>
          <a:xfrm>
            <a:off x="182880" y="4526280"/>
            <a:ext cx="457200" cy="457200"/>
          </a:xfrm>
          <a:prstGeom prst="ellipse">
            <a:avLst/>
          </a:prstGeom>
          <a:solidFill>
            <a:schemeClr val="accent5">
              <a:alpha val="5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sp>
        <p:nvSpPr>
          <p:cNvPr id="7" name="dot5"/>
          <p:cNvSpPr/>
          <p:nvPr/>
        </p:nvSpPr>
        <p:spPr>
          <a:xfrm>
            <a:off x="8549640" y="182880"/>
            <a:ext cx="274320" cy="27432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8" name="dot6"/>
          <p:cNvSpPr/>
          <p:nvPr/>
        </p:nvSpPr>
        <p:spPr>
          <a:xfrm>
            <a:off x="6035040" y="4617720"/>
            <a:ext cx="274320" cy="274320"/>
          </a:xfrm>
          <a:prstGeom prst="ellipse">
            <a:avLst/>
          </a:prstGeom>
          <a:solidFill>
            <a:schemeClr val="accent4">
              <a:alpha val="55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9" name="dot7"/>
          <p:cNvSpPr/>
          <p:nvPr/>
        </p:nvSpPr>
        <p:spPr>
          <a:xfrm>
            <a:off x="274320" y="274320"/>
            <a:ext cx="320040" cy="32004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10" name="secbg"/>
          <p:cNvSpPr/>
          <p:nvPr/>
        </p:nvSpPr>
        <p:spPr>
          <a:xfrm>
            <a:off x="3749040" y="640080"/>
            <a:ext cx="1645920" cy="1645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secicon" descr="فك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960120"/>
            <a:ext cx="1005840" cy="1005840"/>
          </a:xfrm>
          <a:prstGeom prst="rect">
            <a:avLst/>
          </a:prstGeom>
        </p:spPr>
      </p:pic>
      <p:sp>
        <p:nvSpPr>
          <p:cNvPr id="12" name="sectitle"/>
          <p:cNvSpPr txBox="1"/>
          <p:nvPr/>
        </p:nvSpPr>
        <p:spPr>
          <a:xfrm>
            <a:off x="91440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المهارات والأفكار العلمية</a:t>
            </a:r>
            <a:endParaRPr lang="en-US" sz="4000" dirty="0"/>
          </a:p>
        </p:txBody>
      </p:sp>
      <p:sp>
        <p:nvSpPr>
          <p:cNvPr id="13" name="secsub"/>
          <p:cNvSpPr txBox="1"/>
          <p:nvPr/>
        </p:nvSpPr>
        <p:spPr>
          <a:xfrm>
            <a:off x="91440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أجيبي عن الأسئلة التالية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vortex dir="r"/>
      </p:transition>
    </mc:Choice>
    <mc:Fallback>
      <p:transition spd="slow">
        <p:wheel spokes="4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الخامس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ألخّص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8001000" y="13487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6" name="qtext"/>
          <p:cNvSpPr txBox="1"/>
          <p:nvPr/>
        </p:nvSpPr>
        <p:spPr>
          <a:xfrm>
            <a:off x="685800" y="114300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ألخّص. </a:t>
            </a:r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كيف تستفيد النباتات والحيوانات بعضها من بعض؟</a:t>
            </a:r>
            <a:endParaRPr lang="en-US" sz="2000" dirty="0"/>
          </a:p>
        </p:txBody>
      </p:sp>
      <p:sp>
        <p:nvSpPr>
          <p:cNvPr id="7" name="ans1_a"/>
          <p:cNvSpPr txBox="1"/>
          <p:nvPr/>
        </p:nvSpPr>
        <p:spPr>
          <a:xfrm>
            <a:off x="4617720" y="2286000"/>
            <a:ext cx="4069080" cy="2377440"/>
          </a:xfrm>
          <a:prstGeom prst="roundRect">
            <a:avLst>
              <a:gd name="adj" fmla="val 5769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الحيوانات تستفيد من النباتات</a:t>
            </a:r>
            <a:endParaRPr lang="en-US" sz="18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تأكلها غذاءً لها.</a:t>
            </a:r>
            <a:endParaRPr lang="en-US" sz="18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تعيش فيها وتحتمي بها (مأوى).</a:t>
            </a:r>
            <a:endParaRPr lang="en-US" sz="1800" dirty="0"/>
          </a:p>
        </p:txBody>
      </p:sp>
      <p:sp>
        <p:nvSpPr>
          <p:cNvPr id="8" name="ans2_a"/>
          <p:cNvSpPr txBox="1"/>
          <p:nvPr/>
        </p:nvSpPr>
        <p:spPr>
          <a:xfrm>
            <a:off x="457200" y="2286000"/>
            <a:ext cx="3977640" cy="2377440"/>
          </a:xfrm>
          <a:prstGeom prst="roundRect">
            <a:avLst>
              <a:gd name="adj" fmla="val 5769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النباتات تستفيد من الحيوانات</a:t>
            </a:r>
            <a:endParaRPr lang="en-US" sz="18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تنقل بذورها إلى أماكن جديدة.</a:t>
            </a:r>
            <a:endParaRPr lang="en-US" sz="18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تنقل حبوب اللقاح بين الأزهار.</a:t>
            </a:r>
            <a:endParaRPr lang="en-US" sz="18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فضلاتها تُغذّي التربة.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السادس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التتابع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2743200" y="1097280"/>
            <a:ext cx="5943600" cy="777240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8001000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6" name="qtext"/>
          <p:cNvSpPr txBox="1"/>
          <p:nvPr/>
        </p:nvSpPr>
        <p:spPr>
          <a:xfrm>
            <a:off x="2971800" y="1097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التتابع. </a:t>
            </a:r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أرتّب ما يلي في سلسلة غذائية.</a:t>
            </a:r>
            <a:endParaRPr lang="en-US" sz="2000" dirty="0"/>
          </a:p>
        </p:txBody>
      </p:sp>
      <p:sp>
        <p:nvSpPr>
          <p:cNvPr id="7" name="box0"/>
          <p:cNvSpPr txBox="1"/>
          <p:nvPr/>
        </p:nvSpPr>
        <p:spPr>
          <a:xfrm>
            <a:off x="6903720" y="2057400"/>
            <a:ext cx="1600200" cy="640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أرنب</a:t>
            </a:r>
            <a:endParaRPr lang="en-US" sz="2000" dirty="0"/>
          </a:p>
        </p:txBody>
      </p:sp>
      <p:sp>
        <p:nvSpPr>
          <p:cNvPr id="8" name="box1"/>
          <p:cNvSpPr txBox="1"/>
          <p:nvPr/>
        </p:nvSpPr>
        <p:spPr>
          <a:xfrm>
            <a:off x="4846320" y="2057400"/>
            <a:ext cx="1600200" cy="640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الشمس</a:t>
            </a:r>
            <a:endParaRPr lang="en-US" sz="2000" dirty="0"/>
          </a:p>
        </p:txBody>
      </p:sp>
      <p:sp>
        <p:nvSpPr>
          <p:cNvPr id="9" name="box2"/>
          <p:cNvSpPr txBox="1"/>
          <p:nvPr/>
        </p:nvSpPr>
        <p:spPr>
          <a:xfrm>
            <a:off x="2788920" y="2057400"/>
            <a:ext cx="1600200" cy="640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ثعلب</a:t>
            </a:r>
            <a:endParaRPr lang="en-US" sz="2000" dirty="0"/>
          </a:p>
        </p:txBody>
      </p:sp>
      <p:sp>
        <p:nvSpPr>
          <p:cNvPr id="10" name="box3"/>
          <p:cNvSpPr txBox="1"/>
          <p:nvPr/>
        </p:nvSpPr>
        <p:spPr>
          <a:xfrm>
            <a:off x="731520" y="2057400"/>
            <a:ext cx="1600200" cy="640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أعشاب</a:t>
            </a:r>
            <a:endParaRPr lang="en-US" sz="2000" dirty="0"/>
          </a:p>
        </p:txBody>
      </p:sp>
      <p:sp>
        <p:nvSpPr>
          <p:cNvPr id="11" name="ans1_bg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ans1_c0"/>
          <p:cNvSpPr/>
          <p:nvPr/>
        </p:nvSpPr>
        <p:spPr>
          <a:xfrm>
            <a:off x="7178040" y="3063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ans1_i0" descr="الشم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3218688"/>
            <a:ext cx="731520" cy="731520"/>
          </a:xfrm>
          <a:prstGeom prst="rect">
            <a:avLst/>
          </a:prstGeom>
        </p:spPr>
      </p:pic>
      <p:sp>
        <p:nvSpPr>
          <p:cNvPr id="14" name="ans1_t0"/>
          <p:cNvSpPr txBox="1"/>
          <p:nvPr/>
        </p:nvSpPr>
        <p:spPr>
          <a:xfrm>
            <a:off x="6903720" y="4206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الشمس</a:t>
            </a:r>
            <a:endParaRPr lang="en-US" sz="1800" dirty="0"/>
          </a:p>
        </p:txBody>
      </p:sp>
      <p:sp>
        <p:nvSpPr>
          <p:cNvPr id="15" name="ans1_ar0"/>
          <p:cNvSpPr txBox="1"/>
          <p:nvPr/>
        </p:nvSpPr>
        <p:spPr>
          <a:xfrm>
            <a:off x="6446520" y="3337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←</a:t>
            </a:r>
            <a:endParaRPr lang="en-US" sz="2800" dirty="0"/>
          </a:p>
        </p:txBody>
      </p:sp>
      <p:sp>
        <p:nvSpPr>
          <p:cNvPr id="16" name="ans1_c1"/>
          <p:cNvSpPr/>
          <p:nvPr/>
        </p:nvSpPr>
        <p:spPr>
          <a:xfrm>
            <a:off x="5120640" y="3063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ans1_i1" descr="أعشاب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3218688"/>
            <a:ext cx="731520" cy="731520"/>
          </a:xfrm>
          <a:prstGeom prst="rect">
            <a:avLst/>
          </a:prstGeom>
        </p:spPr>
      </p:pic>
      <p:sp>
        <p:nvSpPr>
          <p:cNvPr id="18" name="ans1_t1"/>
          <p:cNvSpPr txBox="1"/>
          <p:nvPr/>
        </p:nvSpPr>
        <p:spPr>
          <a:xfrm>
            <a:off x="4846320" y="4206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أعشاب</a:t>
            </a:r>
            <a:endParaRPr lang="en-US" sz="1800" dirty="0"/>
          </a:p>
        </p:txBody>
      </p:sp>
      <p:sp>
        <p:nvSpPr>
          <p:cNvPr id="19" name="ans1_ar1"/>
          <p:cNvSpPr txBox="1"/>
          <p:nvPr/>
        </p:nvSpPr>
        <p:spPr>
          <a:xfrm>
            <a:off x="4389120" y="3337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←</a:t>
            </a:r>
            <a:endParaRPr lang="en-US" sz="2800" dirty="0"/>
          </a:p>
        </p:txBody>
      </p:sp>
      <p:sp>
        <p:nvSpPr>
          <p:cNvPr id="20" name="ans1_c2"/>
          <p:cNvSpPr/>
          <p:nvPr/>
        </p:nvSpPr>
        <p:spPr>
          <a:xfrm>
            <a:off x="3063240" y="3063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ans1_i2" descr="أرنب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3218688"/>
            <a:ext cx="731520" cy="731520"/>
          </a:xfrm>
          <a:prstGeom prst="rect">
            <a:avLst/>
          </a:prstGeom>
        </p:spPr>
      </p:pic>
      <p:sp>
        <p:nvSpPr>
          <p:cNvPr id="22" name="ans1_t2"/>
          <p:cNvSpPr txBox="1"/>
          <p:nvPr/>
        </p:nvSpPr>
        <p:spPr>
          <a:xfrm>
            <a:off x="2788920" y="4206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أرنب</a:t>
            </a:r>
            <a:endParaRPr lang="en-US" sz="1800" dirty="0"/>
          </a:p>
        </p:txBody>
      </p:sp>
      <p:sp>
        <p:nvSpPr>
          <p:cNvPr id="23" name="ans1_ar2"/>
          <p:cNvSpPr txBox="1"/>
          <p:nvPr/>
        </p:nvSpPr>
        <p:spPr>
          <a:xfrm>
            <a:off x="2331720" y="3337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←</a:t>
            </a:r>
            <a:endParaRPr lang="en-US" sz="2800" dirty="0"/>
          </a:p>
        </p:txBody>
      </p:sp>
      <p:sp>
        <p:nvSpPr>
          <p:cNvPr id="24" name="ans1_c3"/>
          <p:cNvSpPr/>
          <p:nvPr/>
        </p:nvSpPr>
        <p:spPr>
          <a:xfrm>
            <a:off x="1005840" y="3063240"/>
            <a:ext cx="1051560" cy="10515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5" name="ans1_i3" descr="ثعلب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3218688"/>
            <a:ext cx="731520" cy="731520"/>
          </a:xfrm>
          <a:prstGeom prst="rect">
            <a:avLst/>
          </a:prstGeom>
        </p:spPr>
      </p:pic>
      <p:sp>
        <p:nvSpPr>
          <p:cNvPr id="26" name="ans1_t3"/>
          <p:cNvSpPr txBox="1"/>
          <p:nvPr/>
        </p:nvSpPr>
        <p:spPr>
          <a:xfrm>
            <a:off x="731520" y="4206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ثعلب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conveyor dir="l"/>
      </p:transition>
    </mc:Choice>
    <mc:Fallback>
      <p:transition spd="slow">
        <p:cover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السابع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فكّري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8001000" y="13487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6" name="qtext"/>
          <p:cNvSpPr txBox="1"/>
          <p:nvPr/>
        </p:nvSpPr>
        <p:spPr>
          <a:xfrm>
            <a:off x="685800" y="114300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ما الذي يساعد بعض النباتات على العيش في الأماكن الجافة؟</a:t>
            </a:r>
            <a:endParaRPr lang="en-US" sz="2000" dirty="0"/>
          </a:p>
        </p:txBody>
      </p:sp>
      <p:sp>
        <p:nvSpPr>
          <p:cNvPr id="7" name="cactusbg"/>
          <p:cNvSpPr/>
          <p:nvPr/>
        </p:nvSpPr>
        <p:spPr>
          <a:xfrm>
            <a:off x="685800" y="2514600"/>
            <a:ext cx="1920240" cy="192024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8" name="cactus" descr="صبّا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34640"/>
            <a:ext cx="1280160" cy="1280160"/>
          </a:xfrm>
          <a:prstGeom prst="rect">
            <a:avLst/>
          </a:prstGeom>
        </p:spPr>
      </p:pic>
      <p:sp>
        <p:nvSpPr>
          <p:cNvPr id="9" name="cap"/>
          <p:cNvSpPr txBox="1"/>
          <p:nvPr/>
        </p:nvSpPr>
        <p:spPr>
          <a:xfrm>
            <a:off x="54864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مثل: الصبّار</a:t>
            </a:r>
            <a:endParaRPr lang="en-US" sz="1400" dirty="0"/>
          </a:p>
        </p:txBody>
      </p:sp>
      <p:sp>
        <p:nvSpPr>
          <p:cNvPr id="10" name="ans1_a"/>
          <p:cNvSpPr txBox="1"/>
          <p:nvPr/>
        </p:nvSpPr>
        <p:spPr>
          <a:xfrm>
            <a:off x="3108960" y="2331720"/>
            <a:ext cx="5577840" cy="2377440"/>
          </a:xfrm>
          <a:prstGeom prst="roundRect">
            <a:avLst>
              <a:gd name="adj" fmla="val 5769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أجزاء خاصة تحفظ الماء:</a:t>
            </a:r>
            <a:endParaRPr lang="en-US" sz="19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سيقان سميكة تخزّن الماء.</a:t>
            </a:r>
            <a:endParaRPr lang="en-US" sz="19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أوراق صغيرة أو أشواك تُقلّل فقدان الماء.</a:t>
            </a:r>
            <a:endParaRPr lang="en-US" sz="1900" dirty="0"/>
          </a:p>
          <a:p>
            <a:pPr rtl="1"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جذور طويلة أو منتشرة تجمع الماء.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prism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الثامن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أقارن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8001000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6" name="qtext"/>
          <p:cNvSpPr txBox="1"/>
          <p:nvPr/>
        </p:nvSpPr>
        <p:spPr>
          <a:xfrm>
            <a:off x="685800" y="10972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أقارن. </a:t>
            </a:r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فيمَ تختلف الصورتان التاليتان؟ ما الذي حدث؟</a:t>
            </a:r>
            <a:endParaRPr lang="en-US" sz="2000" dirty="0"/>
          </a:p>
        </p:txBody>
      </p:sp>
      <p:pic>
        <p:nvPicPr>
          <p:cNvPr id="7" name="pic_sun_fresh" descr="أزهار عباد الشمس نضر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2057400"/>
            <a:ext cx="2377440" cy="1417320"/>
          </a:xfrm>
          <a:prstGeom prst="rect">
            <a:avLst/>
          </a:prstGeom>
        </p:spPr>
      </p:pic>
      <p:pic>
        <p:nvPicPr>
          <p:cNvPr id="8" name="pic_sun_wilt" descr="أزهار عباد الشمس ذابل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65960" y="2057400"/>
            <a:ext cx="2377440" cy="1417320"/>
          </a:xfrm>
          <a:prstGeom prst="rect">
            <a:avLst/>
          </a:prstGeom>
        </p:spPr>
      </p:pic>
      <p:sp>
        <p:nvSpPr>
          <p:cNvPr id="9" name="l1"/>
          <p:cNvSpPr txBox="1"/>
          <p:nvPr/>
        </p:nvSpPr>
        <p:spPr>
          <a:xfrm>
            <a:off x="726948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قبل</a:t>
            </a:r>
            <a:endParaRPr lang="en-US" sz="1600" dirty="0"/>
          </a:p>
        </p:txBody>
      </p:sp>
      <p:sp>
        <p:nvSpPr>
          <p:cNvPr id="10" name="l2"/>
          <p:cNvSpPr txBox="1"/>
          <p:nvPr/>
        </p:nvSpPr>
        <p:spPr>
          <a:xfrm>
            <a:off x="114300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بعد</a:t>
            </a:r>
            <a:endParaRPr lang="en-US" sz="1600" dirty="0"/>
          </a:p>
        </p:txBody>
      </p:sp>
      <p:sp>
        <p:nvSpPr>
          <p:cNvPr id="11" name="ans1_a"/>
          <p:cNvSpPr txBox="1"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الأولى: </a:t>
            </a:r>
            <a:pPr rtl="1" algn="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نبات حيّ نضر، أزهاره صفراء.  </a:t>
            </a:r>
            <a:pPr rtl="1" algn="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الثانية: </a:t>
            </a:r>
            <a:pPr rtl="1" algn="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نبات ذابل جافّ، لونه بُنّي.</a:t>
            </a:r>
            <a:endParaRPr lang="en-US" sz="1700" dirty="0"/>
          </a:p>
          <a:p>
            <a:pPr rtl="1" algn="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ما حدث: </a:t>
            </a:r>
            <a:pPr rtl="1" algn="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لم يحصل النبات على حاجاته من الماء فذبل وجفّ.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ferris dir="l"/>
      </p:transition>
    </mc:Choice>
    <mc:Fallback>
      <p:transition spd="slow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التاسع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الفكرة العامة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114800" y="1280160"/>
            <a:ext cx="457200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8001000" y="14859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</a:t>
            </a:r>
            <a:endParaRPr lang="en-US" sz="2000" dirty="0"/>
          </a:p>
        </p:txBody>
      </p:sp>
      <p:sp>
        <p:nvSpPr>
          <p:cNvPr id="6" name="qtext"/>
          <p:cNvSpPr txBox="1"/>
          <p:nvPr/>
        </p:nvSpPr>
        <p:spPr>
          <a:xfrm>
            <a:off x="4343400" y="1280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ما الموطن؟</a:t>
            </a:r>
            <a:endParaRPr lang="en-US" sz="2000" dirty="0"/>
          </a:p>
        </p:txBody>
      </p:sp>
      <p:sp>
        <p:nvSpPr>
          <p:cNvPr id="7" name="hbg"/>
          <p:cNvSpPr/>
          <p:nvPr/>
        </p:nvSpPr>
        <p:spPr>
          <a:xfrm>
            <a:off x="1097280" y="1188720"/>
            <a:ext cx="1737360" cy="17373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  <a:prstDash val="solid"/>
          </a:ln>
        </p:spPr>
      </p:sp>
      <p:pic>
        <p:nvPicPr>
          <p:cNvPr id="8" name="hicon" descr="موط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08760"/>
            <a:ext cx="1097280" cy="1097280"/>
          </a:xfrm>
          <a:prstGeom prst="rect">
            <a:avLst/>
          </a:prstGeom>
        </p:spPr>
      </p:pic>
      <p:sp>
        <p:nvSpPr>
          <p:cNvPr id="9" name="ans1_a"/>
          <p:cNvSpPr txBox="1"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10714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الموطن: </a:t>
            </a:r>
            <a:pPr rtl="1" algn="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هو المكان الذي يعيش فيه المخلوق الحيّ، ويحصل منه على حاجاته من غذاء وماء ومأوى.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140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نموذج اختبار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201168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اختاري الإجابة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3749040" cy="2926080"/>
          </a:xfrm>
          <a:prstGeom prst="roundRect">
            <a:avLst>
              <a:gd name="adj" fmla="val 468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pic_pond" descr="بركة فيها نباتات وطيور وسلحفا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3566160" cy="274320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4480560" y="1097280"/>
            <a:ext cx="4206240" cy="1051560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num"/>
          <p:cNvSpPr txBox="1"/>
          <p:nvPr/>
        </p:nvSpPr>
        <p:spPr>
          <a:xfrm>
            <a:off x="800100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qtext"/>
          <p:cNvSpPr txBox="1"/>
          <p:nvPr/>
        </p:nvSpPr>
        <p:spPr>
          <a:xfrm>
            <a:off x="4709160" y="10972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أيّ العبارات الآتية تصف الموطن الذي توضّحه الصورة؟</a:t>
            </a:r>
            <a:endParaRPr lang="en-US" sz="2000" dirty="0"/>
          </a:p>
        </p:txBody>
      </p:sp>
      <p:sp>
        <p:nvSpPr>
          <p:cNvPr id="9" name="opt0"/>
          <p:cNvSpPr txBox="1"/>
          <p:nvPr/>
        </p:nvSpPr>
        <p:spPr>
          <a:xfrm>
            <a:off x="6629400" y="2331720"/>
            <a:ext cx="20574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أ. عشبيٌّ ودافئ.</a:t>
            </a:r>
            <a:endParaRPr lang="en-US" sz="1600" dirty="0"/>
          </a:p>
        </p:txBody>
      </p:sp>
      <p:sp>
        <p:nvSpPr>
          <p:cNvPr id="10" name="opt1"/>
          <p:cNvSpPr txBox="1"/>
          <p:nvPr/>
        </p:nvSpPr>
        <p:spPr>
          <a:xfrm>
            <a:off x="4480560" y="2331720"/>
            <a:ext cx="20574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ب. عشبيٌّ ورطب.</a:t>
            </a:r>
            <a:endParaRPr lang="en-US" sz="1600" dirty="0"/>
          </a:p>
        </p:txBody>
      </p:sp>
      <p:sp>
        <p:nvSpPr>
          <p:cNvPr id="11" name="opt2"/>
          <p:cNvSpPr txBox="1"/>
          <p:nvPr/>
        </p:nvSpPr>
        <p:spPr>
          <a:xfrm>
            <a:off x="6629400" y="2898648"/>
            <a:ext cx="20574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ج. باردٌ وفيه ثلج.</a:t>
            </a:r>
            <a:endParaRPr lang="en-US" sz="1600" dirty="0"/>
          </a:p>
        </p:txBody>
      </p:sp>
      <p:sp>
        <p:nvSpPr>
          <p:cNvPr id="12" name="opt3"/>
          <p:cNvSpPr txBox="1"/>
          <p:nvPr/>
        </p:nvSpPr>
        <p:spPr>
          <a:xfrm>
            <a:off x="4480560" y="2898648"/>
            <a:ext cx="20574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د. حارٌّ وجافّ.</a:t>
            </a:r>
            <a:endParaRPr lang="en-US" sz="1600" dirty="0"/>
          </a:p>
        </p:txBody>
      </p:sp>
      <p:sp>
        <p:nvSpPr>
          <p:cNvPr id="13" name="ans1_a"/>
          <p:cNvSpPr txBox="1"/>
          <p:nvPr/>
        </p:nvSpPr>
        <p:spPr>
          <a:xfrm>
            <a:off x="4480560" y="3657600"/>
            <a:ext cx="4206240" cy="777240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الإجابة: </a:t>
            </a:r>
            <a:pPr rtl="1" algn="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ب. عشبيٌّ ورطب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litter dir="l" pattern="hexagon"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نموذج اختبار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201168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اختاري الإجابة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051560"/>
            <a:ext cx="8229600" cy="160020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pic_chain" descr="شمس ← عشب ← جرادة ← فأر ← أفعى ← صقر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115568"/>
            <a:ext cx="7772400" cy="146304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3108960" y="2834640"/>
            <a:ext cx="5577840" cy="777240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num"/>
          <p:cNvSpPr txBox="1"/>
          <p:nvPr/>
        </p:nvSpPr>
        <p:spPr>
          <a:xfrm>
            <a:off x="8001000" y="2971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qtext"/>
          <p:cNvSpPr txBox="1"/>
          <p:nvPr/>
        </p:nvSpPr>
        <p:spPr>
          <a:xfrm>
            <a:off x="3337560" y="2834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انظري إلى السلسلة الغذائية: ماذا تأكل الأفعى؟</a:t>
            </a:r>
            <a:endParaRPr lang="en-US" sz="2000" dirty="0"/>
          </a:p>
        </p:txBody>
      </p:sp>
      <p:sp>
        <p:nvSpPr>
          <p:cNvPr id="9" name="opt0"/>
          <p:cNvSpPr txBox="1"/>
          <p:nvPr/>
        </p:nvSpPr>
        <p:spPr>
          <a:xfrm>
            <a:off x="6903720" y="3794760"/>
            <a:ext cx="169164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أ. الصقر.</a:t>
            </a:r>
            <a:endParaRPr lang="en-US" sz="1600" dirty="0"/>
          </a:p>
        </p:txBody>
      </p:sp>
      <p:sp>
        <p:nvSpPr>
          <p:cNvPr id="10" name="opt1"/>
          <p:cNvSpPr txBox="1"/>
          <p:nvPr/>
        </p:nvSpPr>
        <p:spPr>
          <a:xfrm>
            <a:off x="5074920" y="3794760"/>
            <a:ext cx="169164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ب. الجرادة.</a:t>
            </a:r>
            <a:endParaRPr lang="en-US" sz="1600" dirty="0"/>
          </a:p>
        </p:txBody>
      </p:sp>
      <p:sp>
        <p:nvSpPr>
          <p:cNvPr id="11" name="opt2"/>
          <p:cNvSpPr txBox="1"/>
          <p:nvPr/>
        </p:nvSpPr>
        <p:spPr>
          <a:xfrm>
            <a:off x="3246120" y="3794760"/>
            <a:ext cx="169164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ج. الفأر.</a:t>
            </a:r>
            <a:endParaRPr lang="en-US" sz="1600" dirty="0"/>
          </a:p>
        </p:txBody>
      </p:sp>
      <p:sp>
        <p:nvSpPr>
          <p:cNvPr id="12" name="opt3"/>
          <p:cNvSpPr txBox="1"/>
          <p:nvPr/>
        </p:nvSpPr>
        <p:spPr>
          <a:xfrm>
            <a:off x="1417320" y="3794760"/>
            <a:ext cx="169164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د. الأعشاب.</a:t>
            </a:r>
            <a:endParaRPr lang="en-US" sz="1600" dirty="0"/>
          </a:p>
        </p:txBody>
      </p:sp>
      <p:sp>
        <p:nvSpPr>
          <p:cNvPr id="13" name="ans1_a"/>
          <p:cNvSpPr txBox="1"/>
          <p:nvPr/>
        </p:nvSpPr>
        <p:spPr>
          <a:xfrm>
            <a:off x="457200" y="2834640"/>
            <a:ext cx="2468880" cy="777240"/>
          </a:xfrm>
          <a:prstGeom prst="roundRect">
            <a:avLst>
              <a:gd name="adj" fmla="val 17647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الإجابة: </a:t>
            </a:r>
            <a:pPr rtl="1" algn="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ج. الفأر</a:t>
            </a:r>
            <a:endParaRPr lang="en-US" sz="2000" dirty="0"/>
          </a:p>
        </p:txBody>
      </p:sp>
      <p:sp>
        <p:nvSpPr>
          <p:cNvPr id="14" name="ans1_b"/>
          <p:cNvSpPr txBox="1"/>
          <p:nvPr/>
        </p:nvSpPr>
        <p:spPr>
          <a:xfrm>
            <a:off x="3108960" y="4343400"/>
            <a:ext cx="5577840" cy="457200"/>
          </a:xfrm>
          <a:prstGeom prst="roundRect">
            <a:avLst>
              <a:gd name="adj" fmla="val 30000"/>
            </a:avLst>
          </a:prstGeom>
          <a:solidFill>
            <a:schemeClr val="accent6"/>
          </a:solidFill>
          <a:ln w="19050">
            <a:solidFill>
              <a:schemeClr val="accent1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76200" tIns="177800" rIns="177800" bIns="7620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الأفعى تأكل الفأر، والصقر يأكل الأفعى.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1400">
        <p15:prstTrans prst="fallOver"/>
      </p:transition>
    </mc:Choice>
    <mc:Fallback>
      <p:transition spd="slow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w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#ppt_h*1.1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0"/>
          <p:cNvSpPr/>
          <p:nvPr/>
        </p:nvSpPr>
        <p:spPr>
          <a:xfrm>
            <a:off x="8229600" y="4663440"/>
            <a:ext cx="365760" cy="365760"/>
          </a:xfrm>
          <a:prstGeom prst="ellipse">
            <a:avLst/>
          </a:prstGeom>
          <a:solidFill>
            <a:schemeClr val="accent5">
              <a:alpha val="5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sp>
        <p:nvSpPr>
          <p:cNvPr id="3" name="dot1"/>
          <p:cNvSpPr/>
          <p:nvPr/>
        </p:nvSpPr>
        <p:spPr>
          <a:xfrm>
            <a:off x="3886200" y="2103120"/>
            <a:ext cx="274320" cy="2743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4" name="dot2"/>
          <p:cNvSpPr/>
          <p:nvPr/>
        </p:nvSpPr>
        <p:spPr>
          <a:xfrm>
            <a:off x="3840480" y="4480560"/>
            <a:ext cx="411480" cy="41148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5" name="dot3"/>
          <p:cNvSpPr/>
          <p:nvPr/>
        </p:nvSpPr>
        <p:spPr>
          <a:xfrm>
            <a:off x="3383280" y="228600"/>
            <a:ext cx="365760" cy="365760"/>
          </a:xfrm>
          <a:prstGeom prst="ellipse">
            <a:avLst/>
          </a:prstGeom>
          <a:solidFill>
            <a:schemeClr val="accent4">
              <a:alpha val="55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6" name="dot4"/>
          <p:cNvSpPr/>
          <p:nvPr/>
        </p:nvSpPr>
        <p:spPr>
          <a:xfrm>
            <a:off x="182880" y="4526280"/>
            <a:ext cx="457200" cy="457200"/>
          </a:xfrm>
          <a:prstGeom prst="ellipse">
            <a:avLst/>
          </a:prstGeom>
          <a:solidFill>
            <a:schemeClr val="accent5">
              <a:alpha val="55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</p:spPr>
      </p:sp>
      <p:sp>
        <p:nvSpPr>
          <p:cNvPr id="7" name="dot5"/>
          <p:cNvSpPr/>
          <p:nvPr/>
        </p:nvSpPr>
        <p:spPr>
          <a:xfrm>
            <a:off x="8549640" y="182880"/>
            <a:ext cx="274320" cy="27432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</p:spPr>
      </p:sp>
      <p:sp>
        <p:nvSpPr>
          <p:cNvPr id="8" name="dot6"/>
          <p:cNvSpPr/>
          <p:nvPr/>
        </p:nvSpPr>
        <p:spPr>
          <a:xfrm>
            <a:off x="6035040" y="4617720"/>
            <a:ext cx="274320" cy="274320"/>
          </a:xfrm>
          <a:prstGeom prst="ellipse">
            <a:avLst/>
          </a:prstGeom>
          <a:solidFill>
            <a:schemeClr val="accent4">
              <a:alpha val="55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</p:spPr>
      </p:sp>
      <p:sp>
        <p:nvSpPr>
          <p:cNvPr id="9" name="dot7"/>
          <p:cNvSpPr/>
          <p:nvPr/>
        </p:nvSpPr>
        <p:spPr>
          <a:xfrm>
            <a:off x="274320" y="274320"/>
            <a:ext cx="320040" cy="32004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</p:spPr>
      </p:sp>
      <p:sp>
        <p:nvSpPr>
          <p:cNvPr id="10" name="halo"/>
          <p:cNvSpPr/>
          <p:nvPr/>
        </p:nvSpPr>
        <p:spPr>
          <a:xfrm>
            <a:off x="411480" y="685800"/>
            <a:ext cx="3291840" cy="3291840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12700">
            <a:solidFill>
              <a:schemeClr val="accent3">
                <a:alpha val="80000"/>
              </a:schemeClr>
            </a:solidFill>
            <a:prstDash val="solid"/>
          </a:ln>
        </p:spPr>
      </p:sp>
      <p:pic>
        <p:nvPicPr>
          <p:cNvPr id="11" name="girl" descr="طالبة تلوّح بيده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3108960" cy="3703320"/>
          </a:xfrm>
          <a:prstGeom prst="rect">
            <a:avLst/>
          </a:prstGeom>
        </p:spPr>
      </p:pic>
      <p:sp>
        <p:nvSpPr>
          <p:cNvPr id="12" name="bubble"/>
          <p:cNvSpPr txBox="1"/>
          <p:nvPr/>
        </p:nvSpPr>
        <p:spPr>
          <a:xfrm>
            <a:off x="4023360" y="548640"/>
            <a:ext cx="4663440" cy="1600200"/>
          </a:xfrm>
          <a:prstGeom prst="wedgeRoundRectCallout">
            <a:avLst/>
          </a:prstGeom>
          <a:solidFill>
            <a:schemeClr val="bg1"/>
          </a:solidFill>
          <a:ln w="31750">
            <a:solidFill>
              <a:schemeClr val="accent5"/>
            </a:solidFill>
          </a:ln>
        </p:spPr>
        <p:txBody>
          <a:bodyPr wrap="square" lIns="76200" tIns="228600" rIns="228600" bIns="7620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أحسنتِ يا بطلة!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والآن لنتعرّف كلمات درسنا الجديد</a:t>
            </a:r>
            <a:endParaRPr lang="en-US" sz="3200" dirty="0"/>
          </a:p>
        </p:txBody>
      </p:sp>
      <p:sp>
        <p:nvSpPr>
          <p:cNvPr id="13" name="ch"/>
          <p:cNvSpPr txBox="1"/>
          <p:nvPr/>
        </p:nvSpPr>
        <p:spPr>
          <a:xfrm>
            <a:off x="40233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الفصل الرابع</a:t>
            </a:r>
            <a:endParaRPr lang="en-US" sz="2200" dirty="0"/>
          </a:p>
        </p:txBody>
      </p:sp>
      <p:sp>
        <p:nvSpPr>
          <p:cNvPr id="14" name="chname"/>
          <p:cNvSpPr txBox="1"/>
          <p:nvPr/>
        </p:nvSpPr>
        <p:spPr>
          <a:xfrm>
            <a:off x="4023360" y="3108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أنواع المواطن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1400">
        <p15:prstTrans prst="wind"/>
      </p:transition>
    </mc:Choice>
    <mc:Fallback>
      <p:transition spd="slow">
        <p:cover dir="r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28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مفردات الفكرة العامة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457200" y="347472"/>
            <a:ext cx="18288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الفصل الرابع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pic_desert" descr="الصحراء الحارّ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234440"/>
            <a:ext cx="1645920" cy="1417320"/>
          </a:xfrm>
          <a:prstGeom prst="rect">
            <a:avLst/>
          </a:prstGeom>
        </p:spPr>
      </p:pic>
      <p:sp>
        <p:nvSpPr>
          <p:cNvPr id="6" name="vt0"/>
          <p:cNvSpPr txBox="1"/>
          <p:nvPr/>
        </p:nvSpPr>
        <p:spPr>
          <a:xfrm>
            <a:off x="6583680" y="1234440"/>
            <a:ext cx="1965960" cy="4114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76200" rIns="7620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الصحراء الحارّة</a:t>
            </a:r>
            <a:endParaRPr lang="en-US" sz="1700" dirty="0"/>
          </a:p>
        </p:txBody>
      </p:sp>
      <p:sp>
        <p:nvSpPr>
          <p:cNvPr id="7" name="vd0"/>
          <p:cNvSpPr txBox="1"/>
          <p:nvPr/>
        </p:nvSpPr>
        <p:spPr>
          <a:xfrm>
            <a:off x="6583680" y="17190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موطن حارّ جافّ، أمطاره قليلة جدًّا.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pic_polar" descr="المنطقة القطبي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1234440"/>
            <a:ext cx="1645920" cy="1417320"/>
          </a:xfrm>
          <a:prstGeom prst="rect">
            <a:avLst/>
          </a:prstGeom>
        </p:spPr>
      </p:pic>
      <p:sp>
        <p:nvSpPr>
          <p:cNvPr id="10" name="vt1"/>
          <p:cNvSpPr txBox="1"/>
          <p:nvPr/>
        </p:nvSpPr>
        <p:spPr>
          <a:xfrm>
            <a:off x="2377440" y="1234440"/>
            <a:ext cx="1965960" cy="4114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76200" rIns="7620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المنطقة القطبية</a:t>
            </a:r>
            <a:endParaRPr lang="en-US" sz="1700" dirty="0"/>
          </a:p>
        </p:txBody>
      </p:sp>
      <p:sp>
        <p:nvSpPr>
          <p:cNvPr id="11" name="vd1"/>
          <p:cNvSpPr txBox="1"/>
          <p:nvPr/>
        </p:nvSpPr>
        <p:spPr>
          <a:xfrm>
            <a:off x="2377440" y="171907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منطقة باردة جدًّا، تقع بالقرب من القطب الشمالي.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63440" y="2971800"/>
            <a:ext cx="402336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pic_forest" descr="الغاب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00600" y="3108960"/>
            <a:ext cx="1645920" cy="1417320"/>
          </a:xfrm>
          <a:prstGeom prst="rect">
            <a:avLst/>
          </a:prstGeom>
        </p:spPr>
      </p:pic>
      <p:sp>
        <p:nvSpPr>
          <p:cNvPr id="14" name="vt2"/>
          <p:cNvSpPr txBox="1"/>
          <p:nvPr/>
        </p:nvSpPr>
        <p:spPr>
          <a:xfrm>
            <a:off x="6583680" y="3108960"/>
            <a:ext cx="1965960" cy="4114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76200" rIns="7620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الغابة</a:t>
            </a:r>
            <a:endParaRPr lang="en-US" sz="1700" dirty="0"/>
          </a:p>
        </p:txBody>
      </p:sp>
      <p:sp>
        <p:nvSpPr>
          <p:cNvPr id="15" name="vd2"/>
          <p:cNvSpPr txBox="1"/>
          <p:nvPr/>
        </p:nvSpPr>
        <p:spPr>
          <a:xfrm>
            <a:off x="6583680" y="35935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موطن تنمو فيه الأشجار جيدًا؛ بسبب نزول الأمطار وتوافر ضوء الشمس.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2971800"/>
            <a:ext cx="402336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pic_rain" descr="الغابة المطير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4360" y="3108960"/>
            <a:ext cx="1645920" cy="1417320"/>
          </a:xfrm>
          <a:prstGeom prst="rect">
            <a:avLst/>
          </a:prstGeom>
        </p:spPr>
      </p:pic>
      <p:sp>
        <p:nvSpPr>
          <p:cNvPr id="18" name="vt3"/>
          <p:cNvSpPr txBox="1"/>
          <p:nvPr/>
        </p:nvSpPr>
        <p:spPr>
          <a:xfrm>
            <a:off x="2377440" y="3108960"/>
            <a:ext cx="1965960" cy="4114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76200" rIns="7620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الغابة المطيرة</a:t>
            </a:r>
            <a:endParaRPr lang="en-US" sz="1700" dirty="0"/>
          </a:p>
        </p:txBody>
      </p:sp>
      <p:sp>
        <p:nvSpPr>
          <p:cNvPr id="19" name="vd3"/>
          <p:cNvSpPr txBox="1"/>
          <p:nvPr/>
        </p:nvSpPr>
        <p:spPr>
          <a:xfrm>
            <a:off x="2377440" y="3593592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موطن تسقط فيه الأمطار كل يوم تقريبًا.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rtl="1"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zoom/>
      </p:transition>
    </mc:Fallback>
  </mc:AlternateContent>
</p:sld>
</file>

<file path=ppt/theme/theme1.xml><?xml version="1.0" encoding="utf-8"?>
<a:theme xmlns:a="http://schemas.openxmlformats.org/drawingml/2006/main" name="Food Chains Review">
  <a:themeElements>
    <a:clrScheme name="Food Chains Review">
      <a:dk1>
        <a:srgbClr val="2D3A30"/>
      </a:dk1>
      <a:lt1>
        <a:srgbClr val="FFFFFF"/>
      </a:lt1>
      <a:dk2>
        <a:srgbClr val="2E7D32"/>
      </a:dk2>
      <a:lt2>
        <a:srgbClr val="F1FAEC"/>
      </a:lt2>
      <a:accent1>
        <a:srgbClr val="5DB85C"/>
      </a:accent1>
      <a:accent2>
        <a:srgbClr val="E8505B"/>
      </a:accent2>
      <a:accent3>
        <a:srgbClr val="FCE38A"/>
      </a:accent3>
      <a:accent4>
        <a:srgbClr val="F7A04B"/>
      </a:accent4>
      <a:accent5>
        <a:srgbClr val="4AA8E0"/>
      </a:accent5>
      <a:accent6>
        <a:srgbClr val="D6F1C9"/>
      </a:accent6>
      <a:hlink>
        <a:srgbClr val="4AA8E0"/>
      </a:hlink>
      <a:folHlink>
        <a:srgbClr val="B48DE0"/>
      </a:folHlink>
    </a:clrScheme>
    <a:fontScheme name="Food Chains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مراجعة الفصل الثالث - السلسلة الغذائية</dc:title>
  <dc:subject>PptxGenJS Presentation</dc:subject>
  <dc:creator>PptxGenJS</dc:creator>
  <cp:lastModifiedBy>PptxGenJS</cp:lastModifiedBy>
  <cp:revision>1</cp:revision>
  <dcterms:created xsi:type="dcterms:W3CDTF">2026-10-17T21:55:37Z</dcterms:created>
  <dcterms:modified xsi:type="dcterms:W3CDTF">2026-10-17T21:55:37Z</dcterms:modified>
</cp:coreProperties>
</file>