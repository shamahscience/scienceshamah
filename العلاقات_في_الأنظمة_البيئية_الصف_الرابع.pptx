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افتتاح" id="{1837ee24-77ba-2ab7-5b25-d5982de1c7c6}">
          <p14:sldIdLst>
            <p14:sldId id="256"/>
            <p14:sldId id="257"/>
          </p14:sldIdLst>
        </p14:section>
        <p14:section name="المراجعة والتهيئة" id="{afeecd63-aeb8-223e-0a26-ddfcc4e1b8e8}">
          <p14:sldIdLst>
            <p14:sldId id="258"/>
            <p14:sldId id="259"/>
            <p14:sldId id="260"/>
            <p14:sldId id="261"/>
            <p14:sldId id="262"/>
          </p14:sldIdLst>
        </p14:section>
        <p14:section name="الاستقصاء – أستكشف" id="{c92ab684-3811-06af-b981-ebf0b3d43173}">
          <p14:sldIdLst>
            <p14:sldId id="263"/>
            <p14:sldId id="264"/>
            <p14:sldId id="265"/>
            <p14:sldId id="266"/>
          </p14:sldIdLst>
        </p14:section>
        <p14:section name="شرح المفاهيم" id="{9f487378-578c-7e78-2a0e-c9cc874354c8}">
          <p14:sldIdLst>
            <p14:sldId id="267"/>
            <p14:sldId id="268"/>
            <p14:sldId id="269"/>
            <p14:sldId id="270"/>
            <p14:sldId id="271"/>
            <p14:sldId id="272"/>
            <p14:sldId id="273"/>
            <p14:sldId id="274"/>
          </p14:sldIdLst>
        </p14:section>
        <p14:section name="التقويم وتصحيح المفاهيم" id="{c12cae13-461b-6d5c-5a1c-764a229ab125}">
          <p14:sldIdLst>
            <p14:sldId id="275"/>
            <p14:sldId id="276"/>
            <p14:sldId id="277"/>
          </p14:sldIdLst>
        </p14:section>
        <p14:section name="الربط والتكامل" id="{84fae9ac-072a-9444-e037-cb706d76ca42}">
          <p14:sldIdLst>
            <p14:sldId id="278"/>
            <p14:sldId id="279"/>
            <p14:sldId id="280"/>
            <p14:sldId id="281"/>
          </p14:sldIdLst>
        </p14:section>
        <p14:section name="حصاد المعرفة والختام" id="{4c399e4a-961e-a011-431f-d8701be9da0f}">
          <p14:sldIdLst>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الترحيب: اكتبي اليوم والتاريخ في المكان المخصص (يمكن تعديله مباشرة). الصورة من غلاف الدرس في الكتاب ص١٠٨. العناصر تظهر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القوانين الصفية: انقري لإظهار كل قانون بالتدريج، وتردد الطالبات القانون مع الإشارة إليه. يمكن منح نجمة للمجموعة الملتزمة.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شريط الذكريات (من الدرس السابق «الأنظمة البيئية»): اسألي: مِمَّ يتكوّن النظام البيئي؟ ثم انقري لإظهار الإجابة. في نشاط «فكّري بسرعة» اضغطي على بطاقة كل صورة ليظهر تصنيفها (الشمس والماء: لاحيوي، النبات والأرنب: حيوي). اختمي بسؤال الربط: فكيف تحصل المخلوقات الحية على الطاقة؟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مفردات الدرس كما وردت في الكتاب ص١١٠: المنتج، المستهلك، المحلل، السلسلة الغذائية، الشبكة الغذائية، التنافس، هرم الطاقة. اضغطي على كل بطاقة لكشفها. تعريفات المنتج والمستهلك والمحلل من نص الكتاب ص١١٠–١١١. أما السلسلة الغذائية والشبكة الغذائية والتنافس وهرم الطاقة فتعريفاتها مبسطة من إعداد المعلمة للتمهيد، وتُشرح بالتفصيل في الصفحات التالية من الدرس (هرم الطاقة يرتبط مباشرة بنموذج شريط الطاقة في «أستكشف»).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أنظر وأتساءل (ص١٠٨) — النص كما في الكتاب. اطرحي السؤال، وامنحي الطالبات وقتًا للتوقع والمناقشة، ثم انقري لإظهار الإجابة: مصدر الطاقة الأساسي هو الشمس، تصنع النباتات (المنتجات) غذاءها بطاقة الشمس، وتنتقل الطاقة إلى الحيوانات عن طريق الغذاء (وهذا ما ستتأكد منه الطالبات في الصفحات ١١٠–١١١).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التمهيد (قياس قبلي): اعرضي اللغز، واطلبي من الطالبات التصويت دون تصحيح وسجلي عدد الإجابات على السبورة. سنعود إلى السؤال في شريحة «قياس أثر التعلم» في نهاية الدرس. الإجابة الصحيحة: (ب) من النبات الذي أكله، والنبات صنع غذاءه مستخدمًا طاقة الشمس.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نواتج التعلم: اعرضي كل ناتج مع النشاط الذي يحققه وأداة تقويمه. الأفعال قابلة للقياس: تحدد، تصف، تصنّف، تستنتج.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أستكشف (ص١٠٩) — نشاط استقصائي. اعرضي السؤال والهدف والأدوات كما في الكتاب، ونبهي إلى استخدام المقص بأمان. استراتيجية POE: قبل التجربة اطلبي من كل طالبة تسجيل توقعها: هل يحصل آكل اللحوم على طاقة أكثر أم أقل من النبات؟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خطوات النموذج كما في الكتاب ص١٠٩ دون تغيير. وزعي البطاقات على مجموعات من أربع طالبات، وانقري لإظهار الخطوات واحدة تلو الأخرى أثناء التنفيذ. أثناء التجربة اسألي: ماذا تلاحظين على طول الشريط عند كل مخلوق؟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أستخلص النتائج (ص١٠٩): انقري لتظهر أشرطة الطاقة بالتدريج (الشمس ١٠٠ سم ← النبات ١٠٠ سم ← آكل النبات ١٠ سم ← آكل اللحوم ١ سم). سؤالا الكتاب:
٦ أستنتج: لماذا يقطع شريط الطاقة قبل تمريره؟ لأن كل مخلوق يستخدم معظم الطاقة التي يحصل عليها، وينتقل جزء صغير فقط.
٧ أستخدم الأرقام: يتبقى لآكل اللحوم ١ سم، أي جزء من مئة مما وصل للنبات، وجزء من عشرة مما وصل لآكل النبات.
ثم اطلبي من الطالبات تفسير النتيجة ومقارنتها بتوقعهن (POE).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أستكشف أكثر (ص١٠٩): السؤال من الكتاب. اتركي المجموعات تقترح تجربتها أولًا، ثم اعرضي التوقع والتصميم المقترحين (من إعداد المعلمة، وليسا من نص الكتاب): إعادة النموذج دون أن يمرر النبات أي طاقة، فلا يحصل آكل النبات ولا آكل اللحوم على 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أقرأ وأتعلم (ص١١٠): السؤال الأساسي: كيف تحصل المخلوقات الحية على الطاقة؟ مهارة القراءة: الاستنتاج. املئي الجدول مع الطالبات أثناء القراءة: الدليل من النص ثم الاستنتاج.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الفهم القرائي (ص١١٠): تقرأ الطالبات النص، ثم التشبيه (فريق المدرسة). نشاط فكّري–زاوجي–شاركي: ماذا يحدث للنظام البيئي إذا لم يؤدِّ أحد المخلوقات دوره؟ الإجابة المتوقعة: يتأثر غيره من المخلوقات لأنها تعتمد بعضها على بعض.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المنتجات (ص١١٠): المفهوم من نص الكتاب، ثم أمثلة اليابسة والماء، والتشبيه (الطاهي)، ثم تقويم سريع: هل الأرنب منتج؟ لا؛ لأنه لا يصنع غذاءه بنفسه. تغذية راجعة: «أحسنتِ! المنتج هو الذي يصنع غذاءه».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السبورة المنظمة: تُكتب كما لو كانت المعلمة تكتبها في الفصل. العبارات منقولة من الشكل «الأدوار في النظام البيئي» في الكتاب ص١١٠: تصنع المنتجات غذاءها مستخدمة أشعة الشمس – تتغذى المستهلكات على المنتجات – تحلل المحللات بقايا المخلوقات الحية وأجسامها بعد موتها.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المستهلكات (ص١١١): تُصنَّف تبعًا لنوع الغذاء. آكلة الأعشاب: تأكل المنتجات فقط (القوارض، الأرانب، الغزلان). القوارت: تتغذى على المنتجات والمستهلكات (الراكون، بعض الطيور، الدببة). آكلة اللحوم: تتغذى على آكلة الأعشاب وعلى القوارت (القط، الأسد، النمر، سمك القرش، بعض الطيور). الصور من الكتاب: غزال، راكون، نمر.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التصنيف: تختار الطالبة حيوانًا وتصنّفه، ثم تضغط المعلمة على بطاقته لتظهر الإجابة. الأرنب والغزال: آكل أعشاب. الراكون والدب: قارت. الأسد وسمك القرش: آكل لحوم (جميع الأمثلة من الكتاب ص١١١).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المحللات (ص١١١): التعريف والأمثلة من نص الكتاب، والصورة من الشكل «الأدوار في النظام البيئي». التشبيه من إعداد المعلمة: المحللات كعمال إعادة التدوير.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المحللات (ص١١١): الخطوات كما في الكتاب. تأكيد على السلامة: لا تُفتح الأكياس بعد إغلاقها. POE: توقعي قبل البدء، ولاحظي يوميًا، ثم فسّري. الإجابة المتوقعة لسؤال «أتواصل»: تغيّر لون الأطعمة وشكلها وظهر عليها العفن؛ لأن الفطريات (وهي من المحللات) نمت عليها وبدأت تحليلها. (النشاط يحتاج عدة أيام؛ يمكن تحضيره مسبقًا.)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اكتشفي الخطأ (التناقض المعرفي): تظهر كل عبارة غير صحيحة، فتحدد الطالبات الخطأ، ثم يظهر سؤال يثير التفكير، ثم التصحيح مع الدليل من الكتاب. تحققي من الفهم بسؤال جديد: من أين يحصل الأسد على طاقته؟ (من الحيوانات التي يأكلها). ملاحظة: هذه تصورات شائعة وليست أخطاء صدرت من الطالبات.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التقويم التكويني بثلاثة مستويات: أكتشف (تذكر وفهم)، أفكّر (مقارنة)، أتحدى نفسي (استنتاج). لكل سؤال: أعطي فرصة للإجابة، ثم انقري لإظهار التلميح إن احتاجت الطالبات، ثم انقري لإظهار الإجابة مع التفسير والتعزيز.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أختبر نفسي (ص١١١) — الأسئلة بنصها من الكتاب:
أستنتج: ماذا يمكن أن يحدث في حالة غياب المنتجات؟ الإجابة: لن تجد آكلات الأعشاب غذاءً فتموت، ثم تتأثر القوارت وآكلات اللحوم؛ لأن كل المخلوقات الحية تعتمد على المنتجات.
التفكير الناقد: هل تحصل المستهلكات على طاقتها مباشرة من الشمس؟ الإجابة: لا؛ تحصل عليها بطريقة غير مباشرة بتغذيها على المنتجات (التي صنعت غذاءها بطاقة الشمس) أو على مستهلكات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بالحياة: مواقف يومية توضح المنتج والمستهلك والمحلل. اسألي الطالبات عن أمثلة من بيوتهن.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بالوطن (إثرائي، ليس من نص الكتاب): مبادرة السعودية الخضراء أُطلقت عام ٢٠٢١م وتستهدف زراعة ١٠ مليارات شجرة داخل المملكة. الزر يفتح الموقع الرسمي: https://www.sgi.gov.sa/ — الأشجار منتجات تصنع غذاءها بطاقة الشمس، فتوفر الغذاء والموطن للمستهلكات.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بالقرآن الكريم: قال تعالى ﴿وَمَا مِن دَابَّةٍ فِي الْأَرْضِ إِلَّا عَلَى اللَّهِ رِزْقُهَا﴾ [هود: ٦] (النص منقول بالرسم العثماني من مصحف تنزيل). الربط: الله تعالى تكفّل برزق كل مخلوق، وجعل لكل مخلوق دورًا في النظام البيئي كما ورد في الكتاب ص١١٠. لا ندّعي أن الآية تثبت تفاصيل علمية.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التكامل: الرياضيات من أرقام نموذج الطاقة في الكتاب (١٠٠ − ١٠ = ٩٠، ١٠ − ١ = ٩). لغتي: إكمال جملة علمية. المهنة: عالمة البيئة، وهي مرتبطة بقول الكتاب «اهتم العلماء بدراسة العلاقات بين هذه المخلوقات والأدوار التي تؤديها».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حصاد المعرفة: سؤال فهم، وتطبيق، وتفكير ناقد، وتصحيح مفهوم. تظهر الإجابات بالتدريج بعد مشاركة الطالبات.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خريطة مفاهيم مفرغة: تشارك الطالبات في تعبئتها، وبعد كل مشاركة انقري لإظهار الإجابة. المنتجات (تصنع غذاءها بطاقة الشمس – النباتات الخضراء والطحالب)، المستهلكات (آكلة الأعشاب، القوارت، آكلة اللحوم)، المحللات (تحلل المواد الميتة – الديدان والبكتيريا والفطريات).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من أنا؟ (قياس تحقق نواتج التعلم): تقرأ الطالبة الوصف وتجيب، ثم تضغط المعلمة على بطاقة «من أنا؟» المقابلة لتظهر الإجابة: منتج – قارت – محلل – آكل أعشاب.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قياس أثر التعلم: أعيدي سؤال التمهيد (القبلي) واطلبي التصويت مرة أخرى، ثم قارني عدد الإجابات الصحيحة قبل الدرس وبعده. ثم تكتب كل طالبة بطاقة «أعرف الآن» وتقيم فهمها بالنجوم.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الختام: لخصي الدرس وأثني على الطالبات. تظهر العناصر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ARD">
    <p:bg>
      <p:bgPr>
        <a:solidFill>
          <a:srgbClr val="FFFFFF"/>
        </a:solidFill>
      </p:bgPr>
    </p:bg>
    <p:spTree>
      <p:nvGrpSpPr>
        <p:cNvPr id="1" name=""/>
        <p:cNvGrpSpPr/>
        <p:nvPr/>
      </p:nvGrpSpPr>
      <p:grpSpPr>
        <a:xfrm>
          <a:off x="0" y="0"/>
          <a:ext cx="0" cy="0"/>
          <a:chOff x="0" y="0"/>
          <a:chExt cx="0" cy="0"/>
        </a:xfrm>
      </p:grpSpPr>
      <p:pic>
        <p:nvPicPr>
          <p:cNvPr id="2" name="Image 0" descr="أ/ شامه البقمي">    </p:cNvPr>
          <p:cNvPicPr>
            <a:picLocks noChangeAspect="1"/>
          </p:cNvPicPr>
          <p:nvPr/>
        </p:nvPicPr>
        <p:blipFill>
          <a:blip r:embed="rId1"/>
          <a:stretch>
            <a:fillRect/>
          </a:stretch>
        </p:blipFill>
        <p:spPr>
          <a:xfrm>
            <a:off x="228600" y="6345936"/>
            <a:ext cx="2425924" cy="43891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7.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7.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7.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7.png"/><Relationship Id="rId20" Type="http://schemas.openxmlformats.org/officeDocument/2006/relationships/image" Target="../media/image-2-20.png"/><Relationship Id="rId21" Type="http://schemas.openxmlformats.org/officeDocument/2006/relationships/slideLayout" Target="../slideLayouts/slideLayout2.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7.png"/><Relationship Id="rId10" Type="http://schemas.openxmlformats.org/officeDocument/2006/relationships/image" Target="../media/image-3-10.png"/><Relationship Id="rId11" Type="http://schemas.openxmlformats.org/officeDocument/2006/relationships/image" Target="../media/image-3-7.png"/><Relationship Id="rId12" Type="http://schemas.openxmlformats.org/officeDocument/2006/relationships/image" Target="../media/image-3-12.png"/><Relationship Id="rId13" Type="http://schemas.openxmlformats.org/officeDocument/2006/relationships/image" Target="../media/image-3-7.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slideLayout" Target="../slideLayouts/slideLayout2.xml"/><Relationship Id="rId1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slideLayout" Target="../slideLayouts/slideLayout2.xml"/><Relationship Id="rId2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jp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4.png"/><Relationship Id="rId8" Type="http://schemas.openxmlformats.org/officeDocument/2006/relationships/image" Target="../media/image-7-5.png"/><Relationship Id="rId9" Type="http://schemas.openxmlformats.org/officeDocument/2006/relationships/image" Target="../media/image-7-9.png"/><Relationship Id="rId10" Type="http://schemas.openxmlformats.org/officeDocument/2006/relationships/image" Target="../media/image-7-4.png"/><Relationship Id="rId11" Type="http://schemas.openxmlformats.org/officeDocument/2006/relationships/image" Target="../media/image-7-5.png"/><Relationship Id="rId12" Type="http://schemas.openxmlformats.org/officeDocument/2006/relationships/image" Target="../media/image-7-12.png"/><Relationship Id="rId13" Type="http://schemas.openxmlformats.org/officeDocument/2006/relationships/image" Target="../media/image-7-4.png"/><Relationship Id="rId14" Type="http://schemas.openxmlformats.org/officeDocument/2006/relationships/image" Target="../media/image-7-5.png"/><Relationship Id="rId15" Type="http://schemas.openxmlformats.org/officeDocument/2006/relationships/slideLayout" Target="../slideLayouts/slideLayout2.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9.png"/><Relationship Id="rId12" Type="http://schemas.openxmlformats.org/officeDocument/2006/relationships/image" Target="../media/image-8-12.jp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2.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jp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jp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jp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2.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image" Target="../media/image-15-16.png"/><Relationship Id="rId17" Type="http://schemas.openxmlformats.org/officeDocument/2006/relationships/image" Target="../media/image-15-17.png"/><Relationship Id="rId18" Type="http://schemas.openxmlformats.org/officeDocument/2006/relationships/image" Target="../media/image-15-18.png"/><Relationship Id="rId19" Type="http://schemas.openxmlformats.org/officeDocument/2006/relationships/image" Target="../media/image-15-19.png"/><Relationship Id="rId20" Type="http://schemas.openxmlformats.org/officeDocument/2006/relationships/image" Target="../media/image-15-20.png"/><Relationship Id="rId21" Type="http://schemas.openxmlformats.org/officeDocument/2006/relationships/slideLayout" Target="../slideLayouts/slideLayout2.xml"/><Relationship Id="rId2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jpg"/><Relationship Id="rId6" Type="http://schemas.openxmlformats.org/officeDocument/2006/relationships/image" Target="../media/image-16-6.png"/><Relationship Id="rId7" Type="http://schemas.openxmlformats.org/officeDocument/2006/relationships/image" Target="../media/image-16-7.jpg"/><Relationship Id="rId8" Type="http://schemas.openxmlformats.org/officeDocument/2006/relationships/image" Target="../media/image-16-8.png"/><Relationship Id="rId9" Type="http://schemas.openxmlformats.org/officeDocument/2006/relationships/image" Target="../media/image-16-9.jpg"/><Relationship Id="rId10" Type="http://schemas.openxmlformats.org/officeDocument/2006/relationships/slideLayout" Target="../slideLayouts/slideLayout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3.png"/><Relationship Id="rId6" Type="http://schemas.openxmlformats.org/officeDocument/2006/relationships/image" Target="../media/image-17-6.png"/><Relationship Id="rId7" Type="http://schemas.openxmlformats.org/officeDocument/2006/relationships/image" Target="../media/image-17-3.png"/><Relationship Id="rId8" Type="http://schemas.openxmlformats.org/officeDocument/2006/relationships/image" Target="../media/image-17-8.png"/><Relationship Id="rId9" Type="http://schemas.openxmlformats.org/officeDocument/2006/relationships/image" Target="../media/image-17-3.png"/><Relationship Id="rId10" Type="http://schemas.openxmlformats.org/officeDocument/2006/relationships/image" Target="../media/image-17-10.png"/><Relationship Id="rId11" Type="http://schemas.openxmlformats.org/officeDocument/2006/relationships/image" Target="../media/image-17-3.png"/><Relationship Id="rId12" Type="http://schemas.openxmlformats.org/officeDocument/2006/relationships/image" Target="../media/image-17-12.png"/><Relationship Id="rId13" Type="http://schemas.openxmlformats.org/officeDocument/2006/relationships/image" Target="../media/image-17-3.png"/><Relationship Id="rId14" Type="http://schemas.openxmlformats.org/officeDocument/2006/relationships/image" Target="../media/image-17-14.png"/><Relationship Id="rId15" Type="http://schemas.openxmlformats.org/officeDocument/2006/relationships/slideLayout" Target="../slideLayouts/slideLayout2.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jp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2.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jp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2.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3.png"/><Relationship Id="rId6" Type="http://schemas.openxmlformats.org/officeDocument/2006/relationships/image" Target="../media/image-20-4.png"/><Relationship Id="rId7" Type="http://schemas.openxmlformats.org/officeDocument/2006/relationships/image" Target="../media/image-20-3.png"/><Relationship Id="rId8" Type="http://schemas.openxmlformats.org/officeDocument/2006/relationships/image" Target="../media/image-20-4.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4.png"/><Relationship Id="rId7" Type="http://schemas.openxmlformats.org/officeDocument/2006/relationships/image" Target="../media/image-21-7.png"/><Relationship Id="rId8" Type="http://schemas.openxmlformats.org/officeDocument/2006/relationships/image" Target="../media/image-21-4.png"/><Relationship Id="rId9" Type="http://schemas.openxmlformats.org/officeDocument/2006/relationships/slideLayout" Target="../slideLayouts/slideLayout2.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4.png"/><Relationship Id="rId7" Type="http://schemas.openxmlformats.org/officeDocument/2006/relationships/image" Target="../media/image-22-7.png"/><Relationship Id="rId8" Type="http://schemas.openxmlformats.org/officeDocument/2006/relationships/slideLayout" Target="../slideLayouts/slideLayout2.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2.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4" Type="http://schemas.openxmlformats.org/officeDocument/2006/relationships/hyperlink" Target="https://www.sgi.gov.sa/" TargetMode="External"/><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5" Type="http://schemas.openxmlformats.org/officeDocument/2006/relationships/image" Target="../media/image-24-4.png"/><Relationship Id="rId6" Type="http://schemas.openxmlformats.org/officeDocument/2006/relationships/image" Target="../media/image-24-5.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2.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4.png"/><Relationship Id="rId7" Type="http://schemas.openxmlformats.org/officeDocument/2006/relationships/image" Target="../media/image-27-7.png"/><Relationship Id="rId8" Type="http://schemas.openxmlformats.org/officeDocument/2006/relationships/image" Target="../media/image-27-4.png"/><Relationship Id="rId9" Type="http://schemas.openxmlformats.org/officeDocument/2006/relationships/image" Target="../media/image-27-9.png"/><Relationship Id="rId10" Type="http://schemas.openxmlformats.org/officeDocument/2006/relationships/image" Target="../media/image-27-4.png"/><Relationship Id="rId11" Type="http://schemas.openxmlformats.org/officeDocument/2006/relationships/slideLayout" Target="../slideLayouts/slideLayout2.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4.png"/><Relationship Id="rId6" Type="http://schemas.openxmlformats.org/officeDocument/2006/relationships/image" Target="../media/image-28-4.png"/><Relationship Id="rId7" Type="http://schemas.openxmlformats.org/officeDocument/2006/relationships/image" Target="../media/image-28-7.png"/><Relationship Id="rId8" Type="http://schemas.openxmlformats.org/officeDocument/2006/relationships/image" Target="../media/image-28-7.png"/><Relationship Id="rId9" Type="http://schemas.openxmlformats.org/officeDocument/2006/relationships/image" Target="../media/image-28-7.png"/><Relationship Id="rId10" Type="http://schemas.openxmlformats.org/officeDocument/2006/relationships/image" Target="../media/image-28-7.png"/><Relationship Id="rId11" Type="http://schemas.openxmlformats.org/officeDocument/2006/relationships/image" Target="../media/image-28-11.png"/><Relationship Id="rId12" Type="http://schemas.openxmlformats.org/officeDocument/2006/relationships/image" Target="../media/image-28-11.png"/><Relationship Id="rId13" Type="http://schemas.openxmlformats.org/officeDocument/2006/relationships/image" Target="../media/image-28-11.png"/><Relationship Id="rId14" Type="http://schemas.openxmlformats.org/officeDocument/2006/relationships/slideLayout" Target="../slideLayouts/slideLayout2.xm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4.png"/><Relationship Id="rId8" Type="http://schemas.openxmlformats.org/officeDocument/2006/relationships/image" Target="../media/image-29-5.png"/><Relationship Id="rId9" Type="http://schemas.openxmlformats.org/officeDocument/2006/relationships/image" Target="../media/image-29-9.png"/><Relationship Id="rId10" Type="http://schemas.openxmlformats.org/officeDocument/2006/relationships/image" Target="../media/image-29-4.png"/><Relationship Id="rId11" Type="http://schemas.openxmlformats.org/officeDocument/2006/relationships/image" Target="../media/image-29-5.png"/><Relationship Id="rId12" Type="http://schemas.openxmlformats.org/officeDocument/2006/relationships/image" Target="../media/image-29-12.png"/><Relationship Id="rId13" Type="http://schemas.openxmlformats.org/officeDocument/2006/relationships/image" Target="../media/image-29-4.png"/><Relationship Id="rId14" Type="http://schemas.openxmlformats.org/officeDocument/2006/relationships/image" Target="../media/image-29-5.png"/><Relationship Id="rId15" Type="http://schemas.openxmlformats.org/officeDocument/2006/relationships/slideLayout" Target="../slideLayouts/slideLayout2.xml"/><Relationship Id="rId1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6.png"/><Relationship Id="rId8" Type="http://schemas.openxmlformats.org/officeDocument/2006/relationships/image" Target="../media/image-30-6.png"/><Relationship Id="rId9" Type="http://schemas.openxmlformats.org/officeDocument/2006/relationships/slideLayout" Target="../slideLayouts/slideLayout2.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_bis" descr="بسم الله الرحمن الرحيم">    </p:cNvPr>
          <p:cNvPicPr>
            <a:picLocks noChangeAspect="1"/>
          </p:cNvPicPr>
          <p:nvPr/>
        </p:nvPicPr>
        <p:blipFill>
          <a:blip r:embed="rId2"/>
          <a:stretch>
            <a:fillRect/>
          </a:stretch>
        </p:blipFill>
        <p:spPr>
          <a:xfrm>
            <a:off x="4811850" y="109728"/>
            <a:ext cx="2567996" cy="868680"/>
          </a:xfrm>
          <a:prstGeom prst="rect">
            <a:avLst/>
          </a:prstGeom>
        </p:spPr>
      </p:pic>
      <p:pic>
        <p:nvPicPr>
          <p:cNvPr id="3" name="s1_pic_1" descr="/tmp/claude-0/-home-user-Scienceshamah/8386cda7-7741-5ea4-8952-60ee8e67fc31/scratchpad/w3/img/card_848x563_FFFFFF_s_i.png">    </p:cNvPr>
          <p:cNvPicPr>
            <a:picLocks noChangeAspect="1"/>
          </p:cNvPicPr>
          <p:nvPr/>
        </p:nvPicPr>
        <p:blipFill>
          <a:blip r:embed="rId3"/>
          <a:stretch>
            <a:fillRect/>
          </a:stretch>
        </p:blipFill>
        <p:spPr>
          <a:xfrm>
            <a:off x="6629400" y="1051560"/>
            <a:ext cx="5166360" cy="3429000"/>
          </a:xfrm>
          <a:prstGeom prst="rect">
            <a:avLst/>
          </a:prstGeom>
        </p:spPr>
      </p:pic>
      <p:pic>
        <p:nvPicPr>
          <p:cNvPr id="4" name="!!cover" descr="ثعبان يصطاد سحلية – صورة غلاف الدرس من كتاب الطالبة">    </p:cNvPr>
          <p:cNvPicPr>
            <a:picLocks noChangeAspect="1"/>
          </p:cNvPicPr>
          <p:nvPr/>
        </p:nvPicPr>
        <p:blipFill>
          <a:blip r:embed="rId4"/>
          <a:stretch>
            <a:fillRect/>
          </a:stretch>
        </p:blipFill>
        <p:spPr>
          <a:xfrm>
            <a:off x="6784848" y="1188720"/>
            <a:ext cx="4846320" cy="2665476"/>
          </a:xfrm>
          <a:prstGeom prst="rect">
            <a:avLst/>
          </a:prstGeom>
        </p:spPr>
      </p:pic>
      <p:sp>
        <p:nvSpPr>
          <p:cNvPr id="5" name="s1_t_2"/>
          <p:cNvSpPr txBox="1"/>
          <p:nvPr/>
        </p:nvSpPr>
        <p:spPr>
          <a:xfrm>
            <a:off x="8229600" y="868680"/>
            <a:ext cx="2011680" cy="457200"/>
          </a:xfrm>
          <a:prstGeom prst="roundRect">
            <a:avLst>
              <a:gd name="adj" fmla="val 50000"/>
            </a:avLst>
          </a:prstGeom>
          <a:solidFill>
            <a:srgbClr val="FFE066"/>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الدرس الثاني</a:t>
            </a:r>
            <a:endParaRPr lang="ar-SA" sz="1700" dirty="0"/>
          </a:p>
        </p:txBody>
      </p:sp>
      <p:pic>
        <p:nvPicPr>
          <p:cNvPr id="6" name="s1_title" descr="العلاقات في الأنظمة البيئية">    </p:cNvPr>
          <p:cNvPicPr>
            <a:picLocks noChangeAspect="1"/>
          </p:cNvPicPr>
          <p:nvPr/>
        </p:nvPicPr>
        <p:blipFill>
          <a:blip r:embed="rId5"/>
          <a:stretch>
            <a:fillRect/>
          </a:stretch>
        </p:blipFill>
        <p:spPr>
          <a:xfrm>
            <a:off x="411480" y="1143000"/>
            <a:ext cx="6035040" cy="914117"/>
          </a:xfrm>
          <a:prstGeom prst="rect">
            <a:avLst/>
          </a:prstGeom>
        </p:spPr>
      </p:pic>
      <p:sp>
        <p:nvSpPr>
          <p:cNvPr id="7" name="s1_g"/>
          <p:cNvSpPr txBox="1"/>
          <p:nvPr/>
        </p:nvSpPr>
        <p:spPr>
          <a:xfrm>
            <a:off x="685800" y="2148557"/>
            <a:ext cx="3931920" cy="502920"/>
          </a:xfrm>
          <a:prstGeom prst="roundRect">
            <a:avLst>
              <a:gd name="adj" fmla="val 50000"/>
            </a:avLst>
          </a:prstGeom>
          <a:solidFill>
            <a:srgbClr val="8FD8FF"/>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العلوم – الصف الرابع الابتدائي</a:t>
            </a:r>
            <a:endParaRPr lang="ar-SA" sz="1800" dirty="0"/>
          </a:p>
        </p:txBody>
      </p:sp>
      <p:sp>
        <p:nvSpPr>
          <p:cNvPr id="8" name="s1_d"/>
          <p:cNvSpPr txBox="1"/>
          <p:nvPr/>
        </p:nvSpPr>
        <p:spPr>
          <a:xfrm>
            <a:off x="502920" y="2742917"/>
            <a:ext cx="5852160" cy="50292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اليوم: ............   التاريخ: ..../..../١٤٤٨هـ</a:t>
            </a:r>
            <a:endParaRPr lang="ar-SA" sz="1900" dirty="0"/>
          </a:p>
        </p:txBody>
      </p:sp>
      <p:pic>
        <p:nvPicPr>
          <p:cNvPr id="9" name="s1_pic_3" descr="/tmp/claude-0/-home-user-Scienceshamah/8386cda7-7741-5ea4-8952-60ee8e67fc31/scratchpad/w3/img/card_960x173_FFB3D1_s_i.png">    </p:cNvPr>
          <p:cNvPicPr>
            <a:picLocks noChangeAspect="1"/>
          </p:cNvPicPr>
          <p:nvPr/>
        </p:nvPicPr>
        <p:blipFill>
          <a:blip r:embed="rId6"/>
          <a:stretch>
            <a:fillRect/>
          </a:stretch>
        </p:blipFill>
        <p:spPr>
          <a:xfrm>
            <a:off x="502920" y="3428717"/>
            <a:ext cx="5852160" cy="1051560"/>
          </a:xfrm>
          <a:prstGeom prst="rect">
            <a:avLst/>
          </a:prstGeom>
        </p:spPr>
      </p:pic>
      <p:sp>
        <p:nvSpPr>
          <p:cNvPr id="10" name="s1_w"/>
          <p:cNvSpPr txBox="1"/>
          <p:nvPr/>
        </p:nvSpPr>
        <p:spPr>
          <a:xfrm>
            <a:off x="685800" y="3474437"/>
            <a:ext cx="5486400" cy="960120"/>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أهلًا بعالماتنا الصغيرات! 🌿 هل أنتنّ مستعدّات لاكتشاف سرّ الطاقة في الطبيعة؟</a:t>
            </a:r>
            <a:endParaRPr lang="ar-SA" sz="2000" dirty="0"/>
          </a:p>
        </p:txBody>
      </p:sp>
      <p:pic>
        <p:nvPicPr>
          <p:cNvPr id="11" name="s1_pic_4" descr="عالمة صغيرة ترحّب">    </p:cNvPr>
          <p:cNvPicPr>
            <a:picLocks noChangeAspect="1"/>
          </p:cNvPicPr>
          <p:nvPr/>
        </p:nvPicPr>
        <p:blipFill>
          <a:blip r:embed="rId7"/>
          <a:stretch>
            <a:fillRect/>
          </a:stretch>
        </p:blipFill>
        <p:spPr>
          <a:xfrm>
            <a:off x="10378440" y="4434840"/>
            <a:ext cx="1581665" cy="1828800"/>
          </a:xfrm>
          <a:prstGeom prst="rect">
            <a:avLst/>
          </a:prstGeom>
        </p:spPr>
      </p:pic>
      <p:sp>
        <p:nvSpPr>
          <p:cNvPr id="12" name="s1_t_5"/>
          <p:cNvSpPr txBox="1"/>
          <p:nvPr/>
        </p:nvSpPr>
        <p:spPr>
          <a:xfrm>
            <a:off x="7223760" y="4846320"/>
            <a:ext cx="3017520" cy="502920"/>
          </a:xfrm>
          <a:prstGeom prst="roundRect">
            <a:avLst>
              <a:gd name="adj" fmla="val 50000"/>
            </a:avLst>
          </a:prstGeom>
          <a:solidFill>
            <a:srgbClr val="2E7D32"/>
          </a:solidFill>
          <a:ln w="25400">
            <a:solidFill>
              <a:srgbClr val="2E7D32"/>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FFFFFF"/>
                </a:solidFill>
                <a:latin typeface="Tahoma" pitchFamily="34" charset="0"/>
                <a:ea typeface="Tahoma" pitchFamily="34" charset="-122"/>
                <a:cs typeface="Tahoma" pitchFamily="34" charset="-120"/>
              </a:rPr>
              <a:t>المعلمة: أ/ شامه البقمي</a:t>
            </a:r>
            <a:endParaRPr lang="ar-SA" sz="1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par>
                                <p:cTn id="12" presetID="10" presetClass="entr" presetSubtype="0"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3" fill="hold">
                            <p:stCondLst>
                              <p:cond delay="800"/>
                            </p:stCondLst>
                            <p:childTnLst>
                              <p:par>
                                <p:cTn id="18" presetID="53" presetClass="entr" presetSubtype="16"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23" presetID="53" presetClass="entr" presetSubtype="16" fill="hold" grpId="0" nodeType="withEffect">
                                  <p:stCondLst>
                                    <p:cond delay="22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8" presetID="53" presetClass="entr" presetSubtype="16" fill="hold" grpId="0" nodeType="withEffect">
                                  <p:stCondLst>
                                    <p:cond delay="44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33" presetID="53" presetClass="entr" presetSubtype="16" fill="hold" grpId="0" nodeType="withEffect">
                                  <p:stCondLst>
                                    <p:cond delay="66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par>
                                <p:cTn id="38" presetID="53" presetClass="entr" presetSubtype="16" fill="hold" grpId="0" nodeType="withEffect">
                                  <p:stCondLst>
                                    <p:cond delay="88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_title" descr="قوانيننا الصفية">    </p:cNvPr>
          <p:cNvPicPr>
            <a:picLocks noChangeAspect="1"/>
          </p:cNvPicPr>
          <p:nvPr/>
        </p:nvPicPr>
        <p:blipFill>
          <a:blip r:embed="rId2"/>
          <a:stretch>
            <a:fillRect/>
          </a:stretch>
        </p:blipFill>
        <p:spPr>
          <a:xfrm>
            <a:off x="8685447" y="109728"/>
            <a:ext cx="3156033" cy="868680"/>
          </a:xfrm>
          <a:prstGeom prst="rect">
            <a:avLst/>
          </a:prstGeom>
        </p:spPr>
      </p:pic>
      <p:sp>
        <p:nvSpPr>
          <p:cNvPr id="3" name="s2_strategy"/>
          <p:cNvSpPr txBox="1"/>
          <p:nvPr/>
        </p:nvSpPr>
        <p:spPr>
          <a:xfrm>
            <a:off x="411480" y="274320"/>
            <a:ext cx="393192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التعزيز الإيجابي</a:t>
            </a:r>
            <a:endParaRPr lang="ar-SA" sz="1700" dirty="0"/>
          </a:p>
        </p:txBody>
      </p:sp>
      <p:pic>
        <p:nvPicPr>
          <p:cNvPr id="4" name="s2_pic_1" descr="سبورة بيضاء">    </p:cNvPr>
          <p:cNvPicPr>
            <a:picLocks noChangeAspect="1"/>
          </p:cNvPicPr>
          <p:nvPr/>
        </p:nvPicPr>
        <p:blipFill>
          <a:blip r:embed="rId3"/>
          <a:stretch>
            <a:fillRect/>
          </a:stretch>
        </p:blipFill>
        <p:spPr>
          <a:xfrm>
            <a:off x="1042416" y="1024128"/>
            <a:ext cx="10104120" cy="5349240"/>
          </a:xfrm>
          <a:prstGeom prst="rect">
            <a:avLst/>
          </a:prstGeom>
        </p:spPr>
      </p:pic>
      <p:pic>
        <p:nvPicPr>
          <p:cNvPr id="5" name="s2_pic_2" descr="قوانين حصة العلوم">    </p:cNvPr>
          <p:cNvPicPr>
            <a:picLocks noChangeAspect="1"/>
          </p:cNvPicPr>
          <p:nvPr/>
        </p:nvPicPr>
        <p:blipFill>
          <a:blip r:embed="rId4"/>
          <a:stretch>
            <a:fillRect/>
          </a:stretch>
        </p:blipFill>
        <p:spPr>
          <a:xfrm>
            <a:off x="4410024" y="1307592"/>
            <a:ext cx="3368904" cy="685800"/>
          </a:xfrm>
          <a:prstGeom prst="rect">
            <a:avLst/>
          </a:prstGeom>
        </p:spPr>
      </p:pic>
      <p:pic>
        <p:nvPicPr>
          <p:cNvPr id="6" name="s2_pic_3" descr="أرفع يدي قبل أن أتحدث">    </p:cNvPr>
          <p:cNvPicPr>
            <a:picLocks noChangeAspect="1"/>
          </p:cNvPicPr>
          <p:nvPr/>
        </p:nvPicPr>
        <p:blipFill>
          <a:blip r:embed="rId5"/>
          <a:stretch>
            <a:fillRect/>
          </a:stretch>
        </p:blipFill>
        <p:spPr>
          <a:xfrm>
            <a:off x="9650578" y="2039112"/>
            <a:ext cx="621792" cy="621792"/>
          </a:xfrm>
          <a:prstGeom prst="rect">
            <a:avLst/>
          </a:prstGeom>
        </p:spPr>
      </p:pic>
      <p:pic>
        <p:nvPicPr>
          <p:cNvPr id="7" name="s2_pic_4" descr="أرفع يدي قبل أن أتحدث">    </p:cNvPr>
          <p:cNvPicPr>
            <a:picLocks noChangeAspect="1"/>
          </p:cNvPicPr>
          <p:nvPr/>
        </p:nvPicPr>
        <p:blipFill>
          <a:blip r:embed="rId6"/>
          <a:stretch>
            <a:fillRect/>
          </a:stretch>
        </p:blipFill>
        <p:spPr>
          <a:xfrm>
            <a:off x="6062170" y="2066544"/>
            <a:ext cx="3451247" cy="566928"/>
          </a:xfrm>
          <a:prstGeom prst="rect">
            <a:avLst/>
          </a:prstGeom>
        </p:spPr>
      </p:pic>
      <p:pic>
        <p:nvPicPr>
          <p:cNvPr id="8" name="s2_pic_5" descr="تمّ">    </p:cNvPr>
          <p:cNvPicPr>
            <a:picLocks noChangeAspect="1"/>
          </p:cNvPicPr>
          <p:nvPr/>
        </p:nvPicPr>
        <p:blipFill>
          <a:blip r:embed="rId7"/>
          <a:stretch>
            <a:fillRect/>
          </a:stretch>
        </p:blipFill>
        <p:spPr>
          <a:xfrm>
            <a:off x="1852574" y="2084832"/>
            <a:ext cx="502920" cy="502920"/>
          </a:xfrm>
          <a:prstGeom prst="rect">
            <a:avLst/>
          </a:prstGeom>
        </p:spPr>
      </p:pic>
      <p:pic>
        <p:nvPicPr>
          <p:cNvPr id="9" name="s2_pic_6" descr="أستمع لزميلتي باهتمام">    </p:cNvPr>
          <p:cNvPicPr>
            <a:picLocks noChangeAspect="1"/>
          </p:cNvPicPr>
          <p:nvPr/>
        </p:nvPicPr>
        <p:blipFill>
          <a:blip r:embed="rId8"/>
          <a:stretch>
            <a:fillRect/>
          </a:stretch>
        </p:blipFill>
        <p:spPr>
          <a:xfrm>
            <a:off x="9650578" y="2798064"/>
            <a:ext cx="621792" cy="621792"/>
          </a:xfrm>
          <a:prstGeom prst="rect">
            <a:avLst/>
          </a:prstGeom>
        </p:spPr>
      </p:pic>
      <p:pic>
        <p:nvPicPr>
          <p:cNvPr id="10" name="s2_pic_7" descr="أستمع لزميلتي باهتمام">    </p:cNvPr>
          <p:cNvPicPr>
            <a:picLocks noChangeAspect="1"/>
          </p:cNvPicPr>
          <p:nvPr/>
        </p:nvPicPr>
        <p:blipFill>
          <a:blip r:embed="rId9"/>
          <a:stretch>
            <a:fillRect/>
          </a:stretch>
        </p:blipFill>
        <p:spPr>
          <a:xfrm>
            <a:off x="6225820" y="2825496"/>
            <a:ext cx="3287598" cy="566928"/>
          </a:xfrm>
          <a:prstGeom prst="rect">
            <a:avLst/>
          </a:prstGeom>
        </p:spPr>
      </p:pic>
      <p:pic>
        <p:nvPicPr>
          <p:cNvPr id="11" name="s2_pic_8" descr="تمّ">    </p:cNvPr>
          <p:cNvPicPr>
            <a:picLocks noChangeAspect="1"/>
          </p:cNvPicPr>
          <p:nvPr/>
        </p:nvPicPr>
        <p:blipFill>
          <a:blip r:embed="rId10"/>
          <a:stretch>
            <a:fillRect/>
          </a:stretch>
        </p:blipFill>
        <p:spPr>
          <a:xfrm>
            <a:off x="1852574" y="2843784"/>
            <a:ext cx="502920" cy="502920"/>
          </a:xfrm>
          <a:prstGeom prst="rect">
            <a:avLst/>
          </a:prstGeom>
        </p:spPr>
      </p:pic>
      <p:pic>
        <p:nvPicPr>
          <p:cNvPr id="12" name="s2_pic_9" descr="أتعاون مع مجموعتي">    </p:cNvPr>
          <p:cNvPicPr>
            <a:picLocks noChangeAspect="1"/>
          </p:cNvPicPr>
          <p:nvPr/>
        </p:nvPicPr>
        <p:blipFill>
          <a:blip r:embed="rId11"/>
          <a:stretch>
            <a:fillRect/>
          </a:stretch>
        </p:blipFill>
        <p:spPr>
          <a:xfrm>
            <a:off x="9650578" y="3557016"/>
            <a:ext cx="621792" cy="621792"/>
          </a:xfrm>
          <a:prstGeom prst="rect">
            <a:avLst/>
          </a:prstGeom>
        </p:spPr>
      </p:pic>
      <p:pic>
        <p:nvPicPr>
          <p:cNvPr id="13" name="s2_pic_10" descr="أتعاون مع مجموعتي">    </p:cNvPr>
          <p:cNvPicPr>
            <a:picLocks noChangeAspect="1"/>
          </p:cNvPicPr>
          <p:nvPr/>
        </p:nvPicPr>
        <p:blipFill>
          <a:blip r:embed="rId12"/>
          <a:stretch>
            <a:fillRect/>
          </a:stretch>
        </p:blipFill>
        <p:spPr>
          <a:xfrm>
            <a:off x="6564808" y="3584448"/>
            <a:ext cx="2948610" cy="566928"/>
          </a:xfrm>
          <a:prstGeom prst="rect">
            <a:avLst/>
          </a:prstGeom>
        </p:spPr>
      </p:pic>
      <p:pic>
        <p:nvPicPr>
          <p:cNvPr id="14" name="s2_pic_11" descr="تمّ">    </p:cNvPr>
          <p:cNvPicPr>
            <a:picLocks noChangeAspect="1"/>
          </p:cNvPicPr>
          <p:nvPr/>
        </p:nvPicPr>
        <p:blipFill>
          <a:blip r:embed="rId13"/>
          <a:stretch>
            <a:fillRect/>
          </a:stretch>
        </p:blipFill>
        <p:spPr>
          <a:xfrm>
            <a:off x="1852574" y="3602736"/>
            <a:ext cx="502920" cy="502920"/>
          </a:xfrm>
          <a:prstGeom prst="rect">
            <a:avLst/>
          </a:prstGeom>
        </p:spPr>
      </p:pic>
      <p:pic>
        <p:nvPicPr>
          <p:cNvPr id="15" name="s2_pic_12" descr="أستخدم الأدوات بأمان">    </p:cNvPr>
          <p:cNvPicPr>
            <a:picLocks noChangeAspect="1"/>
          </p:cNvPicPr>
          <p:nvPr/>
        </p:nvPicPr>
        <p:blipFill>
          <a:blip r:embed="rId14"/>
          <a:stretch>
            <a:fillRect/>
          </a:stretch>
        </p:blipFill>
        <p:spPr>
          <a:xfrm>
            <a:off x="9650578" y="4315968"/>
            <a:ext cx="621792" cy="621792"/>
          </a:xfrm>
          <a:prstGeom prst="rect">
            <a:avLst/>
          </a:prstGeom>
        </p:spPr>
      </p:pic>
      <p:pic>
        <p:nvPicPr>
          <p:cNvPr id="16" name="s2_pic_13" descr="أستخدم الأدوات بأمان">    </p:cNvPr>
          <p:cNvPicPr>
            <a:picLocks noChangeAspect="1"/>
          </p:cNvPicPr>
          <p:nvPr/>
        </p:nvPicPr>
        <p:blipFill>
          <a:blip r:embed="rId15"/>
          <a:stretch>
            <a:fillRect/>
          </a:stretch>
        </p:blipFill>
        <p:spPr>
          <a:xfrm>
            <a:off x="6310567" y="4343400"/>
            <a:ext cx="3202851" cy="566928"/>
          </a:xfrm>
          <a:prstGeom prst="rect">
            <a:avLst/>
          </a:prstGeom>
        </p:spPr>
      </p:pic>
      <p:pic>
        <p:nvPicPr>
          <p:cNvPr id="17" name="s2_pic_14" descr="تمّ">    </p:cNvPr>
          <p:cNvPicPr>
            <a:picLocks noChangeAspect="1"/>
          </p:cNvPicPr>
          <p:nvPr/>
        </p:nvPicPr>
        <p:blipFill>
          <a:blip r:embed="rId16"/>
          <a:stretch>
            <a:fillRect/>
          </a:stretch>
        </p:blipFill>
        <p:spPr>
          <a:xfrm>
            <a:off x="1852574" y="4361688"/>
            <a:ext cx="502920" cy="502920"/>
          </a:xfrm>
          <a:prstGeom prst="rect">
            <a:avLst/>
          </a:prstGeom>
        </p:spPr>
      </p:pic>
      <p:pic>
        <p:nvPicPr>
          <p:cNvPr id="18" name="s2_pic_15" descr="أحترم آراء زميلاتي">    </p:cNvPr>
          <p:cNvPicPr>
            <a:picLocks noChangeAspect="1"/>
          </p:cNvPicPr>
          <p:nvPr/>
        </p:nvPicPr>
        <p:blipFill>
          <a:blip r:embed="rId17"/>
          <a:stretch>
            <a:fillRect/>
          </a:stretch>
        </p:blipFill>
        <p:spPr>
          <a:xfrm>
            <a:off x="9650578" y="5074920"/>
            <a:ext cx="621792" cy="621792"/>
          </a:xfrm>
          <a:prstGeom prst="rect">
            <a:avLst/>
          </a:prstGeom>
        </p:spPr>
      </p:pic>
      <p:pic>
        <p:nvPicPr>
          <p:cNvPr id="19" name="s2_pic_16" descr="أحترم آراء زميلاتي">    </p:cNvPr>
          <p:cNvPicPr>
            <a:picLocks noChangeAspect="1"/>
          </p:cNvPicPr>
          <p:nvPr/>
        </p:nvPicPr>
        <p:blipFill>
          <a:blip r:embed="rId18"/>
          <a:stretch>
            <a:fillRect/>
          </a:stretch>
        </p:blipFill>
        <p:spPr>
          <a:xfrm>
            <a:off x="6821971" y="5102352"/>
            <a:ext cx="2691447" cy="566928"/>
          </a:xfrm>
          <a:prstGeom prst="rect">
            <a:avLst/>
          </a:prstGeom>
        </p:spPr>
      </p:pic>
      <p:pic>
        <p:nvPicPr>
          <p:cNvPr id="20" name="s2_pic_17" descr="تمّ">    </p:cNvPr>
          <p:cNvPicPr>
            <a:picLocks noChangeAspect="1"/>
          </p:cNvPicPr>
          <p:nvPr/>
        </p:nvPicPr>
        <p:blipFill>
          <a:blip r:embed="rId19"/>
          <a:stretch>
            <a:fillRect/>
          </a:stretch>
        </p:blipFill>
        <p:spPr>
          <a:xfrm>
            <a:off x="1852574" y="5120640"/>
            <a:ext cx="502920" cy="502920"/>
          </a:xfrm>
          <a:prstGeom prst="rect">
            <a:avLst/>
          </a:prstGeom>
        </p:spPr>
      </p:pic>
      <p:pic>
        <p:nvPicPr>
          <p:cNvPr id="21" name="s2_pic_18" descr="عالمة صغيرة تشير">    </p:cNvPr>
          <p:cNvPicPr>
            <a:picLocks noChangeAspect="1"/>
          </p:cNvPicPr>
          <p:nvPr/>
        </p:nvPicPr>
        <p:blipFill>
          <a:blip r:embed="rId20"/>
          <a:stretch>
            <a:fillRect/>
          </a:stretch>
        </p:blipFill>
        <p:spPr>
          <a:xfrm>
            <a:off x="10561320" y="4114800"/>
            <a:ext cx="1739831" cy="20116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par>
                                <p:cTn id="12" presetID="22" presetClass="entr" presetSubtype="2" fill="hold" grpId="0" nodeType="withEffect">
                                  <p:stCondLst>
                                    <p:cond delay="150"/>
                                  </p:stCondLst>
                                  <p:childTnLst>
                                    <p:set>
                                      <p:cBhvr>
                                        <p:cTn id="10" dur="1" fill="hold">
                                          <p:stCondLst>
                                            <p:cond delay="0"/>
                                          </p:stCondLst>
                                        </p:cTn>
                                        <p:tgtEl>
                                          <p:spTgt spid="7"/>
                                        </p:tgtEl>
                                        <p:attrNameLst>
                                          <p:attrName>style.visibility</p:attrName>
                                        </p:attrNameLst>
                                      </p:cBhvr>
                                      <p:to>
                                        <p:strVal val="visible"/>
                                      </p:to>
                                    </p:set>
                                    <p:animEffect transition="in" filter="wipe(right)">
                                      <p:cBhvr>
                                        <p:cTn id="11" dur="500"/>
                                        <p:tgtEl>
                                          <p:spTgt spid="7"/>
                                        </p:tgtEl>
                                      </p:cBhvr>
                                    </p:animEffect>
                                  </p:childTnLst>
                                </p:cTn>
                              </p:par>
                              <p:par>
                                <p:cTn id="17" presetID="53" presetClass="entr" presetSubtype="16" fill="hold" grpId="0" nodeType="withEffect">
                                  <p:stCondLst>
                                    <p:cond delay="50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4"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7" presetID="22" presetClass="entr" presetSubtype="2" fill="hold" grpId="0" nodeType="withEffect">
                                  <p:stCondLst>
                                    <p:cond delay="150"/>
                                  </p:stCondLst>
                                  <p:childTnLst>
                                    <p:set>
                                      <p:cBhvr>
                                        <p:cTn id="25" dur="1" fill="hold">
                                          <p:stCondLst>
                                            <p:cond delay="0"/>
                                          </p:stCondLst>
                                        </p:cTn>
                                        <p:tgtEl>
                                          <p:spTgt spid="10"/>
                                        </p:tgtEl>
                                        <p:attrNameLst>
                                          <p:attrName>style.visibility</p:attrName>
                                        </p:attrNameLst>
                                      </p:cBhvr>
                                      <p:to>
                                        <p:strVal val="visible"/>
                                      </p:to>
                                    </p:set>
                                    <p:animEffect transition="in" filter="wipe(right)">
                                      <p:cBhvr>
                                        <p:cTn id="26" dur="500"/>
                                        <p:tgtEl>
                                          <p:spTgt spid="10"/>
                                        </p:tgtEl>
                                      </p:cBhvr>
                                    </p:animEffect>
                                  </p:childTnLst>
                                </p:cTn>
                              </p:par>
                              <p:par>
                                <p:cTn id="32" presetID="53" presetClass="entr" presetSubtype="16" fill="hold" grpId="0" nodeType="withEffect">
                                  <p:stCondLst>
                                    <p:cond delay="50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9" presetID="53" presetClass="entr" presetSubtype="16"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animEffect transition="in" filter="fade">
                                      <p:cBhvr>
                                        <p:cTn id="38" dur="500"/>
                                        <p:tgtEl>
                                          <p:spTgt spid="12"/>
                                        </p:tgtEl>
                                      </p:cBhvr>
                                    </p:animEffect>
                                  </p:childTnLst>
                                </p:cTn>
                              </p:par>
                              <p:par>
                                <p:cTn id="42" presetID="22" presetClass="entr" presetSubtype="2" fill="hold" grpId="0" nodeType="withEffect">
                                  <p:stCondLst>
                                    <p:cond delay="150"/>
                                  </p:stCondLst>
                                  <p:childTnLst>
                                    <p:set>
                                      <p:cBhvr>
                                        <p:cTn id="40" dur="1" fill="hold">
                                          <p:stCondLst>
                                            <p:cond delay="0"/>
                                          </p:stCondLst>
                                        </p:cTn>
                                        <p:tgtEl>
                                          <p:spTgt spid="13"/>
                                        </p:tgtEl>
                                        <p:attrNameLst>
                                          <p:attrName>style.visibility</p:attrName>
                                        </p:attrNameLst>
                                      </p:cBhvr>
                                      <p:to>
                                        <p:strVal val="visible"/>
                                      </p:to>
                                    </p:set>
                                    <p:animEffect transition="in" filter="wipe(right)">
                                      <p:cBhvr>
                                        <p:cTn id="41" dur="500"/>
                                        <p:tgtEl>
                                          <p:spTgt spid="13"/>
                                        </p:tgtEl>
                                      </p:cBhvr>
                                    </p:animEffect>
                                  </p:childTnLst>
                                </p:cTn>
                              </p:par>
                              <p:par>
                                <p:cTn id="47" presetID="53" presetClass="entr" presetSubtype="16" fill="hold" grpId="0" nodeType="withEffect">
                                  <p:stCondLst>
                                    <p:cond delay="50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ppt_w</p:attrName>
                                        </p:attrNameLst>
                                      </p:cBhvr>
                                      <p:tavLst>
                                        <p:tav tm="0">
                                          <p:val>
                                            <p:fltVal val="0"/>
                                          </p:val>
                                        </p:tav>
                                        <p:tav tm="100000">
                                          <p:val>
                                            <p:strVal val="#ppt_w"/>
                                          </p:val>
                                        </p:tav>
                                      </p:tavLst>
                                    </p:anim>
                                    <p:anim calcmode="lin" valueType="num">
                                      <p:cBhvr>
                                        <p:cTn id="45" dur="500" fill="hold"/>
                                        <p:tgtEl>
                                          <p:spTgt spid="14"/>
                                        </p:tgtEl>
                                        <p:attrNameLst>
                                          <p:attrName>ppt_h</p:attrName>
                                        </p:attrNameLst>
                                      </p:cBhvr>
                                      <p:tavLst>
                                        <p:tav tm="0">
                                          <p:val>
                                            <p:fltVal val="0"/>
                                          </p:val>
                                        </p:tav>
                                        <p:tav tm="100000">
                                          <p:val>
                                            <p:strVal val="#ppt_h"/>
                                          </p:val>
                                        </p:tav>
                                      </p:tavLst>
                                    </p:anim>
                                    <p:animEffect transition="in" filter="fade">
                                      <p:cBhvr>
                                        <p:cTn id="46"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4" presetID="53" presetClass="entr" presetSubtype="16"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p:cTn id="51" dur="500" fill="hold"/>
                                        <p:tgtEl>
                                          <p:spTgt spid="15"/>
                                        </p:tgtEl>
                                        <p:attrNameLst>
                                          <p:attrName>ppt_w</p:attrName>
                                        </p:attrNameLst>
                                      </p:cBhvr>
                                      <p:tavLst>
                                        <p:tav tm="0">
                                          <p:val>
                                            <p:fltVal val="0"/>
                                          </p:val>
                                        </p:tav>
                                        <p:tav tm="100000">
                                          <p:val>
                                            <p:strVal val="#ppt_w"/>
                                          </p:val>
                                        </p:tav>
                                      </p:tavLst>
                                    </p:anim>
                                    <p:anim calcmode="lin" valueType="num">
                                      <p:cBhvr>
                                        <p:cTn id="52" dur="500" fill="hold"/>
                                        <p:tgtEl>
                                          <p:spTgt spid="15"/>
                                        </p:tgtEl>
                                        <p:attrNameLst>
                                          <p:attrName>ppt_h</p:attrName>
                                        </p:attrNameLst>
                                      </p:cBhvr>
                                      <p:tavLst>
                                        <p:tav tm="0">
                                          <p:val>
                                            <p:fltVal val="0"/>
                                          </p:val>
                                        </p:tav>
                                        <p:tav tm="100000">
                                          <p:val>
                                            <p:strVal val="#ppt_h"/>
                                          </p:val>
                                        </p:tav>
                                      </p:tavLst>
                                    </p:anim>
                                    <p:animEffect transition="in" filter="fade">
                                      <p:cBhvr>
                                        <p:cTn id="53" dur="500"/>
                                        <p:tgtEl>
                                          <p:spTgt spid="15"/>
                                        </p:tgtEl>
                                      </p:cBhvr>
                                    </p:animEffect>
                                  </p:childTnLst>
                                </p:cTn>
                              </p:par>
                              <p:par>
                                <p:cTn id="57" presetID="22" presetClass="entr" presetSubtype="2" fill="hold" grpId="0" nodeType="withEffect">
                                  <p:stCondLst>
                                    <p:cond delay="150"/>
                                  </p:stCondLst>
                                  <p:childTnLst>
                                    <p:set>
                                      <p:cBhvr>
                                        <p:cTn id="55" dur="1" fill="hold">
                                          <p:stCondLst>
                                            <p:cond delay="0"/>
                                          </p:stCondLst>
                                        </p:cTn>
                                        <p:tgtEl>
                                          <p:spTgt spid="16"/>
                                        </p:tgtEl>
                                        <p:attrNameLst>
                                          <p:attrName>style.visibility</p:attrName>
                                        </p:attrNameLst>
                                      </p:cBhvr>
                                      <p:to>
                                        <p:strVal val="visible"/>
                                      </p:to>
                                    </p:set>
                                    <p:animEffect transition="in" filter="wipe(right)">
                                      <p:cBhvr>
                                        <p:cTn id="56" dur="500"/>
                                        <p:tgtEl>
                                          <p:spTgt spid="16"/>
                                        </p:tgtEl>
                                      </p:cBhvr>
                                    </p:animEffect>
                                  </p:childTnLst>
                                </p:cTn>
                              </p:par>
                              <p:par>
                                <p:cTn id="62" presetID="53" presetClass="entr" presetSubtype="16" fill="hold" grpId="0" nodeType="withEffect">
                                  <p:stCondLst>
                                    <p:cond delay="500"/>
                                  </p:stCondLst>
                                  <p:childTnLst>
                                    <p:set>
                                      <p:cBhvr>
                                        <p:cTn id="58" dur="1" fill="hold">
                                          <p:stCondLst>
                                            <p:cond delay="0"/>
                                          </p:stCondLst>
                                        </p:cTn>
                                        <p:tgtEl>
                                          <p:spTgt spid="17"/>
                                        </p:tgtEl>
                                        <p:attrNameLst>
                                          <p:attrName>style.visibility</p:attrName>
                                        </p:attrNameLst>
                                      </p:cBhvr>
                                      <p:to>
                                        <p:strVal val="visible"/>
                                      </p:to>
                                    </p:set>
                                    <p:anim calcmode="lin" valueType="num">
                                      <p:cBhvr>
                                        <p:cTn id="59" dur="500" fill="hold"/>
                                        <p:tgtEl>
                                          <p:spTgt spid="17"/>
                                        </p:tgtEl>
                                        <p:attrNameLst>
                                          <p:attrName>ppt_w</p:attrName>
                                        </p:attrNameLst>
                                      </p:cBhvr>
                                      <p:tavLst>
                                        <p:tav tm="0">
                                          <p:val>
                                            <p:fltVal val="0"/>
                                          </p:val>
                                        </p:tav>
                                        <p:tav tm="100000">
                                          <p:val>
                                            <p:strVal val="#ppt_w"/>
                                          </p:val>
                                        </p:tav>
                                      </p:tavLst>
                                    </p:anim>
                                    <p:anim calcmode="lin" valueType="num">
                                      <p:cBhvr>
                                        <p:cTn id="60" dur="500" fill="hold"/>
                                        <p:tgtEl>
                                          <p:spTgt spid="17"/>
                                        </p:tgtEl>
                                        <p:attrNameLst>
                                          <p:attrName>ppt_h</p:attrName>
                                        </p:attrNameLst>
                                      </p:cBhvr>
                                      <p:tavLst>
                                        <p:tav tm="0">
                                          <p:val>
                                            <p:fltVal val="0"/>
                                          </p:val>
                                        </p:tav>
                                        <p:tav tm="100000">
                                          <p:val>
                                            <p:strVal val="#ppt_h"/>
                                          </p:val>
                                        </p:tav>
                                      </p:tavLst>
                                    </p:anim>
                                    <p:animEffect transition="in" filter="fade">
                                      <p:cBhvr>
                                        <p:cTn id="61"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9" presetID="53" presetClass="entr" presetSubtype="16"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p:cTn id="66" dur="500" fill="hold"/>
                                        <p:tgtEl>
                                          <p:spTgt spid="18"/>
                                        </p:tgtEl>
                                        <p:attrNameLst>
                                          <p:attrName>ppt_w</p:attrName>
                                        </p:attrNameLst>
                                      </p:cBhvr>
                                      <p:tavLst>
                                        <p:tav tm="0">
                                          <p:val>
                                            <p:fltVal val="0"/>
                                          </p:val>
                                        </p:tav>
                                        <p:tav tm="100000">
                                          <p:val>
                                            <p:strVal val="#ppt_w"/>
                                          </p:val>
                                        </p:tav>
                                      </p:tavLst>
                                    </p:anim>
                                    <p:anim calcmode="lin" valueType="num">
                                      <p:cBhvr>
                                        <p:cTn id="67" dur="500" fill="hold"/>
                                        <p:tgtEl>
                                          <p:spTgt spid="18"/>
                                        </p:tgtEl>
                                        <p:attrNameLst>
                                          <p:attrName>ppt_h</p:attrName>
                                        </p:attrNameLst>
                                      </p:cBhvr>
                                      <p:tavLst>
                                        <p:tav tm="0">
                                          <p:val>
                                            <p:fltVal val="0"/>
                                          </p:val>
                                        </p:tav>
                                        <p:tav tm="100000">
                                          <p:val>
                                            <p:strVal val="#ppt_h"/>
                                          </p:val>
                                        </p:tav>
                                      </p:tavLst>
                                    </p:anim>
                                    <p:animEffect transition="in" filter="fade">
                                      <p:cBhvr>
                                        <p:cTn id="68" dur="500"/>
                                        <p:tgtEl>
                                          <p:spTgt spid="18"/>
                                        </p:tgtEl>
                                      </p:cBhvr>
                                    </p:animEffect>
                                  </p:childTnLst>
                                </p:cTn>
                              </p:par>
                              <p:par>
                                <p:cTn id="72" presetID="22" presetClass="entr" presetSubtype="2" fill="hold" grpId="0" nodeType="withEffect">
                                  <p:stCondLst>
                                    <p:cond delay="150"/>
                                  </p:stCondLst>
                                  <p:childTnLst>
                                    <p:set>
                                      <p:cBhvr>
                                        <p:cTn id="70" dur="1" fill="hold">
                                          <p:stCondLst>
                                            <p:cond delay="0"/>
                                          </p:stCondLst>
                                        </p:cTn>
                                        <p:tgtEl>
                                          <p:spTgt spid="19"/>
                                        </p:tgtEl>
                                        <p:attrNameLst>
                                          <p:attrName>style.visibility</p:attrName>
                                        </p:attrNameLst>
                                      </p:cBhvr>
                                      <p:to>
                                        <p:strVal val="visible"/>
                                      </p:to>
                                    </p:set>
                                    <p:animEffect transition="in" filter="wipe(right)">
                                      <p:cBhvr>
                                        <p:cTn id="71" dur="500"/>
                                        <p:tgtEl>
                                          <p:spTgt spid="19"/>
                                        </p:tgtEl>
                                      </p:cBhvr>
                                    </p:animEffect>
                                  </p:childTnLst>
                                </p:cTn>
                              </p:par>
                              <p:par>
                                <p:cTn id="77" presetID="53" presetClass="entr" presetSubtype="16" fill="hold" grpId="0" nodeType="withEffect">
                                  <p:stCondLst>
                                    <p:cond delay="500"/>
                                  </p:stCondLst>
                                  <p:childTnLst>
                                    <p:set>
                                      <p:cBhvr>
                                        <p:cTn id="73" dur="1" fill="hold">
                                          <p:stCondLst>
                                            <p:cond delay="0"/>
                                          </p:stCondLst>
                                        </p:cTn>
                                        <p:tgtEl>
                                          <p:spTgt spid="20"/>
                                        </p:tgtEl>
                                        <p:attrNameLst>
                                          <p:attrName>style.visibility</p:attrName>
                                        </p:attrNameLst>
                                      </p:cBhvr>
                                      <p:to>
                                        <p:strVal val="visible"/>
                                      </p:to>
                                    </p:set>
                                    <p:anim calcmode="lin" valueType="num">
                                      <p:cBhvr>
                                        <p:cTn id="74" dur="500" fill="hold"/>
                                        <p:tgtEl>
                                          <p:spTgt spid="20"/>
                                        </p:tgtEl>
                                        <p:attrNameLst>
                                          <p:attrName>ppt_w</p:attrName>
                                        </p:attrNameLst>
                                      </p:cBhvr>
                                      <p:tavLst>
                                        <p:tav tm="0">
                                          <p:val>
                                            <p:fltVal val="0"/>
                                          </p:val>
                                        </p:tav>
                                        <p:tav tm="100000">
                                          <p:val>
                                            <p:strVal val="#ppt_w"/>
                                          </p:val>
                                        </p:tav>
                                      </p:tavLst>
                                    </p:anim>
                                    <p:anim calcmode="lin" valueType="num">
                                      <p:cBhvr>
                                        <p:cTn id="75" dur="500" fill="hold"/>
                                        <p:tgtEl>
                                          <p:spTgt spid="20"/>
                                        </p:tgtEl>
                                        <p:attrNameLst>
                                          <p:attrName>ppt_h</p:attrName>
                                        </p:attrNameLst>
                                      </p:cBhvr>
                                      <p:tavLst>
                                        <p:tav tm="0">
                                          <p:val>
                                            <p:fltVal val="0"/>
                                          </p:val>
                                        </p:tav>
                                        <p:tav tm="100000">
                                          <p:val>
                                            <p:strVal val="#ppt_h"/>
                                          </p:val>
                                        </p:tav>
                                      </p:tavLst>
                                    </p:anim>
                                    <p:animEffect transition="in" filter="fade">
                                      <p:cBhvr>
                                        <p:cTn id="7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_title" descr="شريط الذكريات">    </p:cNvPr>
          <p:cNvPicPr>
            <a:picLocks noChangeAspect="1"/>
          </p:cNvPicPr>
          <p:nvPr/>
        </p:nvPicPr>
        <p:blipFill>
          <a:blip r:embed="rId2"/>
          <a:stretch>
            <a:fillRect/>
          </a:stretch>
        </p:blipFill>
        <p:spPr>
          <a:xfrm>
            <a:off x="8341059" y="109728"/>
            <a:ext cx="3500421" cy="868680"/>
          </a:xfrm>
          <a:prstGeom prst="rect">
            <a:avLst/>
          </a:prstGeom>
        </p:spPr>
      </p:pic>
      <p:sp>
        <p:nvSpPr>
          <p:cNvPr id="3" name="s3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الاسترجاع – فكّري بسرعة</a:t>
            </a:r>
            <a:endParaRPr lang="ar-SA" sz="1700" dirty="0"/>
          </a:p>
        </p:txBody>
      </p:sp>
      <p:pic>
        <p:nvPicPr>
          <p:cNvPr id="4" name="s3_pic_1" descr="/tmp/claude-0/-home-user-Scienceshamah/8386cda7-7741-5ea4-8952-60ee8e67fc31/scratchpad/w3/img/card_690x525_FFFFFF_s_i.png">    </p:cNvPr>
          <p:cNvPicPr>
            <a:picLocks noChangeAspect="1"/>
          </p:cNvPicPr>
          <p:nvPr/>
        </p:nvPicPr>
        <p:blipFill>
          <a:blip r:embed="rId3"/>
          <a:stretch>
            <a:fillRect/>
          </a:stretch>
        </p:blipFill>
        <p:spPr>
          <a:xfrm>
            <a:off x="457200" y="1097280"/>
            <a:ext cx="4206240" cy="3200400"/>
          </a:xfrm>
          <a:prstGeom prst="rect">
            <a:avLst/>
          </a:prstGeom>
        </p:spPr>
      </p:pic>
      <p:pic>
        <p:nvPicPr>
          <p:cNvPr id="5" name="s3_pic_2" descr="نظام بيئي: بركة">    </p:cNvPr>
          <p:cNvPicPr>
            <a:picLocks noChangeAspect="1"/>
          </p:cNvPicPr>
          <p:nvPr/>
        </p:nvPicPr>
        <p:blipFill>
          <a:blip r:embed="rId4"/>
          <a:stretch>
            <a:fillRect/>
          </a:stretch>
        </p:blipFill>
        <p:spPr>
          <a:xfrm>
            <a:off x="621792" y="1234440"/>
            <a:ext cx="3886200" cy="2590800"/>
          </a:xfrm>
          <a:prstGeom prst="rect">
            <a:avLst/>
          </a:prstGeom>
        </p:spPr>
      </p:pic>
      <p:sp>
        <p:nvSpPr>
          <p:cNvPr id="6" name="s3_t_3"/>
          <p:cNvSpPr txBox="1"/>
          <p:nvPr/>
        </p:nvSpPr>
        <p:spPr>
          <a:xfrm>
            <a:off x="457200" y="4389120"/>
            <a:ext cx="4206240" cy="45720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A87400"/>
                </a:solidFill>
                <a:latin typeface="Tahoma" pitchFamily="34" charset="0"/>
                <a:ea typeface="Tahoma" pitchFamily="34" charset="-122"/>
                <a:cs typeface="Tahoma" pitchFamily="34" charset="-120"/>
              </a:rPr>
              <a:t>تذكّري: الدرس السابق «الأنظمة البيئية»</a:t>
            </a:r>
            <a:endParaRPr lang="ar-SA" sz="1600" dirty="0"/>
          </a:p>
        </p:txBody>
      </p:sp>
      <p:pic>
        <p:nvPicPr>
          <p:cNvPr id="7" name="s3_pic_4" descr="/tmp/claude-0/-home-user-Scienceshamah/8386cda7-7741-5ea4-8952-60ee8e67fc31/scratchpad/w3/img/card_1125x240_FFE066_s_i.png">    </p:cNvPr>
          <p:cNvPicPr>
            <a:picLocks noChangeAspect="1"/>
          </p:cNvPicPr>
          <p:nvPr/>
        </p:nvPicPr>
        <p:blipFill>
          <a:blip r:embed="rId5"/>
          <a:stretch>
            <a:fillRect/>
          </a:stretch>
        </p:blipFill>
        <p:spPr>
          <a:xfrm>
            <a:off x="4892040" y="1097280"/>
            <a:ext cx="6858000" cy="1463040"/>
          </a:xfrm>
          <a:prstGeom prst="rect">
            <a:avLst/>
          </a:prstGeom>
        </p:spPr>
      </p:pic>
      <p:sp>
        <p:nvSpPr>
          <p:cNvPr id="8" name="s3_t_5"/>
          <p:cNvSpPr txBox="1"/>
          <p:nvPr/>
        </p:nvSpPr>
        <p:spPr>
          <a:xfrm>
            <a:off x="5074920" y="1143000"/>
            <a:ext cx="6492240" cy="59436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34405E"/>
                </a:solidFill>
                <a:latin typeface="Tahoma" pitchFamily="34" charset="0"/>
                <a:ea typeface="Tahoma" pitchFamily="34" charset="-122"/>
                <a:cs typeface="Tahoma" pitchFamily="34" charset="-120"/>
              </a:rPr>
              <a:t>سؤال استرجاع: مِمَّ يتكوّن النظام البيئي؟</a:t>
            </a:r>
            <a:endParaRPr lang="ar-SA" sz="2100" dirty="0"/>
          </a:p>
        </p:txBody>
      </p:sp>
      <p:sp>
        <p:nvSpPr>
          <p:cNvPr id="9" name="s3_t_6"/>
          <p:cNvSpPr txBox="1"/>
          <p:nvPr/>
        </p:nvSpPr>
        <p:spPr>
          <a:xfrm>
            <a:off x="5074920" y="1737360"/>
            <a:ext cx="6492240" cy="749808"/>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2F8A3A"/>
                </a:solidFill>
                <a:latin typeface="Tahoma" pitchFamily="34" charset="0"/>
                <a:ea typeface="Tahoma" pitchFamily="34" charset="-122"/>
                <a:cs typeface="Tahoma" pitchFamily="34" charset="-120"/>
              </a:rPr>
              <a:t>من عوامل حيوية (مخلوقات حية) وأخرى لاحيوية (أشياء غير حية).</a:t>
            </a:r>
            <a:endParaRPr lang="ar-SA" sz="1900" dirty="0"/>
          </a:p>
        </p:txBody>
      </p:sp>
      <p:pic>
        <p:nvPicPr>
          <p:cNvPr id="10" name="s3_pic_7" descr="/tmp/claude-0/-home-user-Scienceshamah/8386cda7-7741-5ea4-8952-60ee8e67fc31/scratchpad/w3/img/card_1125x330_8FD8FF_s_i.png">    </p:cNvPr>
          <p:cNvPicPr>
            <a:picLocks noChangeAspect="1"/>
          </p:cNvPicPr>
          <p:nvPr/>
        </p:nvPicPr>
        <p:blipFill>
          <a:blip r:embed="rId6"/>
          <a:stretch>
            <a:fillRect/>
          </a:stretch>
        </p:blipFill>
        <p:spPr>
          <a:xfrm>
            <a:off x="4892040" y="2743200"/>
            <a:ext cx="6858000" cy="2011680"/>
          </a:xfrm>
          <a:prstGeom prst="rect">
            <a:avLst/>
          </a:prstGeom>
        </p:spPr>
      </p:pic>
      <p:sp>
        <p:nvSpPr>
          <p:cNvPr id="11" name="s3_t_8"/>
          <p:cNvSpPr txBox="1"/>
          <p:nvPr/>
        </p:nvSpPr>
        <p:spPr>
          <a:xfrm>
            <a:off x="5074920" y="2788920"/>
            <a:ext cx="6492240" cy="50292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فكّري بسرعة: حيوي أم لاحيوي؟ اضغطي على البطاقة</a:t>
            </a:r>
            <a:endParaRPr lang="ar-SA" sz="1800" dirty="0"/>
          </a:p>
        </p:txBody>
      </p:sp>
      <p:pic>
        <p:nvPicPr>
          <p:cNvPr id="12" name="s3_pic_9" descr="/tmp/claude-0/-home-user-Scienceshamah/8386cda7-7741-5ea4-8952-60ee8e67fc31/scratchpad/w3/img/card_240x225_FFFFFF_s_i.png">    </p:cNvPr>
          <p:cNvPicPr>
            <a:picLocks noChangeAspect="1"/>
          </p:cNvPicPr>
          <p:nvPr/>
        </p:nvPicPr>
        <p:blipFill>
          <a:blip r:embed="rId7"/>
          <a:stretch>
            <a:fillRect/>
          </a:stretch>
        </p:blipFill>
        <p:spPr>
          <a:xfrm>
            <a:off x="10058400" y="3291840"/>
            <a:ext cx="1463040" cy="1371600"/>
          </a:xfrm>
          <a:prstGeom prst="rect">
            <a:avLst/>
          </a:prstGeom>
        </p:spPr>
      </p:pic>
      <p:pic>
        <p:nvPicPr>
          <p:cNvPr id="13" name="s3_pic_10" descr="الشمس">    </p:cNvPr>
          <p:cNvPicPr>
            <a:picLocks noChangeAspect="1"/>
          </p:cNvPicPr>
          <p:nvPr/>
        </p:nvPicPr>
        <p:blipFill>
          <a:blip r:embed="rId8"/>
          <a:stretch>
            <a:fillRect/>
          </a:stretch>
        </p:blipFill>
        <p:spPr>
          <a:xfrm>
            <a:off x="10469880" y="3310128"/>
            <a:ext cx="640080" cy="640080"/>
          </a:xfrm>
          <a:prstGeom prst="rect">
            <a:avLst/>
          </a:prstGeom>
        </p:spPr>
      </p:pic>
      <p:sp>
        <p:nvSpPr>
          <p:cNvPr id="14" name="s3_t_11"/>
          <p:cNvSpPr txBox="1"/>
          <p:nvPr/>
        </p:nvSpPr>
        <p:spPr>
          <a:xfrm>
            <a:off x="10058400" y="3931920"/>
            <a:ext cx="1463040" cy="347472"/>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الشمس</a:t>
            </a:r>
            <a:endParaRPr lang="ar-SA" sz="1600" dirty="0"/>
          </a:p>
        </p:txBody>
      </p:sp>
      <p:sp>
        <p:nvSpPr>
          <p:cNvPr id="15" name="s3_t_12"/>
          <p:cNvSpPr txBox="1"/>
          <p:nvPr/>
        </p:nvSpPr>
        <p:spPr>
          <a:xfrm>
            <a:off x="10168128" y="4279392"/>
            <a:ext cx="1243584" cy="347472"/>
          </a:xfrm>
          <a:prstGeom prst="roundRect">
            <a:avLst>
              <a:gd name="adj" fmla="val 50000"/>
            </a:avLst>
          </a:prstGeom>
          <a:solidFill>
            <a:srgbClr val="FFC48C"/>
          </a:solidFill>
          <a:ln w="25400">
            <a:solidFill>
              <a:srgbClr val="34405E"/>
            </a:solidFill>
          </a:ln>
        </p:spPr>
        <p:txBody>
          <a:bodyPr wrap="square" lIns="381" tIns="381" rIns="381" bIns="381"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لاحيوي</a:t>
            </a:r>
            <a:endParaRPr lang="ar-SA" sz="1500" dirty="0"/>
          </a:p>
        </p:txBody>
      </p:sp>
      <p:pic>
        <p:nvPicPr>
          <p:cNvPr id="16" name="s3_pic_13" descr="/tmp/claude-0/-home-user-Scienceshamah/8386cda7-7741-5ea4-8952-60ee8e67fc31/scratchpad/w3/img/card_240x225_FFFFFF_s_i.png">    </p:cNvPr>
          <p:cNvPicPr>
            <a:picLocks noChangeAspect="1"/>
          </p:cNvPicPr>
          <p:nvPr/>
        </p:nvPicPr>
        <p:blipFill>
          <a:blip r:embed="rId9"/>
          <a:stretch>
            <a:fillRect/>
          </a:stretch>
        </p:blipFill>
        <p:spPr>
          <a:xfrm>
            <a:off x="8412480" y="3291840"/>
            <a:ext cx="1463040" cy="1371600"/>
          </a:xfrm>
          <a:prstGeom prst="rect">
            <a:avLst/>
          </a:prstGeom>
        </p:spPr>
      </p:pic>
      <p:pic>
        <p:nvPicPr>
          <p:cNvPr id="17" name="s3_pic_14" descr="النبات">    </p:cNvPr>
          <p:cNvPicPr>
            <a:picLocks noChangeAspect="1"/>
          </p:cNvPicPr>
          <p:nvPr/>
        </p:nvPicPr>
        <p:blipFill>
          <a:blip r:embed="rId10"/>
          <a:stretch>
            <a:fillRect/>
          </a:stretch>
        </p:blipFill>
        <p:spPr>
          <a:xfrm>
            <a:off x="8823960" y="3310128"/>
            <a:ext cx="640080" cy="640080"/>
          </a:xfrm>
          <a:prstGeom prst="rect">
            <a:avLst/>
          </a:prstGeom>
        </p:spPr>
      </p:pic>
      <p:sp>
        <p:nvSpPr>
          <p:cNvPr id="18" name="s3_t_15"/>
          <p:cNvSpPr txBox="1"/>
          <p:nvPr/>
        </p:nvSpPr>
        <p:spPr>
          <a:xfrm>
            <a:off x="8412480" y="3931920"/>
            <a:ext cx="1463040" cy="347472"/>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النبات</a:t>
            </a:r>
            <a:endParaRPr lang="ar-SA" sz="1600" dirty="0"/>
          </a:p>
        </p:txBody>
      </p:sp>
      <p:sp>
        <p:nvSpPr>
          <p:cNvPr id="19" name="s3_t_16"/>
          <p:cNvSpPr txBox="1"/>
          <p:nvPr/>
        </p:nvSpPr>
        <p:spPr>
          <a:xfrm>
            <a:off x="8522208" y="4279392"/>
            <a:ext cx="1243584" cy="347472"/>
          </a:xfrm>
          <a:prstGeom prst="roundRect">
            <a:avLst>
              <a:gd name="adj" fmla="val 50000"/>
            </a:avLst>
          </a:prstGeom>
          <a:solidFill>
            <a:srgbClr val="B8F28A"/>
          </a:solidFill>
          <a:ln w="25400">
            <a:solidFill>
              <a:srgbClr val="34405E"/>
            </a:solidFill>
          </a:ln>
        </p:spPr>
        <p:txBody>
          <a:bodyPr wrap="square" lIns="381" tIns="381" rIns="381" bIns="381"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حيوي</a:t>
            </a:r>
            <a:endParaRPr lang="ar-SA" sz="1500" dirty="0"/>
          </a:p>
        </p:txBody>
      </p:sp>
      <p:pic>
        <p:nvPicPr>
          <p:cNvPr id="20" name="s3_pic_17" descr="/tmp/claude-0/-home-user-Scienceshamah/8386cda7-7741-5ea4-8952-60ee8e67fc31/scratchpad/w3/img/card_240x225_FFFFFF_s_i.png">    </p:cNvPr>
          <p:cNvPicPr>
            <a:picLocks noChangeAspect="1"/>
          </p:cNvPicPr>
          <p:nvPr/>
        </p:nvPicPr>
        <p:blipFill>
          <a:blip r:embed="rId11"/>
          <a:stretch>
            <a:fillRect/>
          </a:stretch>
        </p:blipFill>
        <p:spPr>
          <a:xfrm>
            <a:off x="6766560" y="3291840"/>
            <a:ext cx="1463040" cy="1371600"/>
          </a:xfrm>
          <a:prstGeom prst="rect">
            <a:avLst/>
          </a:prstGeom>
        </p:spPr>
      </p:pic>
      <p:pic>
        <p:nvPicPr>
          <p:cNvPr id="21" name="s3_pic_18" descr="الماء">    </p:cNvPr>
          <p:cNvPicPr>
            <a:picLocks noChangeAspect="1"/>
          </p:cNvPicPr>
          <p:nvPr/>
        </p:nvPicPr>
        <p:blipFill>
          <a:blip r:embed="rId12"/>
          <a:stretch>
            <a:fillRect/>
          </a:stretch>
        </p:blipFill>
        <p:spPr>
          <a:xfrm>
            <a:off x="7178040" y="3310128"/>
            <a:ext cx="640080" cy="640080"/>
          </a:xfrm>
          <a:prstGeom prst="rect">
            <a:avLst/>
          </a:prstGeom>
        </p:spPr>
      </p:pic>
      <p:sp>
        <p:nvSpPr>
          <p:cNvPr id="22" name="s3_t_19"/>
          <p:cNvSpPr txBox="1"/>
          <p:nvPr/>
        </p:nvSpPr>
        <p:spPr>
          <a:xfrm>
            <a:off x="6766560" y="3931920"/>
            <a:ext cx="1463040" cy="347472"/>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الماء</a:t>
            </a:r>
            <a:endParaRPr lang="ar-SA" sz="1600" dirty="0"/>
          </a:p>
        </p:txBody>
      </p:sp>
      <p:sp>
        <p:nvSpPr>
          <p:cNvPr id="23" name="s3_t_20"/>
          <p:cNvSpPr txBox="1"/>
          <p:nvPr/>
        </p:nvSpPr>
        <p:spPr>
          <a:xfrm>
            <a:off x="6876288" y="4279392"/>
            <a:ext cx="1243584" cy="347472"/>
          </a:xfrm>
          <a:prstGeom prst="roundRect">
            <a:avLst>
              <a:gd name="adj" fmla="val 50000"/>
            </a:avLst>
          </a:prstGeom>
          <a:solidFill>
            <a:srgbClr val="FFC48C"/>
          </a:solidFill>
          <a:ln w="25400">
            <a:solidFill>
              <a:srgbClr val="34405E"/>
            </a:solidFill>
          </a:ln>
        </p:spPr>
        <p:txBody>
          <a:bodyPr wrap="square" lIns="381" tIns="381" rIns="381" bIns="381"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لاحيوي</a:t>
            </a:r>
            <a:endParaRPr lang="ar-SA" sz="1500" dirty="0"/>
          </a:p>
        </p:txBody>
      </p:sp>
      <p:pic>
        <p:nvPicPr>
          <p:cNvPr id="24" name="s3_pic_21" descr="/tmp/claude-0/-home-user-Scienceshamah/8386cda7-7741-5ea4-8952-60ee8e67fc31/scratchpad/w3/img/card_240x225_FFFFFF_s_i.png">    </p:cNvPr>
          <p:cNvPicPr>
            <a:picLocks noChangeAspect="1"/>
          </p:cNvPicPr>
          <p:nvPr/>
        </p:nvPicPr>
        <p:blipFill>
          <a:blip r:embed="rId13"/>
          <a:stretch>
            <a:fillRect/>
          </a:stretch>
        </p:blipFill>
        <p:spPr>
          <a:xfrm>
            <a:off x="5120640" y="3291840"/>
            <a:ext cx="1463040" cy="1371600"/>
          </a:xfrm>
          <a:prstGeom prst="rect">
            <a:avLst/>
          </a:prstGeom>
        </p:spPr>
      </p:pic>
      <p:pic>
        <p:nvPicPr>
          <p:cNvPr id="25" name="s3_pic_22" descr="الأرنب">    </p:cNvPr>
          <p:cNvPicPr>
            <a:picLocks noChangeAspect="1"/>
          </p:cNvPicPr>
          <p:nvPr/>
        </p:nvPicPr>
        <p:blipFill>
          <a:blip r:embed="rId14"/>
          <a:stretch>
            <a:fillRect/>
          </a:stretch>
        </p:blipFill>
        <p:spPr>
          <a:xfrm>
            <a:off x="5532120" y="3310128"/>
            <a:ext cx="640080" cy="640080"/>
          </a:xfrm>
          <a:prstGeom prst="rect">
            <a:avLst/>
          </a:prstGeom>
        </p:spPr>
      </p:pic>
      <p:sp>
        <p:nvSpPr>
          <p:cNvPr id="26" name="s3_t_23"/>
          <p:cNvSpPr txBox="1"/>
          <p:nvPr/>
        </p:nvSpPr>
        <p:spPr>
          <a:xfrm>
            <a:off x="5120640" y="3931920"/>
            <a:ext cx="1463040" cy="347472"/>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الأرنب</a:t>
            </a:r>
            <a:endParaRPr lang="ar-SA" sz="1600" dirty="0"/>
          </a:p>
        </p:txBody>
      </p:sp>
      <p:sp>
        <p:nvSpPr>
          <p:cNvPr id="27" name="s3_t_24"/>
          <p:cNvSpPr txBox="1"/>
          <p:nvPr/>
        </p:nvSpPr>
        <p:spPr>
          <a:xfrm>
            <a:off x="5230368" y="4279392"/>
            <a:ext cx="1243584" cy="347472"/>
          </a:xfrm>
          <a:prstGeom prst="roundRect">
            <a:avLst>
              <a:gd name="adj" fmla="val 50000"/>
            </a:avLst>
          </a:prstGeom>
          <a:solidFill>
            <a:srgbClr val="B8F28A"/>
          </a:solidFill>
          <a:ln w="25400">
            <a:solidFill>
              <a:srgbClr val="34405E"/>
            </a:solidFill>
          </a:ln>
        </p:spPr>
        <p:txBody>
          <a:bodyPr wrap="square" lIns="381" tIns="381" rIns="381" bIns="381"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حيوي</a:t>
            </a:r>
            <a:endParaRPr lang="ar-SA" sz="1500" dirty="0"/>
          </a:p>
        </p:txBody>
      </p:sp>
      <p:pic>
        <p:nvPicPr>
          <p:cNvPr id="28" name="s3_pic_25" descr="/tmp/claude-0/-home-user-Scienceshamah/8386cda7-7741-5ea4-8952-60ee8e67fc31/scratchpad/w3/img/card_1853x195_B8F28A_s_i.png">    </p:cNvPr>
          <p:cNvPicPr>
            <a:picLocks noChangeAspect="1"/>
          </p:cNvPicPr>
          <p:nvPr/>
        </p:nvPicPr>
        <p:blipFill>
          <a:blip r:embed="rId15"/>
          <a:stretch>
            <a:fillRect/>
          </a:stretch>
        </p:blipFill>
        <p:spPr>
          <a:xfrm>
            <a:off x="457200" y="4937760"/>
            <a:ext cx="11292840" cy="1188720"/>
          </a:xfrm>
          <a:prstGeom prst="rect">
            <a:avLst/>
          </a:prstGeom>
        </p:spPr>
      </p:pic>
      <p:sp>
        <p:nvSpPr>
          <p:cNvPr id="29" name="s3_t_26"/>
          <p:cNvSpPr txBox="1"/>
          <p:nvPr/>
        </p:nvSpPr>
        <p:spPr>
          <a:xfrm>
            <a:off x="640080" y="4983480"/>
            <a:ext cx="10927080" cy="109728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1B5E20"/>
                </a:solidFill>
                <a:latin typeface="Tahoma" pitchFamily="34" charset="0"/>
                <a:ea typeface="Tahoma" pitchFamily="34" charset="-122"/>
                <a:cs typeface="Tahoma" pitchFamily="34" charset="-120"/>
              </a:rPr>
              <a:t>عرفنا أن مكونات النظام البيئي تتفاعل... فكيف تحصل المخلوقات الحية على الطاقة؟ 🤔</a:t>
            </a:r>
            <a:endParaRPr lang="ar-SA" sz="2200" dirty="0"/>
          </a:p>
        </p:txBody>
      </p:sp>
    </p:spTree>
  </p:cSld>
  <p:clrMapOvr>
    <a:masterClrMapping/>
  </p:clrMapOvr>
  <mc:AlternateContent xmlns:mc="http://schemas.openxmlformats.org/markup-compatibility/2006">
    <mc:Choice xmlns:p14="http://schemas.microsoft.com/office/powerpoint/2010/main" Requires="p14">
      <p:transition spd="slow" p14:dur="1400">
        <p14:glitter dir="l" pattern="hexago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p:cTn id="11" dur="500" fill="hold"/>
                                        <p:tgtEl>
                                          <p:spTgt spid="28"/>
                                        </p:tgtEl>
                                        <p:attrNameLst>
                                          <p:attrName>ppt_w</p:attrName>
                                        </p:attrNameLst>
                                      </p:cBhvr>
                                      <p:tavLst>
                                        <p:tav tm="0">
                                          <p:val>
                                            <p:fltVal val="0"/>
                                          </p:val>
                                        </p:tav>
                                        <p:tav tm="100000">
                                          <p:val>
                                            <p:strVal val="#ppt_w"/>
                                          </p:val>
                                        </p:tav>
                                      </p:tavLst>
                                    </p:anim>
                                    <p:anim calcmode="lin" valueType="num">
                                      <p:cBhvr>
                                        <p:cTn id="12" dur="500" fill="hold"/>
                                        <p:tgtEl>
                                          <p:spTgt spid="28"/>
                                        </p:tgtEl>
                                        <p:attrNameLst>
                                          <p:attrName>ppt_h</p:attrName>
                                        </p:attrNameLst>
                                      </p:cBhvr>
                                      <p:tavLst>
                                        <p:tav tm="0">
                                          <p:val>
                                            <p:fltVal val="0"/>
                                          </p:val>
                                        </p:tav>
                                        <p:tav tm="100000">
                                          <p:val>
                                            <p:strVal val="#ppt_h"/>
                                          </p:val>
                                        </p:tav>
                                      </p:tavLst>
                                    </p:anim>
                                    <p:animEffect transition="in" filter="fade">
                                      <p:cBhvr>
                                        <p:cTn id="13" dur="500"/>
                                        <p:tgtEl>
                                          <p:spTgt spid="28"/>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ppt_w</p:attrName>
                                        </p:attrNameLst>
                                      </p:cBhvr>
                                      <p:tavLst>
                                        <p:tav tm="0">
                                          <p:val>
                                            <p:fltVal val="0"/>
                                          </p:val>
                                        </p:tav>
                                        <p:tav tm="100000">
                                          <p:val>
                                            <p:strVal val="#ppt_w"/>
                                          </p:val>
                                        </p:tav>
                                      </p:tavLst>
                                    </p:anim>
                                    <p:anim calcmode="lin" valueType="num">
                                      <p:cBhvr>
                                        <p:cTn id="17" dur="500" fill="hold"/>
                                        <p:tgtEl>
                                          <p:spTgt spid="29"/>
                                        </p:tgtEl>
                                        <p:attrNameLst>
                                          <p:attrName>ppt_h</p:attrName>
                                        </p:attrNameLst>
                                      </p:cBhvr>
                                      <p:tavLst>
                                        <p:tav tm="0">
                                          <p:val>
                                            <p:fltVal val="0"/>
                                          </p:val>
                                        </p:tav>
                                        <p:tav tm="100000">
                                          <p:val>
                                            <p:strVal val="#ppt_h"/>
                                          </p:val>
                                        </p:tav>
                                      </p:tavLst>
                                    </p:anim>
                                    <p:animEffect transition="in" filter="fade">
                                      <p:cBhvr>
                                        <p:cTn id="1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7" presetID="53" presetClass="entr" presetSubtype="16"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fltVal val="0"/>
                                          </p:val>
                                        </p:tav>
                                        <p:tav tm="100000">
                                          <p:val>
                                            <p:strVal val="#ppt_h"/>
                                          </p:val>
                                        </p:tav>
                                      </p:tavLst>
                                    </p:anim>
                                    <p:animEffect transition="in" filter="fade">
                                      <p:cBhvr>
                                        <p:cTn id="26" dur="500"/>
                                        <p:tgtEl>
                                          <p:spTgt spid="15"/>
                                        </p:tgtEl>
                                      </p:cBhvr>
                                    </p:animEffect>
                                  </p:childTnLst>
                                </p:cTn>
                              </p:par>
                            </p:childTnLst>
                          </p:cTn>
                        </p:par>
                      </p:childTnLst>
                    </p:cTn>
                  </p:par>
                </p:childTnLst>
              </p:cTn>
              <p:nextCondLst>
                <p:cond evt="onClick" delay="0">
                  <p:tgtEl>
                    <p:spTgt spid="12"/>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5" presetID="53" presetClass="entr" presetSubtype="16"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childTnLst>
                          </p:cTn>
                        </p:par>
                      </p:childTnLst>
                    </p:cTn>
                  </p:par>
                </p:childTnLst>
              </p:cTn>
              <p:nextCondLst>
                <p:cond evt="onClick" delay="0">
                  <p:tgtEl>
                    <p:spTgt spid="16"/>
                  </p:tgtEl>
                </p:cond>
              </p:nextCondLst>
            </p:seq>
            <p:seq concurrent="1" nextAc="seek">
              <p:cTn id="36" restart="whenNotActive" fill="hold" evtFilter="cancelBubble" nodeType="interactiveSeq">
                <p:stCondLst>
                  <p:cond evt="onClick" delay="0">
                    <p:tgtEl>
                      <p:spTgt spid="20"/>
                    </p:tgtEl>
                  </p:cond>
                </p:stCondLst>
                <p:endSync evt="end" delay="0">
                  <p:rtn val="all"/>
                </p:endSync>
                <p:childTnLst>
                  <p:par>
                    <p:cTn id="37" fill="hold">
                      <p:stCondLst>
                        <p:cond delay="0"/>
                      </p:stCondLst>
                      <p:childTnLst>
                        <p:par>
                          <p:cTn id="38" fill="hold">
                            <p:stCondLst>
                              <p:cond delay="0"/>
                            </p:stCondLst>
                            <p:childTnLst>
                              <p:par>
                                <p:cTn id="43" presetID="53" presetClass="entr" presetSubtype="16"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p:cTn id="40" dur="500" fill="hold"/>
                                        <p:tgtEl>
                                          <p:spTgt spid="23"/>
                                        </p:tgtEl>
                                        <p:attrNameLst>
                                          <p:attrName>ppt_w</p:attrName>
                                        </p:attrNameLst>
                                      </p:cBhvr>
                                      <p:tavLst>
                                        <p:tav tm="0">
                                          <p:val>
                                            <p:fltVal val="0"/>
                                          </p:val>
                                        </p:tav>
                                        <p:tav tm="100000">
                                          <p:val>
                                            <p:strVal val="#ppt_w"/>
                                          </p:val>
                                        </p:tav>
                                      </p:tavLst>
                                    </p:anim>
                                    <p:anim calcmode="lin" valueType="num">
                                      <p:cBhvr>
                                        <p:cTn id="41" dur="500" fill="hold"/>
                                        <p:tgtEl>
                                          <p:spTgt spid="23"/>
                                        </p:tgtEl>
                                        <p:attrNameLst>
                                          <p:attrName>ppt_h</p:attrName>
                                        </p:attrNameLst>
                                      </p:cBhvr>
                                      <p:tavLst>
                                        <p:tav tm="0">
                                          <p:val>
                                            <p:fltVal val="0"/>
                                          </p:val>
                                        </p:tav>
                                        <p:tav tm="100000">
                                          <p:val>
                                            <p:strVal val="#ppt_h"/>
                                          </p:val>
                                        </p:tav>
                                      </p:tavLst>
                                    </p:anim>
                                    <p:animEffect transition="in" filter="fade">
                                      <p:cBhvr>
                                        <p:cTn id="42" dur="500"/>
                                        <p:tgtEl>
                                          <p:spTgt spid="23"/>
                                        </p:tgtEl>
                                      </p:cBhvr>
                                    </p:animEffect>
                                  </p:childTnLst>
                                </p:cTn>
                              </p:par>
                            </p:childTnLst>
                          </p:cTn>
                        </p:par>
                      </p:childTnLst>
                    </p:cTn>
                  </p:par>
                </p:childTnLst>
              </p:cTn>
              <p:nextCondLst>
                <p:cond evt="onClick" delay="0">
                  <p:tgtEl>
                    <p:spTgt spid="20"/>
                  </p:tgtEl>
                </p:cond>
              </p:nextCondLst>
            </p:seq>
            <p:seq concurrent="1" nextAc="seek">
              <p:cTn id="44" restart="whenNotActive" fill="hold" evtFilter="cancelBubble" nodeType="interactiveSeq">
                <p:stCondLst>
                  <p:cond evt="onClick" delay="0">
                    <p:tgtEl>
                      <p:spTgt spid="24"/>
                    </p:tgtEl>
                  </p:cond>
                </p:stCondLst>
                <p:endSync evt="end" delay="0">
                  <p:rtn val="all"/>
                </p:endSync>
                <p:childTnLst>
                  <p:par>
                    <p:cTn id="45" fill="hold">
                      <p:stCondLst>
                        <p:cond delay="0"/>
                      </p:stCondLst>
                      <p:childTnLst>
                        <p:par>
                          <p:cTn id="46" fill="hold">
                            <p:stCondLst>
                              <p:cond delay="0"/>
                            </p:stCondLst>
                            <p:childTnLst>
                              <p:par>
                                <p:cTn id="51" presetID="53" presetClass="entr" presetSubtype="16"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p:cTn id="48" dur="500" fill="hold"/>
                                        <p:tgtEl>
                                          <p:spTgt spid="27"/>
                                        </p:tgtEl>
                                        <p:attrNameLst>
                                          <p:attrName>ppt_w</p:attrName>
                                        </p:attrNameLst>
                                      </p:cBhvr>
                                      <p:tavLst>
                                        <p:tav tm="0">
                                          <p:val>
                                            <p:fltVal val="0"/>
                                          </p:val>
                                        </p:tav>
                                        <p:tav tm="100000">
                                          <p:val>
                                            <p:strVal val="#ppt_w"/>
                                          </p:val>
                                        </p:tav>
                                      </p:tavLst>
                                    </p:anim>
                                    <p:anim calcmode="lin" valueType="num">
                                      <p:cBhvr>
                                        <p:cTn id="49" dur="500" fill="hold"/>
                                        <p:tgtEl>
                                          <p:spTgt spid="27"/>
                                        </p:tgtEl>
                                        <p:attrNameLst>
                                          <p:attrName>ppt_h</p:attrName>
                                        </p:attrNameLst>
                                      </p:cBhvr>
                                      <p:tavLst>
                                        <p:tav tm="0">
                                          <p:val>
                                            <p:fltVal val="0"/>
                                          </p:val>
                                        </p:tav>
                                        <p:tav tm="100000">
                                          <p:val>
                                            <p:strVal val="#ppt_h"/>
                                          </p:val>
                                        </p:tav>
                                      </p:tavLst>
                                    </p:anim>
                                    <p:animEffect transition="in" filter="fade">
                                      <p:cBhvr>
                                        <p:cTn id="50" dur="500"/>
                                        <p:tgtEl>
                                          <p:spTgt spid="27"/>
                                        </p:tgtEl>
                                      </p:cBhvr>
                                    </p:animEffect>
                                  </p:childTnLst>
                                </p:cTn>
                              </p:par>
                            </p:childTnLst>
                          </p:cTn>
                        </p:par>
                      </p:childTnLst>
                    </p:cTn>
                  </p:par>
                </p:childTnLst>
              </p:cTn>
              <p:nextCondLst>
                <p:cond evt="onClick" delay="0">
                  <p:tgtEl>
                    <p:spTgt spid="2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4_title" descr="مفردات الدرس">    </p:cNvPr>
          <p:cNvPicPr>
            <a:picLocks noChangeAspect="1"/>
          </p:cNvPicPr>
          <p:nvPr/>
        </p:nvPicPr>
        <p:blipFill>
          <a:blip r:embed="rId2"/>
          <a:stretch>
            <a:fillRect/>
          </a:stretch>
        </p:blipFill>
        <p:spPr>
          <a:xfrm>
            <a:off x="8438722" y="109728"/>
            <a:ext cx="3402758" cy="868680"/>
          </a:xfrm>
          <a:prstGeom prst="rect">
            <a:avLst/>
          </a:prstGeom>
        </p:spPr>
      </p:pic>
      <p:sp>
        <p:nvSpPr>
          <p:cNvPr id="3" name="s4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بطاقات المفردات – التعلم باللعب</a:t>
            </a:r>
            <a:endParaRPr lang="ar-SA" sz="1700" dirty="0"/>
          </a:p>
        </p:txBody>
      </p:sp>
      <p:pic>
        <p:nvPicPr>
          <p:cNvPr id="4" name="s4_pic_1" descr="/tmp/claude-0/-home-user-Scienceshamah/8386cda7-7741-5ea4-8952-60ee8e67fc31/scratchpad/w3/img/card_443x383_B8F28A_s_i.png">    </p:cNvPr>
          <p:cNvPicPr>
            <a:picLocks noChangeAspect="1"/>
          </p:cNvPicPr>
          <p:nvPr/>
        </p:nvPicPr>
        <p:blipFill>
          <a:blip r:embed="rId3"/>
          <a:stretch>
            <a:fillRect/>
          </a:stretch>
        </p:blipFill>
        <p:spPr>
          <a:xfrm>
            <a:off x="9052560" y="1097280"/>
            <a:ext cx="2697480" cy="2331720"/>
          </a:xfrm>
          <a:prstGeom prst="rect">
            <a:avLst/>
          </a:prstGeom>
        </p:spPr>
      </p:pic>
      <p:pic>
        <p:nvPicPr>
          <p:cNvPr id="5" name="s4_pic_2" descr="المنتِج">    </p:cNvPr>
          <p:cNvPicPr>
            <a:picLocks noChangeAspect="1"/>
          </p:cNvPicPr>
          <p:nvPr/>
        </p:nvPicPr>
        <p:blipFill>
          <a:blip r:embed="rId4"/>
          <a:stretch>
            <a:fillRect/>
          </a:stretch>
        </p:blipFill>
        <p:spPr>
          <a:xfrm>
            <a:off x="9989820" y="1207008"/>
            <a:ext cx="822960" cy="822960"/>
          </a:xfrm>
          <a:prstGeom prst="rect">
            <a:avLst/>
          </a:prstGeom>
        </p:spPr>
      </p:pic>
      <p:sp>
        <p:nvSpPr>
          <p:cNvPr id="6" name="s4_t_3"/>
          <p:cNvSpPr txBox="1"/>
          <p:nvPr/>
        </p:nvSpPr>
        <p:spPr>
          <a:xfrm>
            <a:off x="9144000" y="2057400"/>
            <a:ext cx="25146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المنتِج</a:t>
            </a:r>
            <a:endParaRPr lang="ar-SA" sz="2200" dirty="0"/>
          </a:p>
        </p:txBody>
      </p:sp>
      <p:sp>
        <p:nvSpPr>
          <p:cNvPr id="7" name="s4_t_4"/>
          <p:cNvSpPr txBox="1"/>
          <p:nvPr/>
        </p:nvSpPr>
        <p:spPr>
          <a:xfrm>
            <a:off x="9189720" y="2542032"/>
            <a:ext cx="2423160" cy="822960"/>
          </a:xfrm>
          <a:prstGeom prst="rect">
            <a:avLst/>
          </a:prstGeom>
          <a:noFill/>
          <a:ln/>
        </p:spPr>
        <p:txBody>
          <a:bodyPr wrap="square" lIns="762" tIns="762" rIns="762" bIns="762" rtlCol="0" anchor="t"/>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مخلوق حيّ يصنع غذاءه بنفسه مستخدمًا طاقة الشمس.</a:t>
            </a:r>
            <a:endParaRPr lang="ar-SA" sz="1500" dirty="0"/>
          </a:p>
        </p:txBody>
      </p:sp>
      <p:pic>
        <p:nvPicPr>
          <p:cNvPr id="8" name="s4_pic_5" descr="بطاقة مفردة رقم 1">    </p:cNvPr>
          <p:cNvPicPr>
            <a:picLocks noChangeAspect="1"/>
          </p:cNvPicPr>
          <p:nvPr/>
        </p:nvPicPr>
        <p:blipFill>
          <a:blip r:embed="rId5"/>
          <a:stretch>
            <a:fillRect/>
          </a:stretch>
        </p:blipFill>
        <p:spPr>
          <a:xfrm>
            <a:off x="9052560" y="1097280"/>
            <a:ext cx="2697480" cy="2331720"/>
          </a:xfrm>
          <a:prstGeom prst="rect">
            <a:avLst/>
          </a:prstGeom>
        </p:spPr>
      </p:pic>
      <p:pic>
        <p:nvPicPr>
          <p:cNvPr id="9" name="s4_pic_6" descr="/tmp/claude-0/-home-user-Scienceshamah/8386cda7-7741-5ea4-8952-60ee8e67fc31/scratchpad/w3/img/card_443x383_FFB3D1_s_i.png">    </p:cNvPr>
          <p:cNvPicPr>
            <a:picLocks noChangeAspect="1"/>
          </p:cNvPicPr>
          <p:nvPr/>
        </p:nvPicPr>
        <p:blipFill>
          <a:blip r:embed="rId6"/>
          <a:stretch>
            <a:fillRect/>
          </a:stretch>
        </p:blipFill>
        <p:spPr>
          <a:xfrm>
            <a:off x="6199632" y="1097280"/>
            <a:ext cx="2697480" cy="2331720"/>
          </a:xfrm>
          <a:prstGeom prst="rect">
            <a:avLst/>
          </a:prstGeom>
        </p:spPr>
      </p:pic>
      <p:pic>
        <p:nvPicPr>
          <p:cNvPr id="10" name="s4_pic_7" descr="المستهلِك">    </p:cNvPr>
          <p:cNvPicPr>
            <a:picLocks noChangeAspect="1"/>
          </p:cNvPicPr>
          <p:nvPr/>
        </p:nvPicPr>
        <p:blipFill>
          <a:blip r:embed="rId7"/>
          <a:stretch>
            <a:fillRect/>
          </a:stretch>
        </p:blipFill>
        <p:spPr>
          <a:xfrm>
            <a:off x="7136892" y="1207008"/>
            <a:ext cx="822960" cy="822960"/>
          </a:xfrm>
          <a:prstGeom prst="rect">
            <a:avLst/>
          </a:prstGeom>
        </p:spPr>
      </p:pic>
      <p:sp>
        <p:nvSpPr>
          <p:cNvPr id="11" name="s4_t_8"/>
          <p:cNvSpPr txBox="1"/>
          <p:nvPr/>
        </p:nvSpPr>
        <p:spPr>
          <a:xfrm>
            <a:off x="6291072" y="2057400"/>
            <a:ext cx="25146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المستهلِك</a:t>
            </a:r>
            <a:endParaRPr lang="ar-SA" sz="2200" dirty="0"/>
          </a:p>
        </p:txBody>
      </p:sp>
      <p:sp>
        <p:nvSpPr>
          <p:cNvPr id="12" name="s4_t_9"/>
          <p:cNvSpPr txBox="1"/>
          <p:nvPr/>
        </p:nvSpPr>
        <p:spPr>
          <a:xfrm>
            <a:off x="6336792" y="2542032"/>
            <a:ext cx="2423160" cy="822960"/>
          </a:xfrm>
          <a:prstGeom prst="rect">
            <a:avLst/>
          </a:prstGeom>
          <a:noFill/>
          <a:ln/>
        </p:spPr>
        <p:txBody>
          <a:bodyPr wrap="square" lIns="762" tIns="762" rIns="762" bIns="762" rtlCol="0" anchor="t"/>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مخلوق حيّ لا يستطيع صنع غذائه بنفسه.</a:t>
            </a:r>
            <a:endParaRPr lang="ar-SA" sz="1500" dirty="0"/>
          </a:p>
        </p:txBody>
      </p:sp>
      <p:pic>
        <p:nvPicPr>
          <p:cNvPr id="13" name="s4_pic_10" descr="بطاقة مفردة رقم 2">    </p:cNvPr>
          <p:cNvPicPr>
            <a:picLocks noChangeAspect="1"/>
          </p:cNvPicPr>
          <p:nvPr/>
        </p:nvPicPr>
        <p:blipFill>
          <a:blip r:embed="rId8"/>
          <a:stretch>
            <a:fillRect/>
          </a:stretch>
        </p:blipFill>
        <p:spPr>
          <a:xfrm>
            <a:off x="6199632" y="1097280"/>
            <a:ext cx="2697480" cy="2331720"/>
          </a:xfrm>
          <a:prstGeom prst="rect">
            <a:avLst/>
          </a:prstGeom>
        </p:spPr>
      </p:pic>
      <p:pic>
        <p:nvPicPr>
          <p:cNvPr id="14" name="s4_pic_11" descr="/tmp/claude-0/-home-user-Scienceshamah/8386cda7-7741-5ea4-8952-60ee8e67fc31/scratchpad/w3/img/card_443x383_FFC48C_s_i.png">    </p:cNvPr>
          <p:cNvPicPr>
            <a:picLocks noChangeAspect="1"/>
          </p:cNvPicPr>
          <p:nvPr/>
        </p:nvPicPr>
        <p:blipFill>
          <a:blip r:embed="rId9"/>
          <a:stretch>
            <a:fillRect/>
          </a:stretch>
        </p:blipFill>
        <p:spPr>
          <a:xfrm>
            <a:off x="3346704" y="1097280"/>
            <a:ext cx="2697480" cy="2331720"/>
          </a:xfrm>
          <a:prstGeom prst="rect">
            <a:avLst/>
          </a:prstGeom>
        </p:spPr>
      </p:pic>
      <p:pic>
        <p:nvPicPr>
          <p:cNvPr id="15" name="s4_pic_12" descr="المحلِّل">    </p:cNvPr>
          <p:cNvPicPr>
            <a:picLocks noChangeAspect="1"/>
          </p:cNvPicPr>
          <p:nvPr/>
        </p:nvPicPr>
        <p:blipFill>
          <a:blip r:embed="rId10"/>
          <a:stretch>
            <a:fillRect/>
          </a:stretch>
        </p:blipFill>
        <p:spPr>
          <a:xfrm>
            <a:off x="4283964" y="1207008"/>
            <a:ext cx="822960" cy="822960"/>
          </a:xfrm>
          <a:prstGeom prst="rect">
            <a:avLst/>
          </a:prstGeom>
        </p:spPr>
      </p:pic>
      <p:sp>
        <p:nvSpPr>
          <p:cNvPr id="16" name="s4_t_13"/>
          <p:cNvSpPr txBox="1"/>
          <p:nvPr/>
        </p:nvSpPr>
        <p:spPr>
          <a:xfrm>
            <a:off x="3438144" y="2057400"/>
            <a:ext cx="25146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المحلِّل</a:t>
            </a:r>
            <a:endParaRPr lang="ar-SA" sz="2200" dirty="0"/>
          </a:p>
        </p:txBody>
      </p:sp>
      <p:sp>
        <p:nvSpPr>
          <p:cNvPr id="17" name="s4_t_14"/>
          <p:cNvSpPr txBox="1"/>
          <p:nvPr/>
        </p:nvSpPr>
        <p:spPr>
          <a:xfrm>
            <a:off x="3483864" y="2542032"/>
            <a:ext cx="2423160" cy="822960"/>
          </a:xfrm>
          <a:prstGeom prst="rect">
            <a:avLst/>
          </a:prstGeom>
          <a:noFill/>
          <a:ln/>
        </p:spPr>
        <p:txBody>
          <a:bodyPr wrap="square" lIns="762" tIns="762" rIns="762" bIns="762" rtlCol="0" anchor="t"/>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مخلوق حيّ يحلّل المواد الميتة ليحصل على الطاقة.</a:t>
            </a:r>
            <a:endParaRPr lang="ar-SA" sz="1500" dirty="0"/>
          </a:p>
        </p:txBody>
      </p:sp>
      <p:pic>
        <p:nvPicPr>
          <p:cNvPr id="18" name="s4_pic_15" descr="بطاقة مفردة رقم 3">    </p:cNvPr>
          <p:cNvPicPr>
            <a:picLocks noChangeAspect="1"/>
          </p:cNvPicPr>
          <p:nvPr/>
        </p:nvPicPr>
        <p:blipFill>
          <a:blip r:embed="rId11"/>
          <a:stretch>
            <a:fillRect/>
          </a:stretch>
        </p:blipFill>
        <p:spPr>
          <a:xfrm>
            <a:off x="3346704" y="1097280"/>
            <a:ext cx="2697480" cy="2331720"/>
          </a:xfrm>
          <a:prstGeom prst="rect">
            <a:avLst/>
          </a:prstGeom>
        </p:spPr>
      </p:pic>
      <p:pic>
        <p:nvPicPr>
          <p:cNvPr id="19" name="s4_pic_16" descr="/tmp/claude-0/-home-user-Scienceshamah/8386cda7-7741-5ea4-8952-60ee8e67fc31/scratchpad/w3/img/card_443x383_8FD8FF_s_i.png">    </p:cNvPr>
          <p:cNvPicPr>
            <a:picLocks noChangeAspect="1"/>
          </p:cNvPicPr>
          <p:nvPr/>
        </p:nvPicPr>
        <p:blipFill>
          <a:blip r:embed="rId12"/>
          <a:stretch>
            <a:fillRect/>
          </a:stretch>
        </p:blipFill>
        <p:spPr>
          <a:xfrm>
            <a:off x="493776" y="1097280"/>
            <a:ext cx="2697480" cy="2331720"/>
          </a:xfrm>
          <a:prstGeom prst="rect">
            <a:avLst/>
          </a:prstGeom>
        </p:spPr>
      </p:pic>
      <p:pic>
        <p:nvPicPr>
          <p:cNvPr id="20" name="s4_pic_17" descr="السلسلة الغذائية">    </p:cNvPr>
          <p:cNvPicPr>
            <a:picLocks noChangeAspect="1"/>
          </p:cNvPicPr>
          <p:nvPr/>
        </p:nvPicPr>
        <p:blipFill>
          <a:blip r:embed="rId13"/>
          <a:stretch>
            <a:fillRect/>
          </a:stretch>
        </p:blipFill>
        <p:spPr>
          <a:xfrm>
            <a:off x="950976" y="1234440"/>
            <a:ext cx="1783080" cy="653796"/>
          </a:xfrm>
          <a:prstGeom prst="rect">
            <a:avLst/>
          </a:prstGeom>
        </p:spPr>
      </p:pic>
      <p:sp>
        <p:nvSpPr>
          <p:cNvPr id="21" name="s4_t_18"/>
          <p:cNvSpPr txBox="1"/>
          <p:nvPr/>
        </p:nvSpPr>
        <p:spPr>
          <a:xfrm>
            <a:off x="585216" y="2057400"/>
            <a:ext cx="25146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السلسلة الغذائية</a:t>
            </a:r>
            <a:endParaRPr lang="ar-SA" sz="2200" dirty="0"/>
          </a:p>
        </p:txBody>
      </p:sp>
      <p:sp>
        <p:nvSpPr>
          <p:cNvPr id="22" name="s4_t_19"/>
          <p:cNvSpPr txBox="1"/>
          <p:nvPr/>
        </p:nvSpPr>
        <p:spPr>
          <a:xfrm>
            <a:off x="630936" y="2542032"/>
            <a:ext cx="2423160" cy="822960"/>
          </a:xfrm>
          <a:prstGeom prst="rect">
            <a:avLst/>
          </a:prstGeom>
          <a:noFill/>
          <a:ln/>
        </p:spPr>
        <p:txBody>
          <a:bodyPr wrap="square" lIns="762" tIns="762" rIns="762" bIns="762" rtlCol="0" anchor="t"/>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مسار انتقال الطاقة من مخلوق حي إلى آخر عن طريق الغذاء.</a:t>
            </a:r>
            <a:endParaRPr lang="ar-SA" sz="1500" dirty="0"/>
          </a:p>
        </p:txBody>
      </p:sp>
      <p:pic>
        <p:nvPicPr>
          <p:cNvPr id="23" name="s4_pic_20" descr="بطاقة مفردة رقم 4">    </p:cNvPr>
          <p:cNvPicPr>
            <a:picLocks noChangeAspect="1"/>
          </p:cNvPicPr>
          <p:nvPr/>
        </p:nvPicPr>
        <p:blipFill>
          <a:blip r:embed="rId14"/>
          <a:stretch>
            <a:fillRect/>
          </a:stretch>
        </p:blipFill>
        <p:spPr>
          <a:xfrm>
            <a:off x="493776" y="1097280"/>
            <a:ext cx="2697480" cy="2331720"/>
          </a:xfrm>
          <a:prstGeom prst="rect">
            <a:avLst/>
          </a:prstGeom>
        </p:spPr>
      </p:pic>
      <p:pic>
        <p:nvPicPr>
          <p:cNvPr id="24" name="s4_pic_21" descr="/tmp/claude-0/-home-user-Scienceshamah/8386cda7-7741-5ea4-8952-60ee8e67fc31/scratchpad/w3/img/card_443x383_7FE3D4_s_i.png">    </p:cNvPr>
          <p:cNvPicPr>
            <a:picLocks noChangeAspect="1"/>
          </p:cNvPicPr>
          <p:nvPr/>
        </p:nvPicPr>
        <p:blipFill>
          <a:blip r:embed="rId15"/>
          <a:stretch>
            <a:fillRect/>
          </a:stretch>
        </p:blipFill>
        <p:spPr>
          <a:xfrm>
            <a:off x="7726680" y="3611880"/>
            <a:ext cx="2697480" cy="2331720"/>
          </a:xfrm>
          <a:prstGeom prst="rect">
            <a:avLst/>
          </a:prstGeom>
        </p:spPr>
      </p:pic>
      <p:pic>
        <p:nvPicPr>
          <p:cNvPr id="25" name="s4_pic_22" descr="الشبكة الغذائية">    </p:cNvPr>
          <p:cNvPicPr>
            <a:picLocks noChangeAspect="1"/>
          </p:cNvPicPr>
          <p:nvPr/>
        </p:nvPicPr>
        <p:blipFill>
          <a:blip r:embed="rId16"/>
          <a:stretch>
            <a:fillRect/>
          </a:stretch>
        </p:blipFill>
        <p:spPr>
          <a:xfrm>
            <a:off x="8183880" y="3749040"/>
            <a:ext cx="1783080" cy="690225"/>
          </a:xfrm>
          <a:prstGeom prst="rect">
            <a:avLst/>
          </a:prstGeom>
        </p:spPr>
      </p:pic>
      <p:sp>
        <p:nvSpPr>
          <p:cNvPr id="26" name="s4_t_23"/>
          <p:cNvSpPr txBox="1"/>
          <p:nvPr/>
        </p:nvSpPr>
        <p:spPr>
          <a:xfrm>
            <a:off x="7818120" y="4572000"/>
            <a:ext cx="25146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الشبكة الغذائية</a:t>
            </a:r>
            <a:endParaRPr lang="ar-SA" sz="2200" dirty="0"/>
          </a:p>
        </p:txBody>
      </p:sp>
      <p:sp>
        <p:nvSpPr>
          <p:cNvPr id="27" name="s4_t_24"/>
          <p:cNvSpPr txBox="1"/>
          <p:nvPr/>
        </p:nvSpPr>
        <p:spPr>
          <a:xfrm>
            <a:off x="7863840" y="5056632"/>
            <a:ext cx="2423160" cy="822960"/>
          </a:xfrm>
          <a:prstGeom prst="rect">
            <a:avLst/>
          </a:prstGeom>
          <a:noFill/>
          <a:ln/>
        </p:spPr>
        <p:txBody>
          <a:bodyPr wrap="square" lIns="762" tIns="762" rIns="762" bIns="762" rtlCol="0" anchor="t"/>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مجموعة من السلاسل الغذائية المتداخلة في النظام البيئي.</a:t>
            </a:r>
            <a:endParaRPr lang="ar-SA" sz="1500" dirty="0"/>
          </a:p>
        </p:txBody>
      </p:sp>
      <p:pic>
        <p:nvPicPr>
          <p:cNvPr id="28" name="s4_pic_25" descr="بطاقة مفردة رقم 5">    </p:cNvPr>
          <p:cNvPicPr>
            <a:picLocks noChangeAspect="1"/>
          </p:cNvPicPr>
          <p:nvPr/>
        </p:nvPicPr>
        <p:blipFill>
          <a:blip r:embed="rId17"/>
          <a:stretch>
            <a:fillRect/>
          </a:stretch>
        </p:blipFill>
        <p:spPr>
          <a:xfrm>
            <a:off x="7726680" y="3611880"/>
            <a:ext cx="2697480" cy="2331720"/>
          </a:xfrm>
          <a:prstGeom prst="rect">
            <a:avLst/>
          </a:prstGeom>
        </p:spPr>
      </p:pic>
      <p:pic>
        <p:nvPicPr>
          <p:cNvPr id="29" name="s4_pic_26" descr="/tmp/claude-0/-home-user-Scienceshamah/8386cda7-7741-5ea4-8952-60ee8e67fc31/scratchpad/w3/img/card_443x383_FFE066_s_i.png">    </p:cNvPr>
          <p:cNvPicPr>
            <a:picLocks noChangeAspect="1"/>
          </p:cNvPicPr>
          <p:nvPr/>
        </p:nvPicPr>
        <p:blipFill>
          <a:blip r:embed="rId18"/>
          <a:stretch>
            <a:fillRect/>
          </a:stretch>
        </p:blipFill>
        <p:spPr>
          <a:xfrm>
            <a:off x="4873752" y="3611880"/>
            <a:ext cx="2697480" cy="2331720"/>
          </a:xfrm>
          <a:prstGeom prst="rect">
            <a:avLst/>
          </a:prstGeom>
        </p:spPr>
      </p:pic>
      <p:pic>
        <p:nvPicPr>
          <p:cNvPr id="30" name="s4_pic_27" descr="التنافس">    </p:cNvPr>
          <p:cNvPicPr>
            <a:picLocks noChangeAspect="1"/>
          </p:cNvPicPr>
          <p:nvPr/>
        </p:nvPicPr>
        <p:blipFill>
          <a:blip r:embed="rId19"/>
          <a:stretch>
            <a:fillRect/>
          </a:stretch>
        </p:blipFill>
        <p:spPr>
          <a:xfrm>
            <a:off x="5330952" y="3749040"/>
            <a:ext cx="1783080" cy="713232"/>
          </a:xfrm>
          <a:prstGeom prst="rect">
            <a:avLst/>
          </a:prstGeom>
        </p:spPr>
      </p:pic>
      <p:sp>
        <p:nvSpPr>
          <p:cNvPr id="31" name="s4_t_28"/>
          <p:cNvSpPr txBox="1"/>
          <p:nvPr/>
        </p:nvSpPr>
        <p:spPr>
          <a:xfrm>
            <a:off x="4965192" y="4572000"/>
            <a:ext cx="25146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التنافس</a:t>
            </a:r>
            <a:endParaRPr lang="ar-SA" sz="2200" dirty="0"/>
          </a:p>
        </p:txBody>
      </p:sp>
      <p:sp>
        <p:nvSpPr>
          <p:cNvPr id="32" name="s4_t_29"/>
          <p:cNvSpPr txBox="1"/>
          <p:nvPr/>
        </p:nvSpPr>
        <p:spPr>
          <a:xfrm>
            <a:off x="5010912" y="5056632"/>
            <a:ext cx="2423160" cy="822960"/>
          </a:xfrm>
          <a:prstGeom prst="rect">
            <a:avLst/>
          </a:prstGeom>
          <a:noFill/>
          <a:ln/>
        </p:spPr>
        <p:txBody>
          <a:bodyPr wrap="square" lIns="762" tIns="762" rIns="762" bIns="762" rtlCol="0" anchor="t"/>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تسابق المخلوقات الحية على الموارد المحدودة كالغذاء والماء والمكان.</a:t>
            </a:r>
            <a:endParaRPr lang="ar-SA" sz="1500" dirty="0"/>
          </a:p>
        </p:txBody>
      </p:sp>
      <p:pic>
        <p:nvPicPr>
          <p:cNvPr id="33" name="s4_pic_30" descr="بطاقة مفردة رقم 6">    </p:cNvPr>
          <p:cNvPicPr>
            <a:picLocks noChangeAspect="1"/>
          </p:cNvPicPr>
          <p:nvPr/>
        </p:nvPicPr>
        <p:blipFill>
          <a:blip r:embed="rId20"/>
          <a:stretch>
            <a:fillRect/>
          </a:stretch>
        </p:blipFill>
        <p:spPr>
          <a:xfrm>
            <a:off x="4873752" y="3611880"/>
            <a:ext cx="2697480" cy="2331720"/>
          </a:xfrm>
          <a:prstGeom prst="rect">
            <a:avLst/>
          </a:prstGeom>
        </p:spPr>
      </p:pic>
      <p:pic>
        <p:nvPicPr>
          <p:cNvPr id="34" name="s4_pic_31" descr="/tmp/claude-0/-home-user-Scienceshamah/8386cda7-7741-5ea4-8952-60ee8e67fc31/scratchpad/w3/img/card_443x383_C9A8FF_s_i.png">    </p:cNvPr>
          <p:cNvPicPr>
            <a:picLocks noChangeAspect="1"/>
          </p:cNvPicPr>
          <p:nvPr/>
        </p:nvPicPr>
        <p:blipFill>
          <a:blip r:embed="rId21"/>
          <a:stretch>
            <a:fillRect/>
          </a:stretch>
        </p:blipFill>
        <p:spPr>
          <a:xfrm>
            <a:off x="2020824" y="3611880"/>
            <a:ext cx="2697480" cy="2331720"/>
          </a:xfrm>
          <a:prstGeom prst="rect">
            <a:avLst/>
          </a:prstGeom>
        </p:spPr>
      </p:pic>
      <p:pic>
        <p:nvPicPr>
          <p:cNvPr id="35" name="s4_pic_32" descr="هرم الطاقة">    </p:cNvPr>
          <p:cNvPicPr>
            <a:picLocks noChangeAspect="1"/>
          </p:cNvPicPr>
          <p:nvPr/>
        </p:nvPicPr>
        <p:blipFill>
          <a:blip r:embed="rId22"/>
          <a:stretch>
            <a:fillRect/>
          </a:stretch>
        </p:blipFill>
        <p:spPr>
          <a:xfrm>
            <a:off x="2478024" y="3749040"/>
            <a:ext cx="1783080" cy="1367028"/>
          </a:xfrm>
          <a:prstGeom prst="rect">
            <a:avLst/>
          </a:prstGeom>
        </p:spPr>
      </p:pic>
      <p:sp>
        <p:nvSpPr>
          <p:cNvPr id="36" name="s4_t_33"/>
          <p:cNvSpPr txBox="1"/>
          <p:nvPr/>
        </p:nvSpPr>
        <p:spPr>
          <a:xfrm>
            <a:off x="2112264" y="4572000"/>
            <a:ext cx="25146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هرم الطاقة</a:t>
            </a:r>
            <a:endParaRPr lang="ar-SA" sz="2200" dirty="0"/>
          </a:p>
        </p:txBody>
      </p:sp>
      <p:sp>
        <p:nvSpPr>
          <p:cNvPr id="37" name="s4_t_34"/>
          <p:cNvSpPr txBox="1"/>
          <p:nvPr/>
        </p:nvSpPr>
        <p:spPr>
          <a:xfrm>
            <a:off x="2157984" y="5056632"/>
            <a:ext cx="2423160" cy="822960"/>
          </a:xfrm>
          <a:prstGeom prst="rect">
            <a:avLst/>
          </a:prstGeom>
          <a:noFill/>
          <a:ln/>
        </p:spPr>
        <p:txBody>
          <a:bodyPr wrap="square" lIns="762" tIns="762" rIns="762" bIns="762" rtlCol="0" anchor="t"/>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نموذج يوضح أن الطاقة تقلّ كلما انتقلت من مستوى إلى آخر.</a:t>
            </a:r>
            <a:endParaRPr lang="ar-SA" sz="1500" dirty="0"/>
          </a:p>
        </p:txBody>
      </p:sp>
      <p:pic>
        <p:nvPicPr>
          <p:cNvPr id="38" name="s4_pic_35" descr="بطاقة مفردة رقم 7">    </p:cNvPr>
          <p:cNvPicPr>
            <a:picLocks noChangeAspect="1"/>
          </p:cNvPicPr>
          <p:nvPr/>
        </p:nvPicPr>
        <p:blipFill>
          <a:blip r:embed="rId23"/>
          <a:stretch>
            <a:fillRect/>
          </a:stretch>
        </p:blipFill>
        <p:spPr>
          <a:xfrm>
            <a:off x="2020824" y="3611880"/>
            <a:ext cx="2697480" cy="2331720"/>
          </a:xfrm>
          <a:prstGeom prst="rect">
            <a:avLst/>
          </a:prstGeom>
        </p:spPr>
      </p:pic>
      <p:sp>
        <p:nvSpPr>
          <p:cNvPr id="39" name="s4_t_36"/>
          <p:cNvSpPr txBox="1"/>
          <p:nvPr/>
        </p:nvSpPr>
        <p:spPr>
          <a:xfrm>
            <a:off x="365760" y="4206240"/>
            <a:ext cx="1920240" cy="146304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6B4FC0"/>
                </a:solidFill>
                <a:latin typeface="Tahoma" pitchFamily="34" charset="0"/>
                <a:ea typeface="Tahoma" pitchFamily="34" charset="-122"/>
                <a:cs typeface="Tahoma" pitchFamily="34" charset="-120"/>
              </a:rPr>
              <a:t>👆 اضغطي على البطاقة لتظهر المفردة</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400">
        <p14:honeycomb/>
      </p:transition>
    </mc:Choice>
    <mc:Fallback>
      <p:transition spd="slow">
        <p:fade/>
      </p:transition>
    </mc:Fallback>
  </mc:AlternateContent>
  <p:timing>
    <p:tnLst>
      <p:par>
        <p:cTn id="1" dur="indefinite" restart="never" nodeType="tmRoot">
          <p:childTnLst>
            <p:seq concurrent="1" nextAc="seek">
              <p:cTn id="3" restart="whenNotActive" fill="hold" evtFilter="cancelBubble" nodeType="interactiveSeq">
                <p:stCondLst>
                  <p:cond evt="onClick" delay="0">
                    <p:tgtEl>
                      <p:spTgt spid="8"/>
                    </p:tgtEl>
                  </p:cond>
                </p:stCondLst>
                <p:endSync evt="end" delay="0">
                  <p:rtn val="all"/>
                </p:endSync>
                <p:childTnLst>
                  <p:par>
                    <p:cTn id="4" fill="hold">
                      <p:stCondLst>
                        <p:cond delay="0"/>
                      </p:stCondLst>
                      <p:childTnLst>
                        <p:par>
                          <p:cTn id="5" fill="hold">
                            <p:stCondLst>
                              <p:cond delay="0"/>
                            </p:stCondLst>
                            <p:childTnLst>
                              <p:par>
                                <p:cTn id="8" presetID="10" presetClass="exit" presetSubtype="0" fill="hold" grpId="1"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13" presetID="53" presetClass="entr" presetSubtype="16"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fltVal val="0"/>
                                          </p:val>
                                        </p:tav>
                                        <p:tav tm="100000">
                                          <p:val>
                                            <p:strVal val="#ppt_w"/>
                                          </p:val>
                                        </p:tav>
                                      </p:tavLst>
                                    </p:anim>
                                    <p:anim calcmode="lin" valueType="num">
                                      <p:cBhvr>
                                        <p:cTn id="11" dur="500" fill="hold"/>
                                        <p:tgtEl>
                                          <p:spTgt spid="4"/>
                                        </p:tgtEl>
                                        <p:attrNameLst>
                                          <p:attrName>ppt_h</p:attrName>
                                        </p:attrNameLst>
                                      </p:cBhvr>
                                      <p:tavLst>
                                        <p:tav tm="0">
                                          <p:val>
                                            <p:fltVal val="0"/>
                                          </p:val>
                                        </p:tav>
                                        <p:tav tm="100000">
                                          <p:val>
                                            <p:strVal val="#ppt_h"/>
                                          </p:val>
                                        </p:tav>
                                      </p:tavLst>
                                    </p:anim>
                                    <p:animEffect transition="in" filter="fade">
                                      <p:cBhvr>
                                        <p:cTn id="12" dur="500"/>
                                        <p:tgtEl>
                                          <p:spTgt spid="4"/>
                                        </p:tgtEl>
                                      </p:cBhvr>
                                    </p:animEffect>
                                  </p:childTnLst>
                                </p:cTn>
                              </p:par>
                              <p:par>
                                <p:cTn id="18" presetID="53" presetClass="entr" presetSubtype="16" fill="hold" grpId="0" nodeType="withEffect">
                                  <p:stCondLst>
                                    <p:cond delay="15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23" presetID="53" presetClass="entr" presetSubtype="16" fill="hold" grpId="0" nodeType="withEffect">
                                  <p:stCondLst>
                                    <p:cond delay="15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par>
                                <p:cTn id="28" presetID="53" presetClass="entr" presetSubtype="16" fill="hold" grpId="0" nodeType="withEffect">
                                  <p:stCondLst>
                                    <p:cond delay="15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childTnLst>
                          </p:cTn>
                        </p:par>
                      </p:childTnLst>
                    </p:cTn>
                  </p:par>
                </p:childTnLst>
              </p:cTn>
              <p:nextCondLst>
                <p:cond evt="onClick" delay="0">
                  <p:tgtEl>
                    <p:spTgt spid="8"/>
                  </p:tgtEl>
                </p:cond>
              </p:nextCondLst>
            </p:seq>
            <p:seq concurrent="1" nextAc="seek">
              <p:cTn id="29" restart="whenNotActive" fill="hold" evtFilter="cancelBubble" nodeType="interactiveSeq">
                <p:stCondLst>
                  <p:cond evt="onClick" delay="0">
                    <p:tgtEl>
                      <p:spTgt spid="13"/>
                    </p:tgtEl>
                  </p:cond>
                </p:stCondLst>
                <p:endSync evt="end" delay="0">
                  <p:rtn val="all"/>
                </p:endSync>
                <p:childTnLst>
                  <p:par>
                    <p:cTn id="30" fill="hold">
                      <p:stCondLst>
                        <p:cond delay="0"/>
                      </p:stCondLst>
                      <p:childTnLst>
                        <p:par>
                          <p:cTn id="31" fill="hold">
                            <p:stCondLst>
                              <p:cond delay="0"/>
                            </p:stCondLst>
                            <p:childTnLst>
                              <p:par>
                                <p:cTn id="34" presetID="10" presetClass="exit" presetSubtype="0" fill="hold" grpId="1" nodeType="clickEffect">
                                  <p:stCondLst>
                                    <p:cond delay="0"/>
                                  </p:stCondLst>
                                  <p:childTnLst>
                                    <p:animEffect transition="out" filter="fade">
                                      <p:cBhvr>
                                        <p:cTn id="32" dur="500"/>
                                        <p:tgtEl>
                                          <p:spTgt spid="13"/>
                                        </p:tgtEl>
                                      </p:cBhvr>
                                    </p:animEffect>
                                    <p:set>
                                      <p:cBhvr>
                                        <p:cTn id="33" dur="1" fill="hold">
                                          <p:stCondLst>
                                            <p:cond delay="499"/>
                                          </p:stCondLst>
                                        </p:cTn>
                                        <p:tgtEl>
                                          <p:spTgt spid="13"/>
                                        </p:tgtEl>
                                        <p:attrNameLst>
                                          <p:attrName>style.visibility</p:attrName>
                                        </p:attrNameLst>
                                      </p:cBhvr>
                                      <p:to>
                                        <p:strVal val="hidden"/>
                                      </p:to>
                                    </p:set>
                                  </p:childTnLst>
                                </p:cTn>
                              </p:par>
                              <p:par>
                                <p:cTn id="39" presetID="53" presetClass="entr" presetSubtype="16" fill="hold" grpId="0" nodeType="withEffect">
                                  <p:stCondLst>
                                    <p:cond delay="150"/>
                                  </p:stCondLst>
                                  <p:childTnLst>
                                    <p:set>
                                      <p:cBhvr>
                                        <p:cTn id="35" dur="1" fill="hold">
                                          <p:stCondLst>
                                            <p:cond delay="0"/>
                                          </p:stCondLst>
                                        </p:cTn>
                                        <p:tgtEl>
                                          <p:spTgt spid="9"/>
                                        </p:tgtEl>
                                        <p:attrNameLst>
                                          <p:attrName>style.visibility</p:attrName>
                                        </p:attrNameLst>
                                      </p:cBhvr>
                                      <p:to>
                                        <p:strVal val="visible"/>
                                      </p:to>
                                    </p:se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animEffect transition="in" filter="fade">
                                      <p:cBhvr>
                                        <p:cTn id="38" dur="500"/>
                                        <p:tgtEl>
                                          <p:spTgt spid="9"/>
                                        </p:tgtEl>
                                      </p:cBhvr>
                                    </p:animEffect>
                                  </p:childTnLst>
                                </p:cTn>
                              </p:par>
                              <p:par>
                                <p:cTn id="44" presetID="53" presetClass="entr" presetSubtype="16" fill="hold" grpId="0" nodeType="withEffect">
                                  <p:stCondLst>
                                    <p:cond delay="150"/>
                                  </p:stCondLst>
                                  <p:childTnLst>
                                    <p:set>
                                      <p:cBhvr>
                                        <p:cTn id="40" dur="1" fill="hold">
                                          <p:stCondLst>
                                            <p:cond delay="0"/>
                                          </p:stCondLst>
                                        </p:cTn>
                                        <p:tgtEl>
                                          <p:spTgt spid="10"/>
                                        </p:tgtEl>
                                        <p:attrNameLst>
                                          <p:attrName>style.visibility</p:attrName>
                                        </p:attrNameLst>
                                      </p:cBhvr>
                                      <p:to>
                                        <p:strVal val="visible"/>
                                      </p:to>
                                    </p:se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animEffect transition="in" filter="fade">
                                      <p:cBhvr>
                                        <p:cTn id="43" dur="500"/>
                                        <p:tgtEl>
                                          <p:spTgt spid="10"/>
                                        </p:tgtEl>
                                      </p:cBhvr>
                                    </p:animEffect>
                                  </p:childTnLst>
                                </p:cTn>
                              </p:par>
                              <p:par>
                                <p:cTn id="49" presetID="53" presetClass="entr" presetSubtype="16" fill="hold" grpId="0" nodeType="withEffect">
                                  <p:stCondLst>
                                    <p:cond delay="150"/>
                                  </p:stCondLst>
                                  <p:childTnLst>
                                    <p:set>
                                      <p:cBhvr>
                                        <p:cTn id="45" dur="1" fill="hold">
                                          <p:stCondLst>
                                            <p:cond delay="0"/>
                                          </p:stCondLst>
                                        </p:cTn>
                                        <p:tgtEl>
                                          <p:spTgt spid="11"/>
                                        </p:tgtEl>
                                        <p:attrNameLst>
                                          <p:attrName>style.visibility</p:attrName>
                                        </p:attrNameLst>
                                      </p:cBhvr>
                                      <p:to>
                                        <p:strVal val="visible"/>
                                      </p:to>
                                    </p:set>
                                    <p:anim calcmode="lin" valueType="num">
                                      <p:cBhvr>
                                        <p:cTn id="46" dur="500" fill="hold"/>
                                        <p:tgtEl>
                                          <p:spTgt spid="11"/>
                                        </p:tgtEl>
                                        <p:attrNameLst>
                                          <p:attrName>ppt_w</p:attrName>
                                        </p:attrNameLst>
                                      </p:cBhvr>
                                      <p:tavLst>
                                        <p:tav tm="0">
                                          <p:val>
                                            <p:fltVal val="0"/>
                                          </p:val>
                                        </p:tav>
                                        <p:tav tm="100000">
                                          <p:val>
                                            <p:strVal val="#ppt_w"/>
                                          </p:val>
                                        </p:tav>
                                      </p:tavLst>
                                    </p:anim>
                                    <p:anim calcmode="lin" valueType="num">
                                      <p:cBhvr>
                                        <p:cTn id="47" dur="500" fill="hold"/>
                                        <p:tgtEl>
                                          <p:spTgt spid="11"/>
                                        </p:tgtEl>
                                        <p:attrNameLst>
                                          <p:attrName>ppt_h</p:attrName>
                                        </p:attrNameLst>
                                      </p:cBhvr>
                                      <p:tavLst>
                                        <p:tav tm="0">
                                          <p:val>
                                            <p:fltVal val="0"/>
                                          </p:val>
                                        </p:tav>
                                        <p:tav tm="100000">
                                          <p:val>
                                            <p:strVal val="#ppt_h"/>
                                          </p:val>
                                        </p:tav>
                                      </p:tavLst>
                                    </p:anim>
                                    <p:animEffect transition="in" filter="fade">
                                      <p:cBhvr>
                                        <p:cTn id="48" dur="500"/>
                                        <p:tgtEl>
                                          <p:spTgt spid="11"/>
                                        </p:tgtEl>
                                      </p:cBhvr>
                                    </p:animEffect>
                                  </p:childTnLst>
                                </p:cTn>
                              </p:par>
                              <p:par>
                                <p:cTn id="54" presetID="53" presetClass="entr" presetSubtype="16" fill="hold" grpId="0" nodeType="withEffect">
                                  <p:stCondLst>
                                    <p:cond delay="150"/>
                                  </p:stCondLst>
                                  <p:childTnLst>
                                    <p:set>
                                      <p:cBhvr>
                                        <p:cTn id="50" dur="1" fill="hold">
                                          <p:stCondLst>
                                            <p:cond delay="0"/>
                                          </p:stCondLst>
                                        </p:cTn>
                                        <p:tgtEl>
                                          <p:spTgt spid="12"/>
                                        </p:tgtEl>
                                        <p:attrNameLst>
                                          <p:attrName>style.visibility</p:attrName>
                                        </p:attrNameLst>
                                      </p:cBhvr>
                                      <p:to>
                                        <p:strVal val="visible"/>
                                      </p:to>
                                    </p:set>
                                    <p:anim calcmode="lin" valueType="num">
                                      <p:cBhvr>
                                        <p:cTn id="51" dur="500" fill="hold"/>
                                        <p:tgtEl>
                                          <p:spTgt spid="12"/>
                                        </p:tgtEl>
                                        <p:attrNameLst>
                                          <p:attrName>ppt_w</p:attrName>
                                        </p:attrNameLst>
                                      </p:cBhvr>
                                      <p:tavLst>
                                        <p:tav tm="0">
                                          <p:val>
                                            <p:fltVal val="0"/>
                                          </p:val>
                                        </p:tav>
                                        <p:tav tm="100000">
                                          <p:val>
                                            <p:strVal val="#ppt_w"/>
                                          </p:val>
                                        </p:tav>
                                      </p:tavLst>
                                    </p:anim>
                                    <p:anim calcmode="lin" valueType="num">
                                      <p:cBhvr>
                                        <p:cTn id="52" dur="500" fill="hold"/>
                                        <p:tgtEl>
                                          <p:spTgt spid="12"/>
                                        </p:tgtEl>
                                        <p:attrNameLst>
                                          <p:attrName>ppt_h</p:attrName>
                                        </p:attrNameLst>
                                      </p:cBhvr>
                                      <p:tavLst>
                                        <p:tav tm="0">
                                          <p:val>
                                            <p:fltVal val="0"/>
                                          </p:val>
                                        </p:tav>
                                        <p:tav tm="100000">
                                          <p:val>
                                            <p:strVal val="#ppt_h"/>
                                          </p:val>
                                        </p:tav>
                                      </p:tavLst>
                                    </p:anim>
                                    <p:animEffect transition="in" filter="fade">
                                      <p:cBhvr>
                                        <p:cTn id="53" dur="500"/>
                                        <p:tgtEl>
                                          <p:spTgt spid="12"/>
                                        </p:tgtEl>
                                      </p:cBhvr>
                                    </p:animEffect>
                                  </p:childTnLst>
                                </p:cTn>
                              </p:par>
                            </p:childTnLst>
                          </p:cTn>
                        </p:par>
                      </p:childTnLst>
                    </p:cTn>
                  </p:par>
                </p:childTnLst>
              </p:cTn>
              <p:nextCondLst>
                <p:cond evt="onClick" delay="0">
                  <p:tgtEl>
                    <p:spTgt spid="13"/>
                  </p:tgtEl>
                </p:cond>
              </p:nextCondLst>
            </p:seq>
            <p:seq concurrent="1" nextAc="seek">
              <p:cTn id="55" restart="whenNotActive" fill="hold" evtFilter="cancelBubble" nodeType="interactiveSeq">
                <p:stCondLst>
                  <p:cond evt="onClick" delay="0">
                    <p:tgtEl>
                      <p:spTgt spid="18"/>
                    </p:tgtEl>
                  </p:cond>
                </p:stCondLst>
                <p:endSync evt="end" delay="0">
                  <p:rtn val="all"/>
                </p:endSync>
                <p:childTnLst>
                  <p:par>
                    <p:cTn id="56" fill="hold">
                      <p:stCondLst>
                        <p:cond delay="0"/>
                      </p:stCondLst>
                      <p:childTnLst>
                        <p:par>
                          <p:cTn id="57" fill="hold">
                            <p:stCondLst>
                              <p:cond delay="0"/>
                            </p:stCondLst>
                            <p:childTnLst>
                              <p:par>
                                <p:cTn id="60" presetID="10" presetClass="exit" presetSubtype="0" fill="hold" grpId="1" nodeType="clickEffect">
                                  <p:stCondLst>
                                    <p:cond delay="0"/>
                                  </p:stCondLst>
                                  <p:childTnLst>
                                    <p:animEffect transition="out" filter="fade">
                                      <p:cBhvr>
                                        <p:cTn id="58" dur="500"/>
                                        <p:tgtEl>
                                          <p:spTgt spid="18"/>
                                        </p:tgtEl>
                                      </p:cBhvr>
                                    </p:animEffect>
                                    <p:set>
                                      <p:cBhvr>
                                        <p:cTn id="59" dur="1" fill="hold">
                                          <p:stCondLst>
                                            <p:cond delay="499"/>
                                          </p:stCondLst>
                                        </p:cTn>
                                        <p:tgtEl>
                                          <p:spTgt spid="18"/>
                                        </p:tgtEl>
                                        <p:attrNameLst>
                                          <p:attrName>style.visibility</p:attrName>
                                        </p:attrNameLst>
                                      </p:cBhvr>
                                      <p:to>
                                        <p:strVal val="hidden"/>
                                      </p:to>
                                    </p:set>
                                  </p:childTnLst>
                                </p:cTn>
                              </p:par>
                              <p:par>
                                <p:cTn id="65" presetID="53" presetClass="entr" presetSubtype="16" fill="hold" grpId="0" nodeType="withEffect">
                                  <p:stCondLst>
                                    <p:cond delay="150"/>
                                  </p:stCondLst>
                                  <p:childTnLst>
                                    <p:set>
                                      <p:cBhvr>
                                        <p:cTn id="61" dur="1" fill="hold">
                                          <p:stCondLst>
                                            <p:cond delay="0"/>
                                          </p:stCondLst>
                                        </p:cTn>
                                        <p:tgtEl>
                                          <p:spTgt spid="14"/>
                                        </p:tgtEl>
                                        <p:attrNameLst>
                                          <p:attrName>style.visibility</p:attrName>
                                        </p:attrNameLst>
                                      </p:cBhvr>
                                      <p:to>
                                        <p:strVal val="visible"/>
                                      </p:to>
                                    </p:set>
                                    <p:anim calcmode="lin" valueType="num">
                                      <p:cBhvr>
                                        <p:cTn id="62" dur="500" fill="hold"/>
                                        <p:tgtEl>
                                          <p:spTgt spid="14"/>
                                        </p:tgtEl>
                                        <p:attrNameLst>
                                          <p:attrName>ppt_w</p:attrName>
                                        </p:attrNameLst>
                                      </p:cBhvr>
                                      <p:tavLst>
                                        <p:tav tm="0">
                                          <p:val>
                                            <p:fltVal val="0"/>
                                          </p:val>
                                        </p:tav>
                                        <p:tav tm="100000">
                                          <p:val>
                                            <p:strVal val="#ppt_w"/>
                                          </p:val>
                                        </p:tav>
                                      </p:tavLst>
                                    </p:anim>
                                    <p:anim calcmode="lin" valueType="num">
                                      <p:cBhvr>
                                        <p:cTn id="63" dur="500" fill="hold"/>
                                        <p:tgtEl>
                                          <p:spTgt spid="14"/>
                                        </p:tgtEl>
                                        <p:attrNameLst>
                                          <p:attrName>ppt_h</p:attrName>
                                        </p:attrNameLst>
                                      </p:cBhvr>
                                      <p:tavLst>
                                        <p:tav tm="0">
                                          <p:val>
                                            <p:fltVal val="0"/>
                                          </p:val>
                                        </p:tav>
                                        <p:tav tm="100000">
                                          <p:val>
                                            <p:strVal val="#ppt_h"/>
                                          </p:val>
                                        </p:tav>
                                      </p:tavLst>
                                    </p:anim>
                                    <p:animEffect transition="in" filter="fade">
                                      <p:cBhvr>
                                        <p:cTn id="64" dur="500"/>
                                        <p:tgtEl>
                                          <p:spTgt spid="14"/>
                                        </p:tgtEl>
                                      </p:cBhvr>
                                    </p:animEffect>
                                  </p:childTnLst>
                                </p:cTn>
                              </p:par>
                              <p:par>
                                <p:cTn id="70" presetID="53" presetClass="entr" presetSubtype="16" fill="hold" grpId="0" nodeType="withEffect">
                                  <p:stCondLst>
                                    <p:cond delay="150"/>
                                  </p:stCondLst>
                                  <p:childTnLst>
                                    <p:set>
                                      <p:cBhvr>
                                        <p:cTn id="66" dur="1" fill="hold">
                                          <p:stCondLst>
                                            <p:cond delay="0"/>
                                          </p:stCondLst>
                                        </p:cTn>
                                        <p:tgtEl>
                                          <p:spTgt spid="15"/>
                                        </p:tgtEl>
                                        <p:attrNameLst>
                                          <p:attrName>style.visibility</p:attrName>
                                        </p:attrNameLst>
                                      </p:cBhvr>
                                      <p:to>
                                        <p:strVal val="visible"/>
                                      </p:to>
                                    </p:set>
                                    <p:anim calcmode="lin" valueType="num">
                                      <p:cBhvr>
                                        <p:cTn id="67" dur="500" fill="hold"/>
                                        <p:tgtEl>
                                          <p:spTgt spid="15"/>
                                        </p:tgtEl>
                                        <p:attrNameLst>
                                          <p:attrName>ppt_w</p:attrName>
                                        </p:attrNameLst>
                                      </p:cBhvr>
                                      <p:tavLst>
                                        <p:tav tm="0">
                                          <p:val>
                                            <p:fltVal val="0"/>
                                          </p:val>
                                        </p:tav>
                                        <p:tav tm="100000">
                                          <p:val>
                                            <p:strVal val="#ppt_w"/>
                                          </p:val>
                                        </p:tav>
                                      </p:tavLst>
                                    </p:anim>
                                    <p:anim calcmode="lin" valueType="num">
                                      <p:cBhvr>
                                        <p:cTn id="68" dur="500" fill="hold"/>
                                        <p:tgtEl>
                                          <p:spTgt spid="15"/>
                                        </p:tgtEl>
                                        <p:attrNameLst>
                                          <p:attrName>ppt_h</p:attrName>
                                        </p:attrNameLst>
                                      </p:cBhvr>
                                      <p:tavLst>
                                        <p:tav tm="0">
                                          <p:val>
                                            <p:fltVal val="0"/>
                                          </p:val>
                                        </p:tav>
                                        <p:tav tm="100000">
                                          <p:val>
                                            <p:strVal val="#ppt_h"/>
                                          </p:val>
                                        </p:tav>
                                      </p:tavLst>
                                    </p:anim>
                                    <p:animEffect transition="in" filter="fade">
                                      <p:cBhvr>
                                        <p:cTn id="69" dur="500"/>
                                        <p:tgtEl>
                                          <p:spTgt spid="15"/>
                                        </p:tgtEl>
                                      </p:cBhvr>
                                    </p:animEffect>
                                  </p:childTnLst>
                                </p:cTn>
                              </p:par>
                              <p:par>
                                <p:cTn id="75" presetID="53" presetClass="entr" presetSubtype="16" fill="hold" grpId="0" nodeType="withEffect">
                                  <p:stCondLst>
                                    <p:cond delay="150"/>
                                  </p:stCondLst>
                                  <p:childTnLst>
                                    <p:set>
                                      <p:cBhvr>
                                        <p:cTn id="71" dur="1" fill="hold">
                                          <p:stCondLst>
                                            <p:cond delay="0"/>
                                          </p:stCondLst>
                                        </p:cTn>
                                        <p:tgtEl>
                                          <p:spTgt spid="16"/>
                                        </p:tgtEl>
                                        <p:attrNameLst>
                                          <p:attrName>style.visibility</p:attrName>
                                        </p:attrNameLst>
                                      </p:cBhvr>
                                      <p:to>
                                        <p:strVal val="visible"/>
                                      </p:to>
                                    </p:set>
                                    <p:anim calcmode="lin" valueType="num">
                                      <p:cBhvr>
                                        <p:cTn id="72" dur="500" fill="hold"/>
                                        <p:tgtEl>
                                          <p:spTgt spid="16"/>
                                        </p:tgtEl>
                                        <p:attrNameLst>
                                          <p:attrName>ppt_w</p:attrName>
                                        </p:attrNameLst>
                                      </p:cBhvr>
                                      <p:tavLst>
                                        <p:tav tm="0">
                                          <p:val>
                                            <p:fltVal val="0"/>
                                          </p:val>
                                        </p:tav>
                                        <p:tav tm="100000">
                                          <p:val>
                                            <p:strVal val="#ppt_w"/>
                                          </p:val>
                                        </p:tav>
                                      </p:tavLst>
                                    </p:anim>
                                    <p:anim calcmode="lin" valueType="num">
                                      <p:cBhvr>
                                        <p:cTn id="73" dur="500" fill="hold"/>
                                        <p:tgtEl>
                                          <p:spTgt spid="16"/>
                                        </p:tgtEl>
                                        <p:attrNameLst>
                                          <p:attrName>ppt_h</p:attrName>
                                        </p:attrNameLst>
                                      </p:cBhvr>
                                      <p:tavLst>
                                        <p:tav tm="0">
                                          <p:val>
                                            <p:fltVal val="0"/>
                                          </p:val>
                                        </p:tav>
                                        <p:tav tm="100000">
                                          <p:val>
                                            <p:strVal val="#ppt_h"/>
                                          </p:val>
                                        </p:tav>
                                      </p:tavLst>
                                    </p:anim>
                                    <p:animEffect transition="in" filter="fade">
                                      <p:cBhvr>
                                        <p:cTn id="74" dur="500"/>
                                        <p:tgtEl>
                                          <p:spTgt spid="16"/>
                                        </p:tgtEl>
                                      </p:cBhvr>
                                    </p:animEffect>
                                  </p:childTnLst>
                                </p:cTn>
                              </p:par>
                              <p:par>
                                <p:cTn id="80" presetID="53" presetClass="entr" presetSubtype="16" fill="hold" grpId="0" nodeType="withEffect">
                                  <p:stCondLst>
                                    <p:cond delay="150"/>
                                  </p:stCondLst>
                                  <p:childTnLst>
                                    <p:set>
                                      <p:cBhvr>
                                        <p:cTn id="76" dur="1" fill="hold">
                                          <p:stCondLst>
                                            <p:cond delay="0"/>
                                          </p:stCondLst>
                                        </p:cTn>
                                        <p:tgtEl>
                                          <p:spTgt spid="17"/>
                                        </p:tgtEl>
                                        <p:attrNameLst>
                                          <p:attrName>style.visibility</p:attrName>
                                        </p:attrNameLst>
                                      </p:cBhvr>
                                      <p:to>
                                        <p:strVal val="visible"/>
                                      </p:to>
                                    </p:set>
                                    <p:anim calcmode="lin" valueType="num">
                                      <p:cBhvr>
                                        <p:cTn id="77" dur="500" fill="hold"/>
                                        <p:tgtEl>
                                          <p:spTgt spid="17"/>
                                        </p:tgtEl>
                                        <p:attrNameLst>
                                          <p:attrName>ppt_w</p:attrName>
                                        </p:attrNameLst>
                                      </p:cBhvr>
                                      <p:tavLst>
                                        <p:tav tm="0">
                                          <p:val>
                                            <p:fltVal val="0"/>
                                          </p:val>
                                        </p:tav>
                                        <p:tav tm="100000">
                                          <p:val>
                                            <p:strVal val="#ppt_w"/>
                                          </p:val>
                                        </p:tav>
                                      </p:tavLst>
                                    </p:anim>
                                    <p:anim calcmode="lin" valueType="num">
                                      <p:cBhvr>
                                        <p:cTn id="78" dur="500" fill="hold"/>
                                        <p:tgtEl>
                                          <p:spTgt spid="17"/>
                                        </p:tgtEl>
                                        <p:attrNameLst>
                                          <p:attrName>ppt_h</p:attrName>
                                        </p:attrNameLst>
                                      </p:cBhvr>
                                      <p:tavLst>
                                        <p:tav tm="0">
                                          <p:val>
                                            <p:fltVal val="0"/>
                                          </p:val>
                                        </p:tav>
                                        <p:tav tm="100000">
                                          <p:val>
                                            <p:strVal val="#ppt_h"/>
                                          </p:val>
                                        </p:tav>
                                      </p:tavLst>
                                    </p:anim>
                                    <p:animEffect transition="in" filter="fade">
                                      <p:cBhvr>
                                        <p:cTn id="79" dur="500"/>
                                        <p:tgtEl>
                                          <p:spTgt spid="17"/>
                                        </p:tgtEl>
                                      </p:cBhvr>
                                    </p:animEffect>
                                  </p:childTnLst>
                                </p:cTn>
                              </p:par>
                            </p:childTnLst>
                          </p:cTn>
                        </p:par>
                      </p:childTnLst>
                    </p:cTn>
                  </p:par>
                </p:childTnLst>
              </p:cTn>
              <p:nextCondLst>
                <p:cond evt="onClick" delay="0">
                  <p:tgtEl>
                    <p:spTgt spid="18"/>
                  </p:tgtEl>
                </p:cond>
              </p:nextCondLst>
            </p:seq>
            <p:seq concurrent="1" nextAc="seek">
              <p:cTn id="81" restart="whenNotActive" fill="hold" evtFilter="cancelBubble" nodeType="interactiveSeq">
                <p:stCondLst>
                  <p:cond evt="onClick" delay="0">
                    <p:tgtEl>
                      <p:spTgt spid="23"/>
                    </p:tgtEl>
                  </p:cond>
                </p:stCondLst>
                <p:endSync evt="end" delay="0">
                  <p:rtn val="all"/>
                </p:endSync>
                <p:childTnLst>
                  <p:par>
                    <p:cTn id="82" fill="hold">
                      <p:stCondLst>
                        <p:cond delay="0"/>
                      </p:stCondLst>
                      <p:childTnLst>
                        <p:par>
                          <p:cTn id="83" fill="hold">
                            <p:stCondLst>
                              <p:cond delay="0"/>
                            </p:stCondLst>
                            <p:childTnLst>
                              <p:par>
                                <p:cTn id="86" presetID="10" presetClass="exit" presetSubtype="0" fill="hold" grpId="1" nodeType="clickEffect">
                                  <p:stCondLst>
                                    <p:cond delay="0"/>
                                  </p:stCondLst>
                                  <p:childTnLst>
                                    <p:animEffect transition="out" filter="fade">
                                      <p:cBhvr>
                                        <p:cTn id="84" dur="500"/>
                                        <p:tgtEl>
                                          <p:spTgt spid="23"/>
                                        </p:tgtEl>
                                      </p:cBhvr>
                                    </p:animEffect>
                                    <p:set>
                                      <p:cBhvr>
                                        <p:cTn id="85" dur="1" fill="hold">
                                          <p:stCondLst>
                                            <p:cond delay="499"/>
                                          </p:stCondLst>
                                        </p:cTn>
                                        <p:tgtEl>
                                          <p:spTgt spid="23"/>
                                        </p:tgtEl>
                                        <p:attrNameLst>
                                          <p:attrName>style.visibility</p:attrName>
                                        </p:attrNameLst>
                                      </p:cBhvr>
                                      <p:to>
                                        <p:strVal val="hidden"/>
                                      </p:to>
                                    </p:set>
                                  </p:childTnLst>
                                </p:cTn>
                              </p:par>
                              <p:par>
                                <p:cTn id="91" presetID="53" presetClass="entr" presetSubtype="16" fill="hold" grpId="0" nodeType="withEffect">
                                  <p:stCondLst>
                                    <p:cond delay="150"/>
                                  </p:stCondLst>
                                  <p:childTnLst>
                                    <p:set>
                                      <p:cBhvr>
                                        <p:cTn id="87" dur="1" fill="hold">
                                          <p:stCondLst>
                                            <p:cond delay="0"/>
                                          </p:stCondLst>
                                        </p:cTn>
                                        <p:tgtEl>
                                          <p:spTgt spid="19"/>
                                        </p:tgtEl>
                                        <p:attrNameLst>
                                          <p:attrName>style.visibility</p:attrName>
                                        </p:attrNameLst>
                                      </p:cBhvr>
                                      <p:to>
                                        <p:strVal val="visible"/>
                                      </p:to>
                                    </p:set>
                                    <p:anim calcmode="lin" valueType="num">
                                      <p:cBhvr>
                                        <p:cTn id="88" dur="500" fill="hold"/>
                                        <p:tgtEl>
                                          <p:spTgt spid="19"/>
                                        </p:tgtEl>
                                        <p:attrNameLst>
                                          <p:attrName>ppt_w</p:attrName>
                                        </p:attrNameLst>
                                      </p:cBhvr>
                                      <p:tavLst>
                                        <p:tav tm="0">
                                          <p:val>
                                            <p:fltVal val="0"/>
                                          </p:val>
                                        </p:tav>
                                        <p:tav tm="100000">
                                          <p:val>
                                            <p:strVal val="#ppt_w"/>
                                          </p:val>
                                        </p:tav>
                                      </p:tavLst>
                                    </p:anim>
                                    <p:anim calcmode="lin" valueType="num">
                                      <p:cBhvr>
                                        <p:cTn id="89" dur="500" fill="hold"/>
                                        <p:tgtEl>
                                          <p:spTgt spid="19"/>
                                        </p:tgtEl>
                                        <p:attrNameLst>
                                          <p:attrName>ppt_h</p:attrName>
                                        </p:attrNameLst>
                                      </p:cBhvr>
                                      <p:tavLst>
                                        <p:tav tm="0">
                                          <p:val>
                                            <p:fltVal val="0"/>
                                          </p:val>
                                        </p:tav>
                                        <p:tav tm="100000">
                                          <p:val>
                                            <p:strVal val="#ppt_h"/>
                                          </p:val>
                                        </p:tav>
                                      </p:tavLst>
                                    </p:anim>
                                    <p:animEffect transition="in" filter="fade">
                                      <p:cBhvr>
                                        <p:cTn id="90" dur="500"/>
                                        <p:tgtEl>
                                          <p:spTgt spid="19"/>
                                        </p:tgtEl>
                                      </p:cBhvr>
                                    </p:animEffect>
                                  </p:childTnLst>
                                </p:cTn>
                              </p:par>
                              <p:par>
                                <p:cTn id="96" presetID="53" presetClass="entr" presetSubtype="16" fill="hold" grpId="0" nodeType="withEffect">
                                  <p:stCondLst>
                                    <p:cond delay="150"/>
                                  </p:stCondLst>
                                  <p:childTnLst>
                                    <p:set>
                                      <p:cBhvr>
                                        <p:cTn id="92" dur="1" fill="hold">
                                          <p:stCondLst>
                                            <p:cond delay="0"/>
                                          </p:stCondLst>
                                        </p:cTn>
                                        <p:tgtEl>
                                          <p:spTgt spid="20"/>
                                        </p:tgtEl>
                                        <p:attrNameLst>
                                          <p:attrName>style.visibility</p:attrName>
                                        </p:attrNameLst>
                                      </p:cBhvr>
                                      <p:to>
                                        <p:strVal val="visible"/>
                                      </p:to>
                                    </p:set>
                                    <p:anim calcmode="lin" valueType="num">
                                      <p:cBhvr>
                                        <p:cTn id="93" dur="500" fill="hold"/>
                                        <p:tgtEl>
                                          <p:spTgt spid="20"/>
                                        </p:tgtEl>
                                        <p:attrNameLst>
                                          <p:attrName>ppt_w</p:attrName>
                                        </p:attrNameLst>
                                      </p:cBhvr>
                                      <p:tavLst>
                                        <p:tav tm="0">
                                          <p:val>
                                            <p:fltVal val="0"/>
                                          </p:val>
                                        </p:tav>
                                        <p:tav tm="100000">
                                          <p:val>
                                            <p:strVal val="#ppt_w"/>
                                          </p:val>
                                        </p:tav>
                                      </p:tavLst>
                                    </p:anim>
                                    <p:anim calcmode="lin" valueType="num">
                                      <p:cBhvr>
                                        <p:cTn id="94" dur="500" fill="hold"/>
                                        <p:tgtEl>
                                          <p:spTgt spid="20"/>
                                        </p:tgtEl>
                                        <p:attrNameLst>
                                          <p:attrName>ppt_h</p:attrName>
                                        </p:attrNameLst>
                                      </p:cBhvr>
                                      <p:tavLst>
                                        <p:tav tm="0">
                                          <p:val>
                                            <p:fltVal val="0"/>
                                          </p:val>
                                        </p:tav>
                                        <p:tav tm="100000">
                                          <p:val>
                                            <p:strVal val="#ppt_h"/>
                                          </p:val>
                                        </p:tav>
                                      </p:tavLst>
                                    </p:anim>
                                    <p:animEffect transition="in" filter="fade">
                                      <p:cBhvr>
                                        <p:cTn id="95" dur="500"/>
                                        <p:tgtEl>
                                          <p:spTgt spid="20"/>
                                        </p:tgtEl>
                                      </p:cBhvr>
                                    </p:animEffect>
                                  </p:childTnLst>
                                </p:cTn>
                              </p:par>
                              <p:par>
                                <p:cTn id="101" presetID="53" presetClass="entr" presetSubtype="16" fill="hold" grpId="0" nodeType="withEffect">
                                  <p:stCondLst>
                                    <p:cond delay="150"/>
                                  </p:stCondLst>
                                  <p:childTnLst>
                                    <p:set>
                                      <p:cBhvr>
                                        <p:cTn id="97" dur="1" fill="hold">
                                          <p:stCondLst>
                                            <p:cond delay="0"/>
                                          </p:stCondLst>
                                        </p:cTn>
                                        <p:tgtEl>
                                          <p:spTgt spid="21"/>
                                        </p:tgtEl>
                                        <p:attrNameLst>
                                          <p:attrName>style.visibility</p:attrName>
                                        </p:attrNameLst>
                                      </p:cBhvr>
                                      <p:to>
                                        <p:strVal val="visible"/>
                                      </p:to>
                                    </p:set>
                                    <p:anim calcmode="lin" valueType="num">
                                      <p:cBhvr>
                                        <p:cTn id="98" dur="500" fill="hold"/>
                                        <p:tgtEl>
                                          <p:spTgt spid="21"/>
                                        </p:tgtEl>
                                        <p:attrNameLst>
                                          <p:attrName>ppt_w</p:attrName>
                                        </p:attrNameLst>
                                      </p:cBhvr>
                                      <p:tavLst>
                                        <p:tav tm="0">
                                          <p:val>
                                            <p:fltVal val="0"/>
                                          </p:val>
                                        </p:tav>
                                        <p:tav tm="100000">
                                          <p:val>
                                            <p:strVal val="#ppt_w"/>
                                          </p:val>
                                        </p:tav>
                                      </p:tavLst>
                                    </p:anim>
                                    <p:anim calcmode="lin" valueType="num">
                                      <p:cBhvr>
                                        <p:cTn id="99" dur="500" fill="hold"/>
                                        <p:tgtEl>
                                          <p:spTgt spid="21"/>
                                        </p:tgtEl>
                                        <p:attrNameLst>
                                          <p:attrName>ppt_h</p:attrName>
                                        </p:attrNameLst>
                                      </p:cBhvr>
                                      <p:tavLst>
                                        <p:tav tm="0">
                                          <p:val>
                                            <p:fltVal val="0"/>
                                          </p:val>
                                        </p:tav>
                                        <p:tav tm="100000">
                                          <p:val>
                                            <p:strVal val="#ppt_h"/>
                                          </p:val>
                                        </p:tav>
                                      </p:tavLst>
                                    </p:anim>
                                    <p:animEffect transition="in" filter="fade">
                                      <p:cBhvr>
                                        <p:cTn id="100" dur="500"/>
                                        <p:tgtEl>
                                          <p:spTgt spid="21"/>
                                        </p:tgtEl>
                                      </p:cBhvr>
                                    </p:animEffect>
                                  </p:childTnLst>
                                </p:cTn>
                              </p:par>
                              <p:par>
                                <p:cTn id="106" presetID="53" presetClass="entr" presetSubtype="16" fill="hold" grpId="0" nodeType="withEffect">
                                  <p:stCondLst>
                                    <p:cond delay="150"/>
                                  </p:stCondLst>
                                  <p:childTnLst>
                                    <p:set>
                                      <p:cBhvr>
                                        <p:cTn id="102" dur="1" fill="hold">
                                          <p:stCondLst>
                                            <p:cond delay="0"/>
                                          </p:stCondLst>
                                        </p:cTn>
                                        <p:tgtEl>
                                          <p:spTgt spid="22"/>
                                        </p:tgtEl>
                                        <p:attrNameLst>
                                          <p:attrName>style.visibility</p:attrName>
                                        </p:attrNameLst>
                                      </p:cBhvr>
                                      <p:to>
                                        <p:strVal val="visible"/>
                                      </p:to>
                                    </p:set>
                                    <p:anim calcmode="lin" valueType="num">
                                      <p:cBhvr>
                                        <p:cTn id="103" dur="500" fill="hold"/>
                                        <p:tgtEl>
                                          <p:spTgt spid="22"/>
                                        </p:tgtEl>
                                        <p:attrNameLst>
                                          <p:attrName>ppt_w</p:attrName>
                                        </p:attrNameLst>
                                      </p:cBhvr>
                                      <p:tavLst>
                                        <p:tav tm="0">
                                          <p:val>
                                            <p:fltVal val="0"/>
                                          </p:val>
                                        </p:tav>
                                        <p:tav tm="100000">
                                          <p:val>
                                            <p:strVal val="#ppt_w"/>
                                          </p:val>
                                        </p:tav>
                                      </p:tavLst>
                                    </p:anim>
                                    <p:anim calcmode="lin" valueType="num">
                                      <p:cBhvr>
                                        <p:cTn id="104" dur="500" fill="hold"/>
                                        <p:tgtEl>
                                          <p:spTgt spid="22"/>
                                        </p:tgtEl>
                                        <p:attrNameLst>
                                          <p:attrName>ppt_h</p:attrName>
                                        </p:attrNameLst>
                                      </p:cBhvr>
                                      <p:tavLst>
                                        <p:tav tm="0">
                                          <p:val>
                                            <p:fltVal val="0"/>
                                          </p:val>
                                        </p:tav>
                                        <p:tav tm="100000">
                                          <p:val>
                                            <p:strVal val="#ppt_h"/>
                                          </p:val>
                                        </p:tav>
                                      </p:tavLst>
                                    </p:anim>
                                    <p:animEffect transition="in" filter="fade">
                                      <p:cBhvr>
                                        <p:cTn id="105" dur="500"/>
                                        <p:tgtEl>
                                          <p:spTgt spid="22"/>
                                        </p:tgtEl>
                                      </p:cBhvr>
                                    </p:animEffect>
                                  </p:childTnLst>
                                </p:cTn>
                              </p:par>
                            </p:childTnLst>
                          </p:cTn>
                        </p:par>
                      </p:childTnLst>
                    </p:cTn>
                  </p:par>
                </p:childTnLst>
              </p:cTn>
              <p:nextCondLst>
                <p:cond evt="onClick" delay="0">
                  <p:tgtEl>
                    <p:spTgt spid="23"/>
                  </p:tgtEl>
                </p:cond>
              </p:nextCondLst>
            </p:seq>
            <p:seq concurrent="1" nextAc="seek">
              <p:cTn id="107" restart="whenNotActive" fill="hold" evtFilter="cancelBubble" nodeType="interactiveSeq">
                <p:stCondLst>
                  <p:cond evt="onClick" delay="0">
                    <p:tgtEl>
                      <p:spTgt spid="28"/>
                    </p:tgtEl>
                  </p:cond>
                </p:stCondLst>
                <p:endSync evt="end" delay="0">
                  <p:rtn val="all"/>
                </p:endSync>
                <p:childTnLst>
                  <p:par>
                    <p:cTn id="108" fill="hold">
                      <p:stCondLst>
                        <p:cond delay="0"/>
                      </p:stCondLst>
                      <p:childTnLst>
                        <p:par>
                          <p:cTn id="109" fill="hold">
                            <p:stCondLst>
                              <p:cond delay="0"/>
                            </p:stCondLst>
                            <p:childTnLst>
                              <p:par>
                                <p:cTn id="112" presetID="10" presetClass="exit" presetSubtype="0" fill="hold" grpId="1" nodeType="clickEffect">
                                  <p:stCondLst>
                                    <p:cond delay="0"/>
                                  </p:stCondLst>
                                  <p:childTnLst>
                                    <p:animEffect transition="out" filter="fade">
                                      <p:cBhvr>
                                        <p:cTn id="110" dur="500"/>
                                        <p:tgtEl>
                                          <p:spTgt spid="28"/>
                                        </p:tgtEl>
                                      </p:cBhvr>
                                    </p:animEffect>
                                    <p:set>
                                      <p:cBhvr>
                                        <p:cTn id="111" dur="1" fill="hold">
                                          <p:stCondLst>
                                            <p:cond delay="499"/>
                                          </p:stCondLst>
                                        </p:cTn>
                                        <p:tgtEl>
                                          <p:spTgt spid="28"/>
                                        </p:tgtEl>
                                        <p:attrNameLst>
                                          <p:attrName>style.visibility</p:attrName>
                                        </p:attrNameLst>
                                      </p:cBhvr>
                                      <p:to>
                                        <p:strVal val="hidden"/>
                                      </p:to>
                                    </p:set>
                                  </p:childTnLst>
                                </p:cTn>
                              </p:par>
                              <p:par>
                                <p:cTn id="117" presetID="53" presetClass="entr" presetSubtype="16" fill="hold" grpId="0" nodeType="withEffect">
                                  <p:stCondLst>
                                    <p:cond delay="150"/>
                                  </p:stCondLst>
                                  <p:childTnLst>
                                    <p:set>
                                      <p:cBhvr>
                                        <p:cTn id="113" dur="1" fill="hold">
                                          <p:stCondLst>
                                            <p:cond delay="0"/>
                                          </p:stCondLst>
                                        </p:cTn>
                                        <p:tgtEl>
                                          <p:spTgt spid="24"/>
                                        </p:tgtEl>
                                        <p:attrNameLst>
                                          <p:attrName>style.visibility</p:attrName>
                                        </p:attrNameLst>
                                      </p:cBhvr>
                                      <p:to>
                                        <p:strVal val="visible"/>
                                      </p:to>
                                    </p:set>
                                    <p:anim calcmode="lin" valueType="num">
                                      <p:cBhvr>
                                        <p:cTn id="114" dur="500" fill="hold"/>
                                        <p:tgtEl>
                                          <p:spTgt spid="24"/>
                                        </p:tgtEl>
                                        <p:attrNameLst>
                                          <p:attrName>ppt_w</p:attrName>
                                        </p:attrNameLst>
                                      </p:cBhvr>
                                      <p:tavLst>
                                        <p:tav tm="0">
                                          <p:val>
                                            <p:fltVal val="0"/>
                                          </p:val>
                                        </p:tav>
                                        <p:tav tm="100000">
                                          <p:val>
                                            <p:strVal val="#ppt_w"/>
                                          </p:val>
                                        </p:tav>
                                      </p:tavLst>
                                    </p:anim>
                                    <p:anim calcmode="lin" valueType="num">
                                      <p:cBhvr>
                                        <p:cTn id="115" dur="500" fill="hold"/>
                                        <p:tgtEl>
                                          <p:spTgt spid="24"/>
                                        </p:tgtEl>
                                        <p:attrNameLst>
                                          <p:attrName>ppt_h</p:attrName>
                                        </p:attrNameLst>
                                      </p:cBhvr>
                                      <p:tavLst>
                                        <p:tav tm="0">
                                          <p:val>
                                            <p:fltVal val="0"/>
                                          </p:val>
                                        </p:tav>
                                        <p:tav tm="100000">
                                          <p:val>
                                            <p:strVal val="#ppt_h"/>
                                          </p:val>
                                        </p:tav>
                                      </p:tavLst>
                                    </p:anim>
                                    <p:animEffect transition="in" filter="fade">
                                      <p:cBhvr>
                                        <p:cTn id="116" dur="500"/>
                                        <p:tgtEl>
                                          <p:spTgt spid="24"/>
                                        </p:tgtEl>
                                      </p:cBhvr>
                                    </p:animEffect>
                                  </p:childTnLst>
                                </p:cTn>
                              </p:par>
                              <p:par>
                                <p:cTn id="122" presetID="53" presetClass="entr" presetSubtype="16" fill="hold" grpId="0" nodeType="withEffect">
                                  <p:stCondLst>
                                    <p:cond delay="150"/>
                                  </p:stCondLst>
                                  <p:childTnLst>
                                    <p:set>
                                      <p:cBhvr>
                                        <p:cTn id="118" dur="1" fill="hold">
                                          <p:stCondLst>
                                            <p:cond delay="0"/>
                                          </p:stCondLst>
                                        </p:cTn>
                                        <p:tgtEl>
                                          <p:spTgt spid="25"/>
                                        </p:tgtEl>
                                        <p:attrNameLst>
                                          <p:attrName>style.visibility</p:attrName>
                                        </p:attrNameLst>
                                      </p:cBhvr>
                                      <p:to>
                                        <p:strVal val="visible"/>
                                      </p:to>
                                    </p:set>
                                    <p:anim calcmode="lin" valueType="num">
                                      <p:cBhvr>
                                        <p:cTn id="119" dur="500" fill="hold"/>
                                        <p:tgtEl>
                                          <p:spTgt spid="25"/>
                                        </p:tgtEl>
                                        <p:attrNameLst>
                                          <p:attrName>ppt_w</p:attrName>
                                        </p:attrNameLst>
                                      </p:cBhvr>
                                      <p:tavLst>
                                        <p:tav tm="0">
                                          <p:val>
                                            <p:fltVal val="0"/>
                                          </p:val>
                                        </p:tav>
                                        <p:tav tm="100000">
                                          <p:val>
                                            <p:strVal val="#ppt_w"/>
                                          </p:val>
                                        </p:tav>
                                      </p:tavLst>
                                    </p:anim>
                                    <p:anim calcmode="lin" valueType="num">
                                      <p:cBhvr>
                                        <p:cTn id="120" dur="500" fill="hold"/>
                                        <p:tgtEl>
                                          <p:spTgt spid="25"/>
                                        </p:tgtEl>
                                        <p:attrNameLst>
                                          <p:attrName>ppt_h</p:attrName>
                                        </p:attrNameLst>
                                      </p:cBhvr>
                                      <p:tavLst>
                                        <p:tav tm="0">
                                          <p:val>
                                            <p:fltVal val="0"/>
                                          </p:val>
                                        </p:tav>
                                        <p:tav tm="100000">
                                          <p:val>
                                            <p:strVal val="#ppt_h"/>
                                          </p:val>
                                        </p:tav>
                                      </p:tavLst>
                                    </p:anim>
                                    <p:animEffect transition="in" filter="fade">
                                      <p:cBhvr>
                                        <p:cTn id="121" dur="500"/>
                                        <p:tgtEl>
                                          <p:spTgt spid="25"/>
                                        </p:tgtEl>
                                      </p:cBhvr>
                                    </p:animEffect>
                                  </p:childTnLst>
                                </p:cTn>
                              </p:par>
                              <p:par>
                                <p:cTn id="127" presetID="53" presetClass="entr" presetSubtype="16" fill="hold" grpId="0" nodeType="withEffect">
                                  <p:stCondLst>
                                    <p:cond delay="150"/>
                                  </p:stCondLst>
                                  <p:childTnLst>
                                    <p:set>
                                      <p:cBhvr>
                                        <p:cTn id="123" dur="1" fill="hold">
                                          <p:stCondLst>
                                            <p:cond delay="0"/>
                                          </p:stCondLst>
                                        </p:cTn>
                                        <p:tgtEl>
                                          <p:spTgt spid="26"/>
                                        </p:tgtEl>
                                        <p:attrNameLst>
                                          <p:attrName>style.visibility</p:attrName>
                                        </p:attrNameLst>
                                      </p:cBhvr>
                                      <p:to>
                                        <p:strVal val="visible"/>
                                      </p:to>
                                    </p:set>
                                    <p:anim calcmode="lin" valueType="num">
                                      <p:cBhvr>
                                        <p:cTn id="124" dur="500" fill="hold"/>
                                        <p:tgtEl>
                                          <p:spTgt spid="26"/>
                                        </p:tgtEl>
                                        <p:attrNameLst>
                                          <p:attrName>ppt_w</p:attrName>
                                        </p:attrNameLst>
                                      </p:cBhvr>
                                      <p:tavLst>
                                        <p:tav tm="0">
                                          <p:val>
                                            <p:fltVal val="0"/>
                                          </p:val>
                                        </p:tav>
                                        <p:tav tm="100000">
                                          <p:val>
                                            <p:strVal val="#ppt_w"/>
                                          </p:val>
                                        </p:tav>
                                      </p:tavLst>
                                    </p:anim>
                                    <p:anim calcmode="lin" valueType="num">
                                      <p:cBhvr>
                                        <p:cTn id="125" dur="500" fill="hold"/>
                                        <p:tgtEl>
                                          <p:spTgt spid="26"/>
                                        </p:tgtEl>
                                        <p:attrNameLst>
                                          <p:attrName>ppt_h</p:attrName>
                                        </p:attrNameLst>
                                      </p:cBhvr>
                                      <p:tavLst>
                                        <p:tav tm="0">
                                          <p:val>
                                            <p:fltVal val="0"/>
                                          </p:val>
                                        </p:tav>
                                        <p:tav tm="100000">
                                          <p:val>
                                            <p:strVal val="#ppt_h"/>
                                          </p:val>
                                        </p:tav>
                                      </p:tavLst>
                                    </p:anim>
                                    <p:animEffect transition="in" filter="fade">
                                      <p:cBhvr>
                                        <p:cTn id="126" dur="500"/>
                                        <p:tgtEl>
                                          <p:spTgt spid="26"/>
                                        </p:tgtEl>
                                      </p:cBhvr>
                                    </p:animEffect>
                                  </p:childTnLst>
                                </p:cTn>
                              </p:par>
                              <p:par>
                                <p:cTn id="132" presetID="53" presetClass="entr" presetSubtype="16" fill="hold" grpId="0" nodeType="withEffect">
                                  <p:stCondLst>
                                    <p:cond delay="150"/>
                                  </p:stCondLst>
                                  <p:childTnLst>
                                    <p:set>
                                      <p:cBhvr>
                                        <p:cTn id="128" dur="1" fill="hold">
                                          <p:stCondLst>
                                            <p:cond delay="0"/>
                                          </p:stCondLst>
                                        </p:cTn>
                                        <p:tgtEl>
                                          <p:spTgt spid="27"/>
                                        </p:tgtEl>
                                        <p:attrNameLst>
                                          <p:attrName>style.visibility</p:attrName>
                                        </p:attrNameLst>
                                      </p:cBhvr>
                                      <p:to>
                                        <p:strVal val="visible"/>
                                      </p:to>
                                    </p:set>
                                    <p:anim calcmode="lin" valueType="num">
                                      <p:cBhvr>
                                        <p:cTn id="129" dur="500" fill="hold"/>
                                        <p:tgtEl>
                                          <p:spTgt spid="27"/>
                                        </p:tgtEl>
                                        <p:attrNameLst>
                                          <p:attrName>ppt_w</p:attrName>
                                        </p:attrNameLst>
                                      </p:cBhvr>
                                      <p:tavLst>
                                        <p:tav tm="0">
                                          <p:val>
                                            <p:fltVal val="0"/>
                                          </p:val>
                                        </p:tav>
                                        <p:tav tm="100000">
                                          <p:val>
                                            <p:strVal val="#ppt_w"/>
                                          </p:val>
                                        </p:tav>
                                      </p:tavLst>
                                    </p:anim>
                                    <p:anim calcmode="lin" valueType="num">
                                      <p:cBhvr>
                                        <p:cTn id="130" dur="500" fill="hold"/>
                                        <p:tgtEl>
                                          <p:spTgt spid="27"/>
                                        </p:tgtEl>
                                        <p:attrNameLst>
                                          <p:attrName>ppt_h</p:attrName>
                                        </p:attrNameLst>
                                      </p:cBhvr>
                                      <p:tavLst>
                                        <p:tav tm="0">
                                          <p:val>
                                            <p:fltVal val="0"/>
                                          </p:val>
                                        </p:tav>
                                        <p:tav tm="100000">
                                          <p:val>
                                            <p:strVal val="#ppt_h"/>
                                          </p:val>
                                        </p:tav>
                                      </p:tavLst>
                                    </p:anim>
                                    <p:animEffect transition="in" filter="fade">
                                      <p:cBhvr>
                                        <p:cTn id="131" dur="500"/>
                                        <p:tgtEl>
                                          <p:spTgt spid="27"/>
                                        </p:tgtEl>
                                      </p:cBhvr>
                                    </p:animEffect>
                                  </p:childTnLst>
                                </p:cTn>
                              </p:par>
                            </p:childTnLst>
                          </p:cTn>
                        </p:par>
                      </p:childTnLst>
                    </p:cTn>
                  </p:par>
                </p:childTnLst>
              </p:cTn>
              <p:nextCondLst>
                <p:cond evt="onClick" delay="0">
                  <p:tgtEl>
                    <p:spTgt spid="28"/>
                  </p:tgtEl>
                </p:cond>
              </p:nextCondLst>
            </p:seq>
            <p:seq concurrent="1" nextAc="seek">
              <p:cTn id="133" restart="whenNotActive" fill="hold" evtFilter="cancelBubble" nodeType="interactiveSeq">
                <p:stCondLst>
                  <p:cond evt="onClick" delay="0">
                    <p:tgtEl>
                      <p:spTgt spid="33"/>
                    </p:tgtEl>
                  </p:cond>
                </p:stCondLst>
                <p:endSync evt="end" delay="0">
                  <p:rtn val="all"/>
                </p:endSync>
                <p:childTnLst>
                  <p:par>
                    <p:cTn id="134" fill="hold">
                      <p:stCondLst>
                        <p:cond delay="0"/>
                      </p:stCondLst>
                      <p:childTnLst>
                        <p:par>
                          <p:cTn id="135" fill="hold">
                            <p:stCondLst>
                              <p:cond delay="0"/>
                            </p:stCondLst>
                            <p:childTnLst>
                              <p:par>
                                <p:cTn id="138" presetID="10" presetClass="exit" presetSubtype="0" fill="hold" grpId="1" nodeType="clickEffect">
                                  <p:stCondLst>
                                    <p:cond delay="0"/>
                                  </p:stCondLst>
                                  <p:childTnLst>
                                    <p:animEffect transition="out" filter="fade">
                                      <p:cBhvr>
                                        <p:cTn id="136" dur="500"/>
                                        <p:tgtEl>
                                          <p:spTgt spid="33"/>
                                        </p:tgtEl>
                                      </p:cBhvr>
                                    </p:animEffect>
                                    <p:set>
                                      <p:cBhvr>
                                        <p:cTn id="137" dur="1" fill="hold">
                                          <p:stCondLst>
                                            <p:cond delay="499"/>
                                          </p:stCondLst>
                                        </p:cTn>
                                        <p:tgtEl>
                                          <p:spTgt spid="33"/>
                                        </p:tgtEl>
                                        <p:attrNameLst>
                                          <p:attrName>style.visibility</p:attrName>
                                        </p:attrNameLst>
                                      </p:cBhvr>
                                      <p:to>
                                        <p:strVal val="hidden"/>
                                      </p:to>
                                    </p:set>
                                  </p:childTnLst>
                                </p:cTn>
                              </p:par>
                              <p:par>
                                <p:cTn id="143" presetID="53" presetClass="entr" presetSubtype="16" fill="hold" grpId="0" nodeType="withEffect">
                                  <p:stCondLst>
                                    <p:cond delay="150"/>
                                  </p:stCondLst>
                                  <p:childTnLst>
                                    <p:set>
                                      <p:cBhvr>
                                        <p:cTn id="139" dur="1" fill="hold">
                                          <p:stCondLst>
                                            <p:cond delay="0"/>
                                          </p:stCondLst>
                                        </p:cTn>
                                        <p:tgtEl>
                                          <p:spTgt spid="29"/>
                                        </p:tgtEl>
                                        <p:attrNameLst>
                                          <p:attrName>style.visibility</p:attrName>
                                        </p:attrNameLst>
                                      </p:cBhvr>
                                      <p:to>
                                        <p:strVal val="visible"/>
                                      </p:to>
                                    </p:set>
                                    <p:anim calcmode="lin" valueType="num">
                                      <p:cBhvr>
                                        <p:cTn id="140" dur="500" fill="hold"/>
                                        <p:tgtEl>
                                          <p:spTgt spid="29"/>
                                        </p:tgtEl>
                                        <p:attrNameLst>
                                          <p:attrName>ppt_w</p:attrName>
                                        </p:attrNameLst>
                                      </p:cBhvr>
                                      <p:tavLst>
                                        <p:tav tm="0">
                                          <p:val>
                                            <p:fltVal val="0"/>
                                          </p:val>
                                        </p:tav>
                                        <p:tav tm="100000">
                                          <p:val>
                                            <p:strVal val="#ppt_w"/>
                                          </p:val>
                                        </p:tav>
                                      </p:tavLst>
                                    </p:anim>
                                    <p:anim calcmode="lin" valueType="num">
                                      <p:cBhvr>
                                        <p:cTn id="141" dur="500" fill="hold"/>
                                        <p:tgtEl>
                                          <p:spTgt spid="29"/>
                                        </p:tgtEl>
                                        <p:attrNameLst>
                                          <p:attrName>ppt_h</p:attrName>
                                        </p:attrNameLst>
                                      </p:cBhvr>
                                      <p:tavLst>
                                        <p:tav tm="0">
                                          <p:val>
                                            <p:fltVal val="0"/>
                                          </p:val>
                                        </p:tav>
                                        <p:tav tm="100000">
                                          <p:val>
                                            <p:strVal val="#ppt_h"/>
                                          </p:val>
                                        </p:tav>
                                      </p:tavLst>
                                    </p:anim>
                                    <p:animEffect transition="in" filter="fade">
                                      <p:cBhvr>
                                        <p:cTn id="142" dur="500"/>
                                        <p:tgtEl>
                                          <p:spTgt spid="29"/>
                                        </p:tgtEl>
                                      </p:cBhvr>
                                    </p:animEffect>
                                  </p:childTnLst>
                                </p:cTn>
                              </p:par>
                              <p:par>
                                <p:cTn id="148" presetID="53" presetClass="entr" presetSubtype="16" fill="hold" grpId="0" nodeType="withEffect">
                                  <p:stCondLst>
                                    <p:cond delay="150"/>
                                  </p:stCondLst>
                                  <p:childTnLst>
                                    <p:set>
                                      <p:cBhvr>
                                        <p:cTn id="144" dur="1" fill="hold">
                                          <p:stCondLst>
                                            <p:cond delay="0"/>
                                          </p:stCondLst>
                                        </p:cTn>
                                        <p:tgtEl>
                                          <p:spTgt spid="30"/>
                                        </p:tgtEl>
                                        <p:attrNameLst>
                                          <p:attrName>style.visibility</p:attrName>
                                        </p:attrNameLst>
                                      </p:cBhvr>
                                      <p:to>
                                        <p:strVal val="visible"/>
                                      </p:to>
                                    </p:set>
                                    <p:anim calcmode="lin" valueType="num">
                                      <p:cBhvr>
                                        <p:cTn id="145" dur="500" fill="hold"/>
                                        <p:tgtEl>
                                          <p:spTgt spid="30"/>
                                        </p:tgtEl>
                                        <p:attrNameLst>
                                          <p:attrName>ppt_w</p:attrName>
                                        </p:attrNameLst>
                                      </p:cBhvr>
                                      <p:tavLst>
                                        <p:tav tm="0">
                                          <p:val>
                                            <p:fltVal val="0"/>
                                          </p:val>
                                        </p:tav>
                                        <p:tav tm="100000">
                                          <p:val>
                                            <p:strVal val="#ppt_w"/>
                                          </p:val>
                                        </p:tav>
                                      </p:tavLst>
                                    </p:anim>
                                    <p:anim calcmode="lin" valueType="num">
                                      <p:cBhvr>
                                        <p:cTn id="146" dur="500" fill="hold"/>
                                        <p:tgtEl>
                                          <p:spTgt spid="30"/>
                                        </p:tgtEl>
                                        <p:attrNameLst>
                                          <p:attrName>ppt_h</p:attrName>
                                        </p:attrNameLst>
                                      </p:cBhvr>
                                      <p:tavLst>
                                        <p:tav tm="0">
                                          <p:val>
                                            <p:fltVal val="0"/>
                                          </p:val>
                                        </p:tav>
                                        <p:tav tm="100000">
                                          <p:val>
                                            <p:strVal val="#ppt_h"/>
                                          </p:val>
                                        </p:tav>
                                      </p:tavLst>
                                    </p:anim>
                                    <p:animEffect transition="in" filter="fade">
                                      <p:cBhvr>
                                        <p:cTn id="147" dur="500"/>
                                        <p:tgtEl>
                                          <p:spTgt spid="30"/>
                                        </p:tgtEl>
                                      </p:cBhvr>
                                    </p:animEffect>
                                  </p:childTnLst>
                                </p:cTn>
                              </p:par>
                              <p:par>
                                <p:cTn id="153" presetID="53" presetClass="entr" presetSubtype="16" fill="hold" grpId="0" nodeType="withEffect">
                                  <p:stCondLst>
                                    <p:cond delay="150"/>
                                  </p:stCondLst>
                                  <p:childTnLst>
                                    <p:set>
                                      <p:cBhvr>
                                        <p:cTn id="149" dur="1" fill="hold">
                                          <p:stCondLst>
                                            <p:cond delay="0"/>
                                          </p:stCondLst>
                                        </p:cTn>
                                        <p:tgtEl>
                                          <p:spTgt spid="31"/>
                                        </p:tgtEl>
                                        <p:attrNameLst>
                                          <p:attrName>style.visibility</p:attrName>
                                        </p:attrNameLst>
                                      </p:cBhvr>
                                      <p:to>
                                        <p:strVal val="visible"/>
                                      </p:to>
                                    </p:set>
                                    <p:anim calcmode="lin" valueType="num">
                                      <p:cBhvr>
                                        <p:cTn id="150" dur="500" fill="hold"/>
                                        <p:tgtEl>
                                          <p:spTgt spid="31"/>
                                        </p:tgtEl>
                                        <p:attrNameLst>
                                          <p:attrName>ppt_w</p:attrName>
                                        </p:attrNameLst>
                                      </p:cBhvr>
                                      <p:tavLst>
                                        <p:tav tm="0">
                                          <p:val>
                                            <p:fltVal val="0"/>
                                          </p:val>
                                        </p:tav>
                                        <p:tav tm="100000">
                                          <p:val>
                                            <p:strVal val="#ppt_w"/>
                                          </p:val>
                                        </p:tav>
                                      </p:tavLst>
                                    </p:anim>
                                    <p:anim calcmode="lin" valueType="num">
                                      <p:cBhvr>
                                        <p:cTn id="151" dur="500" fill="hold"/>
                                        <p:tgtEl>
                                          <p:spTgt spid="31"/>
                                        </p:tgtEl>
                                        <p:attrNameLst>
                                          <p:attrName>ppt_h</p:attrName>
                                        </p:attrNameLst>
                                      </p:cBhvr>
                                      <p:tavLst>
                                        <p:tav tm="0">
                                          <p:val>
                                            <p:fltVal val="0"/>
                                          </p:val>
                                        </p:tav>
                                        <p:tav tm="100000">
                                          <p:val>
                                            <p:strVal val="#ppt_h"/>
                                          </p:val>
                                        </p:tav>
                                      </p:tavLst>
                                    </p:anim>
                                    <p:animEffect transition="in" filter="fade">
                                      <p:cBhvr>
                                        <p:cTn id="152" dur="500"/>
                                        <p:tgtEl>
                                          <p:spTgt spid="31"/>
                                        </p:tgtEl>
                                      </p:cBhvr>
                                    </p:animEffect>
                                  </p:childTnLst>
                                </p:cTn>
                              </p:par>
                              <p:par>
                                <p:cTn id="158" presetID="53" presetClass="entr" presetSubtype="16" fill="hold" grpId="0" nodeType="withEffect">
                                  <p:stCondLst>
                                    <p:cond delay="150"/>
                                  </p:stCondLst>
                                  <p:childTnLst>
                                    <p:set>
                                      <p:cBhvr>
                                        <p:cTn id="154" dur="1" fill="hold">
                                          <p:stCondLst>
                                            <p:cond delay="0"/>
                                          </p:stCondLst>
                                        </p:cTn>
                                        <p:tgtEl>
                                          <p:spTgt spid="32"/>
                                        </p:tgtEl>
                                        <p:attrNameLst>
                                          <p:attrName>style.visibility</p:attrName>
                                        </p:attrNameLst>
                                      </p:cBhvr>
                                      <p:to>
                                        <p:strVal val="visible"/>
                                      </p:to>
                                    </p:set>
                                    <p:anim calcmode="lin" valueType="num">
                                      <p:cBhvr>
                                        <p:cTn id="155" dur="500" fill="hold"/>
                                        <p:tgtEl>
                                          <p:spTgt spid="32"/>
                                        </p:tgtEl>
                                        <p:attrNameLst>
                                          <p:attrName>ppt_w</p:attrName>
                                        </p:attrNameLst>
                                      </p:cBhvr>
                                      <p:tavLst>
                                        <p:tav tm="0">
                                          <p:val>
                                            <p:fltVal val="0"/>
                                          </p:val>
                                        </p:tav>
                                        <p:tav tm="100000">
                                          <p:val>
                                            <p:strVal val="#ppt_w"/>
                                          </p:val>
                                        </p:tav>
                                      </p:tavLst>
                                    </p:anim>
                                    <p:anim calcmode="lin" valueType="num">
                                      <p:cBhvr>
                                        <p:cTn id="156" dur="500" fill="hold"/>
                                        <p:tgtEl>
                                          <p:spTgt spid="32"/>
                                        </p:tgtEl>
                                        <p:attrNameLst>
                                          <p:attrName>ppt_h</p:attrName>
                                        </p:attrNameLst>
                                      </p:cBhvr>
                                      <p:tavLst>
                                        <p:tav tm="0">
                                          <p:val>
                                            <p:fltVal val="0"/>
                                          </p:val>
                                        </p:tav>
                                        <p:tav tm="100000">
                                          <p:val>
                                            <p:strVal val="#ppt_h"/>
                                          </p:val>
                                        </p:tav>
                                      </p:tavLst>
                                    </p:anim>
                                    <p:animEffect transition="in" filter="fade">
                                      <p:cBhvr>
                                        <p:cTn id="157" dur="500"/>
                                        <p:tgtEl>
                                          <p:spTgt spid="32"/>
                                        </p:tgtEl>
                                      </p:cBhvr>
                                    </p:animEffect>
                                  </p:childTnLst>
                                </p:cTn>
                              </p:par>
                            </p:childTnLst>
                          </p:cTn>
                        </p:par>
                      </p:childTnLst>
                    </p:cTn>
                  </p:par>
                </p:childTnLst>
              </p:cTn>
              <p:nextCondLst>
                <p:cond evt="onClick" delay="0">
                  <p:tgtEl>
                    <p:spTgt spid="33"/>
                  </p:tgtEl>
                </p:cond>
              </p:nextCondLst>
            </p:seq>
            <p:seq concurrent="1" nextAc="seek">
              <p:cTn id="159" restart="whenNotActive" fill="hold" evtFilter="cancelBubble" nodeType="interactiveSeq">
                <p:stCondLst>
                  <p:cond evt="onClick" delay="0">
                    <p:tgtEl>
                      <p:spTgt spid="38"/>
                    </p:tgtEl>
                  </p:cond>
                </p:stCondLst>
                <p:endSync evt="end" delay="0">
                  <p:rtn val="all"/>
                </p:endSync>
                <p:childTnLst>
                  <p:par>
                    <p:cTn id="160" fill="hold">
                      <p:stCondLst>
                        <p:cond delay="0"/>
                      </p:stCondLst>
                      <p:childTnLst>
                        <p:par>
                          <p:cTn id="161" fill="hold">
                            <p:stCondLst>
                              <p:cond delay="0"/>
                            </p:stCondLst>
                            <p:childTnLst>
                              <p:par>
                                <p:cTn id="164" presetID="10" presetClass="exit" presetSubtype="0" fill="hold" grpId="1" nodeType="clickEffect">
                                  <p:stCondLst>
                                    <p:cond delay="0"/>
                                  </p:stCondLst>
                                  <p:childTnLst>
                                    <p:animEffect transition="out" filter="fade">
                                      <p:cBhvr>
                                        <p:cTn id="162" dur="500"/>
                                        <p:tgtEl>
                                          <p:spTgt spid="38"/>
                                        </p:tgtEl>
                                      </p:cBhvr>
                                    </p:animEffect>
                                    <p:set>
                                      <p:cBhvr>
                                        <p:cTn id="163" dur="1" fill="hold">
                                          <p:stCondLst>
                                            <p:cond delay="499"/>
                                          </p:stCondLst>
                                        </p:cTn>
                                        <p:tgtEl>
                                          <p:spTgt spid="38"/>
                                        </p:tgtEl>
                                        <p:attrNameLst>
                                          <p:attrName>style.visibility</p:attrName>
                                        </p:attrNameLst>
                                      </p:cBhvr>
                                      <p:to>
                                        <p:strVal val="hidden"/>
                                      </p:to>
                                    </p:set>
                                  </p:childTnLst>
                                </p:cTn>
                              </p:par>
                              <p:par>
                                <p:cTn id="169" presetID="53" presetClass="entr" presetSubtype="16" fill="hold" grpId="0" nodeType="withEffect">
                                  <p:stCondLst>
                                    <p:cond delay="150"/>
                                  </p:stCondLst>
                                  <p:childTnLst>
                                    <p:set>
                                      <p:cBhvr>
                                        <p:cTn id="165" dur="1" fill="hold">
                                          <p:stCondLst>
                                            <p:cond delay="0"/>
                                          </p:stCondLst>
                                        </p:cTn>
                                        <p:tgtEl>
                                          <p:spTgt spid="34"/>
                                        </p:tgtEl>
                                        <p:attrNameLst>
                                          <p:attrName>style.visibility</p:attrName>
                                        </p:attrNameLst>
                                      </p:cBhvr>
                                      <p:to>
                                        <p:strVal val="visible"/>
                                      </p:to>
                                    </p:set>
                                    <p:anim calcmode="lin" valueType="num">
                                      <p:cBhvr>
                                        <p:cTn id="166" dur="500" fill="hold"/>
                                        <p:tgtEl>
                                          <p:spTgt spid="34"/>
                                        </p:tgtEl>
                                        <p:attrNameLst>
                                          <p:attrName>ppt_w</p:attrName>
                                        </p:attrNameLst>
                                      </p:cBhvr>
                                      <p:tavLst>
                                        <p:tav tm="0">
                                          <p:val>
                                            <p:fltVal val="0"/>
                                          </p:val>
                                        </p:tav>
                                        <p:tav tm="100000">
                                          <p:val>
                                            <p:strVal val="#ppt_w"/>
                                          </p:val>
                                        </p:tav>
                                      </p:tavLst>
                                    </p:anim>
                                    <p:anim calcmode="lin" valueType="num">
                                      <p:cBhvr>
                                        <p:cTn id="167" dur="500" fill="hold"/>
                                        <p:tgtEl>
                                          <p:spTgt spid="34"/>
                                        </p:tgtEl>
                                        <p:attrNameLst>
                                          <p:attrName>ppt_h</p:attrName>
                                        </p:attrNameLst>
                                      </p:cBhvr>
                                      <p:tavLst>
                                        <p:tav tm="0">
                                          <p:val>
                                            <p:fltVal val="0"/>
                                          </p:val>
                                        </p:tav>
                                        <p:tav tm="100000">
                                          <p:val>
                                            <p:strVal val="#ppt_h"/>
                                          </p:val>
                                        </p:tav>
                                      </p:tavLst>
                                    </p:anim>
                                    <p:animEffect transition="in" filter="fade">
                                      <p:cBhvr>
                                        <p:cTn id="168" dur="500"/>
                                        <p:tgtEl>
                                          <p:spTgt spid="34"/>
                                        </p:tgtEl>
                                      </p:cBhvr>
                                    </p:animEffect>
                                  </p:childTnLst>
                                </p:cTn>
                              </p:par>
                              <p:par>
                                <p:cTn id="174" presetID="53" presetClass="entr" presetSubtype="16" fill="hold" grpId="0" nodeType="withEffect">
                                  <p:stCondLst>
                                    <p:cond delay="150"/>
                                  </p:stCondLst>
                                  <p:childTnLst>
                                    <p:set>
                                      <p:cBhvr>
                                        <p:cTn id="170" dur="1" fill="hold">
                                          <p:stCondLst>
                                            <p:cond delay="0"/>
                                          </p:stCondLst>
                                        </p:cTn>
                                        <p:tgtEl>
                                          <p:spTgt spid="35"/>
                                        </p:tgtEl>
                                        <p:attrNameLst>
                                          <p:attrName>style.visibility</p:attrName>
                                        </p:attrNameLst>
                                      </p:cBhvr>
                                      <p:to>
                                        <p:strVal val="visible"/>
                                      </p:to>
                                    </p:set>
                                    <p:anim calcmode="lin" valueType="num">
                                      <p:cBhvr>
                                        <p:cTn id="171" dur="500" fill="hold"/>
                                        <p:tgtEl>
                                          <p:spTgt spid="35"/>
                                        </p:tgtEl>
                                        <p:attrNameLst>
                                          <p:attrName>ppt_w</p:attrName>
                                        </p:attrNameLst>
                                      </p:cBhvr>
                                      <p:tavLst>
                                        <p:tav tm="0">
                                          <p:val>
                                            <p:fltVal val="0"/>
                                          </p:val>
                                        </p:tav>
                                        <p:tav tm="100000">
                                          <p:val>
                                            <p:strVal val="#ppt_w"/>
                                          </p:val>
                                        </p:tav>
                                      </p:tavLst>
                                    </p:anim>
                                    <p:anim calcmode="lin" valueType="num">
                                      <p:cBhvr>
                                        <p:cTn id="172" dur="500" fill="hold"/>
                                        <p:tgtEl>
                                          <p:spTgt spid="35"/>
                                        </p:tgtEl>
                                        <p:attrNameLst>
                                          <p:attrName>ppt_h</p:attrName>
                                        </p:attrNameLst>
                                      </p:cBhvr>
                                      <p:tavLst>
                                        <p:tav tm="0">
                                          <p:val>
                                            <p:fltVal val="0"/>
                                          </p:val>
                                        </p:tav>
                                        <p:tav tm="100000">
                                          <p:val>
                                            <p:strVal val="#ppt_h"/>
                                          </p:val>
                                        </p:tav>
                                      </p:tavLst>
                                    </p:anim>
                                    <p:animEffect transition="in" filter="fade">
                                      <p:cBhvr>
                                        <p:cTn id="173" dur="500"/>
                                        <p:tgtEl>
                                          <p:spTgt spid="35"/>
                                        </p:tgtEl>
                                      </p:cBhvr>
                                    </p:animEffect>
                                  </p:childTnLst>
                                </p:cTn>
                              </p:par>
                              <p:par>
                                <p:cTn id="179" presetID="53" presetClass="entr" presetSubtype="16" fill="hold" grpId="0" nodeType="withEffect">
                                  <p:stCondLst>
                                    <p:cond delay="150"/>
                                  </p:stCondLst>
                                  <p:childTnLst>
                                    <p:set>
                                      <p:cBhvr>
                                        <p:cTn id="175" dur="1" fill="hold">
                                          <p:stCondLst>
                                            <p:cond delay="0"/>
                                          </p:stCondLst>
                                        </p:cTn>
                                        <p:tgtEl>
                                          <p:spTgt spid="36"/>
                                        </p:tgtEl>
                                        <p:attrNameLst>
                                          <p:attrName>style.visibility</p:attrName>
                                        </p:attrNameLst>
                                      </p:cBhvr>
                                      <p:to>
                                        <p:strVal val="visible"/>
                                      </p:to>
                                    </p:set>
                                    <p:anim calcmode="lin" valueType="num">
                                      <p:cBhvr>
                                        <p:cTn id="176" dur="500" fill="hold"/>
                                        <p:tgtEl>
                                          <p:spTgt spid="36"/>
                                        </p:tgtEl>
                                        <p:attrNameLst>
                                          <p:attrName>ppt_w</p:attrName>
                                        </p:attrNameLst>
                                      </p:cBhvr>
                                      <p:tavLst>
                                        <p:tav tm="0">
                                          <p:val>
                                            <p:fltVal val="0"/>
                                          </p:val>
                                        </p:tav>
                                        <p:tav tm="100000">
                                          <p:val>
                                            <p:strVal val="#ppt_w"/>
                                          </p:val>
                                        </p:tav>
                                      </p:tavLst>
                                    </p:anim>
                                    <p:anim calcmode="lin" valueType="num">
                                      <p:cBhvr>
                                        <p:cTn id="177" dur="500" fill="hold"/>
                                        <p:tgtEl>
                                          <p:spTgt spid="36"/>
                                        </p:tgtEl>
                                        <p:attrNameLst>
                                          <p:attrName>ppt_h</p:attrName>
                                        </p:attrNameLst>
                                      </p:cBhvr>
                                      <p:tavLst>
                                        <p:tav tm="0">
                                          <p:val>
                                            <p:fltVal val="0"/>
                                          </p:val>
                                        </p:tav>
                                        <p:tav tm="100000">
                                          <p:val>
                                            <p:strVal val="#ppt_h"/>
                                          </p:val>
                                        </p:tav>
                                      </p:tavLst>
                                    </p:anim>
                                    <p:animEffect transition="in" filter="fade">
                                      <p:cBhvr>
                                        <p:cTn id="178" dur="500"/>
                                        <p:tgtEl>
                                          <p:spTgt spid="36"/>
                                        </p:tgtEl>
                                      </p:cBhvr>
                                    </p:animEffect>
                                  </p:childTnLst>
                                </p:cTn>
                              </p:par>
                              <p:par>
                                <p:cTn id="184" presetID="53" presetClass="entr" presetSubtype="16" fill="hold" grpId="0" nodeType="withEffect">
                                  <p:stCondLst>
                                    <p:cond delay="150"/>
                                  </p:stCondLst>
                                  <p:childTnLst>
                                    <p:set>
                                      <p:cBhvr>
                                        <p:cTn id="180" dur="1" fill="hold">
                                          <p:stCondLst>
                                            <p:cond delay="0"/>
                                          </p:stCondLst>
                                        </p:cTn>
                                        <p:tgtEl>
                                          <p:spTgt spid="37"/>
                                        </p:tgtEl>
                                        <p:attrNameLst>
                                          <p:attrName>style.visibility</p:attrName>
                                        </p:attrNameLst>
                                      </p:cBhvr>
                                      <p:to>
                                        <p:strVal val="visible"/>
                                      </p:to>
                                    </p:set>
                                    <p:anim calcmode="lin" valueType="num">
                                      <p:cBhvr>
                                        <p:cTn id="181" dur="500" fill="hold"/>
                                        <p:tgtEl>
                                          <p:spTgt spid="37"/>
                                        </p:tgtEl>
                                        <p:attrNameLst>
                                          <p:attrName>ppt_w</p:attrName>
                                        </p:attrNameLst>
                                      </p:cBhvr>
                                      <p:tavLst>
                                        <p:tav tm="0">
                                          <p:val>
                                            <p:fltVal val="0"/>
                                          </p:val>
                                        </p:tav>
                                        <p:tav tm="100000">
                                          <p:val>
                                            <p:strVal val="#ppt_w"/>
                                          </p:val>
                                        </p:tav>
                                      </p:tavLst>
                                    </p:anim>
                                    <p:anim calcmode="lin" valueType="num">
                                      <p:cBhvr>
                                        <p:cTn id="182" dur="500" fill="hold"/>
                                        <p:tgtEl>
                                          <p:spTgt spid="37"/>
                                        </p:tgtEl>
                                        <p:attrNameLst>
                                          <p:attrName>ppt_h</p:attrName>
                                        </p:attrNameLst>
                                      </p:cBhvr>
                                      <p:tavLst>
                                        <p:tav tm="0">
                                          <p:val>
                                            <p:fltVal val="0"/>
                                          </p:val>
                                        </p:tav>
                                        <p:tav tm="100000">
                                          <p:val>
                                            <p:strVal val="#ppt_h"/>
                                          </p:val>
                                        </p:tav>
                                      </p:tavLst>
                                    </p:anim>
                                    <p:animEffect transition="in" filter="fade">
                                      <p:cBhvr>
                                        <p:cTn id="183" dur="500"/>
                                        <p:tgtEl>
                                          <p:spTgt spid="37"/>
                                        </p:tgtEl>
                                      </p:cBhvr>
                                    </p:animEffect>
                                  </p:childTnLst>
                                </p:cTn>
                              </p:par>
                            </p:childTnLst>
                          </p:cTn>
                        </p:par>
                      </p:childTnLst>
                    </p:cTn>
                  </p:par>
                </p:childTnLst>
              </p:cTn>
              <p:nextCondLst>
                <p:cond evt="onClick" delay="0">
                  <p:tgtEl>
                    <p:spTgt spid="38"/>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5_title" descr="أنظر وأتساءل">    </p:cNvPr>
          <p:cNvPicPr>
            <a:picLocks noChangeAspect="1"/>
          </p:cNvPicPr>
          <p:nvPr/>
        </p:nvPicPr>
        <p:blipFill>
          <a:blip r:embed="rId2"/>
          <a:stretch>
            <a:fillRect/>
          </a:stretch>
        </p:blipFill>
        <p:spPr>
          <a:xfrm>
            <a:off x="8772829" y="109728"/>
            <a:ext cx="3068651" cy="868680"/>
          </a:xfrm>
          <a:prstGeom prst="rect">
            <a:avLst/>
          </a:prstGeom>
        </p:spPr>
      </p:pic>
      <p:sp>
        <p:nvSpPr>
          <p:cNvPr id="3" name="s5_strategy"/>
          <p:cNvSpPr txBox="1"/>
          <p:nvPr/>
        </p:nvSpPr>
        <p:spPr>
          <a:xfrm>
            <a:off x="411480" y="274320"/>
            <a:ext cx="461772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أنظر وأتساءل – التوقع</a:t>
            </a:r>
            <a:endParaRPr lang="ar-SA" sz="1700" dirty="0"/>
          </a:p>
        </p:txBody>
      </p:sp>
      <p:pic>
        <p:nvPicPr>
          <p:cNvPr id="4" name="s5_pic_1" descr="/tmp/claude-0/-home-user-Scienceshamah/8386cda7-7741-5ea4-8952-60ee8e67fc31/scratchpad/w3/img/card_945x615_FFFFFF_s_i.png">    </p:cNvPr>
          <p:cNvPicPr>
            <a:picLocks noChangeAspect="1"/>
          </p:cNvPicPr>
          <p:nvPr/>
        </p:nvPicPr>
        <p:blipFill>
          <a:blip r:embed="rId3"/>
          <a:stretch>
            <a:fillRect/>
          </a:stretch>
        </p:blipFill>
        <p:spPr>
          <a:xfrm>
            <a:off x="411480" y="1051560"/>
            <a:ext cx="5760720" cy="3749040"/>
          </a:xfrm>
          <a:prstGeom prst="rect">
            <a:avLst/>
          </a:prstGeom>
        </p:spPr>
      </p:pic>
      <p:pic>
        <p:nvPicPr>
          <p:cNvPr id="5" name="!!cover" descr="ثعبان يصطاد سحلية (من كتاب الطالبة ص١٠٨)">    </p:cNvPr>
          <p:cNvPicPr>
            <a:picLocks noChangeAspect="1"/>
          </p:cNvPicPr>
          <p:nvPr/>
        </p:nvPicPr>
        <p:blipFill>
          <a:blip r:embed="rId4"/>
          <a:stretch>
            <a:fillRect/>
          </a:stretch>
        </p:blipFill>
        <p:spPr>
          <a:xfrm>
            <a:off x="566928" y="1188720"/>
            <a:ext cx="5440680" cy="2992374"/>
          </a:xfrm>
          <a:prstGeom prst="rect">
            <a:avLst/>
          </a:prstGeom>
        </p:spPr>
      </p:pic>
      <p:pic>
        <p:nvPicPr>
          <p:cNvPr id="6" name="s5_pic_2" descr="/tmp/claude-0/-home-user-Scienceshamah/8386cda7-7741-5ea4-8952-60ee8e67fc31/scratchpad/w3/img/card_878x413_FFC48C_s_i.png">    </p:cNvPr>
          <p:cNvPicPr>
            <a:picLocks noChangeAspect="1"/>
          </p:cNvPicPr>
          <p:nvPr/>
        </p:nvPicPr>
        <p:blipFill>
          <a:blip r:embed="rId5"/>
          <a:stretch>
            <a:fillRect/>
          </a:stretch>
        </p:blipFill>
        <p:spPr>
          <a:xfrm>
            <a:off x="6400800" y="1051560"/>
            <a:ext cx="5349240" cy="2514600"/>
          </a:xfrm>
          <a:prstGeom prst="rect">
            <a:avLst/>
          </a:prstGeom>
        </p:spPr>
      </p:pic>
      <p:sp>
        <p:nvSpPr>
          <p:cNvPr id="7" name="s5_t_3"/>
          <p:cNvSpPr txBox="1"/>
          <p:nvPr/>
        </p:nvSpPr>
        <p:spPr>
          <a:xfrm>
            <a:off x="6583680" y="1115568"/>
            <a:ext cx="4983480" cy="2377440"/>
          </a:xfrm>
          <a:prstGeom prst="rect">
            <a:avLst/>
          </a:prstGeom>
          <a:noFill/>
          <a:ln/>
        </p:spPr>
        <p:txBody>
          <a:bodyPr wrap="square" lIns="762" tIns="762" rIns="762" bIns="762" rtlCol="0" anchor="ctr"/>
          <a:lstStyle/>
          <a:p>
            <a:pPr rtl="1" algn="r" indent="0" marL="0">
              <a:lnSpc>
                <a:spcPct val="120000"/>
              </a:lnSpc>
              <a:buNone/>
            </a:pPr>
            <a:r>
              <a:rPr lang="ar-SA" altLang="en-US" sz="2100" b="1" dirty="0">
                <a:solidFill>
                  <a:srgbClr val="34405E"/>
                </a:solidFill>
                <a:latin typeface="Tahoma" pitchFamily="34" charset="0"/>
                <a:ea typeface="Tahoma" pitchFamily="34" charset="-122"/>
                <a:cs typeface="Tahoma" pitchFamily="34" charset="-120"/>
              </a:rPr>
              <a:t>اصطاد الثعبانُ السحليةَ؛ فالسحليةُ هي الفريسة، وكلاهما يحتاج إلى الطاقة ليعيش وينمو.</a:t>
            </a:r>
            <a:endParaRPr lang="ar-SA" sz="2100" dirty="0"/>
          </a:p>
          <a:p>
            <a:pPr rtl="1" algn="r" indent="0" marL="0">
              <a:lnSpc>
                <a:spcPct val="120000"/>
              </a:lnSpc>
              <a:buNone/>
            </a:pPr>
            <a:r>
              <a:rPr lang="ar-SA" altLang="en-US" sz="2100" b="1" dirty="0">
                <a:solidFill>
                  <a:srgbClr val="C2366F"/>
                </a:solidFill>
                <a:latin typeface="Tahoma" pitchFamily="34" charset="0"/>
                <a:ea typeface="Tahoma" pitchFamily="34" charset="-122"/>
                <a:cs typeface="Tahoma" pitchFamily="34" charset="-120"/>
              </a:rPr>
              <a:t>فما مصدر هذه الطاقة؟</a:t>
            </a:r>
            <a:endParaRPr lang="ar-SA" sz="2100" dirty="0"/>
          </a:p>
        </p:txBody>
      </p:sp>
      <p:sp>
        <p:nvSpPr>
          <p:cNvPr id="8" name="s5_t_4"/>
          <p:cNvSpPr txBox="1"/>
          <p:nvPr/>
        </p:nvSpPr>
        <p:spPr>
          <a:xfrm>
            <a:off x="6949440" y="3703320"/>
            <a:ext cx="4206240" cy="502920"/>
          </a:xfrm>
          <a:prstGeom prst="roundRect">
            <a:avLst>
              <a:gd name="adj" fmla="val 50000"/>
            </a:avLst>
          </a:prstGeom>
          <a:solidFill>
            <a:srgbClr val="FFFFFF"/>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 توقّعي... ثم ناقشي زميلتك</a:t>
            </a:r>
            <a:endParaRPr lang="ar-SA" sz="1800" dirty="0"/>
          </a:p>
        </p:txBody>
      </p:sp>
      <p:pic>
        <p:nvPicPr>
          <p:cNvPr id="9" name="s5_pic_5" descr="/tmp/claude-0/-home-user-Scienceshamah/8386cda7-7741-5ea4-8952-60ee8e67fc31/scratchpad/w3/img/card_1860x203_B8F28A_s_i.png">    </p:cNvPr>
          <p:cNvPicPr>
            <a:picLocks noChangeAspect="1"/>
          </p:cNvPicPr>
          <p:nvPr/>
        </p:nvPicPr>
        <p:blipFill>
          <a:blip r:embed="rId6"/>
          <a:stretch>
            <a:fillRect/>
          </a:stretch>
        </p:blipFill>
        <p:spPr>
          <a:xfrm>
            <a:off x="411480" y="4937760"/>
            <a:ext cx="11338560" cy="1234440"/>
          </a:xfrm>
          <a:prstGeom prst="rect">
            <a:avLst/>
          </a:prstGeom>
        </p:spPr>
      </p:pic>
      <p:sp>
        <p:nvSpPr>
          <p:cNvPr id="10" name="s5_t_6"/>
          <p:cNvSpPr txBox="1"/>
          <p:nvPr/>
        </p:nvSpPr>
        <p:spPr>
          <a:xfrm>
            <a:off x="594360" y="4983480"/>
            <a:ext cx="10972800" cy="1143000"/>
          </a:xfrm>
          <a:prstGeom prst="rect">
            <a:avLst/>
          </a:prstGeom>
          <a:noFill/>
          <a:ln/>
        </p:spPr>
        <p:txBody>
          <a:bodyPr wrap="square" lIns="762" tIns="762" rIns="762" bIns="762" rtlCol="0" anchor="ctr"/>
          <a:lstStyle/>
          <a:p>
            <a:pPr rtl="1" algn="r" indent="0" marL="0">
              <a:lnSpc>
                <a:spcPct val="115000"/>
              </a:lnSpc>
              <a:buNone/>
            </a:pPr>
            <a:r>
              <a:rPr lang="ar-SA" altLang="en-US" sz="1900" b="1" dirty="0">
                <a:solidFill>
                  <a:srgbClr val="1B5E20"/>
                </a:solidFill>
                <a:latin typeface="Tahoma" pitchFamily="34" charset="0"/>
                <a:ea typeface="Tahoma" pitchFamily="34" charset="-122"/>
                <a:cs typeface="Tahoma" pitchFamily="34" charset="-120"/>
              </a:rPr>
              <a:t>الإجابة: </a:t>
            </a:r>
            <a:r>
              <a:rPr lang="ar-SA" altLang="en-US" sz="1900" dirty="0">
                <a:solidFill>
                  <a:srgbClr val="34405E"/>
                </a:solidFill>
                <a:latin typeface="Tahoma" pitchFamily="34" charset="0"/>
                <a:ea typeface="Tahoma" pitchFamily="34" charset="-122"/>
                <a:cs typeface="Tahoma" pitchFamily="34" charset="-120"/>
              </a:rPr>
              <a:t>مصدر الطاقة الأساسي هو الشمس؛ تصنع النباتات غذاءها مستخدمة طاقة الشمس، ثم تنتقل الطاقة إلى الحيوانات عن طريق الغذاء.</a:t>
            </a:r>
            <a:endParaRPr lang="ar-SA"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fltVal val="0"/>
                                          </p:val>
                                        </p:tav>
                                        <p:tav tm="100000">
                                          <p:val>
                                            <p:strVal val="#ppt_w"/>
                                          </p:val>
                                        </p:tav>
                                      </p:tavLst>
                                    </p:anim>
                                    <p:anim calcmode="lin" valueType="num">
                                      <p:cBhvr>
                                        <p:cTn id="17" dur="500" fill="hold"/>
                                        <p:tgtEl>
                                          <p:spTgt spid="10"/>
                                        </p:tgtEl>
                                        <p:attrNameLst>
                                          <p:attrName>ppt_h</p:attrName>
                                        </p:attrNameLst>
                                      </p:cBhvr>
                                      <p:tavLst>
                                        <p:tav tm="0">
                                          <p:val>
                                            <p:fltVal val="0"/>
                                          </p:val>
                                        </p:tav>
                                        <p:tav tm="100000">
                                          <p:val>
                                            <p:strVal val="#ppt_h"/>
                                          </p:val>
                                        </p:tav>
                                      </p:tavLst>
                                    </p:anim>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6_title" descr="تمهيد: لغز الطاقة">    </p:cNvPr>
          <p:cNvPicPr>
            <a:picLocks noChangeAspect="1"/>
          </p:cNvPicPr>
          <p:nvPr/>
        </p:nvPicPr>
        <p:blipFill>
          <a:blip r:embed="rId2"/>
          <a:stretch>
            <a:fillRect/>
          </a:stretch>
        </p:blipFill>
        <p:spPr>
          <a:xfrm>
            <a:off x="8099474" y="109728"/>
            <a:ext cx="3742006" cy="868680"/>
          </a:xfrm>
          <a:prstGeom prst="rect">
            <a:avLst/>
          </a:prstGeom>
        </p:spPr>
      </p:pic>
      <p:sp>
        <p:nvSpPr>
          <p:cNvPr id="3" name="s6_strategy"/>
          <p:cNvSpPr txBox="1"/>
          <p:nvPr/>
        </p:nvSpPr>
        <p:spPr>
          <a:xfrm>
            <a:off x="411480" y="274320"/>
            <a:ext cx="448056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التنبؤ والعصف الذهني</a:t>
            </a:r>
            <a:endParaRPr lang="ar-SA" sz="1700" dirty="0"/>
          </a:p>
        </p:txBody>
      </p:sp>
      <p:pic>
        <p:nvPicPr>
          <p:cNvPr id="4" name="s6_pic_1" descr="عالمة صغيرة تفكر">    </p:cNvPr>
          <p:cNvPicPr>
            <a:picLocks noChangeAspect="1"/>
          </p:cNvPicPr>
          <p:nvPr/>
        </p:nvPicPr>
        <p:blipFill>
          <a:blip r:embed="rId3"/>
          <a:stretch>
            <a:fillRect/>
          </a:stretch>
        </p:blipFill>
        <p:spPr>
          <a:xfrm>
            <a:off x="457200" y="1280160"/>
            <a:ext cx="2293414" cy="2651760"/>
          </a:xfrm>
          <a:prstGeom prst="rect">
            <a:avLst/>
          </a:prstGeom>
        </p:spPr>
      </p:pic>
      <p:pic>
        <p:nvPicPr>
          <p:cNvPr id="5" name="s6_pic_2" descr="/tmp/claude-0/-home-user-Scienceshamah/8386cda7-7741-5ea4-8952-60ee8e67fc31/scratchpad/w3/img/card_1433x233_FFB3D1_s_i.png">    </p:cNvPr>
          <p:cNvPicPr>
            <a:picLocks noChangeAspect="1"/>
          </p:cNvPicPr>
          <p:nvPr/>
        </p:nvPicPr>
        <p:blipFill>
          <a:blip r:embed="rId4"/>
          <a:stretch>
            <a:fillRect/>
          </a:stretch>
        </p:blipFill>
        <p:spPr>
          <a:xfrm>
            <a:off x="3017520" y="1097280"/>
            <a:ext cx="8732520" cy="1417320"/>
          </a:xfrm>
          <a:prstGeom prst="rect">
            <a:avLst/>
          </a:prstGeom>
        </p:spPr>
      </p:pic>
      <p:sp>
        <p:nvSpPr>
          <p:cNvPr id="6" name="s6_t_3"/>
          <p:cNvSpPr txBox="1"/>
          <p:nvPr/>
        </p:nvSpPr>
        <p:spPr>
          <a:xfrm>
            <a:off x="3200400" y="1143000"/>
            <a:ext cx="8366760" cy="1325880"/>
          </a:xfrm>
          <a:prstGeom prst="rect">
            <a:avLst/>
          </a:prstGeom>
          <a:noFill/>
          <a:ln/>
        </p:spPr>
        <p:txBody>
          <a:bodyPr wrap="square" lIns="762" tIns="762" rIns="762" bIns="762" rtlCol="0" anchor="ctr"/>
          <a:lstStyle/>
          <a:p>
            <a:pPr rtl="1" algn="r" indent="0" marL="0">
              <a:lnSpc>
                <a:spcPct val="108000"/>
              </a:lnSpc>
              <a:buNone/>
            </a:pPr>
            <a:r>
              <a:rPr lang="ar-SA" altLang="en-US" sz="2200" b="1" dirty="0">
                <a:solidFill>
                  <a:srgbClr val="C2366F"/>
                </a:solidFill>
                <a:latin typeface="Tahoma" pitchFamily="34" charset="0"/>
                <a:ea typeface="Tahoma" pitchFamily="34" charset="-122"/>
                <a:cs typeface="Tahoma" pitchFamily="34" charset="-120"/>
              </a:rPr>
              <a:t>لغز اليوم: </a:t>
            </a:r>
            <a:r>
              <a:rPr lang="ar-SA" altLang="en-US" sz="2200" b="1" dirty="0">
                <a:solidFill>
                  <a:srgbClr val="34405E"/>
                </a:solidFill>
                <a:latin typeface="Tahoma" pitchFamily="34" charset="0"/>
                <a:ea typeface="Tahoma" pitchFamily="34" charset="-122"/>
                <a:cs typeface="Tahoma" pitchFamily="34" charset="-120"/>
              </a:rPr>
              <a:t>أكل الأرنب الجزر فقفز ولعب طوال اليوم... من أين حصل الأرنب على طاقته؟</a:t>
            </a:r>
            <a:endParaRPr lang="ar-SA" sz="2200" dirty="0"/>
          </a:p>
        </p:txBody>
      </p:sp>
      <p:pic>
        <p:nvPicPr>
          <p:cNvPr id="7" name="s6_pic_4" descr="/tmp/claude-0/-home-user-Scienceshamah/8386cda7-7741-5ea4-8952-60ee8e67fc31/scratchpad/w3/img/card_420x225_FFE066_s_i.png">    </p:cNvPr>
          <p:cNvPicPr>
            <a:picLocks noChangeAspect="1"/>
          </p:cNvPicPr>
          <p:nvPr/>
        </p:nvPicPr>
        <p:blipFill>
          <a:blip r:embed="rId5"/>
          <a:stretch>
            <a:fillRect/>
          </a:stretch>
        </p:blipFill>
        <p:spPr>
          <a:xfrm>
            <a:off x="8503920" y="2743200"/>
            <a:ext cx="2560320" cy="1371600"/>
          </a:xfrm>
          <a:prstGeom prst="rect">
            <a:avLst/>
          </a:prstGeom>
        </p:spPr>
      </p:pic>
      <p:sp>
        <p:nvSpPr>
          <p:cNvPr id="8" name="s6_t_5"/>
          <p:cNvSpPr txBox="1"/>
          <p:nvPr/>
        </p:nvSpPr>
        <p:spPr>
          <a:xfrm>
            <a:off x="8595360" y="2788920"/>
            <a:ext cx="2377440" cy="128016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C2366F"/>
                </a:solidFill>
                <a:latin typeface="Tahoma" pitchFamily="34" charset="0"/>
                <a:ea typeface="Tahoma" pitchFamily="34" charset="-122"/>
                <a:cs typeface="Tahoma" pitchFamily="34" charset="-120"/>
              </a:rPr>
              <a:t>أ) </a:t>
            </a:r>
            <a:r>
              <a:rPr lang="ar-SA" altLang="en-US" sz="1900" b="1" dirty="0">
                <a:solidFill>
                  <a:srgbClr val="34405E"/>
                </a:solidFill>
                <a:latin typeface="Tahoma" pitchFamily="34" charset="0"/>
                <a:ea typeface="Tahoma" pitchFamily="34" charset="-122"/>
                <a:cs typeface="Tahoma" pitchFamily="34" charset="-120"/>
              </a:rPr>
              <a:t>من الشمس مباشرة ☀️</a:t>
            </a:r>
            <a:endParaRPr lang="ar-SA" sz="1900" dirty="0"/>
          </a:p>
        </p:txBody>
      </p:sp>
      <p:pic>
        <p:nvPicPr>
          <p:cNvPr id="9" name="s6_pic_6" descr="/tmp/claude-0/-home-user-Scienceshamah/8386cda7-7741-5ea4-8952-60ee8e67fc31/scratchpad/w3/img/card_420x225_B8F28A_s_i.png">    </p:cNvPr>
          <p:cNvPicPr>
            <a:picLocks noChangeAspect="1"/>
          </p:cNvPicPr>
          <p:nvPr/>
        </p:nvPicPr>
        <p:blipFill>
          <a:blip r:embed="rId6"/>
          <a:stretch>
            <a:fillRect/>
          </a:stretch>
        </p:blipFill>
        <p:spPr>
          <a:xfrm>
            <a:off x="5760720" y="2743200"/>
            <a:ext cx="2560320" cy="1371600"/>
          </a:xfrm>
          <a:prstGeom prst="rect">
            <a:avLst/>
          </a:prstGeom>
        </p:spPr>
      </p:pic>
      <p:sp>
        <p:nvSpPr>
          <p:cNvPr id="10" name="s6_t_7"/>
          <p:cNvSpPr txBox="1"/>
          <p:nvPr/>
        </p:nvSpPr>
        <p:spPr>
          <a:xfrm>
            <a:off x="5852160" y="2788920"/>
            <a:ext cx="2377440" cy="128016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C2366F"/>
                </a:solidFill>
                <a:latin typeface="Tahoma" pitchFamily="34" charset="0"/>
                <a:ea typeface="Tahoma" pitchFamily="34" charset="-122"/>
                <a:cs typeface="Tahoma" pitchFamily="34" charset="-120"/>
              </a:rPr>
              <a:t>ب) </a:t>
            </a:r>
            <a:r>
              <a:rPr lang="ar-SA" altLang="en-US" sz="1900" b="1" dirty="0">
                <a:solidFill>
                  <a:srgbClr val="34405E"/>
                </a:solidFill>
                <a:latin typeface="Tahoma" pitchFamily="34" charset="0"/>
                <a:ea typeface="Tahoma" pitchFamily="34" charset="-122"/>
                <a:cs typeface="Tahoma" pitchFamily="34" charset="-120"/>
              </a:rPr>
              <a:t>من النبات الذي أكله 🥕</a:t>
            </a:r>
            <a:endParaRPr lang="ar-SA" sz="1900" dirty="0"/>
          </a:p>
        </p:txBody>
      </p:sp>
      <p:pic>
        <p:nvPicPr>
          <p:cNvPr id="11" name="s6_pic_8" descr="/tmp/claude-0/-home-user-Scienceshamah/8386cda7-7741-5ea4-8952-60ee8e67fc31/scratchpad/w3/img/card_420x225_8FD8FF_s_i.png">    </p:cNvPr>
          <p:cNvPicPr>
            <a:picLocks noChangeAspect="1"/>
          </p:cNvPicPr>
          <p:nvPr/>
        </p:nvPicPr>
        <p:blipFill>
          <a:blip r:embed="rId7"/>
          <a:stretch>
            <a:fillRect/>
          </a:stretch>
        </p:blipFill>
        <p:spPr>
          <a:xfrm>
            <a:off x="3017520" y="2743200"/>
            <a:ext cx="2560320" cy="1371600"/>
          </a:xfrm>
          <a:prstGeom prst="rect">
            <a:avLst/>
          </a:prstGeom>
        </p:spPr>
      </p:pic>
      <p:sp>
        <p:nvSpPr>
          <p:cNvPr id="12" name="s6_t_9"/>
          <p:cNvSpPr txBox="1"/>
          <p:nvPr/>
        </p:nvSpPr>
        <p:spPr>
          <a:xfrm>
            <a:off x="3108960" y="2788920"/>
            <a:ext cx="2377440" cy="128016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C2366F"/>
                </a:solidFill>
                <a:latin typeface="Tahoma" pitchFamily="34" charset="0"/>
                <a:ea typeface="Tahoma" pitchFamily="34" charset="-122"/>
                <a:cs typeface="Tahoma" pitchFamily="34" charset="-120"/>
              </a:rPr>
              <a:t>ج) </a:t>
            </a:r>
            <a:r>
              <a:rPr lang="ar-SA" altLang="en-US" sz="1900" b="1" dirty="0">
                <a:solidFill>
                  <a:srgbClr val="34405E"/>
                </a:solidFill>
                <a:latin typeface="Tahoma" pitchFamily="34" charset="0"/>
                <a:ea typeface="Tahoma" pitchFamily="34" charset="-122"/>
                <a:cs typeface="Tahoma" pitchFamily="34" charset="-120"/>
              </a:rPr>
              <a:t>من الماء الذي شربه 💧</a:t>
            </a:r>
            <a:endParaRPr lang="ar-SA" sz="1900" dirty="0"/>
          </a:p>
        </p:txBody>
      </p:sp>
      <p:pic>
        <p:nvPicPr>
          <p:cNvPr id="13" name="s6_pic_10" descr="/tmp/claude-0/-home-user-Scienceshamah/8386cda7-7741-5ea4-8952-60ee8e67fc31/scratchpad/w3/img/card_1433x293_FFFFFF_d_i.png">    </p:cNvPr>
          <p:cNvPicPr>
            <a:picLocks noChangeAspect="1"/>
          </p:cNvPicPr>
          <p:nvPr/>
        </p:nvPicPr>
        <p:blipFill>
          <a:blip r:embed="rId8"/>
          <a:stretch>
            <a:fillRect/>
          </a:stretch>
        </p:blipFill>
        <p:spPr>
          <a:xfrm>
            <a:off x="3017520" y="4343400"/>
            <a:ext cx="8732520" cy="1783080"/>
          </a:xfrm>
          <a:prstGeom prst="rect">
            <a:avLst/>
          </a:prstGeom>
        </p:spPr>
      </p:pic>
      <p:sp>
        <p:nvSpPr>
          <p:cNvPr id="14" name="s6_t_11"/>
          <p:cNvSpPr txBox="1"/>
          <p:nvPr/>
        </p:nvSpPr>
        <p:spPr>
          <a:xfrm>
            <a:off x="3200400" y="4389120"/>
            <a:ext cx="8366760" cy="1691640"/>
          </a:xfrm>
          <a:prstGeom prst="rect">
            <a:avLst/>
          </a:prstGeom>
          <a:noFill/>
          <a:ln/>
        </p:spPr>
        <p:txBody>
          <a:bodyPr wrap="square" lIns="762" tIns="762" rIns="762" bIns="762" rtlCol="0" anchor="ctr"/>
          <a:lstStyle/>
          <a:p>
            <a:pPr rtl="1" algn="ctr" indent="0" marL="0">
              <a:lnSpc>
                <a:spcPct val="120000"/>
              </a:lnSpc>
              <a:buNone/>
            </a:pPr>
            <a:r>
              <a:rPr lang="ar-SA" altLang="en-US" sz="2000" b="1" dirty="0">
                <a:solidFill>
                  <a:srgbClr val="34405E"/>
                </a:solidFill>
                <a:latin typeface="Tahoma" pitchFamily="34" charset="0"/>
                <a:ea typeface="Tahoma" pitchFamily="34" charset="-122"/>
                <a:cs typeface="Tahoma" pitchFamily="34" charset="-120"/>
              </a:rPr>
              <a:t>صوّتي برفع أصابعك (١ أو ٢ أو ٣) وسجّلي إجابتك في دفترك.</a:t>
            </a:r>
            <a:endParaRPr lang="ar-SA" sz="2000" dirty="0"/>
          </a:p>
          <a:p>
            <a:pPr rtl="1" algn="ctr" indent="0" marL="0">
              <a:lnSpc>
                <a:spcPct val="120000"/>
              </a:lnSpc>
              <a:buNone/>
            </a:pPr>
            <a:r>
              <a:rPr lang="ar-SA" altLang="en-US" sz="2000" b="1" dirty="0">
                <a:solidFill>
                  <a:srgbClr val="6B4FC0"/>
                </a:solidFill>
                <a:latin typeface="Tahoma" pitchFamily="34" charset="0"/>
                <a:ea typeface="Tahoma" pitchFamily="34" charset="-122"/>
                <a:cs typeface="Tahoma" pitchFamily="34" charset="-120"/>
              </a:rPr>
              <a:t>🔒 سنكشف الإجابة الصحيحة في نهاية الدرس!</a:t>
            </a:r>
            <a:endParaRPr lang="ar-SA" sz="2000" dirty="0"/>
          </a:p>
        </p:txBody>
      </p:sp>
    </p:spTree>
  </p:cSld>
  <p:clrMapOvr>
    <a:masterClrMapping/>
  </p:clrMapOvr>
  <mc:AlternateContent xmlns:mc="http://schemas.openxmlformats.org/markup-compatibility/2006">
    <mc:Choice xmlns:p14="http://schemas.microsoft.com/office/powerpoint/2010/main" Requires="p14">
      <p:transition spd="slow" p14:dur="1400">
        <p14:flip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3"/>
                                        </p:tgtEl>
                                        <p:attrNameLst>
                                          <p:attrName>style.visibility</p:attrName>
                                        </p:attrNameLst>
                                      </p:cBhvr>
                                      <p:to>
                                        <p:strVal val="visible"/>
                                      </p:to>
                                    </p:set>
                                    <p:animEffect transition="in" filter="fade">
                                      <p:cBhvr>
                                        <p:cTn id="6" dur="500"/>
                                        <p:tgtEl>
                                          <p:spTgt spid="13"/>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7_title" descr="نواتج التعلم">    </p:cNvPr>
          <p:cNvPicPr>
            <a:picLocks noChangeAspect="1"/>
          </p:cNvPicPr>
          <p:nvPr/>
        </p:nvPicPr>
        <p:blipFill>
          <a:blip r:embed="rId2"/>
          <a:stretch>
            <a:fillRect/>
          </a:stretch>
        </p:blipFill>
        <p:spPr>
          <a:xfrm>
            <a:off x="9245720" y="109728"/>
            <a:ext cx="2595760" cy="868680"/>
          </a:xfrm>
          <a:prstGeom prst="rect">
            <a:avLst/>
          </a:prstGeom>
        </p:spPr>
      </p:pic>
      <p:sp>
        <p:nvSpPr>
          <p:cNvPr id="3" name="s7_strategy"/>
          <p:cNvSpPr txBox="1"/>
          <p:nvPr/>
        </p:nvSpPr>
        <p:spPr>
          <a:xfrm>
            <a:off x="411480" y="274320"/>
            <a:ext cx="33832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أهدافي اليوم</a:t>
            </a:r>
            <a:endParaRPr lang="ar-SA" sz="1700" dirty="0"/>
          </a:p>
        </p:txBody>
      </p:sp>
      <p:sp>
        <p:nvSpPr>
          <p:cNvPr id="4" name="s7_t_1"/>
          <p:cNvSpPr txBox="1"/>
          <p:nvPr/>
        </p:nvSpPr>
        <p:spPr>
          <a:xfrm>
            <a:off x="5486400" y="1051560"/>
            <a:ext cx="6263640" cy="41148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128C7E"/>
                </a:solidFill>
                <a:latin typeface="Tahoma" pitchFamily="34" charset="0"/>
                <a:ea typeface="Tahoma" pitchFamily="34" charset="-122"/>
                <a:cs typeface="Tahoma" pitchFamily="34" charset="-120"/>
              </a:rPr>
              <a:t>ناتج التعلم</a:t>
            </a:r>
            <a:endParaRPr lang="ar-SA" sz="1700" dirty="0"/>
          </a:p>
        </p:txBody>
      </p:sp>
      <p:sp>
        <p:nvSpPr>
          <p:cNvPr id="5" name="s7_t_2"/>
          <p:cNvSpPr txBox="1"/>
          <p:nvPr/>
        </p:nvSpPr>
        <p:spPr>
          <a:xfrm>
            <a:off x="3017520" y="1051560"/>
            <a:ext cx="2377440" cy="41148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128C7E"/>
                </a:solidFill>
                <a:latin typeface="Tahoma" pitchFamily="34" charset="0"/>
                <a:ea typeface="Tahoma" pitchFamily="34" charset="-122"/>
                <a:cs typeface="Tahoma" pitchFamily="34" charset="-120"/>
              </a:rPr>
              <a:t>النشاط</a:t>
            </a:r>
            <a:endParaRPr lang="ar-SA" sz="1700" dirty="0"/>
          </a:p>
        </p:txBody>
      </p:sp>
      <p:sp>
        <p:nvSpPr>
          <p:cNvPr id="6" name="s7_t_3"/>
          <p:cNvSpPr txBox="1"/>
          <p:nvPr/>
        </p:nvSpPr>
        <p:spPr>
          <a:xfrm>
            <a:off x="457200" y="1051560"/>
            <a:ext cx="2468880" cy="41148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128C7E"/>
                </a:solidFill>
                <a:latin typeface="Tahoma" pitchFamily="34" charset="0"/>
                <a:ea typeface="Tahoma" pitchFamily="34" charset="-122"/>
                <a:cs typeface="Tahoma" pitchFamily="34" charset="-120"/>
              </a:rPr>
              <a:t>التقويم</a:t>
            </a:r>
            <a:endParaRPr lang="ar-SA" sz="1700" dirty="0"/>
          </a:p>
        </p:txBody>
      </p:sp>
      <p:pic>
        <p:nvPicPr>
          <p:cNvPr id="7" name="s7_pic_4" descr="/tmp/claude-0/-home-user-Scienceshamah/8386cda7-7741-5ea4-8952-60ee8e67fc31/scratchpad/w3/img/card_1028x168_FFE066_s_i.png">    </p:cNvPr>
          <p:cNvPicPr>
            <a:picLocks noChangeAspect="1"/>
          </p:cNvPicPr>
          <p:nvPr/>
        </p:nvPicPr>
        <p:blipFill>
          <a:blip r:embed="rId3"/>
          <a:stretch>
            <a:fillRect/>
          </a:stretch>
        </p:blipFill>
        <p:spPr>
          <a:xfrm>
            <a:off x="5486400" y="1508760"/>
            <a:ext cx="6263640" cy="1024128"/>
          </a:xfrm>
          <a:prstGeom prst="rect">
            <a:avLst/>
          </a:prstGeom>
        </p:spPr>
      </p:pic>
      <p:sp>
        <p:nvSpPr>
          <p:cNvPr id="8" name="s7_t_5"/>
          <p:cNvSpPr txBox="1"/>
          <p:nvPr/>
        </p:nvSpPr>
        <p:spPr>
          <a:xfrm>
            <a:off x="11155680" y="1755648"/>
            <a:ext cx="502920" cy="502920"/>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١</a:t>
            </a:r>
            <a:endParaRPr lang="ar-SA" sz="1700" dirty="0"/>
          </a:p>
        </p:txBody>
      </p:sp>
      <p:sp>
        <p:nvSpPr>
          <p:cNvPr id="9" name="s7_t_6"/>
          <p:cNvSpPr txBox="1"/>
          <p:nvPr/>
        </p:nvSpPr>
        <p:spPr>
          <a:xfrm>
            <a:off x="5623560" y="1554480"/>
            <a:ext cx="5440680" cy="932688"/>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تحدد الطالبة مصدر الطاقة في النظام البيئي.</a:t>
            </a:r>
            <a:endParaRPr lang="ar-SA" sz="1800" dirty="0"/>
          </a:p>
        </p:txBody>
      </p:sp>
      <p:pic>
        <p:nvPicPr>
          <p:cNvPr id="10" name="s7_pic_7" descr="/tmp/claude-0/-home-user-Scienceshamah/8386cda7-7741-5ea4-8952-60ee8e67fc31/scratchpad/w3/img/card_390x168_FFFFFF_s_i.png">    </p:cNvPr>
          <p:cNvPicPr>
            <a:picLocks noChangeAspect="1"/>
          </p:cNvPicPr>
          <p:nvPr/>
        </p:nvPicPr>
        <p:blipFill>
          <a:blip r:embed="rId4"/>
          <a:stretch>
            <a:fillRect/>
          </a:stretch>
        </p:blipFill>
        <p:spPr>
          <a:xfrm>
            <a:off x="3017520" y="1508760"/>
            <a:ext cx="2377440" cy="1024128"/>
          </a:xfrm>
          <a:prstGeom prst="rect">
            <a:avLst/>
          </a:prstGeom>
        </p:spPr>
      </p:pic>
      <p:sp>
        <p:nvSpPr>
          <p:cNvPr id="11" name="s7_t_8"/>
          <p:cNvSpPr txBox="1"/>
          <p:nvPr/>
        </p:nvSpPr>
        <p:spPr>
          <a:xfrm>
            <a:off x="3108960" y="1554480"/>
            <a:ext cx="2194560" cy="932688"/>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أنظر وأتساءل + نموذج الطاقة</a:t>
            </a:r>
            <a:endParaRPr lang="ar-SA" sz="1500" dirty="0"/>
          </a:p>
        </p:txBody>
      </p:sp>
      <p:pic>
        <p:nvPicPr>
          <p:cNvPr id="12" name="s7_pic_9" descr="/tmp/claude-0/-home-user-Scienceshamah/8386cda7-7741-5ea4-8952-60ee8e67fc31/scratchpad/w3/img/card_405x168_FFFFFF_d_i.png">    </p:cNvPr>
          <p:cNvPicPr>
            <a:picLocks noChangeAspect="1"/>
          </p:cNvPicPr>
          <p:nvPr/>
        </p:nvPicPr>
        <p:blipFill>
          <a:blip r:embed="rId5"/>
          <a:stretch>
            <a:fillRect/>
          </a:stretch>
        </p:blipFill>
        <p:spPr>
          <a:xfrm>
            <a:off x="457200" y="1508760"/>
            <a:ext cx="2468880" cy="1024128"/>
          </a:xfrm>
          <a:prstGeom prst="rect">
            <a:avLst/>
          </a:prstGeom>
        </p:spPr>
      </p:pic>
      <p:sp>
        <p:nvSpPr>
          <p:cNvPr id="13" name="s7_t_10"/>
          <p:cNvSpPr txBox="1"/>
          <p:nvPr/>
        </p:nvSpPr>
        <p:spPr>
          <a:xfrm>
            <a:off x="548640" y="1554480"/>
            <a:ext cx="2286000" cy="932688"/>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C2366F"/>
                </a:solidFill>
                <a:latin typeface="Tahoma" pitchFamily="34" charset="0"/>
                <a:ea typeface="Tahoma" pitchFamily="34" charset="-122"/>
                <a:cs typeface="Tahoma" pitchFamily="34" charset="-120"/>
              </a:rPr>
              <a:t>سؤال: ما مصدر الطاقة؟</a:t>
            </a:r>
            <a:endParaRPr lang="ar-SA" sz="1500" dirty="0"/>
          </a:p>
        </p:txBody>
      </p:sp>
      <p:pic>
        <p:nvPicPr>
          <p:cNvPr id="14" name="s7_pic_11" descr="/tmp/claude-0/-home-user-Scienceshamah/8386cda7-7741-5ea4-8952-60ee8e67fc31/scratchpad/w3/img/card_1028x168_B8F28A_s_i.png">    </p:cNvPr>
          <p:cNvPicPr>
            <a:picLocks noChangeAspect="1"/>
          </p:cNvPicPr>
          <p:nvPr/>
        </p:nvPicPr>
        <p:blipFill>
          <a:blip r:embed="rId6"/>
          <a:stretch>
            <a:fillRect/>
          </a:stretch>
        </p:blipFill>
        <p:spPr>
          <a:xfrm>
            <a:off x="5486400" y="2670048"/>
            <a:ext cx="6263640" cy="1024128"/>
          </a:xfrm>
          <a:prstGeom prst="rect">
            <a:avLst/>
          </a:prstGeom>
        </p:spPr>
      </p:pic>
      <p:sp>
        <p:nvSpPr>
          <p:cNvPr id="15" name="s7_t_12"/>
          <p:cNvSpPr txBox="1"/>
          <p:nvPr/>
        </p:nvSpPr>
        <p:spPr>
          <a:xfrm>
            <a:off x="11155680" y="2916936"/>
            <a:ext cx="502920" cy="502920"/>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٢</a:t>
            </a:r>
            <a:endParaRPr lang="ar-SA" sz="1700" dirty="0"/>
          </a:p>
        </p:txBody>
      </p:sp>
      <p:sp>
        <p:nvSpPr>
          <p:cNvPr id="16" name="s7_t_13"/>
          <p:cNvSpPr txBox="1"/>
          <p:nvPr/>
        </p:nvSpPr>
        <p:spPr>
          <a:xfrm>
            <a:off x="5623560" y="2715768"/>
            <a:ext cx="5440680" cy="932688"/>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تصف دور كلٍّ من المنتجات والمستهلكات والمحللات.</a:t>
            </a:r>
            <a:endParaRPr lang="ar-SA" sz="1800" dirty="0"/>
          </a:p>
        </p:txBody>
      </p:sp>
      <p:pic>
        <p:nvPicPr>
          <p:cNvPr id="17" name="s7_pic_14" descr="/tmp/claude-0/-home-user-Scienceshamah/8386cda7-7741-5ea4-8952-60ee8e67fc31/scratchpad/w3/img/card_390x168_FFFFFF_s_i.png">    </p:cNvPr>
          <p:cNvPicPr>
            <a:picLocks noChangeAspect="1"/>
          </p:cNvPicPr>
          <p:nvPr/>
        </p:nvPicPr>
        <p:blipFill>
          <a:blip r:embed="rId7"/>
          <a:stretch>
            <a:fillRect/>
          </a:stretch>
        </p:blipFill>
        <p:spPr>
          <a:xfrm>
            <a:off x="3017520" y="2670048"/>
            <a:ext cx="2377440" cy="1024128"/>
          </a:xfrm>
          <a:prstGeom prst="rect">
            <a:avLst/>
          </a:prstGeom>
        </p:spPr>
      </p:pic>
      <p:sp>
        <p:nvSpPr>
          <p:cNvPr id="18" name="s7_t_15"/>
          <p:cNvSpPr txBox="1"/>
          <p:nvPr/>
        </p:nvSpPr>
        <p:spPr>
          <a:xfrm>
            <a:off x="3108960" y="2715768"/>
            <a:ext cx="2194560" cy="932688"/>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السبورة + نشاط المحللات</a:t>
            </a:r>
            <a:endParaRPr lang="ar-SA" sz="1500" dirty="0"/>
          </a:p>
        </p:txBody>
      </p:sp>
      <p:pic>
        <p:nvPicPr>
          <p:cNvPr id="19" name="s7_pic_16" descr="/tmp/claude-0/-home-user-Scienceshamah/8386cda7-7741-5ea4-8952-60ee8e67fc31/scratchpad/w3/img/card_405x168_FFFFFF_d_i.png">    </p:cNvPr>
          <p:cNvPicPr>
            <a:picLocks noChangeAspect="1"/>
          </p:cNvPicPr>
          <p:nvPr/>
        </p:nvPicPr>
        <p:blipFill>
          <a:blip r:embed="rId8"/>
          <a:stretch>
            <a:fillRect/>
          </a:stretch>
        </p:blipFill>
        <p:spPr>
          <a:xfrm>
            <a:off x="457200" y="2670048"/>
            <a:ext cx="2468880" cy="1024128"/>
          </a:xfrm>
          <a:prstGeom prst="rect">
            <a:avLst/>
          </a:prstGeom>
        </p:spPr>
      </p:pic>
      <p:sp>
        <p:nvSpPr>
          <p:cNvPr id="20" name="s7_t_17"/>
          <p:cNvSpPr txBox="1"/>
          <p:nvPr/>
        </p:nvSpPr>
        <p:spPr>
          <a:xfrm>
            <a:off x="548640" y="2715768"/>
            <a:ext cx="2286000" cy="932688"/>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C2366F"/>
                </a:solidFill>
                <a:latin typeface="Tahoma" pitchFamily="34" charset="0"/>
                <a:ea typeface="Tahoma" pitchFamily="34" charset="-122"/>
                <a:cs typeface="Tahoma" pitchFamily="34" charset="-120"/>
              </a:rPr>
              <a:t>تقويم: أكتشف</a:t>
            </a:r>
            <a:endParaRPr lang="ar-SA" sz="1500" dirty="0"/>
          </a:p>
        </p:txBody>
      </p:sp>
      <p:pic>
        <p:nvPicPr>
          <p:cNvPr id="21" name="s7_pic_18" descr="/tmp/claude-0/-home-user-Scienceshamah/8386cda7-7741-5ea4-8952-60ee8e67fc31/scratchpad/w3/img/card_1028x168_FFB3D1_s_i.png">    </p:cNvPr>
          <p:cNvPicPr>
            <a:picLocks noChangeAspect="1"/>
          </p:cNvPicPr>
          <p:nvPr/>
        </p:nvPicPr>
        <p:blipFill>
          <a:blip r:embed="rId9"/>
          <a:stretch>
            <a:fillRect/>
          </a:stretch>
        </p:blipFill>
        <p:spPr>
          <a:xfrm>
            <a:off x="5486400" y="3831336"/>
            <a:ext cx="6263640" cy="1024128"/>
          </a:xfrm>
          <a:prstGeom prst="rect">
            <a:avLst/>
          </a:prstGeom>
        </p:spPr>
      </p:pic>
      <p:sp>
        <p:nvSpPr>
          <p:cNvPr id="22" name="s7_t_19"/>
          <p:cNvSpPr txBox="1"/>
          <p:nvPr/>
        </p:nvSpPr>
        <p:spPr>
          <a:xfrm>
            <a:off x="11155680" y="4078224"/>
            <a:ext cx="502920" cy="502920"/>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٣</a:t>
            </a:r>
            <a:endParaRPr lang="ar-SA" sz="1700" dirty="0"/>
          </a:p>
        </p:txBody>
      </p:sp>
      <p:sp>
        <p:nvSpPr>
          <p:cNvPr id="23" name="s7_t_20"/>
          <p:cNvSpPr txBox="1"/>
          <p:nvPr/>
        </p:nvSpPr>
        <p:spPr>
          <a:xfrm>
            <a:off x="5623560" y="3877056"/>
            <a:ext cx="5440680" cy="932688"/>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تصنّف المستهلكات تبعًا لنوع غذائها.</a:t>
            </a:r>
            <a:endParaRPr lang="ar-SA" sz="1800" dirty="0"/>
          </a:p>
        </p:txBody>
      </p:sp>
      <p:pic>
        <p:nvPicPr>
          <p:cNvPr id="24" name="s7_pic_21" descr="/tmp/claude-0/-home-user-Scienceshamah/8386cda7-7741-5ea4-8952-60ee8e67fc31/scratchpad/w3/img/card_390x168_FFFFFF_s_i.png">    </p:cNvPr>
          <p:cNvPicPr>
            <a:picLocks noChangeAspect="1"/>
          </p:cNvPicPr>
          <p:nvPr/>
        </p:nvPicPr>
        <p:blipFill>
          <a:blip r:embed="rId10"/>
          <a:stretch>
            <a:fillRect/>
          </a:stretch>
        </p:blipFill>
        <p:spPr>
          <a:xfrm>
            <a:off x="3017520" y="3831336"/>
            <a:ext cx="2377440" cy="1024128"/>
          </a:xfrm>
          <a:prstGeom prst="rect">
            <a:avLst/>
          </a:prstGeom>
        </p:spPr>
      </p:pic>
      <p:sp>
        <p:nvSpPr>
          <p:cNvPr id="25" name="s7_t_22"/>
          <p:cNvSpPr txBox="1"/>
          <p:nvPr/>
        </p:nvSpPr>
        <p:spPr>
          <a:xfrm>
            <a:off x="3108960" y="3877056"/>
            <a:ext cx="2194560" cy="932688"/>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لعبة صنّفي المستهلكات</a:t>
            </a:r>
            <a:endParaRPr lang="ar-SA" sz="1500" dirty="0"/>
          </a:p>
        </p:txBody>
      </p:sp>
      <p:pic>
        <p:nvPicPr>
          <p:cNvPr id="26" name="s7_pic_23" descr="/tmp/claude-0/-home-user-Scienceshamah/8386cda7-7741-5ea4-8952-60ee8e67fc31/scratchpad/w3/img/card_405x168_FFFFFF_d_i.png">    </p:cNvPr>
          <p:cNvPicPr>
            <a:picLocks noChangeAspect="1"/>
          </p:cNvPicPr>
          <p:nvPr/>
        </p:nvPicPr>
        <p:blipFill>
          <a:blip r:embed="rId11"/>
          <a:stretch>
            <a:fillRect/>
          </a:stretch>
        </p:blipFill>
        <p:spPr>
          <a:xfrm>
            <a:off x="457200" y="3831336"/>
            <a:ext cx="2468880" cy="1024128"/>
          </a:xfrm>
          <a:prstGeom prst="rect">
            <a:avLst/>
          </a:prstGeom>
        </p:spPr>
      </p:pic>
      <p:sp>
        <p:nvSpPr>
          <p:cNvPr id="27" name="s7_t_24"/>
          <p:cNvSpPr txBox="1"/>
          <p:nvPr/>
        </p:nvSpPr>
        <p:spPr>
          <a:xfrm>
            <a:off x="548640" y="3877056"/>
            <a:ext cx="2286000" cy="932688"/>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C2366F"/>
                </a:solidFill>
                <a:latin typeface="Tahoma" pitchFamily="34" charset="0"/>
                <a:ea typeface="Tahoma" pitchFamily="34" charset="-122"/>
                <a:cs typeface="Tahoma" pitchFamily="34" charset="-120"/>
              </a:rPr>
              <a:t>تقويم: أفكّر</a:t>
            </a:r>
            <a:endParaRPr lang="ar-SA" sz="1500" dirty="0"/>
          </a:p>
        </p:txBody>
      </p:sp>
      <p:pic>
        <p:nvPicPr>
          <p:cNvPr id="28" name="s7_pic_25" descr="/tmp/claude-0/-home-user-Scienceshamah/8386cda7-7741-5ea4-8952-60ee8e67fc31/scratchpad/w3/img/card_1028x168_8FD8FF_s_i.png">    </p:cNvPr>
          <p:cNvPicPr>
            <a:picLocks noChangeAspect="1"/>
          </p:cNvPicPr>
          <p:nvPr/>
        </p:nvPicPr>
        <p:blipFill>
          <a:blip r:embed="rId12"/>
          <a:stretch>
            <a:fillRect/>
          </a:stretch>
        </p:blipFill>
        <p:spPr>
          <a:xfrm>
            <a:off x="5486400" y="4992624"/>
            <a:ext cx="6263640" cy="1024128"/>
          </a:xfrm>
          <a:prstGeom prst="rect">
            <a:avLst/>
          </a:prstGeom>
        </p:spPr>
      </p:pic>
      <p:sp>
        <p:nvSpPr>
          <p:cNvPr id="29" name="s7_t_26"/>
          <p:cNvSpPr txBox="1"/>
          <p:nvPr/>
        </p:nvSpPr>
        <p:spPr>
          <a:xfrm>
            <a:off x="11155680" y="5239512"/>
            <a:ext cx="502920" cy="502920"/>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٤</a:t>
            </a:r>
            <a:endParaRPr lang="ar-SA" sz="1700" dirty="0"/>
          </a:p>
        </p:txBody>
      </p:sp>
      <p:sp>
        <p:nvSpPr>
          <p:cNvPr id="30" name="s7_t_27"/>
          <p:cNvSpPr txBox="1"/>
          <p:nvPr/>
        </p:nvSpPr>
        <p:spPr>
          <a:xfrm>
            <a:off x="5623560" y="5038344"/>
            <a:ext cx="5440680" cy="932688"/>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تستنتج أثر غياب المنتجات على النظام البيئي.</a:t>
            </a:r>
            <a:endParaRPr lang="ar-SA" sz="1800" dirty="0"/>
          </a:p>
        </p:txBody>
      </p:sp>
      <p:pic>
        <p:nvPicPr>
          <p:cNvPr id="31" name="s7_pic_28" descr="/tmp/claude-0/-home-user-Scienceshamah/8386cda7-7741-5ea4-8952-60ee8e67fc31/scratchpad/w3/img/card_390x168_FFFFFF_s_i.png">    </p:cNvPr>
          <p:cNvPicPr>
            <a:picLocks noChangeAspect="1"/>
          </p:cNvPicPr>
          <p:nvPr/>
        </p:nvPicPr>
        <p:blipFill>
          <a:blip r:embed="rId13"/>
          <a:stretch>
            <a:fillRect/>
          </a:stretch>
        </p:blipFill>
        <p:spPr>
          <a:xfrm>
            <a:off x="3017520" y="4992624"/>
            <a:ext cx="2377440" cy="1024128"/>
          </a:xfrm>
          <a:prstGeom prst="rect">
            <a:avLst/>
          </a:prstGeom>
        </p:spPr>
      </p:pic>
      <p:sp>
        <p:nvSpPr>
          <p:cNvPr id="32" name="s7_t_29"/>
          <p:cNvSpPr txBox="1"/>
          <p:nvPr/>
        </p:nvSpPr>
        <p:spPr>
          <a:xfrm>
            <a:off x="3108960" y="5038344"/>
            <a:ext cx="2194560" cy="932688"/>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أختبر نفسي</a:t>
            </a:r>
            <a:endParaRPr lang="ar-SA" sz="1500" dirty="0"/>
          </a:p>
        </p:txBody>
      </p:sp>
      <p:pic>
        <p:nvPicPr>
          <p:cNvPr id="33" name="s7_pic_30" descr="/tmp/claude-0/-home-user-Scienceshamah/8386cda7-7741-5ea4-8952-60ee8e67fc31/scratchpad/w3/img/card_405x168_FFFFFF_d_i.png">    </p:cNvPr>
          <p:cNvPicPr>
            <a:picLocks noChangeAspect="1"/>
          </p:cNvPicPr>
          <p:nvPr/>
        </p:nvPicPr>
        <p:blipFill>
          <a:blip r:embed="rId14"/>
          <a:stretch>
            <a:fillRect/>
          </a:stretch>
        </p:blipFill>
        <p:spPr>
          <a:xfrm>
            <a:off x="457200" y="4992624"/>
            <a:ext cx="2468880" cy="1024128"/>
          </a:xfrm>
          <a:prstGeom prst="rect">
            <a:avLst/>
          </a:prstGeom>
        </p:spPr>
      </p:pic>
      <p:sp>
        <p:nvSpPr>
          <p:cNvPr id="34" name="s7_t_31"/>
          <p:cNvSpPr txBox="1"/>
          <p:nvPr/>
        </p:nvSpPr>
        <p:spPr>
          <a:xfrm>
            <a:off x="548640" y="5038344"/>
            <a:ext cx="2286000" cy="932688"/>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C2366F"/>
                </a:solidFill>
                <a:latin typeface="Tahoma" pitchFamily="34" charset="0"/>
                <a:ea typeface="Tahoma" pitchFamily="34" charset="-122"/>
                <a:cs typeface="Tahoma" pitchFamily="34" charset="-120"/>
              </a:rPr>
              <a:t>تقويم: أتحدّى نفسي</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4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 calcmode="lin" valueType="num">
                                      <p:cBhvr>
                                        <p:cTn id="6" dur="500" fill="hold"/>
                                        <p:tgtEl>
                                          <p:spTgt spid="7"/>
                                        </p:tgtEl>
                                        <p:attrNameLst>
                                          <p:attrName>ppt_w</p:attrName>
                                        </p:attrNameLst>
                                      </p:cBhvr>
                                      <p:tavLst>
                                        <p:tav tm="0">
                                          <p:val>
                                            <p:fltVal val="0"/>
                                          </p:val>
                                        </p:tav>
                                        <p:tav tm="100000">
                                          <p:val>
                                            <p:strVal val="#ppt_w"/>
                                          </p:val>
                                        </p:tav>
                                      </p:tavLst>
                                    </p:anim>
                                    <p:anim calcmode="lin" valueType="num">
                                      <p:cBhvr>
                                        <p:cTn id="7" dur="500" fill="hold"/>
                                        <p:tgtEl>
                                          <p:spTgt spid="7"/>
                                        </p:tgtEl>
                                        <p:attrNameLst>
                                          <p:attrName>ppt_h</p:attrName>
                                        </p:attrNameLst>
                                      </p:cBhvr>
                                      <p:tavLst>
                                        <p:tav tm="0">
                                          <p:val>
                                            <p:fltVal val="0"/>
                                          </p:val>
                                        </p:tav>
                                        <p:tav tm="100000">
                                          <p:val>
                                            <p:strVal val="#ppt_h"/>
                                          </p:val>
                                        </p:tav>
                                      </p:tavLst>
                                    </p:anim>
                                    <p:animEffect transition="in" filter="fade">
                                      <p:cBhvr>
                                        <p:cTn id="8" dur="500"/>
                                        <p:tgtEl>
                                          <p:spTgt spid="7"/>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ppt_w</p:attrName>
                                        </p:attrNameLst>
                                      </p:cBhvr>
                                      <p:tavLst>
                                        <p:tav tm="0">
                                          <p:val>
                                            <p:fltVal val="0"/>
                                          </p:val>
                                        </p:tav>
                                        <p:tav tm="100000">
                                          <p:val>
                                            <p:strVal val="#ppt_w"/>
                                          </p:val>
                                        </p:tav>
                                      </p:tavLst>
                                    </p:anim>
                                    <p:anim calcmode="lin" valueType="num">
                                      <p:cBhvr>
                                        <p:cTn id="17" dur="500" fill="hold"/>
                                        <p:tgtEl>
                                          <p:spTgt spid="9"/>
                                        </p:tgtEl>
                                        <p:attrNameLst>
                                          <p:attrName>ppt_h</p:attrName>
                                        </p:attrNameLst>
                                      </p:cBhvr>
                                      <p:tavLst>
                                        <p:tav tm="0">
                                          <p:val>
                                            <p:fltVal val="0"/>
                                          </p:val>
                                        </p:tav>
                                        <p:tav tm="100000">
                                          <p:val>
                                            <p:strVal val="#ppt_h"/>
                                          </p:val>
                                        </p:tav>
                                      </p:tavLst>
                                    </p:anim>
                                    <p:animEffect transition="in" filter="fade">
                                      <p:cBhvr>
                                        <p:cTn id="18" dur="500"/>
                                        <p:tgtEl>
                                          <p:spTgt spid="9"/>
                                        </p:tgtEl>
                                      </p:cBhvr>
                                    </p:animEffect>
                                  </p:childTnLst>
                                </p:cTn>
                              </p:par>
                              <p:par>
                                <p:cTn id="22" presetID="10" presetClass="entr" presetSubtype="0" fill="hold" grpId="0" nodeType="withEffect">
                                  <p:stCondLst>
                                    <p:cond delay="3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5" presetID="10" presetClass="entr" presetSubtype="0" fill="hold" grpId="0" nodeType="withEffect">
                                  <p:stCondLst>
                                    <p:cond delay="3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8" presetID="10" presetClass="entr" presetSubtype="0" fill="hold" grpId="0" nodeType="withEffect">
                                  <p:stCondLst>
                                    <p:cond delay="3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31" presetID="10" presetClass="entr" presetSubtype="0" fill="hold" grpId="0" nodeType="withEffect">
                                  <p:stCondLst>
                                    <p:cond delay="3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8" presetID="53" presetClass="entr" presetSubtype="16"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animEffect transition="in" filter="fade">
                                      <p:cBhvr>
                                        <p:cTn id="37" dur="500"/>
                                        <p:tgtEl>
                                          <p:spTgt spid="14"/>
                                        </p:tgtEl>
                                      </p:cBhvr>
                                    </p:animEffect>
                                  </p:childTnLst>
                                </p:cTn>
                              </p:par>
                              <p:par>
                                <p:cTn id="43" presetID="53" presetClass="entr" presetSubtype="16"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p:cTn id="40" dur="500" fill="hold"/>
                                        <p:tgtEl>
                                          <p:spTgt spid="15"/>
                                        </p:tgtEl>
                                        <p:attrNameLst>
                                          <p:attrName>ppt_w</p:attrName>
                                        </p:attrNameLst>
                                      </p:cBhvr>
                                      <p:tavLst>
                                        <p:tav tm="0">
                                          <p:val>
                                            <p:fltVal val="0"/>
                                          </p:val>
                                        </p:tav>
                                        <p:tav tm="100000">
                                          <p:val>
                                            <p:strVal val="#ppt_w"/>
                                          </p:val>
                                        </p:tav>
                                      </p:tavLst>
                                    </p:anim>
                                    <p:anim calcmode="lin" valueType="num">
                                      <p:cBhvr>
                                        <p:cTn id="41" dur="500" fill="hold"/>
                                        <p:tgtEl>
                                          <p:spTgt spid="15"/>
                                        </p:tgtEl>
                                        <p:attrNameLst>
                                          <p:attrName>ppt_h</p:attrName>
                                        </p:attrNameLst>
                                      </p:cBhvr>
                                      <p:tavLst>
                                        <p:tav tm="0">
                                          <p:val>
                                            <p:fltVal val="0"/>
                                          </p:val>
                                        </p:tav>
                                        <p:tav tm="100000">
                                          <p:val>
                                            <p:strVal val="#ppt_h"/>
                                          </p:val>
                                        </p:tav>
                                      </p:tavLst>
                                    </p:anim>
                                    <p:animEffect transition="in" filter="fade">
                                      <p:cBhvr>
                                        <p:cTn id="42" dur="500"/>
                                        <p:tgtEl>
                                          <p:spTgt spid="15"/>
                                        </p:tgtEl>
                                      </p:cBhvr>
                                    </p:animEffect>
                                  </p:childTnLst>
                                </p:cTn>
                              </p:par>
                              <p:par>
                                <p:cTn id="48" presetID="53" presetClass="entr" presetSubtype="16"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p:cTn id="45" dur="500" fill="hold"/>
                                        <p:tgtEl>
                                          <p:spTgt spid="16"/>
                                        </p:tgtEl>
                                        <p:attrNameLst>
                                          <p:attrName>ppt_w</p:attrName>
                                        </p:attrNameLst>
                                      </p:cBhvr>
                                      <p:tavLst>
                                        <p:tav tm="0">
                                          <p:val>
                                            <p:fltVal val="0"/>
                                          </p:val>
                                        </p:tav>
                                        <p:tav tm="100000">
                                          <p:val>
                                            <p:strVal val="#ppt_w"/>
                                          </p:val>
                                        </p:tav>
                                      </p:tavLst>
                                    </p:anim>
                                    <p:anim calcmode="lin" valueType="num">
                                      <p:cBhvr>
                                        <p:cTn id="46" dur="500" fill="hold"/>
                                        <p:tgtEl>
                                          <p:spTgt spid="16"/>
                                        </p:tgtEl>
                                        <p:attrNameLst>
                                          <p:attrName>ppt_h</p:attrName>
                                        </p:attrNameLst>
                                      </p:cBhvr>
                                      <p:tavLst>
                                        <p:tav tm="0">
                                          <p:val>
                                            <p:fltVal val="0"/>
                                          </p:val>
                                        </p:tav>
                                        <p:tav tm="100000">
                                          <p:val>
                                            <p:strVal val="#ppt_h"/>
                                          </p:val>
                                        </p:tav>
                                      </p:tavLst>
                                    </p:anim>
                                    <p:animEffect transition="in" filter="fade">
                                      <p:cBhvr>
                                        <p:cTn id="47" dur="500"/>
                                        <p:tgtEl>
                                          <p:spTgt spid="16"/>
                                        </p:tgtEl>
                                      </p:cBhvr>
                                    </p:animEffect>
                                  </p:childTnLst>
                                </p:cTn>
                              </p:par>
                              <p:par>
                                <p:cTn id="51" presetID="10" presetClass="entr" presetSubtype="0" fill="hold" grpId="0" nodeType="withEffect">
                                  <p:stCondLst>
                                    <p:cond delay="30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4" presetID="10" presetClass="entr" presetSubtype="0" fill="hold" grpId="0" nodeType="withEffect">
                                  <p:stCondLst>
                                    <p:cond delay="30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7" presetID="10" presetClass="entr" presetSubtype="0" fill="hold" grpId="0" nodeType="withEffect">
                                  <p:stCondLst>
                                    <p:cond delay="30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60" presetID="10" presetClass="entr" presetSubtype="0" fill="hold" grpId="0" nodeType="withEffect">
                                  <p:stCondLst>
                                    <p:cond delay="30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1" fill="hold">
                      <p:stCondLst>
                        <p:cond delay="indefinite"/>
                      </p:stCondLst>
                      <p:childTnLst>
                        <p:par>
                          <p:cTn id="62" fill="hold">
                            <p:stCondLst>
                              <p:cond delay="0"/>
                            </p:stCondLst>
                            <p:childTnLst>
                              <p:par>
                                <p:cTn id="67" presetID="53" presetClass="entr" presetSubtype="16"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p:cTn id="64" dur="500" fill="hold"/>
                                        <p:tgtEl>
                                          <p:spTgt spid="21"/>
                                        </p:tgtEl>
                                        <p:attrNameLst>
                                          <p:attrName>ppt_w</p:attrName>
                                        </p:attrNameLst>
                                      </p:cBhvr>
                                      <p:tavLst>
                                        <p:tav tm="0">
                                          <p:val>
                                            <p:fltVal val="0"/>
                                          </p:val>
                                        </p:tav>
                                        <p:tav tm="100000">
                                          <p:val>
                                            <p:strVal val="#ppt_w"/>
                                          </p:val>
                                        </p:tav>
                                      </p:tavLst>
                                    </p:anim>
                                    <p:anim calcmode="lin" valueType="num">
                                      <p:cBhvr>
                                        <p:cTn id="65" dur="500" fill="hold"/>
                                        <p:tgtEl>
                                          <p:spTgt spid="21"/>
                                        </p:tgtEl>
                                        <p:attrNameLst>
                                          <p:attrName>ppt_h</p:attrName>
                                        </p:attrNameLst>
                                      </p:cBhvr>
                                      <p:tavLst>
                                        <p:tav tm="0">
                                          <p:val>
                                            <p:fltVal val="0"/>
                                          </p:val>
                                        </p:tav>
                                        <p:tav tm="100000">
                                          <p:val>
                                            <p:strVal val="#ppt_h"/>
                                          </p:val>
                                        </p:tav>
                                      </p:tavLst>
                                    </p:anim>
                                    <p:animEffect transition="in" filter="fade">
                                      <p:cBhvr>
                                        <p:cTn id="66" dur="500"/>
                                        <p:tgtEl>
                                          <p:spTgt spid="21"/>
                                        </p:tgtEl>
                                      </p:cBhvr>
                                    </p:animEffect>
                                  </p:childTnLst>
                                </p:cTn>
                              </p:par>
                              <p:par>
                                <p:cTn id="72" presetID="53" presetClass="entr" presetSubtype="16"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p:cTn id="69" dur="500" fill="hold"/>
                                        <p:tgtEl>
                                          <p:spTgt spid="22"/>
                                        </p:tgtEl>
                                        <p:attrNameLst>
                                          <p:attrName>ppt_w</p:attrName>
                                        </p:attrNameLst>
                                      </p:cBhvr>
                                      <p:tavLst>
                                        <p:tav tm="0">
                                          <p:val>
                                            <p:fltVal val="0"/>
                                          </p:val>
                                        </p:tav>
                                        <p:tav tm="100000">
                                          <p:val>
                                            <p:strVal val="#ppt_w"/>
                                          </p:val>
                                        </p:tav>
                                      </p:tavLst>
                                    </p:anim>
                                    <p:anim calcmode="lin" valueType="num">
                                      <p:cBhvr>
                                        <p:cTn id="70" dur="500" fill="hold"/>
                                        <p:tgtEl>
                                          <p:spTgt spid="22"/>
                                        </p:tgtEl>
                                        <p:attrNameLst>
                                          <p:attrName>ppt_h</p:attrName>
                                        </p:attrNameLst>
                                      </p:cBhvr>
                                      <p:tavLst>
                                        <p:tav tm="0">
                                          <p:val>
                                            <p:fltVal val="0"/>
                                          </p:val>
                                        </p:tav>
                                        <p:tav tm="100000">
                                          <p:val>
                                            <p:strVal val="#ppt_h"/>
                                          </p:val>
                                        </p:tav>
                                      </p:tavLst>
                                    </p:anim>
                                    <p:animEffect transition="in" filter="fade">
                                      <p:cBhvr>
                                        <p:cTn id="71" dur="500"/>
                                        <p:tgtEl>
                                          <p:spTgt spid="22"/>
                                        </p:tgtEl>
                                      </p:cBhvr>
                                    </p:animEffect>
                                  </p:childTnLst>
                                </p:cTn>
                              </p:par>
                              <p:par>
                                <p:cTn id="77" presetID="53" presetClass="entr" presetSubtype="16"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 calcmode="lin" valueType="num">
                                      <p:cBhvr>
                                        <p:cTn id="74" dur="500" fill="hold"/>
                                        <p:tgtEl>
                                          <p:spTgt spid="23"/>
                                        </p:tgtEl>
                                        <p:attrNameLst>
                                          <p:attrName>ppt_w</p:attrName>
                                        </p:attrNameLst>
                                      </p:cBhvr>
                                      <p:tavLst>
                                        <p:tav tm="0">
                                          <p:val>
                                            <p:fltVal val="0"/>
                                          </p:val>
                                        </p:tav>
                                        <p:tav tm="100000">
                                          <p:val>
                                            <p:strVal val="#ppt_w"/>
                                          </p:val>
                                        </p:tav>
                                      </p:tavLst>
                                    </p:anim>
                                    <p:anim calcmode="lin" valueType="num">
                                      <p:cBhvr>
                                        <p:cTn id="75" dur="500" fill="hold"/>
                                        <p:tgtEl>
                                          <p:spTgt spid="23"/>
                                        </p:tgtEl>
                                        <p:attrNameLst>
                                          <p:attrName>ppt_h</p:attrName>
                                        </p:attrNameLst>
                                      </p:cBhvr>
                                      <p:tavLst>
                                        <p:tav tm="0">
                                          <p:val>
                                            <p:fltVal val="0"/>
                                          </p:val>
                                        </p:tav>
                                        <p:tav tm="100000">
                                          <p:val>
                                            <p:strVal val="#ppt_h"/>
                                          </p:val>
                                        </p:tav>
                                      </p:tavLst>
                                    </p:anim>
                                    <p:animEffect transition="in" filter="fade">
                                      <p:cBhvr>
                                        <p:cTn id="76" dur="500"/>
                                        <p:tgtEl>
                                          <p:spTgt spid="23"/>
                                        </p:tgtEl>
                                      </p:cBhvr>
                                    </p:animEffect>
                                  </p:childTnLst>
                                </p:cTn>
                              </p:par>
                              <p:par>
                                <p:cTn id="80" presetID="10" presetClass="entr" presetSubtype="0" fill="hold" grpId="0" nodeType="withEffect">
                                  <p:stCondLst>
                                    <p:cond delay="30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par>
                                <p:cTn id="83" presetID="10" presetClass="entr" presetSubtype="0" fill="hold" grpId="0" nodeType="withEffect">
                                  <p:stCondLst>
                                    <p:cond delay="30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500"/>
                                        <p:tgtEl>
                                          <p:spTgt spid="25"/>
                                        </p:tgtEl>
                                      </p:cBhvr>
                                    </p:animEffect>
                                  </p:childTnLst>
                                </p:cTn>
                              </p:par>
                              <p:par>
                                <p:cTn id="86" presetID="10" presetClass="entr" presetSubtype="0" fill="hold" grpId="0" nodeType="withEffect">
                                  <p:stCondLst>
                                    <p:cond delay="30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00"/>
                                        <p:tgtEl>
                                          <p:spTgt spid="26"/>
                                        </p:tgtEl>
                                      </p:cBhvr>
                                    </p:animEffect>
                                  </p:childTnLst>
                                </p:cTn>
                              </p:par>
                              <p:par>
                                <p:cTn id="89" presetID="10" presetClass="entr" presetSubtype="0" fill="hold" grpId="0" nodeType="withEffect">
                                  <p:stCondLst>
                                    <p:cond delay="30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childTnLst>
                                </p:cTn>
                              </p:par>
                            </p:childTnLst>
                          </p:cTn>
                        </p:par>
                      </p:childTnLst>
                    </p:cTn>
                  </p:par>
                  <p:par>
                    <p:cTn id="90" fill="hold">
                      <p:stCondLst>
                        <p:cond delay="indefinite"/>
                      </p:stCondLst>
                      <p:childTnLst>
                        <p:par>
                          <p:cTn id="91" fill="hold">
                            <p:stCondLst>
                              <p:cond delay="0"/>
                            </p:stCondLst>
                            <p:childTnLst>
                              <p:par>
                                <p:cTn id="96" presetID="53" presetClass="entr" presetSubtype="16"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p:cTn id="93" dur="500" fill="hold"/>
                                        <p:tgtEl>
                                          <p:spTgt spid="28"/>
                                        </p:tgtEl>
                                        <p:attrNameLst>
                                          <p:attrName>ppt_w</p:attrName>
                                        </p:attrNameLst>
                                      </p:cBhvr>
                                      <p:tavLst>
                                        <p:tav tm="0">
                                          <p:val>
                                            <p:fltVal val="0"/>
                                          </p:val>
                                        </p:tav>
                                        <p:tav tm="100000">
                                          <p:val>
                                            <p:strVal val="#ppt_w"/>
                                          </p:val>
                                        </p:tav>
                                      </p:tavLst>
                                    </p:anim>
                                    <p:anim calcmode="lin" valueType="num">
                                      <p:cBhvr>
                                        <p:cTn id="94" dur="500" fill="hold"/>
                                        <p:tgtEl>
                                          <p:spTgt spid="28"/>
                                        </p:tgtEl>
                                        <p:attrNameLst>
                                          <p:attrName>ppt_h</p:attrName>
                                        </p:attrNameLst>
                                      </p:cBhvr>
                                      <p:tavLst>
                                        <p:tav tm="0">
                                          <p:val>
                                            <p:fltVal val="0"/>
                                          </p:val>
                                        </p:tav>
                                        <p:tav tm="100000">
                                          <p:val>
                                            <p:strVal val="#ppt_h"/>
                                          </p:val>
                                        </p:tav>
                                      </p:tavLst>
                                    </p:anim>
                                    <p:animEffect transition="in" filter="fade">
                                      <p:cBhvr>
                                        <p:cTn id="95" dur="500"/>
                                        <p:tgtEl>
                                          <p:spTgt spid="28"/>
                                        </p:tgtEl>
                                      </p:cBhvr>
                                    </p:animEffect>
                                  </p:childTnLst>
                                </p:cTn>
                              </p:par>
                              <p:par>
                                <p:cTn id="101" presetID="53" presetClass="entr" presetSubtype="16"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 calcmode="lin" valueType="num">
                                      <p:cBhvr>
                                        <p:cTn id="98" dur="500" fill="hold"/>
                                        <p:tgtEl>
                                          <p:spTgt spid="29"/>
                                        </p:tgtEl>
                                        <p:attrNameLst>
                                          <p:attrName>ppt_w</p:attrName>
                                        </p:attrNameLst>
                                      </p:cBhvr>
                                      <p:tavLst>
                                        <p:tav tm="0">
                                          <p:val>
                                            <p:fltVal val="0"/>
                                          </p:val>
                                        </p:tav>
                                        <p:tav tm="100000">
                                          <p:val>
                                            <p:strVal val="#ppt_w"/>
                                          </p:val>
                                        </p:tav>
                                      </p:tavLst>
                                    </p:anim>
                                    <p:anim calcmode="lin" valueType="num">
                                      <p:cBhvr>
                                        <p:cTn id="99" dur="500" fill="hold"/>
                                        <p:tgtEl>
                                          <p:spTgt spid="29"/>
                                        </p:tgtEl>
                                        <p:attrNameLst>
                                          <p:attrName>ppt_h</p:attrName>
                                        </p:attrNameLst>
                                      </p:cBhvr>
                                      <p:tavLst>
                                        <p:tav tm="0">
                                          <p:val>
                                            <p:fltVal val="0"/>
                                          </p:val>
                                        </p:tav>
                                        <p:tav tm="100000">
                                          <p:val>
                                            <p:strVal val="#ppt_h"/>
                                          </p:val>
                                        </p:tav>
                                      </p:tavLst>
                                    </p:anim>
                                    <p:animEffect transition="in" filter="fade">
                                      <p:cBhvr>
                                        <p:cTn id="100" dur="500"/>
                                        <p:tgtEl>
                                          <p:spTgt spid="29"/>
                                        </p:tgtEl>
                                      </p:cBhvr>
                                    </p:animEffect>
                                  </p:childTnLst>
                                </p:cTn>
                              </p:par>
                              <p:par>
                                <p:cTn id="106" presetID="53" presetClass="entr" presetSubtype="16"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p:cTn id="103" dur="500" fill="hold"/>
                                        <p:tgtEl>
                                          <p:spTgt spid="30"/>
                                        </p:tgtEl>
                                        <p:attrNameLst>
                                          <p:attrName>ppt_w</p:attrName>
                                        </p:attrNameLst>
                                      </p:cBhvr>
                                      <p:tavLst>
                                        <p:tav tm="0">
                                          <p:val>
                                            <p:fltVal val="0"/>
                                          </p:val>
                                        </p:tav>
                                        <p:tav tm="100000">
                                          <p:val>
                                            <p:strVal val="#ppt_w"/>
                                          </p:val>
                                        </p:tav>
                                      </p:tavLst>
                                    </p:anim>
                                    <p:anim calcmode="lin" valueType="num">
                                      <p:cBhvr>
                                        <p:cTn id="104" dur="500" fill="hold"/>
                                        <p:tgtEl>
                                          <p:spTgt spid="30"/>
                                        </p:tgtEl>
                                        <p:attrNameLst>
                                          <p:attrName>ppt_h</p:attrName>
                                        </p:attrNameLst>
                                      </p:cBhvr>
                                      <p:tavLst>
                                        <p:tav tm="0">
                                          <p:val>
                                            <p:fltVal val="0"/>
                                          </p:val>
                                        </p:tav>
                                        <p:tav tm="100000">
                                          <p:val>
                                            <p:strVal val="#ppt_h"/>
                                          </p:val>
                                        </p:tav>
                                      </p:tavLst>
                                    </p:anim>
                                    <p:animEffect transition="in" filter="fade">
                                      <p:cBhvr>
                                        <p:cTn id="105" dur="500"/>
                                        <p:tgtEl>
                                          <p:spTgt spid="30"/>
                                        </p:tgtEl>
                                      </p:cBhvr>
                                    </p:animEffect>
                                  </p:childTnLst>
                                </p:cTn>
                              </p:par>
                              <p:par>
                                <p:cTn id="109" presetID="10" presetClass="entr" presetSubtype="0" fill="hold" grpId="0" nodeType="withEffect">
                                  <p:stCondLst>
                                    <p:cond delay="300"/>
                                  </p:stCondLst>
                                  <p:childTnLst>
                                    <p:set>
                                      <p:cBhvr>
                                        <p:cTn id="107" dur="1" fill="hold">
                                          <p:stCondLst>
                                            <p:cond delay="0"/>
                                          </p:stCondLst>
                                        </p:cTn>
                                        <p:tgtEl>
                                          <p:spTgt spid="31"/>
                                        </p:tgtEl>
                                        <p:attrNameLst>
                                          <p:attrName>style.visibility</p:attrName>
                                        </p:attrNameLst>
                                      </p:cBhvr>
                                      <p:to>
                                        <p:strVal val="visible"/>
                                      </p:to>
                                    </p:set>
                                    <p:animEffect transition="in" filter="fade">
                                      <p:cBhvr>
                                        <p:cTn id="108" dur="500"/>
                                        <p:tgtEl>
                                          <p:spTgt spid="31"/>
                                        </p:tgtEl>
                                      </p:cBhvr>
                                    </p:animEffect>
                                  </p:childTnLst>
                                </p:cTn>
                              </p:par>
                              <p:par>
                                <p:cTn id="112" presetID="10" presetClass="entr" presetSubtype="0" fill="hold" grpId="0" nodeType="withEffect">
                                  <p:stCondLst>
                                    <p:cond delay="300"/>
                                  </p:stCondLst>
                                  <p:childTnLst>
                                    <p:set>
                                      <p:cBhvr>
                                        <p:cTn id="110" dur="1" fill="hold">
                                          <p:stCondLst>
                                            <p:cond delay="0"/>
                                          </p:stCondLst>
                                        </p:cTn>
                                        <p:tgtEl>
                                          <p:spTgt spid="32"/>
                                        </p:tgtEl>
                                        <p:attrNameLst>
                                          <p:attrName>style.visibility</p:attrName>
                                        </p:attrNameLst>
                                      </p:cBhvr>
                                      <p:to>
                                        <p:strVal val="visible"/>
                                      </p:to>
                                    </p:set>
                                    <p:animEffect transition="in" filter="fade">
                                      <p:cBhvr>
                                        <p:cTn id="111" dur="500"/>
                                        <p:tgtEl>
                                          <p:spTgt spid="32"/>
                                        </p:tgtEl>
                                      </p:cBhvr>
                                    </p:animEffect>
                                  </p:childTnLst>
                                </p:cTn>
                              </p:par>
                              <p:par>
                                <p:cTn id="115" presetID="10" presetClass="entr" presetSubtype="0" fill="hold" grpId="0" nodeType="withEffect">
                                  <p:stCondLst>
                                    <p:cond delay="30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4" dur="500"/>
                                        <p:tgtEl>
                                          <p:spTgt spid="33"/>
                                        </p:tgtEl>
                                      </p:cBhvr>
                                    </p:animEffect>
                                  </p:childTnLst>
                                </p:cTn>
                              </p:par>
                              <p:par>
                                <p:cTn id="118" presetID="10" presetClass="entr" presetSubtype="0" fill="hold" grpId="0" nodeType="withEffect">
                                  <p:stCondLst>
                                    <p:cond delay="300"/>
                                  </p:stCondLst>
                                  <p:childTnLst>
                                    <p:set>
                                      <p:cBhvr>
                                        <p:cTn id="116" dur="1" fill="hold">
                                          <p:stCondLst>
                                            <p:cond delay="0"/>
                                          </p:stCondLst>
                                        </p:cTn>
                                        <p:tgtEl>
                                          <p:spTgt spid="34"/>
                                        </p:tgtEl>
                                        <p:attrNameLst>
                                          <p:attrName>style.visibility</p:attrName>
                                        </p:attrNameLst>
                                      </p:cBhvr>
                                      <p:to>
                                        <p:strVal val="visible"/>
                                      </p:to>
                                    </p:set>
                                    <p:animEffect transition="in" filter="fade">
                                      <p:cBhvr>
                                        <p:cTn id="1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8_title" descr="أستكشف">    </p:cNvPr>
          <p:cNvPicPr>
            <a:picLocks noChangeAspect="1"/>
          </p:cNvPicPr>
          <p:nvPr/>
        </p:nvPicPr>
        <p:blipFill>
          <a:blip r:embed="rId2"/>
          <a:stretch>
            <a:fillRect/>
          </a:stretch>
        </p:blipFill>
        <p:spPr>
          <a:xfrm>
            <a:off x="9584968" y="109728"/>
            <a:ext cx="2256512" cy="868680"/>
          </a:xfrm>
          <a:prstGeom prst="rect">
            <a:avLst/>
          </a:prstGeom>
        </p:spPr>
      </p:pic>
      <p:sp>
        <p:nvSpPr>
          <p:cNvPr id="3" name="s8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الاستقصاء – توقّعي، لاحظي، فسّري</a:t>
            </a:r>
            <a:endParaRPr lang="ar-SA" sz="1700" dirty="0"/>
          </a:p>
        </p:txBody>
      </p:sp>
      <p:pic>
        <p:nvPicPr>
          <p:cNvPr id="4" name="s8_pic_1" descr="/tmp/claude-0/-home-user-Scienceshamah/8386cda7-7741-5ea4-8952-60ee8e67fc31/scratchpad/w3/img/card_1193x233_8FD8FF_s_i.png">    </p:cNvPr>
          <p:cNvPicPr>
            <a:picLocks noChangeAspect="1"/>
          </p:cNvPicPr>
          <p:nvPr/>
        </p:nvPicPr>
        <p:blipFill>
          <a:blip r:embed="rId3"/>
          <a:stretch>
            <a:fillRect/>
          </a:stretch>
        </p:blipFill>
        <p:spPr>
          <a:xfrm>
            <a:off x="4480560" y="1051560"/>
            <a:ext cx="7269480" cy="1417320"/>
          </a:xfrm>
          <a:prstGeom prst="rect">
            <a:avLst/>
          </a:prstGeom>
        </p:spPr>
      </p:pic>
      <p:sp>
        <p:nvSpPr>
          <p:cNvPr id="5" name="s8_t_2"/>
          <p:cNvSpPr txBox="1"/>
          <p:nvPr/>
        </p:nvSpPr>
        <p:spPr>
          <a:xfrm>
            <a:off x="4663440" y="1097280"/>
            <a:ext cx="6903720" cy="1325880"/>
          </a:xfrm>
          <a:prstGeom prst="rect">
            <a:avLst/>
          </a:prstGeom>
          <a:noFill/>
          <a:ln/>
        </p:spPr>
        <p:txBody>
          <a:bodyPr wrap="square" lIns="762" tIns="762" rIns="762" bIns="762" rtlCol="0" anchor="ctr"/>
          <a:lstStyle/>
          <a:p>
            <a:pPr rtl="1" algn="r" indent="0" marL="0">
              <a:lnSpc>
                <a:spcPct val="108000"/>
              </a:lnSpc>
              <a:buNone/>
            </a:pPr>
            <a:r>
              <a:rPr lang="ar-SA" altLang="en-US" sz="2200" b="1" dirty="0">
                <a:solidFill>
                  <a:srgbClr val="1E7FB8"/>
                </a:solidFill>
                <a:latin typeface="Tahoma" pitchFamily="34" charset="0"/>
                <a:ea typeface="Tahoma" pitchFamily="34" charset="-122"/>
                <a:cs typeface="Tahoma" pitchFamily="34" charset="-120"/>
              </a:rPr>
              <a:t>سؤال الاستقصاء: </a:t>
            </a:r>
            <a:r>
              <a:rPr lang="ar-SA" altLang="en-US" sz="2200" b="1" dirty="0">
                <a:solidFill>
                  <a:srgbClr val="34405E"/>
                </a:solidFill>
                <a:latin typeface="Tahoma" pitchFamily="34" charset="0"/>
                <a:ea typeface="Tahoma" pitchFamily="34" charset="-122"/>
                <a:cs typeface="Tahoma" pitchFamily="34" charset="-120"/>
              </a:rPr>
              <a:t>ما مقدارُ الطاقةِ الَّتي تستهلكها المخلوقاتُ الحية؟</a:t>
            </a:r>
            <a:endParaRPr lang="ar-SA" sz="2200" dirty="0"/>
          </a:p>
        </p:txBody>
      </p:sp>
      <p:pic>
        <p:nvPicPr>
          <p:cNvPr id="6" name="s8_pic_3" descr="/tmp/claude-0/-home-user-Scienceshamah/8386cda7-7741-5ea4-8952-60ee8e67fc31/scratchpad/w3/img/card_1193x180_FFFFFF_s_i.png">    </p:cNvPr>
          <p:cNvPicPr>
            <a:picLocks noChangeAspect="1"/>
          </p:cNvPicPr>
          <p:nvPr/>
        </p:nvPicPr>
        <p:blipFill>
          <a:blip r:embed="rId4"/>
          <a:stretch>
            <a:fillRect/>
          </a:stretch>
        </p:blipFill>
        <p:spPr>
          <a:xfrm>
            <a:off x="4480560" y="2606040"/>
            <a:ext cx="7269480" cy="1097280"/>
          </a:xfrm>
          <a:prstGeom prst="rect">
            <a:avLst/>
          </a:prstGeom>
        </p:spPr>
      </p:pic>
      <p:sp>
        <p:nvSpPr>
          <p:cNvPr id="7" name="s8_t_4"/>
          <p:cNvSpPr txBox="1"/>
          <p:nvPr/>
        </p:nvSpPr>
        <p:spPr>
          <a:xfrm>
            <a:off x="4663440" y="2651760"/>
            <a:ext cx="6903720" cy="1005840"/>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2F8A3A"/>
                </a:solidFill>
                <a:latin typeface="Tahoma" pitchFamily="34" charset="0"/>
                <a:ea typeface="Tahoma" pitchFamily="34" charset="-122"/>
                <a:cs typeface="Tahoma" pitchFamily="34" charset="-120"/>
              </a:rPr>
              <a:t>الهدف: </a:t>
            </a:r>
            <a:r>
              <a:rPr lang="ar-SA" altLang="en-US" sz="1900" b="1" dirty="0">
                <a:solidFill>
                  <a:srgbClr val="34405E"/>
                </a:solidFill>
                <a:latin typeface="Tahoma" pitchFamily="34" charset="0"/>
                <a:ea typeface="Tahoma" pitchFamily="34" charset="-122"/>
                <a:cs typeface="Tahoma" pitchFamily="34" charset="-120"/>
              </a:rPr>
              <a:t>عمل نموذج يوضّح انتقال الطاقة من مخلوق حيّ إلى آخر في النظام البيئي.</a:t>
            </a:r>
            <a:endParaRPr lang="ar-SA" sz="1900" dirty="0"/>
          </a:p>
        </p:txBody>
      </p:sp>
      <p:pic>
        <p:nvPicPr>
          <p:cNvPr id="8" name="s8_pic_5" descr="/tmp/claude-0/-home-user-Scienceshamah/8386cda7-7741-5ea4-8952-60ee8e67fc31/scratchpad/w3/img/card_623x630_FFE066_s_i.png">    </p:cNvPr>
          <p:cNvPicPr>
            <a:picLocks noChangeAspect="1"/>
          </p:cNvPicPr>
          <p:nvPr/>
        </p:nvPicPr>
        <p:blipFill>
          <a:blip r:embed="rId5"/>
          <a:stretch>
            <a:fillRect/>
          </a:stretch>
        </p:blipFill>
        <p:spPr>
          <a:xfrm>
            <a:off x="457200" y="1051560"/>
            <a:ext cx="3794760" cy="3840480"/>
          </a:xfrm>
          <a:prstGeom prst="rect">
            <a:avLst/>
          </a:prstGeom>
        </p:spPr>
      </p:pic>
      <p:sp>
        <p:nvSpPr>
          <p:cNvPr id="9" name="s8_t_6"/>
          <p:cNvSpPr txBox="1"/>
          <p:nvPr/>
        </p:nvSpPr>
        <p:spPr>
          <a:xfrm>
            <a:off x="548640" y="1097280"/>
            <a:ext cx="3611880" cy="457200"/>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A87400"/>
                </a:solidFill>
                <a:latin typeface="Tahoma" pitchFamily="34" charset="0"/>
                <a:ea typeface="Tahoma" pitchFamily="34" charset="-122"/>
                <a:cs typeface="Tahoma" pitchFamily="34" charset="-120"/>
              </a:rPr>
              <a:t>أحتاج إلى:</a:t>
            </a:r>
            <a:endParaRPr lang="ar-SA" sz="2000" dirty="0"/>
          </a:p>
        </p:txBody>
      </p:sp>
      <p:pic>
        <p:nvPicPr>
          <p:cNvPr id="10" name="s8_pic_7" descr="قلم تخطيط">    </p:cNvPr>
          <p:cNvPicPr>
            <a:picLocks noChangeAspect="1"/>
          </p:cNvPicPr>
          <p:nvPr/>
        </p:nvPicPr>
        <p:blipFill>
          <a:blip r:embed="rId6"/>
          <a:stretch>
            <a:fillRect/>
          </a:stretch>
        </p:blipFill>
        <p:spPr>
          <a:xfrm>
            <a:off x="2926080" y="1600200"/>
            <a:ext cx="548640" cy="548640"/>
          </a:xfrm>
          <a:prstGeom prst="rect">
            <a:avLst/>
          </a:prstGeom>
        </p:spPr>
      </p:pic>
      <p:sp>
        <p:nvSpPr>
          <p:cNvPr id="11" name="s8_t_8"/>
          <p:cNvSpPr txBox="1"/>
          <p:nvPr/>
        </p:nvSpPr>
        <p:spPr>
          <a:xfrm>
            <a:off x="2377440" y="2148840"/>
            <a:ext cx="1645920" cy="4114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قلم تخطيط</a:t>
            </a:r>
            <a:endParaRPr lang="ar-SA" sz="1600" dirty="0"/>
          </a:p>
        </p:txBody>
      </p:sp>
      <p:pic>
        <p:nvPicPr>
          <p:cNvPr id="12" name="s8_pic_9" descr="أقلام تلوين">    </p:cNvPr>
          <p:cNvPicPr>
            <a:picLocks noChangeAspect="1"/>
          </p:cNvPicPr>
          <p:nvPr/>
        </p:nvPicPr>
        <p:blipFill>
          <a:blip r:embed="rId7"/>
          <a:stretch>
            <a:fillRect/>
          </a:stretch>
        </p:blipFill>
        <p:spPr>
          <a:xfrm>
            <a:off x="1143000" y="1600200"/>
            <a:ext cx="548640" cy="548640"/>
          </a:xfrm>
          <a:prstGeom prst="rect">
            <a:avLst/>
          </a:prstGeom>
        </p:spPr>
      </p:pic>
      <p:sp>
        <p:nvSpPr>
          <p:cNvPr id="13" name="s8_t_10"/>
          <p:cNvSpPr txBox="1"/>
          <p:nvPr/>
        </p:nvSpPr>
        <p:spPr>
          <a:xfrm>
            <a:off x="594360" y="2148840"/>
            <a:ext cx="1645920" cy="4114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أقلام تلوين</a:t>
            </a:r>
            <a:endParaRPr lang="ar-SA" sz="1600" dirty="0"/>
          </a:p>
        </p:txBody>
      </p:sp>
      <p:pic>
        <p:nvPicPr>
          <p:cNvPr id="14" name="s8_pic_11" descr="مقصّ">    </p:cNvPr>
          <p:cNvPicPr>
            <a:picLocks noChangeAspect="1"/>
          </p:cNvPicPr>
          <p:nvPr/>
        </p:nvPicPr>
        <p:blipFill>
          <a:blip r:embed="rId8"/>
          <a:stretch>
            <a:fillRect/>
          </a:stretch>
        </p:blipFill>
        <p:spPr>
          <a:xfrm>
            <a:off x="2926080" y="2651760"/>
            <a:ext cx="548640" cy="548640"/>
          </a:xfrm>
          <a:prstGeom prst="rect">
            <a:avLst/>
          </a:prstGeom>
        </p:spPr>
      </p:pic>
      <p:sp>
        <p:nvSpPr>
          <p:cNvPr id="15" name="s8_t_12"/>
          <p:cNvSpPr txBox="1"/>
          <p:nvPr/>
        </p:nvSpPr>
        <p:spPr>
          <a:xfrm>
            <a:off x="2377440" y="3200400"/>
            <a:ext cx="1645920" cy="4114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مقصّ</a:t>
            </a:r>
            <a:endParaRPr lang="ar-SA" sz="1600" dirty="0"/>
          </a:p>
        </p:txBody>
      </p:sp>
      <p:pic>
        <p:nvPicPr>
          <p:cNvPr id="16" name="s8_pic_13" descr="بطاقات">    </p:cNvPr>
          <p:cNvPicPr>
            <a:picLocks noChangeAspect="1"/>
          </p:cNvPicPr>
          <p:nvPr/>
        </p:nvPicPr>
        <p:blipFill>
          <a:blip r:embed="rId9"/>
          <a:stretch>
            <a:fillRect/>
          </a:stretch>
        </p:blipFill>
        <p:spPr>
          <a:xfrm>
            <a:off x="1143000" y="2651760"/>
            <a:ext cx="548640" cy="548640"/>
          </a:xfrm>
          <a:prstGeom prst="rect">
            <a:avLst/>
          </a:prstGeom>
        </p:spPr>
      </p:pic>
      <p:sp>
        <p:nvSpPr>
          <p:cNvPr id="17" name="s8_t_14"/>
          <p:cNvSpPr txBox="1"/>
          <p:nvPr/>
        </p:nvSpPr>
        <p:spPr>
          <a:xfrm>
            <a:off x="594360" y="3200400"/>
            <a:ext cx="1645920" cy="4114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بطاقات</a:t>
            </a:r>
            <a:endParaRPr lang="ar-SA" sz="1600" dirty="0"/>
          </a:p>
        </p:txBody>
      </p:sp>
      <p:pic>
        <p:nvPicPr>
          <p:cNvPr id="18" name="s8_pic_15" descr="مسطرة مترية">    </p:cNvPr>
          <p:cNvPicPr>
            <a:picLocks noChangeAspect="1"/>
          </p:cNvPicPr>
          <p:nvPr/>
        </p:nvPicPr>
        <p:blipFill>
          <a:blip r:embed="rId10"/>
          <a:stretch>
            <a:fillRect/>
          </a:stretch>
        </p:blipFill>
        <p:spPr>
          <a:xfrm>
            <a:off x="2926080" y="3703320"/>
            <a:ext cx="548640" cy="548640"/>
          </a:xfrm>
          <a:prstGeom prst="rect">
            <a:avLst/>
          </a:prstGeom>
        </p:spPr>
      </p:pic>
      <p:sp>
        <p:nvSpPr>
          <p:cNvPr id="19" name="s8_t_16"/>
          <p:cNvSpPr txBox="1"/>
          <p:nvPr/>
        </p:nvSpPr>
        <p:spPr>
          <a:xfrm>
            <a:off x="2377440" y="4251960"/>
            <a:ext cx="1645920" cy="4114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مسطرة مترية</a:t>
            </a:r>
            <a:endParaRPr lang="ar-SA" sz="1600" dirty="0"/>
          </a:p>
        </p:txBody>
      </p:sp>
      <p:pic>
        <p:nvPicPr>
          <p:cNvPr id="20" name="s8_pic_17" descr="شريط ورقي">    </p:cNvPr>
          <p:cNvPicPr>
            <a:picLocks noChangeAspect="1"/>
          </p:cNvPicPr>
          <p:nvPr/>
        </p:nvPicPr>
        <p:blipFill>
          <a:blip r:embed="rId11"/>
          <a:stretch>
            <a:fillRect/>
          </a:stretch>
        </p:blipFill>
        <p:spPr>
          <a:xfrm>
            <a:off x="1143000" y="3703320"/>
            <a:ext cx="548640" cy="548640"/>
          </a:xfrm>
          <a:prstGeom prst="rect">
            <a:avLst/>
          </a:prstGeom>
        </p:spPr>
      </p:pic>
      <p:sp>
        <p:nvSpPr>
          <p:cNvPr id="21" name="s8_t_18"/>
          <p:cNvSpPr txBox="1"/>
          <p:nvPr/>
        </p:nvSpPr>
        <p:spPr>
          <a:xfrm>
            <a:off x="594360" y="4251960"/>
            <a:ext cx="1645920" cy="41148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شريط ورقي</a:t>
            </a:r>
            <a:endParaRPr lang="ar-SA" sz="1600" dirty="0"/>
          </a:p>
        </p:txBody>
      </p:sp>
      <p:pic>
        <p:nvPicPr>
          <p:cNvPr id="22" name="!!cards" descr="بطاقات النشاط: الشمس، نبات، آكل نبات، آكل لحوم (من الكتاب)">    </p:cNvPr>
          <p:cNvPicPr>
            <a:picLocks noChangeAspect="1"/>
          </p:cNvPicPr>
          <p:nvPr/>
        </p:nvPicPr>
        <p:blipFill>
          <a:blip r:embed="rId12"/>
          <a:stretch>
            <a:fillRect/>
          </a:stretch>
        </p:blipFill>
        <p:spPr>
          <a:xfrm>
            <a:off x="685800" y="4983480"/>
            <a:ext cx="1304401" cy="1188720"/>
          </a:xfrm>
          <a:prstGeom prst="rect">
            <a:avLst/>
          </a:prstGeom>
        </p:spPr>
      </p:pic>
      <p:pic>
        <p:nvPicPr>
          <p:cNvPr id="23" name="s8_pic_19" descr="/tmp/claude-0/-home-user-Scienceshamah/8386cda7-7741-5ea4-8952-60ee8e67fc31/scratchpad/w3/img/card_1193x143_FFE5E5_s_i.png">    </p:cNvPr>
          <p:cNvPicPr>
            <a:picLocks noChangeAspect="1"/>
          </p:cNvPicPr>
          <p:nvPr/>
        </p:nvPicPr>
        <p:blipFill>
          <a:blip r:embed="rId13"/>
          <a:stretch>
            <a:fillRect/>
          </a:stretch>
        </p:blipFill>
        <p:spPr>
          <a:xfrm>
            <a:off x="4480560" y="3840480"/>
            <a:ext cx="7269480" cy="868680"/>
          </a:xfrm>
          <a:prstGeom prst="rect">
            <a:avLst/>
          </a:prstGeom>
        </p:spPr>
      </p:pic>
      <p:sp>
        <p:nvSpPr>
          <p:cNvPr id="24" name="s8_t_20"/>
          <p:cNvSpPr txBox="1"/>
          <p:nvPr/>
        </p:nvSpPr>
        <p:spPr>
          <a:xfrm>
            <a:off x="4663440" y="3858768"/>
            <a:ext cx="6903720" cy="82296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D23B3B"/>
                </a:solidFill>
                <a:latin typeface="Tahoma" pitchFamily="34" charset="0"/>
                <a:ea typeface="Tahoma" pitchFamily="34" charset="-122"/>
                <a:cs typeface="Tahoma" pitchFamily="34" charset="-120"/>
              </a:rPr>
              <a:t>⚠️ احتياطات السلامة: أستخدم المقصّ بحذر، وأوجّه طرفه بعيدًا عن زميلاتي.</a:t>
            </a:r>
            <a:endParaRPr lang="ar-SA" sz="1800" dirty="0"/>
          </a:p>
        </p:txBody>
      </p:sp>
      <p:pic>
        <p:nvPicPr>
          <p:cNvPr id="25" name="s8_pic_21" descr="/tmp/claude-0/-home-user-Scienceshamah/8386cda7-7741-5ea4-8952-60ee8e67fc31/scratchpad/w3/img/card_1193x210_C9A8FF_s_i.png">    </p:cNvPr>
          <p:cNvPicPr>
            <a:picLocks noChangeAspect="1"/>
          </p:cNvPicPr>
          <p:nvPr/>
        </p:nvPicPr>
        <p:blipFill>
          <a:blip r:embed="rId14"/>
          <a:stretch>
            <a:fillRect/>
          </a:stretch>
        </p:blipFill>
        <p:spPr>
          <a:xfrm>
            <a:off x="4480560" y="4846320"/>
            <a:ext cx="7269480" cy="1280160"/>
          </a:xfrm>
          <a:prstGeom prst="rect">
            <a:avLst/>
          </a:prstGeom>
        </p:spPr>
      </p:pic>
      <p:sp>
        <p:nvSpPr>
          <p:cNvPr id="26" name="s8_t_22"/>
          <p:cNvSpPr txBox="1"/>
          <p:nvPr/>
        </p:nvSpPr>
        <p:spPr>
          <a:xfrm>
            <a:off x="4663440" y="4892040"/>
            <a:ext cx="6903720" cy="1188720"/>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6B4FC0"/>
                </a:solidFill>
                <a:latin typeface="Tahoma" pitchFamily="34" charset="0"/>
                <a:ea typeface="Tahoma" pitchFamily="34" charset="-122"/>
                <a:cs typeface="Tahoma" pitchFamily="34" charset="-120"/>
              </a:rPr>
              <a:t>١ توقّعي: </a:t>
            </a:r>
            <a:r>
              <a:rPr lang="ar-SA" altLang="en-US" sz="1900" b="1" dirty="0">
                <a:solidFill>
                  <a:srgbClr val="34405E"/>
                </a:solidFill>
                <a:latin typeface="Tahoma" pitchFamily="34" charset="0"/>
                <a:ea typeface="Tahoma" pitchFamily="34" charset="-122"/>
                <a:cs typeface="Tahoma" pitchFamily="34" charset="-120"/>
              </a:rPr>
              <a:t>هل سيحصل آكل اللحوم على طاقة أكثر أم أقل من النبات؟ اكتبي توقعك قبل التجربة.</a:t>
            </a:r>
            <a:endParaRPr lang="ar-SA" sz="1900" dirty="0"/>
          </a:p>
        </p:txBody>
      </p:sp>
    </p:spTree>
  </p:cSld>
  <p:clrMapOvr>
    <a:masterClrMapping/>
  </p:clrMapOvr>
  <mc:AlternateContent xmlns:mc="http://schemas.openxmlformats.org/markup-compatibility/2006">
    <mc:Choice xmlns:p14="http://schemas.microsoft.com/office/powerpoint/2010/main" Requires="p14">
      <p:transition spd="slow" p14:dur="14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23"/>
                                        </p:tgtEl>
                                        <p:attrNameLst>
                                          <p:attrName>style.visibility</p:attrName>
                                        </p:attrNameLst>
                                      </p:cBhvr>
                                      <p:to>
                                        <p:strVal val="visible"/>
                                      </p:to>
                                    </p:set>
                                    <p:anim calcmode="lin" valueType="num">
                                      <p:cBhvr>
                                        <p:cTn id="6" dur="500" fill="hold"/>
                                        <p:tgtEl>
                                          <p:spTgt spid="23"/>
                                        </p:tgtEl>
                                        <p:attrNameLst>
                                          <p:attrName>ppt_w</p:attrName>
                                        </p:attrNameLst>
                                      </p:cBhvr>
                                      <p:tavLst>
                                        <p:tav tm="0">
                                          <p:val>
                                            <p:fltVal val="0"/>
                                          </p:val>
                                        </p:tav>
                                        <p:tav tm="100000">
                                          <p:val>
                                            <p:strVal val="#ppt_w"/>
                                          </p:val>
                                        </p:tav>
                                      </p:tavLst>
                                    </p:anim>
                                    <p:anim calcmode="lin" valueType="num">
                                      <p:cBhvr>
                                        <p:cTn id="7" dur="500" fill="hold"/>
                                        <p:tgtEl>
                                          <p:spTgt spid="23"/>
                                        </p:tgtEl>
                                        <p:attrNameLst>
                                          <p:attrName>ppt_h</p:attrName>
                                        </p:attrNameLst>
                                      </p:cBhvr>
                                      <p:tavLst>
                                        <p:tav tm="0">
                                          <p:val>
                                            <p:fltVal val="0"/>
                                          </p:val>
                                        </p:tav>
                                        <p:tav tm="100000">
                                          <p:val>
                                            <p:strVal val="#ppt_h"/>
                                          </p:val>
                                        </p:tav>
                                      </p:tavLst>
                                    </p:anim>
                                    <p:animEffect transition="in" filter="fade">
                                      <p:cBhvr>
                                        <p:cTn id="8" dur="500"/>
                                        <p:tgtEl>
                                          <p:spTgt spid="23"/>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p:cTn id="11" dur="500" fill="hold"/>
                                        <p:tgtEl>
                                          <p:spTgt spid="24"/>
                                        </p:tgtEl>
                                        <p:attrNameLst>
                                          <p:attrName>ppt_w</p:attrName>
                                        </p:attrNameLst>
                                      </p:cBhvr>
                                      <p:tavLst>
                                        <p:tav tm="0">
                                          <p:val>
                                            <p:fltVal val="0"/>
                                          </p:val>
                                        </p:tav>
                                        <p:tav tm="100000">
                                          <p:val>
                                            <p:strVal val="#ppt_w"/>
                                          </p:val>
                                        </p:tav>
                                      </p:tavLst>
                                    </p:anim>
                                    <p:anim calcmode="lin" valueType="num">
                                      <p:cBhvr>
                                        <p:cTn id="12" dur="500" fill="hold"/>
                                        <p:tgtEl>
                                          <p:spTgt spid="24"/>
                                        </p:tgtEl>
                                        <p:attrNameLst>
                                          <p:attrName>ppt_h</p:attrName>
                                        </p:attrNameLst>
                                      </p:cBhvr>
                                      <p:tavLst>
                                        <p:tav tm="0">
                                          <p:val>
                                            <p:fltVal val="0"/>
                                          </p:val>
                                        </p:tav>
                                        <p:tav tm="100000">
                                          <p:val>
                                            <p:strVal val="#ppt_h"/>
                                          </p:val>
                                        </p:tav>
                                      </p:tavLst>
                                    </p:anim>
                                    <p:animEffect transition="in" filter="fade">
                                      <p:cBhvr>
                                        <p:cTn id="13"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 calcmode="lin" valueType="num">
                                      <p:cBhvr>
                                        <p:cTn id="18" dur="500" fill="hold"/>
                                        <p:tgtEl>
                                          <p:spTgt spid="25"/>
                                        </p:tgtEl>
                                        <p:attrNameLst>
                                          <p:attrName>ppt_w</p:attrName>
                                        </p:attrNameLst>
                                      </p:cBhvr>
                                      <p:tavLst>
                                        <p:tav tm="0">
                                          <p:val>
                                            <p:fltVal val="0"/>
                                          </p:val>
                                        </p:tav>
                                        <p:tav tm="100000">
                                          <p:val>
                                            <p:strVal val="#ppt_w"/>
                                          </p:val>
                                        </p:tav>
                                      </p:tavLst>
                                    </p:anim>
                                    <p:anim calcmode="lin" valueType="num">
                                      <p:cBhvr>
                                        <p:cTn id="19" dur="500" fill="hold"/>
                                        <p:tgtEl>
                                          <p:spTgt spid="25"/>
                                        </p:tgtEl>
                                        <p:attrNameLst>
                                          <p:attrName>ppt_h</p:attrName>
                                        </p:attrNameLst>
                                      </p:cBhvr>
                                      <p:tavLst>
                                        <p:tav tm="0">
                                          <p:val>
                                            <p:fltVal val="0"/>
                                          </p:val>
                                        </p:tav>
                                        <p:tav tm="100000">
                                          <p:val>
                                            <p:strVal val="#ppt_h"/>
                                          </p:val>
                                        </p:tav>
                                      </p:tavLst>
                                    </p:anim>
                                    <p:animEffect transition="in" filter="fade">
                                      <p:cBhvr>
                                        <p:cTn id="20" dur="500"/>
                                        <p:tgtEl>
                                          <p:spTgt spid="25"/>
                                        </p:tgtEl>
                                      </p:cBhvr>
                                    </p:animEffect>
                                  </p:childTnLst>
                                </p:cTn>
                              </p:par>
                              <p:par>
                                <p:cTn id="26" presetID="53" presetClass="entr" presetSubtype="16"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p:cTn id="23" dur="500" fill="hold"/>
                                        <p:tgtEl>
                                          <p:spTgt spid="26"/>
                                        </p:tgtEl>
                                        <p:attrNameLst>
                                          <p:attrName>ppt_w</p:attrName>
                                        </p:attrNameLst>
                                      </p:cBhvr>
                                      <p:tavLst>
                                        <p:tav tm="0">
                                          <p:val>
                                            <p:fltVal val="0"/>
                                          </p:val>
                                        </p:tav>
                                        <p:tav tm="100000">
                                          <p:val>
                                            <p:strVal val="#ppt_w"/>
                                          </p:val>
                                        </p:tav>
                                      </p:tavLst>
                                    </p:anim>
                                    <p:anim calcmode="lin" valueType="num">
                                      <p:cBhvr>
                                        <p:cTn id="24" dur="500" fill="hold"/>
                                        <p:tgtEl>
                                          <p:spTgt spid="26"/>
                                        </p:tgtEl>
                                        <p:attrNameLst>
                                          <p:attrName>ppt_h</p:attrName>
                                        </p:attrNameLst>
                                      </p:cBhvr>
                                      <p:tavLst>
                                        <p:tav tm="0">
                                          <p:val>
                                            <p:fltVal val="0"/>
                                          </p:val>
                                        </p:tav>
                                        <p:tav tm="100000">
                                          <p:val>
                                            <p:strVal val="#ppt_h"/>
                                          </p:val>
                                        </p:tav>
                                      </p:tavLst>
                                    </p:anim>
                                    <p:animEffect transition="in" filter="fade">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9_title" descr="خطوات النموذج">    </p:cNvPr>
          <p:cNvPicPr>
            <a:picLocks noChangeAspect="1"/>
          </p:cNvPicPr>
          <p:nvPr/>
        </p:nvPicPr>
        <p:blipFill>
          <a:blip r:embed="rId2"/>
          <a:stretch>
            <a:fillRect/>
          </a:stretch>
        </p:blipFill>
        <p:spPr>
          <a:xfrm>
            <a:off x="8356480" y="109728"/>
            <a:ext cx="3485000" cy="868680"/>
          </a:xfrm>
          <a:prstGeom prst="rect">
            <a:avLst/>
          </a:prstGeom>
        </p:spPr>
      </p:pic>
      <p:sp>
        <p:nvSpPr>
          <p:cNvPr id="3" name="s9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التعلم التعاوني – لاحظي</a:t>
            </a:r>
            <a:endParaRPr lang="ar-SA" sz="1700" dirty="0"/>
          </a:p>
        </p:txBody>
      </p:sp>
      <p:pic>
        <p:nvPicPr>
          <p:cNvPr id="4" name="!!cards" descr="بطاقات النشاط من الكتاب">    </p:cNvPr>
          <p:cNvPicPr>
            <a:picLocks noChangeAspect="1"/>
          </p:cNvPicPr>
          <p:nvPr/>
        </p:nvPicPr>
        <p:blipFill>
          <a:blip r:embed="rId3"/>
          <a:stretch>
            <a:fillRect/>
          </a:stretch>
        </p:blipFill>
        <p:spPr>
          <a:xfrm>
            <a:off x="457200" y="1051560"/>
            <a:ext cx="2207448" cy="2011680"/>
          </a:xfrm>
          <a:prstGeom prst="rect">
            <a:avLst/>
          </a:prstGeom>
        </p:spPr>
      </p:pic>
      <p:pic>
        <p:nvPicPr>
          <p:cNvPr id="5" name="s9_pic_1" descr="/tmp/claude-0/-home-user-Scienceshamah/8386cda7-7741-5ea4-8952-60ee8e67fc31/scratchpad/w3/img/card_1478x153_FFE066_s_i.png">    </p:cNvPr>
          <p:cNvPicPr>
            <a:picLocks noChangeAspect="1"/>
          </p:cNvPicPr>
          <p:nvPr/>
        </p:nvPicPr>
        <p:blipFill>
          <a:blip r:embed="rId4"/>
          <a:stretch>
            <a:fillRect/>
          </a:stretch>
        </p:blipFill>
        <p:spPr>
          <a:xfrm>
            <a:off x="2743200" y="1051560"/>
            <a:ext cx="9006840" cy="932688"/>
          </a:xfrm>
          <a:prstGeom prst="rect">
            <a:avLst/>
          </a:prstGeom>
        </p:spPr>
      </p:pic>
      <p:sp>
        <p:nvSpPr>
          <p:cNvPr id="6" name="s9_t_2"/>
          <p:cNvSpPr txBox="1"/>
          <p:nvPr/>
        </p:nvSpPr>
        <p:spPr>
          <a:xfrm>
            <a:off x="11201400" y="1271016"/>
            <a:ext cx="475488" cy="475488"/>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١</a:t>
            </a:r>
            <a:endParaRPr lang="ar-SA" sz="1600" dirty="0"/>
          </a:p>
        </p:txBody>
      </p:sp>
      <p:sp>
        <p:nvSpPr>
          <p:cNvPr id="7" name="s9_t_3"/>
          <p:cNvSpPr txBox="1"/>
          <p:nvPr/>
        </p:nvSpPr>
        <p:spPr>
          <a:xfrm>
            <a:off x="2880360" y="1069848"/>
            <a:ext cx="8275320" cy="896112"/>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أعمل في مجموعة مكوّنة من أربعة طلاب، وأكتب على البطاقات الكلمات التالية: الشمس، نبات، آكل النبات، آكل اللحوم (كما في الشكل).</a:t>
            </a:r>
            <a:endParaRPr lang="ar-SA" sz="1500" dirty="0"/>
          </a:p>
        </p:txBody>
      </p:sp>
      <p:pic>
        <p:nvPicPr>
          <p:cNvPr id="8" name="s9_pic_4" descr="/tmp/claude-0/-home-user-Scienceshamah/8386cda7-7741-5ea4-8952-60ee8e67fc31/scratchpad/w3/img/card_1478x153_8FD8FF_s_i.png">    </p:cNvPr>
          <p:cNvPicPr>
            <a:picLocks noChangeAspect="1"/>
          </p:cNvPicPr>
          <p:nvPr/>
        </p:nvPicPr>
        <p:blipFill>
          <a:blip r:embed="rId5"/>
          <a:stretch>
            <a:fillRect/>
          </a:stretch>
        </p:blipFill>
        <p:spPr>
          <a:xfrm>
            <a:off x="2743200" y="2075688"/>
            <a:ext cx="9006840" cy="932688"/>
          </a:xfrm>
          <a:prstGeom prst="rect">
            <a:avLst/>
          </a:prstGeom>
        </p:spPr>
      </p:pic>
      <p:sp>
        <p:nvSpPr>
          <p:cNvPr id="9" name="s9_t_5"/>
          <p:cNvSpPr txBox="1"/>
          <p:nvPr/>
        </p:nvSpPr>
        <p:spPr>
          <a:xfrm>
            <a:off x="11201400" y="2295144"/>
            <a:ext cx="475488" cy="475488"/>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٢</a:t>
            </a:r>
            <a:endParaRPr lang="ar-SA" sz="1600" dirty="0"/>
          </a:p>
        </p:txBody>
      </p:sp>
      <p:sp>
        <p:nvSpPr>
          <p:cNvPr id="10" name="s9_t_6"/>
          <p:cNvSpPr txBox="1"/>
          <p:nvPr/>
        </p:nvSpPr>
        <p:spPr>
          <a:xfrm>
            <a:off x="2880360" y="2093976"/>
            <a:ext cx="8275320" cy="896112"/>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أقيس. أقصّ شريطًا من ورق التجليد طوله متر، ليمثّل كمية الطاقة التي يستخدمها المخلوق الحي، وأضع علامة عند كل ١٠ سم على طول الشريط.</a:t>
            </a:r>
            <a:endParaRPr lang="ar-SA" sz="1500" dirty="0"/>
          </a:p>
        </p:txBody>
      </p:sp>
      <p:pic>
        <p:nvPicPr>
          <p:cNvPr id="11" name="s9_pic_7" descr="/tmp/claude-0/-home-user-Scienceshamah/8386cda7-7741-5ea4-8952-60ee8e67fc31/scratchpad/w3/img/card_1478x153_B8F28A_s_i.png">    </p:cNvPr>
          <p:cNvPicPr>
            <a:picLocks noChangeAspect="1"/>
          </p:cNvPicPr>
          <p:nvPr/>
        </p:nvPicPr>
        <p:blipFill>
          <a:blip r:embed="rId6"/>
          <a:stretch>
            <a:fillRect/>
          </a:stretch>
        </p:blipFill>
        <p:spPr>
          <a:xfrm>
            <a:off x="2743200" y="3099816"/>
            <a:ext cx="9006840" cy="932688"/>
          </a:xfrm>
          <a:prstGeom prst="rect">
            <a:avLst/>
          </a:prstGeom>
        </p:spPr>
      </p:pic>
      <p:sp>
        <p:nvSpPr>
          <p:cNvPr id="12" name="s9_t_8"/>
          <p:cNvSpPr txBox="1"/>
          <p:nvPr/>
        </p:nvSpPr>
        <p:spPr>
          <a:xfrm>
            <a:off x="11201400" y="3319272"/>
            <a:ext cx="475488" cy="475488"/>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٣</a:t>
            </a:r>
            <a:endParaRPr lang="ar-SA" sz="1600" dirty="0"/>
          </a:p>
        </p:txBody>
      </p:sp>
      <p:sp>
        <p:nvSpPr>
          <p:cNvPr id="13" name="s9_t_9"/>
          <p:cNvSpPr txBox="1"/>
          <p:nvPr/>
        </p:nvSpPr>
        <p:spPr>
          <a:xfrm>
            <a:off x="2880360" y="3118104"/>
            <a:ext cx="8275320" cy="896112"/>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أعمل نموذجًا. يأخذ كل طالب بطاقة. يمرّر الطالب الذي يحمل بطاقة (الشمس) شريط الطاقة كاملًا إلى الطالب الذي يحمل بطاقة (النبات).</a:t>
            </a:r>
            <a:endParaRPr lang="ar-SA" sz="1500" dirty="0"/>
          </a:p>
        </p:txBody>
      </p:sp>
      <p:pic>
        <p:nvPicPr>
          <p:cNvPr id="14" name="s9_pic_10" descr="/tmp/claude-0/-home-user-Scienceshamah/8386cda7-7741-5ea4-8952-60ee8e67fc31/scratchpad/w3/img/card_1478x153_FFB3D1_s_i.png">    </p:cNvPr>
          <p:cNvPicPr>
            <a:picLocks noChangeAspect="1"/>
          </p:cNvPicPr>
          <p:nvPr/>
        </p:nvPicPr>
        <p:blipFill>
          <a:blip r:embed="rId7"/>
          <a:stretch>
            <a:fillRect/>
          </a:stretch>
        </p:blipFill>
        <p:spPr>
          <a:xfrm>
            <a:off x="2743200" y="4123944"/>
            <a:ext cx="9006840" cy="932688"/>
          </a:xfrm>
          <a:prstGeom prst="rect">
            <a:avLst/>
          </a:prstGeom>
        </p:spPr>
      </p:pic>
      <p:sp>
        <p:nvSpPr>
          <p:cNvPr id="15" name="s9_t_11"/>
          <p:cNvSpPr txBox="1"/>
          <p:nvPr/>
        </p:nvSpPr>
        <p:spPr>
          <a:xfrm>
            <a:off x="11201400" y="4343400"/>
            <a:ext cx="475488" cy="475488"/>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٤</a:t>
            </a:r>
            <a:endParaRPr lang="ar-SA" sz="1600" dirty="0"/>
          </a:p>
        </p:txBody>
      </p:sp>
      <p:sp>
        <p:nvSpPr>
          <p:cNvPr id="16" name="s9_t_12"/>
          <p:cNvSpPr txBox="1"/>
          <p:nvPr/>
        </p:nvSpPr>
        <p:spPr>
          <a:xfrm>
            <a:off x="2880360" y="4142232"/>
            <a:ext cx="8275320" cy="896112"/>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يقوم الطالب الذي يحمل بطاقة (النبات) بقطع ١٠ سم من الشريط، ويعطيه الطالب الذي يحمل بطاقة (آكل النبات)، ويُبقي الجزء الأكبر من شريط الطاقة لديه.</a:t>
            </a:r>
            <a:endParaRPr lang="ar-SA" sz="1500" dirty="0"/>
          </a:p>
        </p:txBody>
      </p:sp>
      <p:pic>
        <p:nvPicPr>
          <p:cNvPr id="17" name="s9_pic_13" descr="/tmp/claude-0/-home-user-Scienceshamah/8386cda7-7741-5ea4-8952-60ee8e67fc31/scratchpad/w3/img/card_1478x153_C9A8FF_s_i.png">    </p:cNvPr>
          <p:cNvPicPr>
            <a:picLocks noChangeAspect="1"/>
          </p:cNvPicPr>
          <p:nvPr/>
        </p:nvPicPr>
        <p:blipFill>
          <a:blip r:embed="rId8"/>
          <a:stretch>
            <a:fillRect/>
          </a:stretch>
        </p:blipFill>
        <p:spPr>
          <a:xfrm>
            <a:off x="2743200" y="5148072"/>
            <a:ext cx="9006840" cy="932688"/>
          </a:xfrm>
          <a:prstGeom prst="rect">
            <a:avLst/>
          </a:prstGeom>
        </p:spPr>
      </p:pic>
      <p:sp>
        <p:nvSpPr>
          <p:cNvPr id="18" name="s9_t_14"/>
          <p:cNvSpPr txBox="1"/>
          <p:nvPr/>
        </p:nvSpPr>
        <p:spPr>
          <a:xfrm>
            <a:off x="11201400" y="5367528"/>
            <a:ext cx="475488" cy="475488"/>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600" b="1" dirty="0">
                <a:solidFill>
                  <a:srgbClr val="FFFFFF"/>
                </a:solidFill>
                <a:latin typeface="Tahoma" pitchFamily="34" charset="0"/>
                <a:ea typeface="Tahoma" pitchFamily="34" charset="-122"/>
                <a:cs typeface="Tahoma" pitchFamily="34" charset="-120"/>
              </a:rPr>
              <a:t>٥</a:t>
            </a:r>
            <a:endParaRPr lang="ar-SA" sz="1600" dirty="0"/>
          </a:p>
        </p:txBody>
      </p:sp>
      <p:sp>
        <p:nvSpPr>
          <p:cNvPr id="19" name="s9_t_15"/>
          <p:cNvSpPr txBox="1"/>
          <p:nvPr/>
        </p:nvSpPr>
        <p:spPr>
          <a:xfrm>
            <a:off x="2880360" y="5166360"/>
            <a:ext cx="8275320" cy="896112"/>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يقوم الطالب الذي يحمل بطاقة (آكل النبات) بقطع ١ سم من شريط الطاقة، ويمرّره إلى الطالب الذي يحمل بطاقة (آكل اللحوم) ويُبقي الجزء الأكبر من شريط الطاقة لديه.</a:t>
            </a:r>
            <a:endParaRPr lang="ar-SA" sz="1500" dirty="0"/>
          </a:p>
        </p:txBody>
      </p:sp>
      <p:pic>
        <p:nvPicPr>
          <p:cNvPr id="20" name="s9_pic_16" descr="صورة الخطوة ٤ من الكتاب">    </p:cNvPr>
          <p:cNvPicPr>
            <a:picLocks noChangeAspect="1"/>
          </p:cNvPicPr>
          <p:nvPr/>
        </p:nvPicPr>
        <p:blipFill>
          <a:blip r:embed="rId9"/>
          <a:stretch>
            <a:fillRect/>
          </a:stretch>
        </p:blipFill>
        <p:spPr>
          <a:xfrm>
            <a:off x="457200" y="3291840"/>
            <a:ext cx="2148840" cy="148544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8"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9"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32"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5"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40"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51" presetID="10"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4"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7"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0_title" descr="أستخلص النتائج">    </p:cNvPr>
          <p:cNvPicPr>
            <a:picLocks noChangeAspect="1"/>
          </p:cNvPicPr>
          <p:nvPr/>
        </p:nvPicPr>
        <p:blipFill>
          <a:blip r:embed="rId2"/>
          <a:stretch>
            <a:fillRect/>
          </a:stretch>
        </p:blipFill>
        <p:spPr>
          <a:xfrm>
            <a:off x="8454142" y="109728"/>
            <a:ext cx="3387338" cy="868680"/>
          </a:xfrm>
          <a:prstGeom prst="rect">
            <a:avLst/>
          </a:prstGeom>
        </p:spPr>
      </p:pic>
      <p:sp>
        <p:nvSpPr>
          <p:cNvPr id="3" name="s10_strategy"/>
          <p:cNvSpPr txBox="1"/>
          <p:nvPr/>
        </p:nvSpPr>
        <p:spPr>
          <a:xfrm>
            <a:off x="411480" y="274320"/>
            <a:ext cx="461772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لاحظي – سجّلي – فسّري</a:t>
            </a:r>
            <a:endParaRPr lang="ar-SA" sz="1700" dirty="0"/>
          </a:p>
        </p:txBody>
      </p:sp>
      <p:sp>
        <p:nvSpPr>
          <p:cNvPr id="4" name="s10_t_1"/>
          <p:cNvSpPr txBox="1"/>
          <p:nvPr/>
        </p:nvSpPr>
        <p:spPr>
          <a:xfrm>
            <a:off x="4206240" y="1024128"/>
            <a:ext cx="7543800" cy="4572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A87400"/>
                </a:solidFill>
                <a:latin typeface="Tahoma" pitchFamily="34" charset="0"/>
                <a:ea typeface="Tahoma" pitchFamily="34" charset="-122"/>
                <a:cs typeface="Tahoma" pitchFamily="34" charset="-120"/>
              </a:rPr>
              <a:t>٢ لاحظي وسجّلي: طول شريط الطاقة الذي وصل إلى كل مخلوق</a:t>
            </a:r>
            <a:endParaRPr lang="ar-SA" sz="1800" dirty="0"/>
          </a:p>
        </p:txBody>
      </p:sp>
      <p:pic>
        <p:nvPicPr>
          <p:cNvPr id="5" name="s10_pic_2" descr="الشمس">    </p:cNvPr>
          <p:cNvPicPr>
            <a:picLocks noChangeAspect="1"/>
          </p:cNvPicPr>
          <p:nvPr/>
        </p:nvPicPr>
        <p:blipFill>
          <a:blip r:embed="rId3"/>
          <a:stretch>
            <a:fillRect/>
          </a:stretch>
        </p:blipFill>
        <p:spPr>
          <a:xfrm>
            <a:off x="11109960" y="1508760"/>
            <a:ext cx="640080" cy="640080"/>
          </a:xfrm>
          <a:prstGeom prst="rect">
            <a:avLst/>
          </a:prstGeom>
        </p:spPr>
      </p:pic>
      <p:sp>
        <p:nvSpPr>
          <p:cNvPr id="6" name="s10_t_3"/>
          <p:cNvSpPr txBox="1"/>
          <p:nvPr/>
        </p:nvSpPr>
        <p:spPr>
          <a:xfrm>
            <a:off x="9829800" y="1618488"/>
            <a:ext cx="1280160" cy="43891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الشمس</a:t>
            </a:r>
            <a:endParaRPr lang="ar-SA" sz="1600" dirty="0"/>
          </a:p>
        </p:txBody>
      </p:sp>
      <p:sp>
        <p:nvSpPr>
          <p:cNvPr id="7" name="s10_bar_4"/>
          <p:cNvSpPr/>
          <p:nvPr/>
        </p:nvSpPr>
        <p:spPr>
          <a:xfrm>
            <a:off x="5212080" y="1645920"/>
            <a:ext cx="4480560" cy="384048"/>
          </a:xfrm>
          <a:prstGeom prst="roundRect">
            <a:avLst>
              <a:gd name="adj" fmla="val 19048"/>
            </a:avLst>
          </a:prstGeom>
          <a:solidFill>
            <a:srgbClr val="FFB800"/>
          </a:solidFill>
          <a:ln w="19050">
            <a:solidFill>
              <a:srgbClr val="34405E"/>
            </a:solidFill>
            <a:prstDash val="solid"/>
          </a:ln>
        </p:spPr>
      </p:sp>
      <p:sp>
        <p:nvSpPr>
          <p:cNvPr id="8" name="s10_t_5"/>
          <p:cNvSpPr txBox="1"/>
          <p:nvPr/>
        </p:nvSpPr>
        <p:spPr>
          <a:xfrm>
            <a:off x="4114800" y="1600200"/>
            <a:ext cx="1051560" cy="4572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D23B3B"/>
                </a:solidFill>
                <a:latin typeface="Tahoma" pitchFamily="34" charset="0"/>
                <a:ea typeface="Tahoma" pitchFamily="34" charset="-122"/>
                <a:cs typeface="Tahoma" pitchFamily="34" charset="-120"/>
              </a:rPr>
              <a:t>١٠٠ سم</a:t>
            </a:r>
            <a:endParaRPr lang="ar-SA" sz="1700" dirty="0"/>
          </a:p>
        </p:txBody>
      </p:sp>
      <p:pic>
        <p:nvPicPr>
          <p:cNvPr id="9" name="s10_pic_6" descr="النبات">    </p:cNvPr>
          <p:cNvPicPr>
            <a:picLocks noChangeAspect="1"/>
          </p:cNvPicPr>
          <p:nvPr/>
        </p:nvPicPr>
        <p:blipFill>
          <a:blip r:embed="rId4"/>
          <a:stretch>
            <a:fillRect/>
          </a:stretch>
        </p:blipFill>
        <p:spPr>
          <a:xfrm>
            <a:off x="11109960" y="2240280"/>
            <a:ext cx="640080" cy="640080"/>
          </a:xfrm>
          <a:prstGeom prst="rect">
            <a:avLst/>
          </a:prstGeom>
        </p:spPr>
      </p:pic>
      <p:sp>
        <p:nvSpPr>
          <p:cNvPr id="10" name="s10_t_7"/>
          <p:cNvSpPr txBox="1"/>
          <p:nvPr/>
        </p:nvSpPr>
        <p:spPr>
          <a:xfrm>
            <a:off x="9829800" y="2350008"/>
            <a:ext cx="1280160" cy="43891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النبات</a:t>
            </a:r>
            <a:endParaRPr lang="ar-SA" sz="1600" dirty="0"/>
          </a:p>
        </p:txBody>
      </p:sp>
      <p:sp>
        <p:nvSpPr>
          <p:cNvPr id="11" name="s10_bar_8"/>
          <p:cNvSpPr/>
          <p:nvPr/>
        </p:nvSpPr>
        <p:spPr>
          <a:xfrm>
            <a:off x="5212080" y="2377440"/>
            <a:ext cx="4480560" cy="384048"/>
          </a:xfrm>
          <a:prstGeom prst="roundRect">
            <a:avLst>
              <a:gd name="adj" fmla="val 19048"/>
            </a:avLst>
          </a:prstGeom>
          <a:solidFill>
            <a:srgbClr val="4CAF50"/>
          </a:solidFill>
          <a:ln w="19050">
            <a:solidFill>
              <a:srgbClr val="34405E"/>
            </a:solidFill>
            <a:prstDash val="solid"/>
          </a:ln>
        </p:spPr>
      </p:sp>
      <p:sp>
        <p:nvSpPr>
          <p:cNvPr id="12" name="s10_t_9"/>
          <p:cNvSpPr txBox="1"/>
          <p:nvPr/>
        </p:nvSpPr>
        <p:spPr>
          <a:xfrm>
            <a:off x="4114800" y="2331720"/>
            <a:ext cx="1051560" cy="4572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D23B3B"/>
                </a:solidFill>
                <a:latin typeface="Tahoma" pitchFamily="34" charset="0"/>
                <a:ea typeface="Tahoma" pitchFamily="34" charset="-122"/>
                <a:cs typeface="Tahoma" pitchFamily="34" charset="-120"/>
              </a:rPr>
              <a:t>١٠٠ سم</a:t>
            </a:r>
            <a:endParaRPr lang="ar-SA" sz="1700" dirty="0"/>
          </a:p>
        </p:txBody>
      </p:sp>
      <p:pic>
        <p:nvPicPr>
          <p:cNvPr id="13" name="s10_pic_10" descr="آكل النبات">    </p:cNvPr>
          <p:cNvPicPr>
            <a:picLocks noChangeAspect="1"/>
          </p:cNvPicPr>
          <p:nvPr/>
        </p:nvPicPr>
        <p:blipFill>
          <a:blip r:embed="rId5"/>
          <a:stretch>
            <a:fillRect/>
          </a:stretch>
        </p:blipFill>
        <p:spPr>
          <a:xfrm>
            <a:off x="11109960" y="2971800"/>
            <a:ext cx="640080" cy="640080"/>
          </a:xfrm>
          <a:prstGeom prst="rect">
            <a:avLst/>
          </a:prstGeom>
        </p:spPr>
      </p:pic>
      <p:sp>
        <p:nvSpPr>
          <p:cNvPr id="14" name="s10_t_11"/>
          <p:cNvSpPr txBox="1"/>
          <p:nvPr/>
        </p:nvSpPr>
        <p:spPr>
          <a:xfrm>
            <a:off x="9829800" y="3081528"/>
            <a:ext cx="1280160" cy="43891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آكل النبات</a:t>
            </a:r>
            <a:endParaRPr lang="ar-SA" sz="1600" dirty="0"/>
          </a:p>
        </p:txBody>
      </p:sp>
      <p:sp>
        <p:nvSpPr>
          <p:cNvPr id="15" name="s10_bar_12"/>
          <p:cNvSpPr/>
          <p:nvPr/>
        </p:nvSpPr>
        <p:spPr>
          <a:xfrm>
            <a:off x="9244584" y="3108960"/>
            <a:ext cx="448056" cy="384048"/>
          </a:xfrm>
          <a:prstGeom prst="roundRect">
            <a:avLst>
              <a:gd name="adj" fmla="val 19048"/>
            </a:avLst>
          </a:prstGeom>
          <a:solidFill>
            <a:srgbClr val="29B6F6"/>
          </a:solidFill>
          <a:ln w="19050">
            <a:solidFill>
              <a:srgbClr val="34405E"/>
            </a:solidFill>
            <a:prstDash val="solid"/>
          </a:ln>
        </p:spPr>
      </p:sp>
      <p:sp>
        <p:nvSpPr>
          <p:cNvPr id="16" name="s10_t_13"/>
          <p:cNvSpPr txBox="1"/>
          <p:nvPr/>
        </p:nvSpPr>
        <p:spPr>
          <a:xfrm>
            <a:off x="8147304" y="3063240"/>
            <a:ext cx="1051560" cy="4572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D23B3B"/>
                </a:solidFill>
                <a:latin typeface="Tahoma" pitchFamily="34" charset="0"/>
                <a:ea typeface="Tahoma" pitchFamily="34" charset="-122"/>
                <a:cs typeface="Tahoma" pitchFamily="34" charset="-120"/>
              </a:rPr>
              <a:t>١٠ سم</a:t>
            </a:r>
            <a:endParaRPr lang="ar-SA" sz="1700" dirty="0"/>
          </a:p>
        </p:txBody>
      </p:sp>
      <p:pic>
        <p:nvPicPr>
          <p:cNvPr id="17" name="s10_pic_14" descr="آكل اللحوم">    </p:cNvPr>
          <p:cNvPicPr>
            <a:picLocks noChangeAspect="1"/>
          </p:cNvPicPr>
          <p:nvPr/>
        </p:nvPicPr>
        <p:blipFill>
          <a:blip r:embed="rId6"/>
          <a:stretch>
            <a:fillRect/>
          </a:stretch>
        </p:blipFill>
        <p:spPr>
          <a:xfrm>
            <a:off x="11109960" y="3703320"/>
            <a:ext cx="640080" cy="640080"/>
          </a:xfrm>
          <a:prstGeom prst="rect">
            <a:avLst/>
          </a:prstGeom>
        </p:spPr>
      </p:pic>
      <p:sp>
        <p:nvSpPr>
          <p:cNvPr id="18" name="s10_t_15"/>
          <p:cNvSpPr txBox="1"/>
          <p:nvPr/>
        </p:nvSpPr>
        <p:spPr>
          <a:xfrm>
            <a:off x="9829800" y="3813048"/>
            <a:ext cx="1280160" cy="43891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آكل اللحوم</a:t>
            </a:r>
            <a:endParaRPr lang="ar-SA" sz="1600" dirty="0"/>
          </a:p>
        </p:txBody>
      </p:sp>
      <p:sp>
        <p:nvSpPr>
          <p:cNvPr id="19" name="s10_bar_16"/>
          <p:cNvSpPr/>
          <p:nvPr/>
        </p:nvSpPr>
        <p:spPr>
          <a:xfrm>
            <a:off x="9619488" y="3840480"/>
            <a:ext cx="73152" cy="384048"/>
          </a:xfrm>
          <a:prstGeom prst="roundRect">
            <a:avLst>
              <a:gd name="adj" fmla="val 100000"/>
            </a:avLst>
          </a:prstGeom>
          <a:solidFill>
            <a:srgbClr val="EF5350"/>
          </a:solidFill>
          <a:ln w="19050">
            <a:solidFill>
              <a:srgbClr val="34405E"/>
            </a:solidFill>
            <a:prstDash val="solid"/>
          </a:ln>
        </p:spPr>
      </p:sp>
      <p:sp>
        <p:nvSpPr>
          <p:cNvPr id="20" name="s10_t_17"/>
          <p:cNvSpPr txBox="1"/>
          <p:nvPr/>
        </p:nvSpPr>
        <p:spPr>
          <a:xfrm>
            <a:off x="8522208" y="3794760"/>
            <a:ext cx="1051560" cy="45720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D23B3B"/>
                </a:solidFill>
                <a:latin typeface="Tahoma" pitchFamily="34" charset="0"/>
                <a:ea typeface="Tahoma" pitchFamily="34" charset="-122"/>
                <a:cs typeface="Tahoma" pitchFamily="34" charset="-120"/>
              </a:rPr>
              <a:t>١ سم</a:t>
            </a:r>
            <a:endParaRPr lang="ar-SA" sz="1700" dirty="0"/>
          </a:p>
        </p:txBody>
      </p:sp>
      <p:pic>
        <p:nvPicPr>
          <p:cNvPr id="21" name="s10_pic_18" descr="/tmp/claude-0/-home-user-Scienceshamah/8386cda7-7741-5ea4-8952-60ee8e67fc31/scratchpad/w3/img/card_915x270_8FD8FF_s_i.png">    </p:cNvPr>
          <p:cNvPicPr>
            <a:picLocks noChangeAspect="1"/>
          </p:cNvPicPr>
          <p:nvPr/>
        </p:nvPicPr>
        <p:blipFill>
          <a:blip r:embed="rId7"/>
          <a:stretch>
            <a:fillRect/>
          </a:stretch>
        </p:blipFill>
        <p:spPr>
          <a:xfrm>
            <a:off x="6172200" y="4526280"/>
            <a:ext cx="5577840" cy="1645920"/>
          </a:xfrm>
          <a:prstGeom prst="rect">
            <a:avLst/>
          </a:prstGeom>
        </p:spPr>
      </p:pic>
      <p:sp>
        <p:nvSpPr>
          <p:cNvPr id="22" name="s10_t_19"/>
          <p:cNvSpPr txBox="1"/>
          <p:nvPr/>
        </p:nvSpPr>
        <p:spPr>
          <a:xfrm>
            <a:off x="6309360" y="4572000"/>
            <a:ext cx="5303520" cy="45720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1E7FB8"/>
                </a:solidFill>
                <a:latin typeface="Tahoma" pitchFamily="34" charset="0"/>
                <a:ea typeface="Tahoma" pitchFamily="34" charset="-122"/>
                <a:cs typeface="Tahoma" pitchFamily="34" charset="-120"/>
              </a:rPr>
              <a:t>٦ أستنتج: </a:t>
            </a:r>
            <a:r>
              <a:rPr lang="ar-SA" altLang="en-US" sz="1700" b="1" dirty="0">
                <a:solidFill>
                  <a:srgbClr val="34405E"/>
                </a:solidFill>
                <a:latin typeface="Tahoma" pitchFamily="34" charset="0"/>
                <a:ea typeface="Tahoma" pitchFamily="34" charset="-122"/>
                <a:cs typeface="Tahoma" pitchFamily="34" charset="-120"/>
              </a:rPr>
              <a:t>لماذا يُقطع شريط الطاقة قبل تمريره؟</a:t>
            </a:r>
            <a:endParaRPr lang="ar-SA" sz="1700" dirty="0"/>
          </a:p>
        </p:txBody>
      </p:sp>
      <p:sp>
        <p:nvSpPr>
          <p:cNvPr id="23" name="s10_t_20"/>
          <p:cNvSpPr txBox="1"/>
          <p:nvPr/>
        </p:nvSpPr>
        <p:spPr>
          <a:xfrm>
            <a:off x="6309360" y="5029200"/>
            <a:ext cx="5303520" cy="1097280"/>
          </a:xfrm>
          <a:prstGeom prst="rect">
            <a:avLst/>
          </a:prstGeom>
          <a:noFill/>
          <a:ln/>
        </p:spPr>
        <p:txBody>
          <a:bodyPr wrap="square" lIns="762" tIns="762" rIns="762" bIns="762" rtlCol="0" anchor="t"/>
          <a:lstStyle/>
          <a:p>
            <a:pPr rtl="1" algn="r" indent="0" marL="0">
              <a:lnSpc>
                <a:spcPct val="108000"/>
              </a:lnSpc>
              <a:buNone/>
            </a:pPr>
            <a:r>
              <a:rPr lang="ar-SA" altLang="en-US" sz="1600" b="1" dirty="0">
                <a:solidFill>
                  <a:srgbClr val="1B5E20"/>
                </a:solidFill>
                <a:latin typeface="Tahoma" pitchFamily="34" charset="0"/>
                <a:ea typeface="Tahoma" pitchFamily="34" charset="-122"/>
                <a:cs typeface="Tahoma" pitchFamily="34" charset="-120"/>
              </a:rPr>
              <a:t>لأن كل مخلوق حي يستخدم معظم الطاقة التي يحصل عليها، فلا ينتقل منها إلى المخلوق التالي إلا جزء صغير.</a:t>
            </a:r>
            <a:endParaRPr lang="ar-SA" sz="1600" dirty="0"/>
          </a:p>
        </p:txBody>
      </p:sp>
      <p:pic>
        <p:nvPicPr>
          <p:cNvPr id="24" name="s10_pic_21" descr="/tmp/claude-0/-home-user-Scienceshamah/8386cda7-7741-5ea4-8952-60ee8e67fc31/scratchpad/w3/img/card_915x270_FFB3D1_s_i.png">    </p:cNvPr>
          <p:cNvPicPr>
            <a:picLocks noChangeAspect="1"/>
          </p:cNvPicPr>
          <p:nvPr/>
        </p:nvPicPr>
        <p:blipFill>
          <a:blip r:embed="rId8"/>
          <a:stretch>
            <a:fillRect/>
          </a:stretch>
        </p:blipFill>
        <p:spPr>
          <a:xfrm>
            <a:off x="457200" y="4526280"/>
            <a:ext cx="5577840" cy="1645920"/>
          </a:xfrm>
          <a:prstGeom prst="rect">
            <a:avLst/>
          </a:prstGeom>
        </p:spPr>
      </p:pic>
      <p:sp>
        <p:nvSpPr>
          <p:cNvPr id="25" name="s10_t_22"/>
          <p:cNvSpPr txBox="1"/>
          <p:nvPr/>
        </p:nvSpPr>
        <p:spPr>
          <a:xfrm>
            <a:off x="594360" y="4572000"/>
            <a:ext cx="5303520" cy="68580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C2366F"/>
                </a:solidFill>
                <a:latin typeface="Tahoma" pitchFamily="34" charset="0"/>
                <a:ea typeface="Tahoma" pitchFamily="34" charset="-122"/>
                <a:cs typeface="Tahoma" pitchFamily="34" charset="-120"/>
              </a:rPr>
              <a:t>٧ أستخدم الأرقام: </a:t>
            </a:r>
            <a:r>
              <a:rPr lang="ar-SA" altLang="en-US" sz="1600" b="1" dirty="0">
                <a:solidFill>
                  <a:srgbClr val="34405E"/>
                </a:solidFill>
                <a:latin typeface="Tahoma" pitchFamily="34" charset="0"/>
                <a:ea typeface="Tahoma" pitchFamily="34" charset="-122"/>
                <a:cs typeface="Tahoma" pitchFamily="34" charset="-120"/>
              </a:rPr>
              <a:t>ما كمية الطاقة المتبقية لآكل اللحوم مقارنة بالنبات وبآكل النبات؟</a:t>
            </a:r>
            <a:endParaRPr lang="ar-SA" sz="1600" dirty="0"/>
          </a:p>
        </p:txBody>
      </p:sp>
      <p:sp>
        <p:nvSpPr>
          <p:cNvPr id="26" name="s10_t_23"/>
          <p:cNvSpPr txBox="1"/>
          <p:nvPr/>
        </p:nvSpPr>
        <p:spPr>
          <a:xfrm>
            <a:off x="594360" y="5257800"/>
            <a:ext cx="5303520" cy="868680"/>
          </a:xfrm>
          <a:prstGeom prst="rect">
            <a:avLst/>
          </a:prstGeom>
          <a:noFill/>
          <a:ln/>
        </p:spPr>
        <p:txBody>
          <a:bodyPr wrap="square" lIns="762" tIns="762" rIns="762" bIns="762" rtlCol="0" anchor="t"/>
          <a:lstStyle/>
          <a:p>
            <a:pPr rtl="1" algn="r" indent="0" marL="0">
              <a:lnSpc>
                <a:spcPct val="108000"/>
              </a:lnSpc>
              <a:buNone/>
            </a:pPr>
            <a:r>
              <a:rPr lang="ar-SA" altLang="en-US" sz="1500" b="1" dirty="0">
                <a:solidFill>
                  <a:srgbClr val="1B5E20"/>
                </a:solidFill>
                <a:latin typeface="Tahoma" pitchFamily="34" charset="0"/>
                <a:ea typeface="Tahoma" pitchFamily="34" charset="-122"/>
                <a:cs typeface="Tahoma" pitchFamily="34" charset="-120"/>
              </a:rPr>
              <a:t>١ سم فقط: جزء من مئة مما وصل إلى النبات (١٠٠ سم)، وجزء من عشرة مما وصل إلى آكل النبات (١٠ سم).</a:t>
            </a:r>
            <a:endParaRPr lang="ar-SA" sz="1500" dirty="0"/>
          </a:p>
        </p:txBody>
      </p:sp>
      <p:sp>
        <p:nvSpPr>
          <p:cNvPr id="27" name="s10_t_24"/>
          <p:cNvSpPr txBox="1"/>
          <p:nvPr/>
        </p:nvSpPr>
        <p:spPr>
          <a:xfrm>
            <a:off x="457200" y="1051560"/>
            <a:ext cx="3291840" cy="45720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6B4FC0"/>
                </a:solidFill>
                <a:latin typeface="Tahoma" pitchFamily="34" charset="0"/>
                <a:ea typeface="Tahoma" pitchFamily="34" charset="-122"/>
                <a:cs typeface="Tahoma" pitchFamily="34" charset="-120"/>
              </a:rPr>
              <a:t>٣ فسّري: هل تحقق توقعك؟</a:t>
            </a:r>
            <a:endParaRPr lang="ar-SA" sz="1800" dirty="0"/>
          </a:p>
        </p:txBody>
      </p:sp>
      <p:pic>
        <p:nvPicPr>
          <p:cNvPr id="28" name="s10_pic_25" descr="/tmp/claude-0/-home-user-Scienceshamah/8386cda7-7741-5ea4-8952-60ee8e67fc31/scratchpad/w3/img/card_540x465_C9A8FF_s_i.png">    </p:cNvPr>
          <p:cNvPicPr>
            <a:picLocks noChangeAspect="1"/>
          </p:cNvPicPr>
          <p:nvPr/>
        </p:nvPicPr>
        <p:blipFill>
          <a:blip r:embed="rId9"/>
          <a:stretch>
            <a:fillRect/>
          </a:stretch>
        </p:blipFill>
        <p:spPr>
          <a:xfrm>
            <a:off x="457200" y="1554480"/>
            <a:ext cx="3291840" cy="2834640"/>
          </a:xfrm>
          <a:prstGeom prst="rect">
            <a:avLst/>
          </a:prstGeom>
        </p:spPr>
      </p:pic>
      <p:sp>
        <p:nvSpPr>
          <p:cNvPr id="29" name="s10_t_26"/>
          <p:cNvSpPr txBox="1"/>
          <p:nvPr/>
        </p:nvSpPr>
        <p:spPr>
          <a:xfrm>
            <a:off x="594360" y="1645920"/>
            <a:ext cx="3017520" cy="265176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كلما انتقلنا من مخلوق إلى آخر قلّت الطاقة المنتقلة؛ لذا يحصل آكل اللحوم على أقل كمية من الطاقة.</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4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2"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wipe(right)">
                                      <p:cBhvr>
                                        <p:cTn id="6" dur="800"/>
                                        <p:tgtEl>
                                          <p:spTgt spid="7"/>
                                        </p:tgtEl>
                                      </p:cBhvr>
                                    </p:animEffect>
                                  </p:childTnLst>
                                </p:cTn>
                              </p:par>
                              <p:par>
                                <p:cTn id="10" presetID="10" presetClass="entr" presetSubtype="0" fill="hold" grpId="0" nodeType="withEffect">
                                  <p:stCondLst>
                                    <p:cond delay="60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par>
                                <p:cTn id="15"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20" presetID="22" presetClass="entr" presetSubtype="2"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right)">
                                      <p:cBhvr>
                                        <p:cTn id="19" dur="800"/>
                                        <p:tgtEl>
                                          <p:spTgt spid="11"/>
                                        </p:tgtEl>
                                      </p:cBhvr>
                                    </p:animEffect>
                                  </p:childTnLst>
                                </p:cTn>
                              </p:par>
                              <p:par>
                                <p:cTn id="23" presetID="10" presetClass="entr" presetSubtype="0" fill="hold" grpId="0" nodeType="withEffect">
                                  <p:stCondLst>
                                    <p:cond delay="6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8" presetID="53" presetClass="entr" presetSubtype="16"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3" presetID="22" presetClass="entr" presetSubtype="2"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right)">
                                      <p:cBhvr>
                                        <p:cTn id="32" dur="800"/>
                                        <p:tgtEl>
                                          <p:spTgt spid="15"/>
                                        </p:tgtEl>
                                      </p:cBhvr>
                                    </p:animEffect>
                                  </p:childTnLst>
                                </p:cTn>
                              </p:par>
                              <p:par>
                                <p:cTn id="36" presetID="10" presetClass="entr" presetSubtype="0" fill="hold" grpId="0" nodeType="withEffect">
                                  <p:stCondLst>
                                    <p:cond delay="6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41" presetID="53" presetClass="entr" presetSubtype="16"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p:cTn id="38" dur="500" fill="hold"/>
                                        <p:tgtEl>
                                          <p:spTgt spid="13"/>
                                        </p:tgtEl>
                                        <p:attrNameLst>
                                          <p:attrName>ppt_w</p:attrName>
                                        </p:attrNameLst>
                                      </p:cBhvr>
                                      <p:tavLst>
                                        <p:tav tm="0">
                                          <p:val>
                                            <p:fltVal val="0"/>
                                          </p:val>
                                        </p:tav>
                                        <p:tav tm="100000">
                                          <p:val>
                                            <p:strVal val="#ppt_w"/>
                                          </p:val>
                                        </p:tav>
                                      </p:tavLst>
                                    </p:anim>
                                    <p:anim calcmode="lin" valueType="num">
                                      <p:cBhvr>
                                        <p:cTn id="39" dur="500" fill="hold"/>
                                        <p:tgtEl>
                                          <p:spTgt spid="13"/>
                                        </p:tgtEl>
                                        <p:attrNameLst>
                                          <p:attrName>ppt_h</p:attrName>
                                        </p:attrNameLst>
                                      </p:cBhvr>
                                      <p:tavLst>
                                        <p:tav tm="0">
                                          <p:val>
                                            <p:fltVal val="0"/>
                                          </p:val>
                                        </p:tav>
                                        <p:tav tm="100000">
                                          <p:val>
                                            <p:strVal val="#ppt_h"/>
                                          </p:val>
                                        </p:tav>
                                      </p:tavLst>
                                    </p:anim>
                                    <p:animEffect transition="in" filter="fade">
                                      <p:cBhvr>
                                        <p:cTn id="40"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6" presetID="22" presetClass="entr" presetSubtype="2"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right)">
                                      <p:cBhvr>
                                        <p:cTn id="45" dur="800"/>
                                        <p:tgtEl>
                                          <p:spTgt spid="19"/>
                                        </p:tgtEl>
                                      </p:cBhvr>
                                    </p:animEffect>
                                  </p:childTnLst>
                                </p:cTn>
                              </p:par>
                              <p:par>
                                <p:cTn id="49" presetID="10" presetClass="entr" presetSubtype="0" fill="hold" grpId="0" nodeType="withEffect">
                                  <p:stCondLst>
                                    <p:cond delay="60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54" presetID="53" presetClass="entr" presetSubtype="16"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p:cTn id="51" dur="500" fill="hold"/>
                                        <p:tgtEl>
                                          <p:spTgt spid="17"/>
                                        </p:tgtEl>
                                        <p:attrNameLst>
                                          <p:attrName>ppt_w</p:attrName>
                                        </p:attrNameLst>
                                      </p:cBhvr>
                                      <p:tavLst>
                                        <p:tav tm="0">
                                          <p:val>
                                            <p:fltVal val="0"/>
                                          </p:val>
                                        </p:tav>
                                        <p:tav tm="100000">
                                          <p:val>
                                            <p:strVal val="#ppt_w"/>
                                          </p:val>
                                        </p:tav>
                                      </p:tavLst>
                                    </p:anim>
                                    <p:anim calcmode="lin" valueType="num">
                                      <p:cBhvr>
                                        <p:cTn id="52" dur="500" fill="hold"/>
                                        <p:tgtEl>
                                          <p:spTgt spid="17"/>
                                        </p:tgtEl>
                                        <p:attrNameLst>
                                          <p:attrName>ppt_h</p:attrName>
                                        </p:attrNameLst>
                                      </p:cBhvr>
                                      <p:tavLst>
                                        <p:tav tm="0">
                                          <p:val>
                                            <p:fltVal val="0"/>
                                          </p:val>
                                        </p:tav>
                                        <p:tav tm="100000">
                                          <p:val>
                                            <p:strVal val="#ppt_h"/>
                                          </p:val>
                                        </p:tav>
                                      </p:tavLst>
                                    </p:anim>
                                    <p:animEffect transition="in" filter="fade">
                                      <p:cBhvr>
                                        <p:cTn id="53" dur="500"/>
                                        <p:tgtEl>
                                          <p:spTgt spid="17"/>
                                        </p:tgtEl>
                                      </p:cBhvr>
                                    </p:animEffect>
                                  </p:childTnLst>
                                </p:cTn>
                              </p:par>
                            </p:childTnLst>
                          </p:cTn>
                        </p:par>
                      </p:childTnLst>
                    </p:cTn>
                  </p:par>
                  <p:par>
                    <p:cTn id="55" fill="hold">
                      <p:stCondLst>
                        <p:cond delay="indefinite"/>
                      </p:stCondLst>
                      <p:childTnLst>
                        <p:par>
                          <p:cTn id="56" fill="hold">
                            <p:stCondLst>
                              <p:cond delay="0"/>
                            </p:stCondLst>
                            <p:childTnLst>
                              <p:par>
                                <p:cTn id="59"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4" presetID="10"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9" presetID="10"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4" presetID="10" presetClass="entr" presetSubtype="0"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childTnLst>
                          </p:cTn>
                        </p:par>
                      </p:childTnLst>
                    </p:cTn>
                  </p:par>
                  <p:par>
                    <p:cTn id="75" fill="hold">
                      <p:stCondLst>
                        <p:cond delay="indefinite"/>
                      </p:stCondLst>
                      <p:childTnLst>
                        <p:par>
                          <p:cTn id="76" fill="hold">
                            <p:stCondLst>
                              <p:cond delay="0"/>
                            </p:stCondLst>
                            <p:childTnLst>
                              <p:par>
                                <p:cTn id="81" presetID="53" presetClass="entr" presetSubtype="16" fill="hold" grpId="0" nodeType="click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p:cTn id="78" dur="500" fill="hold"/>
                                        <p:tgtEl>
                                          <p:spTgt spid="27"/>
                                        </p:tgtEl>
                                        <p:attrNameLst>
                                          <p:attrName>ppt_w</p:attrName>
                                        </p:attrNameLst>
                                      </p:cBhvr>
                                      <p:tavLst>
                                        <p:tav tm="0">
                                          <p:val>
                                            <p:fltVal val="0"/>
                                          </p:val>
                                        </p:tav>
                                        <p:tav tm="100000">
                                          <p:val>
                                            <p:strVal val="#ppt_w"/>
                                          </p:val>
                                        </p:tav>
                                      </p:tavLst>
                                    </p:anim>
                                    <p:anim calcmode="lin" valueType="num">
                                      <p:cBhvr>
                                        <p:cTn id="79" dur="500" fill="hold"/>
                                        <p:tgtEl>
                                          <p:spTgt spid="27"/>
                                        </p:tgtEl>
                                        <p:attrNameLst>
                                          <p:attrName>ppt_h</p:attrName>
                                        </p:attrNameLst>
                                      </p:cBhvr>
                                      <p:tavLst>
                                        <p:tav tm="0">
                                          <p:val>
                                            <p:fltVal val="0"/>
                                          </p:val>
                                        </p:tav>
                                        <p:tav tm="100000">
                                          <p:val>
                                            <p:strVal val="#ppt_h"/>
                                          </p:val>
                                        </p:tav>
                                      </p:tavLst>
                                    </p:anim>
                                    <p:animEffect transition="in" filter="fade">
                                      <p:cBhvr>
                                        <p:cTn id="80" dur="500"/>
                                        <p:tgtEl>
                                          <p:spTgt spid="27"/>
                                        </p:tgtEl>
                                      </p:cBhvr>
                                    </p:animEffect>
                                  </p:childTnLst>
                                </p:cTn>
                              </p:par>
                              <p:par>
                                <p:cTn id="86" presetID="53" presetClass="entr" presetSubtype="16"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 calcmode="lin" valueType="num">
                                      <p:cBhvr>
                                        <p:cTn id="83" dur="500" fill="hold"/>
                                        <p:tgtEl>
                                          <p:spTgt spid="28"/>
                                        </p:tgtEl>
                                        <p:attrNameLst>
                                          <p:attrName>ppt_w</p:attrName>
                                        </p:attrNameLst>
                                      </p:cBhvr>
                                      <p:tavLst>
                                        <p:tav tm="0">
                                          <p:val>
                                            <p:fltVal val="0"/>
                                          </p:val>
                                        </p:tav>
                                        <p:tav tm="100000">
                                          <p:val>
                                            <p:strVal val="#ppt_w"/>
                                          </p:val>
                                        </p:tav>
                                      </p:tavLst>
                                    </p:anim>
                                    <p:anim calcmode="lin" valueType="num">
                                      <p:cBhvr>
                                        <p:cTn id="84" dur="500" fill="hold"/>
                                        <p:tgtEl>
                                          <p:spTgt spid="28"/>
                                        </p:tgtEl>
                                        <p:attrNameLst>
                                          <p:attrName>ppt_h</p:attrName>
                                        </p:attrNameLst>
                                      </p:cBhvr>
                                      <p:tavLst>
                                        <p:tav tm="0">
                                          <p:val>
                                            <p:fltVal val="0"/>
                                          </p:val>
                                        </p:tav>
                                        <p:tav tm="100000">
                                          <p:val>
                                            <p:strVal val="#ppt_h"/>
                                          </p:val>
                                        </p:tav>
                                      </p:tavLst>
                                    </p:anim>
                                    <p:animEffect transition="in" filter="fade">
                                      <p:cBhvr>
                                        <p:cTn id="85" dur="500"/>
                                        <p:tgtEl>
                                          <p:spTgt spid="28"/>
                                        </p:tgtEl>
                                      </p:cBhvr>
                                    </p:animEffect>
                                  </p:childTnLst>
                                </p:cTn>
                              </p:par>
                              <p:par>
                                <p:cTn id="91" presetID="53" presetClass="entr" presetSubtype="16"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 calcmode="lin" valueType="num">
                                      <p:cBhvr>
                                        <p:cTn id="88" dur="500" fill="hold"/>
                                        <p:tgtEl>
                                          <p:spTgt spid="29"/>
                                        </p:tgtEl>
                                        <p:attrNameLst>
                                          <p:attrName>ppt_w</p:attrName>
                                        </p:attrNameLst>
                                      </p:cBhvr>
                                      <p:tavLst>
                                        <p:tav tm="0">
                                          <p:val>
                                            <p:fltVal val="0"/>
                                          </p:val>
                                        </p:tav>
                                        <p:tav tm="100000">
                                          <p:val>
                                            <p:strVal val="#ppt_w"/>
                                          </p:val>
                                        </p:tav>
                                      </p:tavLst>
                                    </p:anim>
                                    <p:anim calcmode="lin" valueType="num">
                                      <p:cBhvr>
                                        <p:cTn id="89" dur="500" fill="hold"/>
                                        <p:tgtEl>
                                          <p:spTgt spid="29"/>
                                        </p:tgtEl>
                                        <p:attrNameLst>
                                          <p:attrName>ppt_h</p:attrName>
                                        </p:attrNameLst>
                                      </p:cBhvr>
                                      <p:tavLst>
                                        <p:tav tm="0">
                                          <p:val>
                                            <p:fltVal val="0"/>
                                          </p:val>
                                        </p:tav>
                                        <p:tav tm="100000">
                                          <p:val>
                                            <p:strVal val="#ppt_h"/>
                                          </p:val>
                                        </p:tav>
                                      </p:tavLst>
                                    </p:anim>
                                    <p:animEffect transition="in" filter="fade">
                                      <p:cBhvr>
                                        <p:cTn id="9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1_title" descr="أستكشف أكثر">    </p:cNvPr>
          <p:cNvPicPr>
            <a:picLocks noChangeAspect="1"/>
          </p:cNvPicPr>
          <p:nvPr/>
        </p:nvPicPr>
        <p:blipFill>
          <a:blip r:embed="rId2"/>
          <a:stretch>
            <a:fillRect/>
          </a:stretch>
        </p:blipFill>
        <p:spPr>
          <a:xfrm>
            <a:off x="8706008" y="109728"/>
            <a:ext cx="3135472" cy="868680"/>
          </a:xfrm>
          <a:prstGeom prst="rect">
            <a:avLst/>
          </a:prstGeom>
        </p:spPr>
      </p:pic>
      <p:sp>
        <p:nvSpPr>
          <p:cNvPr id="3" name="s11_strategy"/>
          <p:cNvSpPr txBox="1"/>
          <p:nvPr/>
        </p:nvSpPr>
        <p:spPr>
          <a:xfrm>
            <a:off x="411480" y="274320"/>
            <a:ext cx="461772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حل المشكلات – التصميم</a:t>
            </a:r>
            <a:endParaRPr lang="ar-SA" sz="1700" dirty="0"/>
          </a:p>
        </p:txBody>
      </p:sp>
      <p:pic>
        <p:nvPicPr>
          <p:cNvPr id="4" name="s11_pic_1" descr="/tmp/claude-0/-home-user-Scienceshamah/8386cda7-7741-5ea4-8952-60ee8e67fc31/scratchpad/w3/img/card_1853x218_C9A8FF_s_i.png">    </p:cNvPr>
          <p:cNvPicPr>
            <a:picLocks noChangeAspect="1"/>
          </p:cNvPicPr>
          <p:nvPr/>
        </p:nvPicPr>
        <p:blipFill>
          <a:blip r:embed="rId3"/>
          <a:stretch>
            <a:fillRect/>
          </a:stretch>
        </p:blipFill>
        <p:spPr>
          <a:xfrm>
            <a:off x="457200" y="1097280"/>
            <a:ext cx="11292840" cy="1325880"/>
          </a:xfrm>
          <a:prstGeom prst="rect">
            <a:avLst/>
          </a:prstGeom>
        </p:spPr>
      </p:pic>
      <p:sp>
        <p:nvSpPr>
          <p:cNvPr id="5" name="s11_t_2"/>
          <p:cNvSpPr txBox="1"/>
          <p:nvPr/>
        </p:nvSpPr>
        <p:spPr>
          <a:xfrm>
            <a:off x="640080" y="1143000"/>
            <a:ext cx="10927080" cy="123444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ما الذي أتوقّع حدوثه إذا لم يصنع النبات الغذاء؟ أصمّم تجربةً لأستكشف ذلك.</a:t>
            </a:r>
            <a:endParaRPr lang="ar-SA" sz="2400" dirty="0"/>
          </a:p>
        </p:txBody>
      </p:sp>
      <p:pic>
        <p:nvPicPr>
          <p:cNvPr id="6" name="s11_pic_3" descr="عالمة صغيرة تفكر">    </p:cNvPr>
          <p:cNvPicPr>
            <a:picLocks noChangeAspect="1"/>
          </p:cNvPicPr>
          <p:nvPr/>
        </p:nvPicPr>
        <p:blipFill>
          <a:blip r:embed="rId4"/>
          <a:stretch>
            <a:fillRect/>
          </a:stretch>
        </p:blipFill>
        <p:spPr>
          <a:xfrm>
            <a:off x="548640" y="2651760"/>
            <a:ext cx="2846997" cy="3291840"/>
          </a:xfrm>
          <a:prstGeom prst="rect">
            <a:avLst/>
          </a:prstGeom>
        </p:spPr>
      </p:pic>
      <p:pic>
        <p:nvPicPr>
          <p:cNvPr id="7" name="s11_pic_4" descr="/tmp/claude-0/-home-user-Scienceshamah/8386cda7-7741-5ea4-8952-60ee8e67fc31/scratchpad/w3/img/card_1388x233_FFE066_s_i.png">    </p:cNvPr>
          <p:cNvPicPr>
            <a:picLocks noChangeAspect="1"/>
          </p:cNvPicPr>
          <p:nvPr/>
        </p:nvPicPr>
        <p:blipFill>
          <a:blip r:embed="rId5"/>
          <a:stretch>
            <a:fillRect/>
          </a:stretch>
        </p:blipFill>
        <p:spPr>
          <a:xfrm>
            <a:off x="3291840" y="2651760"/>
            <a:ext cx="8458200" cy="1417320"/>
          </a:xfrm>
          <a:prstGeom prst="rect">
            <a:avLst/>
          </a:prstGeom>
        </p:spPr>
      </p:pic>
      <p:sp>
        <p:nvSpPr>
          <p:cNvPr id="8" name="s11_t_5"/>
          <p:cNvSpPr txBox="1"/>
          <p:nvPr/>
        </p:nvSpPr>
        <p:spPr>
          <a:xfrm>
            <a:off x="3474720" y="2697480"/>
            <a:ext cx="8092440" cy="1325880"/>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A87400"/>
                </a:solidFill>
                <a:latin typeface="Tahoma" pitchFamily="34" charset="0"/>
                <a:ea typeface="Tahoma" pitchFamily="34" charset="-122"/>
                <a:cs typeface="Tahoma" pitchFamily="34" charset="-120"/>
              </a:rPr>
              <a:t>توقّع مقترح: </a:t>
            </a:r>
            <a:r>
              <a:rPr lang="ar-SA" altLang="en-US" sz="1900" b="1" dirty="0">
                <a:solidFill>
                  <a:srgbClr val="34405E"/>
                </a:solidFill>
                <a:latin typeface="Tahoma" pitchFamily="34" charset="0"/>
                <a:ea typeface="Tahoma" pitchFamily="34" charset="-122"/>
                <a:cs typeface="Tahoma" pitchFamily="34" charset="-120"/>
              </a:rPr>
              <a:t>لن تجد آكلات النبات غذاءً تحصل منه على الطاقة، ثم تتأثر بقية المخلوقات التي تعتمد عليها.</a:t>
            </a:r>
            <a:endParaRPr lang="ar-SA" sz="1900" dirty="0"/>
          </a:p>
        </p:txBody>
      </p:sp>
      <p:pic>
        <p:nvPicPr>
          <p:cNvPr id="9" name="s11_pic_6" descr="/tmp/claude-0/-home-user-Scienceshamah/8386cda7-7741-5ea4-8952-60ee8e67fc31/scratchpad/w3/img/card_1388x315_B8F28A_s_i.png">    </p:cNvPr>
          <p:cNvPicPr>
            <a:picLocks noChangeAspect="1"/>
          </p:cNvPicPr>
          <p:nvPr/>
        </p:nvPicPr>
        <p:blipFill>
          <a:blip r:embed="rId6"/>
          <a:stretch>
            <a:fillRect/>
          </a:stretch>
        </p:blipFill>
        <p:spPr>
          <a:xfrm>
            <a:off x="3291840" y="4206240"/>
            <a:ext cx="8458200" cy="1920240"/>
          </a:xfrm>
          <a:prstGeom prst="rect">
            <a:avLst/>
          </a:prstGeom>
        </p:spPr>
      </p:pic>
      <p:sp>
        <p:nvSpPr>
          <p:cNvPr id="10" name="s11_t_7"/>
          <p:cNvSpPr txBox="1"/>
          <p:nvPr/>
        </p:nvSpPr>
        <p:spPr>
          <a:xfrm>
            <a:off x="3474720" y="4251960"/>
            <a:ext cx="8092440" cy="1828800"/>
          </a:xfrm>
          <a:prstGeom prst="rect">
            <a:avLst/>
          </a:prstGeom>
          <a:noFill/>
          <a:ln/>
        </p:spPr>
        <p:txBody>
          <a:bodyPr wrap="square" lIns="762" tIns="762" rIns="762" bIns="762" rtlCol="0" anchor="ctr"/>
          <a:lstStyle/>
          <a:p>
            <a:pPr rtl="1" algn="r" indent="0" marL="0">
              <a:lnSpc>
                <a:spcPct val="115000"/>
              </a:lnSpc>
              <a:buNone/>
            </a:pPr>
            <a:r>
              <a:rPr lang="ar-SA" altLang="en-US" sz="1900" b="1" dirty="0">
                <a:solidFill>
                  <a:srgbClr val="1B5E20"/>
                </a:solidFill>
                <a:latin typeface="Tahoma" pitchFamily="34" charset="0"/>
                <a:ea typeface="Tahoma" pitchFamily="34" charset="-122"/>
                <a:cs typeface="Tahoma" pitchFamily="34" charset="-120"/>
              </a:rPr>
              <a:t>تصميم مقترح (من المعلمة): </a:t>
            </a:r>
            <a:endParaRPr lang="ar-SA" sz="1900" dirty="0"/>
          </a:p>
          <a:p>
            <a:pPr rtl="1" algn="r" indent="0" marL="0">
              <a:lnSpc>
                <a:spcPct val="115000"/>
              </a:lnSpc>
              <a:buNone/>
            </a:pPr>
            <a:r>
              <a:rPr lang="ar-SA" altLang="en-US" sz="1900" b="1" dirty="0">
                <a:solidFill>
                  <a:srgbClr val="34405E"/>
                </a:solidFill>
                <a:latin typeface="Tahoma" pitchFamily="34" charset="0"/>
                <a:ea typeface="Tahoma" pitchFamily="34" charset="-122"/>
                <a:cs typeface="Tahoma" pitchFamily="34" charset="-120"/>
              </a:rPr>
              <a:t>نعيد النموذج نفسه، لكن «النبات» لا يقطع أي جزء من الشريط لآكل النبات... ماذا يحدث لآكل النبات ولآكل اللحوم؟</a:t>
            </a:r>
            <a:endParaRPr lang="ar-SA" sz="1900" dirty="0"/>
          </a:p>
        </p:txBody>
      </p:sp>
    </p:spTree>
  </p:cSld>
  <p:clrMapOvr>
    <a:masterClrMapping/>
  </p:clrMapOvr>
  <mc:AlternateContent xmlns:mc="http://schemas.openxmlformats.org/markup-compatibility/2006">
    <mc:Choice xmlns:p14="http://schemas.microsoft.com/office/powerpoint/2010/main" Requires="p14">
      <p:transition spd="slow" p14:dur="1400">
        <p14:prism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 calcmode="lin" valueType="num">
                                      <p:cBhvr>
                                        <p:cTn id="6" dur="500" fill="hold"/>
                                        <p:tgtEl>
                                          <p:spTgt spid="7"/>
                                        </p:tgtEl>
                                        <p:attrNameLst>
                                          <p:attrName>ppt_w</p:attrName>
                                        </p:attrNameLst>
                                      </p:cBhvr>
                                      <p:tavLst>
                                        <p:tav tm="0">
                                          <p:val>
                                            <p:fltVal val="0"/>
                                          </p:val>
                                        </p:tav>
                                        <p:tav tm="100000">
                                          <p:val>
                                            <p:strVal val="#ppt_w"/>
                                          </p:val>
                                        </p:tav>
                                      </p:tavLst>
                                    </p:anim>
                                    <p:anim calcmode="lin" valueType="num">
                                      <p:cBhvr>
                                        <p:cTn id="7" dur="500" fill="hold"/>
                                        <p:tgtEl>
                                          <p:spTgt spid="7"/>
                                        </p:tgtEl>
                                        <p:attrNameLst>
                                          <p:attrName>ppt_h</p:attrName>
                                        </p:attrNameLst>
                                      </p:cBhvr>
                                      <p:tavLst>
                                        <p:tav tm="0">
                                          <p:val>
                                            <p:fltVal val="0"/>
                                          </p:val>
                                        </p:tav>
                                        <p:tav tm="100000">
                                          <p:val>
                                            <p:strVal val="#ppt_h"/>
                                          </p:val>
                                        </p:tav>
                                      </p:tavLst>
                                    </p:anim>
                                    <p:animEffect transition="in" filter="fade">
                                      <p:cBhvr>
                                        <p:cTn id="8" dur="500"/>
                                        <p:tgtEl>
                                          <p:spTgt spid="7"/>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animEffect transition="in" filter="fade">
                                      <p:cBhvr>
                                        <p:cTn id="20" dur="500"/>
                                        <p:tgtEl>
                                          <p:spTgt spid="9"/>
                                        </p:tgtEl>
                                      </p:cBhvr>
                                    </p:animEffect>
                                  </p:childTnLst>
                                </p:cTn>
                              </p:par>
                              <p:par>
                                <p:cTn id="26" presetID="53" presetClass="entr" presetSubtype="16"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500" fill="hold"/>
                                        <p:tgtEl>
                                          <p:spTgt spid="10"/>
                                        </p:tgtEl>
                                        <p:attrNameLst>
                                          <p:attrName>ppt_w</p:attrName>
                                        </p:attrNameLst>
                                      </p:cBhvr>
                                      <p:tavLst>
                                        <p:tav tm="0">
                                          <p:val>
                                            <p:fltVal val="0"/>
                                          </p:val>
                                        </p:tav>
                                        <p:tav tm="100000">
                                          <p:val>
                                            <p:strVal val="#ppt_w"/>
                                          </p:val>
                                        </p:tav>
                                      </p:tavLst>
                                    </p:anim>
                                    <p:anim calcmode="lin" valueType="num">
                                      <p:cBhvr>
                                        <p:cTn id="24" dur="500" fill="hold"/>
                                        <p:tgtEl>
                                          <p:spTgt spid="10"/>
                                        </p:tgtEl>
                                        <p:attrNameLst>
                                          <p:attrName>ppt_h</p:attrName>
                                        </p:attrNameLst>
                                      </p:cBhvr>
                                      <p:tavLst>
                                        <p:tav tm="0">
                                          <p:val>
                                            <p:fltVal val="0"/>
                                          </p:val>
                                        </p:tav>
                                        <p:tav tm="100000">
                                          <p:val>
                                            <p:strVal val="#ppt_h"/>
                                          </p:val>
                                        </p:tav>
                                      </p:tavLst>
                                    </p:anim>
                                    <p:animEffect transition="in" filter="fade">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2_title" descr="أقرأ وأتعلّم">    </p:cNvPr>
          <p:cNvPicPr>
            <a:picLocks noChangeAspect="1"/>
          </p:cNvPicPr>
          <p:nvPr/>
        </p:nvPicPr>
        <p:blipFill>
          <a:blip r:embed="rId2"/>
          <a:stretch>
            <a:fillRect/>
          </a:stretch>
        </p:blipFill>
        <p:spPr>
          <a:xfrm>
            <a:off x="9369083" y="109728"/>
            <a:ext cx="2472397" cy="868680"/>
          </a:xfrm>
          <a:prstGeom prst="rect">
            <a:avLst/>
          </a:prstGeom>
        </p:spPr>
      </p:pic>
      <p:sp>
        <p:nvSpPr>
          <p:cNvPr id="3" name="s12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الاستنتاج – مهارة القراءة</a:t>
            </a:r>
            <a:endParaRPr lang="ar-SA" sz="1700" dirty="0"/>
          </a:p>
        </p:txBody>
      </p:sp>
      <p:pic>
        <p:nvPicPr>
          <p:cNvPr id="4" name="s12_pic_1" descr="/tmp/claude-0/-home-user-Scienceshamah/8386cda7-7741-5ea4-8952-60ee8e67fc31/scratchpad/w3/img/card_510x848_FFFFFF_s_i.png">    </p:cNvPr>
          <p:cNvPicPr>
            <a:picLocks noChangeAspect="1"/>
          </p:cNvPicPr>
          <p:nvPr/>
        </p:nvPicPr>
        <p:blipFill>
          <a:blip r:embed="rId3"/>
          <a:stretch>
            <a:fillRect/>
          </a:stretch>
        </p:blipFill>
        <p:spPr>
          <a:xfrm>
            <a:off x="411480" y="1024128"/>
            <a:ext cx="3108960" cy="5166360"/>
          </a:xfrm>
          <a:prstGeom prst="rect">
            <a:avLst/>
          </a:prstGeom>
        </p:spPr>
      </p:pic>
      <p:pic>
        <p:nvPicPr>
          <p:cNvPr id="5" name="s12_pic_2" descr="أقرأ وأتعلم: السؤال الأساسي والمفردات ومهارة القراءة (من الكتاب ص١١٠)">    </p:cNvPr>
          <p:cNvPicPr>
            <a:picLocks noChangeAspect="1"/>
          </p:cNvPicPr>
          <p:nvPr/>
        </p:nvPicPr>
        <p:blipFill>
          <a:blip r:embed="rId4"/>
          <a:stretch>
            <a:fillRect/>
          </a:stretch>
        </p:blipFill>
        <p:spPr>
          <a:xfrm>
            <a:off x="594360" y="1097280"/>
            <a:ext cx="2083489" cy="4983480"/>
          </a:xfrm>
          <a:prstGeom prst="rect">
            <a:avLst/>
          </a:prstGeom>
        </p:spPr>
      </p:pic>
      <p:pic>
        <p:nvPicPr>
          <p:cNvPr id="6" name="s12_pic_3" descr="/tmp/claude-0/-home-user-Scienceshamah/8386cda7-7741-5ea4-8952-60ee8e67fc31/scratchpad/w3/img/card_1305x218_B8F28A_s_i.png">    </p:cNvPr>
          <p:cNvPicPr>
            <a:picLocks noChangeAspect="1"/>
          </p:cNvPicPr>
          <p:nvPr/>
        </p:nvPicPr>
        <p:blipFill>
          <a:blip r:embed="rId5"/>
          <a:stretch>
            <a:fillRect/>
          </a:stretch>
        </p:blipFill>
        <p:spPr>
          <a:xfrm>
            <a:off x="3794760" y="1097280"/>
            <a:ext cx="7955280" cy="1325880"/>
          </a:xfrm>
          <a:prstGeom prst="rect">
            <a:avLst/>
          </a:prstGeom>
        </p:spPr>
      </p:pic>
      <p:sp>
        <p:nvSpPr>
          <p:cNvPr id="7" name="s12_t_4"/>
          <p:cNvSpPr txBox="1"/>
          <p:nvPr/>
        </p:nvSpPr>
        <p:spPr>
          <a:xfrm>
            <a:off x="3977640" y="1143000"/>
            <a:ext cx="7589520" cy="1234440"/>
          </a:xfrm>
          <a:prstGeom prst="rect">
            <a:avLst/>
          </a:prstGeom>
          <a:noFill/>
          <a:ln/>
        </p:spPr>
        <p:txBody>
          <a:bodyPr wrap="square" lIns="762" tIns="762" rIns="762" bIns="762" rtlCol="0" anchor="ctr"/>
          <a:lstStyle/>
          <a:p>
            <a:pPr rtl="1" algn="r" indent="0" marL="0">
              <a:lnSpc>
                <a:spcPct val="108000"/>
              </a:lnSpc>
              <a:buNone/>
            </a:pPr>
            <a:r>
              <a:rPr lang="ar-SA" altLang="en-US" sz="2400" b="1" dirty="0">
                <a:solidFill>
                  <a:srgbClr val="1B5E20"/>
                </a:solidFill>
                <a:latin typeface="Tahoma" pitchFamily="34" charset="0"/>
                <a:ea typeface="Tahoma" pitchFamily="34" charset="-122"/>
                <a:cs typeface="Tahoma" pitchFamily="34" charset="-120"/>
              </a:rPr>
              <a:t>السؤال الأساسي: </a:t>
            </a:r>
            <a:r>
              <a:rPr lang="ar-SA" altLang="en-US" sz="2400" b="1" dirty="0">
                <a:solidFill>
                  <a:srgbClr val="34405E"/>
                </a:solidFill>
                <a:latin typeface="Tahoma" pitchFamily="34" charset="0"/>
                <a:ea typeface="Tahoma" pitchFamily="34" charset="-122"/>
                <a:cs typeface="Tahoma" pitchFamily="34" charset="-120"/>
              </a:rPr>
              <a:t>كيف تحصل المخلوقات الحية على الطاقة؟</a:t>
            </a:r>
            <a:endParaRPr lang="ar-SA" sz="2400" dirty="0"/>
          </a:p>
        </p:txBody>
      </p:sp>
      <p:pic>
        <p:nvPicPr>
          <p:cNvPr id="8" name="s12_pic_5" descr="/tmp/claude-0/-home-user-Scienceshamah/8386cda7-7741-5ea4-8952-60ee8e67fc31/scratchpad/w3/img/card_1305x585_FFFFFF_s_i.png">    </p:cNvPr>
          <p:cNvPicPr>
            <a:picLocks noChangeAspect="1"/>
          </p:cNvPicPr>
          <p:nvPr/>
        </p:nvPicPr>
        <p:blipFill>
          <a:blip r:embed="rId6"/>
          <a:stretch>
            <a:fillRect/>
          </a:stretch>
        </p:blipFill>
        <p:spPr>
          <a:xfrm>
            <a:off x="3794760" y="2606040"/>
            <a:ext cx="7955280" cy="3566160"/>
          </a:xfrm>
          <a:prstGeom prst="rect">
            <a:avLst/>
          </a:prstGeom>
        </p:spPr>
      </p:pic>
      <p:sp>
        <p:nvSpPr>
          <p:cNvPr id="9" name="s12_t_6"/>
          <p:cNvSpPr txBox="1"/>
          <p:nvPr/>
        </p:nvSpPr>
        <p:spPr>
          <a:xfrm>
            <a:off x="3977640" y="2651760"/>
            <a:ext cx="7589520" cy="502920"/>
          </a:xfrm>
          <a:prstGeom prst="rect">
            <a:avLst/>
          </a:prstGeom>
          <a:noFill/>
          <a:ln/>
        </p:spPr>
        <p:txBody>
          <a:bodyPr wrap="square" lIns="762" tIns="762" rIns="762" bIns="762" rtlCol="0" anchor="ctr"/>
          <a:lstStyle/>
          <a:p>
            <a:pPr rtl="1" algn="ctr" indent="0" marL="0">
              <a:lnSpc>
                <a:spcPct val="108000"/>
              </a:lnSpc>
              <a:buNone/>
            </a:pPr>
            <a:r>
              <a:rPr lang="ar-SA" altLang="en-US" sz="2100" b="1" dirty="0">
                <a:solidFill>
                  <a:srgbClr val="1E7FB8"/>
                </a:solidFill>
                <a:latin typeface="Tahoma" pitchFamily="34" charset="0"/>
                <a:ea typeface="Tahoma" pitchFamily="34" charset="-122"/>
                <a:cs typeface="Tahoma" pitchFamily="34" charset="-120"/>
              </a:rPr>
              <a:t>مهارة القراءة: الاستنتاج</a:t>
            </a:r>
            <a:endParaRPr lang="ar-SA" sz="2100" dirty="0"/>
          </a:p>
        </p:txBody>
      </p:sp>
      <p:sp>
        <p:nvSpPr>
          <p:cNvPr id="10" name="s12_t_7"/>
          <p:cNvSpPr txBox="1"/>
          <p:nvPr/>
        </p:nvSpPr>
        <p:spPr>
          <a:xfrm>
            <a:off x="7863840" y="3200400"/>
            <a:ext cx="3703320" cy="457200"/>
          </a:xfrm>
          <a:prstGeom prst="roundRect">
            <a:avLst>
              <a:gd name="adj" fmla="val 24000"/>
            </a:avLst>
          </a:prstGeom>
          <a:solidFill>
            <a:srgbClr val="8FD8FF"/>
          </a:solidFill>
          <a:ln/>
        </p:spPr>
        <p:txBody>
          <a:bodyPr wrap="square" lIns="762" tIns="762" rIns="762" bIns="762"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أدلّة من النص</a:t>
            </a:r>
            <a:endParaRPr lang="ar-SA" sz="1800" dirty="0"/>
          </a:p>
        </p:txBody>
      </p:sp>
      <p:sp>
        <p:nvSpPr>
          <p:cNvPr id="11" name="s12_t_8"/>
          <p:cNvSpPr txBox="1"/>
          <p:nvPr/>
        </p:nvSpPr>
        <p:spPr>
          <a:xfrm>
            <a:off x="4023360" y="3200400"/>
            <a:ext cx="3703320" cy="457200"/>
          </a:xfrm>
          <a:prstGeom prst="roundRect">
            <a:avLst>
              <a:gd name="adj" fmla="val 24000"/>
            </a:avLst>
          </a:prstGeom>
          <a:solidFill>
            <a:srgbClr val="FFE066"/>
          </a:solidFill>
          <a:ln/>
        </p:spPr>
        <p:txBody>
          <a:bodyPr wrap="square" lIns="762" tIns="762" rIns="762" bIns="762"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استنتاجات</a:t>
            </a:r>
            <a:endParaRPr lang="ar-SA" sz="1800" dirty="0"/>
          </a:p>
        </p:txBody>
      </p:sp>
      <p:sp>
        <p:nvSpPr>
          <p:cNvPr id="12" name="s12_t_9"/>
          <p:cNvSpPr txBox="1"/>
          <p:nvPr/>
        </p:nvSpPr>
        <p:spPr>
          <a:xfrm>
            <a:off x="7863840" y="3749040"/>
            <a:ext cx="3703320" cy="2286000"/>
          </a:xfrm>
          <a:prstGeom prst="rect">
            <a:avLst/>
          </a:prstGeom>
          <a:noFill/>
          <a:ln/>
        </p:spPr>
        <p:txBody>
          <a:bodyPr wrap="square" lIns="762" tIns="762" rIns="762" bIns="762" rtlCol="0" anchor="t"/>
          <a:lstStyle/>
          <a:p>
            <a:pPr rtl="1" algn="r" indent="0" marL="0">
              <a:lnSpc>
                <a:spcPct val="108000"/>
              </a:lnSpc>
              <a:buNone/>
            </a:pPr>
            <a:r>
              <a:rPr lang="ar-SA" altLang="en-US" sz="1700" dirty="0">
                <a:solidFill>
                  <a:srgbClr val="34405E"/>
                </a:solidFill>
                <a:latin typeface="Tahoma" pitchFamily="34" charset="0"/>
                <a:ea typeface="Tahoma" pitchFamily="34" charset="-122"/>
                <a:cs typeface="Tahoma" pitchFamily="34" charset="-120"/>
              </a:rPr>
              <a:t>«تصنع المنتجات غذاءها مستخدمةً أشعة الشمس» و«تتغذى المستهلكات على المنتجات».</a:t>
            </a:r>
            <a:endParaRPr lang="ar-SA" sz="1700" dirty="0"/>
          </a:p>
        </p:txBody>
      </p:sp>
      <p:sp>
        <p:nvSpPr>
          <p:cNvPr id="13" name="s12_t_10"/>
          <p:cNvSpPr txBox="1"/>
          <p:nvPr/>
        </p:nvSpPr>
        <p:spPr>
          <a:xfrm>
            <a:off x="4023360" y="3749040"/>
            <a:ext cx="3703320" cy="2286000"/>
          </a:xfrm>
          <a:prstGeom prst="rect">
            <a:avLst/>
          </a:prstGeom>
          <a:noFill/>
          <a:ln/>
        </p:spPr>
        <p:txBody>
          <a:bodyPr wrap="square" lIns="762" tIns="762" rIns="762" bIns="762" rtlCol="0" anchor="t"/>
          <a:lstStyle/>
          <a:p>
            <a:pPr rtl="1" algn="r" indent="0" marL="0">
              <a:lnSpc>
                <a:spcPct val="108000"/>
              </a:lnSpc>
              <a:buNone/>
            </a:pPr>
            <a:r>
              <a:rPr lang="ar-SA" altLang="en-US" sz="1700" b="1" dirty="0">
                <a:solidFill>
                  <a:srgbClr val="1B5E20"/>
                </a:solidFill>
                <a:latin typeface="Tahoma" pitchFamily="34" charset="0"/>
                <a:ea typeface="Tahoma" pitchFamily="34" charset="-122"/>
                <a:cs typeface="Tahoma" pitchFamily="34" charset="-120"/>
              </a:rPr>
              <a:t>الطاقة تبدأ من الشمس، ثم تنتقل إلى المنتجات، ثم إلى المستهلكات عن طريق الغذاء.</a:t>
            </a:r>
            <a:endParaRPr lang="ar-SA" sz="17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3_title" descr="كيف تعتمد المخلوقات الحية بعضها على بعض؟">    </p:cNvPr>
          <p:cNvPicPr>
            <a:picLocks noChangeAspect="1"/>
          </p:cNvPicPr>
          <p:nvPr/>
        </p:nvPicPr>
        <p:blipFill>
          <a:blip r:embed="rId2"/>
          <a:stretch>
            <a:fillRect/>
          </a:stretch>
        </p:blipFill>
        <p:spPr>
          <a:xfrm>
            <a:off x="5166360" y="229134"/>
            <a:ext cx="6675120" cy="629869"/>
          </a:xfrm>
          <a:prstGeom prst="rect">
            <a:avLst/>
          </a:prstGeom>
        </p:spPr>
      </p:pic>
      <p:sp>
        <p:nvSpPr>
          <p:cNvPr id="3" name="s13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الفهم القرائي – التشبيه</a:t>
            </a:r>
            <a:endParaRPr lang="ar-SA" sz="1700" dirty="0"/>
          </a:p>
        </p:txBody>
      </p:sp>
      <p:pic>
        <p:nvPicPr>
          <p:cNvPr id="4" name="s13_pic_1" descr="/tmp/claude-0/-home-user-Scienceshamah/8386cda7-7741-5ea4-8952-60ee8e67fc31/scratchpad/w3/img/card_1853x323_FFFFFF_s_i.png">    </p:cNvPr>
          <p:cNvPicPr>
            <a:picLocks noChangeAspect="1"/>
          </p:cNvPicPr>
          <p:nvPr/>
        </p:nvPicPr>
        <p:blipFill>
          <a:blip r:embed="rId3"/>
          <a:stretch>
            <a:fillRect/>
          </a:stretch>
        </p:blipFill>
        <p:spPr>
          <a:xfrm>
            <a:off x="457200" y="1097280"/>
            <a:ext cx="11292840" cy="1965960"/>
          </a:xfrm>
          <a:prstGeom prst="rect">
            <a:avLst/>
          </a:prstGeom>
        </p:spPr>
      </p:pic>
      <p:sp>
        <p:nvSpPr>
          <p:cNvPr id="5" name="s13_t_2"/>
          <p:cNvSpPr txBox="1"/>
          <p:nvPr/>
        </p:nvSpPr>
        <p:spPr>
          <a:xfrm>
            <a:off x="685800" y="1143000"/>
            <a:ext cx="10835640" cy="1874520"/>
          </a:xfrm>
          <a:prstGeom prst="rect">
            <a:avLst/>
          </a:prstGeom>
          <a:noFill/>
          <a:ln/>
        </p:spPr>
        <p:txBody>
          <a:bodyPr wrap="square" lIns="762" tIns="762" rIns="762" bIns="762" rtlCol="0" anchor="ctr"/>
          <a:lstStyle/>
          <a:p>
            <a:pPr rtl="1" algn="r" indent="0" marL="0">
              <a:lnSpc>
                <a:spcPct val="125000"/>
              </a:lnSpc>
              <a:buNone/>
            </a:pPr>
            <a:r>
              <a:rPr lang="ar-SA" altLang="en-US" sz="2000" dirty="0">
                <a:solidFill>
                  <a:srgbClr val="34405E"/>
                </a:solidFill>
                <a:latin typeface="Tahoma" pitchFamily="34" charset="0"/>
                <a:ea typeface="Tahoma" pitchFamily="34" charset="-122"/>
                <a:cs typeface="Tahoma" pitchFamily="34" charset="-120"/>
              </a:rPr>
              <a:t>لقد جعل اللهُ تعالى لكلِّ مخلوقٍ حيٍّ دورًا يؤدّيه في النظام البيئي لاستمرار حياته وحياة غيره من المخلوقات. وقد اهتمّ العلماءُ بدراسة العلاقات بين هذه المخلوقات والأدوار التي تؤدّيها في المجتمع الحيوي لفهم النظام البيئي.</a:t>
            </a:r>
            <a:endParaRPr lang="ar-SA" sz="2000" dirty="0"/>
          </a:p>
        </p:txBody>
      </p:sp>
      <p:pic>
        <p:nvPicPr>
          <p:cNvPr id="6" name="s13_pic_3" descr="/tmp/claude-0/-home-user-Scienceshamah/8386cda7-7741-5ea4-8952-60ee8e67fc31/scratchpad/w3/img/card_1418x240_FFE066_s_i.png">    </p:cNvPr>
          <p:cNvPicPr>
            <a:picLocks noChangeAspect="1"/>
          </p:cNvPicPr>
          <p:nvPr/>
        </p:nvPicPr>
        <p:blipFill>
          <a:blip r:embed="rId4"/>
          <a:stretch>
            <a:fillRect/>
          </a:stretch>
        </p:blipFill>
        <p:spPr>
          <a:xfrm>
            <a:off x="3108960" y="3291840"/>
            <a:ext cx="8641080" cy="1463040"/>
          </a:xfrm>
          <a:prstGeom prst="rect">
            <a:avLst/>
          </a:prstGeom>
        </p:spPr>
      </p:pic>
      <p:sp>
        <p:nvSpPr>
          <p:cNvPr id="7" name="s13_t_4"/>
          <p:cNvSpPr txBox="1"/>
          <p:nvPr/>
        </p:nvSpPr>
        <p:spPr>
          <a:xfrm>
            <a:off x="3291840" y="3337560"/>
            <a:ext cx="8275320" cy="137160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A87400"/>
                </a:solidFill>
                <a:latin typeface="Tahoma" pitchFamily="34" charset="0"/>
                <a:ea typeface="Tahoma" pitchFamily="34" charset="-122"/>
                <a:cs typeface="Tahoma" pitchFamily="34" charset="-120"/>
              </a:rPr>
              <a:t>تشبيه من الحياة: </a:t>
            </a:r>
            <a:r>
              <a:rPr lang="ar-SA" altLang="en-US" sz="2000" b="1" dirty="0">
                <a:solidFill>
                  <a:srgbClr val="34405E"/>
                </a:solidFill>
                <a:latin typeface="Tahoma" pitchFamily="34" charset="0"/>
                <a:ea typeface="Tahoma" pitchFamily="34" charset="-122"/>
                <a:cs typeface="Tahoma" pitchFamily="34" charset="-120"/>
              </a:rPr>
              <a:t>مثل فريق المدرسة؛ لكل عضو دور، وإذا غاب أحدهم تأثّر الفريق كله.</a:t>
            </a:r>
            <a:endParaRPr lang="ar-SA" sz="2000" dirty="0"/>
          </a:p>
        </p:txBody>
      </p:sp>
      <p:pic>
        <p:nvPicPr>
          <p:cNvPr id="8" name="s13_pic_5" descr="/tmp/claude-0/-home-user-Scienceshamah/8386cda7-7741-5ea4-8952-60ee8e67fc31/scratchpad/w3/img/card_1418x210_FFB3D1_s_i.png">    </p:cNvPr>
          <p:cNvPicPr>
            <a:picLocks noChangeAspect="1"/>
          </p:cNvPicPr>
          <p:nvPr/>
        </p:nvPicPr>
        <p:blipFill>
          <a:blip r:embed="rId5"/>
          <a:stretch>
            <a:fillRect/>
          </a:stretch>
        </p:blipFill>
        <p:spPr>
          <a:xfrm>
            <a:off x="3108960" y="4892040"/>
            <a:ext cx="8641080" cy="1280160"/>
          </a:xfrm>
          <a:prstGeom prst="rect">
            <a:avLst/>
          </a:prstGeom>
        </p:spPr>
      </p:pic>
      <p:sp>
        <p:nvSpPr>
          <p:cNvPr id="9" name="s13_t_6"/>
          <p:cNvSpPr txBox="1"/>
          <p:nvPr/>
        </p:nvSpPr>
        <p:spPr>
          <a:xfrm>
            <a:off x="3291840" y="4937760"/>
            <a:ext cx="8275320" cy="1188720"/>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فكّري – زاوجي – شاركي: ماذا يحدث للنظام البيئي إذا لم يؤدِّ أحد المخلوقات دوره؟</a:t>
            </a:r>
            <a:endParaRPr lang="ar-SA" sz="1900" dirty="0"/>
          </a:p>
        </p:txBody>
      </p:sp>
      <p:pic>
        <p:nvPicPr>
          <p:cNvPr id="10" name="s13_pic_7" descr="عالمة صغيرة">    </p:cNvPr>
          <p:cNvPicPr>
            <a:picLocks noChangeAspect="1"/>
          </p:cNvPicPr>
          <p:nvPr/>
        </p:nvPicPr>
        <p:blipFill>
          <a:blip r:embed="rId6"/>
          <a:stretch>
            <a:fillRect/>
          </a:stretch>
        </p:blipFill>
        <p:spPr>
          <a:xfrm>
            <a:off x="548640" y="3429000"/>
            <a:ext cx="2253872" cy="2606040"/>
          </a:xfrm>
          <a:prstGeom prst="rect">
            <a:avLst/>
          </a:prstGeom>
        </p:spPr>
      </p:pic>
    </p:spTree>
  </p:cSld>
  <p:clrMapOvr>
    <a:masterClrMapping/>
  </p:clrMapOvr>
  <p:transition spd="slow">
    <p:wheel spokes="4"/>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6" presetID="53" presetClass="entr" presetSubtype="16"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4_title" descr="المنتِجات">    </p:cNvPr>
          <p:cNvPicPr>
            <a:picLocks noChangeAspect="1"/>
          </p:cNvPicPr>
          <p:nvPr/>
        </p:nvPicPr>
        <p:blipFill>
          <a:blip r:embed="rId2"/>
          <a:stretch>
            <a:fillRect/>
          </a:stretch>
        </p:blipFill>
        <p:spPr>
          <a:xfrm>
            <a:off x="9698051" y="109728"/>
            <a:ext cx="2143429" cy="868680"/>
          </a:xfrm>
          <a:prstGeom prst="rect">
            <a:avLst/>
          </a:prstGeom>
        </p:spPr>
      </p:pic>
      <p:sp>
        <p:nvSpPr>
          <p:cNvPr id="3" name="s14_strategy"/>
          <p:cNvSpPr txBox="1"/>
          <p:nvPr/>
        </p:nvSpPr>
        <p:spPr>
          <a:xfrm>
            <a:off x="411480" y="274320"/>
            <a:ext cx="35204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التعلم البصري</a:t>
            </a:r>
            <a:endParaRPr lang="ar-SA" sz="1700" dirty="0"/>
          </a:p>
        </p:txBody>
      </p:sp>
      <p:pic>
        <p:nvPicPr>
          <p:cNvPr id="4" name="s14_pic_1" descr="/tmp/claude-0/-home-user-Scienceshamah/8386cda7-7741-5ea4-8952-60ee8e67fc31/scratchpad/w3/img/card_1140x270_FFFFFF_s_i.png">    </p:cNvPr>
          <p:cNvPicPr>
            <a:picLocks noChangeAspect="1"/>
          </p:cNvPicPr>
          <p:nvPr/>
        </p:nvPicPr>
        <p:blipFill>
          <a:blip r:embed="rId3"/>
          <a:stretch>
            <a:fillRect/>
          </a:stretch>
        </p:blipFill>
        <p:spPr>
          <a:xfrm>
            <a:off x="457200" y="1051560"/>
            <a:ext cx="6949440" cy="1645920"/>
          </a:xfrm>
          <a:prstGeom prst="rect">
            <a:avLst/>
          </a:prstGeom>
        </p:spPr>
      </p:pic>
      <p:sp>
        <p:nvSpPr>
          <p:cNvPr id="5" name="s14_t_2"/>
          <p:cNvSpPr txBox="1"/>
          <p:nvPr/>
        </p:nvSpPr>
        <p:spPr>
          <a:xfrm>
            <a:off x="640080" y="1097280"/>
            <a:ext cx="6583680" cy="1554480"/>
          </a:xfrm>
          <a:prstGeom prst="rect">
            <a:avLst/>
          </a:prstGeom>
          <a:noFill/>
          <a:ln/>
        </p:spPr>
        <p:txBody>
          <a:bodyPr wrap="square" lIns="762" tIns="762" rIns="762" bIns="762" rtlCol="0" anchor="ctr"/>
          <a:lstStyle/>
          <a:p>
            <a:pPr rtl="1" algn="r" indent="0" marL="0">
              <a:lnSpc>
                <a:spcPct val="120000"/>
              </a:lnSpc>
              <a:buNone/>
            </a:pPr>
            <a:r>
              <a:rPr lang="ar-SA" altLang="en-US" sz="2100" dirty="0">
                <a:solidFill>
                  <a:srgbClr val="34405E"/>
                </a:solidFill>
                <a:latin typeface="Tahoma" pitchFamily="34" charset="0"/>
                <a:ea typeface="Tahoma" pitchFamily="34" charset="-122"/>
                <a:cs typeface="Tahoma" pitchFamily="34" charset="-120"/>
              </a:rPr>
              <a:t>تعتمد كلُّ المخلوقات الحيّة في النظام البيئي على </a:t>
            </a:r>
            <a:r>
              <a:rPr lang="ar-SA" altLang="en-US" sz="2100" b="1" dirty="0">
                <a:solidFill>
                  <a:srgbClr val="2E7D32"/>
                </a:solidFill>
                <a:latin typeface="Tahoma" pitchFamily="34" charset="0"/>
                <a:ea typeface="Tahoma" pitchFamily="34" charset="-122"/>
                <a:cs typeface="Tahoma" pitchFamily="34" charset="-120"/>
              </a:rPr>
              <a:t>المنتِجات</a:t>
            </a:r>
            <a:r>
              <a:rPr lang="ar-SA" altLang="en-US" sz="2100" dirty="0">
                <a:solidFill>
                  <a:srgbClr val="34405E"/>
                </a:solidFill>
                <a:latin typeface="Tahoma" pitchFamily="34" charset="0"/>
                <a:ea typeface="Tahoma" pitchFamily="34" charset="-122"/>
                <a:cs typeface="Tahoma" pitchFamily="34" charset="-120"/>
              </a:rPr>
              <a:t>، وهي مخلوقات حيّة تصنع غذاءها بنفسها مستخدمةً طاقة الشمس.</a:t>
            </a:r>
            <a:endParaRPr lang="ar-SA" sz="2100" dirty="0"/>
          </a:p>
        </p:txBody>
      </p:sp>
      <p:pic>
        <p:nvPicPr>
          <p:cNvPr id="6" name="s14_pic_3" descr="/tmp/claude-0/-home-user-Scienceshamah/8386cda7-7741-5ea4-8952-60ee8e67fc31/scratchpad/w3/img/card_675x308_FFFFFF_s_i.png">    </p:cNvPr>
          <p:cNvPicPr>
            <a:picLocks noChangeAspect="1"/>
          </p:cNvPicPr>
          <p:nvPr/>
        </p:nvPicPr>
        <p:blipFill>
          <a:blip r:embed="rId4"/>
          <a:stretch>
            <a:fillRect/>
          </a:stretch>
        </p:blipFill>
        <p:spPr>
          <a:xfrm>
            <a:off x="7635240" y="1051560"/>
            <a:ext cx="4114800" cy="1874520"/>
          </a:xfrm>
          <a:prstGeom prst="rect">
            <a:avLst/>
          </a:prstGeom>
        </p:spPr>
      </p:pic>
      <p:pic>
        <p:nvPicPr>
          <p:cNvPr id="7" name="s14_pic_4" descr="تصنع المنتجات غذاءها مستخدمة أشعة الشمس (من الكتاب)">    </p:cNvPr>
          <p:cNvPicPr>
            <a:picLocks noChangeAspect="1"/>
          </p:cNvPicPr>
          <p:nvPr/>
        </p:nvPicPr>
        <p:blipFill>
          <a:blip r:embed="rId5"/>
          <a:stretch>
            <a:fillRect/>
          </a:stretch>
        </p:blipFill>
        <p:spPr>
          <a:xfrm>
            <a:off x="7772400" y="1188720"/>
            <a:ext cx="3840480" cy="1548194"/>
          </a:xfrm>
          <a:prstGeom prst="rect">
            <a:avLst/>
          </a:prstGeom>
        </p:spPr>
      </p:pic>
      <p:pic>
        <p:nvPicPr>
          <p:cNvPr id="8" name="s14_pic_5" descr="/tmp/claude-0/-home-user-Scienceshamah/8386cda7-7741-5ea4-8952-60ee8e67fc31/scratchpad/w3/img/card_578x308_B8F28A_s_i.png">    </p:cNvPr>
          <p:cNvPicPr>
            <a:picLocks noChangeAspect="1"/>
          </p:cNvPicPr>
          <p:nvPr/>
        </p:nvPicPr>
        <p:blipFill>
          <a:blip r:embed="rId6"/>
          <a:stretch>
            <a:fillRect/>
          </a:stretch>
        </p:blipFill>
        <p:spPr>
          <a:xfrm>
            <a:off x="457200" y="2880360"/>
            <a:ext cx="3520440" cy="1874520"/>
          </a:xfrm>
          <a:prstGeom prst="rect">
            <a:avLst/>
          </a:prstGeom>
        </p:spPr>
      </p:pic>
      <p:sp>
        <p:nvSpPr>
          <p:cNvPr id="9" name="s14_t_6"/>
          <p:cNvSpPr txBox="1"/>
          <p:nvPr/>
        </p:nvSpPr>
        <p:spPr>
          <a:xfrm>
            <a:off x="594360" y="2926080"/>
            <a:ext cx="3246120" cy="178308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1B5E20"/>
                </a:solidFill>
                <a:latin typeface="Tahoma" pitchFamily="34" charset="0"/>
                <a:ea typeface="Tahoma" pitchFamily="34" charset="-122"/>
                <a:cs typeface="Tahoma" pitchFamily="34" charset="-120"/>
              </a:rPr>
              <a:t>على اليابسة:</a:t>
            </a:r>
            <a:endParaRPr lang="ar-SA" sz="1800" dirty="0"/>
          </a:p>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النباتات الخضراء، ومنها الأشجار والأعشاب.</a:t>
            </a:r>
            <a:endParaRPr lang="ar-SA" sz="1800" dirty="0"/>
          </a:p>
        </p:txBody>
      </p:sp>
      <p:pic>
        <p:nvPicPr>
          <p:cNvPr id="10" name="s14_pic_7" descr="شجرة">    </p:cNvPr>
          <p:cNvPicPr>
            <a:picLocks noChangeAspect="1"/>
          </p:cNvPicPr>
          <p:nvPr/>
        </p:nvPicPr>
        <p:blipFill>
          <a:blip r:embed="rId7"/>
          <a:stretch>
            <a:fillRect/>
          </a:stretch>
        </p:blipFill>
        <p:spPr>
          <a:xfrm>
            <a:off x="548640" y="4160520"/>
            <a:ext cx="548640" cy="548640"/>
          </a:xfrm>
          <a:prstGeom prst="rect">
            <a:avLst/>
          </a:prstGeom>
        </p:spPr>
      </p:pic>
      <p:pic>
        <p:nvPicPr>
          <p:cNvPr id="11" name="s14_pic_8" descr="/tmp/claude-0/-home-user-Scienceshamah/8386cda7-7741-5ea4-8952-60ee8e67fc31/scratchpad/w3/img/card_540x308_8FD8FF_s_i.png">    </p:cNvPr>
          <p:cNvPicPr>
            <a:picLocks noChangeAspect="1"/>
          </p:cNvPicPr>
          <p:nvPr/>
        </p:nvPicPr>
        <p:blipFill>
          <a:blip r:embed="rId8"/>
          <a:stretch>
            <a:fillRect/>
          </a:stretch>
        </p:blipFill>
        <p:spPr>
          <a:xfrm>
            <a:off x="4114800" y="2880360"/>
            <a:ext cx="3291840" cy="1874520"/>
          </a:xfrm>
          <a:prstGeom prst="rect">
            <a:avLst/>
          </a:prstGeom>
        </p:spPr>
      </p:pic>
      <p:sp>
        <p:nvSpPr>
          <p:cNvPr id="12" name="s14_t_9"/>
          <p:cNvSpPr txBox="1"/>
          <p:nvPr/>
        </p:nvSpPr>
        <p:spPr>
          <a:xfrm>
            <a:off x="4251960" y="2926080"/>
            <a:ext cx="3017520" cy="178308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1E7FB8"/>
                </a:solidFill>
                <a:latin typeface="Tahoma" pitchFamily="34" charset="0"/>
                <a:ea typeface="Tahoma" pitchFamily="34" charset="-122"/>
                <a:cs typeface="Tahoma" pitchFamily="34" charset="-120"/>
              </a:rPr>
              <a:t>في المحيطات والبحيرات:</a:t>
            </a:r>
            <a:endParaRPr lang="ar-SA" sz="1800" dirty="0"/>
          </a:p>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المنتجات الرئيسة هي الطحالب.</a:t>
            </a:r>
            <a:endParaRPr lang="ar-SA" sz="1800" dirty="0"/>
          </a:p>
        </p:txBody>
      </p:sp>
      <p:pic>
        <p:nvPicPr>
          <p:cNvPr id="13" name="s14_pic_10" descr="/tmp/claude-0/-home-user-Scienceshamah/8386cda7-7741-5ea4-8952-60ee8e67fc31/scratchpad/w3/img/card_675x503_FFE066_s_i.png">    </p:cNvPr>
          <p:cNvPicPr>
            <a:picLocks noChangeAspect="1"/>
          </p:cNvPicPr>
          <p:nvPr/>
        </p:nvPicPr>
        <p:blipFill>
          <a:blip r:embed="rId9"/>
          <a:stretch>
            <a:fillRect/>
          </a:stretch>
        </p:blipFill>
        <p:spPr>
          <a:xfrm>
            <a:off x="7635240" y="3108960"/>
            <a:ext cx="4114800" cy="3063240"/>
          </a:xfrm>
          <a:prstGeom prst="rect">
            <a:avLst/>
          </a:prstGeom>
        </p:spPr>
      </p:pic>
      <p:sp>
        <p:nvSpPr>
          <p:cNvPr id="14" name="s14_t_11"/>
          <p:cNvSpPr txBox="1"/>
          <p:nvPr/>
        </p:nvSpPr>
        <p:spPr>
          <a:xfrm>
            <a:off x="7772400" y="3154680"/>
            <a:ext cx="3840480" cy="29718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A87400"/>
                </a:solidFill>
                <a:latin typeface="Tahoma" pitchFamily="34" charset="0"/>
                <a:ea typeface="Tahoma" pitchFamily="34" charset="-122"/>
                <a:cs typeface="Tahoma" pitchFamily="34" charset="-120"/>
              </a:rPr>
              <a:t>تشبيه: </a:t>
            </a:r>
            <a:r>
              <a:rPr lang="ar-SA" altLang="en-US" sz="1800" b="1" dirty="0">
                <a:solidFill>
                  <a:srgbClr val="34405E"/>
                </a:solidFill>
                <a:latin typeface="Tahoma" pitchFamily="34" charset="0"/>
                <a:ea typeface="Tahoma" pitchFamily="34" charset="-122"/>
                <a:cs typeface="Tahoma" pitchFamily="34" charset="-120"/>
              </a:rPr>
              <a:t>المنتِج مثل «طاهٍ ماهر» يُعدّ طعامه بنفسه، ومصدر حرارة موقده هو الشمس ☀️</a:t>
            </a:r>
            <a:endParaRPr lang="ar-SA" sz="1800" dirty="0"/>
          </a:p>
        </p:txBody>
      </p:sp>
      <p:pic>
        <p:nvPicPr>
          <p:cNvPr id="15" name="s14_pic_12" descr="/tmp/claude-0/-home-user-Scienceshamah/8386cda7-7741-5ea4-8952-60ee8e67fc31/scratchpad/w3/img/card_1140x203_FFB3D1_s_i.png">    </p:cNvPr>
          <p:cNvPicPr>
            <a:picLocks noChangeAspect="1"/>
          </p:cNvPicPr>
          <p:nvPr/>
        </p:nvPicPr>
        <p:blipFill>
          <a:blip r:embed="rId10"/>
          <a:stretch>
            <a:fillRect/>
          </a:stretch>
        </p:blipFill>
        <p:spPr>
          <a:xfrm>
            <a:off x="457200" y="4937760"/>
            <a:ext cx="6949440" cy="1234440"/>
          </a:xfrm>
          <a:prstGeom prst="rect">
            <a:avLst/>
          </a:prstGeom>
        </p:spPr>
      </p:pic>
      <p:sp>
        <p:nvSpPr>
          <p:cNvPr id="16" name="s14_t_13"/>
          <p:cNvSpPr txBox="1"/>
          <p:nvPr/>
        </p:nvSpPr>
        <p:spPr>
          <a:xfrm>
            <a:off x="594360" y="4965192"/>
            <a:ext cx="3840480" cy="118872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تقويم سريع: هل الأرنب منتِج؟ لماذا؟</a:t>
            </a:r>
            <a:endParaRPr lang="ar-SA" sz="1800" dirty="0"/>
          </a:p>
        </p:txBody>
      </p:sp>
      <p:sp>
        <p:nvSpPr>
          <p:cNvPr id="17" name="s14_t_14"/>
          <p:cNvSpPr txBox="1"/>
          <p:nvPr/>
        </p:nvSpPr>
        <p:spPr>
          <a:xfrm>
            <a:off x="4434840" y="4965192"/>
            <a:ext cx="2834640" cy="118872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1B5E20"/>
                </a:solidFill>
                <a:latin typeface="Tahoma" pitchFamily="34" charset="0"/>
                <a:ea typeface="Tahoma" pitchFamily="34" charset="-122"/>
                <a:cs typeface="Tahoma" pitchFamily="34" charset="-120"/>
              </a:rPr>
              <a:t>لا؛ لأنه لا يصنع غذاءه بنفسه.</a:t>
            </a:r>
            <a:endParaRPr lang="ar-SA" sz="1800" dirty="0"/>
          </a:p>
        </p:txBody>
      </p:sp>
    </p:spTree>
  </p:cSld>
  <p:clrMapOvr>
    <a:masterClrMapping/>
  </p:clrMapOvr>
  <p:transition spd="slow">
    <p:split orient="vert" dir="o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anim calcmode="lin" valueType="num">
                                      <p:cBhvr>
                                        <p:cTn id="6" dur="500" fill="hold"/>
                                        <p:tgtEl>
                                          <p:spTgt spid="8"/>
                                        </p:tgtEl>
                                        <p:attrNameLst>
                                          <p:attrName>ppt_w</p:attrName>
                                        </p:attrNameLst>
                                      </p:cBhvr>
                                      <p:tavLst>
                                        <p:tav tm="0">
                                          <p:val>
                                            <p:fltVal val="0"/>
                                          </p:val>
                                        </p:tav>
                                        <p:tav tm="100000">
                                          <p:val>
                                            <p:strVal val="#ppt_w"/>
                                          </p:val>
                                        </p:tav>
                                      </p:tavLst>
                                    </p:anim>
                                    <p:anim calcmode="lin" valueType="num">
                                      <p:cBhvr>
                                        <p:cTn id="7" dur="500" fill="hold"/>
                                        <p:tgtEl>
                                          <p:spTgt spid="8"/>
                                        </p:tgtEl>
                                        <p:attrNameLst>
                                          <p:attrName>ppt_h</p:attrName>
                                        </p:attrNameLst>
                                      </p:cBhvr>
                                      <p:tavLst>
                                        <p:tav tm="0">
                                          <p:val>
                                            <p:fltVal val="0"/>
                                          </p:val>
                                        </p:tav>
                                        <p:tav tm="100000">
                                          <p:val>
                                            <p:strVal val="#ppt_h"/>
                                          </p:val>
                                        </p:tav>
                                      </p:tavLst>
                                    </p:anim>
                                    <p:animEffect transition="in" filter="fade">
                                      <p:cBhvr>
                                        <p:cTn id="8" dur="500"/>
                                        <p:tgtEl>
                                          <p:spTgt spid="8"/>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fltVal val="0"/>
                                          </p:val>
                                        </p:tav>
                                        <p:tav tm="100000">
                                          <p:val>
                                            <p:strVal val="#ppt_w"/>
                                          </p:val>
                                        </p:tav>
                                      </p:tavLst>
                                    </p:anim>
                                    <p:anim calcmode="lin" valueType="num">
                                      <p:cBhvr>
                                        <p:cTn id="17" dur="500" fill="hold"/>
                                        <p:tgtEl>
                                          <p:spTgt spid="10"/>
                                        </p:tgtEl>
                                        <p:attrNameLst>
                                          <p:attrName>ppt_h</p:attrName>
                                        </p:attrNameLst>
                                      </p:cBhvr>
                                      <p:tavLst>
                                        <p:tav tm="0">
                                          <p:val>
                                            <p:fltVal val="0"/>
                                          </p:val>
                                        </p:tav>
                                        <p:tav tm="100000">
                                          <p:val>
                                            <p:strVal val="#ppt_h"/>
                                          </p:val>
                                        </p:tav>
                                      </p:tavLst>
                                    </p:anim>
                                    <p:animEffect transition="in" filter="fade">
                                      <p:cBhvr>
                                        <p:cTn id="18"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par>
                                <p:cTn id="31" presetID="53" presetClass="entr" presetSubtype="16"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500" fill="hold"/>
                                        <p:tgtEl>
                                          <p:spTgt spid="12"/>
                                        </p:tgtEl>
                                        <p:attrNameLst>
                                          <p:attrName>ppt_w</p:attrName>
                                        </p:attrNameLst>
                                      </p:cBhvr>
                                      <p:tavLst>
                                        <p:tav tm="0">
                                          <p:val>
                                            <p:fltVal val="0"/>
                                          </p:val>
                                        </p:tav>
                                        <p:tav tm="100000">
                                          <p:val>
                                            <p:strVal val="#ppt_w"/>
                                          </p:val>
                                        </p:tav>
                                      </p:tavLst>
                                    </p:anim>
                                    <p:anim calcmode="lin" valueType="num">
                                      <p:cBhvr>
                                        <p:cTn id="29" dur="500" fill="hold"/>
                                        <p:tgtEl>
                                          <p:spTgt spid="12"/>
                                        </p:tgtEl>
                                        <p:attrNameLst>
                                          <p:attrName>ppt_h</p:attrName>
                                        </p:attrNameLst>
                                      </p:cBhvr>
                                      <p:tavLst>
                                        <p:tav tm="0">
                                          <p:val>
                                            <p:fltVal val="0"/>
                                          </p:val>
                                        </p:tav>
                                        <p:tav tm="100000">
                                          <p:val>
                                            <p:strVal val="#ppt_h"/>
                                          </p:val>
                                        </p:tav>
                                      </p:tavLst>
                                    </p:anim>
                                    <p:animEffect transition="in" filter="fade">
                                      <p:cBhvr>
                                        <p:cTn id="30"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8" presetID="53" presetClass="entr" presetSubtype="16"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animEffect transition="in" filter="fade">
                                      <p:cBhvr>
                                        <p:cTn id="37" dur="500"/>
                                        <p:tgtEl>
                                          <p:spTgt spid="13"/>
                                        </p:tgtEl>
                                      </p:cBhvr>
                                    </p:animEffect>
                                  </p:childTnLst>
                                </p:cTn>
                              </p:par>
                              <p:par>
                                <p:cTn id="43" presetID="53" presetClass="entr" presetSubtype="16"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animEffect transition="in" filter="fade">
                                      <p:cBhvr>
                                        <p:cTn id="42"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8"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51"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8" presetID="53" presetClass="entr" presetSubtype="16"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fltVal val="0"/>
                                          </p:val>
                                        </p:tav>
                                        <p:tav tm="100000">
                                          <p:val>
                                            <p:strVal val="#ppt_w"/>
                                          </p:val>
                                        </p:tav>
                                      </p:tavLst>
                                    </p:anim>
                                    <p:anim calcmode="lin" valueType="num">
                                      <p:cBhvr>
                                        <p:cTn id="56" dur="500" fill="hold"/>
                                        <p:tgtEl>
                                          <p:spTgt spid="17"/>
                                        </p:tgtEl>
                                        <p:attrNameLst>
                                          <p:attrName>ppt_h</p:attrName>
                                        </p:attrNameLst>
                                      </p:cBhvr>
                                      <p:tavLst>
                                        <p:tav tm="0">
                                          <p:val>
                                            <p:fltVal val="0"/>
                                          </p:val>
                                        </p:tav>
                                        <p:tav tm="100000">
                                          <p:val>
                                            <p:strVal val="#ppt_h"/>
                                          </p:val>
                                        </p:tav>
                                      </p:tavLst>
                                    </p:anim>
                                    <p:animEffect transition="in" filter="fade">
                                      <p:cBhvr>
                                        <p:cTn id="5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5_title" descr="السبورة: الأدوار في النظام البيئي">    </p:cNvPr>
          <p:cNvPicPr>
            <a:picLocks noChangeAspect="1"/>
          </p:cNvPicPr>
          <p:nvPr/>
        </p:nvPicPr>
        <p:blipFill>
          <a:blip r:embed="rId2"/>
          <a:stretch>
            <a:fillRect/>
          </a:stretch>
        </p:blipFill>
        <p:spPr>
          <a:xfrm>
            <a:off x="5166360" y="115460"/>
            <a:ext cx="6675120" cy="857215"/>
          </a:xfrm>
          <a:prstGeom prst="rect">
            <a:avLst/>
          </a:prstGeom>
        </p:spPr>
      </p:pic>
      <p:sp>
        <p:nvSpPr>
          <p:cNvPr id="3" name="s15_strategy"/>
          <p:cNvSpPr txBox="1"/>
          <p:nvPr/>
        </p:nvSpPr>
        <p:spPr>
          <a:xfrm>
            <a:off x="411480" y="274320"/>
            <a:ext cx="379476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السبورة المنظمة</a:t>
            </a:r>
            <a:endParaRPr lang="ar-SA" sz="1700" dirty="0"/>
          </a:p>
        </p:txBody>
      </p:sp>
      <p:pic>
        <p:nvPicPr>
          <p:cNvPr id="4" name="s15_pic_1" descr="سبورة بيضاء">    </p:cNvPr>
          <p:cNvPicPr>
            <a:picLocks noChangeAspect="1"/>
          </p:cNvPicPr>
          <p:nvPr/>
        </p:nvPicPr>
        <p:blipFill>
          <a:blip r:embed="rId3"/>
          <a:stretch>
            <a:fillRect/>
          </a:stretch>
        </p:blipFill>
        <p:spPr>
          <a:xfrm>
            <a:off x="1042416" y="1024128"/>
            <a:ext cx="10104120" cy="5349240"/>
          </a:xfrm>
          <a:prstGeom prst="rect">
            <a:avLst/>
          </a:prstGeom>
        </p:spPr>
      </p:pic>
      <p:pic>
        <p:nvPicPr>
          <p:cNvPr id="5" name="s15_pic_2" descr="الأدوار في النظام البيئي">    </p:cNvPr>
          <p:cNvPicPr>
            <a:picLocks noChangeAspect="1"/>
          </p:cNvPicPr>
          <p:nvPr/>
        </p:nvPicPr>
        <p:blipFill>
          <a:blip r:embed="rId4"/>
          <a:stretch>
            <a:fillRect/>
          </a:stretch>
        </p:blipFill>
        <p:spPr>
          <a:xfrm>
            <a:off x="4151140" y="1307592"/>
            <a:ext cx="3886671" cy="640080"/>
          </a:xfrm>
          <a:prstGeom prst="rect">
            <a:avLst/>
          </a:prstGeom>
        </p:spPr>
      </p:pic>
      <p:pic>
        <p:nvPicPr>
          <p:cNvPr id="6" name="s15_pic_3" descr="الشمس">    </p:cNvPr>
          <p:cNvPicPr>
            <a:picLocks noChangeAspect="1"/>
          </p:cNvPicPr>
          <p:nvPr/>
        </p:nvPicPr>
        <p:blipFill>
          <a:blip r:embed="rId5"/>
          <a:stretch>
            <a:fillRect/>
          </a:stretch>
        </p:blipFill>
        <p:spPr>
          <a:xfrm>
            <a:off x="5728716" y="1993392"/>
            <a:ext cx="685800" cy="685800"/>
          </a:xfrm>
          <a:prstGeom prst="rect">
            <a:avLst/>
          </a:prstGeom>
        </p:spPr>
      </p:pic>
      <p:pic>
        <p:nvPicPr>
          <p:cNvPr id="7" name="s15_pic_4" descr="سهم">    </p:cNvPr>
          <p:cNvPicPr>
            <a:picLocks noChangeAspect="1"/>
          </p:cNvPicPr>
          <p:nvPr/>
        </p:nvPicPr>
        <p:blipFill>
          <a:blip r:embed="rId6"/>
          <a:stretch>
            <a:fillRect/>
          </a:stretch>
        </p:blipFill>
        <p:spPr>
          <a:xfrm>
            <a:off x="6551676" y="2359152"/>
            <a:ext cx="2011680" cy="685800"/>
          </a:xfrm>
          <a:prstGeom prst="rect">
            <a:avLst/>
          </a:prstGeom>
        </p:spPr>
      </p:pic>
      <p:pic>
        <p:nvPicPr>
          <p:cNvPr id="8" name="s15_pic_5" descr="سهم">    </p:cNvPr>
          <p:cNvPicPr>
            <a:picLocks noChangeAspect="1"/>
          </p:cNvPicPr>
          <p:nvPr/>
        </p:nvPicPr>
        <p:blipFill>
          <a:blip r:embed="rId7"/>
          <a:stretch>
            <a:fillRect/>
          </a:stretch>
        </p:blipFill>
        <p:spPr>
          <a:xfrm>
            <a:off x="5865876" y="2679192"/>
            <a:ext cx="457200" cy="457200"/>
          </a:xfrm>
          <a:prstGeom prst="rect">
            <a:avLst/>
          </a:prstGeom>
        </p:spPr>
      </p:pic>
      <p:pic>
        <p:nvPicPr>
          <p:cNvPr id="9" name="s15_pic_6" descr="سهم">    </p:cNvPr>
          <p:cNvPicPr>
            <a:picLocks noChangeAspect="1"/>
          </p:cNvPicPr>
          <p:nvPr/>
        </p:nvPicPr>
        <p:blipFill>
          <a:blip r:embed="rId8"/>
          <a:stretch>
            <a:fillRect/>
          </a:stretch>
        </p:blipFill>
        <p:spPr>
          <a:xfrm>
            <a:off x="3625596" y="2359152"/>
            <a:ext cx="2011680" cy="685800"/>
          </a:xfrm>
          <a:prstGeom prst="rect">
            <a:avLst/>
          </a:prstGeom>
        </p:spPr>
      </p:pic>
      <p:pic>
        <p:nvPicPr>
          <p:cNvPr id="10" name="s15_pic_7" descr="المنتِجات">    </p:cNvPr>
          <p:cNvPicPr>
            <a:picLocks noChangeAspect="1"/>
          </p:cNvPicPr>
          <p:nvPr/>
        </p:nvPicPr>
        <p:blipFill>
          <a:blip r:embed="rId9"/>
          <a:stretch>
            <a:fillRect/>
          </a:stretch>
        </p:blipFill>
        <p:spPr>
          <a:xfrm>
            <a:off x="8890473" y="3136392"/>
            <a:ext cx="731520" cy="731520"/>
          </a:xfrm>
          <a:prstGeom prst="rect">
            <a:avLst/>
          </a:prstGeom>
        </p:spPr>
      </p:pic>
      <p:pic>
        <p:nvPicPr>
          <p:cNvPr id="11" name="s15_pic_8" descr="المنتِجات">    </p:cNvPr>
          <p:cNvPicPr>
            <a:picLocks noChangeAspect="1"/>
          </p:cNvPicPr>
          <p:nvPr/>
        </p:nvPicPr>
        <p:blipFill>
          <a:blip r:embed="rId10"/>
          <a:stretch>
            <a:fillRect/>
          </a:stretch>
        </p:blipFill>
        <p:spPr>
          <a:xfrm>
            <a:off x="8568030" y="3867912"/>
            <a:ext cx="1376408" cy="566928"/>
          </a:xfrm>
          <a:prstGeom prst="rect">
            <a:avLst/>
          </a:prstGeom>
        </p:spPr>
      </p:pic>
      <p:pic>
        <p:nvPicPr>
          <p:cNvPr id="12" name="s15_pic_9" descr="تصنع غذاءها مستخدمةً">    </p:cNvPr>
          <p:cNvPicPr>
            <a:picLocks noChangeAspect="1"/>
          </p:cNvPicPr>
          <p:nvPr/>
        </p:nvPicPr>
        <p:blipFill>
          <a:blip r:embed="rId11"/>
          <a:stretch>
            <a:fillRect/>
          </a:stretch>
        </p:blipFill>
        <p:spPr>
          <a:xfrm>
            <a:off x="8066335" y="4507992"/>
            <a:ext cx="2379797" cy="411480"/>
          </a:xfrm>
          <a:prstGeom prst="rect">
            <a:avLst/>
          </a:prstGeom>
        </p:spPr>
      </p:pic>
      <p:pic>
        <p:nvPicPr>
          <p:cNvPr id="13" name="s15_pic_10" descr="أشعة الشمس">    </p:cNvPr>
          <p:cNvPicPr>
            <a:picLocks noChangeAspect="1"/>
          </p:cNvPicPr>
          <p:nvPr/>
        </p:nvPicPr>
        <p:blipFill>
          <a:blip r:embed="rId12"/>
          <a:stretch>
            <a:fillRect/>
          </a:stretch>
        </p:blipFill>
        <p:spPr>
          <a:xfrm>
            <a:off x="8494783" y="4919472"/>
            <a:ext cx="1522900" cy="411480"/>
          </a:xfrm>
          <a:prstGeom prst="rect">
            <a:avLst/>
          </a:prstGeom>
        </p:spPr>
      </p:pic>
      <p:pic>
        <p:nvPicPr>
          <p:cNvPr id="14" name="s15_pic_11" descr="المستهلِكات">    </p:cNvPr>
          <p:cNvPicPr>
            <a:picLocks noChangeAspect="1"/>
          </p:cNvPicPr>
          <p:nvPr/>
        </p:nvPicPr>
        <p:blipFill>
          <a:blip r:embed="rId13"/>
          <a:stretch>
            <a:fillRect/>
          </a:stretch>
        </p:blipFill>
        <p:spPr>
          <a:xfrm>
            <a:off x="5728716" y="3136392"/>
            <a:ext cx="731520" cy="731520"/>
          </a:xfrm>
          <a:prstGeom prst="rect">
            <a:avLst/>
          </a:prstGeom>
        </p:spPr>
      </p:pic>
      <p:pic>
        <p:nvPicPr>
          <p:cNvPr id="15" name="s15_pic_12" descr="المستهلِكات">    </p:cNvPr>
          <p:cNvPicPr>
            <a:picLocks noChangeAspect="1"/>
          </p:cNvPicPr>
          <p:nvPr/>
        </p:nvPicPr>
        <p:blipFill>
          <a:blip r:embed="rId14"/>
          <a:stretch>
            <a:fillRect/>
          </a:stretch>
        </p:blipFill>
        <p:spPr>
          <a:xfrm>
            <a:off x="5179793" y="3867912"/>
            <a:ext cx="1829366" cy="566928"/>
          </a:xfrm>
          <a:prstGeom prst="rect">
            <a:avLst/>
          </a:prstGeom>
        </p:spPr>
      </p:pic>
      <p:pic>
        <p:nvPicPr>
          <p:cNvPr id="16" name="s15_pic_13" descr="تتغذى على">    </p:cNvPr>
          <p:cNvPicPr>
            <a:picLocks noChangeAspect="1"/>
          </p:cNvPicPr>
          <p:nvPr/>
        </p:nvPicPr>
        <p:blipFill>
          <a:blip r:embed="rId15"/>
          <a:stretch>
            <a:fillRect/>
          </a:stretch>
        </p:blipFill>
        <p:spPr>
          <a:xfrm>
            <a:off x="5502708" y="4507992"/>
            <a:ext cx="1183535" cy="411480"/>
          </a:xfrm>
          <a:prstGeom prst="rect">
            <a:avLst/>
          </a:prstGeom>
        </p:spPr>
      </p:pic>
      <p:pic>
        <p:nvPicPr>
          <p:cNvPr id="17" name="s15_pic_14" descr="المنتجات">    </p:cNvPr>
          <p:cNvPicPr>
            <a:picLocks noChangeAspect="1"/>
          </p:cNvPicPr>
          <p:nvPr/>
        </p:nvPicPr>
        <p:blipFill>
          <a:blip r:embed="rId16"/>
          <a:stretch>
            <a:fillRect/>
          </a:stretch>
        </p:blipFill>
        <p:spPr>
          <a:xfrm>
            <a:off x="5594973" y="4919472"/>
            <a:ext cx="999006" cy="411480"/>
          </a:xfrm>
          <a:prstGeom prst="rect">
            <a:avLst/>
          </a:prstGeom>
        </p:spPr>
      </p:pic>
      <p:pic>
        <p:nvPicPr>
          <p:cNvPr id="18" name="s15_pic_15" descr="المحلِّلات">    </p:cNvPr>
          <p:cNvPicPr>
            <a:picLocks noChangeAspect="1"/>
          </p:cNvPicPr>
          <p:nvPr/>
        </p:nvPicPr>
        <p:blipFill>
          <a:blip r:embed="rId17"/>
          <a:stretch>
            <a:fillRect/>
          </a:stretch>
        </p:blipFill>
        <p:spPr>
          <a:xfrm>
            <a:off x="2566959" y="3136392"/>
            <a:ext cx="731520" cy="731520"/>
          </a:xfrm>
          <a:prstGeom prst="rect">
            <a:avLst/>
          </a:prstGeom>
        </p:spPr>
      </p:pic>
      <p:pic>
        <p:nvPicPr>
          <p:cNvPr id="19" name="s15_pic_16" descr="المحلِّلات">    </p:cNvPr>
          <p:cNvPicPr>
            <a:picLocks noChangeAspect="1"/>
          </p:cNvPicPr>
          <p:nvPr/>
        </p:nvPicPr>
        <p:blipFill>
          <a:blip r:embed="rId18"/>
          <a:stretch>
            <a:fillRect/>
          </a:stretch>
        </p:blipFill>
        <p:spPr>
          <a:xfrm>
            <a:off x="2240131" y="3867912"/>
            <a:ext cx="1385175" cy="566928"/>
          </a:xfrm>
          <a:prstGeom prst="rect">
            <a:avLst/>
          </a:prstGeom>
        </p:spPr>
      </p:pic>
      <p:pic>
        <p:nvPicPr>
          <p:cNvPr id="20" name="s15_pic_17" descr="تحلّل بقايا المخلوقات">    </p:cNvPr>
          <p:cNvPicPr>
            <a:picLocks noChangeAspect="1"/>
          </p:cNvPicPr>
          <p:nvPr/>
        </p:nvPicPr>
        <p:blipFill>
          <a:blip r:embed="rId19"/>
          <a:stretch>
            <a:fillRect/>
          </a:stretch>
        </p:blipFill>
        <p:spPr>
          <a:xfrm>
            <a:off x="1808572" y="4507992"/>
            <a:ext cx="2248293" cy="411480"/>
          </a:xfrm>
          <a:prstGeom prst="rect">
            <a:avLst/>
          </a:prstGeom>
        </p:spPr>
      </p:pic>
      <p:pic>
        <p:nvPicPr>
          <p:cNvPr id="21" name="s15_pic_18" descr="وأجسامها بعد موتها">    </p:cNvPr>
          <p:cNvPicPr>
            <a:picLocks noChangeAspect="1"/>
          </p:cNvPicPr>
          <p:nvPr/>
        </p:nvPicPr>
        <p:blipFill>
          <a:blip r:embed="rId20"/>
          <a:stretch>
            <a:fillRect/>
          </a:stretch>
        </p:blipFill>
        <p:spPr>
          <a:xfrm>
            <a:off x="1910382" y="4919472"/>
            <a:ext cx="2044674" cy="411480"/>
          </a:xfrm>
          <a:prstGeom prst="rect">
            <a:avLst/>
          </a:prstGeom>
        </p:spPr>
      </p:pic>
    </p:spTree>
  </p:cSld>
  <p:clrMapOvr>
    <a:masterClrMapping/>
  </p:clrMapOvr>
  <p:transition spd="slow">
    <p:cover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9" presetID="22" presetClass="entr" presetSubtype="2"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right)">
                                      <p:cBhvr>
                                        <p:cTn id="18" dur="500"/>
                                        <p:tgtEl>
                                          <p:spTgt spid="7"/>
                                        </p:tgtEl>
                                      </p:cBhvr>
                                    </p:animEffect>
                                  </p:childTnLst>
                                </p:cTn>
                              </p:par>
                              <p:par>
                                <p:cTn id="24" presetID="53" presetClass="entr" presetSubtype="16" fill="hold" grpId="0" nodeType="withEffect">
                                  <p:stCondLst>
                                    <p:cond delay="20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par>
                                <p:cTn id="27" presetID="22" presetClass="entr" presetSubtype="2" fill="hold" grpId="0" nodeType="withEffect">
                                  <p:stCondLst>
                                    <p:cond delay="300"/>
                                  </p:stCondLst>
                                  <p:childTnLst>
                                    <p:set>
                                      <p:cBhvr>
                                        <p:cTn id="25" dur="1" fill="hold">
                                          <p:stCondLst>
                                            <p:cond delay="0"/>
                                          </p:stCondLst>
                                        </p:cTn>
                                        <p:tgtEl>
                                          <p:spTgt spid="11"/>
                                        </p:tgtEl>
                                        <p:attrNameLst>
                                          <p:attrName>style.visibility</p:attrName>
                                        </p:attrNameLst>
                                      </p:cBhvr>
                                      <p:to>
                                        <p:strVal val="visible"/>
                                      </p:to>
                                    </p:set>
                                    <p:animEffect transition="in" filter="wipe(right)">
                                      <p:cBhvr>
                                        <p:cTn id="26" dur="500"/>
                                        <p:tgtEl>
                                          <p:spTgt spid="11"/>
                                        </p:tgtEl>
                                      </p:cBhvr>
                                    </p:animEffect>
                                  </p:childTnLst>
                                </p:cTn>
                              </p:par>
                              <p:par>
                                <p:cTn id="30" presetID="22" presetClass="entr" presetSubtype="2" fill="hold" grpId="0" nodeType="withEffect">
                                  <p:stCondLst>
                                    <p:cond delay="600"/>
                                  </p:stCondLst>
                                  <p:childTnLst>
                                    <p:set>
                                      <p:cBhvr>
                                        <p:cTn id="28" dur="1" fill="hold">
                                          <p:stCondLst>
                                            <p:cond delay="0"/>
                                          </p:stCondLst>
                                        </p:cTn>
                                        <p:tgtEl>
                                          <p:spTgt spid="12"/>
                                        </p:tgtEl>
                                        <p:attrNameLst>
                                          <p:attrName>style.visibility</p:attrName>
                                        </p:attrNameLst>
                                      </p:cBhvr>
                                      <p:to>
                                        <p:strVal val="visible"/>
                                      </p:to>
                                    </p:set>
                                    <p:animEffect transition="in" filter="wipe(right)">
                                      <p:cBhvr>
                                        <p:cTn id="29" dur="500"/>
                                        <p:tgtEl>
                                          <p:spTgt spid="12"/>
                                        </p:tgtEl>
                                      </p:cBhvr>
                                    </p:animEffect>
                                  </p:childTnLst>
                                </p:cTn>
                              </p:par>
                              <p:par>
                                <p:cTn id="33" presetID="22" presetClass="entr" presetSubtype="2" fill="hold" grpId="0" nodeType="withEffect">
                                  <p:stCondLst>
                                    <p:cond delay="900"/>
                                  </p:stCondLst>
                                  <p:childTnLst>
                                    <p:set>
                                      <p:cBhvr>
                                        <p:cTn id="31" dur="1" fill="hold">
                                          <p:stCondLst>
                                            <p:cond delay="0"/>
                                          </p:stCondLst>
                                        </p:cTn>
                                        <p:tgtEl>
                                          <p:spTgt spid="13"/>
                                        </p:tgtEl>
                                        <p:attrNameLst>
                                          <p:attrName>style.visibility</p:attrName>
                                        </p:attrNameLst>
                                      </p:cBhvr>
                                      <p:to>
                                        <p:strVal val="visible"/>
                                      </p:to>
                                    </p:set>
                                    <p:animEffect transition="in" filter="wipe(right)">
                                      <p:cBhvr>
                                        <p:cTn id="32"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8" presetID="22" presetClass="entr" presetSubtype="2"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right)">
                                      <p:cBhvr>
                                        <p:cTn id="37" dur="500"/>
                                        <p:tgtEl>
                                          <p:spTgt spid="8"/>
                                        </p:tgtEl>
                                      </p:cBhvr>
                                    </p:animEffect>
                                  </p:childTnLst>
                                </p:cTn>
                              </p:par>
                              <p:par>
                                <p:cTn id="43" presetID="53" presetClass="entr" presetSubtype="16" fill="hold" grpId="0" nodeType="withEffect">
                                  <p:stCondLst>
                                    <p:cond delay="200"/>
                                  </p:stCondLst>
                                  <p:childTnLst>
                                    <p:set>
                                      <p:cBhvr>
                                        <p:cTn id="39" dur="1" fill="hold">
                                          <p:stCondLst>
                                            <p:cond delay="0"/>
                                          </p:stCondLst>
                                        </p:cTn>
                                        <p:tgtEl>
                                          <p:spTgt spid="14"/>
                                        </p:tgtEl>
                                        <p:attrNameLst>
                                          <p:attrName>style.visibility</p:attrName>
                                        </p:attrNameLst>
                                      </p:cBhvr>
                                      <p:to>
                                        <p:strVal val="visible"/>
                                      </p:to>
                                    </p:se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animEffect transition="in" filter="fade">
                                      <p:cBhvr>
                                        <p:cTn id="42" dur="500"/>
                                        <p:tgtEl>
                                          <p:spTgt spid="14"/>
                                        </p:tgtEl>
                                      </p:cBhvr>
                                    </p:animEffect>
                                  </p:childTnLst>
                                </p:cTn>
                              </p:par>
                              <p:par>
                                <p:cTn id="46" presetID="22" presetClass="entr" presetSubtype="2" fill="hold" grpId="0" nodeType="withEffect">
                                  <p:stCondLst>
                                    <p:cond delay="300"/>
                                  </p:stCondLst>
                                  <p:childTnLst>
                                    <p:set>
                                      <p:cBhvr>
                                        <p:cTn id="44" dur="1" fill="hold">
                                          <p:stCondLst>
                                            <p:cond delay="0"/>
                                          </p:stCondLst>
                                        </p:cTn>
                                        <p:tgtEl>
                                          <p:spTgt spid="15"/>
                                        </p:tgtEl>
                                        <p:attrNameLst>
                                          <p:attrName>style.visibility</p:attrName>
                                        </p:attrNameLst>
                                      </p:cBhvr>
                                      <p:to>
                                        <p:strVal val="visible"/>
                                      </p:to>
                                    </p:set>
                                    <p:animEffect transition="in" filter="wipe(right)">
                                      <p:cBhvr>
                                        <p:cTn id="45" dur="500"/>
                                        <p:tgtEl>
                                          <p:spTgt spid="15"/>
                                        </p:tgtEl>
                                      </p:cBhvr>
                                    </p:animEffect>
                                  </p:childTnLst>
                                </p:cTn>
                              </p:par>
                              <p:par>
                                <p:cTn id="49" presetID="22" presetClass="entr" presetSubtype="2" fill="hold" grpId="0" nodeType="withEffect">
                                  <p:stCondLst>
                                    <p:cond delay="600"/>
                                  </p:stCondLst>
                                  <p:childTnLst>
                                    <p:set>
                                      <p:cBhvr>
                                        <p:cTn id="47" dur="1" fill="hold">
                                          <p:stCondLst>
                                            <p:cond delay="0"/>
                                          </p:stCondLst>
                                        </p:cTn>
                                        <p:tgtEl>
                                          <p:spTgt spid="16"/>
                                        </p:tgtEl>
                                        <p:attrNameLst>
                                          <p:attrName>style.visibility</p:attrName>
                                        </p:attrNameLst>
                                      </p:cBhvr>
                                      <p:to>
                                        <p:strVal val="visible"/>
                                      </p:to>
                                    </p:set>
                                    <p:animEffect transition="in" filter="wipe(right)">
                                      <p:cBhvr>
                                        <p:cTn id="48" dur="500"/>
                                        <p:tgtEl>
                                          <p:spTgt spid="16"/>
                                        </p:tgtEl>
                                      </p:cBhvr>
                                    </p:animEffect>
                                  </p:childTnLst>
                                </p:cTn>
                              </p:par>
                              <p:par>
                                <p:cTn id="52" presetID="22" presetClass="entr" presetSubtype="2" fill="hold" grpId="0" nodeType="withEffect">
                                  <p:stCondLst>
                                    <p:cond delay="900"/>
                                  </p:stCondLst>
                                  <p:childTnLst>
                                    <p:set>
                                      <p:cBhvr>
                                        <p:cTn id="50" dur="1" fill="hold">
                                          <p:stCondLst>
                                            <p:cond delay="0"/>
                                          </p:stCondLst>
                                        </p:cTn>
                                        <p:tgtEl>
                                          <p:spTgt spid="17"/>
                                        </p:tgtEl>
                                        <p:attrNameLst>
                                          <p:attrName>style.visibility</p:attrName>
                                        </p:attrNameLst>
                                      </p:cBhvr>
                                      <p:to>
                                        <p:strVal val="visible"/>
                                      </p:to>
                                    </p:set>
                                    <p:animEffect transition="in" filter="wipe(right)">
                                      <p:cBhvr>
                                        <p:cTn id="51"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7" presetID="22" presetClass="entr" presetSubtype="2"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right)">
                                      <p:cBhvr>
                                        <p:cTn id="56" dur="500"/>
                                        <p:tgtEl>
                                          <p:spTgt spid="9"/>
                                        </p:tgtEl>
                                      </p:cBhvr>
                                    </p:animEffect>
                                  </p:childTnLst>
                                </p:cTn>
                              </p:par>
                              <p:par>
                                <p:cTn id="62" presetID="53" presetClass="entr" presetSubtype="16" fill="hold" grpId="0" nodeType="withEffect">
                                  <p:stCondLst>
                                    <p:cond delay="200"/>
                                  </p:stCondLst>
                                  <p:childTnLst>
                                    <p:set>
                                      <p:cBhvr>
                                        <p:cTn id="58" dur="1" fill="hold">
                                          <p:stCondLst>
                                            <p:cond delay="0"/>
                                          </p:stCondLst>
                                        </p:cTn>
                                        <p:tgtEl>
                                          <p:spTgt spid="18"/>
                                        </p:tgtEl>
                                        <p:attrNameLst>
                                          <p:attrName>style.visibility</p:attrName>
                                        </p:attrNameLst>
                                      </p:cBhvr>
                                      <p:to>
                                        <p:strVal val="visible"/>
                                      </p:to>
                                    </p:set>
                                    <p:anim calcmode="lin" valueType="num">
                                      <p:cBhvr>
                                        <p:cTn id="59" dur="500" fill="hold"/>
                                        <p:tgtEl>
                                          <p:spTgt spid="18"/>
                                        </p:tgtEl>
                                        <p:attrNameLst>
                                          <p:attrName>ppt_w</p:attrName>
                                        </p:attrNameLst>
                                      </p:cBhvr>
                                      <p:tavLst>
                                        <p:tav tm="0">
                                          <p:val>
                                            <p:fltVal val="0"/>
                                          </p:val>
                                        </p:tav>
                                        <p:tav tm="100000">
                                          <p:val>
                                            <p:strVal val="#ppt_w"/>
                                          </p:val>
                                        </p:tav>
                                      </p:tavLst>
                                    </p:anim>
                                    <p:anim calcmode="lin" valueType="num">
                                      <p:cBhvr>
                                        <p:cTn id="60" dur="500" fill="hold"/>
                                        <p:tgtEl>
                                          <p:spTgt spid="18"/>
                                        </p:tgtEl>
                                        <p:attrNameLst>
                                          <p:attrName>ppt_h</p:attrName>
                                        </p:attrNameLst>
                                      </p:cBhvr>
                                      <p:tavLst>
                                        <p:tav tm="0">
                                          <p:val>
                                            <p:fltVal val="0"/>
                                          </p:val>
                                        </p:tav>
                                        <p:tav tm="100000">
                                          <p:val>
                                            <p:strVal val="#ppt_h"/>
                                          </p:val>
                                        </p:tav>
                                      </p:tavLst>
                                    </p:anim>
                                    <p:animEffect transition="in" filter="fade">
                                      <p:cBhvr>
                                        <p:cTn id="61" dur="500"/>
                                        <p:tgtEl>
                                          <p:spTgt spid="18"/>
                                        </p:tgtEl>
                                      </p:cBhvr>
                                    </p:animEffect>
                                  </p:childTnLst>
                                </p:cTn>
                              </p:par>
                              <p:par>
                                <p:cTn id="65" presetID="22" presetClass="entr" presetSubtype="2" fill="hold" grpId="0" nodeType="withEffect">
                                  <p:stCondLst>
                                    <p:cond delay="300"/>
                                  </p:stCondLst>
                                  <p:childTnLst>
                                    <p:set>
                                      <p:cBhvr>
                                        <p:cTn id="63" dur="1" fill="hold">
                                          <p:stCondLst>
                                            <p:cond delay="0"/>
                                          </p:stCondLst>
                                        </p:cTn>
                                        <p:tgtEl>
                                          <p:spTgt spid="19"/>
                                        </p:tgtEl>
                                        <p:attrNameLst>
                                          <p:attrName>style.visibility</p:attrName>
                                        </p:attrNameLst>
                                      </p:cBhvr>
                                      <p:to>
                                        <p:strVal val="visible"/>
                                      </p:to>
                                    </p:set>
                                    <p:animEffect transition="in" filter="wipe(right)">
                                      <p:cBhvr>
                                        <p:cTn id="64" dur="500"/>
                                        <p:tgtEl>
                                          <p:spTgt spid="19"/>
                                        </p:tgtEl>
                                      </p:cBhvr>
                                    </p:animEffect>
                                  </p:childTnLst>
                                </p:cTn>
                              </p:par>
                              <p:par>
                                <p:cTn id="68" presetID="22" presetClass="entr" presetSubtype="2" fill="hold" grpId="0" nodeType="withEffect">
                                  <p:stCondLst>
                                    <p:cond delay="600"/>
                                  </p:stCondLst>
                                  <p:childTnLst>
                                    <p:set>
                                      <p:cBhvr>
                                        <p:cTn id="66" dur="1" fill="hold">
                                          <p:stCondLst>
                                            <p:cond delay="0"/>
                                          </p:stCondLst>
                                        </p:cTn>
                                        <p:tgtEl>
                                          <p:spTgt spid="20"/>
                                        </p:tgtEl>
                                        <p:attrNameLst>
                                          <p:attrName>style.visibility</p:attrName>
                                        </p:attrNameLst>
                                      </p:cBhvr>
                                      <p:to>
                                        <p:strVal val="visible"/>
                                      </p:to>
                                    </p:set>
                                    <p:animEffect transition="in" filter="wipe(right)">
                                      <p:cBhvr>
                                        <p:cTn id="67" dur="500"/>
                                        <p:tgtEl>
                                          <p:spTgt spid="20"/>
                                        </p:tgtEl>
                                      </p:cBhvr>
                                    </p:animEffect>
                                  </p:childTnLst>
                                </p:cTn>
                              </p:par>
                              <p:par>
                                <p:cTn id="71" presetID="22" presetClass="entr" presetSubtype="2" fill="hold" grpId="0" nodeType="withEffect">
                                  <p:stCondLst>
                                    <p:cond delay="900"/>
                                  </p:stCondLst>
                                  <p:childTnLst>
                                    <p:set>
                                      <p:cBhvr>
                                        <p:cTn id="69" dur="1" fill="hold">
                                          <p:stCondLst>
                                            <p:cond delay="0"/>
                                          </p:stCondLst>
                                        </p:cTn>
                                        <p:tgtEl>
                                          <p:spTgt spid="21"/>
                                        </p:tgtEl>
                                        <p:attrNameLst>
                                          <p:attrName>style.visibility</p:attrName>
                                        </p:attrNameLst>
                                      </p:cBhvr>
                                      <p:to>
                                        <p:strVal val="visible"/>
                                      </p:to>
                                    </p:set>
                                    <p:animEffect transition="in" filter="wipe(right)">
                                      <p:cBhvr>
                                        <p:cTn id="7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6_title" descr="المستهلِكات">    </p:cNvPr>
          <p:cNvPicPr>
            <a:picLocks noChangeAspect="1"/>
          </p:cNvPicPr>
          <p:nvPr/>
        </p:nvPicPr>
        <p:blipFill>
          <a:blip r:embed="rId2"/>
          <a:stretch>
            <a:fillRect/>
          </a:stretch>
        </p:blipFill>
        <p:spPr>
          <a:xfrm>
            <a:off x="9091517" y="109728"/>
            <a:ext cx="2749963" cy="868680"/>
          </a:xfrm>
          <a:prstGeom prst="rect">
            <a:avLst/>
          </a:prstGeom>
        </p:spPr>
      </p:pic>
      <p:sp>
        <p:nvSpPr>
          <p:cNvPr id="3" name="s16_strategy"/>
          <p:cNvSpPr txBox="1"/>
          <p:nvPr/>
        </p:nvSpPr>
        <p:spPr>
          <a:xfrm>
            <a:off x="411480" y="274320"/>
            <a:ext cx="40690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المقارنة والتصنيف</a:t>
            </a:r>
            <a:endParaRPr lang="ar-SA" sz="1700" dirty="0"/>
          </a:p>
        </p:txBody>
      </p:sp>
      <p:pic>
        <p:nvPicPr>
          <p:cNvPr id="4" name="s16_pic_1" descr="/tmp/claude-0/-home-user-Scienceshamah/8386cda7-7741-5ea4-8952-60ee8e67fc31/scratchpad/w3/img/card_1853x210_FFFFFF_s_i.png">    </p:cNvPr>
          <p:cNvPicPr>
            <a:picLocks noChangeAspect="1"/>
          </p:cNvPicPr>
          <p:nvPr/>
        </p:nvPicPr>
        <p:blipFill>
          <a:blip r:embed="rId3"/>
          <a:stretch>
            <a:fillRect/>
          </a:stretch>
        </p:blipFill>
        <p:spPr>
          <a:xfrm>
            <a:off x="457200" y="1051560"/>
            <a:ext cx="11292840" cy="1280160"/>
          </a:xfrm>
          <a:prstGeom prst="rect">
            <a:avLst/>
          </a:prstGeom>
        </p:spPr>
      </p:pic>
      <p:sp>
        <p:nvSpPr>
          <p:cNvPr id="5" name="s16_t_2"/>
          <p:cNvSpPr txBox="1"/>
          <p:nvPr/>
        </p:nvSpPr>
        <p:spPr>
          <a:xfrm>
            <a:off x="640080" y="1097280"/>
            <a:ext cx="10927080" cy="1188720"/>
          </a:xfrm>
          <a:prstGeom prst="rect">
            <a:avLst/>
          </a:prstGeom>
          <a:noFill/>
          <a:ln/>
        </p:spPr>
        <p:txBody>
          <a:bodyPr wrap="square" lIns="762" tIns="762" rIns="762" bIns="762" rtlCol="0" anchor="ctr"/>
          <a:lstStyle/>
          <a:p>
            <a:pPr rtl="1" algn="r" indent="0" marL="0">
              <a:lnSpc>
                <a:spcPct val="120000"/>
              </a:lnSpc>
              <a:buNone/>
            </a:pPr>
            <a:r>
              <a:rPr lang="ar-SA" altLang="en-US" sz="2000" dirty="0">
                <a:solidFill>
                  <a:srgbClr val="34405E"/>
                </a:solidFill>
                <a:latin typeface="Tahoma" pitchFamily="34" charset="0"/>
                <a:ea typeface="Tahoma" pitchFamily="34" charset="-122"/>
                <a:cs typeface="Tahoma" pitchFamily="34" charset="-120"/>
              </a:rPr>
              <a:t>المخلوقات الحيّة التي لا تستطيع صنع غذائها بنفسها تُسمّى </a:t>
            </a:r>
            <a:r>
              <a:rPr lang="ar-SA" altLang="en-US" sz="2000" b="1" dirty="0">
                <a:solidFill>
                  <a:srgbClr val="C2366F"/>
                </a:solidFill>
                <a:latin typeface="Tahoma" pitchFamily="34" charset="0"/>
                <a:ea typeface="Tahoma" pitchFamily="34" charset="-122"/>
                <a:cs typeface="Tahoma" pitchFamily="34" charset="-120"/>
              </a:rPr>
              <a:t>مستهلِكات</a:t>
            </a:r>
            <a:r>
              <a:rPr lang="ar-SA" altLang="en-US" sz="2000" dirty="0">
                <a:solidFill>
                  <a:srgbClr val="34405E"/>
                </a:solidFill>
                <a:latin typeface="Tahoma" pitchFamily="34" charset="0"/>
                <a:ea typeface="Tahoma" pitchFamily="34" charset="-122"/>
                <a:cs typeface="Tahoma" pitchFamily="34" charset="-120"/>
              </a:rPr>
              <a:t>، ومنها الطيور والثدييات التي تستمدّ طاقتها من مخلوقات حيّة أخرى.</a:t>
            </a:r>
            <a:endParaRPr lang="ar-SA" sz="2000" dirty="0"/>
          </a:p>
        </p:txBody>
      </p:sp>
      <p:pic>
        <p:nvPicPr>
          <p:cNvPr id="6" name="s16_pic_3" descr="/tmp/claude-0/-home-user-Scienceshamah/8386cda7-7741-5ea4-8952-60ee8e67fc31/scratchpad/w3/img/card_593x600_B8F28A_s_i.png">    </p:cNvPr>
          <p:cNvPicPr>
            <a:picLocks noChangeAspect="1"/>
          </p:cNvPicPr>
          <p:nvPr/>
        </p:nvPicPr>
        <p:blipFill>
          <a:blip r:embed="rId4"/>
          <a:stretch>
            <a:fillRect/>
          </a:stretch>
        </p:blipFill>
        <p:spPr>
          <a:xfrm>
            <a:off x="8001000" y="2514600"/>
            <a:ext cx="3611880" cy="3657600"/>
          </a:xfrm>
          <a:prstGeom prst="rect">
            <a:avLst/>
          </a:prstGeom>
        </p:spPr>
      </p:pic>
      <p:pic>
        <p:nvPicPr>
          <p:cNvPr id="7" name="s16_pic_4" descr="آكلة الأعشاب (صورة من الكتاب)">    </p:cNvPr>
          <p:cNvPicPr>
            <a:picLocks noChangeAspect="1"/>
          </p:cNvPicPr>
          <p:nvPr/>
        </p:nvPicPr>
        <p:blipFill>
          <a:blip r:embed="rId5"/>
          <a:stretch>
            <a:fillRect/>
          </a:stretch>
        </p:blipFill>
        <p:spPr>
          <a:xfrm>
            <a:off x="9098280" y="2606040"/>
            <a:ext cx="1417320" cy="1463040"/>
          </a:xfrm>
          <a:prstGeom prst="rect">
            <a:avLst/>
          </a:prstGeom>
        </p:spPr>
      </p:pic>
      <p:sp>
        <p:nvSpPr>
          <p:cNvPr id="8" name="s16_t_5"/>
          <p:cNvSpPr txBox="1"/>
          <p:nvPr/>
        </p:nvSpPr>
        <p:spPr>
          <a:xfrm>
            <a:off x="8092440" y="4069080"/>
            <a:ext cx="34290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آكلة الأعشاب</a:t>
            </a:r>
            <a:endParaRPr lang="ar-SA" sz="2200" dirty="0"/>
          </a:p>
        </p:txBody>
      </p:sp>
      <p:sp>
        <p:nvSpPr>
          <p:cNvPr id="9" name="s16_t_6"/>
          <p:cNvSpPr txBox="1"/>
          <p:nvPr/>
        </p:nvSpPr>
        <p:spPr>
          <a:xfrm>
            <a:off x="8138160" y="4553712"/>
            <a:ext cx="3337560" cy="68580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C2366F"/>
                </a:solidFill>
                <a:latin typeface="Tahoma" pitchFamily="34" charset="0"/>
                <a:ea typeface="Tahoma" pitchFamily="34" charset="-122"/>
                <a:cs typeface="Tahoma" pitchFamily="34" charset="-120"/>
              </a:rPr>
              <a:t>تأكل المنتجات فقط.</a:t>
            </a:r>
            <a:endParaRPr lang="ar-SA" sz="1600" dirty="0"/>
          </a:p>
        </p:txBody>
      </p:sp>
      <p:sp>
        <p:nvSpPr>
          <p:cNvPr id="10" name="s16_t_7"/>
          <p:cNvSpPr txBox="1"/>
          <p:nvPr/>
        </p:nvSpPr>
        <p:spPr>
          <a:xfrm>
            <a:off x="8138160" y="5212080"/>
            <a:ext cx="3337560" cy="868680"/>
          </a:xfrm>
          <a:prstGeom prst="rect">
            <a:avLst/>
          </a:prstGeom>
          <a:noFill/>
          <a:ln/>
        </p:spPr>
        <p:txBody>
          <a:bodyPr wrap="square" lIns="762" tIns="762" rIns="762" bIns="762" rtlCol="0" anchor="ctr"/>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أمثلة: القوارض، الأرانب، الغزلان.</a:t>
            </a:r>
            <a:endParaRPr lang="ar-SA" sz="1500" dirty="0"/>
          </a:p>
        </p:txBody>
      </p:sp>
      <p:pic>
        <p:nvPicPr>
          <p:cNvPr id="11" name="s16_pic_8" descr="/tmp/claude-0/-home-user-Scienceshamah/8386cda7-7741-5ea4-8952-60ee8e67fc31/scratchpad/w3/img/card_593x600_FFE066_s_i.png">    </p:cNvPr>
          <p:cNvPicPr>
            <a:picLocks noChangeAspect="1"/>
          </p:cNvPicPr>
          <p:nvPr/>
        </p:nvPicPr>
        <p:blipFill>
          <a:blip r:embed="rId6"/>
          <a:stretch>
            <a:fillRect/>
          </a:stretch>
        </p:blipFill>
        <p:spPr>
          <a:xfrm>
            <a:off x="4233672" y="2514600"/>
            <a:ext cx="3611880" cy="3657600"/>
          </a:xfrm>
          <a:prstGeom prst="rect">
            <a:avLst/>
          </a:prstGeom>
        </p:spPr>
      </p:pic>
      <p:pic>
        <p:nvPicPr>
          <p:cNvPr id="12" name="s16_pic_9" descr="القوارت (صورة من الكتاب)">    </p:cNvPr>
          <p:cNvPicPr>
            <a:picLocks noChangeAspect="1"/>
          </p:cNvPicPr>
          <p:nvPr/>
        </p:nvPicPr>
        <p:blipFill>
          <a:blip r:embed="rId7"/>
          <a:stretch>
            <a:fillRect/>
          </a:stretch>
        </p:blipFill>
        <p:spPr>
          <a:xfrm>
            <a:off x="5330952" y="2606040"/>
            <a:ext cx="1417320" cy="1463040"/>
          </a:xfrm>
          <a:prstGeom prst="rect">
            <a:avLst/>
          </a:prstGeom>
        </p:spPr>
      </p:pic>
      <p:sp>
        <p:nvSpPr>
          <p:cNvPr id="13" name="s16_t_10"/>
          <p:cNvSpPr txBox="1"/>
          <p:nvPr/>
        </p:nvSpPr>
        <p:spPr>
          <a:xfrm>
            <a:off x="4325112" y="4069080"/>
            <a:ext cx="34290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القوارت</a:t>
            </a:r>
            <a:endParaRPr lang="ar-SA" sz="2200" dirty="0"/>
          </a:p>
        </p:txBody>
      </p:sp>
      <p:sp>
        <p:nvSpPr>
          <p:cNvPr id="14" name="s16_t_11"/>
          <p:cNvSpPr txBox="1"/>
          <p:nvPr/>
        </p:nvSpPr>
        <p:spPr>
          <a:xfrm>
            <a:off x="4370832" y="4553712"/>
            <a:ext cx="3337560" cy="68580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C2366F"/>
                </a:solidFill>
                <a:latin typeface="Tahoma" pitchFamily="34" charset="0"/>
                <a:ea typeface="Tahoma" pitchFamily="34" charset="-122"/>
                <a:cs typeface="Tahoma" pitchFamily="34" charset="-120"/>
              </a:rPr>
              <a:t>تتغذى على المنتجات والمستهلكات.</a:t>
            </a:r>
            <a:endParaRPr lang="ar-SA" sz="1600" dirty="0"/>
          </a:p>
        </p:txBody>
      </p:sp>
      <p:sp>
        <p:nvSpPr>
          <p:cNvPr id="15" name="s16_t_12"/>
          <p:cNvSpPr txBox="1"/>
          <p:nvPr/>
        </p:nvSpPr>
        <p:spPr>
          <a:xfrm>
            <a:off x="4370832" y="5212080"/>
            <a:ext cx="3337560" cy="868680"/>
          </a:xfrm>
          <a:prstGeom prst="rect">
            <a:avLst/>
          </a:prstGeom>
          <a:noFill/>
          <a:ln/>
        </p:spPr>
        <p:txBody>
          <a:bodyPr wrap="square" lIns="762" tIns="762" rIns="762" bIns="762" rtlCol="0" anchor="ctr"/>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أمثلة: الراكون، بعض الطيور، الدببة.</a:t>
            </a:r>
            <a:endParaRPr lang="ar-SA" sz="1500" dirty="0"/>
          </a:p>
        </p:txBody>
      </p:sp>
      <p:pic>
        <p:nvPicPr>
          <p:cNvPr id="16" name="s16_pic_13" descr="/tmp/claude-0/-home-user-Scienceshamah/8386cda7-7741-5ea4-8952-60ee8e67fc31/scratchpad/w3/img/card_593x600_FFB3D1_s_i.png">    </p:cNvPr>
          <p:cNvPicPr>
            <a:picLocks noChangeAspect="1"/>
          </p:cNvPicPr>
          <p:nvPr/>
        </p:nvPicPr>
        <p:blipFill>
          <a:blip r:embed="rId8"/>
          <a:stretch>
            <a:fillRect/>
          </a:stretch>
        </p:blipFill>
        <p:spPr>
          <a:xfrm>
            <a:off x="466344" y="2514600"/>
            <a:ext cx="3611880" cy="3657600"/>
          </a:xfrm>
          <a:prstGeom prst="rect">
            <a:avLst/>
          </a:prstGeom>
        </p:spPr>
      </p:pic>
      <p:pic>
        <p:nvPicPr>
          <p:cNvPr id="17" name="s16_pic_14" descr="آكلة اللحوم (صورة من الكتاب)">    </p:cNvPr>
          <p:cNvPicPr>
            <a:picLocks noChangeAspect="1"/>
          </p:cNvPicPr>
          <p:nvPr/>
        </p:nvPicPr>
        <p:blipFill>
          <a:blip r:embed="rId9"/>
          <a:stretch>
            <a:fillRect/>
          </a:stretch>
        </p:blipFill>
        <p:spPr>
          <a:xfrm>
            <a:off x="1563624" y="2606040"/>
            <a:ext cx="1417320" cy="1463040"/>
          </a:xfrm>
          <a:prstGeom prst="rect">
            <a:avLst/>
          </a:prstGeom>
        </p:spPr>
      </p:pic>
      <p:sp>
        <p:nvSpPr>
          <p:cNvPr id="18" name="s16_t_15"/>
          <p:cNvSpPr txBox="1"/>
          <p:nvPr/>
        </p:nvSpPr>
        <p:spPr>
          <a:xfrm>
            <a:off x="557784" y="4069080"/>
            <a:ext cx="34290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آكلة اللحوم</a:t>
            </a:r>
            <a:endParaRPr lang="ar-SA" sz="2200" dirty="0"/>
          </a:p>
        </p:txBody>
      </p:sp>
      <p:sp>
        <p:nvSpPr>
          <p:cNvPr id="19" name="s16_t_16"/>
          <p:cNvSpPr txBox="1"/>
          <p:nvPr/>
        </p:nvSpPr>
        <p:spPr>
          <a:xfrm>
            <a:off x="603504" y="4553712"/>
            <a:ext cx="3337560" cy="685800"/>
          </a:xfrm>
          <a:prstGeom prst="rect">
            <a:avLst/>
          </a:prstGeom>
          <a:noFill/>
          <a:ln/>
        </p:spPr>
        <p:txBody>
          <a:bodyPr wrap="square" lIns="762" tIns="762" rIns="762" bIns="762" rtlCol="0" anchor="ctr"/>
          <a:lstStyle/>
          <a:p>
            <a:pPr rtl="1" algn="ctr" indent="0" marL="0">
              <a:lnSpc>
                <a:spcPct val="108000"/>
              </a:lnSpc>
              <a:buNone/>
            </a:pPr>
            <a:r>
              <a:rPr lang="ar-SA" altLang="en-US" sz="1600" b="1" dirty="0">
                <a:solidFill>
                  <a:srgbClr val="C2366F"/>
                </a:solidFill>
                <a:latin typeface="Tahoma" pitchFamily="34" charset="0"/>
                <a:ea typeface="Tahoma" pitchFamily="34" charset="-122"/>
                <a:cs typeface="Tahoma" pitchFamily="34" charset="-120"/>
              </a:rPr>
              <a:t>تتغذى على آكلة الأعشاب وعلى القوارت.</a:t>
            </a:r>
            <a:endParaRPr lang="ar-SA" sz="1600" dirty="0"/>
          </a:p>
        </p:txBody>
      </p:sp>
      <p:sp>
        <p:nvSpPr>
          <p:cNvPr id="20" name="s16_t_17"/>
          <p:cNvSpPr txBox="1"/>
          <p:nvPr/>
        </p:nvSpPr>
        <p:spPr>
          <a:xfrm>
            <a:off x="603504" y="5212080"/>
            <a:ext cx="3337560" cy="868680"/>
          </a:xfrm>
          <a:prstGeom prst="rect">
            <a:avLst/>
          </a:prstGeom>
          <a:noFill/>
          <a:ln/>
        </p:spPr>
        <p:txBody>
          <a:bodyPr wrap="square" lIns="762" tIns="762" rIns="762" bIns="762" rtlCol="0" anchor="ctr"/>
          <a:lstStyle/>
          <a:p>
            <a:pPr rtl="1" algn="ctr" indent="0" marL="0">
              <a:lnSpc>
                <a:spcPct val="108000"/>
              </a:lnSpc>
              <a:buNone/>
            </a:pPr>
            <a:r>
              <a:rPr lang="ar-SA" altLang="en-US" sz="1500" dirty="0">
                <a:solidFill>
                  <a:srgbClr val="34405E"/>
                </a:solidFill>
                <a:latin typeface="Tahoma" pitchFamily="34" charset="0"/>
                <a:ea typeface="Tahoma" pitchFamily="34" charset="-122"/>
                <a:cs typeface="Tahoma" pitchFamily="34" charset="-120"/>
              </a:rPr>
              <a:t>أمثلة: القط، الأسد، النمر، سمك القرش، بعض الطيور.</a:t>
            </a:r>
            <a:endParaRPr lang="ar-SA" sz="1500"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fltVal val="0"/>
                                          </p:val>
                                        </p:tav>
                                        <p:tav tm="100000">
                                          <p:val>
                                            <p:strVal val="#ppt_w"/>
                                          </p:val>
                                        </p:tav>
                                      </p:tavLst>
                                    </p:anim>
                                    <p:anim calcmode="lin" valueType="num">
                                      <p:cBhvr>
                                        <p:cTn id="17" dur="500" fill="hold"/>
                                        <p:tgtEl>
                                          <p:spTgt spid="8"/>
                                        </p:tgtEl>
                                        <p:attrNameLst>
                                          <p:attrName>ppt_h</p:attrName>
                                        </p:attrNameLst>
                                      </p:cBhvr>
                                      <p:tavLst>
                                        <p:tav tm="0">
                                          <p:val>
                                            <p:fltVal val="0"/>
                                          </p:val>
                                        </p:tav>
                                        <p:tav tm="100000">
                                          <p:val>
                                            <p:strVal val="#ppt_h"/>
                                          </p:val>
                                        </p:tav>
                                      </p:tavLst>
                                    </p:anim>
                                    <p:animEffect transition="in" filter="fade">
                                      <p:cBhvr>
                                        <p:cTn id="18"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4"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4" presetID="53" presetClass="entr" presetSubtype="16"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9" presetID="53" presetClass="entr" presetSubtype="16"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animEffect transition="in" filter="fade">
                                      <p:cBhvr>
                                        <p:cTn id="38" dur="500"/>
                                        <p:tgtEl>
                                          <p:spTgt spid="12"/>
                                        </p:tgtEl>
                                      </p:cBhvr>
                                    </p:animEffect>
                                  </p:childTnLst>
                                </p:cTn>
                              </p:par>
                              <p:par>
                                <p:cTn id="44" presetID="53" presetClass="entr" presetSubtype="16"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500" fill="hold"/>
                                        <p:tgtEl>
                                          <p:spTgt spid="13"/>
                                        </p:tgtEl>
                                        <p:attrNameLst>
                                          <p:attrName>ppt_w</p:attrName>
                                        </p:attrNameLst>
                                      </p:cBhvr>
                                      <p:tavLst>
                                        <p:tav tm="0">
                                          <p:val>
                                            <p:fltVal val="0"/>
                                          </p:val>
                                        </p:tav>
                                        <p:tav tm="100000">
                                          <p:val>
                                            <p:strVal val="#ppt_w"/>
                                          </p:val>
                                        </p:tav>
                                      </p:tavLst>
                                    </p:anim>
                                    <p:anim calcmode="lin" valueType="num">
                                      <p:cBhvr>
                                        <p:cTn id="42" dur="500" fill="hold"/>
                                        <p:tgtEl>
                                          <p:spTgt spid="13"/>
                                        </p:tgtEl>
                                        <p:attrNameLst>
                                          <p:attrName>ppt_h</p:attrName>
                                        </p:attrNameLst>
                                      </p:cBhvr>
                                      <p:tavLst>
                                        <p:tav tm="0">
                                          <p:val>
                                            <p:fltVal val="0"/>
                                          </p:val>
                                        </p:tav>
                                        <p:tav tm="100000">
                                          <p:val>
                                            <p:strVal val="#ppt_h"/>
                                          </p:val>
                                        </p:tav>
                                      </p:tavLst>
                                    </p:anim>
                                    <p:animEffect transition="in" filter="fade">
                                      <p:cBhvr>
                                        <p:cTn id="43"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9" presetID="10"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9" presetID="53" presetClass="entr" presetSubtype="16"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 calcmode="lin" valueType="num">
                                      <p:cBhvr>
                                        <p:cTn id="56" dur="500" fill="hold"/>
                                        <p:tgtEl>
                                          <p:spTgt spid="16"/>
                                        </p:tgtEl>
                                        <p:attrNameLst>
                                          <p:attrName>ppt_w</p:attrName>
                                        </p:attrNameLst>
                                      </p:cBhvr>
                                      <p:tavLst>
                                        <p:tav tm="0">
                                          <p:val>
                                            <p:fltVal val="0"/>
                                          </p:val>
                                        </p:tav>
                                        <p:tav tm="100000">
                                          <p:val>
                                            <p:strVal val="#ppt_w"/>
                                          </p:val>
                                        </p:tav>
                                      </p:tavLst>
                                    </p:anim>
                                    <p:anim calcmode="lin" valueType="num">
                                      <p:cBhvr>
                                        <p:cTn id="57" dur="500" fill="hold"/>
                                        <p:tgtEl>
                                          <p:spTgt spid="16"/>
                                        </p:tgtEl>
                                        <p:attrNameLst>
                                          <p:attrName>ppt_h</p:attrName>
                                        </p:attrNameLst>
                                      </p:cBhvr>
                                      <p:tavLst>
                                        <p:tav tm="0">
                                          <p:val>
                                            <p:fltVal val="0"/>
                                          </p:val>
                                        </p:tav>
                                        <p:tav tm="100000">
                                          <p:val>
                                            <p:strVal val="#ppt_h"/>
                                          </p:val>
                                        </p:tav>
                                      </p:tavLst>
                                    </p:anim>
                                    <p:animEffect transition="in" filter="fade">
                                      <p:cBhvr>
                                        <p:cTn id="58" dur="500"/>
                                        <p:tgtEl>
                                          <p:spTgt spid="16"/>
                                        </p:tgtEl>
                                      </p:cBhvr>
                                    </p:animEffect>
                                  </p:childTnLst>
                                </p:cTn>
                              </p:par>
                              <p:par>
                                <p:cTn id="64" presetID="53" presetClass="entr" presetSubtype="16"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p:cTn id="61" dur="500" fill="hold"/>
                                        <p:tgtEl>
                                          <p:spTgt spid="17"/>
                                        </p:tgtEl>
                                        <p:attrNameLst>
                                          <p:attrName>ppt_w</p:attrName>
                                        </p:attrNameLst>
                                      </p:cBhvr>
                                      <p:tavLst>
                                        <p:tav tm="0">
                                          <p:val>
                                            <p:fltVal val="0"/>
                                          </p:val>
                                        </p:tav>
                                        <p:tav tm="100000">
                                          <p:val>
                                            <p:strVal val="#ppt_w"/>
                                          </p:val>
                                        </p:tav>
                                      </p:tavLst>
                                    </p:anim>
                                    <p:anim calcmode="lin" valueType="num">
                                      <p:cBhvr>
                                        <p:cTn id="62" dur="500" fill="hold"/>
                                        <p:tgtEl>
                                          <p:spTgt spid="17"/>
                                        </p:tgtEl>
                                        <p:attrNameLst>
                                          <p:attrName>ppt_h</p:attrName>
                                        </p:attrNameLst>
                                      </p:cBhvr>
                                      <p:tavLst>
                                        <p:tav tm="0">
                                          <p:val>
                                            <p:fltVal val="0"/>
                                          </p:val>
                                        </p:tav>
                                        <p:tav tm="100000">
                                          <p:val>
                                            <p:strVal val="#ppt_h"/>
                                          </p:val>
                                        </p:tav>
                                      </p:tavLst>
                                    </p:anim>
                                    <p:animEffect transition="in" filter="fade">
                                      <p:cBhvr>
                                        <p:cTn id="63" dur="500"/>
                                        <p:tgtEl>
                                          <p:spTgt spid="17"/>
                                        </p:tgtEl>
                                      </p:cBhvr>
                                    </p:animEffect>
                                  </p:childTnLst>
                                </p:cTn>
                              </p:par>
                              <p:par>
                                <p:cTn id="69" presetID="53" presetClass="entr" presetSubtype="16"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p:cTn id="66" dur="500" fill="hold"/>
                                        <p:tgtEl>
                                          <p:spTgt spid="18"/>
                                        </p:tgtEl>
                                        <p:attrNameLst>
                                          <p:attrName>ppt_w</p:attrName>
                                        </p:attrNameLst>
                                      </p:cBhvr>
                                      <p:tavLst>
                                        <p:tav tm="0">
                                          <p:val>
                                            <p:fltVal val="0"/>
                                          </p:val>
                                        </p:tav>
                                        <p:tav tm="100000">
                                          <p:val>
                                            <p:strVal val="#ppt_w"/>
                                          </p:val>
                                        </p:tav>
                                      </p:tavLst>
                                    </p:anim>
                                    <p:anim calcmode="lin" valueType="num">
                                      <p:cBhvr>
                                        <p:cTn id="67" dur="500" fill="hold"/>
                                        <p:tgtEl>
                                          <p:spTgt spid="18"/>
                                        </p:tgtEl>
                                        <p:attrNameLst>
                                          <p:attrName>ppt_h</p:attrName>
                                        </p:attrNameLst>
                                      </p:cBhvr>
                                      <p:tavLst>
                                        <p:tav tm="0">
                                          <p:val>
                                            <p:fltVal val="0"/>
                                          </p:val>
                                        </p:tav>
                                        <p:tav tm="100000">
                                          <p:val>
                                            <p:strVal val="#ppt_h"/>
                                          </p:val>
                                        </p:tav>
                                      </p:tavLst>
                                    </p:anim>
                                    <p:animEffect transition="in" filter="fade">
                                      <p:cBhvr>
                                        <p:cTn id="68" dur="500"/>
                                        <p:tgtEl>
                                          <p:spTgt spid="18"/>
                                        </p:tgtEl>
                                      </p:cBhvr>
                                    </p:animEffect>
                                  </p:childTnLst>
                                </p:cTn>
                              </p:par>
                            </p:childTnLst>
                          </p:cTn>
                        </p:par>
                      </p:childTnLst>
                    </p:cTn>
                  </p:par>
                  <p:par>
                    <p:cTn id="70" fill="hold">
                      <p:stCondLst>
                        <p:cond delay="indefinite"/>
                      </p:stCondLst>
                      <p:childTnLst>
                        <p:par>
                          <p:cTn id="71" fill="hold">
                            <p:stCondLst>
                              <p:cond delay="0"/>
                            </p:stCondLst>
                            <p:childTnLst>
                              <p:par>
                                <p:cTn id="74" presetID="10" presetClass="entr" presetSubtype="0"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par>
                                <p:cTn id="77" presetID="10"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7_title" descr="لعبة: صنّفي المستهلكات">    </p:cNvPr>
          <p:cNvPicPr>
            <a:picLocks noChangeAspect="1"/>
          </p:cNvPicPr>
          <p:nvPr/>
        </p:nvPicPr>
        <p:blipFill>
          <a:blip r:embed="rId2"/>
          <a:stretch>
            <a:fillRect/>
          </a:stretch>
        </p:blipFill>
        <p:spPr>
          <a:xfrm>
            <a:off x="6747623" y="109728"/>
            <a:ext cx="5093857" cy="868680"/>
          </a:xfrm>
          <a:prstGeom prst="rect">
            <a:avLst/>
          </a:prstGeom>
        </p:spPr>
      </p:pic>
      <p:sp>
        <p:nvSpPr>
          <p:cNvPr id="3" name="s17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التعلم باللعب – بطاقات التصنيف</a:t>
            </a:r>
            <a:endParaRPr lang="ar-SA" sz="1700" dirty="0"/>
          </a:p>
        </p:txBody>
      </p:sp>
      <p:sp>
        <p:nvSpPr>
          <p:cNvPr id="4" name="s17_t_1"/>
          <p:cNvSpPr txBox="1"/>
          <p:nvPr/>
        </p:nvSpPr>
        <p:spPr>
          <a:xfrm>
            <a:off x="2743200" y="1051560"/>
            <a:ext cx="6702552" cy="45720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A87400"/>
                </a:solidFill>
                <a:latin typeface="Tahoma" pitchFamily="34" charset="0"/>
                <a:ea typeface="Tahoma" pitchFamily="34" charset="-122"/>
                <a:cs typeface="Tahoma" pitchFamily="34" charset="-120"/>
              </a:rPr>
              <a:t>اضغطي على صورة الحيوان ليظهر تصنيفه 👆</a:t>
            </a:r>
            <a:endParaRPr lang="ar-SA" sz="1900" dirty="0"/>
          </a:p>
        </p:txBody>
      </p:sp>
      <p:pic>
        <p:nvPicPr>
          <p:cNvPr id="5" name="s17_pic_2" descr="/tmp/claude-0/-home-user-Scienceshamah/8386cda7-7741-5ea4-8952-60ee8e67fc31/scratchpad/w3/img/card_585x345_FFFFFF_s_i.png">    </p:cNvPr>
          <p:cNvPicPr>
            <a:picLocks noChangeAspect="1"/>
          </p:cNvPicPr>
          <p:nvPr/>
        </p:nvPicPr>
        <p:blipFill>
          <a:blip r:embed="rId3"/>
          <a:stretch>
            <a:fillRect/>
          </a:stretch>
        </p:blipFill>
        <p:spPr>
          <a:xfrm>
            <a:off x="8138160" y="1645920"/>
            <a:ext cx="3566160" cy="2103120"/>
          </a:xfrm>
          <a:prstGeom prst="rect">
            <a:avLst/>
          </a:prstGeom>
        </p:spPr>
      </p:pic>
      <p:pic>
        <p:nvPicPr>
          <p:cNvPr id="6" name="s17_pic_3" descr="الأرنب">    </p:cNvPr>
          <p:cNvPicPr>
            <a:picLocks noChangeAspect="1"/>
          </p:cNvPicPr>
          <p:nvPr/>
        </p:nvPicPr>
        <p:blipFill>
          <a:blip r:embed="rId4"/>
          <a:stretch>
            <a:fillRect/>
          </a:stretch>
        </p:blipFill>
        <p:spPr>
          <a:xfrm>
            <a:off x="9372600" y="1755648"/>
            <a:ext cx="1097280" cy="1097280"/>
          </a:xfrm>
          <a:prstGeom prst="rect">
            <a:avLst/>
          </a:prstGeom>
        </p:spPr>
      </p:pic>
      <p:sp>
        <p:nvSpPr>
          <p:cNvPr id="7" name="s17_t_4"/>
          <p:cNvSpPr txBox="1"/>
          <p:nvPr/>
        </p:nvSpPr>
        <p:spPr>
          <a:xfrm>
            <a:off x="8229600" y="2834640"/>
            <a:ext cx="3383280" cy="41148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الأرنب</a:t>
            </a:r>
            <a:endParaRPr lang="ar-SA" sz="1900" dirty="0"/>
          </a:p>
        </p:txBody>
      </p:sp>
      <p:sp>
        <p:nvSpPr>
          <p:cNvPr id="8" name="s17_t_5"/>
          <p:cNvSpPr txBox="1"/>
          <p:nvPr/>
        </p:nvSpPr>
        <p:spPr>
          <a:xfrm>
            <a:off x="8823960" y="3246120"/>
            <a:ext cx="2194560" cy="411480"/>
          </a:xfrm>
          <a:prstGeom prst="roundRect">
            <a:avLst>
              <a:gd name="adj" fmla="val 50000"/>
            </a:avLst>
          </a:prstGeom>
          <a:solidFill>
            <a:srgbClr val="B8F28A"/>
          </a:solidFill>
          <a:ln w="25400">
            <a:solidFill>
              <a:srgbClr val="34405E"/>
            </a:solidFill>
          </a:ln>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آكل أعشاب</a:t>
            </a:r>
            <a:endParaRPr lang="ar-SA" sz="1700" dirty="0"/>
          </a:p>
        </p:txBody>
      </p:sp>
      <p:pic>
        <p:nvPicPr>
          <p:cNvPr id="9" name="s17_pic_6" descr="/tmp/claude-0/-home-user-Scienceshamah/8386cda7-7741-5ea4-8952-60ee8e67fc31/scratchpad/w3/img/card_585x345_FFFFFF_s_i.png">    </p:cNvPr>
          <p:cNvPicPr>
            <a:picLocks noChangeAspect="1"/>
          </p:cNvPicPr>
          <p:nvPr/>
        </p:nvPicPr>
        <p:blipFill>
          <a:blip r:embed="rId5"/>
          <a:stretch>
            <a:fillRect/>
          </a:stretch>
        </p:blipFill>
        <p:spPr>
          <a:xfrm>
            <a:off x="4389120" y="1645920"/>
            <a:ext cx="3566160" cy="2103120"/>
          </a:xfrm>
          <a:prstGeom prst="rect">
            <a:avLst/>
          </a:prstGeom>
        </p:spPr>
      </p:pic>
      <p:pic>
        <p:nvPicPr>
          <p:cNvPr id="10" name="s17_pic_7" descr="الغزال">    </p:cNvPr>
          <p:cNvPicPr>
            <a:picLocks noChangeAspect="1"/>
          </p:cNvPicPr>
          <p:nvPr/>
        </p:nvPicPr>
        <p:blipFill>
          <a:blip r:embed="rId6"/>
          <a:stretch>
            <a:fillRect/>
          </a:stretch>
        </p:blipFill>
        <p:spPr>
          <a:xfrm>
            <a:off x="5623560" y="1755648"/>
            <a:ext cx="1097280" cy="1097280"/>
          </a:xfrm>
          <a:prstGeom prst="rect">
            <a:avLst/>
          </a:prstGeom>
        </p:spPr>
      </p:pic>
      <p:sp>
        <p:nvSpPr>
          <p:cNvPr id="11" name="s17_t_8"/>
          <p:cNvSpPr txBox="1"/>
          <p:nvPr/>
        </p:nvSpPr>
        <p:spPr>
          <a:xfrm>
            <a:off x="4480560" y="2834640"/>
            <a:ext cx="3383280" cy="41148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الغزال</a:t>
            </a:r>
            <a:endParaRPr lang="ar-SA" sz="1900" dirty="0"/>
          </a:p>
        </p:txBody>
      </p:sp>
      <p:sp>
        <p:nvSpPr>
          <p:cNvPr id="12" name="s17_t_9"/>
          <p:cNvSpPr txBox="1"/>
          <p:nvPr/>
        </p:nvSpPr>
        <p:spPr>
          <a:xfrm>
            <a:off x="5074920" y="3246120"/>
            <a:ext cx="2194560" cy="411480"/>
          </a:xfrm>
          <a:prstGeom prst="roundRect">
            <a:avLst>
              <a:gd name="adj" fmla="val 50000"/>
            </a:avLst>
          </a:prstGeom>
          <a:solidFill>
            <a:srgbClr val="B8F28A"/>
          </a:solidFill>
          <a:ln w="25400">
            <a:solidFill>
              <a:srgbClr val="34405E"/>
            </a:solidFill>
          </a:ln>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آكل أعشاب</a:t>
            </a:r>
            <a:endParaRPr lang="ar-SA" sz="1700" dirty="0"/>
          </a:p>
        </p:txBody>
      </p:sp>
      <p:pic>
        <p:nvPicPr>
          <p:cNvPr id="13" name="s17_pic_10" descr="/tmp/claude-0/-home-user-Scienceshamah/8386cda7-7741-5ea4-8952-60ee8e67fc31/scratchpad/w3/img/card_585x345_FFFFFF_s_i.png">    </p:cNvPr>
          <p:cNvPicPr>
            <a:picLocks noChangeAspect="1"/>
          </p:cNvPicPr>
          <p:nvPr/>
        </p:nvPicPr>
        <p:blipFill>
          <a:blip r:embed="rId7"/>
          <a:stretch>
            <a:fillRect/>
          </a:stretch>
        </p:blipFill>
        <p:spPr>
          <a:xfrm>
            <a:off x="640080" y="1645920"/>
            <a:ext cx="3566160" cy="2103120"/>
          </a:xfrm>
          <a:prstGeom prst="rect">
            <a:avLst/>
          </a:prstGeom>
        </p:spPr>
      </p:pic>
      <p:pic>
        <p:nvPicPr>
          <p:cNvPr id="14" name="s17_pic_11" descr="الراكون">    </p:cNvPr>
          <p:cNvPicPr>
            <a:picLocks noChangeAspect="1"/>
          </p:cNvPicPr>
          <p:nvPr/>
        </p:nvPicPr>
        <p:blipFill>
          <a:blip r:embed="rId8"/>
          <a:stretch>
            <a:fillRect/>
          </a:stretch>
        </p:blipFill>
        <p:spPr>
          <a:xfrm>
            <a:off x="1874520" y="1755648"/>
            <a:ext cx="1097280" cy="1097280"/>
          </a:xfrm>
          <a:prstGeom prst="rect">
            <a:avLst/>
          </a:prstGeom>
        </p:spPr>
      </p:pic>
      <p:sp>
        <p:nvSpPr>
          <p:cNvPr id="15" name="s17_t_12"/>
          <p:cNvSpPr txBox="1"/>
          <p:nvPr/>
        </p:nvSpPr>
        <p:spPr>
          <a:xfrm>
            <a:off x="731520" y="2834640"/>
            <a:ext cx="3383280" cy="41148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الراكون</a:t>
            </a:r>
            <a:endParaRPr lang="ar-SA" sz="1900" dirty="0"/>
          </a:p>
        </p:txBody>
      </p:sp>
      <p:sp>
        <p:nvSpPr>
          <p:cNvPr id="16" name="s17_t_13"/>
          <p:cNvSpPr txBox="1"/>
          <p:nvPr/>
        </p:nvSpPr>
        <p:spPr>
          <a:xfrm>
            <a:off x="1325880" y="3246120"/>
            <a:ext cx="2194560" cy="411480"/>
          </a:xfrm>
          <a:prstGeom prst="roundRect">
            <a:avLst>
              <a:gd name="adj" fmla="val 50000"/>
            </a:avLst>
          </a:prstGeom>
          <a:solidFill>
            <a:srgbClr val="FFE066"/>
          </a:solidFill>
          <a:ln w="25400">
            <a:solidFill>
              <a:srgbClr val="34405E"/>
            </a:solidFill>
          </a:ln>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قارت</a:t>
            </a:r>
            <a:endParaRPr lang="ar-SA" sz="1700" dirty="0"/>
          </a:p>
        </p:txBody>
      </p:sp>
      <p:pic>
        <p:nvPicPr>
          <p:cNvPr id="17" name="s17_pic_14" descr="/tmp/claude-0/-home-user-Scienceshamah/8386cda7-7741-5ea4-8952-60ee8e67fc31/scratchpad/w3/img/card_585x345_FFFFFF_s_i.png">    </p:cNvPr>
          <p:cNvPicPr>
            <a:picLocks noChangeAspect="1"/>
          </p:cNvPicPr>
          <p:nvPr/>
        </p:nvPicPr>
        <p:blipFill>
          <a:blip r:embed="rId9"/>
          <a:stretch>
            <a:fillRect/>
          </a:stretch>
        </p:blipFill>
        <p:spPr>
          <a:xfrm>
            <a:off x="8138160" y="3886200"/>
            <a:ext cx="3566160" cy="2103120"/>
          </a:xfrm>
          <a:prstGeom prst="rect">
            <a:avLst/>
          </a:prstGeom>
        </p:spPr>
      </p:pic>
      <p:pic>
        <p:nvPicPr>
          <p:cNvPr id="18" name="s17_pic_15" descr="الدب">    </p:cNvPr>
          <p:cNvPicPr>
            <a:picLocks noChangeAspect="1"/>
          </p:cNvPicPr>
          <p:nvPr/>
        </p:nvPicPr>
        <p:blipFill>
          <a:blip r:embed="rId10"/>
          <a:stretch>
            <a:fillRect/>
          </a:stretch>
        </p:blipFill>
        <p:spPr>
          <a:xfrm>
            <a:off x="9372600" y="3995928"/>
            <a:ext cx="1097280" cy="1097280"/>
          </a:xfrm>
          <a:prstGeom prst="rect">
            <a:avLst/>
          </a:prstGeom>
        </p:spPr>
      </p:pic>
      <p:sp>
        <p:nvSpPr>
          <p:cNvPr id="19" name="s17_t_16"/>
          <p:cNvSpPr txBox="1"/>
          <p:nvPr/>
        </p:nvSpPr>
        <p:spPr>
          <a:xfrm>
            <a:off x="8229600" y="5074920"/>
            <a:ext cx="3383280" cy="41148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الدب</a:t>
            </a:r>
            <a:endParaRPr lang="ar-SA" sz="1900" dirty="0"/>
          </a:p>
        </p:txBody>
      </p:sp>
      <p:sp>
        <p:nvSpPr>
          <p:cNvPr id="20" name="s17_t_17"/>
          <p:cNvSpPr txBox="1"/>
          <p:nvPr/>
        </p:nvSpPr>
        <p:spPr>
          <a:xfrm>
            <a:off x="8823960" y="5486400"/>
            <a:ext cx="2194560" cy="411480"/>
          </a:xfrm>
          <a:prstGeom prst="roundRect">
            <a:avLst>
              <a:gd name="adj" fmla="val 50000"/>
            </a:avLst>
          </a:prstGeom>
          <a:solidFill>
            <a:srgbClr val="FFE066"/>
          </a:solidFill>
          <a:ln w="25400">
            <a:solidFill>
              <a:srgbClr val="34405E"/>
            </a:solidFill>
          </a:ln>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قارت</a:t>
            </a:r>
            <a:endParaRPr lang="ar-SA" sz="1700" dirty="0"/>
          </a:p>
        </p:txBody>
      </p:sp>
      <p:pic>
        <p:nvPicPr>
          <p:cNvPr id="21" name="s17_pic_18" descr="/tmp/claude-0/-home-user-Scienceshamah/8386cda7-7741-5ea4-8952-60ee8e67fc31/scratchpad/w3/img/card_585x345_FFFFFF_s_i.png">    </p:cNvPr>
          <p:cNvPicPr>
            <a:picLocks noChangeAspect="1"/>
          </p:cNvPicPr>
          <p:nvPr/>
        </p:nvPicPr>
        <p:blipFill>
          <a:blip r:embed="rId11"/>
          <a:stretch>
            <a:fillRect/>
          </a:stretch>
        </p:blipFill>
        <p:spPr>
          <a:xfrm>
            <a:off x="4389120" y="3886200"/>
            <a:ext cx="3566160" cy="2103120"/>
          </a:xfrm>
          <a:prstGeom prst="rect">
            <a:avLst/>
          </a:prstGeom>
        </p:spPr>
      </p:pic>
      <p:pic>
        <p:nvPicPr>
          <p:cNvPr id="22" name="s17_pic_19" descr="الأسد">    </p:cNvPr>
          <p:cNvPicPr>
            <a:picLocks noChangeAspect="1"/>
          </p:cNvPicPr>
          <p:nvPr/>
        </p:nvPicPr>
        <p:blipFill>
          <a:blip r:embed="rId12"/>
          <a:stretch>
            <a:fillRect/>
          </a:stretch>
        </p:blipFill>
        <p:spPr>
          <a:xfrm>
            <a:off x="5623560" y="3995928"/>
            <a:ext cx="1097280" cy="1097280"/>
          </a:xfrm>
          <a:prstGeom prst="rect">
            <a:avLst/>
          </a:prstGeom>
        </p:spPr>
      </p:pic>
      <p:sp>
        <p:nvSpPr>
          <p:cNvPr id="23" name="s17_t_20"/>
          <p:cNvSpPr txBox="1"/>
          <p:nvPr/>
        </p:nvSpPr>
        <p:spPr>
          <a:xfrm>
            <a:off x="4480560" y="5074920"/>
            <a:ext cx="3383280" cy="41148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الأسد</a:t>
            </a:r>
            <a:endParaRPr lang="ar-SA" sz="1900" dirty="0"/>
          </a:p>
        </p:txBody>
      </p:sp>
      <p:sp>
        <p:nvSpPr>
          <p:cNvPr id="24" name="s17_t_21"/>
          <p:cNvSpPr txBox="1"/>
          <p:nvPr/>
        </p:nvSpPr>
        <p:spPr>
          <a:xfrm>
            <a:off x="5074920" y="5486400"/>
            <a:ext cx="2194560" cy="411480"/>
          </a:xfrm>
          <a:prstGeom prst="roundRect">
            <a:avLst>
              <a:gd name="adj" fmla="val 50000"/>
            </a:avLst>
          </a:prstGeom>
          <a:solidFill>
            <a:srgbClr val="FFB3D1"/>
          </a:solidFill>
          <a:ln w="25400">
            <a:solidFill>
              <a:srgbClr val="34405E"/>
            </a:solidFill>
          </a:ln>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آكل لحوم</a:t>
            </a:r>
            <a:endParaRPr lang="ar-SA" sz="1700" dirty="0"/>
          </a:p>
        </p:txBody>
      </p:sp>
      <p:pic>
        <p:nvPicPr>
          <p:cNvPr id="25" name="s17_pic_22" descr="/tmp/claude-0/-home-user-Scienceshamah/8386cda7-7741-5ea4-8952-60ee8e67fc31/scratchpad/w3/img/card_585x345_FFFFFF_s_i.png">    </p:cNvPr>
          <p:cNvPicPr>
            <a:picLocks noChangeAspect="1"/>
          </p:cNvPicPr>
          <p:nvPr/>
        </p:nvPicPr>
        <p:blipFill>
          <a:blip r:embed="rId13"/>
          <a:stretch>
            <a:fillRect/>
          </a:stretch>
        </p:blipFill>
        <p:spPr>
          <a:xfrm>
            <a:off x="640080" y="3886200"/>
            <a:ext cx="3566160" cy="2103120"/>
          </a:xfrm>
          <a:prstGeom prst="rect">
            <a:avLst/>
          </a:prstGeom>
        </p:spPr>
      </p:pic>
      <p:pic>
        <p:nvPicPr>
          <p:cNvPr id="26" name="s17_pic_23" descr="سمك القرش">    </p:cNvPr>
          <p:cNvPicPr>
            <a:picLocks noChangeAspect="1"/>
          </p:cNvPicPr>
          <p:nvPr/>
        </p:nvPicPr>
        <p:blipFill>
          <a:blip r:embed="rId14"/>
          <a:stretch>
            <a:fillRect/>
          </a:stretch>
        </p:blipFill>
        <p:spPr>
          <a:xfrm>
            <a:off x="1874520" y="3995928"/>
            <a:ext cx="1097280" cy="1097280"/>
          </a:xfrm>
          <a:prstGeom prst="rect">
            <a:avLst/>
          </a:prstGeom>
        </p:spPr>
      </p:pic>
      <p:sp>
        <p:nvSpPr>
          <p:cNvPr id="27" name="s17_t_24"/>
          <p:cNvSpPr txBox="1"/>
          <p:nvPr/>
        </p:nvSpPr>
        <p:spPr>
          <a:xfrm>
            <a:off x="731520" y="5074920"/>
            <a:ext cx="3383280" cy="41148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سمك القرش</a:t>
            </a:r>
            <a:endParaRPr lang="ar-SA" sz="1900" dirty="0"/>
          </a:p>
        </p:txBody>
      </p:sp>
      <p:sp>
        <p:nvSpPr>
          <p:cNvPr id="28" name="s17_t_25"/>
          <p:cNvSpPr txBox="1"/>
          <p:nvPr/>
        </p:nvSpPr>
        <p:spPr>
          <a:xfrm>
            <a:off x="1325880" y="5486400"/>
            <a:ext cx="2194560" cy="411480"/>
          </a:xfrm>
          <a:prstGeom prst="roundRect">
            <a:avLst>
              <a:gd name="adj" fmla="val 50000"/>
            </a:avLst>
          </a:prstGeom>
          <a:solidFill>
            <a:srgbClr val="FFB3D1"/>
          </a:solidFill>
          <a:ln w="25400">
            <a:solidFill>
              <a:srgbClr val="34405E"/>
            </a:solidFill>
          </a:ln>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آكل لحوم</a:t>
            </a:r>
            <a:endParaRPr lang="ar-SA" sz="1700" dirty="0"/>
          </a:p>
        </p:txBody>
      </p:sp>
    </p:spTree>
  </p:cSld>
  <p:clrMapOvr>
    <a:masterClrMapping/>
  </p:clrMapOvr>
  <p:transition spd="slow">
    <p:circle/>
  </p:transition>
  <p:timing>
    <p:tnLst>
      <p:par>
        <p:cTn id="1" dur="indefinite" restart="never" nodeType="tmRoot">
          <p:childTnLst>
            <p:seq concurrent="1" nextAc="seek">
              <p:cTn id="3" restart="whenNotActive" fill="hold" evtFilter="cancelBubble" nodeType="interactiveSeq">
                <p:stCondLst>
                  <p:cond evt="onClick" delay="0">
                    <p:tgtEl>
                      <p:spTgt spid="5"/>
                    </p:tgtEl>
                  </p:cond>
                </p:stCondLst>
                <p:endSync evt="end" delay="0">
                  <p:rtn val="all"/>
                </p:endSync>
                <p:childTnLst>
                  <p:par>
                    <p:cTn id="4" fill="hold">
                      <p:stCondLst>
                        <p:cond delay="0"/>
                      </p:stCondLst>
                      <p:childTnLst>
                        <p:par>
                          <p:cTn id="5" fill="hold">
                            <p:stCondLst>
                              <p:cond delay="0"/>
                            </p:stCondLst>
                            <p:childTnLst>
                              <p:par>
                                <p:cTn id="10"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nextCondLst>
                <p:cond evt="onClick" delay="0">
                  <p:tgtEl>
                    <p:spTgt spid="5"/>
                  </p:tgtEl>
                </p:cond>
              </p:nextCondLst>
            </p:seq>
            <p:seq concurrent="1" nextAc="seek">
              <p:cTn id="11" restart="whenNotActive" fill="hold" evtFilter="cancelBubble" nodeType="interactiveSeq">
                <p:stCondLst>
                  <p:cond evt="onClick" delay="0">
                    <p:tgtEl>
                      <p:spTgt spid="9"/>
                    </p:tgtEl>
                  </p:cond>
                </p:stCondLst>
                <p:endSync evt="end" delay="0">
                  <p:rtn val="all"/>
                </p:endSync>
                <p:childTnLst>
                  <p:par>
                    <p:cTn id="12" fill="hold">
                      <p:stCondLst>
                        <p:cond delay="0"/>
                      </p:stCondLst>
                      <p:childTnLst>
                        <p:par>
                          <p:cTn id="13" fill="hold">
                            <p:stCondLst>
                              <p:cond delay="0"/>
                            </p:stCondLst>
                            <p:childTnLst>
                              <p:par>
                                <p:cTn id="18" presetID="53" presetClass="entr" presetSubtype="16"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500" fill="hold"/>
                                        <p:tgtEl>
                                          <p:spTgt spid="12"/>
                                        </p:tgtEl>
                                        <p:attrNameLst>
                                          <p:attrName>ppt_w</p:attrName>
                                        </p:attrNameLst>
                                      </p:cBhvr>
                                      <p:tavLst>
                                        <p:tav tm="0">
                                          <p:val>
                                            <p:fltVal val="0"/>
                                          </p:val>
                                        </p:tav>
                                        <p:tav tm="100000">
                                          <p:val>
                                            <p:strVal val="#ppt_w"/>
                                          </p:val>
                                        </p:tav>
                                      </p:tavLst>
                                    </p:anim>
                                    <p:anim calcmode="lin" valueType="num">
                                      <p:cBhvr>
                                        <p:cTn id="16" dur="500" fill="hold"/>
                                        <p:tgtEl>
                                          <p:spTgt spid="12"/>
                                        </p:tgtEl>
                                        <p:attrNameLst>
                                          <p:attrName>ppt_h</p:attrName>
                                        </p:attrNameLst>
                                      </p:cBhvr>
                                      <p:tavLst>
                                        <p:tav tm="0">
                                          <p:val>
                                            <p:fltVal val="0"/>
                                          </p:val>
                                        </p:tav>
                                        <p:tav tm="100000">
                                          <p:val>
                                            <p:strVal val="#ppt_h"/>
                                          </p:val>
                                        </p:tav>
                                      </p:tavLst>
                                    </p:anim>
                                    <p:animEffect transition="in" filter="fade">
                                      <p:cBhvr>
                                        <p:cTn id="17" dur="500"/>
                                        <p:tgtEl>
                                          <p:spTgt spid="12"/>
                                        </p:tgtEl>
                                      </p:cBhvr>
                                    </p:animEffect>
                                  </p:childTnLst>
                                </p:cTn>
                              </p:par>
                            </p:childTnLst>
                          </p:cTn>
                        </p:par>
                      </p:childTnLst>
                    </p:cTn>
                  </p:par>
                </p:childTnLst>
              </p:cTn>
              <p:nextCondLst>
                <p:cond evt="onClick" delay="0">
                  <p:tgtEl>
                    <p:spTgt spid="9"/>
                  </p:tgtEl>
                </p:cond>
              </p:nextCondLst>
            </p:seq>
            <p:seq concurrent="1" nextAc="seek">
              <p:cTn id="19" restart="whenNotActive" fill="hold" evtFilter="cancelBubble" nodeType="interactiveSeq">
                <p:stCondLst>
                  <p:cond evt="onClick" delay="0">
                    <p:tgtEl>
                      <p:spTgt spid="13"/>
                    </p:tgtEl>
                  </p:cond>
                </p:stCondLst>
                <p:endSync evt="end" delay="0">
                  <p:rtn val="all"/>
                </p:endSync>
                <p:childTnLst>
                  <p:par>
                    <p:cTn id="20" fill="hold">
                      <p:stCondLst>
                        <p:cond delay="0"/>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fltVal val="0"/>
                                          </p:val>
                                        </p:tav>
                                        <p:tav tm="100000">
                                          <p:val>
                                            <p:strVal val="#ppt_w"/>
                                          </p:val>
                                        </p:tav>
                                      </p:tavLst>
                                    </p:anim>
                                    <p:anim calcmode="lin" valueType="num">
                                      <p:cBhvr>
                                        <p:cTn id="24" dur="500" fill="hold"/>
                                        <p:tgtEl>
                                          <p:spTgt spid="16"/>
                                        </p:tgtEl>
                                        <p:attrNameLst>
                                          <p:attrName>ppt_h</p:attrName>
                                        </p:attrNameLst>
                                      </p:cBhvr>
                                      <p:tavLst>
                                        <p:tav tm="0">
                                          <p:val>
                                            <p:fltVal val="0"/>
                                          </p:val>
                                        </p:tav>
                                        <p:tav tm="100000">
                                          <p:val>
                                            <p:strVal val="#ppt_h"/>
                                          </p:val>
                                        </p:tav>
                                      </p:tavLst>
                                    </p:anim>
                                    <p:animEffect transition="in" filter="fade">
                                      <p:cBhvr>
                                        <p:cTn id="25" dur="500"/>
                                        <p:tgtEl>
                                          <p:spTgt spid="16"/>
                                        </p:tgtEl>
                                      </p:cBhvr>
                                    </p:animEffect>
                                  </p:childTnLst>
                                </p:cTn>
                              </p:par>
                            </p:childTnLst>
                          </p:cTn>
                        </p:par>
                      </p:childTnLst>
                    </p:cTn>
                  </p:par>
                </p:childTnLst>
              </p:cTn>
              <p:nextCondLst>
                <p:cond evt="onClick" delay="0">
                  <p:tgtEl>
                    <p:spTgt spid="13"/>
                  </p:tgtEl>
                </p:cond>
              </p:nextCondLst>
            </p:seq>
            <p:seq concurrent="1" nextAc="seek">
              <p:cTn id="27" restart="whenNotActive" fill="hold" evtFilter="cancelBubble" nodeType="interactiveSeq">
                <p:stCondLst>
                  <p:cond evt="onClick" delay="0">
                    <p:tgtEl>
                      <p:spTgt spid="17"/>
                    </p:tgtEl>
                  </p:cond>
                </p:stCondLst>
                <p:endSync evt="end" delay="0">
                  <p:rtn val="all"/>
                </p:endSync>
                <p:childTnLst>
                  <p:par>
                    <p:cTn id="28" fill="hold">
                      <p:stCondLst>
                        <p:cond delay="0"/>
                      </p:stCondLst>
                      <p:childTnLst>
                        <p:par>
                          <p:cTn id="29" fill="hold">
                            <p:stCondLst>
                              <p:cond delay="0"/>
                            </p:stCondLst>
                            <p:childTnLst>
                              <p:par>
                                <p:cTn id="34" presetID="53" presetClass="entr" presetSubtype="16"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p:cTn id="31" dur="500" fill="hold"/>
                                        <p:tgtEl>
                                          <p:spTgt spid="20"/>
                                        </p:tgtEl>
                                        <p:attrNameLst>
                                          <p:attrName>ppt_w</p:attrName>
                                        </p:attrNameLst>
                                      </p:cBhvr>
                                      <p:tavLst>
                                        <p:tav tm="0">
                                          <p:val>
                                            <p:fltVal val="0"/>
                                          </p:val>
                                        </p:tav>
                                        <p:tav tm="100000">
                                          <p:val>
                                            <p:strVal val="#ppt_w"/>
                                          </p:val>
                                        </p:tav>
                                      </p:tavLst>
                                    </p:anim>
                                    <p:anim calcmode="lin" valueType="num">
                                      <p:cBhvr>
                                        <p:cTn id="32" dur="500" fill="hold"/>
                                        <p:tgtEl>
                                          <p:spTgt spid="20"/>
                                        </p:tgtEl>
                                        <p:attrNameLst>
                                          <p:attrName>ppt_h</p:attrName>
                                        </p:attrNameLst>
                                      </p:cBhvr>
                                      <p:tavLst>
                                        <p:tav tm="0">
                                          <p:val>
                                            <p:fltVal val="0"/>
                                          </p:val>
                                        </p:tav>
                                        <p:tav tm="100000">
                                          <p:val>
                                            <p:strVal val="#ppt_h"/>
                                          </p:val>
                                        </p:tav>
                                      </p:tavLst>
                                    </p:anim>
                                    <p:animEffect transition="in" filter="fade">
                                      <p:cBhvr>
                                        <p:cTn id="33" dur="500"/>
                                        <p:tgtEl>
                                          <p:spTgt spid="20"/>
                                        </p:tgtEl>
                                      </p:cBhvr>
                                    </p:animEffect>
                                  </p:childTnLst>
                                </p:cTn>
                              </p:par>
                            </p:childTnLst>
                          </p:cTn>
                        </p:par>
                      </p:childTnLst>
                    </p:cTn>
                  </p:par>
                </p:childTnLst>
              </p:cTn>
              <p:nextCondLst>
                <p:cond evt="onClick" delay="0">
                  <p:tgtEl>
                    <p:spTgt spid="17"/>
                  </p:tgtEl>
                </p:cond>
              </p:nextCondLst>
            </p:seq>
            <p:seq concurrent="1" nextAc="seek">
              <p:cTn id="35" restart="whenNotActive" fill="hold" evtFilter="cancelBubble" nodeType="interactiveSeq">
                <p:stCondLst>
                  <p:cond evt="onClick" delay="0">
                    <p:tgtEl>
                      <p:spTgt spid="21"/>
                    </p:tgtEl>
                  </p:cond>
                </p:stCondLst>
                <p:endSync evt="end" delay="0">
                  <p:rtn val="all"/>
                </p:endSync>
                <p:childTnLst>
                  <p:par>
                    <p:cTn id="36" fill="hold">
                      <p:stCondLst>
                        <p:cond delay="0"/>
                      </p:stCondLst>
                      <p:childTnLst>
                        <p:par>
                          <p:cTn id="37" fill="hold">
                            <p:stCondLst>
                              <p:cond delay="0"/>
                            </p:stCondLst>
                            <p:childTnLst>
                              <p:par>
                                <p:cTn id="42" presetID="53" presetClass="entr" presetSubtype="16"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p:cTn id="39" dur="500" fill="hold"/>
                                        <p:tgtEl>
                                          <p:spTgt spid="24"/>
                                        </p:tgtEl>
                                        <p:attrNameLst>
                                          <p:attrName>ppt_w</p:attrName>
                                        </p:attrNameLst>
                                      </p:cBhvr>
                                      <p:tavLst>
                                        <p:tav tm="0">
                                          <p:val>
                                            <p:fltVal val="0"/>
                                          </p:val>
                                        </p:tav>
                                        <p:tav tm="100000">
                                          <p:val>
                                            <p:strVal val="#ppt_w"/>
                                          </p:val>
                                        </p:tav>
                                      </p:tavLst>
                                    </p:anim>
                                    <p:anim calcmode="lin" valueType="num">
                                      <p:cBhvr>
                                        <p:cTn id="40" dur="500" fill="hold"/>
                                        <p:tgtEl>
                                          <p:spTgt spid="24"/>
                                        </p:tgtEl>
                                        <p:attrNameLst>
                                          <p:attrName>ppt_h</p:attrName>
                                        </p:attrNameLst>
                                      </p:cBhvr>
                                      <p:tavLst>
                                        <p:tav tm="0">
                                          <p:val>
                                            <p:fltVal val="0"/>
                                          </p:val>
                                        </p:tav>
                                        <p:tav tm="100000">
                                          <p:val>
                                            <p:strVal val="#ppt_h"/>
                                          </p:val>
                                        </p:tav>
                                      </p:tavLst>
                                    </p:anim>
                                    <p:animEffect transition="in" filter="fade">
                                      <p:cBhvr>
                                        <p:cTn id="41" dur="500"/>
                                        <p:tgtEl>
                                          <p:spTgt spid="24"/>
                                        </p:tgtEl>
                                      </p:cBhvr>
                                    </p:animEffect>
                                  </p:childTnLst>
                                </p:cTn>
                              </p:par>
                            </p:childTnLst>
                          </p:cTn>
                        </p:par>
                      </p:childTnLst>
                    </p:cTn>
                  </p:par>
                </p:childTnLst>
              </p:cTn>
              <p:nextCondLst>
                <p:cond evt="onClick" delay="0">
                  <p:tgtEl>
                    <p:spTgt spid="21"/>
                  </p:tgtEl>
                </p:cond>
              </p:nextCondLst>
            </p:seq>
            <p:seq concurrent="1" nextAc="seek">
              <p:cTn id="43" restart="whenNotActive" fill="hold" evtFilter="cancelBubble" nodeType="interactiveSeq">
                <p:stCondLst>
                  <p:cond evt="onClick" delay="0">
                    <p:tgtEl>
                      <p:spTgt spid="25"/>
                    </p:tgtEl>
                  </p:cond>
                </p:stCondLst>
                <p:endSync evt="end" delay="0">
                  <p:rtn val="all"/>
                </p:endSync>
                <p:childTnLst>
                  <p:par>
                    <p:cTn id="44" fill="hold">
                      <p:stCondLst>
                        <p:cond delay="0"/>
                      </p:stCondLst>
                      <p:childTnLst>
                        <p:par>
                          <p:cTn id="45" fill="hold">
                            <p:stCondLst>
                              <p:cond delay="0"/>
                            </p:stCondLst>
                            <p:childTnLst>
                              <p:par>
                                <p:cTn id="50" presetID="53" presetClass="entr" presetSubtype="16"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p:cTn id="47" dur="500" fill="hold"/>
                                        <p:tgtEl>
                                          <p:spTgt spid="28"/>
                                        </p:tgtEl>
                                        <p:attrNameLst>
                                          <p:attrName>ppt_w</p:attrName>
                                        </p:attrNameLst>
                                      </p:cBhvr>
                                      <p:tavLst>
                                        <p:tav tm="0">
                                          <p:val>
                                            <p:fltVal val="0"/>
                                          </p:val>
                                        </p:tav>
                                        <p:tav tm="100000">
                                          <p:val>
                                            <p:strVal val="#ppt_w"/>
                                          </p:val>
                                        </p:tav>
                                      </p:tavLst>
                                    </p:anim>
                                    <p:anim calcmode="lin" valueType="num">
                                      <p:cBhvr>
                                        <p:cTn id="48" dur="500" fill="hold"/>
                                        <p:tgtEl>
                                          <p:spTgt spid="28"/>
                                        </p:tgtEl>
                                        <p:attrNameLst>
                                          <p:attrName>ppt_h</p:attrName>
                                        </p:attrNameLst>
                                      </p:cBhvr>
                                      <p:tavLst>
                                        <p:tav tm="0">
                                          <p:val>
                                            <p:fltVal val="0"/>
                                          </p:val>
                                        </p:tav>
                                        <p:tav tm="100000">
                                          <p:val>
                                            <p:strVal val="#ppt_h"/>
                                          </p:val>
                                        </p:tav>
                                      </p:tavLst>
                                    </p:anim>
                                    <p:animEffect transition="in" filter="fade">
                                      <p:cBhvr>
                                        <p:cTn id="49" dur="500"/>
                                        <p:tgtEl>
                                          <p:spTgt spid="28"/>
                                        </p:tgtEl>
                                      </p:cBhvr>
                                    </p:animEffect>
                                  </p:childTnLst>
                                </p:cTn>
                              </p:par>
                            </p:childTnLst>
                          </p:cTn>
                        </p:par>
                      </p:childTnLst>
                    </p:cTn>
                  </p:par>
                </p:childTnLst>
              </p:cTn>
              <p:nextCondLst>
                <p:cond evt="onClick" delay="0">
                  <p:tgtEl>
                    <p:spTgt spid="25"/>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8_title" descr="المحلِّلات">    </p:cNvPr>
          <p:cNvPicPr>
            <a:picLocks noChangeAspect="1"/>
          </p:cNvPicPr>
          <p:nvPr/>
        </p:nvPicPr>
        <p:blipFill>
          <a:blip r:embed="rId2"/>
          <a:stretch>
            <a:fillRect/>
          </a:stretch>
        </p:blipFill>
        <p:spPr>
          <a:xfrm>
            <a:off x="9687770" y="109728"/>
            <a:ext cx="2153710" cy="868680"/>
          </a:xfrm>
          <a:prstGeom prst="rect">
            <a:avLst/>
          </a:prstGeom>
        </p:spPr>
      </p:pic>
      <p:sp>
        <p:nvSpPr>
          <p:cNvPr id="3" name="s18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التعلم البصري – التشبيه</a:t>
            </a:r>
            <a:endParaRPr lang="ar-SA" sz="1700" dirty="0"/>
          </a:p>
        </p:txBody>
      </p:sp>
      <p:pic>
        <p:nvPicPr>
          <p:cNvPr id="4" name="s18_pic_1" descr="/tmp/claude-0/-home-user-Scienceshamah/8386cda7-7741-5ea4-8952-60ee8e67fc31/scratchpad/w3/img/card_1853x263_FFFFFF_s_i.png">    </p:cNvPr>
          <p:cNvPicPr>
            <a:picLocks noChangeAspect="1"/>
          </p:cNvPicPr>
          <p:nvPr/>
        </p:nvPicPr>
        <p:blipFill>
          <a:blip r:embed="rId3"/>
          <a:stretch>
            <a:fillRect/>
          </a:stretch>
        </p:blipFill>
        <p:spPr>
          <a:xfrm>
            <a:off x="457200" y="1051560"/>
            <a:ext cx="11292840" cy="1600200"/>
          </a:xfrm>
          <a:prstGeom prst="rect">
            <a:avLst/>
          </a:prstGeom>
        </p:spPr>
      </p:pic>
      <p:sp>
        <p:nvSpPr>
          <p:cNvPr id="5" name="s18_t_2"/>
          <p:cNvSpPr txBox="1"/>
          <p:nvPr/>
        </p:nvSpPr>
        <p:spPr>
          <a:xfrm>
            <a:off x="640080" y="1097280"/>
            <a:ext cx="10927080" cy="1508760"/>
          </a:xfrm>
          <a:prstGeom prst="rect">
            <a:avLst/>
          </a:prstGeom>
          <a:noFill/>
          <a:ln/>
        </p:spPr>
        <p:txBody>
          <a:bodyPr wrap="square" lIns="762" tIns="762" rIns="762" bIns="762" rtlCol="0" anchor="ctr"/>
          <a:lstStyle/>
          <a:p>
            <a:pPr rtl="1" algn="r" indent="0" marL="0">
              <a:lnSpc>
                <a:spcPct val="120000"/>
              </a:lnSpc>
              <a:buNone/>
            </a:pPr>
            <a:r>
              <a:rPr lang="ar-SA" altLang="en-US" sz="2000" dirty="0">
                <a:solidFill>
                  <a:srgbClr val="34405E"/>
                </a:solidFill>
                <a:latin typeface="Tahoma" pitchFamily="34" charset="0"/>
                <a:ea typeface="Tahoma" pitchFamily="34" charset="-122"/>
                <a:cs typeface="Tahoma" pitchFamily="34" charset="-120"/>
              </a:rPr>
              <a:t>تقوم بعض المخلوقات بتحليل المواد الميتة للحصول على الطاقة، وتُسمّى هذه المخلوقات </a:t>
            </a:r>
            <a:r>
              <a:rPr lang="ar-SA" altLang="en-US" sz="2000" b="1" dirty="0">
                <a:solidFill>
                  <a:srgbClr val="C2366F"/>
                </a:solidFill>
                <a:latin typeface="Tahoma" pitchFamily="34" charset="0"/>
                <a:ea typeface="Tahoma" pitchFamily="34" charset="-122"/>
                <a:cs typeface="Tahoma" pitchFamily="34" charset="-120"/>
              </a:rPr>
              <a:t>المحلِّلات</a:t>
            </a:r>
            <a:r>
              <a:rPr lang="ar-SA" altLang="en-US" sz="2000" dirty="0">
                <a:solidFill>
                  <a:srgbClr val="34405E"/>
                </a:solidFill>
                <a:latin typeface="Tahoma" pitchFamily="34" charset="0"/>
                <a:ea typeface="Tahoma" pitchFamily="34" charset="-122"/>
                <a:cs typeface="Tahoma" pitchFamily="34" charset="-120"/>
              </a:rPr>
              <a:t>، ومنها الديدان والبكتيريا والفطريات. تقوم المحلِّلات بإعادة المواد إلى النظام البيئي بوصفها موادَّ مغذّية.</a:t>
            </a:r>
            <a:endParaRPr lang="ar-SA" sz="2000" dirty="0"/>
          </a:p>
        </p:txBody>
      </p:sp>
      <p:pic>
        <p:nvPicPr>
          <p:cNvPr id="6" name="s18_pic_3" descr="/tmp/claude-0/-home-user-Scienceshamah/8386cda7-7741-5ea4-8952-60ee8e67fc31/scratchpad/w3/img/card_923x338_FFFFFF_s_i.png">    </p:cNvPr>
          <p:cNvPicPr>
            <a:picLocks noChangeAspect="1"/>
          </p:cNvPicPr>
          <p:nvPr/>
        </p:nvPicPr>
        <p:blipFill>
          <a:blip r:embed="rId4"/>
          <a:stretch>
            <a:fillRect/>
          </a:stretch>
        </p:blipFill>
        <p:spPr>
          <a:xfrm>
            <a:off x="6126480" y="2834640"/>
            <a:ext cx="5623560" cy="2057400"/>
          </a:xfrm>
          <a:prstGeom prst="rect">
            <a:avLst/>
          </a:prstGeom>
        </p:spPr>
      </p:pic>
      <p:pic>
        <p:nvPicPr>
          <p:cNvPr id="7" name="s18_pic_4" descr="تحلل المحللات بقايا المخلوقات الحية (من الكتاب)">    </p:cNvPr>
          <p:cNvPicPr>
            <a:picLocks noChangeAspect="1"/>
          </p:cNvPicPr>
          <p:nvPr/>
        </p:nvPicPr>
        <p:blipFill>
          <a:blip r:embed="rId5"/>
          <a:stretch>
            <a:fillRect/>
          </a:stretch>
        </p:blipFill>
        <p:spPr>
          <a:xfrm>
            <a:off x="6263640" y="2926080"/>
            <a:ext cx="5349240" cy="1533878"/>
          </a:xfrm>
          <a:prstGeom prst="rect">
            <a:avLst/>
          </a:prstGeom>
        </p:spPr>
      </p:pic>
      <p:pic>
        <p:nvPicPr>
          <p:cNvPr id="8" name="s18_pic_5" descr="/tmp/claude-0/-home-user-Scienceshamah/8386cda7-7741-5ea4-8952-60ee8e67fc31/scratchpad/w3/img/card_285x300_FFB3D1_s_i.png">    </p:cNvPr>
          <p:cNvPicPr>
            <a:picLocks noChangeAspect="1"/>
          </p:cNvPicPr>
          <p:nvPr/>
        </p:nvPicPr>
        <p:blipFill>
          <a:blip r:embed="rId6"/>
          <a:stretch>
            <a:fillRect/>
          </a:stretch>
        </p:blipFill>
        <p:spPr>
          <a:xfrm>
            <a:off x="4206240" y="2834640"/>
            <a:ext cx="1737360" cy="1828800"/>
          </a:xfrm>
          <a:prstGeom prst="rect">
            <a:avLst/>
          </a:prstGeom>
        </p:spPr>
      </p:pic>
      <p:pic>
        <p:nvPicPr>
          <p:cNvPr id="9" name="s18_pic_6" descr="الديدان">    </p:cNvPr>
          <p:cNvPicPr>
            <a:picLocks noChangeAspect="1"/>
          </p:cNvPicPr>
          <p:nvPr/>
        </p:nvPicPr>
        <p:blipFill>
          <a:blip r:embed="rId7"/>
          <a:stretch>
            <a:fillRect/>
          </a:stretch>
        </p:blipFill>
        <p:spPr>
          <a:xfrm>
            <a:off x="4663440" y="2926080"/>
            <a:ext cx="822960" cy="822960"/>
          </a:xfrm>
          <a:prstGeom prst="rect">
            <a:avLst/>
          </a:prstGeom>
        </p:spPr>
      </p:pic>
      <p:sp>
        <p:nvSpPr>
          <p:cNvPr id="10" name="s18_t_7"/>
          <p:cNvSpPr txBox="1"/>
          <p:nvPr/>
        </p:nvSpPr>
        <p:spPr>
          <a:xfrm>
            <a:off x="4206240" y="3794760"/>
            <a:ext cx="1737360" cy="54864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الديدان</a:t>
            </a:r>
            <a:endParaRPr lang="ar-SA" sz="1900" dirty="0"/>
          </a:p>
        </p:txBody>
      </p:sp>
      <p:pic>
        <p:nvPicPr>
          <p:cNvPr id="11" name="s18_pic_8" descr="/tmp/claude-0/-home-user-Scienceshamah/8386cda7-7741-5ea4-8952-60ee8e67fc31/scratchpad/w3/img/card_285x300_C9A8FF_s_i.png">    </p:cNvPr>
          <p:cNvPicPr>
            <a:picLocks noChangeAspect="1"/>
          </p:cNvPicPr>
          <p:nvPr/>
        </p:nvPicPr>
        <p:blipFill>
          <a:blip r:embed="rId8"/>
          <a:stretch>
            <a:fillRect/>
          </a:stretch>
        </p:blipFill>
        <p:spPr>
          <a:xfrm>
            <a:off x="2331720" y="2834640"/>
            <a:ext cx="1737360" cy="1828800"/>
          </a:xfrm>
          <a:prstGeom prst="rect">
            <a:avLst/>
          </a:prstGeom>
        </p:spPr>
      </p:pic>
      <p:pic>
        <p:nvPicPr>
          <p:cNvPr id="12" name="s18_pic_9" descr="البكتيريا">    </p:cNvPr>
          <p:cNvPicPr>
            <a:picLocks noChangeAspect="1"/>
          </p:cNvPicPr>
          <p:nvPr/>
        </p:nvPicPr>
        <p:blipFill>
          <a:blip r:embed="rId9"/>
          <a:stretch>
            <a:fillRect/>
          </a:stretch>
        </p:blipFill>
        <p:spPr>
          <a:xfrm>
            <a:off x="2788920" y="2926080"/>
            <a:ext cx="822960" cy="822960"/>
          </a:xfrm>
          <a:prstGeom prst="rect">
            <a:avLst/>
          </a:prstGeom>
        </p:spPr>
      </p:pic>
      <p:sp>
        <p:nvSpPr>
          <p:cNvPr id="13" name="s18_t_10"/>
          <p:cNvSpPr txBox="1"/>
          <p:nvPr/>
        </p:nvSpPr>
        <p:spPr>
          <a:xfrm>
            <a:off x="2331720" y="3794760"/>
            <a:ext cx="1737360" cy="54864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البكتيريا</a:t>
            </a:r>
            <a:endParaRPr lang="ar-SA" sz="1900" dirty="0"/>
          </a:p>
        </p:txBody>
      </p:sp>
      <p:pic>
        <p:nvPicPr>
          <p:cNvPr id="14" name="s18_pic_11" descr="/tmp/claude-0/-home-user-Scienceshamah/8386cda7-7741-5ea4-8952-60ee8e67fc31/scratchpad/w3/img/card_285x300_FFC48C_s_i.png">    </p:cNvPr>
          <p:cNvPicPr>
            <a:picLocks noChangeAspect="1"/>
          </p:cNvPicPr>
          <p:nvPr/>
        </p:nvPicPr>
        <p:blipFill>
          <a:blip r:embed="rId10"/>
          <a:stretch>
            <a:fillRect/>
          </a:stretch>
        </p:blipFill>
        <p:spPr>
          <a:xfrm>
            <a:off x="457200" y="2834640"/>
            <a:ext cx="1737360" cy="1828800"/>
          </a:xfrm>
          <a:prstGeom prst="rect">
            <a:avLst/>
          </a:prstGeom>
        </p:spPr>
      </p:pic>
      <p:pic>
        <p:nvPicPr>
          <p:cNvPr id="15" name="s18_pic_12" descr="الفطريات">    </p:cNvPr>
          <p:cNvPicPr>
            <a:picLocks noChangeAspect="1"/>
          </p:cNvPicPr>
          <p:nvPr/>
        </p:nvPicPr>
        <p:blipFill>
          <a:blip r:embed="rId11"/>
          <a:stretch>
            <a:fillRect/>
          </a:stretch>
        </p:blipFill>
        <p:spPr>
          <a:xfrm>
            <a:off x="914400" y="2926080"/>
            <a:ext cx="822960" cy="822960"/>
          </a:xfrm>
          <a:prstGeom prst="rect">
            <a:avLst/>
          </a:prstGeom>
        </p:spPr>
      </p:pic>
      <p:sp>
        <p:nvSpPr>
          <p:cNvPr id="16" name="s18_t_13"/>
          <p:cNvSpPr txBox="1"/>
          <p:nvPr/>
        </p:nvSpPr>
        <p:spPr>
          <a:xfrm>
            <a:off x="457200" y="3794760"/>
            <a:ext cx="1737360" cy="54864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الفطريات</a:t>
            </a:r>
            <a:endParaRPr lang="ar-SA" sz="1900" dirty="0"/>
          </a:p>
        </p:txBody>
      </p:sp>
      <p:pic>
        <p:nvPicPr>
          <p:cNvPr id="17" name="s18_pic_14" descr="/tmp/claude-0/-home-user-Scienceshamah/8386cda7-7741-5ea4-8952-60ee8e67fc31/scratchpad/w3/img/card_1853x188_B8F28A_s_i.png">    </p:cNvPr>
          <p:cNvPicPr>
            <a:picLocks noChangeAspect="1"/>
          </p:cNvPicPr>
          <p:nvPr/>
        </p:nvPicPr>
        <p:blipFill>
          <a:blip r:embed="rId12"/>
          <a:stretch>
            <a:fillRect/>
          </a:stretch>
        </p:blipFill>
        <p:spPr>
          <a:xfrm>
            <a:off x="457200" y="5029200"/>
            <a:ext cx="11292840" cy="1143000"/>
          </a:xfrm>
          <a:prstGeom prst="rect">
            <a:avLst/>
          </a:prstGeom>
        </p:spPr>
      </p:pic>
      <p:sp>
        <p:nvSpPr>
          <p:cNvPr id="18" name="s18_t_15"/>
          <p:cNvSpPr txBox="1"/>
          <p:nvPr/>
        </p:nvSpPr>
        <p:spPr>
          <a:xfrm>
            <a:off x="640080" y="5074920"/>
            <a:ext cx="10927080" cy="105156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1B5E20"/>
                </a:solidFill>
                <a:latin typeface="Tahoma" pitchFamily="34" charset="0"/>
                <a:ea typeface="Tahoma" pitchFamily="34" charset="-122"/>
                <a:cs typeface="Tahoma" pitchFamily="34" charset="-120"/>
              </a:rPr>
              <a:t>تشبيه: </a:t>
            </a:r>
            <a:r>
              <a:rPr lang="ar-SA" altLang="en-US" sz="1900" b="1" dirty="0">
                <a:solidFill>
                  <a:srgbClr val="34405E"/>
                </a:solidFill>
                <a:latin typeface="Tahoma" pitchFamily="34" charset="0"/>
                <a:ea typeface="Tahoma" pitchFamily="34" charset="-122"/>
                <a:cs typeface="Tahoma" pitchFamily="34" charset="-120"/>
              </a:rPr>
              <a:t>المحلِّلات «عُمّال إعادة التدوير» في الطبيعة ♻️؛ تحوّل البقايا الميتة إلى مواد مغذية تعود إلى التربة.</a:t>
            </a:r>
            <a:endParaRPr lang="ar-SA" sz="1900" dirty="0"/>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anim calcmode="lin" valueType="num">
                                      <p:cBhvr>
                                        <p:cTn id="6" dur="500" fill="hold"/>
                                        <p:tgtEl>
                                          <p:spTgt spid="8"/>
                                        </p:tgtEl>
                                        <p:attrNameLst>
                                          <p:attrName>ppt_w</p:attrName>
                                        </p:attrNameLst>
                                      </p:cBhvr>
                                      <p:tavLst>
                                        <p:tav tm="0">
                                          <p:val>
                                            <p:fltVal val="0"/>
                                          </p:val>
                                        </p:tav>
                                        <p:tav tm="100000">
                                          <p:val>
                                            <p:strVal val="#ppt_w"/>
                                          </p:val>
                                        </p:tav>
                                      </p:tavLst>
                                    </p:anim>
                                    <p:anim calcmode="lin" valueType="num">
                                      <p:cBhvr>
                                        <p:cTn id="7" dur="500" fill="hold"/>
                                        <p:tgtEl>
                                          <p:spTgt spid="8"/>
                                        </p:tgtEl>
                                        <p:attrNameLst>
                                          <p:attrName>ppt_h</p:attrName>
                                        </p:attrNameLst>
                                      </p:cBhvr>
                                      <p:tavLst>
                                        <p:tav tm="0">
                                          <p:val>
                                            <p:fltVal val="0"/>
                                          </p:val>
                                        </p:tav>
                                        <p:tav tm="100000">
                                          <p:val>
                                            <p:strVal val="#ppt_h"/>
                                          </p:val>
                                        </p:tav>
                                      </p:tavLst>
                                    </p:anim>
                                    <p:animEffect transition="in" filter="fade">
                                      <p:cBhvr>
                                        <p:cTn id="8" dur="500"/>
                                        <p:tgtEl>
                                          <p:spTgt spid="8"/>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fltVal val="0"/>
                                          </p:val>
                                        </p:tav>
                                        <p:tav tm="100000">
                                          <p:val>
                                            <p:strVal val="#ppt_w"/>
                                          </p:val>
                                        </p:tav>
                                      </p:tavLst>
                                    </p:anim>
                                    <p:anim calcmode="lin" valueType="num">
                                      <p:cBhvr>
                                        <p:cTn id="17" dur="500" fill="hold"/>
                                        <p:tgtEl>
                                          <p:spTgt spid="10"/>
                                        </p:tgtEl>
                                        <p:attrNameLst>
                                          <p:attrName>ppt_h</p:attrName>
                                        </p:attrNameLst>
                                      </p:cBhvr>
                                      <p:tavLst>
                                        <p:tav tm="0">
                                          <p:val>
                                            <p:fltVal val="0"/>
                                          </p:val>
                                        </p:tav>
                                        <p:tav tm="100000">
                                          <p:val>
                                            <p:strVal val="#ppt_h"/>
                                          </p:val>
                                        </p:tav>
                                      </p:tavLst>
                                    </p:anim>
                                    <p:animEffect transition="in" filter="fade">
                                      <p:cBhvr>
                                        <p:cTn id="18" dur="500"/>
                                        <p:tgtEl>
                                          <p:spTgt spid="10"/>
                                        </p:tgtEl>
                                      </p:cBhvr>
                                    </p:animEffect>
                                  </p:childTnLst>
                                </p:cTn>
                              </p:par>
                              <p:par>
                                <p:cTn id="24" presetID="53" presetClass="entr" presetSubtype="16" fill="hold" grpId="0" nodeType="withEffect">
                                  <p:stCondLst>
                                    <p:cond delay="25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par>
                                <p:cTn id="29" presetID="53" presetClass="entr" presetSubtype="16" fill="hold" grpId="0" nodeType="withEffect">
                                  <p:stCondLst>
                                    <p:cond delay="25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par>
                                <p:cTn id="34" presetID="53" presetClass="entr" presetSubtype="16" fill="hold" grpId="0" nodeType="withEffect">
                                  <p:stCondLst>
                                    <p:cond delay="25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par>
                                <p:cTn id="39" presetID="53" presetClass="entr" presetSubtype="16" fill="hold" grpId="0" nodeType="withEffect">
                                  <p:stCondLst>
                                    <p:cond delay="50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par>
                                <p:cTn id="44" presetID="53" presetClass="entr" presetSubtype="16" fill="hold" grpId="0" nodeType="withEffect">
                                  <p:stCondLst>
                                    <p:cond delay="50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animEffect transition="in" filter="fade">
                                      <p:cBhvr>
                                        <p:cTn id="43" dur="500"/>
                                        <p:tgtEl>
                                          <p:spTgt spid="15"/>
                                        </p:tgtEl>
                                      </p:cBhvr>
                                    </p:animEffect>
                                  </p:childTnLst>
                                </p:cTn>
                              </p:par>
                              <p:par>
                                <p:cTn id="49" presetID="53" presetClass="entr" presetSubtype="16" fill="hold" grpId="0" nodeType="withEffect">
                                  <p:stCondLst>
                                    <p:cond delay="500"/>
                                  </p:stCondLst>
                                  <p:childTnLst>
                                    <p:set>
                                      <p:cBhvr>
                                        <p:cTn id="45" dur="1" fill="hold">
                                          <p:stCondLst>
                                            <p:cond delay="0"/>
                                          </p:stCondLst>
                                        </p:cTn>
                                        <p:tgtEl>
                                          <p:spTgt spid="16"/>
                                        </p:tgtEl>
                                        <p:attrNameLst>
                                          <p:attrName>style.visibility</p:attrName>
                                        </p:attrNameLst>
                                      </p:cBhvr>
                                      <p:to>
                                        <p:strVal val="visible"/>
                                      </p:to>
                                    </p:set>
                                    <p:anim calcmode="lin" valueType="num">
                                      <p:cBhvr>
                                        <p:cTn id="46" dur="500" fill="hold"/>
                                        <p:tgtEl>
                                          <p:spTgt spid="16"/>
                                        </p:tgtEl>
                                        <p:attrNameLst>
                                          <p:attrName>ppt_w</p:attrName>
                                        </p:attrNameLst>
                                      </p:cBhvr>
                                      <p:tavLst>
                                        <p:tav tm="0">
                                          <p:val>
                                            <p:fltVal val="0"/>
                                          </p:val>
                                        </p:tav>
                                        <p:tav tm="100000">
                                          <p:val>
                                            <p:strVal val="#ppt_w"/>
                                          </p:val>
                                        </p:tav>
                                      </p:tavLst>
                                    </p:anim>
                                    <p:anim calcmode="lin" valueType="num">
                                      <p:cBhvr>
                                        <p:cTn id="47" dur="500" fill="hold"/>
                                        <p:tgtEl>
                                          <p:spTgt spid="16"/>
                                        </p:tgtEl>
                                        <p:attrNameLst>
                                          <p:attrName>ppt_h</p:attrName>
                                        </p:attrNameLst>
                                      </p:cBhvr>
                                      <p:tavLst>
                                        <p:tav tm="0">
                                          <p:val>
                                            <p:fltVal val="0"/>
                                          </p:val>
                                        </p:tav>
                                        <p:tav tm="100000">
                                          <p:val>
                                            <p:strVal val="#ppt_h"/>
                                          </p:val>
                                        </p:tav>
                                      </p:tavLst>
                                    </p:anim>
                                    <p:animEffect transition="in" filter="fade">
                                      <p:cBhvr>
                                        <p:cTn id="48"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6" presetID="53" presetClass="entr" presetSubtype="16"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fltVal val="0"/>
                                          </p:val>
                                        </p:tav>
                                        <p:tav tm="100000">
                                          <p:val>
                                            <p:strVal val="#ppt_h"/>
                                          </p:val>
                                        </p:tav>
                                      </p:tavLst>
                                    </p:anim>
                                    <p:animEffect transition="in" filter="fade">
                                      <p:cBhvr>
                                        <p:cTn id="55" dur="500"/>
                                        <p:tgtEl>
                                          <p:spTgt spid="17"/>
                                        </p:tgtEl>
                                      </p:cBhvr>
                                    </p:animEffect>
                                  </p:childTnLst>
                                </p:cTn>
                              </p:par>
                              <p:par>
                                <p:cTn id="61" presetID="53" presetClass="entr" presetSubtype="16"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p:cTn id="58" dur="500" fill="hold"/>
                                        <p:tgtEl>
                                          <p:spTgt spid="18"/>
                                        </p:tgtEl>
                                        <p:attrNameLst>
                                          <p:attrName>ppt_w</p:attrName>
                                        </p:attrNameLst>
                                      </p:cBhvr>
                                      <p:tavLst>
                                        <p:tav tm="0">
                                          <p:val>
                                            <p:fltVal val="0"/>
                                          </p:val>
                                        </p:tav>
                                        <p:tav tm="100000">
                                          <p:val>
                                            <p:strVal val="#ppt_w"/>
                                          </p:val>
                                        </p:tav>
                                      </p:tavLst>
                                    </p:anim>
                                    <p:anim calcmode="lin" valueType="num">
                                      <p:cBhvr>
                                        <p:cTn id="59" dur="500" fill="hold"/>
                                        <p:tgtEl>
                                          <p:spTgt spid="18"/>
                                        </p:tgtEl>
                                        <p:attrNameLst>
                                          <p:attrName>ppt_h</p:attrName>
                                        </p:attrNameLst>
                                      </p:cBhvr>
                                      <p:tavLst>
                                        <p:tav tm="0">
                                          <p:val>
                                            <p:fltVal val="0"/>
                                          </p:val>
                                        </p:tav>
                                        <p:tav tm="100000">
                                          <p:val>
                                            <p:strVal val="#ppt_h"/>
                                          </p:val>
                                        </p:tav>
                                      </p:tavLst>
                                    </p:anim>
                                    <p:animEffect transition="in" filter="fade">
                                      <p:cBhvr>
                                        <p:cTn id="6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9_title" descr="نشاط: المحلِّلات">    </p:cNvPr>
          <p:cNvPicPr>
            <a:picLocks noChangeAspect="1"/>
          </p:cNvPicPr>
          <p:nvPr/>
        </p:nvPicPr>
        <p:blipFill>
          <a:blip r:embed="rId2"/>
          <a:stretch>
            <a:fillRect/>
          </a:stretch>
        </p:blipFill>
        <p:spPr>
          <a:xfrm>
            <a:off x="8279378" y="109728"/>
            <a:ext cx="3562102" cy="868680"/>
          </a:xfrm>
          <a:prstGeom prst="rect">
            <a:avLst/>
          </a:prstGeom>
        </p:spPr>
      </p:pic>
      <p:sp>
        <p:nvSpPr>
          <p:cNvPr id="3" name="s19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الاستقصاء – توقّعي، لاحظي، فسّري</a:t>
            </a:r>
            <a:endParaRPr lang="ar-SA" sz="1700" dirty="0"/>
          </a:p>
        </p:txBody>
      </p:sp>
      <p:pic>
        <p:nvPicPr>
          <p:cNvPr id="4" name="s19_pic_1" descr="/tmp/claude-0/-home-user-Scienceshamah/8386cda7-7741-5ea4-8952-60ee8e67fc31/scratchpad/w3/img/card_450x465_FFFFFF_s_i.png">    </p:cNvPr>
          <p:cNvPicPr>
            <a:picLocks noChangeAspect="1"/>
          </p:cNvPicPr>
          <p:nvPr/>
        </p:nvPicPr>
        <p:blipFill>
          <a:blip r:embed="rId3"/>
          <a:stretch>
            <a:fillRect/>
          </a:stretch>
        </p:blipFill>
        <p:spPr>
          <a:xfrm>
            <a:off x="457200" y="1051560"/>
            <a:ext cx="2743200" cy="2834640"/>
          </a:xfrm>
          <a:prstGeom prst="rect">
            <a:avLst/>
          </a:prstGeom>
        </p:spPr>
      </p:pic>
      <p:pic>
        <p:nvPicPr>
          <p:cNvPr id="5" name="s19_pic_2" descr="خبز داخل كيس بلاستيكي (من الكتاب)">    </p:cNvPr>
          <p:cNvPicPr>
            <a:picLocks noChangeAspect="1"/>
          </p:cNvPicPr>
          <p:nvPr/>
        </p:nvPicPr>
        <p:blipFill>
          <a:blip r:embed="rId4"/>
          <a:stretch>
            <a:fillRect/>
          </a:stretch>
        </p:blipFill>
        <p:spPr>
          <a:xfrm>
            <a:off x="685800" y="1143000"/>
            <a:ext cx="2201461" cy="2651760"/>
          </a:xfrm>
          <a:prstGeom prst="rect">
            <a:avLst/>
          </a:prstGeom>
        </p:spPr>
      </p:pic>
      <p:pic>
        <p:nvPicPr>
          <p:cNvPr id="6" name="s19_pic_3" descr="/tmp/claude-0/-home-user-Scienceshamah/8386cda7-7741-5ea4-8952-60ee8e67fc31/scratchpad/w3/img/card_1365x108_8FD8FF_s_i.png">    </p:cNvPr>
          <p:cNvPicPr>
            <a:picLocks noChangeAspect="1"/>
          </p:cNvPicPr>
          <p:nvPr/>
        </p:nvPicPr>
        <p:blipFill>
          <a:blip r:embed="rId5"/>
          <a:stretch>
            <a:fillRect/>
          </a:stretch>
        </p:blipFill>
        <p:spPr>
          <a:xfrm>
            <a:off x="3429000" y="1051560"/>
            <a:ext cx="8321040" cy="658368"/>
          </a:xfrm>
          <a:prstGeom prst="rect">
            <a:avLst/>
          </a:prstGeom>
        </p:spPr>
      </p:pic>
      <p:sp>
        <p:nvSpPr>
          <p:cNvPr id="7" name="s19_t_4"/>
          <p:cNvSpPr txBox="1"/>
          <p:nvPr/>
        </p:nvSpPr>
        <p:spPr>
          <a:xfrm>
            <a:off x="3566160" y="1069848"/>
            <a:ext cx="8046720" cy="62179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E7FB8"/>
                </a:solidFill>
                <a:latin typeface="Tahoma" pitchFamily="34" charset="0"/>
                <a:ea typeface="Tahoma" pitchFamily="34" charset="-122"/>
                <a:cs typeface="Tahoma" pitchFamily="34" charset="-120"/>
              </a:rPr>
              <a:t>١  </a:t>
            </a:r>
            <a:r>
              <a:rPr lang="ar-SA" altLang="en-US" sz="1600" b="1" dirty="0">
                <a:solidFill>
                  <a:srgbClr val="34405E"/>
                </a:solidFill>
                <a:latin typeface="Tahoma" pitchFamily="34" charset="0"/>
                <a:ea typeface="Tahoma" pitchFamily="34" charset="-122"/>
                <a:cs typeface="Tahoma" pitchFamily="34" charset="-120"/>
              </a:rPr>
              <a:t>أبلّلُ أربعة أنواع من الأطعمة بالماء، وأضعُ كلًّا منها في كيس بلاستيكي.</a:t>
            </a:r>
            <a:endParaRPr lang="ar-SA" sz="1600" dirty="0"/>
          </a:p>
        </p:txBody>
      </p:sp>
      <p:pic>
        <p:nvPicPr>
          <p:cNvPr id="8" name="s19_pic_5" descr="/tmp/claude-0/-home-user-Scienceshamah/8386cda7-7741-5ea4-8952-60ee8e67fc31/scratchpad/w3/img/card_1365x108_FFE066_s_i.png">    </p:cNvPr>
          <p:cNvPicPr>
            <a:picLocks noChangeAspect="1"/>
          </p:cNvPicPr>
          <p:nvPr/>
        </p:nvPicPr>
        <p:blipFill>
          <a:blip r:embed="rId6"/>
          <a:stretch>
            <a:fillRect/>
          </a:stretch>
        </p:blipFill>
        <p:spPr>
          <a:xfrm>
            <a:off x="3429000" y="1801368"/>
            <a:ext cx="8321040" cy="658368"/>
          </a:xfrm>
          <a:prstGeom prst="rect">
            <a:avLst/>
          </a:prstGeom>
        </p:spPr>
      </p:pic>
      <p:sp>
        <p:nvSpPr>
          <p:cNvPr id="9" name="s19_t_6"/>
          <p:cNvSpPr txBox="1"/>
          <p:nvPr/>
        </p:nvSpPr>
        <p:spPr>
          <a:xfrm>
            <a:off x="3566160" y="1819656"/>
            <a:ext cx="8046720" cy="62179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E7FB8"/>
                </a:solidFill>
                <a:latin typeface="Tahoma" pitchFamily="34" charset="0"/>
                <a:ea typeface="Tahoma" pitchFamily="34" charset="-122"/>
                <a:cs typeface="Tahoma" pitchFamily="34" charset="-120"/>
              </a:rPr>
              <a:t>٢  </a:t>
            </a:r>
            <a:r>
              <a:rPr lang="ar-SA" altLang="en-US" sz="1600" b="1" dirty="0">
                <a:solidFill>
                  <a:srgbClr val="34405E"/>
                </a:solidFill>
                <a:latin typeface="Tahoma" pitchFamily="34" charset="0"/>
                <a:ea typeface="Tahoma" pitchFamily="34" charset="-122"/>
                <a:cs typeface="Tahoma" pitchFamily="34" charset="-120"/>
              </a:rPr>
              <a:t>أغلقُ الأكياس وأضعُها في مكان دافئ ومظلم.</a:t>
            </a:r>
            <a:endParaRPr lang="ar-SA" sz="1600" dirty="0"/>
          </a:p>
        </p:txBody>
      </p:sp>
      <p:pic>
        <p:nvPicPr>
          <p:cNvPr id="10" name="s19_pic_7" descr="/tmp/claude-0/-home-user-Scienceshamah/8386cda7-7741-5ea4-8952-60ee8e67fc31/scratchpad/w3/img/card_1365x108_FFE5E5_s_i.png">    </p:cNvPr>
          <p:cNvPicPr>
            <a:picLocks noChangeAspect="1"/>
          </p:cNvPicPr>
          <p:nvPr/>
        </p:nvPicPr>
        <p:blipFill>
          <a:blip r:embed="rId7"/>
          <a:stretch>
            <a:fillRect/>
          </a:stretch>
        </p:blipFill>
        <p:spPr>
          <a:xfrm>
            <a:off x="3429000" y="2551176"/>
            <a:ext cx="8321040" cy="658368"/>
          </a:xfrm>
          <a:prstGeom prst="rect">
            <a:avLst/>
          </a:prstGeom>
        </p:spPr>
      </p:pic>
      <p:sp>
        <p:nvSpPr>
          <p:cNvPr id="11" name="s19_t_8"/>
          <p:cNvSpPr txBox="1"/>
          <p:nvPr/>
        </p:nvSpPr>
        <p:spPr>
          <a:xfrm>
            <a:off x="3566160" y="2569464"/>
            <a:ext cx="8046720" cy="62179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D23B3B"/>
                </a:solidFill>
                <a:latin typeface="Tahoma" pitchFamily="34" charset="0"/>
                <a:ea typeface="Tahoma" pitchFamily="34" charset="-122"/>
                <a:cs typeface="Tahoma" pitchFamily="34" charset="-120"/>
              </a:rPr>
              <a:t>⚠  </a:t>
            </a:r>
            <a:r>
              <a:rPr lang="ar-SA" altLang="en-US" sz="1600" b="1" dirty="0">
                <a:solidFill>
                  <a:srgbClr val="D23B3B"/>
                </a:solidFill>
                <a:latin typeface="Tahoma" pitchFamily="34" charset="0"/>
                <a:ea typeface="Tahoma" pitchFamily="34" charset="-122"/>
                <a:cs typeface="Tahoma" pitchFamily="34" charset="-120"/>
              </a:rPr>
              <a:t>أحذر. لا أفتحُ الأكياس بعد إغلاقها.</a:t>
            </a:r>
            <a:endParaRPr lang="ar-SA" sz="1600" dirty="0"/>
          </a:p>
        </p:txBody>
      </p:sp>
      <p:pic>
        <p:nvPicPr>
          <p:cNvPr id="12" name="s19_pic_9" descr="/tmp/claude-0/-home-user-Scienceshamah/8386cda7-7741-5ea4-8952-60ee8e67fc31/scratchpad/w3/img/card_1365x108_B8F28A_s_i.png">    </p:cNvPr>
          <p:cNvPicPr>
            <a:picLocks noChangeAspect="1"/>
          </p:cNvPicPr>
          <p:nvPr/>
        </p:nvPicPr>
        <p:blipFill>
          <a:blip r:embed="rId8"/>
          <a:stretch>
            <a:fillRect/>
          </a:stretch>
        </p:blipFill>
        <p:spPr>
          <a:xfrm>
            <a:off x="3429000" y="3300984"/>
            <a:ext cx="8321040" cy="658368"/>
          </a:xfrm>
          <a:prstGeom prst="rect">
            <a:avLst/>
          </a:prstGeom>
        </p:spPr>
      </p:pic>
      <p:sp>
        <p:nvSpPr>
          <p:cNvPr id="13" name="s19_t_10"/>
          <p:cNvSpPr txBox="1"/>
          <p:nvPr/>
        </p:nvSpPr>
        <p:spPr>
          <a:xfrm>
            <a:off x="3566160" y="3319272"/>
            <a:ext cx="8046720" cy="62179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E7FB8"/>
                </a:solidFill>
                <a:latin typeface="Tahoma" pitchFamily="34" charset="0"/>
                <a:ea typeface="Tahoma" pitchFamily="34" charset="-122"/>
                <a:cs typeface="Tahoma" pitchFamily="34" charset="-120"/>
              </a:rPr>
              <a:t>٣  </a:t>
            </a:r>
            <a:r>
              <a:rPr lang="ar-SA" altLang="en-US" sz="1600" b="1" dirty="0">
                <a:solidFill>
                  <a:srgbClr val="34405E"/>
                </a:solidFill>
                <a:latin typeface="Tahoma" pitchFamily="34" charset="0"/>
                <a:ea typeface="Tahoma" pitchFamily="34" charset="-122"/>
                <a:cs typeface="Tahoma" pitchFamily="34" charset="-120"/>
              </a:rPr>
              <a:t>ألاحظ الأكياس كلَّ يوم، وأسجّلُ ملاحظاتي في جدول.</a:t>
            </a:r>
            <a:endParaRPr lang="ar-SA" sz="1600" dirty="0"/>
          </a:p>
        </p:txBody>
      </p:sp>
      <p:pic>
        <p:nvPicPr>
          <p:cNvPr id="14" name="s19_pic_11" descr="/tmp/claude-0/-home-user-Scienceshamah/8386cda7-7741-5ea4-8952-60ee8e67fc31/scratchpad/w3/img/card_1365x108_FFB3D1_s_i.png">    </p:cNvPr>
          <p:cNvPicPr>
            <a:picLocks noChangeAspect="1"/>
          </p:cNvPicPr>
          <p:nvPr/>
        </p:nvPicPr>
        <p:blipFill>
          <a:blip r:embed="rId9"/>
          <a:stretch>
            <a:fillRect/>
          </a:stretch>
        </p:blipFill>
        <p:spPr>
          <a:xfrm>
            <a:off x="3429000" y="4050792"/>
            <a:ext cx="8321040" cy="658368"/>
          </a:xfrm>
          <a:prstGeom prst="rect">
            <a:avLst/>
          </a:prstGeom>
        </p:spPr>
      </p:pic>
      <p:sp>
        <p:nvSpPr>
          <p:cNvPr id="15" name="s19_t_12"/>
          <p:cNvSpPr txBox="1"/>
          <p:nvPr/>
        </p:nvSpPr>
        <p:spPr>
          <a:xfrm>
            <a:off x="3566160" y="4069080"/>
            <a:ext cx="8046720" cy="621792"/>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E7FB8"/>
                </a:solidFill>
                <a:latin typeface="Tahoma" pitchFamily="34" charset="0"/>
                <a:ea typeface="Tahoma" pitchFamily="34" charset="-122"/>
                <a:cs typeface="Tahoma" pitchFamily="34" charset="-120"/>
              </a:rPr>
              <a:t>٤  </a:t>
            </a:r>
            <a:r>
              <a:rPr lang="ar-SA" altLang="en-US" sz="1600" b="1" dirty="0">
                <a:solidFill>
                  <a:srgbClr val="34405E"/>
                </a:solidFill>
                <a:latin typeface="Tahoma" pitchFamily="34" charset="0"/>
                <a:ea typeface="Tahoma" pitchFamily="34" charset="-122"/>
                <a:cs typeface="Tahoma" pitchFamily="34" charset="-120"/>
              </a:rPr>
              <a:t>أتواصل. كيف تغيّرت الأطعمة؟ وماذا حدث؟</a:t>
            </a:r>
            <a:endParaRPr lang="ar-SA" sz="1600" dirty="0"/>
          </a:p>
        </p:txBody>
      </p:sp>
      <p:pic>
        <p:nvPicPr>
          <p:cNvPr id="16" name="s19_pic_13" descr="/tmp/claude-0/-home-user-Scienceshamah/8386cda7-7741-5ea4-8952-60ee8e67fc31/scratchpad/w3/img/card_593x210_C9A8FF_s_i.png">    </p:cNvPr>
          <p:cNvPicPr>
            <a:picLocks noChangeAspect="1"/>
          </p:cNvPicPr>
          <p:nvPr/>
        </p:nvPicPr>
        <p:blipFill>
          <a:blip r:embed="rId10"/>
          <a:stretch>
            <a:fillRect/>
          </a:stretch>
        </p:blipFill>
        <p:spPr>
          <a:xfrm>
            <a:off x="8001000" y="4892040"/>
            <a:ext cx="3611880" cy="1280160"/>
          </a:xfrm>
          <a:prstGeom prst="rect">
            <a:avLst/>
          </a:prstGeom>
        </p:spPr>
      </p:pic>
      <p:sp>
        <p:nvSpPr>
          <p:cNvPr id="17" name="s19_t_14"/>
          <p:cNvSpPr txBox="1"/>
          <p:nvPr/>
        </p:nvSpPr>
        <p:spPr>
          <a:xfrm>
            <a:off x="8110728" y="4937760"/>
            <a:ext cx="3383280" cy="118872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C2366F"/>
                </a:solidFill>
                <a:latin typeface="Tahoma" pitchFamily="34" charset="0"/>
                <a:ea typeface="Tahoma" pitchFamily="34" charset="-122"/>
                <a:cs typeface="Tahoma" pitchFamily="34" charset="-120"/>
              </a:rPr>
              <a:t>توقّعي: </a:t>
            </a:r>
            <a:r>
              <a:rPr lang="ar-SA" altLang="en-US" sz="1600" b="1" dirty="0">
                <a:solidFill>
                  <a:srgbClr val="34405E"/>
                </a:solidFill>
                <a:latin typeface="Tahoma" pitchFamily="34" charset="0"/>
                <a:ea typeface="Tahoma" pitchFamily="34" charset="-122"/>
                <a:cs typeface="Tahoma" pitchFamily="34" charset="-120"/>
              </a:rPr>
              <a:t>ماذا سيحدث للأطعمة بعد عدة أيام؟</a:t>
            </a:r>
            <a:endParaRPr lang="ar-SA" sz="1600" dirty="0"/>
          </a:p>
        </p:txBody>
      </p:sp>
      <p:pic>
        <p:nvPicPr>
          <p:cNvPr id="18" name="s19_pic_15" descr="/tmp/claude-0/-home-user-Scienceshamah/8386cda7-7741-5ea4-8952-60ee8e67fc31/scratchpad/w3/img/card_593x210_FFE066_s_i.png">    </p:cNvPr>
          <p:cNvPicPr>
            <a:picLocks noChangeAspect="1"/>
          </p:cNvPicPr>
          <p:nvPr/>
        </p:nvPicPr>
        <p:blipFill>
          <a:blip r:embed="rId11"/>
          <a:stretch>
            <a:fillRect/>
          </a:stretch>
        </p:blipFill>
        <p:spPr>
          <a:xfrm>
            <a:off x="4233672" y="4892040"/>
            <a:ext cx="3611880" cy="1280160"/>
          </a:xfrm>
          <a:prstGeom prst="rect">
            <a:avLst/>
          </a:prstGeom>
        </p:spPr>
      </p:pic>
      <p:sp>
        <p:nvSpPr>
          <p:cNvPr id="19" name="s19_t_16"/>
          <p:cNvSpPr txBox="1"/>
          <p:nvPr/>
        </p:nvSpPr>
        <p:spPr>
          <a:xfrm>
            <a:off x="4343400" y="4937760"/>
            <a:ext cx="3383280" cy="118872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C2366F"/>
                </a:solidFill>
                <a:latin typeface="Tahoma" pitchFamily="34" charset="0"/>
                <a:ea typeface="Tahoma" pitchFamily="34" charset="-122"/>
                <a:cs typeface="Tahoma" pitchFamily="34" charset="-120"/>
              </a:rPr>
              <a:t>لاحظي: </a:t>
            </a:r>
            <a:r>
              <a:rPr lang="ar-SA" altLang="en-US" sz="1600" b="1" dirty="0">
                <a:solidFill>
                  <a:srgbClr val="34405E"/>
                </a:solidFill>
                <a:latin typeface="Tahoma" pitchFamily="34" charset="0"/>
                <a:ea typeface="Tahoma" pitchFamily="34" charset="-122"/>
                <a:cs typeface="Tahoma" pitchFamily="34" charset="-120"/>
              </a:rPr>
              <a:t>تغيّر لونها وشكلها، وظهر عليها عفن.</a:t>
            </a:r>
            <a:endParaRPr lang="ar-SA" sz="1600" dirty="0"/>
          </a:p>
        </p:txBody>
      </p:sp>
      <p:pic>
        <p:nvPicPr>
          <p:cNvPr id="20" name="s19_pic_17" descr="/tmp/claude-0/-home-user-Scienceshamah/8386cda7-7741-5ea4-8952-60ee8e67fc31/scratchpad/w3/img/card_593x210_B8F28A_s_i.png">    </p:cNvPr>
          <p:cNvPicPr>
            <a:picLocks noChangeAspect="1"/>
          </p:cNvPicPr>
          <p:nvPr/>
        </p:nvPicPr>
        <p:blipFill>
          <a:blip r:embed="rId12"/>
          <a:stretch>
            <a:fillRect/>
          </a:stretch>
        </p:blipFill>
        <p:spPr>
          <a:xfrm>
            <a:off x="466344" y="4892040"/>
            <a:ext cx="3611880" cy="1280160"/>
          </a:xfrm>
          <a:prstGeom prst="rect">
            <a:avLst/>
          </a:prstGeom>
        </p:spPr>
      </p:pic>
      <p:sp>
        <p:nvSpPr>
          <p:cNvPr id="21" name="s19_t_18"/>
          <p:cNvSpPr txBox="1"/>
          <p:nvPr/>
        </p:nvSpPr>
        <p:spPr>
          <a:xfrm>
            <a:off x="576072" y="4937760"/>
            <a:ext cx="3383280" cy="118872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C2366F"/>
                </a:solidFill>
                <a:latin typeface="Tahoma" pitchFamily="34" charset="0"/>
                <a:ea typeface="Tahoma" pitchFamily="34" charset="-122"/>
                <a:cs typeface="Tahoma" pitchFamily="34" charset="-120"/>
              </a:rPr>
              <a:t>فسّري: </a:t>
            </a:r>
            <a:r>
              <a:rPr lang="ar-SA" altLang="en-US" sz="1600" b="1" dirty="0">
                <a:solidFill>
                  <a:srgbClr val="34405E"/>
                </a:solidFill>
                <a:latin typeface="Tahoma" pitchFamily="34" charset="0"/>
                <a:ea typeface="Tahoma" pitchFamily="34" charset="-122"/>
                <a:cs typeface="Tahoma" pitchFamily="34" charset="-120"/>
              </a:rPr>
              <a:t>نمت عليها الفطريات وبدأت تحللها؛ فالفطريات من المحلِّلات.</a:t>
            </a:r>
            <a:endParaRPr lang="ar-SA" sz="1600" dirty="0"/>
          </a:p>
        </p:txBody>
      </p:sp>
      <p:sp>
        <p:nvSpPr>
          <p:cNvPr id="22" name="s19_t_19"/>
          <p:cNvSpPr txBox="1"/>
          <p:nvPr/>
        </p:nvSpPr>
        <p:spPr>
          <a:xfrm>
            <a:off x="457200" y="3977640"/>
            <a:ext cx="2743200" cy="731520"/>
          </a:xfrm>
          <a:prstGeom prst="rect">
            <a:avLst/>
          </a:prstGeom>
          <a:noFill/>
          <a:ln/>
        </p:spPr>
        <p:txBody>
          <a:bodyPr wrap="square" lIns="762" tIns="762" rIns="762" bIns="762" rtlCol="0" anchor="ctr"/>
          <a:lstStyle/>
          <a:p>
            <a:pPr rtl="1" algn="ctr" indent="0" marL="0">
              <a:lnSpc>
                <a:spcPct val="108000"/>
              </a:lnSpc>
              <a:buNone/>
            </a:pPr>
            <a:r>
              <a:rPr lang="ar-SA" altLang="en-US" sz="1400" dirty="0">
                <a:solidFill>
                  <a:srgbClr val="7A6A99"/>
                </a:solidFill>
                <a:latin typeface="Tahoma" pitchFamily="34" charset="0"/>
                <a:ea typeface="Tahoma" pitchFamily="34" charset="-122"/>
                <a:cs typeface="Tahoma" pitchFamily="34" charset="-120"/>
              </a:rPr>
              <a:t>الملاحظة والتفسير إجابات متوقعة</a:t>
            </a:r>
            <a:endParaRPr lang="ar-SA" sz="1400" dirty="0"/>
          </a:p>
        </p:txBody>
      </p:sp>
    </p:spTree>
  </p:cSld>
  <p:clrMapOvr>
    <a:masterClrMapping/>
  </p:clrMapOvr>
  <mc:AlternateContent xmlns:mc="http://schemas.openxmlformats.org/markup-compatibility/2006">
    <mc:Choice xmlns:p14="http://schemas.microsoft.com/office/powerpoint/2010/main" Requires="p14">
      <p:transition spd="slow" p14:dur="1400">
        <p14:glitter dir="l" pattern="hexago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3"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6"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31"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9"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42"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9" presetID="53" presetClass="entr" presetSubtype="16"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p:cTn id="46" dur="500" fill="hold"/>
                                        <p:tgtEl>
                                          <p:spTgt spid="16"/>
                                        </p:tgtEl>
                                        <p:attrNameLst>
                                          <p:attrName>ppt_w</p:attrName>
                                        </p:attrNameLst>
                                      </p:cBhvr>
                                      <p:tavLst>
                                        <p:tav tm="0">
                                          <p:val>
                                            <p:fltVal val="0"/>
                                          </p:val>
                                        </p:tav>
                                        <p:tav tm="100000">
                                          <p:val>
                                            <p:strVal val="#ppt_w"/>
                                          </p:val>
                                        </p:tav>
                                      </p:tavLst>
                                    </p:anim>
                                    <p:anim calcmode="lin" valueType="num">
                                      <p:cBhvr>
                                        <p:cTn id="47" dur="500" fill="hold"/>
                                        <p:tgtEl>
                                          <p:spTgt spid="16"/>
                                        </p:tgtEl>
                                        <p:attrNameLst>
                                          <p:attrName>ppt_h</p:attrName>
                                        </p:attrNameLst>
                                      </p:cBhvr>
                                      <p:tavLst>
                                        <p:tav tm="0">
                                          <p:val>
                                            <p:fltVal val="0"/>
                                          </p:val>
                                        </p:tav>
                                        <p:tav tm="100000">
                                          <p:val>
                                            <p:strVal val="#ppt_h"/>
                                          </p:val>
                                        </p:tav>
                                      </p:tavLst>
                                    </p:anim>
                                    <p:animEffect transition="in" filter="fade">
                                      <p:cBhvr>
                                        <p:cTn id="48" dur="500"/>
                                        <p:tgtEl>
                                          <p:spTgt spid="16"/>
                                        </p:tgtEl>
                                      </p:cBhvr>
                                    </p:animEffect>
                                  </p:childTnLst>
                                </p:cTn>
                              </p:par>
                              <p:par>
                                <p:cTn id="54" presetID="53" presetClass="entr" presetSubtype="16"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p:cTn id="51" dur="500" fill="hold"/>
                                        <p:tgtEl>
                                          <p:spTgt spid="17"/>
                                        </p:tgtEl>
                                        <p:attrNameLst>
                                          <p:attrName>ppt_w</p:attrName>
                                        </p:attrNameLst>
                                      </p:cBhvr>
                                      <p:tavLst>
                                        <p:tav tm="0">
                                          <p:val>
                                            <p:fltVal val="0"/>
                                          </p:val>
                                        </p:tav>
                                        <p:tav tm="100000">
                                          <p:val>
                                            <p:strVal val="#ppt_w"/>
                                          </p:val>
                                        </p:tav>
                                      </p:tavLst>
                                    </p:anim>
                                    <p:anim calcmode="lin" valueType="num">
                                      <p:cBhvr>
                                        <p:cTn id="52" dur="500" fill="hold"/>
                                        <p:tgtEl>
                                          <p:spTgt spid="17"/>
                                        </p:tgtEl>
                                        <p:attrNameLst>
                                          <p:attrName>ppt_h</p:attrName>
                                        </p:attrNameLst>
                                      </p:cBhvr>
                                      <p:tavLst>
                                        <p:tav tm="0">
                                          <p:val>
                                            <p:fltVal val="0"/>
                                          </p:val>
                                        </p:tav>
                                        <p:tav tm="100000">
                                          <p:val>
                                            <p:strVal val="#ppt_h"/>
                                          </p:val>
                                        </p:tav>
                                      </p:tavLst>
                                    </p:anim>
                                    <p:animEffect transition="in" filter="fade">
                                      <p:cBhvr>
                                        <p:cTn id="53" dur="500"/>
                                        <p:tgtEl>
                                          <p:spTgt spid="17"/>
                                        </p:tgtEl>
                                      </p:cBhvr>
                                    </p:animEffect>
                                  </p:childTnLst>
                                </p:cTn>
                              </p:par>
                            </p:childTnLst>
                          </p:cTn>
                        </p:par>
                      </p:childTnLst>
                    </p:cTn>
                  </p:par>
                  <p:par>
                    <p:cTn id="55" fill="hold">
                      <p:stCondLst>
                        <p:cond delay="indefinite"/>
                      </p:stCondLst>
                      <p:childTnLst>
                        <p:par>
                          <p:cTn id="56" fill="hold">
                            <p:stCondLst>
                              <p:cond delay="0"/>
                            </p:stCondLst>
                            <p:childTnLst>
                              <p:par>
                                <p:cTn id="61" presetID="53" presetClass="entr" presetSubtype="16"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p:cTn id="58" dur="500" fill="hold"/>
                                        <p:tgtEl>
                                          <p:spTgt spid="18"/>
                                        </p:tgtEl>
                                        <p:attrNameLst>
                                          <p:attrName>ppt_w</p:attrName>
                                        </p:attrNameLst>
                                      </p:cBhvr>
                                      <p:tavLst>
                                        <p:tav tm="0">
                                          <p:val>
                                            <p:fltVal val="0"/>
                                          </p:val>
                                        </p:tav>
                                        <p:tav tm="100000">
                                          <p:val>
                                            <p:strVal val="#ppt_w"/>
                                          </p:val>
                                        </p:tav>
                                      </p:tavLst>
                                    </p:anim>
                                    <p:anim calcmode="lin" valueType="num">
                                      <p:cBhvr>
                                        <p:cTn id="59" dur="500" fill="hold"/>
                                        <p:tgtEl>
                                          <p:spTgt spid="18"/>
                                        </p:tgtEl>
                                        <p:attrNameLst>
                                          <p:attrName>ppt_h</p:attrName>
                                        </p:attrNameLst>
                                      </p:cBhvr>
                                      <p:tavLst>
                                        <p:tav tm="0">
                                          <p:val>
                                            <p:fltVal val="0"/>
                                          </p:val>
                                        </p:tav>
                                        <p:tav tm="100000">
                                          <p:val>
                                            <p:strVal val="#ppt_h"/>
                                          </p:val>
                                        </p:tav>
                                      </p:tavLst>
                                    </p:anim>
                                    <p:animEffect transition="in" filter="fade">
                                      <p:cBhvr>
                                        <p:cTn id="60" dur="500"/>
                                        <p:tgtEl>
                                          <p:spTgt spid="18"/>
                                        </p:tgtEl>
                                      </p:cBhvr>
                                    </p:animEffect>
                                  </p:childTnLst>
                                </p:cTn>
                              </p:par>
                              <p:par>
                                <p:cTn id="66" presetID="53" presetClass="entr" presetSubtype="16"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p:cTn id="63" dur="500" fill="hold"/>
                                        <p:tgtEl>
                                          <p:spTgt spid="19"/>
                                        </p:tgtEl>
                                        <p:attrNameLst>
                                          <p:attrName>ppt_w</p:attrName>
                                        </p:attrNameLst>
                                      </p:cBhvr>
                                      <p:tavLst>
                                        <p:tav tm="0">
                                          <p:val>
                                            <p:fltVal val="0"/>
                                          </p:val>
                                        </p:tav>
                                        <p:tav tm="100000">
                                          <p:val>
                                            <p:strVal val="#ppt_w"/>
                                          </p:val>
                                        </p:tav>
                                      </p:tavLst>
                                    </p:anim>
                                    <p:anim calcmode="lin" valueType="num">
                                      <p:cBhvr>
                                        <p:cTn id="64" dur="500" fill="hold"/>
                                        <p:tgtEl>
                                          <p:spTgt spid="19"/>
                                        </p:tgtEl>
                                        <p:attrNameLst>
                                          <p:attrName>ppt_h</p:attrName>
                                        </p:attrNameLst>
                                      </p:cBhvr>
                                      <p:tavLst>
                                        <p:tav tm="0">
                                          <p:val>
                                            <p:fltVal val="0"/>
                                          </p:val>
                                        </p:tav>
                                        <p:tav tm="100000">
                                          <p:val>
                                            <p:strVal val="#ppt_h"/>
                                          </p:val>
                                        </p:tav>
                                      </p:tavLst>
                                    </p:anim>
                                    <p:animEffect transition="in" filter="fade">
                                      <p:cBhvr>
                                        <p:cTn id="65"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73" presetID="53" presetClass="entr" presetSubtype="16" fill="hold" grpId="0" nodeType="clickEffect">
                                  <p:stCondLst>
                                    <p:cond delay="0"/>
                                  </p:stCondLst>
                                  <p:childTnLst>
                                    <p:set>
                                      <p:cBhvr>
                                        <p:cTn id="69" dur="1" fill="hold">
                                          <p:stCondLst>
                                            <p:cond delay="0"/>
                                          </p:stCondLst>
                                        </p:cTn>
                                        <p:tgtEl>
                                          <p:spTgt spid="20"/>
                                        </p:tgtEl>
                                        <p:attrNameLst>
                                          <p:attrName>style.visibility</p:attrName>
                                        </p:attrNameLst>
                                      </p:cBhvr>
                                      <p:to>
                                        <p:strVal val="visible"/>
                                      </p:to>
                                    </p:set>
                                    <p:anim calcmode="lin" valueType="num">
                                      <p:cBhvr>
                                        <p:cTn id="70" dur="500" fill="hold"/>
                                        <p:tgtEl>
                                          <p:spTgt spid="20"/>
                                        </p:tgtEl>
                                        <p:attrNameLst>
                                          <p:attrName>ppt_w</p:attrName>
                                        </p:attrNameLst>
                                      </p:cBhvr>
                                      <p:tavLst>
                                        <p:tav tm="0">
                                          <p:val>
                                            <p:fltVal val="0"/>
                                          </p:val>
                                        </p:tav>
                                        <p:tav tm="100000">
                                          <p:val>
                                            <p:strVal val="#ppt_w"/>
                                          </p:val>
                                        </p:tav>
                                      </p:tavLst>
                                    </p:anim>
                                    <p:anim calcmode="lin" valueType="num">
                                      <p:cBhvr>
                                        <p:cTn id="71" dur="500" fill="hold"/>
                                        <p:tgtEl>
                                          <p:spTgt spid="20"/>
                                        </p:tgtEl>
                                        <p:attrNameLst>
                                          <p:attrName>ppt_h</p:attrName>
                                        </p:attrNameLst>
                                      </p:cBhvr>
                                      <p:tavLst>
                                        <p:tav tm="0">
                                          <p:val>
                                            <p:fltVal val="0"/>
                                          </p:val>
                                        </p:tav>
                                        <p:tav tm="100000">
                                          <p:val>
                                            <p:strVal val="#ppt_h"/>
                                          </p:val>
                                        </p:tav>
                                      </p:tavLst>
                                    </p:anim>
                                    <p:animEffect transition="in" filter="fade">
                                      <p:cBhvr>
                                        <p:cTn id="72" dur="500"/>
                                        <p:tgtEl>
                                          <p:spTgt spid="20"/>
                                        </p:tgtEl>
                                      </p:cBhvr>
                                    </p:animEffect>
                                  </p:childTnLst>
                                </p:cTn>
                              </p:par>
                              <p:par>
                                <p:cTn id="78" presetID="53" presetClass="entr" presetSubtype="16"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p:cTn id="75" dur="500" fill="hold"/>
                                        <p:tgtEl>
                                          <p:spTgt spid="21"/>
                                        </p:tgtEl>
                                        <p:attrNameLst>
                                          <p:attrName>ppt_w</p:attrName>
                                        </p:attrNameLst>
                                      </p:cBhvr>
                                      <p:tavLst>
                                        <p:tav tm="0">
                                          <p:val>
                                            <p:fltVal val="0"/>
                                          </p:val>
                                        </p:tav>
                                        <p:tav tm="100000">
                                          <p:val>
                                            <p:strVal val="#ppt_w"/>
                                          </p:val>
                                        </p:tav>
                                      </p:tavLst>
                                    </p:anim>
                                    <p:anim calcmode="lin" valueType="num">
                                      <p:cBhvr>
                                        <p:cTn id="76" dur="500" fill="hold"/>
                                        <p:tgtEl>
                                          <p:spTgt spid="21"/>
                                        </p:tgtEl>
                                        <p:attrNameLst>
                                          <p:attrName>ppt_h</p:attrName>
                                        </p:attrNameLst>
                                      </p:cBhvr>
                                      <p:tavLst>
                                        <p:tav tm="0">
                                          <p:val>
                                            <p:fltVal val="0"/>
                                          </p:val>
                                        </p:tav>
                                        <p:tav tm="100000">
                                          <p:val>
                                            <p:strVal val="#ppt_h"/>
                                          </p:val>
                                        </p:tav>
                                      </p:tavLst>
                                    </p:anim>
                                    <p:animEffect transition="in" filter="fade">
                                      <p:cBhvr>
                                        <p:cTn id="7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0_title" descr="اكتشفي الخطأ وصحّحي المفهوم">    </p:cNvPr>
          <p:cNvPicPr>
            <a:picLocks noChangeAspect="1"/>
          </p:cNvPicPr>
          <p:nvPr/>
        </p:nvPicPr>
        <p:blipFill>
          <a:blip r:embed="rId2"/>
          <a:stretch>
            <a:fillRect/>
          </a:stretch>
        </p:blipFill>
        <p:spPr>
          <a:xfrm>
            <a:off x="5226148" y="109728"/>
            <a:ext cx="6615332" cy="868680"/>
          </a:xfrm>
          <a:prstGeom prst="rect">
            <a:avLst/>
          </a:prstGeom>
        </p:spPr>
      </p:pic>
      <p:sp>
        <p:nvSpPr>
          <p:cNvPr id="3" name="s20_strategy"/>
          <p:cNvSpPr txBox="1"/>
          <p:nvPr/>
        </p:nvSpPr>
        <p:spPr>
          <a:xfrm>
            <a:off x="411480" y="274320"/>
            <a:ext cx="379476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التناقض المعرفي</a:t>
            </a:r>
            <a:endParaRPr lang="ar-SA" sz="1700" dirty="0"/>
          </a:p>
        </p:txBody>
      </p:sp>
      <p:pic>
        <p:nvPicPr>
          <p:cNvPr id="4" name="s20_pic_1" descr="/tmp/claude-0/-home-user-Scienceshamah/8386cda7-7741-5ea4-8952-60ee8e67fc31/scratchpad/w3/img/card_953x263_FFE5E5_s_i.png">    </p:cNvPr>
          <p:cNvPicPr>
            <a:picLocks noChangeAspect="1"/>
          </p:cNvPicPr>
          <p:nvPr/>
        </p:nvPicPr>
        <p:blipFill>
          <a:blip r:embed="rId3"/>
          <a:stretch>
            <a:fillRect/>
          </a:stretch>
        </p:blipFill>
        <p:spPr>
          <a:xfrm>
            <a:off x="5943600" y="1051560"/>
            <a:ext cx="5806440" cy="1600200"/>
          </a:xfrm>
          <a:prstGeom prst="rect">
            <a:avLst/>
          </a:prstGeom>
        </p:spPr>
      </p:pic>
      <p:sp>
        <p:nvSpPr>
          <p:cNvPr id="5" name="s20_t_2"/>
          <p:cNvSpPr txBox="1"/>
          <p:nvPr/>
        </p:nvSpPr>
        <p:spPr>
          <a:xfrm>
            <a:off x="6080760" y="1097280"/>
            <a:ext cx="5532120" cy="68580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D23B3B"/>
                </a:solidFill>
                <a:latin typeface="Tahoma" pitchFamily="34" charset="0"/>
                <a:ea typeface="Tahoma" pitchFamily="34" charset="-122"/>
                <a:cs typeface="Tahoma" pitchFamily="34" charset="-120"/>
              </a:rPr>
              <a:t>✘ عبارة: </a:t>
            </a:r>
            <a:r>
              <a:rPr lang="ar-SA" altLang="en-US" sz="1700" b="1" dirty="0">
                <a:solidFill>
                  <a:srgbClr val="34405E"/>
                </a:solidFill>
                <a:latin typeface="Tahoma" pitchFamily="34" charset="0"/>
                <a:ea typeface="Tahoma" pitchFamily="34" charset="-122"/>
                <a:cs typeface="Tahoma" pitchFamily="34" charset="-120"/>
              </a:rPr>
              <a:t>تحصل الحيوانات على طاقتها من الشمس مباشرة.</a:t>
            </a:r>
            <a:endParaRPr lang="ar-SA" sz="1700" dirty="0"/>
          </a:p>
        </p:txBody>
      </p:sp>
      <p:sp>
        <p:nvSpPr>
          <p:cNvPr id="6" name="s20_t_3"/>
          <p:cNvSpPr txBox="1"/>
          <p:nvPr/>
        </p:nvSpPr>
        <p:spPr>
          <a:xfrm>
            <a:off x="6080760" y="1828800"/>
            <a:ext cx="5532120" cy="77724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6B4FC0"/>
                </a:solidFill>
                <a:latin typeface="Tahoma" pitchFamily="34" charset="0"/>
                <a:ea typeface="Tahoma" pitchFamily="34" charset="-122"/>
                <a:cs typeface="Tahoma" pitchFamily="34" charset="-120"/>
              </a:rPr>
              <a:t>🤔 فكّري: </a:t>
            </a:r>
            <a:r>
              <a:rPr lang="ar-SA" altLang="en-US" sz="1600" b="1" dirty="0">
                <a:solidFill>
                  <a:srgbClr val="34405E"/>
                </a:solidFill>
                <a:latin typeface="Tahoma" pitchFamily="34" charset="0"/>
                <a:ea typeface="Tahoma" pitchFamily="34" charset="-122"/>
                <a:cs typeface="Tahoma" pitchFamily="34" charset="-120"/>
              </a:rPr>
              <a:t>هل يستطيع الأرنب أن يعيش تحت الشمس دون أن يأكل؟</a:t>
            </a:r>
            <a:endParaRPr lang="ar-SA" sz="1600" dirty="0"/>
          </a:p>
        </p:txBody>
      </p:sp>
      <p:pic>
        <p:nvPicPr>
          <p:cNvPr id="7" name="s20_pic_4" descr="/tmp/claude-0/-home-user-Scienceshamah/8386cda7-7741-5ea4-8952-60ee8e67fc31/scratchpad/w3/img/card_878x263_DFF7D2_s_i.png">    </p:cNvPr>
          <p:cNvPicPr>
            <a:picLocks noChangeAspect="1"/>
          </p:cNvPicPr>
          <p:nvPr/>
        </p:nvPicPr>
        <p:blipFill>
          <a:blip r:embed="rId4"/>
          <a:stretch>
            <a:fillRect/>
          </a:stretch>
        </p:blipFill>
        <p:spPr>
          <a:xfrm>
            <a:off x="457200" y="1051560"/>
            <a:ext cx="5349240" cy="1600200"/>
          </a:xfrm>
          <a:prstGeom prst="rect">
            <a:avLst/>
          </a:prstGeom>
        </p:spPr>
      </p:pic>
      <p:sp>
        <p:nvSpPr>
          <p:cNvPr id="8" name="s20_t_5"/>
          <p:cNvSpPr txBox="1"/>
          <p:nvPr/>
        </p:nvSpPr>
        <p:spPr>
          <a:xfrm>
            <a:off x="594360" y="1097280"/>
            <a:ext cx="5074920" cy="150876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1B5E20"/>
                </a:solidFill>
                <a:latin typeface="Tahoma" pitchFamily="34" charset="0"/>
                <a:ea typeface="Tahoma" pitchFamily="34" charset="-122"/>
                <a:cs typeface="Tahoma" pitchFamily="34" charset="-120"/>
              </a:rPr>
              <a:t>✔ التصحيح: </a:t>
            </a:r>
            <a:r>
              <a:rPr lang="ar-SA" altLang="en-US" sz="1700" b="1" dirty="0">
                <a:solidFill>
                  <a:srgbClr val="34405E"/>
                </a:solidFill>
                <a:latin typeface="Tahoma" pitchFamily="34" charset="0"/>
                <a:ea typeface="Tahoma" pitchFamily="34" charset="-122"/>
                <a:cs typeface="Tahoma" pitchFamily="34" charset="-120"/>
              </a:rPr>
              <a:t>تحصل الحيوانات على الطاقة من الغذاء الذي تأكله؛ فالمنتجات وحدها تستخدم طاقة الشمس لصنع غذائها.</a:t>
            </a:r>
            <a:endParaRPr lang="ar-SA" sz="1700" dirty="0"/>
          </a:p>
        </p:txBody>
      </p:sp>
      <p:pic>
        <p:nvPicPr>
          <p:cNvPr id="9" name="s20_pic_6" descr="/tmp/claude-0/-home-user-Scienceshamah/8386cda7-7741-5ea4-8952-60ee8e67fc31/scratchpad/w3/img/card_953x263_FFE5E5_s_i.png">    </p:cNvPr>
          <p:cNvPicPr>
            <a:picLocks noChangeAspect="1"/>
          </p:cNvPicPr>
          <p:nvPr/>
        </p:nvPicPr>
        <p:blipFill>
          <a:blip r:embed="rId5"/>
          <a:stretch>
            <a:fillRect/>
          </a:stretch>
        </p:blipFill>
        <p:spPr>
          <a:xfrm>
            <a:off x="5943600" y="2770632"/>
            <a:ext cx="5806440" cy="1600200"/>
          </a:xfrm>
          <a:prstGeom prst="rect">
            <a:avLst/>
          </a:prstGeom>
        </p:spPr>
      </p:pic>
      <p:sp>
        <p:nvSpPr>
          <p:cNvPr id="10" name="s20_t_7"/>
          <p:cNvSpPr txBox="1"/>
          <p:nvPr/>
        </p:nvSpPr>
        <p:spPr>
          <a:xfrm>
            <a:off x="6080760" y="2816352"/>
            <a:ext cx="5532120" cy="68580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D23B3B"/>
                </a:solidFill>
                <a:latin typeface="Tahoma" pitchFamily="34" charset="0"/>
                <a:ea typeface="Tahoma" pitchFamily="34" charset="-122"/>
                <a:cs typeface="Tahoma" pitchFamily="34" charset="-120"/>
              </a:rPr>
              <a:t>✘ عبارة: </a:t>
            </a:r>
            <a:r>
              <a:rPr lang="ar-SA" altLang="en-US" sz="1700" b="1" dirty="0">
                <a:solidFill>
                  <a:srgbClr val="34405E"/>
                </a:solidFill>
                <a:latin typeface="Tahoma" pitchFamily="34" charset="0"/>
                <a:ea typeface="Tahoma" pitchFamily="34" charset="-122"/>
                <a:cs typeface="Tahoma" pitchFamily="34" charset="-120"/>
              </a:rPr>
              <a:t>النبات يحصل على غذائه جاهزًا من التربة.</a:t>
            </a:r>
            <a:endParaRPr lang="ar-SA" sz="1700" dirty="0"/>
          </a:p>
        </p:txBody>
      </p:sp>
      <p:sp>
        <p:nvSpPr>
          <p:cNvPr id="11" name="s20_t_8"/>
          <p:cNvSpPr txBox="1"/>
          <p:nvPr/>
        </p:nvSpPr>
        <p:spPr>
          <a:xfrm>
            <a:off x="6080760" y="3547872"/>
            <a:ext cx="5532120" cy="77724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6B4FC0"/>
                </a:solidFill>
                <a:latin typeface="Tahoma" pitchFamily="34" charset="0"/>
                <a:ea typeface="Tahoma" pitchFamily="34" charset="-122"/>
                <a:cs typeface="Tahoma" pitchFamily="34" charset="-120"/>
              </a:rPr>
              <a:t>🤔 فكّري: </a:t>
            </a:r>
            <a:r>
              <a:rPr lang="ar-SA" altLang="en-US" sz="1600" b="1" dirty="0">
                <a:solidFill>
                  <a:srgbClr val="34405E"/>
                </a:solidFill>
                <a:latin typeface="Tahoma" pitchFamily="34" charset="0"/>
                <a:ea typeface="Tahoma" pitchFamily="34" charset="-122"/>
                <a:cs typeface="Tahoma" pitchFamily="34" charset="-120"/>
              </a:rPr>
              <a:t>ماذا قال الكتاب عن المنتجات؟</a:t>
            </a:r>
            <a:endParaRPr lang="ar-SA" sz="1600" dirty="0"/>
          </a:p>
        </p:txBody>
      </p:sp>
      <p:pic>
        <p:nvPicPr>
          <p:cNvPr id="12" name="s20_pic_9" descr="/tmp/claude-0/-home-user-Scienceshamah/8386cda7-7741-5ea4-8952-60ee8e67fc31/scratchpad/w3/img/card_878x263_DFF7D2_s_i.png">    </p:cNvPr>
          <p:cNvPicPr>
            <a:picLocks noChangeAspect="1"/>
          </p:cNvPicPr>
          <p:nvPr/>
        </p:nvPicPr>
        <p:blipFill>
          <a:blip r:embed="rId6"/>
          <a:stretch>
            <a:fillRect/>
          </a:stretch>
        </p:blipFill>
        <p:spPr>
          <a:xfrm>
            <a:off x="457200" y="2770632"/>
            <a:ext cx="5349240" cy="1600200"/>
          </a:xfrm>
          <a:prstGeom prst="rect">
            <a:avLst/>
          </a:prstGeom>
        </p:spPr>
      </p:pic>
      <p:sp>
        <p:nvSpPr>
          <p:cNvPr id="13" name="s20_t_10"/>
          <p:cNvSpPr txBox="1"/>
          <p:nvPr/>
        </p:nvSpPr>
        <p:spPr>
          <a:xfrm>
            <a:off x="594360" y="2816352"/>
            <a:ext cx="5074920" cy="150876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1B5E20"/>
                </a:solidFill>
                <a:latin typeface="Tahoma" pitchFamily="34" charset="0"/>
                <a:ea typeface="Tahoma" pitchFamily="34" charset="-122"/>
                <a:cs typeface="Tahoma" pitchFamily="34" charset="-120"/>
              </a:rPr>
              <a:t>✔ التصحيح: </a:t>
            </a:r>
            <a:r>
              <a:rPr lang="ar-SA" altLang="en-US" sz="1700" b="1" dirty="0">
                <a:solidFill>
                  <a:srgbClr val="34405E"/>
                </a:solidFill>
                <a:latin typeface="Tahoma" pitchFamily="34" charset="0"/>
                <a:ea typeface="Tahoma" pitchFamily="34" charset="-122"/>
                <a:cs typeface="Tahoma" pitchFamily="34" charset="-120"/>
              </a:rPr>
              <a:t>النبات منتِج يصنع غذاءه بنفسه مستخدمًا طاقة الشمس.</a:t>
            </a:r>
            <a:endParaRPr lang="ar-SA" sz="1700" dirty="0"/>
          </a:p>
        </p:txBody>
      </p:sp>
      <p:pic>
        <p:nvPicPr>
          <p:cNvPr id="14" name="s20_pic_11" descr="/tmp/claude-0/-home-user-Scienceshamah/8386cda7-7741-5ea4-8952-60ee8e67fc31/scratchpad/w3/img/card_953x263_FFE5E5_s_i.png">    </p:cNvPr>
          <p:cNvPicPr>
            <a:picLocks noChangeAspect="1"/>
          </p:cNvPicPr>
          <p:nvPr/>
        </p:nvPicPr>
        <p:blipFill>
          <a:blip r:embed="rId7"/>
          <a:stretch>
            <a:fillRect/>
          </a:stretch>
        </p:blipFill>
        <p:spPr>
          <a:xfrm>
            <a:off x="5943600" y="4489704"/>
            <a:ext cx="5806440" cy="1600200"/>
          </a:xfrm>
          <a:prstGeom prst="rect">
            <a:avLst/>
          </a:prstGeom>
        </p:spPr>
      </p:pic>
      <p:sp>
        <p:nvSpPr>
          <p:cNvPr id="15" name="s20_t_12"/>
          <p:cNvSpPr txBox="1"/>
          <p:nvPr/>
        </p:nvSpPr>
        <p:spPr>
          <a:xfrm>
            <a:off x="6080760" y="4535424"/>
            <a:ext cx="5532120" cy="68580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D23B3B"/>
                </a:solidFill>
                <a:latin typeface="Tahoma" pitchFamily="34" charset="0"/>
                <a:ea typeface="Tahoma" pitchFamily="34" charset="-122"/>
                <a:cs typeface="Tahoma" pitchFamily="34" charset="-120"/>
              </a:rPr>
              <a:t>✘ عبارة: </a:t>
            </a:r>
            <a:r>
              <a:rPr lang="ar-SA" altLang="en-US" sz="1700" b="1" dirty="0">
                <a:solidFill>
                  <a:srgbClr val="34405E"/>
                </a:solidFill>
                <a:latin typeface="Tahoma" pitchFamily="34" charset="0"/>
                <a:ea typeface="Tahoma" pitchFamily="34" charset="-122"/>
                <a:cs typeface="Tahoma" pitchFamily="34" charset="-120"/>
              </a:rPr>
              <a:t>المحلِّلات مخلوقات لا فائدة لها في النظام البيئي.</a:t>
            </a:r>
            <a:endParaRPr lang="ar-SA" sz="1700" dirty="0"/>
          </a:p>
        </p:txBody>
      </p:sp>
      <p:sp>
        <p:nvSpPr>
          <p:cNvPr id="16" name="s20_t_13"/>
          <p:cNvSpPr txBox="1"/>
          <p:nvPr/>
        </p:nvSpPr>
        <p:spPr>
          <a:xfrm>
            <a:off x="6080760" y="5266944"/>
            <a:ext cx="5532120" cy="77724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6B4FC0"/>
                </a:solidFill>
                <a:latin typeface="Tahoma" pitchFamily="34" charset="0"/>
                <a:ea typeface="Tahoma" pitchFamily="34" charset="-122"/>
                <a:cs typeface="Tahoma" pitchFamily="34" charset="-120"/>
              </a:rPr>
              <a:t>🤔 فكّري: </a:t>
            </a:r>
            <a:r>
              <a:rPr lang="ar-SA" altLang="en-US" sz="1600" b="1" dirty="0">
                <a:solidFill>
                  <a:srgbClr val="34405E"/>
                </a:solidFill>
                <a:latin typeface="Tahoma" pitchFamily="34" charset="0"/>
                <a:ea typeface="Tahoma" pitchFamily="34" charset="-122"/>
                <a:cs typeface="Tahoma" pitchFamily="34" charset="-120"/>
              </a:rPr>
              <a:t>ماذا يحدث لأوراق الأشجار الميتة؟</a:t>
            </a:r>
            <a:endParaRPr lang="ar-SA" sz="1600" dirty="0"/>
          </a:p>
        </p:txBody>
      </p:sp>
      <p:pic>
        <p:nvPicPr>
          <p:cNvPr id="17" name="s20_pic_14" descr="/tmp/claude-0/-home-user-Scienceshamah/8386cda7-7741-5ea4-8952-60ee8e67fc31/scratchpad/w3/img/card_878x263_DFF7D2_s_i.png">    </p:cNvPr>
          <p:cNvPicPr>
            <a:picLocks noChangeAspect="1"/>
          </p:cNvPicPr>
          <p:nvPr/>
        </p:nvPicPr>
        <p:blipFill>
          <a:blip r:embed="rId8"/>
          <a:stretch>
            <a:fillRect/>
          </a:stretch>
        </p:blipFill>
        <p:spPr>
          <a:xfrm>
            <a:off x="457200" y="4489704"/>
            <a:ext cx="5349240" cy="1600200"/>
          </a:xfrm>
          <a:prstGeom prst="rect">
            <a:avLst/>
          </a:prstGeom>
        </p:spPr>
      </p:pic>
      <p:sp>
        <p:nvSpPr>
          <p:cNvPr id="18" name="s20_t_15"/>
          <p:cNvSpPr txBox="1"/>
          <p:nvPr/>
        </p:nvSpPr>
        <p:spPr>
          <a:xfrm>
            <a:off x="594360" y="4535424"/>
            <a:ext cx="5074920" cy="150876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1B5E20"/>
                </a:solidFill>
                <a:latin typeface="Tahoma" pitchFamily="34" charset="0"/>
                <a:ea typeface="Tahoma" pitchFamily="34" charset="-122"/>
                <a:cs typeface="Tahoma" pitchFamily="34" charset="-120"/>
              </a:rPr>
              <a:t>✔ التصحيح: </a:t>
            </a:r>
            <a:r>
              <a:rPr lang="ar-SA" altLang="en-US" sz="1700" b="1" dirty="0">
                <a:solidFill>
                  <a:srgbClr val="34405E"/>
                </a:solidFill>
                <a:latin typeface="Tahoma" pitchFamily="34" charset="0"/>
                <a:ea typeface="Tahoma" pitchFamily="34" charset="-122"/>
                <a:cs typeface="Tahoma" pitchFamily="34" charset="-120"/>
              </a:rPr>
              <a:t>المحلِّلات تعيد المواد إلى النظام البيئي بوصفها مواد مغذية.</a:t>
            </a:r>
            <a:endParaRPr lang="ar-SA" sz="17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6" dur="500" fill="hold"/>
                                        <p:tgtEl>
                                          <p:spTgt spid="4"/>
                                        </p:tgtEl>
                                        <p:attrNameLst>
                                          <p:attrName>ppt_w</p:attrName>
                                        </p:attrNameLst>
                                      </p:cBhvr>
                                      <p:tavLst>
                                        <p:tav tm="0">
                                          <p:val>
                                            <p:fltVal val="0"/>
                                          </p:val>
                                        </p:tav>
                                        <p:tav tm="100000">
                                          <p:val>
                                            <p:strVal val="#ppt_w"/>
                                          </p:val>
                                        </p:tav>
                                      </p:tavLst>
                                    </p:anim>
                                    <p:anim calcmode="lin" valueType="num">
                                      <p:cBhvr>
                                        <p:cTn id="7" dur="500" fill="hold"/>
                                        <p:tgtEl>
                                          <p:spTgt spid="4"/>
                                        </p:tgtEl>
                                        <p:attrNameLst>
                                          <p:attrName>ppt_h</p:attrName>
                                        </p:attrNameLst>
                                      </p:cBhvr>
                                      <p:tavLst>
                                        <p:tav tm="0">
                                          <p:val>
                                            <p:fltVal val="0"/>
                                          </p:val>
                                        </p:tav>
                                        <p:tav tm="100000">
                                          <p:val>
                                            <p:strVal val="#ppt_h"/>
                                          </p:val>
                                        </p:tav>
                                      </p:tavLst>
                                    </p:anim>
                                    <p:animEffect transition="in" filter="fade">
                                      <p:cBhvr>
                                        <p:cTn id="8" dur="500"/>
                                        <p:tgtEl>
                                          <p:spTgt spid="4"/>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par>
                                <p:cTn id="31" presetID="53" presetClass="entr" presetSubtype="16"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8"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par>
                                <p:cTn id="43" presetID="53" presetClass="entr" presetSubtype="16"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8"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5" presetID="53" presetClass="entr" presetSubtype="16"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p:cTn id="52" dur="500" fill="hold"/>
                                        <p:tgtEl>
                                          <p:spTgt spid="12"/>
                                        </p:tgtEl>
                                        <p:attrNameLst>
                                          <p:attrName>ppt_w</p:attrName>
                                        </p:attrNameLst>
                                      </p:cBhvr>
                                      <p:tavLst>
                                        <p:tav tm="0">
                                          <p:val>
                                            <p:fltVal val="0"/>
                                          </p:val>
                                        </p:tav>
                                        <p:tav tm="100000">
                                          <p:val>
                                            <p:strVal val="#ppt_w"/>
                                          </p:val>
                                        </p:tav>
                                      </p:tavLst>
                                    </p:anim>
                                    <p:anim calcmode="lin" valueType="num">
                                      <p:cBhvr>
                                        <p:cTn id="53" dur="500" fill="hold"/>
                                        <p:tgtEl>
                                          <p:spTgt spid="12"/>
                                        </p:tgtEl>
                                        <p:attrNameLst>
                                          <p:attrName>ppt_h</p:attrName>
                                        </p:attrNameLst>
                                      </p:cBhvr>
                                      <p:tavLst>
                                        <p:tav tm="0">
                                          <p:val>
                                            <p:fltVal val="0"/>
                                          </p:val>
                                        </p:tav>
                                        <p:tav tm="100000">
                                          <p:val>
                                            <p:strVal val="#ppt_h"/>
                                          </p:val>
                                        </p:tav>
                                      </p:tavLst>
                                    </p:anim>
                                    <p:animEffect transition="in" filter="fade">
                                      <p:cBhvr>
                                        <p:cTn id="54" dur="500"/>
                                        <p:tgtEl>
                                          <p:spTgt spid="12"/>
                                        </p:tgtEl>
                                      </p:cBhvr>
                                    </p:animEffect>
                                  </p:childTnLst>
                                </p:cTn>
                              </p:par>
                              <p:par>
                                <p:cTn id="60" presetID="53" presetClass="entr" presetSubtype="16"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p:cTn id="57" dur="500" fill="hold"/>
                                        <p:tgtEl>
                                          <p:spTgt spid="13"/>
                                        </p:tgtEl>
                                        <p:attrNameLst>
                                          <p:attrName>ppt_w</p:attrName>
                                        </p:attrNameLst>
                                      </p:cBhvr>
                                      <p:tavLst>
                                        <p:tav tm="0">
                                          <p:val>
                                            <p:fltVal val="0"/>
                                          </p:val>
                                        </p:tav>
                                        <p:tav tm="100000">
                                          <p:val>
                                            <p:strVal val="#ppt_w"/>
                                          </p:val>
                                        </p:tav>
                                      </p:tavLst>
                                    </p:anim>
                                    <p:anim calcmode="lin" valueType="num">
                                      <p:cBhvr>
                                        <p:cTn id="58" dur="500" fill="hold"/>
                                        <p:tgtEl>
                                          <p:spTgt spid="13"/>
                                        </p:tgtEl>
                                        <p:attrNameLst>
                                          <p:attrName>ppt_h</p:attrName>
                                        </p:attrNameLst>
                                      </p:cBhvr>
                                      <p:tavLst>
                                        <p:tav tm="0">
                                          <p:val>
                                            <p:fltVal val="0"/>
                                          </p:val>
                                        </p:tav>
                                        <p:tav tm="100000">
                                          <p:val>
                                            <p:strVal val="#ppt_h"/>
                                          </p:val>
                                        </p:tav>
                                      </p:tavLst>
                                    </p:anim>
                                    <p:animEffect transition="in" filter="fade">
                                      <p:cBhvr>
                                        <p:cTn id="59"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7" presetID="53" presetClass="entr" presetSubtype="16"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p:cTn id="64" dur="500" fill="hold"/>
                                        <p:tgtEl>
                                          <p:spTgt spid="14"/>
                                        </p:tgtEl>
                                        <p:attrNameLst>
                                          <p:attrName>ppt_w</p:attrName>
                                        </p:attrNameLst>
                                      </p:cBhvr>
                                      <p:tavLst>
                                        <p:tav tm="0">
                                          <p:val>
                                            <p:fltVal val="0"/>
                                          </p:val>
                                        </p:tav>
                                        <p:tav tm="100000">
                                          <p:val>
                                            <p:strVal val="#ppt_w"/>
                                          </p:val>
                                        </p:tav>
                                      </p:tavLst>
                                    </p:anim>
                                    <p:anim calcmode="lin" valueType="num">
                                      <p:cBhvr>
                                        <p:cTn id="65" dur="500" fill="hold"/>
                                        <p:tgtEl>
                                          <p:spTgt spid="14"/>
                                        </p:tgtEl>
                                        <p:attrNameLst>
                                          <p:attrName>ppt_h</p:attrName>
                                        </p:attrNameLst>
                                      </p:cBhvr>
                                      <p:tavLst>
                                        <p:tav tm="0">
                                          <p:val>
                                            <p:fltVal val="0"/>
                                          </p:val>
                                        </p:tav>
                                        <p:tav tm="100000">
                                          <p:val>
                                            <p:strVal val="#ppt_h"/>
                                          </p:val>
                                        </p:tav>
                                      </p:tavLst>
                                    </p:anim>
                                    <p:animEffect transition="in" filter="fade">
                                      <p:cBhvr>
                                        <p:cTn id="66" dur="500"/>
                                        <p:tgtEl>
                                          <p:spTgt spid="14"/>
                                        </p:tgtEl>
                                      </p:cBhvr>
                                    </p:animEffect>
                                  </p:childTnLst>
                                </p:cTn>
                              </p:par>
                              <p:par>
                                <p:cTn id="72" presetID="53" presetClass="entr" presetSubtype="16"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 calcmode="lin" valueType="num">
                                      <p:cBhvr>
                                        <p:cTn id="69" dur="500" fill="hold"/>
                                        <p:tgtEl>
                                          <p:spTgt spid="15"/>
                                        </p:tgtEl>
                                        <p:attrNameLst>
                                          <p:attrName>ppt_w</p:attrName>
                                        </p:attrNameLst>
                                      </p:cBhvr>
                                      <p:tavLst>
                                        <p:tav tm="0">
                                          <p:val>
                                            <p:fltVal val="0"/>
                                          </p:val>
                                        </p:tav>
                                        <p:tav tm="100000">
                                          <p:val>
                                            <p:strVal val="#ppt_w"/>
                                          </p:val>
                                        </p:tav>
                                      </p:tavLst>
                                    </p:anim>
                                    <p:anim calcmode="lin" valueType="num">
                                      <p:cBhvr>
                                        <p:cTn id="70" dur="500" fill="hold"/>
                                        <p:tgtEl>
                                          <p:spTgt spid="15"/>
                                        </p:tgtEl>
                                        <p:attrNameLst>
                                          <p:attrName>ppt_h</p:attrName>
                                        </p:attrNameLst>
                                      </p:cBhvr>
                                      <p:tavLst>
                                        <p:tav tm="0">
                                          <p:val>
                                            <p:fltVal val="0"/>
                                          </p:val>
                                        </p:tav>
                                        <p:tav tm="100000">
                                          <p:val>
                                            <p:strVal val="#ppt_h"/>
                                          </p:val>
                                        </p:tav>
                                      </p:tavLst>
                                    </p:anim>
                                    <p:animEffect transition="in" filter="fade">
                                      <p:cBhvr>
                                        <p:cTn id="71"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7" presetID="10" presetClass="entr" presetSubtype="0"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4" presetID="53" presetClass="entr" presetSubtype="16" fill="hold" grpId="0" nodeType="click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p:cTn id="81" dur="500" fill="hold"/>
                                        <p:tgtEl>
                                          <p:spTgt spid="17"/>
                                        </p:tgtEl>
                                        <p:attrNameLst>
                                          <p:attrName>ppt_w</p:attrName>
                                        </p:attrNameLst>
                                      </p:cBhvr>
                                      <p:tavLst>
                                        <p:tav tm="0">
                                          <p:val>
                                            <p:fltVal val="0"/>
                                          </p:val>
                                        </p:tav>
                                        <p:tav tm="100000">
                                          <p:val>
                                            <p:strVal val="#ppt_w"/>
                                          </p:val>
                                        </p:tav>
                                      </p:tavLst>
                                    </p:anim>
                                    <p:anim calcmode="lin" valueType="num">
                                      <p:cBhvr>
                                        <p:cTn id="82" dur="500" fill="hold"/>
                                        <p:tgtEl>
                                          <p:spTgt spid="17"/>
                                        </p:tgtEl>
                                        <p:attrNameLst>
                                          <p:attrName>ppt_h</p:attrName>
                                        </p:attrNameLst>
                                      </p:cBhvr>
                                      <p:tavLst>
                                        <p:tav tm="0">
                                          <p:val>
                                            <p:fltVal val="0"/>
                                          </p:val>
                                        </p:tav>
                                        <p:tav tm="100000">
                                          <p:val>
                                            <p:strVal val="#ppt_h"/>
                                          </p:val>
                                        </p:tav>
                                      </p:tavLst>
                                    </p:anim>
                                    <p:animEffect transition="in" filter="fade">
                                      <p:cBhvr>
                                        <p:cTn id="83" dur="500"/>
                                        <p:tgtEl>
                                          <p:spTgt spid="17"/>
                                        </p:tgtEl>
                                      </p:cBhvr>
                                    </p:animEffect>
                                  </p:childTnLst>
                                </p:cTn>
                              </p:par>
                              <p:par>
                                <p:cTn id="89" presetID="53" presetClass="entr" presetSubtype="16"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 calcmode="lin" valueType="num">
                                      <p:cBhvr>
                                        <p:cTn id="86" dur="500" fill="hold"/>
                                        <p:tgtEl>
                                          <p:spTgt spid="18"/>
                                        </p:tgtEl>
                                        <p:attrNameLst>
                                          <p:attrName>ppt_w</p:attrName>
                                        </p:attrNameLst>
                                      </p:cBhvr>
                                      <p:tavLst>
                                        <p:tav tm="0">
                                          <p:val>
                                            <p:fltVal val="0"/>
                                          </p:val>
                                        </p:tav>
                                        <p:tav tm="100000">
                                          <p:val>
                                            <p:strVal val="#ppt_w"/>
                                          </p:val>
                                        </p:tav>
                                      </p:tavLst>
                                    </p:anim>
                                    <p:anim calcmode="lin" valueType="num">
                                      <p:cBhvr>
                                        <p:cTn id="87" dur="500" fill="hold"/>
                                        <p:tgtEl>
                                          <p:spTgt spid="18"/>
                                        </p:tgtEl>
                                        <p:attrNameLst>
                                          <p:attrName>ppt_h</p:attrName>
                                        </p:attrNameLst>
                                      </p:cBhvr>
                                      <p:tavLst>
                                        <p:tav tm="0">
                                          <p:val>
                                            <p:fltVal val="0"/>
                                          </p:val>
                                        </p:tav>
                                        <p:tav tm="100000">
                                          <p:val>
                                            <p:strVal val="#ppt_h"/>
                                          </p:val>
                                        </p:tav>
                                      </p:tavLst>
                                    </p:anim>
                                    <p:animEffect transition="in" filter="fade">
                                      <p:cBhvr>
                                        <p:cTn id="8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1_title" descr="التقويم التكويني">    </p:cNvPr>
          <p:cNvPicPr>
            <a:picLocks noChangeAspect="1"/>
          </p:cNvPicPr>
          <p:nvPr/>
        </p:nvPicPr>
        <p:blipFill>
          <a:blip r:embed="rId2"/>
          <a:stretch>
            <a:fillRect/>
          </a:stretch>
        </p:blipFill>
        <p:spPr>
          <a:xfrm>
            <a:off x="8371900" y="109728"/>
            <a:ext cx="3469580" cy="868680"/>
          </a:xfrm>
          <a:prstGeom prst="rect">
            <a:avLst/>
          </a:prstGeom>
        </p:spPr>
      </p:pic>
      <p:sp>
        <p:nvSpPr>
          <p:cNvPr id="3" name="s21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مستويات التفكير الثلاثة</a:t>
            </a:r>
            <a:endParaRPr lang="ar-SA" sz="1700" dirty="0"/>
          </a:p>
        </p:txBody>
      </p:sp>
      <p:pic>
        <p:nvPicPr>
          <p:cNvPr id="4" name="s21_pic_1" descr="/tmp/claude-0/-home-user-Scienceshamah/8386cda7-7741-5ea4-8952-60ee8e67fc31/scratchpad/w3/img/card_1853x263_B8F28A_s_i.png">    </p:cNvPr>
          <p:cNvPicPr>
            <a:picLocks noChangeAspect="1"/>
          </p:cNvPicPr>
          <p:nvPr/>
        </p:nvPicPr>
        <p:blipFill>
          <a:blip r:embed="rId3"/>
          <a:stretch>
            <a:fillRect/>
          </a:stretch>
        </p:blipFill>
        <p:spPr>
          <a:xfrm>
            <a:off x="457200" y="1051560"/>
            <a:ext cx="11292840" cy="1600200"/>
          </a:xfrm>
          <a:prstGeom prst="rect">
            <a:avLst/>
          </a:prstGeom>
        </p:spPr>
      </p:pic>
      <p:sp>
        <p:nvSpPr>
          <p:cNvPr id="5" name="s21_t_2"/>
          <p:cNvSpPr txBox="1"/>
          <p:nvPr/>
        </p:nvSpPr>
        <p:spPr>
          <a:xfrm>
            <a:off x="9829800" y="1161288"/>
            <a:ext cx="1783080" cy="457200"/>
          </a:xfrm>
          <a:prstGeom prst="roundRect">
            <a:avLst>
              <a:gd name="adj" fmla="val 50000"/>
            </a:avLst>
          </a:prstGeom>
          <a:solidFill>
            <a:srgbClr val="FFFFFF"/>
          </a:solidFill>
          <a:ln w="25400">
            <a:solidFill>
              <a:srgbClr val="34405E"/>
            </a:solidFill>
          </a:ln>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أكتشف</a:t>
            </a:r>
            <a:endParaRPr lang="ar-SA" sz="1700" dirty="0"/>
          </a:p>
        </p:txBody>
      </p:sp>
      <p:sp>
        <p:nvSpPr>
          <p:cNvPr id="6" name="s21_t_3"/>
          <p:cNvSpPr txBox="1"/>
          <p:nvPr/>
        </p:nvSpPr>
        <p:spPr>
          <a:xfrm>
            <a:off x="5120640" y="1645920"/>
            <a:ext cx="6492240" cy="9144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اختاري: أيّ مما يلي منتِج؟  (أ) الأرنب  (ب) العشب  (ج) الفطر</a:t>
            </a:r>
            <a:endParaRPr lang="ar-SA" sz="1800" dirty="0"/>
          </a:p>
        </p:txBody>
      </p:sp>
      <p:sp>
        <p:nvSpPr>
          <p:cNvPr id="7" name="s21_t_4"/>
          <p:cNvSpPr txBox="1"/>
          <p:nvPr/>
        </p:nvSpPr>
        <p:spPr>
          <a:xfrm>
            <a:off x="5120640" y="1143000"/>
            <a:ext cx="4572000" cy="45720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6B4FC0"/>
                </a:solidFill>
                <a:latin typeface="Tahoma" pitchFamily="34" charset="0"/>
                <a:ea typeface="Tahoma" pitchFamily="34" charset="-122"/>
                <a:cs typeface="Tahoma" pitchFamily="34" charset="-120"/>
              </a:rPr>
              <a:t>💡 تلميح: من يصنع غذاءه بنفسه؟</a:t>
            </a:r>
            <a:endParaRPr lang="ar-SA" sz="1500" dirty="0"/>
          </a:p>
        </p:txBody>
      </p:sp>
      <p:pic>
        <p:nvPicPr>
          <p:cNvPr id="8" name="s21_pic_5" descr="/tmp/claude-0/-home-user-Scienceshamah/8386cda7-7741-5ea4-8952-60ee8e67fc31/scratchpad/w3/img/card_713x225_FFFFFF_s_i.png">    </p:cNvPr>
          <p:cNvPicPr>
            <a:picLocks noChangeAspect="1"/>
          </p:cNvPicPr>
          <p:nvPr/>
        </p:nvPicPr>
        <p:blipFill>
          <a:blip r:embed="rId4"/>
          <a:stretch>
            <a:fillRect/>
          </a:stretch>
        </p:blipFill>
        <p:spPr>
          <a:xfrm>
            <a:off x="594360" y="1161288"/>
            <a:ext cx="4343400" cy="1371600"/>
          </a:xfrm>
          <a:prstGeom prst="rect">
            <a:avLst/>
          </a:prstGeom>
        </p:spPr>
      </p:pic>
      <p:sp>
        <p:nvSpPr>
          <p:cNvPr id="9" name="s21_t_6"/>
          <p:cNvSpPr txBox="1"/>
          <p:nvPr/>
        </p:nvSpPr>
        <p:spPr>
          <a:xfrm>
            <a:off x="731520" y="1188720"/>
            <a:ext cx="4069080" cy="132588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1B5E20"/>
                </a:solidFill>
                <a:latin typeface="Tahoma" pitchFamily="34" charset="0"/>
                <a:ea typeface="Tahoma" pitchFamily="34" charset="-122"/>
                <a:cs typeface="Tahoma" pitchFamily="34" charset="-120"/>
              </a:rPr>
              <a:t>✔ </a:t>
            </a:r>
            <a:r>
              <a:rPr lang="ar-SA" altLang="en-US" sz="1500" b="1" dirty="0">
                <a:solidFill>
                  <a:srgbClr val="34405E"/>
                </a:solidFill>
                <a:latin typeface="Tahoma" pitchFamily="34" charset="0"/>
                <a:ea typeface="Tahoma" pitchFamily="34" charset="-122"/>
                <a:cs typeface="Tahoma" pitchFamily="34" charset="-120"/>
              </a:rPr>
              <a:t>(ب) العشب؛ لأنه يصنع غذاءه بنفسه.</a:t>
            </a:r>
            <a:r>
              <a:rPr lang="ar-SA" altLang="en-US" sz="1500" b="1" dirty="0">
                <a:solidFill>
                  <a:srgbClr val="C2366F"/>
                </a:solidFill>
                <a:latin typeface="Tahoma" pitchFamily="34" charset="0"/>
                <a:ea typeface="Tahoma" pitchFamily="34" charset="-122"/>
                <a:cs typeface="Tahoma" pitchFamily="34" charset="-120"/>
              </a:rPr>
              <a:t>  أحسنتِ! 🌟</a:t>
            </a:r>
            <a:endParaRPr lang="ar-SA" sz="1500" dirty="0"/>
          </a:p>
        </p:txBody>
      </p:sp>
      <p:pic>
        <p:nvPicPr>
          <p:cNvPr id="10" name="s21_pic_7" descr="/tmp/claude-0/-home-user-Scienceshamah/8386cda7-7741-5ea4-8952-60ee8e67fc31/scratchpad/w3/img/card_1853x263_FFE066_s_i.png">    </p:cNvPr>
          <p:cNvPicPr>
            <a:picLocks noChangeAspect="1"/>
          </p:cNvPicPr>
          <p:nvPr/>
        </p:nvPicPr>
        <p:blipFill>
          <a:blip r:embed="rId5"/>
          <a:stretch>
            <a:fillRect/>
          </a:stretch>
        </p:blipFill>
        <p:spPr>
          <a:xfrm>
            <a:off x="457200" y="2770632"/>
            <a:ext cx="11292840" cy="1600200"/>
          </a:xfrm>
          <a:prstGeom prst="rect">
            <a:avLst/>
          </a:prstGeom>
        </p:spPr>
      </p:pic>
      <p:sp>
        <p:nvSpPr>
          <p:cNvPr id="11" name="s21_t_8"/>
          <p:cNvSpPr txBox="1"/>
          <p:nvPr/>
        </p:nvSpPr>
        <p:spPr>
          <a:xfrm>
            <a:off x="9829800" y="2880360"/>
            <a:ext cx="1783080" cy="457200"/>
          </a:xfrm>
          <a:prstGeom prst="roundRect">
            <a:avLst>
              <a:gd name="adj" fmla="val 50000"/>
            </a:avLst>
          </a:prstGeom>
          <a:solidFill>
            <a:srgbClr val="FFFFFF"/>
          </a:solidFill>
          <a:ln w="25400">
            <a:solidFill>
              <a:srgbClr val="34405E"/>
            </a:solidFill>
          </a:ln>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أفكّر</a:t>
            </a:r>
            <a:endParaRPr lang="ar-SA" sz="1700" dirty="0"/>
          </a:p>
        </p:txBody>
      </p:sp>
      <p:sp>
        <p:nvSpPr>
          <p:cNvPr id="12" name="s21_t_9"/>
          <p:cNvSpPr txBox="1"/>
          <p:nvPr/>
        </p:nvSpPr>
        <p:spPr>
          <a:xfrm>
            <a:off x="5120640" y="3364992"/>
            <a:ext cx="6492240" cy="9144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قارني بين المنتِج والمستهلِك.</a:t>
            </a:r>
            <a:endParaRPr lang="ar-SA" sz="1800" dirty="0"/>
          </a:p>
        </p:txBody>
      </p:sp>
      <p:sp>
        <p:nvSpPr>
          <p:cNvPr id="13" name="s21_t_10"/>
          <p:cNvSpPr txBox="1"/>
          <p:nvPr/>
        </p:nvSpPr>
        <p:spPr>
          <a:xfrm>
            <a:off x="5120640" y="2862072"/>
            <a:ext cx="4572000" cy="45720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6B4FC0"/>
                </a:solidFill>
                <a:latin typeface="Tahoma" pitchFamily="34" charset="0"/>
                <a:ea typeface="Tahoma" pitchFamily="34" charset="-122"/>
                <a:cs typeface="Tahoma" pitchFamily="34" charset="-120"/>
              </a:rPr>
              <a:t>💡 تلميح: فكّري في مصدر الغذاء.</a:t>
            </a:r>
            <a:endParaRPr lang="ar-SA" sz="1500" dirty="0"/>
          </a:p>
        </p:txBody>
      </p:sp>
      <p:pic>
        <p:nvPicPr>
          <p:cNvPr id="14" name="s21_pic_11" descr="/tmp/claude-0/-home-user-Scienceshamah/8386cda7-7741-5ea4-8952-60ee8e67fc31/scratchpad/w3/img/card_713x225_FFFFFF_s_i.png">    </p:cNvPr>
          <p:cNvPicPr>
            <a:picLocks noChangeAspect="1"/>
          </p:cNvPicPr>
          <p:nvPr/>
        </p:nvPicPr>
        <p:blipFill>
          <a:blip r:embed="rId6"/>
          <a:stretch>
            <a:fillRect/>
          </a:stretch>
        </p:blipFill>
        <p:spPr>
          <a:xfrm>
            <a:off x="594360" y="2880360"/>
            <a:ext cx="4343400" cy="1371600"/>
          </a:xfrm>
          <a:prstGeom prst="rect">
            <a:avLst/>
          </a:prstGeom>
        </p:spPr>
      </p:pic>
      <p:sp>
        <p:nvSpPr>
          <p:cNvPr id="15" name="s21_t_12"/>
          <p:cNvSpPr txBox="1"/>
          <p:nvPr/>
        </p:nvSpPr>
        <p:spPr>
          <a:xfrm>
            <a:off x="731520" y="2907792"/>
            <a:ext cx="4069080" cy="132588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1B5E20"/>
                </a:solidFill>
                <a:latin typeface="Tahoma" pitchFamily="34" charset="0"/>
                <a:ea typeface="Tahoma" pitchFamily="34" charset="-122"/>
                <a:cs typeface="Tahoma" pitchFamily="34" charset="-120"/>
              </a:rPr>
              <a:t>✔ </a:t>
            </a:r>
            <a:r>
              <a:rPr lang="ar-SA" altLang="en-US" sz="1500" b="1" dirty="0">
                <a:solidFill>
                  <a:srgbClr val="34405E"/>
                </a:solidFill>
                <a:latin typeface="Tahoma" pitchFamily="34" charset="0"/>
                <a:ea typeface="Tahoma" pitchFamily="34" charset="-122"/>
                <a:cs typeface="Tahoma" pitchFamily="34" charset="-120"/>
              </a:rPr>
              <a:t>المنتِج يصنع غذاءه بنفسه مستخدمًا طاقة الشمس، والمستهلِك لا يستطيع ذلك فيتغذى على غيره.</a:t>
            </a:r>
            <a:r>
              <a:rPr lang="ar-SA" altLang="en-US" sz="1500" b="1" dirty="0">
                <a:solidFill>
                  <a:srgbClr val="C2366F"/>
                </a:solidFill>
                <a:latin typeface="Tahoma" pitchFamily="34" charset="0"/>
                <a:ea typeface="Tahoma" pitchFamily="34" charset="-122"/>
                <a:cs typeface="Tahoma" pitchFamily="34" charset="-120"/>
              </a:rPr>
              <a:t>  أحسنتِ! 🌟</a:t>
            </a:r>
            <a:endParaRPr lang="ar-SA" sz="1500" dirty="0"/>
          </a:p>
        </p:txBody>
      </p:sp>
      <p:pic>
        <p:nvPicPr>
          <p:cNvPr id="16" name="s21_pic_13" descr="/tmp/claude-0/-home-user-Scienceshamah/8386cda7-7741-5ea4-8952-60ee8e67fc31/scratchpad/w3/img/card_1853x263_FFB3D1_s_i.png">    </p:cNvPr>
          <p:cNvPicPr>
            <a:picLocks noChangeAspect="1"/>
          </p:cNvPicPr>
          <p:nvPr/>
        </p:nvPicPr>
        <p:blipFill>
          <a:blip r:embed="rId7"/>
          <a:stretch>
            <a:fillRect/>
          </a:stretch>
        </p:blipFill>
        <p:spPr>
          <a:xfrm>
            <a:off x="457200" y="4489704"/>
            <a:ext cx="11292840" cy="1600200"/>
          </a:xfrm>
          <a:prstGeom prst="rect">
            <a:avLst/>
          </a:prstGeom>
        </p:spPr>
      </p:pic>
      <p:sp>
        <p:nvSpPr>
          <p:cNvPr id="17" name="s21_t_14"/>
          <p:cNvSpPr txBox="1"/>
          <p:nvPr/>
        </p:nvSpPr>
        <p:spPr>
          <a:xfrm>
            <a:off x="9829800" y="4599432"/>
            <a:ext cx="1783080" cy="457200"/>
          </a:xfrm>
          <a:prstGeom prst="roundRect">
            <a:avLst>
              <a:gd name="adj" fmla="val 50000"/>
            </a:avLst>
          </a:prstGeom>
          <a:solidFill>
            <a:srgbClr val="FFFFFF"/>
          </a:solidFill>
          <a:ln w="25400">
            <a:solidFill>
              <a:srgbClr val="34405E"/>
            </a:solidFill>
          </a:ln>
        </p:spPr>
        <p:txBody>
          <a:bodyPr wrap="square" lIns="381" tIns="381" rIns="381" bIns="381"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أتحدّى نفسي</a:t>
            </a:r>
            <a:endParaRPr lang="ar-SA" sz="1700" dirty="0"/>
          </a:p>
        </p:txBody>
      </p:sp>
      <p:sp>
        <p:nvSpPr>
          <p:cNvPr id="18" name="s21_t_15"/>
          <p:cNvSpPr txBox="1"/>
          <p:nvPr/>
        </p:nvSpPr>
        <p:spPr>
          <a:xfrm>
            <a:off x="5120640" y="5084064"/>
            <a:ext cx="6492240" cy="9144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ماذا يحدث لو اختفت المحلِّلات من الغابة؟</a:t>
            </a:r>
            <a:endParaRPr lang="ar-SA" sz="1800" dirty="0"/>
          </a:p>
        </p:txBody>
      </p:sp>
      <p:sp>
        <p:nvSpPr>
          <p:cNvPr id="19" name="s21_t_16"/>
          <p:cNvSpPr txBox="1"/>
          <p:nvPr/>
        </p:nvSpPr>
        <p:spPr>
          <a:xfrm>
            <a:off x="5120640" y="4581144"/>
            <a:ext cx="4572000" cy="45720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6B4FC0"/>
                </a:solidFill>
                <a:latin typeface="Tahoma" pitchFamily="34" charset="0"/>
                <a:ea typeface="Tahoma" pitchFamily="34" charset="-122"/>
                <a:cs typeface="Tahoma" pitchFamily="34" charset="-120"/>
              </a:rPr>
              <a:t>💡 تلميح: ما دور المحلِّلات؟</a:t>
            </a:r>
            <a:endParaRPr lang="ar-SA" sz="1500" dirty="0"/>
          </a:p>
        </p:txBody>
      </p:sp>
      <p:pic>
        <p:nvPicPr>
          <p:cNvPr id="20" name="s21_pic_17" descr="/tmp/claude-0/-home-user-Scienceshamah/8386cda7-7741-5ea4-8952-60ee8e67fc31/scratchpad/w3/img/card_713x225_FFFFFF_s_i.png">    </p:cNvPr>
          <p:cNvPicPr>
            <a:picLocks noChangeAspect="1"/>
          </p:cNvPicPr>
          <p:nvPr/>
        </p:nvPicPr>
        <p:blipFill>
          <a:blip r:embed="rId8"/>
          <a:stretch>
            <a:fillRect/>
          </a:stretch>
        </p:blipFill>
        <p:spPr>
          <a:xfrm>
            <a:off x="594360" y="4599432"/>
            <a:ext cx="4343400" cy="1371600"/>
          </a:xfrm>
          <a:prstGeom prst="rect">
            <a:avLst/>
          </a:prstGeom>
        </p:spPr>
      </p:pic>
      <p:sp>
        <p:nvSpPr>
          <p:cNvPr id="21" name="s21_t_18"/>
          <p:cNvSpPr txBox="1"/>
          <p:nvPr/>
        </p:nvSpPr>
        <p:spPr>
          <a:xfrm>
            <a:off x="731520" y="4626864"/>
            <a:ext cx="4069080" cy="132588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1B5E20"/>
                </a:solidFill>
                <a:latin typeface="Tahoma" pitchFamily="34" charset="0"/>
                <a:ea typeface="Tahoma" pitchFamily="34" charset="-122"/>
                <a:cs typeface="Tahoma" pitchFamily="34" charset="-120"/>
              </a:rPr>
              <a:t>✔ </a:t>
            </a:r>
            <a:r>
              <a:rPr lang="ar-SA" altLang="en-US" sz="1500" b="1" dirty="0">
                <a:solidFill>
                  <a:srgbClr val="34405E"/>
                </a:solidFill>
                <a:latin typeface="Tahoma" pitchFamily="34" charset="0"/>
                <a:ea typeface="Tahoma" pitchFamily="34" charset="-122"/>
                <a:cs typeface="Tahoma" pitchFamily="34" charset="-120"/>
              </a:rPr>
              <a:t>تتراكم بقايا المخلوقات الميتة، ولا تعود المواد المغذية إلى النظام البيئي.</a:t>
            </a:r>
            <a:r>
              <a:rPr lang="ar-SA" altLang="en-US" sz="1500" b="1" dirty="0">
                <a:solidFill>
                  <a:srgbClr val="C2366F"/>
                </a:solidFill>
                <a:latin typeface="Tahoma" pitchFamily="34" charset="0"/>
                <a:ea typeface="Tahoma" pitchFamily="34" charset="-122"/>
                <a:cs typeface="Tahoma" pitchFamily="34" charset="-120"/>
              </a:rPr>
              <a:t>  أحسنتِ! 🌟</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ppt_w</p:attrName>
                                        </p:attrNameLst>
                                      </p:cBhvr>
                                      <p:tavLst>
                                        <p:tav tm="0">
                                          <p:val>
                                            <p:fltVal val="0"/>
                                          </p:val>
                                        </p:tav>
                                        <p:tav tm="100000">
                                          <p:val>
                                            <p:strVal val="#ppt_w"/>
                                          </p:val>
                                        </p:tav>
                                      </p:tavLst>
                                    </p:anim>
                                    <p:anim calcmode="lin" valueType="num">
                                      <p:cBhvr>
                                        <p:cTn id="17" dur="500" fill="hold"/>
                                        <p:tgtEl>
                                          <p:spTgt spid="9"/>
                                        </p:tgtEl>
                                        <p:attrNameLst>
                                          <p:attrName>ppt_h</p:attrName>
                                        </p:attrNameLst>
                                      </p:cBhvr>
                                      <p:tavLst>
                                        <p:tav tm="0">
                                          <p:val>
                                            <p:fltVal val="0"/>
                                          </p:val>
                                        </p:tav>
                                        <p:tav tm="100000">
                                          <p:val>
                                            <p:strVal val="#ppt_h"/>
                                          </p:val>
                                        </p:tav>
                                      </p:tavLst>
                                    </p:anim>
                                    <p:animEffect transition="in" filter="fade">
                                      <p:cBhvr>
                                        <p:cTn id="18"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4"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31" presetID="53" presetClass="entr" presetSubtype="16"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500" fill="hold"/>
                                        <p:tgtEl>
                                          <p:spTgt spid="15"/>
                                        </p:tgtEl>
                                        <p:attrNameLst>
                                          <p:attrName>ppt_w</p:attrName>
                                        </p:attrNameLst>
                                      </p:cBhvr>
                                      <p:tavLst>
                                        <p:tav tm="0">
                                          <p:val>
                                            <p:fltVal val="0"/>
                                          </p:val>
                                        </p:tav>
                                        <p:tav tm="100000">
                                          <p:val>
                                            <p:strVal val="#ppt_w"/>
                                          </p:val>
                                        </p:tav>
                                      </p:tavLst>
                                    </p:anim>
                                    <p:anim calcmode="lin" valueType="num">
                                      <p:cBhvr>
                                        <p:cTn id="34" dur="500" fill="hold"/>
                                        <p:tgtEl>
                                          <p:spTgt spid="15"/>
                                        </p:tgtEl>
                                        <p:attrNameLst>
                                          <p:attrName>ppt_h</p:attrName>
                                        </p:attrNameLst>
                                      </p:cBhvr>
                                      <p:tavLst>
                                        <p:tav tm="0">
                                          <p:val>
                                            <p:fltVal val="0"/>
                                          </p:val>
                                        </p:tav>
                                        <p:tav tm="100000">
                                          <p:val>
                                            <p:strVal val="#ppt_h"/>
                                          </p:val>
                                        </p:tav>
                                      </p:tavLst>
                                    </p:anim>
                                    <p:animEffect transition="in" filter="fade">
                                      <p:cBhvr>
                                        <p:cTn id="35"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41"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8" presetID="53" presetClass="entr" presetSubtype="16"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p:cTn id="45" dur="500" fill="hold"/>
                                        <p:tgtEl>
                                          <p:spTgt spid="20"/>
                                        </p:tgtEl>
                                        <p:attrNameLst>
                                          <p:attrName>ppt_w</p:attrName>
                                        </p:attrNameLst>
                                      </p:cBhvr>
                                      <p:tavLst>
                                        <p:tav tm="0">
                                          <p:val>
                                            <p:fltVal val="0"/>
                                          </p:val>
                                        </p:tav>
                                        <p:tav tm="100000">
                                          <p:val>
                                            <p:strVal val="#ppt_w"/>
                                          </p:val>
                                        </p:tav>
                                      </p:tavLst>
                                    </p:anim>
                                    <p:anim calcmode="lin" valueType="num">
                                      <p:cBhvr>
                                        <p:cTn id="46" dur="500" fill="hold"/>
                                        <p:tgtEl>
                                          <p:spTgt spid="20"/>
                                        </p:tgtEl>
                                        <p:attrNameLst>
                                          <p:attrName>ppt_h</p:attrName>
                                        </p:attrNameLst>
                                      </p:cBhvr>
                                      <p:tavLst>
                                        <p:tav tm="0">
                                          <p:val>
                                            <p:fltVal val="0"/>
                                          </p:val>
                                        </p:tav>
                                        <p:tav tm="100000">
                                          <p:val>
                                            <p:strVal val="#ppt_h"/>
                                          </p:val>
                                        </p:tav>
                                      </p:tavLst>
                                    </p:anim>
                                    <p:animEffect transition="in" filter="fade">
                                      <p:cBhvr>
                                        <p:cTn id="47" dur="500"/>
                                        <p:tgtEl>
                                          <p:spTgt spid="20"/>
                                        </p:tgtEl>
                                      </p:cBhvr>
                                    </p:animEffect>
                                  </p:childTnLst>
                                </p:cTn>
                              </p:par>
                              <p:par>
                                <p:cTn id="53" presetID="53" presetClass="entr" presetSubtype="16"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Effect transition="in" filter="fade">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2_title" descr="أختبر نفسي">    </p:cNvPr>
          <p:cNvPicPr>
            <a:picLocks noChangeAspect="1"/>
          </p:cNvPicPr>
          <p:nvPr/>
        </p:nvPicPr>
        <p:blipFill>
          <a:blip r:embed="rId2"/>
          <a:stretch>
            <a:fillRect/>
          </a:stretch>
        </p:blipFill>
        <p:spPr>
          <a:xfrm>
            <a:off x="9153198" y="109728"/>
            <a:ext cx="2688282" cy="868680"/>
          </a:xfrm>
          <a:prstGeom prst="rect">
            <a:avLst/>
          </a:prstGeom>
        </p:spPr>
      </p:pic>
      <p:sp>
        <p:nvSpPr>
          <p:cNvPr id="3" name="s22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الاستنتاج – التفكير الناقد</a:t>
            </a:r>
            <a:endParaRPr lang="ar-SA" sz="1700" dirty="0"/>
          </a:p>
        </p:txBody>
      </p:sp>
      <p:pic>
        <p:nvPicPr>
          <p:cNvPr id="4" name="s22_pic_1" descr="/tmp/claude-0/-home-user-Scienceshamah/8386cda7-7741-5ea4-8952-60ee8e67fc31/scratchpad/w3/img/card_923x300_C9A8FF_s_i.png">    </p:cNvPr>
          <p:cNvPicPr>
            <a:picLocks noChangeAspect="1"/>
          </p:cNvPicPr>
          <p:nvPr/>
        </p:nvPicPr>
        <p:blipFill>
          <a:blip r:embed="rId3"/>
          <a:stretch>
            <a:fillRect/>
          </a:stretch>
        </p:blipFill>
        <p:spPr>
          <a:xfrm>
            <a:off x="6126480" y="1051560"/>
            <a:ext cx="5623560" cy="1828800"/>
          </a:xfrm>
          <a:prstGeom prst="rect">
            <a:avLst/>
          </a:prstGeom>
        </p:spPr>
      </p:pic>
      <p:sp>
        <p:nvSpPr>
          <p:cNvPr id="5" name="s22_t_2"/>
          <p:cNvSpPr txBox="1"/>
          <p:nvPr/>
        </p:nvSpPr>
        <p:spPr>
          <a:xfrm>
            <a:off x="6309360" y="1097280"/>
            <a:ext cx="5257800" cy="1737360"/>
          </a:xfrm>
          <a:prstGeom prst="rect">
            <a:avLst/>
          </a:prstGeom>
          <a:noFill/>
          <a:ln/>
        </p:spPr>
        <p:txBody>
          <a:bodyPr wrap="square" lIns="762" tIns="762" rIns="762" bIns="762" rtlCol="0" anchor="ctr"/>
          <a:lstStyle/>
          <a:p>
            <a:pPr rtl="1" algn="r" indent="0" marL="0">
              <a:lnSpc>
                <a:spcPct val="108000"/>
              </a:lnSpc>
              <a:buNone/>
            </a:pPr>
            <a:r>
              <a:rPr lang="ar-SA" altLang="en-US" sz="2200" b="1" dirty="0">
                <a:solidFill>
                  <a:srgbClr val="6B4FC0"/>
                </a:solidFill>
                <a:latin typeface="Tahoma" pitchFamily="34" charset="0"/>
                <a:ea typeface="Tahoma" pitchFamily="34" charset="-122"/>
                <a:cs typeface="Tahoma" pitchFamily="34" charset="-120"/>
              </a:rPr>
              <a:t>أستنتج. </a:t>
            </a:r>
            <a:r>
              <a:rPr lang="ar-SA" altLang="en-US" sz="2200" b="1" dirty="0">
                <a:solidFill>
                  <a:srgbClr val="34405E"/>
                </a:solidFill>
                <a:latin typeface="Tahoma" pitchFamily="34" charset="0"/>
                <a:ea typeface="Tahoma" pitchFamily="34" charset="-122"/>
                <a:cs typeface="Tahoma" pitchFamily="34" charset="-120"/>
              </a:rPr>
              <a:t>ماذا يمكن أن يحدث في حالة غياب المنتجات؟</a:t>
            </a:r>
            <a:endParaRPr lang="ar-SA" sz="2200" dirty="0"/>
          </a:p>
        </p:txBody>
      </p:sp>
      <p:pic>
        <p:nvPicPr>
          <p:cNvPr id="6" name="s22_pic_3" descr="/tmp/claude-0/-home-user-Scienceshamah/8386cda7-7741-5ea4-8952-60ee8e67fc31/scratchpad/w3/img/card_900x300_DFF7D2_s_i.png">    </p:cNvPr>
          <p:cNvPicPr>
            <a:picLocks noChangeAspect="1"/>
          </p:cNvPicPr>
          <p:nvPr/>
        </p:nvPicPr>
        <p:blipFill>
          <a:blip r:embed="rId4"/>
          <a:stretch>
            <a:fillRect/>
          </a:stretch>
        </p:blipFill>
        <p:spPr>
          <a:xfrm>
            <a:off x="457200" y="1051560"/>
            <a:ext cx="5486400" cy="1828800"/>
          </a:xfrm>
          <a:prstGeom prst="rect">
            <a:avLst/>
          </a:prstGeom>
        </p:spPr>
      </p:pic>
      <p:sp>
        <p:nvSpPr>
          <p:cNvPr id="7" name="s22_t_4"/>
          <p:cNvSpPr txBox="1"/>
          <p:nvPr/>
        </p:nvSpPr>
        <p:spPr>
          <a:xfrm>
            <a:off x="594360" y="1097280"/>
            <a:ext cx="5212080" cy="173736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لن تجد آكلاتُ الأعشاب غذاءً فتموت، ثم تتأثر القوارت وآكلات اللحوم؛ لأن كل المخلوقات الحية في النظام البيئي تعتمد على المنتجات.</a:t>
            </a:r>
            <a:endParaRPr lang="ar-SA" sz="1700" dirty="0"/>
          </a:p>
        </p:txBody>
      </p:sp>
      <p:pic>
        <p:nvPicPr>
          <p:cNvPr id="8" name="s22_pic_5" descr="/tmp/claude-0/-home-user-Scienceshamah/8386cda7-7741-5ea4-8952-60ee8e67fc31/scratchpad/w3/img/card_923x300_8FD8FF_s_i.png">    </p:cNvPr>
          <p:cNvPicPr>
            <a:picLocks noChangeAspect="1"/>
          </p:cNvPicPr>
          <p:nvPr/>
        </p:nvPicPr>
        <p:blipFill>
          <a:blip r:embed="rId5"/>
          <a:stretch>
            <a:fillRect/>
          </a:stretch>
        </p:blipFill>
        <p:spPr>
          <a:xfrm>
            <a:off x="6126480" y="3108960"/>
            <a:ext cx="5623560" cy="1828800"/>
          </a:xfrm>
          <a:prstGeom prst="rect">
            <a:avLst/>
          </a:prstGeom>
        </p:spPr>
      </p:pic>
      <p:sp>
        <p:nvSpPr>
          <p:cNvPr id="9" name="s22_t_6"/>
          <p:cNvSpPr txBox="1"/>
          <p:nvPr/>
        </p:nvSpPr>
        <p:spPr>
          <a:xfrm>
            <a:off x="6309360" y="3154680"/>
            <a:ext cx="5257800" cy="173736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1E7FB8"/>
                </a:solidFill>
                <a:latin typeface="Tahoma" pitchFamily="34" charset="0"/>
                <a:ea typeface="Tahoma" pitchFamily="34" charset="-122"/>
                <a:cs typeface="Tahoma" pitchFamily="34" charset="-120"/>
              </a:rPr>
              <a:t>التفكير الناقد. </a:t>
            </a:r>
            <a:r>
              <a:rPr lang="ar-SA" altLang="en-US" sz="2100" b="1" dirty="0">
                <a:solidFill>
                  <a:srgbClr val="34405E"/>
                </a:solidFill>
                <a:latin typeface="Tahoma" pitchFamily="34" charset="0"/>
                <a:ea typeface="Tahoma" pitchFamily="34" charset="-122"/>
                <a:cs typeface="Tahoma" pitchFamily="34" charset="-120"/>
              </a:rPr>
              <a:t>هل تحصل المستهلكات على طاقتها مباشرة من الشمس؟ أوضّح ذلك.</a:t>
            </a:r>
            <a:endParaRPr lang="ar-SA" sz="2100" dirty="0"/>
          </a:p>
        </p:txBody>
      </p:sp>
      <p:pic>
        <p:nvPicPr>
          <p:cNvPr id="10" name="s22_pic_7" descr="/tmp/claude-0/-home-user-Scienceshamah/8386cda7-7741-5ea4-8952-60ee8e67fc31/scratchpad/w3/img/card_900x300_DFF7D2_s_i.png">    </p:cNvPr>
          <p:cNvPicPr>
            <a:picLocks noChangeAspect="1"/>
          </p:cNvPicPr>
          <p:nvPr/>
        </p:nvPicPr>
        <p:blipFill>
          <a:blip r:embed="rId6"/>
          <a:stretch>
            <a:fillRect/>
          </a:stretch>
        </p:blipFill>
        <p:spPr>
          <a:xfrm>
            <a:off x="457200" y="3108960"/>
            <a:ext cx="5486400" cy="1828800"/>
          </a:xfrm>
          <a:prstGeom prst="rect">
            <a:avLst/>
          </a:prstGeom>
        </p:spPr>
      </p:pic>
      <p:sp>
        <p:nvSpPr>
          <p:cNvPr id="11" name="s22_t_8"/>
          <p:cNvSpPr txBox="1"/>
          <p:nvPr/>
        </p:nvSpPr>
        <p:spPr>
          <a:xfrm>
            <a:off x="594360" y="3154680"/>
            <a:ext cx="5212080" cy="173736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لا؛ لأنها لا تستطيع صنع غذائها بنفسها، فتحصل على الطاقة بطريقة غير مباشرة عندما تتغذى على المنتجات أو على مستهلكات أخرى.</a:t>
            </a:r>
            <a:endParaRPr lang="ar-SA" sz="1700" dirty="0"/>
          </a:p>
        </p:txBody>
      </p:sp>
      <p:pic>
        <p:nvPicPr>
          <p:cNvPr id="12" name="s22_pic_9" descr="عالمة سعيدة">    </p:cNvPr>
          <p:cNvPicPr>
            <a:picLocks noChangeAspect="1"/>
          </p:cNvPicPr>
          <p:nvPr/>
        </p:nvPicPr>
        <p:blipFill>
          <a:blip r:embed="rId7"/>
          <a:stretch>
            <a:fillRect/>
          </a:stretch>
        </p:blipFill>
        <p:spPr>
          <a:xfrm>
            <a:off x="548640" y="5029200"/>
            <a:ext cx="988541" cy="1143000"/>
          </a:xfrm>
          <a:prstGeom prst="rect">
            <a:avLst/>
          </a:prstGeom>
        </p:spPr>
      </p:pic>
      <p:sp>
        <p:nvSpPr>
          <p:cNvPr id="13" name="s22_t_10"/>
          <p:cNvSpPr txBox="1"/>
          <p:nvPr/>
        </p:nvSpPr>
        <p:spPr>
          <a:xfrm>
            <a:off x="3657600" y="5349240"/>
            <a:ext cx="4846320" cy="548640"/>
          </a:xfrm>
          <a:prstGeom prst="roundRect">
            <a:avLst>
              <a:gd name="adj" fmla="val 50000"/>
            </a:avLst>
          </a:prstGeom>
          <a:solidFill>
            <a:srgbClr val="FFE066"/>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رائع! أنتِ عالمة تفكّر بعمق 🌟</a:t>
            </a:r>
            <a:endParaRPr lang="ar-SA" sz="1900" dirty="0"/>
          </a:p>
        </p:txBody>
      </p:sp>
    </p:spTree>
  </p:cSld>
  <p:clrMapOvr>
    <a:masterClrMapping/>
  </p:clrMapOvr>
  <mc:AlternateContent xmlns:mc="http://schemas.openxmlformats.org/markup-compatibility/2006">
    <mc:Choice xmlns:p14="http://schemas.microsoft.com/office/powerpoint/2010/main" Requires="p14">
      <p:transition spd="slow" p14:dur="1400">
        <p14:flip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500" fill="hold"/>
                                        <p:tgtEl>
                                          <p:spTgt spid="10"/>
                                        </p:tgtEl>
                                        <p:attrNameLst>
                                          <p:attrName>ppt_w</p:attrName>
                                        </p:attrNameLst>
                                      </p:cBhvr>
                                      <p:tavLst>
                                        <p:tav tm="0">
                                          <p:val>
                                            <p:fltVal val="0"/>
                                          </p:val>
                                        </p:tav>
                                        <p:tav tm="100000">
                                          <p:val>
                                            <p:strVal val="#ppt_w"/>
                                          </p:val>
                                        </p:tav>
                                      </p:tavLst>
                                    </p:anim>
                                    <p:anim calcmode="lin" valueType="num">
                                      <p:cBhvr>
                                        <p:cTn id="19" dur="500" fill="hold"/>
                                        <p:tgtEl>
                                          <p:spTgt spid="10"/>
                                        </p:tgtEl>
                                        <p:attrNameLst>
                                          <p:attrName>ppt_h</p:attrName>
                                        </p:attrNameLst>
                                      </p:cBhvr>
                                      <p:tavLst>
                                        <p:tav tm="0">
                                          <p:val>
                                            <p:fltVal val="0"/>
                                          </p:val>
                                        </p:tav>
                                        <p:tav tm="100000">
                                          <p:val>
                                            <p:strVal val="#ppt_h"/>
                                          </p:val>
                                        </p:tav>
                                      </p:tavLst>
                                    </p:anim>
                                    <p:animEffect transition="in" filter="fade">
                                      <p:cBhvr>
                                        <p:cTn id="20" dur="500"/>
                                        <p:tgtEl>
                                          <p:spTgt spid="10"/>
                                        </p:tgtEl>
                                      </p:cBhvr>
                                    </p:animEffect>
                                  </p:childTnLst>
                                </p:cTn>
                              </p:par>
                              <p:par>
                                <p:cTn id="26" presetID="53"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31"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3_title" descr="الربط بالحياة">    </p:cNvPr>
          <p:cNvPicPr>
            <a:picLocks noChangeAspect="1"/>
          </p:cNvPicPr>
          <p:nvPr/>
        </p:nvPicPr>
        <p:blipFill>
          <a:blip r:embed="rId2"/>
          <a:stretch>
            <a:fillRect/>
          </a:stretch>
        </p:blipFill>
        <p:spPr>
          <a:xfrm>
            <a:off x="8932173" y="109728"/>
            <a:ext cx="2909307" cy="868680"/>
          </a:xfrm>
          <a:prstGeom prst="rect">
            <a:avLst/>
          </a:prstGeom>
        </p:spPr>
      </p:pic>
      <p:sp>
        <p:nvSpPr>
          <p:cNvPr id="3" name="s23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التعلم من المواقف الحياتية</a:t>
            </a:r>
            <a:endParaRPr lang="ar-SA" sz="1700" dirty="0"/>
          </a:p>
        </p:txBody>
      </p:sp>
      <p:pic>
        <p:nvPicPr>
          <p:cNvPr id="4" name="s23_pic_1" descr="/tmp/claude-0/-home-user-Scienceshamah/8386cda7-7741-5ea4-8952-60ee8e67fc31/scratchpad/w3/img/card_1493x218_B8F28A_s_i.png">    </p:cNvPr>
          <p:cNvPicPr>
            <a:picLocks noChangeAspect="1"/>
          </p:cNvPicPr>
          <p:nvPr/>
        </p:nvPicPr>
        <p:blipFill>
          <a:blip r:embed="rId3"/>
          <a:stretch>
            <a:fillRect/>
          </a:stretch>
        </p:blipFill>
        <p:spPr>
          <a:xfrm>
            <a:off x="2651760" y="1051560"/>
            <a:ext cx="9098280" cy="1325880"/>
          </a:xfrm>
          <a:prstGeom prst="rect">
            <a:avLst/>
          </a:prstGeom>
        </p:spPr>
      </p:pic>
      <p:pic>
        <p:nvPicPr>
          <p:cNvPr id="5" name="s23_pic_2" descr="في وجبتي:">    </p:cNvPr>
          <p:cNvPicPr>
            <a:picLocks noChangeAspect="1"/>
          </p:cNvPicPr>
          <p:nvPr/>
        </p:nvPicPr>
        <p:blipFill>
          <a:blip r:embed="rId4"/>
          <a:stretch>
            <a:fillRect/>
          </a:stretch>
        </p:blipFill>
        <p:spPr>
          <a:xfrm>
            <a:off x="10835640" y="1280160"/>
            <a:ext cx="822960" cy="822960"/>
          </a:xfrm>
          <a:prstGeom prst="rect">
            <a:avLst/>
          </a:prstGeom>
        </p:spPr>
      </p:pic>
      <p:sp>
        <p:nvSpPr>
          <p:cNvPr id="6" name="s23_t_3"/>
          <p:cNvSpPr txBox="1"/>
          <p:nvPr/>
        </p:nvSpPr>
        <p:spPr>
          <a:xfrm>
            <a:off x="2834640" y="1097280"/>
            <a:ext cx="7909560" cy="1234440"/>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C2366F"/>
                </a:solidFill>
                <a:latin typeface="Tahoma" pitchFamily="34" charset="0"/>
                <a:ea typeface="Tahoma" pitchFamily="34" charset="-122"/>
                <a:cs typeface="Tahoma" pitchFamily="34" charset="-120"/>
              </a:rPr>
              <a:t>في وجبتي: </a:t>
            </a:r>
            <a:r>
              <a:rPr lang="ar-SA" altLang="en-US" sz="1900" b="1" dirty="0">
                <a:solidFill>
                  <a:srgbClr val="34405E"/>
                </a:solidFill>
                <a:latin typeface="Tahoma" pitchFamily="34" charset="0"/>
                <a:ea typeface="Tahoma" pitchFamily="34" charset="-122"/>
                <a:cs typeface="Tahoma" pitchFamily="34" charset="-120"/>
              </a:rPr>
              <a:t>الخبز من القمح (منتِج)، وأنا مستهلِكة أحصل على طاقتي من غذائي.</a:t>
            </a:r>
            <a:endParaRPr lang="ar-SA" sz="1900" dirty="0"/>
          </a:p>
        </p:txBody>
      </p:sp>
      <p:pic>
        <p:nvPicPr>
          <p:cNvPr id="7" name="s23_pic_4" descr="/tmp/claude-0/-home-user-Scienceshamah/8386cda7-7741-5ea4-8952-60ee8e67fc31/scratchpad/w3/img/card_1493x218_FFC48C_s_i.png">    </p:cNvPr>
          <p:cNvPicPr>
            <a:picLocks noChangeAspect="1"/>
          </p:cNvPicPr>
          <p:nvPr/>
        </p:nvPicPr>
        <p:blipFill>
          <a:blip r:embed="rId5"/>
          <a:stretch>
            <a:fillRect/>
          </a:stretch>
        </p:blipFill>
        <p:spPr>
          <a:xfrm>
            <a:off x="2651760" y="2514600"/>
            <a:ext cx="9098280" cy="1325880"/>
          </a:xfrm>
          <a:prstGeom prst="rect">
            <a:avLst/>
          </a:prstGeom>
        </p:spPr>
      </p:pic>
      <p:pic>
        <p:nvPicPr>
          <p:cNvPr id="8" name="s23_pic_5" descr="في مطبخنا:">    </p:cNvPr>
          <p:cNvPicPr>
            <a:picLocks noChangeAspect="1"/>
          </p:cNvPicPr>
          <p:nvPr/>
        </p:nvPicPr>
        <p:blipFill>
          <a:blip r:embed="rId6"/>
          <a:stretch>
            <a:fillRect/>
          </a:stretch>
        </p:blipFill>
        <p:spPr>
          <a:xfrm>
            <a:off x="10835640" y="2743200"/>
            <a:ext cx="822960" cy="822960"/>
          </a:xfrm>
          <a:prstGeom prst="rect">
            <a:avLst/>
          </a:prstGeom>
        </p:spPr>
      </p:pic>
      <p:sp>
        <p:nvSpPr>
          <p:cNvPr id="9" name="s23_t_6"/>
          <p:cNvSpPr txBox="1"/>
          <p:nvPr/>
        </p:nvSpPr>
        <p:spPr>
          <a:xfrm>
            <a:off x="2834640" y="2560320"/>
            <a:ext cx="7909560" cy="1234440"/>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C2366F"/>
                </a:solidFill>
                <a:latin typeface="Tahoma" pitchFamily="34" charset="0"/>
                <a:ea typeface="Tahoma" pitchFamily="34" charset="-122"/>
                <a:cs typeface="Tahoma" pitchFamily="34" charset="-120"/>
              </a:rPr>
              <a:t>في مطبخنا: </a:t>
            </a:r>
            <a:r>
              <a:rPr lang="ar-SA" altLang="en-US" sz="1900" b="1" dirty="0">
                <a:solidFill>
                  <a:srgbClr val="34405E"/>
                </a:solidFill>
                <a:latin typeface="Tahoma" pitchFamily="34" charset="0"/>
                <a:ea typeface="Tahoma" pitchFamily="34" charset="-122"/>
                <a:cs typeface="Tahoma" pitchFamily="34" charset="-120"/>
              </a:rPr>
              <a:t>الخبز الرطب المتروك يتعفّن؛ لأن الفطريات (محلِّلات) تنمو عليه.</a:t>
            </a:r>
            <a:endParaRPr lang="ar-SA" sz="1900" dirty="0"/>
          </a:p>
        </p:txBody>
      </p:sp>
      <p:pic>
        <p:nvPicPr>
          <p:cNvPr id="10" name="s23_pic_7" descr="/tmp/claude-0/-home-user-Scienceshamah/8386cda7-7741-5ea4-8952-60ee8e67fc31/scratchpad/w3/img/card_1493x218_8FD8FF_s_i.png">    </p:cNvPr>
          <p:cNvPicPr>
            <a:picLocks noChangeAspect="1"/>
          </p:cNvPicPr>
          <p:nvPr/>
        </p:nvPicPr>
        <p:blipFill>
          <a:blip r:embed="rId7"/>
          <a:stretch>
            <a:fillRect/>
          </a:stretch>
        </p:blipFill>
        <p:spPr>
          <a:xfrm>
            <a:off x="2651760" y="3977640"/>
            <a:ext cx="9098280" cy="1325880"/>
          </a:xfrm>
          <a:prstGeom prst="rect">
            <a:avLst/>
          </a:prstGeom>
        </p:spPr>
      </p:pic>
      <p:pic>
        <p:nvPicPr>
          <p:cNvPr id="11" name="s23_pic_8" descr="في حديقتي:">    </p:cNvPr>
          <p:cNvPicPr>
            <a:picLocks noChangeAspect="1"/>
          </p:cNvPicPr>
          <p:nvPr/>
        </p:nvPicPr>
        <p:blipFill>
          <a:blip r:embed="rId8"/>
          <a:stretch>
            <a:fillRect/>
          </a:stretch>
        </p:blipFill>
        <p:spPr>
          <a:xfrm>
            <a:off x="10835640" y="4206240"/>
            <a:ext cx="822960" cy="822960"/>
          </a:xfrm>
          <a:prstGeom prst="rect">
            <a:avLst/>
          </a:prstGeom>
        </p:spPr>
      </p:pic>
      <p:sp>
        <p:nvSpPr>
          <p:cNvPr id="12" name="s23_t_9"/>
          <p:cNvSpPr txBox="1"/>
          <p:nvPr/>
        </p:nvSpPr>
        <p:spPr>
          <a:xfrm>
            <a:off x="2834640" y="4023360"/>
            <a:ext cx="7909560" cy="1234440"/>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C2366F"/>
                </a:solidFill>
                <a:latin typeface="Tahoma" pitchFamily="34" charset="0"/>
                <a:ea typeface="Tahoma" pitchFamily="34" charset="-122"/>
                <a:cs typeface="Tahoma" pitchFamily="34" charset="-120"/>
              </a:rPr>
              <a:t>في حديقتي: </a:t>
            </a:r>
            <a:r>
              <a:rPr lang="ar-SA" altLang="en-US" sz="1900" b="1" dirty="0">
                <a:solidFill>
                  <a:srgbClr val="34405E"/>
                </a:solidFill>
                <a:latin typeface="Tahoma" pitchFamily="34" charset="0"/>
                <a:ea typeface="Tahoma" pitchFamily="34" charset="-122"/>
                <a:cs typeface="Tahoma" pitchFamily="34" charset="-120"/>
              </a:rPr>
              <a:t>الأوراق المتساقطة تتحلّل وتعيد المواد المغذية إلى التربة.</a:t>
            </a:r>
            <a:endParaRPr lang="ar-SA" sz="1900" dirty="0"/>
          </a:p>
        </p:txBody>
      </p:sp>
      <p:pic>
        <p:nvPicPr>
          <p:cNvPr id="13" name="s23_pic_10" descr="عالمة صغيرة">    </p:cNvPr>
          <p:cNvPicPr>
            <a:picLocks noChangeAspect="1"/>
          </p:cNvPicPr>
          <p:nvPr/>
        </p:nvPicPr>
        <p:blipFill>
          <a:blip r:embed="rId9"/>
          <a:stretch>
            <a:fillRect/>
          </a:stretch>
        </p:blipFill>
        <p:spPr>
          <a:xfrm>
            <a:off x="457200" y="1828800"/>
            <a:ext cx="2056164" cy="2377440"/>
          </a:xfrm>
          <a:prstGeom prst="rect">
            <a:avLst/>
          </a:prstGeom>
        </p:spPr>
      </p:pic>
      <p:pic>
        <p:nvPicPr>
          <p:cNvPr id="14" name="s23_pic_11" descr="/tmp/claude-0/-home-user-Scienceshamah/8386cda7-7741-5ea4-8952-60ee8e67fc31/scratchpad/w3/img/card_1853x143_FFFFFF_d_i.png">    </p:cNvPr>
          <p:cNvPicPr>
            <a:picLocks noChangeAspect="1"/>
          </p:cNvPicPr>
          <p:nvPr/>
        </p:nvPicPr>
        <p:blipFill>
          <a:blip r:embed="rId10"/>
          <a:stretch>
            <a:fillRect/>
          </a:stretch>
        </p:blipFill>
        <p:spPr>
          <a:xfrm>
            <a:off x="457200" y="5349240"/>
            <a:ext cx="11292840" cy="868680"/>
          </a:xfrm>
          <a:prstGeom prst="rect">
            <a:avLst/>
          </a:prstGeom>
        </p:spPr>
      </p:pic>
      <p:sp>
        <p:nvSpPr>
          <p:cNvPr id="15" name="s23_t_12"/>
          <p:cNvSpPr txBox="1"/>
          <p:nvPr/>
        </p:nvSpPr>
        <p:spPr>
          <a:xfrm>
            <a:off x="640080" y="5376672"/>
            <a:ext cx="10927080" cy="82296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سؤال: لماذا نحفظ الخبز في مكان جاف ونظيف؟ (حتى لا تنمو عليه الفطريات بسرعة)</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4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6" dur="500" fill="hold"/>
                                        <p:tgtEl>
                                          <p:spTgt spid="4"/>
                                        </p:tgtEl>
                                        <p:attrNameLst>
                                          <p:attrName>ppt_w</p:attrName>
                                        </p:attrNameLst>
                                      </p:cBhvr>
                                      <p:tavLst>
                                        <p:tav tm="0">
                                          <p:val>
                                            <p:fltVal val="0"/>
                                          </p:val>
                                        </p:tav>
                                        <p:tav tm="100000">
                                          <p:val>
                                            <p:strVal val="#ppt_w"/>
                                          </p:val>
                                        </p:tav>
                                      </p:tavLst>
                                    </p:anim>
                                    <p:anim calcmode="lin" valueType="num">
                                      <p:cBhvr>
                                        <p:cTn id="7" dur="500" fill="hold"/>
                                        <p:tgtEl>
                                          <p:spTgt spid="4"/>
                                        </p:tgtEl>
                                        <p:attrNameLst>
                                          <p:attrName>ppt_h</p:attrName>
                                        </p:attrNameLst>
                                      </p:cBhvr>
                                      <p:tavLst>
                                        <p:tav tm="0">
                                          <p:val>
                                            <p:fltVal val="0"/>
                                          </p:val>
                                        </p:tav>
                                        <p:tav tm="100000">
                                          <p:val>
                                            <p:strVal val="#ppt_h"/>
                                          </p:val>
                                        </p:tav>
                                      </p:tavLst>
                                    </p:anim>
                                    <p:animEffect transition="in" filter="fade">
                                      <p:cBhvr>
                                        <p:cTn id="8" dur="500"/>
                                        <p:tgtEl>
                                          <p:spTgt spid="4"/>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par>
                                <p:cTn id="31" presetID="53" presetClass="entr" presetSubtype="16"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Effect transition="in" filter="fade">
                                      <p:cBhvr>
                                        <p:cTn id="35"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43" presetID="53" presetClass="entr" presetSubtype="16"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8" presetID="53" presetClass="entr" presetSubtype="16"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500" fill="hold"/>
                                        <p:tgtEl>
                                          <p:spTgt spid="11"/>
                                        </p:tgtEl>
                                        <p:attrNameLst>
                                          <p:attrName>ppt_w</p:attrName>
                                        </p:attrNameLst>
                                      </p:cBhvr>
                                      <p:tavLst>
                                        <p:tav tm="0">
                                          <p:val>
                                            <p:fltVal val="0"/>
                                          </p:val>
                                        </p:tav>
                                        <p:tav tm="100000">
                                          <p:val>
                                            <p:strVal val="#ppt_w"/>
                                          </p:val>
                                        </p:tav>
                                      </p:tavLst>
                                    </p:anim>
                                    <p:anim calcmode="lin" valueType="num">
                                      <p:cBhvr>
                                        <p:cTn id="46" dur="500" fill="hold"/>
                                        <p:tgtEl>
                                          <p:spTgt spid="11"/>
                                        </p:tgtEl>
                                        <p:attrNameLst>
                                          <p:attrName>ppt_h</p:attrName>
                                        </p:attrNameLst>
                                      </p:cBhvr>
                                      <p:tavLst>
                                        <p:tav tm="0">
                                          <p:val>
                                            <p:fltVal val="0"/>
                                          </p:val>
                                        </p:tav>
                                        <p:tav tm="100000">
                                          <p:val>
                                            <p:strVal val="#ppt_h"/>
                                          </p:val>
                                        </p:tav>
                                      </p:tavLst>
                                    </p:anim>
                                    <p:animEffect transition="in" filter="fade">
                                      <p:cBhvr>
                                        <p:cTn id="47" dur="500"/>
                                        <p:tgtEl>
                                          <p:spTgt spid="11"/>
                                        </p:tgtEl>
                                      </p:cBhvr>
                                    </p:animEffect>
                                  </p:childTnLst>
                                </p:cTn>
                              </p:par>
                              <p:par>
                                <p:cTn id="53" presetID="53" presetClass="entr" presetSubtype="16"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p:cTn id="50" dur="500" fill="hold"/>
                                        <p:tgtEl>
                                          <p:spTgt spid="12"/>
                                        </p:tgtEl>
                                        <p:attrNameLst>
                                          <p:attrName>ppt_w</p:attrName>
                                        </p:attrNameLst>
                                      </p:cBhvr>
                                      <p:tavLst>
                                        <p:tav tm="0">
                                          <p:val>
                                            <p:fltVal val="0"/>
                                          </p:val>
                                        </p:tav>
                                        <p:tav tm="100000">
                                          <p:val>
                                            <p:strVal val="#ppt_w"/>
                                          </p:val>
                                        </p:tav>
                                      </p:tavLst>
                                    </p:anim>
                                    <p:anim calcmode="lin" valueType="num">
                                      <p:cBhvr>
                                        <p:cTn id="51" dur="500" fill="hold"/>
                                        <p:tgtEl>
                                          <p:spTgt spid="12"/>
                                        </p:tgtEl>
                                        <p:attrNameLst>
                                          <p:attrName>ppt_h</p:attrName>
                                        </p:attrNameLst>
                                      </p:cBhvr>
                                      <p:tavLst>
                                        <p:tav tm="0">
                                          <p:val>
                                            <p:fltVal val="0"/>
                                          </p:val>
                                        </p:tav>
                                        <p:tav tm="100000">
                                          <p:val>
                                            <p:strVal val="#ppt_h"/>
                                          </p:val>
                                        </p:tav>
                                      </p:tavLst>
                                    </p:anim>
                                    <p:animEffect transition="in" filter="fade">
                                      <p:cBhvr>
                                        <p:cTn id="52"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8"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4_title" descr="الربط بالوطن">    </p:cNvPr>
          <p:cNvPicPr>
            <a:picLocks noChangeAspect="1"/>
          </p:cNvPicPr>
          <p:nvPr/>
        </p:nvPicPr>
        <p:blipFill>
          <a:blip r:embed="rId2"/>
          <a:stretch>
            <a:fillRect/>
          </a:stretch>
        </p:blipFill>
        <p:spPr>
          <a:xfrm>
            <a:off x="8793390" y="109728"/>
            <a:ext cx="3048090" cy="868680"/>
          </a:xfrm>
          <a:prstGeom prst="rect">
            <a:avLst/>
          </a:prstGeom>
        </p:spPr>
      </p:pic>
      <p:pic>
        <p:nvPicPr>
          <p:cNvPr id="3" name="s24_pic_1" descr="علم المملكة العربية السعودية">    </p:cNvPr>
          <p:cNvPicPr>
            <a:picLocks noChangeAspect="1"/>
          </p:cNvPicPr>
          <p:nvPr/>
        </p:nvPicPr>
        <p:blipFill>
          <a:blip r:embed="rId3"/>
          <a:stretch>
            <a:fillRect/>
          </a:stretch>
        </p:blipFill>
        <p:spPr>
          <a:xfrm>
            <a:off x="411480" y="182880"/>
            <a:ext cx="1097280" cy="822960"/>
          </a:xfrm>
          <a:prstGeom prst="rect">
            <a:avLst/>
          </a:prstGeom>
        </p:spPr>
      </p:pic>
      <p:sp>
        <p:nvSpPr>
          <p:cNvPr id="4" name="s24_t_2"/>
          <p:cNvSpPr txBox="1"/>
          <p:nvPr/>
        </p:nvSpPr>
        <p:spPr>
          <a:xfrm>
            <a:off x="1645920" y="320040"/>
            <a:ext cx="2926080" cy="530352"/>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ربط وطني</a:t>
            </a:r>
            <a:endParaRPr lang="ar-SA" sz="1700" dirty="0"/>
          </a:p>
        </p:txBody>
      </p:sp>
      <p:sp>
        <p:nvSpPr>
          <p:cNvPr id="5" name="s24_c_3"/>
          <p:cNvSpPr/>
          <p:nvPr/>
        </p:nvSpPr>
        <p:spPr>
          <a:xfrm>
            <a:off x="457200" y="1188720"/>
            <a:ext cx="11292840" cy="1463040"/>
          </a:xfrm>
          <a:prstGeom prst="roundRect">
            <a:avLst>
              <a:gd name="adj" fmla="val 15625"/>
            </a:avLst>
          </a:prstGeom>
          <a:solidFill>
            <a:srgbClr val="FFFFFF">
              <a:alpha val="95000"/>
            </a:srgbClr>
          </a:solidFill>
          <a:ln w="38100">
            <a:solidFill>
              <a:srgbClr val="2E7D32"/>
            </a:solidFill>
            <a:prstDash val="solid"/>
          </a:ln>
          <a:effectLst>
            <a:outerShdw sx="100000" sy="100000" kx="0" ky="0" algn="bl" rotWithShape="0" blurRad="76200" dist="38100" dir="5400000">
              <a:srgbClr val="34405E">
                <a:alpha val="16000"/>
              </a:srgbClr>
            </a:outerShdw>
          </a:effectLst>
        </p:spPr>
      </p:sp>
      <p:sp>
        <p:nvSpPr>
          <p:cNvPr id="6" name="s24_t_4"/>
          <p:cNvSpPr txBox="1"/>
          <p:nvPr/>
        </p:nvSpPr>
        <p:spPr>
          <a:xfrm>
            <a:off x="640080" y="1234440"/>
            <a:ext cx="10927080" cy="1371600"/>
          </a:xfrm>
          <a:prstGeom prst="rect">
            <a:avLst/>
          </a:prstGeom>
          <a:noFill/>
          <a:ln/>
        </p:spPr>
        <p:txBody>
          <a:bodyPr wrap="square" lIns="762" tIns="762" rIns="762" bIns="762" rtlCol="0" anchor="ctr"/>
          <a:lstStyle/>
          <a:p>
            <a:pPr rtl="1" algn="r" indent="0" marL="0">
              <a:lnSpc>
                <a:spcPct val="108000"/>
              </a:lnSpc>
              <a:buNone/>
            </a:pPr>
            <a:r>
              <a:rPr lang="ar-SA" altLang="en-US" sz="2200" b="1" dirty="0">
                <a:solidFill>
                  <a:srgbClr val="2E7D32"/>
                </a:solidFill>
                <a:latin typeface="Tahoma" pitchFamily="34" charset="0"/>
                <a:ea typeface="Tahoma" pitchFamily="34" charset="-122"/>
                <a:cs typeface="Tahoma" pitchFamily="34" charset="-120"/>
              </a:rPr>
              <a:t>🌳 مبادرة السعودية الخضراء: </a:t>
            </a:r>
            <a:r>
              <a:rPr lang="ar-SA" altLang="en-US" sz="2200" b="1" dirty="0">
                <a:solidFill>
                  <a:srgbClr val="34405E"/>
                </a:solidFill>
                <a:latin typeface="Tahoma" pitchFamily="34" charset="0"/>
                <a:ea typeface="Tahoma" pitchFamily="34" charset="-122"/>
                <a:cs typeface="Tahoma" pitchFamily="34" charset="-120"/>
              </a:rPr>
              <a:t>تستهدف زراعة ١٠ مليارات شجرة داخل المملكة خلال العقود القادمة.</a:t>
            </a:r>
            <a:endParaRPr lang="ar-SA" sz="2200" dirty="0"/>
          </a:p>
        </p:txBody>
      </p:sp>
      <p:sp>
        <p:nvSpPr>
          <p:cNvPr id="7" name="s24_c_5"/>
          <p:cNvSpPr/>
          <p:nvPr/>
        </p:nvSpPr>
        <p:spPr>
          <a:xfrm>
            <a:off x="3017520" y="2834640"/>
            <a:ext cx="8732520" cy="1463040"/>
          </a:xfrm>
          <a:prstGeom prst="roundRect">
            <a:avLst>
              <a:gd name="adj" fmla="val 15625"/>
            </a:avLst>
          </a:prstGeom>
          <a:solidFill>
            <a:srgbClr val="FFF6CF"/>
          </a:solidFill>
          <a:ln w="38100">
            <a:solidFill>
              <a:srgbClr val="F5C242"/>
            </a:solidFill>
            <a:prstDash val="solid"/>
          </a:ln>
          <a:effectLst>
            <a:outerShdw sx="100000" sy="100000" kx="0" ky="0" algn="bl" rotWithShape="0" blurRad="76200" dist="38100" dir="5400000">
              <a:srgbClr val="34405E">
                <a:alpha val="16000"/>
              </a:srgbClr>
            </a:outerShdw>
          </a:effectLst>
        </p:spPr>
      </p:sp>
      <p:sp>
        <p:nvSpPr>
          <p:cNvPr id="8" name="s24_t_6"/>
          <p:cNvSpPr txBox="1"/>
          <p:nvPr/>
        </p:nvSpPr>
        <p:spPr>
          <a:xfrm>
            <a:off x="3200400" y="2880360"/>
            <a:ext cx="8366760" cy="137160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C2366F"/>
                </a:solidFill>
                <a:latin typeface="Tahoma" pitchFamily="34" charset="0"/>
                <a:ea typeface="Tahoma" pitchFamily="34" charset="-122"/>
                <a:cs typeface="Tahoma" pitchFamily="34" charset="-120"/>
              </a:rPr>
              <a:t>الربط بالدرس: </a:t>
            </a:r>
            <a:r>
              <a:rPr lang="ar-SA" altLang="en-US" sz="2000" b="1" dirty="0">
                <a:solidFill>
                  <a:srgbClr val="34405E"/>
                </a:solidFill>
                <a:latin typeface="Tahoma" pitchFamily="34" charset="0"/>
                <a:ea typeface="Tahoma" pitchFamily="34" charset="-122"/>
                <a:cs typeface="Tahoma" pitchFamily="34" charset="-120"/>
              </a:rPr>
              <a:t>الأشجار منتِجات؛ وزيادتها تعني غذاءً وموطنًا لمزيد من المستهلكات في النظام البيئي.</a:t>
            </a:r>
            <a:endParaRPr lang="ar-SA" sz="2000" dirty="0"/>
          </a:p>
        </p:txBody>
      </p:sp>
      <p:sp>
        <p:nvSpPr>
          <p:cNvPr id="9" name="s24_t_7">
            <a:hlinkClick r:id="rId4" tooltip="الموقع الرسمي لمبادرة السعودية الخضراء"/>
          </p:cNvPr>
          <p:cNvSpPr txBox="1"/>
          <p:nvPr/>
        </p:nvSpPr>
        <p:spPr>
          <a:xfrm>
            <a:off x="3017520" y="4526280"/>
            <a:ext cx="4023360" cy="640080"/>
          </a:xfrm>
          <a:prstGeom prst="roundRect">
            <a:avLst>
              <a:gd name="adj" fmla="val 50000"/>
            </a:avLst>
          </a:prstGeom>
          <a:solidFill>
            <a:srgbClr val="2E7D32"/>
          </a:solidFill>
          <a:ln w="381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2000" b="1" u="sng" dirty="0">
                <a:solidFill>
                  <a:srgbClr val="FFFFFF"/>
                </a:solidFill>
                <a:latin typeface="Tahoma" pitchFamily="34" charset="0"/>
                <a:ea typeface="Tahoma" pitchFamily="34" charset="-122"/>
                <a:cs typeface="Tahoma" pitchFamily="34" charset="-120"/>
                <a:hlinkClick r:id="rId4" invalidUrl="" action="" tgtFrame="" tooltip="الموقع الرسمي لمبادرة السعودية الخضراء" history="1" highlightClick="0" endSnd="0">
                  <a:extLst>
                    <a:ext uri="{A12FA001-AC4F-418D-AE19-62706E023703}">
                      <ahyp:hlinkClr xmlns:ahyp="http://schemas.microsoft.com/office/drawing/2018/hyperlinkcolor" val="tx"/>
                    </a:ext>
                  </a:extLst>
                </a:hlinkClick>
              </a:rPr>
              <a:t>🔗 تعرّفي على المبادرة</a:t>
            </a:r>
            <a:endParaRPr lang="ar-SA" sz="2000" dirty="0"/>
          </a:p>
        </p:txBody>
      </p:sp>
      <p:pic>
        <p:nvPicPr>
          <p:cNvPr id="10" name="s24_pic_8" descr="/tmp/claude-0/-home-user-Scienceshamah/8386cda7-7741-5ea4-8952-60ee8e67fc31/scratchpad/w3/img/card_743x278_B8F28A_s_i.png">    </p:cNvPr>
          <p:cNvPicPr>
            <a:picLocks noChangeAspect="1"/>
          </p:cNvPicPr>
          <p:nvPr/>
        </p:nvPicPr>
        <p:blipFill>
          <a:blip r:embed="rId5"/>
          <a:stretch>
            <a:fillRect/>
          </a:stretch>
        </p:blipFill>
        <p:spPr>
          <a:xfrm>
            <a:off x="7223760" y="4480560"/>
            <a:ext cx="4526280" cy="1691640"/>
          </a:xfrm>
          <a:prstGeom prst="rect">
            <a:avLst/>
          </a:prstGeom>
        </p:spPr>
      </p:pic>
      <p:sp>
        <p:nvSpPr>
          <p:cNvPr id="11" name="s24_t_9"/>
          <p:cNvSpPr txBox="1"/>
          <p:nvPr/>
        </p:nvSpPr>
        <p:spPr>
          <a:xfrm>
            <a:off x="7360920" y="4526280"/>
            <a:ext cx="4251960" cy="160020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1B5E20"/>
                </a:solidFill>
                <a:latin typeface="Tahoma" pitchFamily="34" charset="0"/>
                <a:ea typeface="Tahoma" pitchFamily="34" charset="-122"/>
                <a:cs typeface="Tahoma" pitchFamily="34" charset="-120"/>
              </a:rPr>
              <a:t>سؤال: </a:t>
            </a:r>
            <a:r>
              <a:rPr lang="ar-SA" altLang="en-US" sz="1700" b="1" dirty="0">
                <a:solidFill>
                  <a:srgbClr val="34405E"/>
                </a:solidFill>
                <a:latin typeface="Tahoma" pitchFamily="34" charset="0"/>
                <a:ea typeface="Tahoma" pitchFamily="34" charset="-122"/>
                <a:cs typeface="Tahoma" pitchFamily="34" charset="-120"/>
              </a:rPr>
              <a:t>كيف أشارك في هذه المبادرة؟ (أزرع نبتة، وأحافظ على الأشجار)</a:t>
            </a:r>
            <a:endParaRPr lang="ar-SA" sz="1700" dirty="0"/>
          </a:p>
        </p:txBody>
      </p:sp>
      <p:pic>
        <p:nvPicPr>
          <p:cNvPr id="12" name="s24_pic_10" descr="عالمة سعيدة">    </p:cNvPr>
          <p:cNvPicPr>
            <a:picLocks noChangeAspect="1"/>
          </p:cNvPicPr>
          <p:nvPr/>
        </p:nvPicPr>
        <p:blipFill>
          <a:blip r:embed="rId6"/>
          <a:stretch>
            <a:fillRect/>
          </a:stretch>
        </p:blipFill>
        <p:spPr>
          <a:xfrm>
            <a:off x="548640" y="2743200"/>
            <a:ext cx="2056164" cy="23774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4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par>
                                <p:cTn id="26" presetID="53" presetClass="entr" presetSubtype="16"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ppt_w</p:attrName>
                                        </p:attrNameLst>
                                      </p:cBhvr>
                                      <p:tavLst>
                                        <p:tav tm="0">
                                          <p:val>
                                            <p:fltVal val="0"/>
                                          </p:val>
                                        </p:tav>
                                        <p:tav tm="100000">
                                          <p:val>
                                            <p:strVal val="#ppt_w"/>
                                          </p:val>
                                        </p:tav>
                                      </p:tavLst>
                                    </p:anim>
                                    <p:anim calcmode="lin" valueType="num">
                                      <p:cBhvr>
                                        <p:cTn id="24" dur="500" fill="hold"/>
                                        <p:tgtEl>
                                          <p:spTgt spid="8"/>
                                        </p:tgtEl>
                                        <p:attrNameLst>
                                          <p:attrName>ppt_h</p:attrName>
                                        </p:attrNameLst>
                                      </p:cBhvr>
                                      <p:tavLst>
                                        <p:tav tm="0">
                                          <p:val>
                                            <p:fltVal val="0"/>
                                          </p:val>
                                        </p:tav>
                                        <p:tav tm="100000">
                                          <p:val>
                                            <p:strVal val="#ppt_h"/>
                                          </p:val>
                                        </p:tav>
                                      </p:tavLst>
                                    </p:anim>
                                    <p:animEffect transition="in" filter="fade">
                                      <p:cBhvr>
                                        <p:cTn id="25"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31"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5_title" descr="الربط بالقرآن الكريم">    </p:cNvPr>
          <p:cNvPicPr>
            <a:picLocks noChangeAspect="1"/>
          </p:cNvPicPr>
          <p:nvPr/>
        </p:nvPicPr>
        <p:blipFill>
          <a:blip r:embed="rId2"/>
          <a:stretch>
            <a:fillRect/>
          </a:stretch>
        </p:blipFill>
        <p:spPr>
          <a:xfrm>
            <a:off x="7431258" y="109728"/>
            <a:ext cx="4410222" cy="868680"/>
          </a:xfrm>
          <a:prstGeom prst="rect">
            <a:avLst/>
          </a:prstGeom>
        </p:spPr>
      </p:pic>
      <p:sp>
        <p:nvSpPr>
          <p:cNvPr id="3" name="s25_strategy"/>
          <p:cNvSpPr txBox="1"/>
          <p:nvPr/>
        </p:nvSpPr>
        <p:spPr>
          <a:xfrm>
            <a:off x="411480" y="274320"/>
            <a:ext cx="365760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التأمل والتدبر</a:t>
            </a:r>
            <a:endParaRPr lang="ar-SA" sz="1700" dirty="0"/>
          </a:p>
        </p:txBody>
      </p:sp>
      <p:sp>
        <p:nvSpPr>
          <p:cNvPr id="4" name="s25_t_1"/>
          <p:cNvSpPr txBox="1"/>
          <p:nvPr/>
        </p:nvSpPr>
        <p:spPr>
          <a:xfrm>
            <a:off x="4727448" y="1188720"/>
            <a:ext cx="2743200" cy="50292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1E5A4E"/>
                </a:solidFill>
                <a:latin typeface="Tahoma" pitchFamily="34" charset="0"/>
                <a:ea typeface="Tahoma" pitchFamily="34" charset="-122"/>
                <a:cs typeface="Tahoma" pitchFamily="34" charset="-120"/>
              </a:rPr>
              <a:t>قال تعالى:</a:t>
            </a:r>
            <a:endParaRPr lang="ar-SA" sz="2200" dirty="0"/>
          </a:p>
        </p:txBody>
      </p:sp>
      <p:pic>
        <p:nvPicPr>
          <p:cNvPr id="5" name="s25_verse" descr="قال تعالى: وما من دابة في الأرض إلا على الله رزقها – سورة هود الآية ٦">    </p:cNvPr>
          <p:cNvPicPr>
            <a:picLocks noChangeAspect="1"/>
          </p:cNvPicPr>
          <p:nvPr/>
        </p:nvPicPr>
        <p:blipFill>
          <a:blip r:embed="rId3"/>
          <a:stretch>
            <a:fillRect/>
          </a:stretch>
        </p:blipFill>
        <p:spPr>
          <a:xfrm>
            <a:off x="1523848" y="1737360"/>
            <a:ext cx="9144000" cy="1425798"/>
          </a:xfrm>
          <a:prstGeom prst="rect">
            <a:avLst/>
          </a:prstGeom>
        </p:spPr>
      </p:pic>
      <p:sp>
        <p:nvSpPr>
          <p:cNvPr id="6" name="s25_t_2"/>
          <p:cNvSpPr txBox="1"/>
          <p:nvPr/>
        </p:nvSpPr>
        <p:spPr>
          <a:xfrm>
            <a:off x="4956048" y="2980278"/>
            <a:ext cx="2286000" cy="41148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A8862E"/>
                </a:solidFill>
                <a:latin typeface="Tahoma" pitchFamily="34" charset="0"/>
                <a:ea typeface="Tahoma" pitchFamily="34" charset="-122"/>
                <a:cs typeface="Tahoma" pitchFamily="34" charset="-120"/>
              </a:rPr>
              <a:t>[هود: ٦]</a:t>
            </a:r>
            <a:endParaRPr lang="ar-SA" sz="1900" dirty="0"/>
          </a:p>
        </p:txBody>
      </p:sp>
      <p:pic>
        <p:nvPicPr>
          <p:cNvPr id="7" name="s25_pic_3" descr="/tmp/claude-0/-home-user-Scienceshamah/8386cda7-7741-5ea4-8952-60ee8e67fc31/scratchpad/w3/img/card_1403x225_7FE3D4_s_i.png">    </p:cNvPr>
          <p:cNvPicPr>
            <a:picLocks noChangeAspect="1"/>
          </p:cNvPicPr>
          <p:nvPr/>
        </p:nvPicPr>
        <p:blipFill>
          <a:blip r:embed="rId4"/>
          <a:stretch>
            <a:fillRect/>
          </a:stretch>
        </p:blipFill>
        <p:spPr>
          <a:xfrm>
            <a:off x="1828800" y="4206240"/>
            <a:ext cx="8549640" cy="1371600"/>
          </a:xfrm>
          <a:prstGeom prst="rect">
            <a:avLst/>
          </a:prstGeom>
        </p:spPr>
      </p:pic>
      <p:sp>
        <p:nvSpPr>
          <p:cNvPr id="8" name="s25_t_4"/>
          <p:cNvSpPr txBox="1"/>
          <p:nvPr/>
        </p:nvSpPr>
        <p:spPr>
          <a:xfrm>
            <a:off x="2011680" y="4251960"/>
            <a:ext cx="8183880" cy="1280160"/>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0E5E55"/>
                </a:solidFill>
                <a:latin typeface="Tahoma" pitchFamily="34" charset="0"/>
                <a:ea typeface="Tahoma" pitchFamily="34" charset="-122"/>
                <a:cs typeface="Tahoma" pitchFamily="34" charset="-120"/>
              </a:rPr>
              <a:t>🌿 تكفّل الله تعالى برزق كل دابة، وجعل لكل مخلوق حيٍّ دورًا يؤدّيه في النظام البيئي؛ فسبحان الخالق المدبّر.</a:t>
            </a:r>
            <a:endParaRPr lang="ar-SA" sz="2000" dirty="0"/>
          </a:p>
        </p:txBody>
      </p:sp>
    </p:spTree>
  </p:cSld>
  <p:clrMapOvr>
    <a:masterClrMapping/>
  </p:clrMapOvr>
  <mc:AlternateContent xmlns:mc="http://schemas.openxmlformats.org/markup-compatibility/2006">
    <mc:Choice xmlns:p14="http://schemas.microsoft.com/office/powerpoint/2010/main" Requires="p14">
      <p:transition spd="slow" p14:dur="14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 calcmode="lin" valueType="num">
                                      <p:cBhvr>
                                        <p:cTn id="6" dur="500" fill="hold"/>
                                        <p:tgtEl>
                                          <p:spTgt spid="7"/>
                                        </p:tgtEl>
                                        <p:attrNameLst>
                                          <p:attrName>ppt_w</p:attrName>
                                        </p:attrNameLst>
                                      </p:cBhvr>
                                      <p:tavLst>
                                        <p:tav tm="0">
                                          <p:val>
                                            <p:fltVal val="0"/>
                                          </p:val>
                                        </p:tav>
                                        <p:tav tm="100000">
                                          <p:val>
                                            <p:strVal val="#ppt_w"/>
                                          </p:val>
                                        </p:tav>
                                      </p:tavLst>
                                    </p:anim>
                                    <p:anim calcmode="lin" valueType="num">
                                      <p:cBhvr>
                                        <p:cTn id="7" dur="500" fill="hold"/>
                                        <p:tgtEl>
                                          <p:spTgt spid="7"/>
                                        </p:tgtEl>
                                        <p:attrNameLst>
                                          <p:attrName>ppt_h</p:attrName>
                                        </p:attrNameLst>
                                      </p:cBhvr>
                                      <p:tavLst>
                                        <p:tav tm="0">
                                          <p:val>
                                            <p:fltVal val="0"/>
                                          </p:val>
                                        </p:tav>
                                        <p:tav tm="100000">
                                          <p:val>
                                            <p:strVal val="#ppt_h"/>
                                          </p:val>
                                        </p:tav>
                                      </p:tavLst>
                                    </p:anim>
                                    <p:animEffect transition="in" filter="fade">
                                      <p:cBhvr>
                                        <p:cTn id="8" dur="500"/>
                                        <p:tgtEl>
                                          <p:spTgt spid="7"/>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6_title" descr="تكامل: رياضيات ولغتي ومهنتي">    </p:cNvPr>
          <p:cNvPicPr>
            <a:picLocks noChangeAspect="1"/>
          </p:cNvPicPr>
          <p:nvPr/>
        </p:nvPicPr>
        <p:blipFill>
          <a:blip r:embed="rId2"/>
          <a:stretch>
            <a:fillRect/>
          </a:stretch>
        </p:blipFill>
        <p:spPr>
          <a:xfrm>
            <a:off x="5611657" y="109728"/>
            <a:ext cx="6229823" cy="868680"/>
          </a:xfrm>
          <a:prstGeom prst="rect">
            <a:avLst/>
          </a:prstGeom>
        </p:spPr>
      </p:pic>
      <p:sp>
        <p:nvSpPr>
          <p:cNvPr id="3" name="s26_strategy"/>
          <p:cNvSpPr txBox="1"/>
          <p:nvPr/>
        </p:nvSpPr>
        <p:spPr>
          <a:xfrm>
            <a:off x="411480" y="274320"/>
            <a:ext cx="42062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التكامل بين المواد</a:t>
            </a:r>
            <a:endParaRPr lang="ar-SA" sz="1700" dirty="0"/>
          </a:p>
        </p:txBody>
      </p:sp>
      <p:pic>
        <p:nvPicPr>
          <p:cNvPr id="4" name="s26_pic_1" descr="/tmp/claude-0/-home-user-Scienceshamah/8386cda7-7741-5ea4-8952-60ee8e67fc31/scratchpad/w3/img/card_923x518_8FD8FF_s_i.png">    </p:cNvPr>
          <p:cNvPicPr>
            <a:picLocks noChangeAspect="1"/>
          </p:cNvPicPr>
          <p:nvPr/>
        </p:nvPicPr>
        <p:blipFill>
          <a:blip r:embed="rId3"/>
          <a:stretch>
            <a:fillRect/>
          </a:stretch>
        </p:blipFill>
        <p:spPr>
          <a:xfrm>
            <a:off x="6126480" y="1051560"/>
            <a:ext cx="5623560" cy="3154680"/>
          </a:xfrm>
          <a:prstGeom prst="rect">
            <a:avLst/>
          </a:prstGeom>
        </p:spPr>
      </p:pic>
      <p:sp>
        <p:nvSpPr>
          <p:cNvPr id="5" name="s26_t_2"/>
          <p:cNvSpPr txBox="1"/>
          <p:nvPr/>
        </p:nvSpPr>
        <p:spPr>
          <a:xfrm>
            <a:off x="6309360" y="1097280"/>
            <a:ext cx="5257800" cy="45720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1E7FB8"/>
                </a:solidFill>
                <a:latin typeface="Tahoma" pitchFamily="34" charset="0"/>
                <a:ea typeface="Tahoma" pitchFamily="34" charset="-122"/>
                <a:cs typeface="Tahoma" pitchFamily="34" charset="-120"/>
              </a:rPr>
              <a:t>🔢 الرياضيات</a:t>
            </a:r>
            <a:endParaRPr lang="ar-SA" sz="2100" dirty="0"/>
          </a:p>
        </p:txBody>
      </p:sp>
      <p:sp>
        <p:nvSpPr>
          <p:cNvPr id="6" name="s26_t_3"/>
          <p:cNvSpPr txBox="1"/>
          <p:nvPr/>
        </p:nvSpPr>
        <p:spPr>
          <a:xfrm>
            <a:off x="6309360" y="1508760"/>
            <a:ext cx="5257800" cy="868680"/>
          </a:xfrm>
          <a:prstGeom prst="rect">
            <a:avLst/>
          </a:prstGeom>
          <a:noFill/>
          <a:ln/>
        </p:spPr>
        <p:txBody>
          <a:bodyPr wrap="square" lIns="762" tIns="762" rIns="762" bIns="762" rtlCol="0" anchor="ctr"/>
          <a:lstStyle/>
          <a:p>
            <a:pPr rtl="1" algn="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وصل إلى النبات ١٠٠ سم من شريط الطاقة، فأعطى آكلَ النبات ١٠ سم. كم سنتيمترًا بقي مع النبات؟</a:t>
            </a:r>
            <a:endParaRPr lang="ar-SA" sz="1700" dirty="0"/>
          </a:p>
        </p:txBody>
      </p:sp>
      <p:sp>
        <p:nvSpPr>
          <p:cNvPr id="7" name="s26_t_4"/>
          <p:cNvSpPr txBox="1"/>
          <p:nvPr/>
        </p:nvSpPr>
        <p:spPr>
          <a:xfrm>
            <a:off x="7589520" y="2377440"/>
            <a:ext cx="3108960" cy="457200"/>
          </a:xfrm>
          <a:prstGeom prst="roundRect">
            <a:avLst>
              <a:gd name="adj" fmla="val 50000"/>
            </a:avLst>
          </a:prstGeom>
          <a:solidFill>
            <a:srgbClr val="FFFFFF"/>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D23B3B"/>
                </a:solidFill>
                <a:latin typeface="Tahoma" pitchFamily="34" charset="0"/>
                <a:ea typeface="Tahoma" pitchFamily="34" charset="-122"/>
                <a:cs typeface="Tahoma" pitchFamily="34" charset="-120"/>
              </a:rPr>
              <a:t>١٠٠ − ١٠ = ٩٠ سم</a:t>
            </a:r>
            <a:endParaRPr lang="ar-SA" sz="1800" dirty="0"/>
          </a:p>
        </p:txBody>
      </p:sp>
      <p:sp>
        <p:nvSpPr>
          <p:cNvPr id="8" name="s26_t_5"/>
          <p:cNvSpPr txBox="1"/>
          <p:nvPr/>
        </p:nvSpPr>
        <p:spPr>
          <a:xfrm>
            <a:off x="6309360" y="2880360"/>
            <a:ext cx="5257800" cy="73152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وأعطى آكلُ النبات آكلَ اللحوم ١ سم من ١٠ سم، فكم بقي معه؟</a:t>
            </a:r>
            <a:endParaRPr lang="ar-SA" sz="1600" dirty="0"/>
          </a:p>
        </p:txBody>
      </p:sp>
      <p:sp>
        <p:nvSpPr>
          <p:cNvPr id="9" name="s26_t_6"/>
          <p:cNvSpPr txBox="1"/>
          <p:nvPr/>
        </p:nvSpPr>
        <p:spPr>
          <a:xfrm>
            <a:off x="7589520" y="3630168"/>
            <a:ext cx="3108960" cy="438912"/>
          </a:xfrm>
          <a:prstGeom prst="roundRect">
            <a:avLst>
              <a:gd name="adj" fmla="val 50000"/>
            </a:avLst>
          </a:prstGeom>
          <a:solidFill>
            <a:srgbClr val="FFFFFF"/>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D23B3B"/>
                </a:solidFill>
                <a:latin typeface="Tahoma" pitchFamily="34" charset="0"/>
                <a:ea typeface="Tahoma" pitchFamily="34" charset="-122"/>
                <a:cs typeface="Tahoma" pitchFamily="34" charset="-120"/>
              </a:rPr>
              <a:t>١٠ − ١ = ٩ سم</a:t>
            </a:r>
            <a:endParaRPr lang="ar-SA" sz="1800" dirty="0"/>
          </a:p>
        </p:txBody>
      </p:sp>
      <p:pic>
        <p:nvPicPr>
          <p:cNvPr id="10" name="s26_pic_7" descr="/tmp/claude-0/-home-user-Scienceshamah/8386cda7-7741-5ea4-8952-60ee8e67fc31/scratchpad/w3/img/card_900x518_FFB3D1_s_i.png">    </p:cNvPr>
          <p:cNvPicPr>
            <a:picLocks noChangeAspect="1"/>
          </p:cNvPicPr>
          <p:nvPr/>
        </p:nvPicPr>
        <p:blipFill>
          <a:blip r:embed="rId4"/>
          <a:stretch>
            <a:fillRect/>
          </a:stretch>
        </p:blipFill>
        <p:spPr>
          <a:xfrm>
            <a:off x="457200" y="1051560"/>
            <a:ext cx="5486400" cy="3154680"/>
          </a:xfrm>
          <a:prstGeom prst="rect">
            <a:avLst/>
          </a:prstGeom>
        </p:spPr>
      </p:pic>
      <p:sp>
        <p:nvSpPr>
          <p:cNvPr id="11" name="s26_t_8"/>
          <p:cNvSpPr txBox="1"/>
          <p:nvPr/>
        </p:nvSpPr>
        <p:spPr>
          <a:xfrm>
            <a:off x="640080" y="1097280"/>
            <a:ext cx="5120640" cy="45720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C2366F"/>
                </a:solidFill>
                <a:latin typeface="Tahoma" pitchFamily="34" charset="0"/>
                <a:ea typeface="Tahoma" pitchFamily="34" charset="-122"/>
                <a:cs typeface="Tahoma" pitchFamily="34" charset="-120"/>
              </a:rPr>
              <a:t>✍️ لغتي</a:t>
            </a:r>
            <a:endParaRPr lang="ar-SA" sz="2100" dirty="0"/>
          </a:p>
        </p:txBody>
      </p:sp>
      <p:sp>
        <p:nvSpPr>
          <p:cNvPr id="12" name="s26_t_9"/>
          <p:cNvSpPr txBox="1"/>
          <p:nvPr/>
        </p:nvSpPr>
        <p:spPr>
          <a:xfrm>
            <a:off x="640080" y="1600200"/>
            <a:ext cx="5120640" cy="128016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أكملي الجملة العلمية:</a:t>
            </a:r>
            <a:endParaRPr lang="ar-SA" sz="1800" dirty="0"/>
          </a:p>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«المحلِّلات مخلوقاتٌ حيّة ..........................»</a:t>
            </a:r>
            <a:endParaRPr lang="ar-SA" sz="1800" dirty="0"/>
          </a:p>
        </p:txBody>
      </p:sp>
      <p:sp>
        <p:nvSpPr>
          <p:cNvPr id="13" name="s26_t_10"/>
          <p:cNvSpPr txBox="1"/>
          <p:nvPr/>
        </p:nvSpPr>
        <p:spPr>
          <a:xfrm>
            <a:off x="640080" y="2880360"/>
            <a:ext cx="5120640" cy="123444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B5E20"/>
                </a:solidFill>
                <a:latin typeface="Tahoma" pitchFamily="34" charset="0"/>
                <a:ea typeface="Tahoma" pitchFamily="34" charset="-122"/>
                <a:cs typeface="Tahoma" pitchFamily="34" charset="-120"/>
              </a:rPr>
              <a:t>تحلّل المواد الميتة للحصول على الطاقة، وتعيد المواد المغذية إلى النظام البيئي.</a:t>
            </a:r>
            <a:endParaRPr lang="ar-SA" sz="1600" dirty="0"/>
          </a:p>
        </p:txBody>
      </p:sp>
      <p:pic>
        <p:nvPicPr>
          <p:cNvPr id="14" name="s26_pic_11" descr="/tmp/claude-0/-home-user-Scienceshamah/8386cda7-7741-5ea4-8952-60ee8e67fc31/scratchpad/w3/img/card_1853x293_FFE066_s_i.png">    </p:cNvPr>
          <p:cNvPicPr>
            <a:picLocks noChangeAspect="1"/>
          </p:cNvPicPr>
          <p:nvPr/>
        </p:nvPicPr>
        <p:blipFill>
          <a:blip r:embed="rId5"/>
          <a:stretch>
            <a:fillRect/>
          </a:stretch>
        </p:blipFill>
        <p:spPr>
          <a:xfrm>
            <a:off x="457200" y="4389120"/>
            <a:ext cx="11292840" cy="1783080"/>
          </a:xfrm>
          <a:prstGeom prst="rect">
            <a:avLst/>
          </a:prstGeom>
        </p:spPr>
      </p:pic>
      <p:pic>
        <p:nvPicPr>
          <p:cNvPr id="15" name="s26_pic_12" descr="عالمة بيئة">    </p:cNvPr>
          <p:cNvPicPr>
            <a:picLocks noChangeAspect="1"/>
          </p:cNvPicPr>
          <p:nvPr/>
        </p:nvPicPr>
        <p:blipFill>
          <a:blip r:embed="rId6"/>
          <a:stretch>
            <a:fillRect/>
          </a:stretch>
        </p:blipFill>
        <p:spPr>
          <a:xfrm>
            <a:off x="10607040" y="4617720"/>
            <a:ext cx="914400" cy="914400"/>
          </a:xfrm>
          <a:prstGeom prst="rect">
            <a:avLst/>
          </a:prstGeom>
        </p:spPr>
      </p:pic>
      <p:sp>
        <p:nvSpPr>
          <p:cNvPr id="16" name="s26_t_13"/>
          <p:cNvSpPr txBox="1"/>
          <p:nvPr/>
        </p:nvSpPr>
        <p:spPr>
          <a:xfrm>
            <a:off x="685800" y="4434840"/>
            <a:ext cx="9692640" cy="1691640"/>
          </a:xfrm>
          <a:prstGeom prst="rect">
            <a:avLst/>
          </a:prstGeom>
          <a:noFill/>
          <a:ln/>
        </p:spPr>
        <p:txBody>
          <a:bodyPr wrap="square" lIns="762" tIns="762" rIns="762" bIns="762" rtlCol="0" anchor="ctr"/>
          <a:lstStyle/>
          <a:p>
            <a:pPr rtl="1" algn="r" indent="0" marL="0">
              <a:lnSpc>
                <a:spcPct val="120000"/>
              </a:lnSpc>
              <a:buNone/>
            </a:pPr>
            <a:r>
              <a:rPr lang="ar-SA" altLang="en-US" sz="1900" b="1" dirty="0">
                <a:solidFill>
                  <a:srgbClr val="A87400"/>
                </a:solidFill>
                <a:latin typeface="Tahoma" pitchFamily="34" charset="0"/>
                <a:ea typeface="Tahoma" pitchFamily="34" charset="-122"/>
                <a:cs typeface="Tahoma" pitchFamily="34" charset="-120"/>
              </a:rPr>
              <a:t>👩‍🔬 مهنتي في المستقبل: عالمة البيئة</a:t>
            </a:r>
            <a:endParaRPr lang="ar-SA" sz="1900" dirty="0"/>
          </a:p>
          <a:p>
            <a:pPr rtl="1" algn="r" indent="0" marL="0">
              <a:lnSpc>
                <a:spcPct val="120000"/>
              </a:lnSpc>
              <a:buNone/>
            </a:pPr>
            <a:r>
              <a:rPr lang="ar-SA" altLang="en-US" sz="1900" b="1" dirty="0">
                <a:solidFill>
                  <a:srgbClr val="34405E"/>
                </a:solidFill>
                <a:latin typeface="Tahoma" pitchFamily="34" charset="0"/>
                <a:ea typeface="Tahoma" pitchFamily="34" charset="-122"/>
                <a:cs typeface="Tahoma" pitchFamily="34" charset="-120"/>
              </a:rPr>
              <a:t>تدرس العلاقات بين المخلوقات الحية والأدوار التي تؤديها لفهم النظام البيئي والمحافظة عليه.</a:t>
            </a:r>
            <a:endParaRPr lang="ar-SA" sz="1900" dirty="0"/>
          </a:p>
        </p:txBody>
      </p:sp>
    </p:spTree>
  </p:cSld>
  <p:clrMapOvr>
    <a:masterClrMapping/>
  </p:clrMapOvr>
  <mc:AlternateContent xmlns:mc="http://schemas.openxmlformats.org/markup-compatibility/2006">
    <mc:Choice xmlns:p14="http://schemas.microsoft.com/office/powerpoint/2010/main" Requires="p14">
      <p:transition spd="slow" p14:dur="1400">
        <p14:prism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 calcmode="lin" valueType="num">
                                      <p:cBhvr>
                                        <p:cTn id="6" dur="500" fill="hold"/>
                                        <p:tgtEl>
                                          <p:spTgt spid="7"/>
                                        </p:tgtEl>
                                        <p:attrNameLst>
                                          <p:attrName>ppt_w</p:attrName>
                                        </p:attrNameLst>
                                      </p:cBhvr>
                                      <p:tavLst>
                                        <p:tav tm="0">
                                          <p:val>
                                            <p:fltVal val="0"/>
                                          </p:val>
                                        </p:tav>
                                        <p:tav tm="100000">
                                          <p:val>
                                            <p:strVal val="#ppt_w"/>
                                          </p:val>
                                        </p:tav>
                                      </p:tavLst>
                                    </p:anim>
                                    <p:anim calcmode="lin" valueType="num">
                                      <p:cBhvr>
                                        <p:cTn id="7" dur="500" fill="hold"/>
                                        <p:tgtEl>
                                          <p:spTgt spid="7"/>
                                        </p:tgtEl>
                                        <p:attrNameLst>
                                          <p:attrName>ppt_h</p:attrName>
                                        </p:attrNameLst>
                                      </p:cBhvr>
                                      <p:tavLst>
                                        <p:tav tm="0">
                                          <p:val>
                                            <p:fltVal val="0"/>
                                          </p:val>
                                        </p:tav>
                                        <p:tav tm="100000">
                                          <p:val>
                                            <p:strVal val="#ppt_h"/>
                                          </p:val>
                                        </p:tav>
                                      </p:tavLst>
                                    </p:anim>
                                    <p:animEffect transition="in" filter="fade">
                                      <p:cBhvr>
                                        <p:cTn id="8"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7_title" descr="حصاد المعرفة">    </p:cNvPr>
          <p:cNvPicPr>
            <a:picLocks noChangeAspect="1"/>
          </p:cNvPicPr>
          <p:nvPr/>
        </p:nvPicPr>
        <p:blipFill>
          <a:blip r:embed="rId2"/>
          <a:stretch>
            <a:fillRect/>
          </a:stretch>
        </p:blipFill>
        <p:spPr>
          <a:xfrm>
            <a:off x="8736849" y="109728"/>
            <a:ext cx="3104631" cy="868680"/>
          </a:xfrm>
          <a:prstGeom prst="rect">
            <a:avLst/>
          </a:prstGeom>
        </p:spPr>
      </p:pic>
      <p:sp>
        <p:nvSpPr>
          <p:cNvPr id="3" name="s27_strategy"/>
          <p:cNvSpPr txBox="1"/>
          <p:nvPr/>
        </p:nvSpPr>
        <p:spPr>
          <a:xfrm>
            <a:off x="411480" y="274320"/>
            <a:ext cx="379476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التقويم الختامي</a:t>
            </a:r>
            <a:endParaRPr lang="ar-SA" sz="1700" dirty="0"/>
          </a:p>
        </p:txBody>
      </p:sp>
      <p:pic>
        <p:nvPicPr>
          <p:cNvPr id="4" name="s27_pic_1" descr="/tmp/claude-0/-home-user-Scienceshamah/8386cda7-7741-5ea4-8952-60ee8e67fc31/scratchpad/w3/img/card_1853x192_8FD8FF_s_i.png">    </p:cNvPr>
          <p:cNvPicPr>
            <a:picLocks noChangeAspect="1"/>
          </p:cNvPicPr>
          <p:nvPr/>
        </p:nvPicPr>
        <p:blipFill>
          <a:blip r:embed="rId3"/>
          <a:stretch>
            <a:fillRect/>
          </a:stretch>
        </p:blipFill>
        <p:spPr>
          <a:xfrm>
            <a:off x="457200" y="1051560"/>
            <a:ext cx="11292840" cy="1170432"/>
          </a:xfrm>
          <a:prstGeom prst="rect">
            <a:avLst/>
          </a:prstGeom>
        </p:spPr>
      </p:pic>
      <p:sp>
        <p:nvSpPr>
          <p:cNvPr id="5" name="s27_t_2"/>
          <p:cNvSpPr txBox="1"/>
          <p:nvPr/>
        </p:nvSpPr>
        <p:spPr>
          <a:xfrm>
            <a:off x="9921240" y="1371600"/>
            <a:ext cx="1691640" cy="502920"/>
          </a:xfrm>
          <a:prstGeom prst="roundRect">
            <a:avLst>
              <a:gd name="adj" fmla="val 50000"/>
            </a:avLst>
          </a:prstGeom>
          <a:solidFill>
            <a:srgbClr val="FFFFFF"/>
          </a:solidFill>
          <a:ln w="25400">
            <a:solidFill>
              <a:srgbClr val="34405E"/>
            </a:solidFill>
          </a:ln>
        </p:spPr>
        <p:txBody>
          <a:bodyPr wrap="square" lIns="381" tIns="381" rIns="381" bIns="381"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فهم</a:t>
            </a:r>
            <a:endParaRPr lang="ar-SA" sz="1600" dirty="0"/>
          </a:p>
        </p:txBody>
      </p:sp>
      <p:sp>
        <p:nvSpPr>
          <p:cNvPr id="6" name="s27_t_3"/>
          <p:cNvSpPr txBox="1"/>
          <p:nvPr/>
        </p:nvSpPr>
        <p:spPr>
          <a:xfrm>
            <a:off x="5120640" y="1097280"/>
            <a:ext cx="4709160" cy="1078992"/>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ما مصدر الطاقة الأساسي في النظام البيئي؟</a:t>
            </a:r>
            <a:endParaRPr lang="ar-SA" sz="1800" dirty="0"/>
          </a:p>
        </p:txBody>
      </p:sp>
      <p:pic>
        <p:nvPicPr>
          <p:cNvPr id="7" name="s27_pic_4" descr="/tmp/claude-0/-home-user-Scienceshamah/8386cda7-7741-5ea4-8952-60ee8e67fc31/scratchpad/w3/img/card_720x158_FFFFFF_s_i.png">    </p:cNvPr>
          <p:cNvPicPr>
            <a:picLocks noChangeAspect="1"/>
          </p:cNvPicPr>
          <p:nvPr/>
        </p:nvPicPr>
        <p:blipFill>
          <a:blip r:embed="rId4"/>
          <a:stretch>
            <a:fillRect/>
          </a:stretch>
        </p:blipFill>
        <p:spPr>
          <a:xfrm>
            <a:off x="594360" y="1161288"/>
            <a:ext cx="4389120" cy="960120"/>
          </a:xfrm>
          <a:prstGeom prst="rect">
            <a:avLst/>
          </a:prstGeom>
        </p:spPr>
      </p:pic>
      <p:sp>
        <p:nvSpPr>
          <p:cNvPr id="8" name="s27_t_5"/>
          <p:cNvSpPr txBox="1"/>
          <p:nvPr/>
        </p:nvSpPr>
        <p:spPr>
          <a:xfrm>
            <a:off x="685800" y="1179576"/>
            <a:ext cx="4206240" cy="91440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B5E20"/>
                </a:solidFill>
                <a:latin typeface="Tahoma" pitchFamily="34" charset="0"/>
                <a:ea typeface="Tahoma" pitchFamily="34" charset="-122"/>
                <a:cs typeface="Tahoma" pitchFamily="34" charset="-120"/>
              </a:rPr>
              <a:t>✔ الشمس.</a:t>
            </a:r>
            <a:endParaRPr lang="ar-SA" sz="1600" dirty="0"/>
          </a:p>
        </p:txBody>
      </p:sp>
      <p:pic>
        <p:nvPicPr>
          <p:cNvPr id="9" name="s27_pic_6" descr="/tmp/claude-0/-home-user-Scienceshamah/8386cda7-7741-5ea4-8952-60ee8e67fc31/scratchpad/w3/img/card_1853x192_FFE066_s_i.png">    </p:cNvPr>
          <p:cNvPicPr>
            <a:picLocks noChangeAspect="1"/>
          </p:cNvPicPr>
          <p:nvPr/>
        </p:nvPicPr>
        <p:blipFill>
          <a:blip r:embed="rId5"/>
          <a:stretch>
            <a:fillRect/>
          </a:stretch>
        </p:blipFill>
        <p:spPr>
          <a:xfrm>
            <a:off x="457200" y="2331720"/>
            <a:ext cx="11292840" cy="1170432"/>
          </a:xfrm>
          <a:prstGeom prst="rect">
            <a:avLst/>
          </a:prstGeom>
        </p:spPr>
      </p:pic>
      <p:sp>
        <p:nvSpPr>
          <p:cNvPr id="10" name="s27_t_7"/>
          <p:cNvSpPr txBox="1"/>
          <p:nvPr/>
        </p:nvSpPr>
        <p:spPr>
          <a:xfrm>
            <a:off x="9921240" y="2651760"/>
            <a:ext cx="1691640" cy="502920"/>
          </a:xfrm>
          <a:prstGeom prst="roundRect">
            <a:avLst>
              <a:gd name="adj" fmla="val 50000"/>
            </a:avLst>
          </a:prstGeom>
          <a:solidFill>
            <a:srgbClr val="FFFFFF"/>
          </a:solidFill>
          <a:ln w="25400">
            <a:solidFill>
              <a:srgbClr val="34405E"/>
            </a:solidFill>
          </a:ln>
        </p:spPr>
        <p:txBody>
          <a:bodyPr wrap="square" lIns="381" tIns="381" rIns="381" bIns="381"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تطبيق</a:t>
            </a:r>
            <a:endParaRPr lang="ar-SA" sz="1600" dirty="0"/>
          </a:p>
        </p:txBody>
      </p:sp>
      <p:sp>
        <p:nvSpPr>
          <p:cNvPr id="11" name="s27_t_8"/>
          <p:cNvSpPr txBox="1"/>
          <p:nvPr/>
        </p:nvSpPr>
        <p:spPr>
          <a:xfrm>
            <a:off x="5120640" y="2377440"/>
            <a:ext cx="4709160" cy="1078992"/>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صنّفي: الأسد، الغزال، الدب.</a:t>
            </a:r>
            <a:endParaRPr lang="ar-SA" sz="1800" dirty="0"/>
          </a:p>
        </p:txBody>
      </p:sp>
      <p:pic>
        <p:nvPicPr>
          <p:cNvPr id="12" name="s27_pic_9" descr="/tmp/claude-0/-home-user-Scienceshamah/8386cda7-7741-5ea4-8952-60ee8e67fc31/scratchpad/w3/img/card_720x158_FFFFFF_s_i.png">    </p:cNvPr>
          <p:cNvPicPr>
            <a:picLocks noChangeAspect="1"/>
          </p:cNvPicPr>
          <p:nvPr/>
        </p:nvPicPr>
        <p:blipFill>
          <a:blip r:embed="rId6"/>
          <a:stretch>
            <a:fillRect/>
          </a:stretch>
        </p:blipFill>
        <p:spPr>
          <a:xfrm>
            <a:off x="594360" y="2441448"/>
            <a:ext cx="4389120" cy="960120"/>
          </a:xfrm>
          <a:prstGeom prst="rect">
            <a:avLst/>
          </a:prstGeom>
        </p:spPr>
      </p:pic>
      <p:sp>
        <p:nvSpPr>
          <p:cNvPr id="13" name="s27_t_10"/>
          <p:cNvSpPr txBox="1"/>
          <p:nvPr/>
        </p:nvSpPr>
        <p:spPr>
          <a:xfrm>
            <a:off x="685800" y="2459736"/>
            <a:ext cx="4206240" cy="91440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B5E20"/>
                </a:solidFill>
                <a:latin typeface="Tahoma" pitchFamily="34" charset="0"/>
                <a:ea typeface="Tahoma" pitchFamily="34" charset="-122"/>
                <a:cs typeface="Tahoma" pitchFamily="34" charset="-120"/>
              </a:rPr>
              <a:t>✔ الأسد: آكل لحوم – الغزال: آكل أعشاب – الدب: قارت.</a:t>
            </a:r>
            <a:endParaRPr lang="ar-SA" sz="1600" dirty="0"/>
          </a:p>
        </p:txBody>
      </p:sp>
      <p:pic>
        <p:nvPicPr>
          <p:cNvPr id="14" name="s27_pic_11" descr="/tmp/claude-0/-home-user-Scienceshamah/8386cda7-7741-5ea4-8952-60ee8e67fc31/scratchpad/w3/img/card_1853x192_FFB3D1_s_i.png">    </p:cNvPr>
          <p:cNvPicPr>
            <a:picLocks noChangeAspect="1"/>
          </p:cNvPicPr>
          <p:nvPr/>
        </p:nvPicPr>
        <p:blipFill>
          <a:blip r:embed="rId7"/>
          <a:stretch>
            <a:fillRect/>
          </a:stretch>
        </p:blipFill>
        <p:spPr>
          <a:xfrm>
            <a:off x="457200" y="3611880"/>
            <a:ext cx="11292840" cy="1170432"/>
          </a:xfrm>
          <a:prstGeom prst="rect">
            <a:avLst/>
          </a:prstGeom>
        </p:spPr>
      </p:pic>
      <p:sp>
        <p:nvSpPr>
          <p:cNvPr id="15" name="s27_t_12"/>
          <p:cNvSpPr txBox="1"/>
          <p:nvPr/>
        </p:nvSpPr>
        <p:spPr>
          <a:xfrm>
            <a:off x="9921240" y="3931920"/>
            <a:ext cx="1691640" cy="502920"/>
          </a:xfrm>
          <a:prstGeom prst="roundRect">
            <a:avLst>
              <a:gd name="adj" fmla="val 50000"/>
            </a:avLst>
          </a:prstGeom>
          <a:solidFill>
            <a:srgbClr val="FFFFFF"/>
          </a:solidFill>
          <a:ln w="25400">
            <a:solidFill>
              <a:srgbClr val="34405E"/>
            </a:solidFill>
          </a:ln>
        </p:spPr>
        <p:txBody>
          <a:bodyPr wrap="square" lIns="381" tIns="381" rIns="381" bIns="381"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تفكير ناقد</a:t>
            </a:r>
            <a:endParaRPr lang="ar-SA" sz="1600" dirty="0"/>
          </a:p>
        </p:txBody>
      </p:sp>
      <p:sp>
        <p:nvSpPr>
          <p:cNvPr id="16" name="s27_t_13"/>
          <p:cNvSpPr txBox="1"/>
          <p:nvPr/>
        </p:nvSpPr>
        <p:spPr>
          <a:xfrm>
            <a:off x="5120640" y="3657600"/>
            <a:ext cx="4709160" cy="1078992"/>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لماذا تحصل آكلات اللحوم على طاقة أقل من النباتات؟</a:t>
            </a:r>
            <a:endParaRPr lang="ar-SA" sz="1800" dirty="0"/>
          </a:p>
        </p:txBody>
      </p:sp>
      <p:pic>
        <p:nvPicPr>
          <p:cNvPr id="17" name="s27_pic_14" descr="/tmp/claude-0/-home-user-Scienceshamah/8386cda7-7741-5ea4-8952-60ee8e67fc31/scratchpad/w3/img/card_720x158_FFFFFF_s_i.png">    </p:cNvPr>
          <p:cNvPicPr>
            <a:picLocks noChangeAspect="1"/>
          </p:cNvPicPr>
          <p:nvPr/>
        </p:nvPicPr>
        <p:blipFill>
          <a:blip r:embed="rId8"/>
          <a:stretch>
            <a:fillRect/>
          </a:stretch>
        </p:blipFill>
        <p:spPr>
          <a:xfrm>
            <a:off x="594360" y="3721608"/>
            <a:ext cx="4389120" cy="960120"/>
          </a:xfrm>
          <a:prstGeom prst="rect">
            <a:avLst/>
          </a:prstGeom>
        </p:spPr>
      </p:pic>
      <p:sp>
        <p:nvSpPr>
          <p:cNvPr id="18" name="s27_t_15"/>
          <p:cNvSpPr txBox="1"/>
          <p:nvPr/>
        </p:nvSpPr>
        <p:spPr>
          <a:xfrm>
            <a:off x="685800" y="3739896"/>
            <a:ext cx="4206240" cy="91440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B5E20"/>
                </a:solidFill>
                <a:latin typeface="Tahoma" pitchFamily="34" charset="0"/>
                <a:ea typeface="Tahoma" pitchFamily="34" charset="-122"/>
                <a:cs typeface="Tahoma" pitchFamily="34" charset="-120"/>
              </a:rPr>
              <a:t>✔ لأن كل مخلوق يستخدم معظم طاقته، وينتقل جزء صغير فقط.</a:t>
            </a:r>
            <a:endParaRPr lang="ar-SA" sz="1600" dirty="0"/>
          </a:p>
        </p:txBody>
      </p:sp>
      <p:pic>
        <p:nvPicPr>
          <p:cNvPr id="19" name="s27_pic_16" descr="/tmp/claude-0/-home-user-Scienceshamah/8386cda7-7741-5ea4-8952-60ee8e67fc31/scratchpad/w3/img/card_1853x192_C9A8FF_s_i.png">    </p:cNvPr>
          <p:cNvPicPr>
            <a:picLocks noChangeAspect="1"/>
          </p:cNvPicPr>
          <p:nvPr/>
        </p:nvPicPr>
        <p:blipFill>
          <a:blip r:embed="rId9"/>
          <a:stretch>
            <a:fillRect/>
          </a:stretch>
        </p:blipFill>
        <p:spPr>
          <a:xfrm>
            <a:off x="457200" y="4892040"/>
            <a:ext cx="11292840" cy="1170432"/>
          </a:xfrm>
          <a:prstGeom prst="rect">
            <a:avLst/>
          </a:prstGeom>
        </p:spPr>
      </p:pic>
      <p:sp>
        <p:nvSpPr>
          <p:cNvPr id="20" name="s27_t_17"/>
          <p:cNvSpPr txBox="1"/>
          <p:nvPr/>
        </p:nvSpPr>
        <p:spPr>
          <a:xfrm>
            <a:off x="9921240" y="5212080"/>
            <a:ext cx="1691640" cy="502920"/>
          </a:xfrm>
          <a:prstGeom prst="roundRect">
            <a:avLst>
              <a:gd name="adj" fmla="val 50000"/>
            </a:avLst>
          </a:prstGeom>
          <a:solidFill>
            <a:srgbClr val="FFFFFF"/>
          </a:solidFill>
          <a:ln w="25400">
            <a:solidFill>
              <a:srgbClr val="34405E"/>
            </a:solidFill>
          </a:ln>
        </p:spPr>
        <p:txBody>
          <a:bodyPr wrap="square" lIns="381" tIns="381" rIns="381" bIns="381"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تصحيح مفهوم</a:t>
            </a:r>
            <a:endParaRPr lang="ar-SA" sz="1600" dirty="0"/>
          </a:p>
        </p:txBody>
      </p:sp>
      <p:sp>
        <p:nvSpPr>
          <p:cNvPr id="21" name="s27_t_18"/>
          <p:cNvSpPr txBox="1"/>
          <p:nvPr/>
        </p:nvSpPr>
        <p:spPr>
          <a:xfrm>
            <a:off x="5120640" y="4937760"/>
            <a:ext cx="4709160" cy="1078992"/>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صحّحي: «الفطريات منتِجات».</a:t>
            </a:r>
            <a:endParaRPr lang="ar-SA" sz="1800" dirty="0"/>
          </a:p>
        </p:txBody>
      </p:sp>
      <p:pic>
        <p:nvPicPr>
          <p:cNvPr id="22" name="s27_pic_19" descr="/tmp/claude-0/-home-user-Scienceshamah/8386cda7-7741-5ea4-8952-60ee8e67fc31/scratchpad/w3/img/card_720x158_FFFFFF_s_i.png">    </p:cNvPr>
          <p:cNvPicPr>
            <a:picLocks noChangeAspect="1"/>
          </p:cNvPicPr>
          <p:nvPr/>
        </p:nvPicPr>
        <p:blipFill>
          <a:blip r:embed="rId10"/>
          <a:stretch>
            <a:fillRect/>
          </a:stretch>
        </p:blipFill>
        <p:spPr>
          <a:xfrm>
            <a:off x="594360" y="5001768"/>
            <a:ext cx="4389120" cy="960120"/>
          </a:xfrm>
          <a:prstGeom prst="rect">
            <a:avLst/>
          </a:prstGeom>
        </p:spPr>
      </p:pic>
      <p:sp>
        <p:nvSpPr>
          <p:cNvPr id="23" name="s27_t_20"/>
          <p:cNvSpPr txBox="1"/>
          <p:nvPr/>
        </p:nvSpPr>
        <p:spPr>
          <a:xfrm>
            <a:off x="685800" y="5020056"/>
            <a:ext cx="4206240" cy="914400"/>
          </a:xfrm>
          <a:prstGeom prst="rect">
            <a:avLst/>
          </a:prstGeom>
          <a:noFill/>
          <a:ln/>
        </p:spPr>
        <p:txBody>
          <a:bodyPr wrap="square" lIns="762" tIns="762" rIns="762" bIns="762" rtlCol="0" anchor="ctr"/>
          <a:lstStyle/>
          <a:p>
            <a:pPr rtl="1" algn="r" indent="0" marL="0">
              <a:lnSpc>
                <a:spcPct val="108000"/>
              </a:lnSpc>
              <a:buNone/>
            </a:pPr>
            <a:r>
              <a:rPr lang="ar-SA" altLang="en-US" sz="1600" b="1" dirty="0">
                <a:solidFill>
                  <a:srgbClr val="1B5E20"/>
                </a:solidFill>
                <a:latin typeface="Tahoma" pitchFamily="34" charset="0"/>
                <a:ea typeface="Tahoma" pitchFamily="34" charset="-122"/>
                <a:cs typeface="Tahoma" pitchFamily="34" charset="-120"/>
              </a:rPr>
              <a:t>✔ الفطريات محلِّلات؛ تحلّل المواد الميتة.</a:t>
            </a:r>
            <a:endParaRPr lang="ar-SA" sz="16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 calcmode="lin" valueType="num">
                                      <p:cBhvr>
                                        <p:cTn id="6" dur="500" fill="hold"/>
                                        <p:tgtEl>
                                          <p:spTgt spid="7"/>
                                        </p:tgtEl>
                                        <p:attrNameLst>
                                          <p:attrName>ppt_w</p:attrName>
                                        </p:attrNameLst>
                                      </p:cBhvr>
                                      <p:tavLst>
                                        <p:tav tm="0">
                                          <p:val>
                                            <p:fltVal val="0"/>
                                          </p:val>
                                        </p:tav>
                                        <p:tav tm="100000">
                                          <p:val>
                                            <p:strVal val="#ppt_w"/>
                                          </p:val>
                                        </p:tav>
                                      </p:tavLst>
                                    </p:anim>
                                    <p:anim calcmode="lin" valueType="num">
                                      <p:cBhvr>
                                        <p:cTn id="7" dur="500" fill="hold"/>
                                        <p:tgtEl>
                                          <p:spTgt spid="7"/>
                                        </p:tgtEl>
                                        <p:attrNameLst>
                                          <p:attrName>ppt_h</p:attrName>
                                        </p:attrNameLst>
                                      </p:cBhvr>
                                      <p:tavLst>
                                        <p:tav tm="0">
                                          <p:val>
                                            <p:fltVal val="0"/>
                                          </p:val>
                                        </p:tav>
                                        <p:tav tm="100000">
                                          <p:val>
                                            <p:strVal val="#ppt_h"/>
                                          </p:val>
                                        </p:tav>
                                      </p:tavLst>
                                    </p:anim>
                                    <p:animEffect transition="in" filter="fade">
                                      <p:cBhvr>
                                        <p:cTn id="8" dur="500"/>
                                        <p:tgtEl>
                                          <p:spTgt spid="7"/>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ppt_w</p:attrName>
                                        </p:attrNameLst>
                                      </p:cBhvr>
                                      <p:tavLst>
                                        <p:tav tm="0">
                                          <p:val>
                                            <p:fltVal val="0"/>
                                          </p:val>
                                        </p:tav>
                                        <p:tav tm="100000">
                                          <p:val>
                                            <p:strVal val="#ppt_w"/>
                                          </p:val>
                                        </p:tav>
                                      </p:tavLst>
                                    </p:anim>
                                    <p:anim calcmode="lin" valueType="num">
                                      <p:cBhvr>
                                        <p:cTn id="19" dur="500" fill="hold"/>
                                        <p:tgtEl>
                                          <p:spTgt spid="12"/>
                                        </p:tgtEl>
                                        <p:attrNameLst>
                                          <p:attrName>ppt_h</p:attrName>
                                        </p:attrNameLst>
                                      </p:cBhvr>
                                      <p:tavLst>
                                        <p:tav tm="0">
                                          <p:val>
                                            <p:fltVal val="0"/>
                                          </p:val>
                                        </p:tav>
                                        <p:tav tm="100000">
                                          <p:val>
                                            <p:strVal val="#ppt_h"/>
                                          </p:val>
                                        </p:tav>
                                      </p:tavLst>
                                    </p:anim>
                                    <p:animEffect transition="in" filter="fade">
                                      <p:cBhvr>
                                        <p:cTn id="20" dur="500"/>
                                        <p:tgtEl>
                                          <p:spTgt spid="12"/>
                                        </p:tgtEl>
                                      </p:cBhvr>
                                    </p:animEffect>
                                  </p:childTnLst>
                                </p:cTn>
                              </p:par>
                              <p:par>
                                <p:cTn id="26" presetID="53" presetClass="entr" presetSubtype="16"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500" fill="hold"/>
                                        <p:tgtEl>
                                          <p:spTgt spid="13"/>
                                        </p:tgtEl>
                                        <p:attrNameLst>
                                          <p:attrName>ppt_w</p:attrName>
                                        </p:attrNameLst>
                                      </p:cBhvr>
                                      <p:tavLst>
                                        <p:tav tm="0">
                                          <p:val>
                                            <p:fltVal val="0"/>
                                          </p:val>
                                        </p:tav>
                                        <p:tav tm="100000">
                                          <p:val>
                                            <p:strVal val="#ppt_w"/>
                                          </p:val>
                                        </p:tav>
                                      </p:tavLst>
                                    </p:anim>
                                    <p:anim calcmode="lin" valueType="num">
                                      <p:cBhvr>
                                        <p:cTn id="24" dur="500" fill="hold"/>
                                        <p:tgtEl>
                                          <p:spTgt spid="13"/>
                                        </p:tgtEl>
                                        <p:attrNameLst>
                                          <p:attrName>ppt_h</p:attrName>
                                        </p:attrNameLst>
                                      </p:cBhvr>
                                      <p:tavLst>
                                        <p:tav tm="0">
                                          <p:val>
                                            <p:fltVal val="0"/>
                                          </p:val>
                                        </p:tav>
                                        <p:tav tm="100000">
                                          <p:val>
                                            <p:strVal val="#ppt_h"/>
                                          </p:val>
                                        </p:tav>
                                      </p:tavLst>
                                    </p:anim>
                                    <p:animEffect transition="in" filter="fade">
                                      <p:cBhvr>
                                        <p:cTn id="25"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33" presetID="53" presetClass="entr" presetSubtype="16"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500" fill="hold"/>
                                        <p:tgtEl>
                                          <p:spTgt spid="17"/>
                                        </p:tgtEl>
                                        <p:attrNameLst>
                                          <p:attrName>ppt_w</p:attrName>
                                        </p:attrNameLst>
                                      </p:cBhvr>
                                      <p:tavLst>
                                        <p:tav tm="0">
                                          <p:val>
                                            <p:fltVal val="0"/>
                                          </p:val>
                                        </p:tav>
                                        <p:tav tm="100000">
                                          <p:val>
                                            <p:strVal val="#ppt_w"/>
                                          </p:val>
                                        </p:tav>
                                      </p:tavLst>
                                    </p:anim>
                                    <p:anim calcmode="lin" valueType="num">
                                      <p:cBhvr>
                                        <p:cTn id="31" dur="500" fill="hold"/>
                                        <p:tgtEl>
                                          <p:spTgt spid="17"/>
                                        </p:tgtEl>
                                        <p:attrNameLst>
                                          <p:attrName>ppt_h</p:attrName>
                                        </p:attrNameLst>
                                      </p:cBhvr>
                                      <p:tavLst>
                                        <p:tav tm="0">
                                          <p:val>
                                            <p:fltVal val="0"/>
                                          </p:val>
                                        </p:tav>
                                        <p:tav tm="100000">
                                          <p:val>
                                            <p:strVal val="#ppt_h"/>
                                          </p:val>
                                        </p:tav>
                                      </p:tavLst>
                                    </p:anim>
                                    <p:animEffect transition="in" filter="fade">
                                      <p:cBhvr>
                                        <p:cTn id="32" dur="500"/>
                                        <p:tgtEl>
                                          <p:spTgt spid="17"/>
                                        </p:tgtEl>
                                      </p:cBhvr>
                                    </p:animEffect>
                                  </p:childTnLst>
                                </p:cTn>
                              </p:par>
                              <p:par>
                                <p:cTn id="38" presetID="53" presetClass="entr" presetSubtype="16"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p:cTn id="35" dur="500" fill="hold"/>
                                        <p:tgtEl>
                                          <p:spTgt spid="18"/>
                                        </p:tgtEl>
                                        <p:attrNameLst>
                                          <p:attrName>ppt_w</p:attrName>
                                        </p:attrNameLst>
                                      </p:cBhvr>
                                      <p:tavLst>
                                        <p:tav tm="0">
                                          <p:val>
                                            <p:fltVal val="0"/>
                                          </p:val>
                                        </p:tav>
                                        <p:tav tm="100000">
                                          <p:val>
                                            <p:strVal val="#ppt_w"/>
                                          </p:val>
                                        </p:tav>
                                      </p:tavLst>
                                    </p:anim>
                                    <p:anim calcmode="lin" valueType="num">
                                      <p:cBhvr>
                                        <p:cTn id="36" dur="500" fill="hold"/>
                                        <p:tgtEl>
                                          <p:spTgt spid="18"/>
                                        </p:tgtEl>
                                        <p:attrNameLst>
                                          <p:attrName>ppt_h</p:attrName>
                                        </p:attrNameLst>
                                      </p:cBhvr>
                                      <p:tavLst>
                                        <p:tav tm="0">
                                          <p:val>
                                            <p:fltVal val="0"/>
                                          </p:val>
                                        </p:tav>
                                        <p:tav tm="100000">
                                          <p:val>
                                            <p:strVal val="#ppt_h"/>
                                          </p:val>
                                        </p:tav>
                                      </p:tavLst>
                                    </p:anim>
                                    <p:animEffect transition="in" filter="fade">
                                      <p:cBhvr>
                                        <p:cTn id="37"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5" presetID="53" presetClass="entr" presetSubtype="16"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p:cTn id="42" dur="500" fill="hold"/>
                                        <p:tgtEl>
                                          <p:spTgt spid="22"/>
                                        </p:tgtEl>
                                        <p:attrNameLst>
                                          <p:attrName>ppt_w</p:attrName>
                                        </p:attrNameLst>
                                      </p:cBhvr>
                                      <p:tavLst>
                                        <p:tav tm="0">
                                          <p:val>
                                            <p:fltVal val="0"/>
                                          </p:val>
                                        </p:tav>
                                        <p:tav tm="100000">
                                          <p:val>
                                            <p:strVal val="#ppt_w"/>
                                          </p:val>
                                        </p:tav>
                                      </p:tavLst>
                                    </p:anim>
                                    <p:anim calcmode="lin" valueType="num">
                                      <p:cBhvr>
                                        <p:cTn id="43" dur="500" fill="hold"/>
                                        <p:tgtEl>
                                          <p:spTgt spid="22"/>
                                        </p:tgtEl>
                                        <p:attrNameLst>
                                          <p:attrName>ppt_h</p:attrName>
                                        </p:attrNameLst>
                                      </p:cBhvr>
                                      <p:tavLst>
                                        <p:tav tm="0">
                                          <p:val>
                                            <p:fltVal val="0"/>
                                          </p:val>
                                        </p:tav>
                                        <p:tav tm="100000">
                                          <p:val>
                                            <p:strVal val="#ppt_h"/>
                                          </p:val>
                                        </p:tav>
                                      </p:tavLst>
                                    </p:anim>
                                    <p:animEffect transition="in" filter="fade">
                                      <p:cBhvr>
                                        <p:cTn id="44" dur="500"/>
                                        <p:tgtEl>
                                          <p:spTgt spid="22"/>
                                        </p:tgtEl>
                                      </p:cBhvr>
                                    </p:animEffect>
                                  </p:childTnLst>
                                </p:cTn>
                              </p:par>
                              <p:par>
                                <p:cTn id="50" presetID="53" presetClass="entr" presetSubtype="16"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animEffect transition="in" filter="fade">
                                      <p:cBhvr>
                                        <p:cTn id="4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8_title" descr="أكملي خريطة المفاهيم">    </p:cNvPr>
          <p:cNvPicPr>
            <a:picLocks noChangeAspect="1"/>
          </p:cNvPicPr>
          <p:nvPr/>
        </p:nvPicPr>
        <p:blipFill>
          <a:blip r:embed="rId2"/>
          <a:stretch>
            <a:fillRect/>
          </a:stretch>
        </p:blipFill>
        <p:spPr>
          <a:xfrm>
            <a:off x="7045750" y="109728"/>
            <a:ext cx="4795730" cy="868680"/>
          </a:xfrm>
          <a:prstGeom prst="rect">
            <a:avLst/>
          </a:prstGeom>
        </p:spPr>
      </p:pic>
      <p:sp>
        <p:nvSpPr>
          <p:cNvPr id="3" name="s28_strategy"/>
          <p:cNvSpPr txBox="1"/>
          <p:nvPr/>
        </p:nvSpPr>
        <p:spPr>
          <a:xfrm>
            <a:off x="411480" y="274320"/>
            <a:ext cx="42062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الخرائط المفاهيمية</a:t>
            </a:r>
            <a:endParaRPr lang="ar-SA" sz="1700" dirty="0"/>
          </a:p>
        </p:txBody>
      </p:sp>
      <p:pic>
        <p:nvPicPr>
          <p:cNvPr id="4" name="s28_pic_1" descr="/tmp/claude-0/-home-user-Scienceshamah/8386cda7-7741-5ea4-8952-60ee8e67fc31/scratchpad/w3/img/card_600x120_FFE066_s_i.png">    </p:cNvPr>
          <p:cNvPicPr>
            <a:picLocks noChangeAspect="1"/>
          </p:cNvPicPr>
          <p:nvPr/>
        </p:nvPicPr>
        <p:blipFill>
          <a:blip r:embed="rId3"/>
          <a:stretch>
            <a:fillRect/>
          </a:stretch>
        </p:blipFill>
        <p:spPr>
          <a:xfrm>
            <a:off x="4270248" y="1051560"/>
            <a:ext cx="3657600" cy="731520"/>
          </a:xfrm>
          <a:prstGeom prst="rect">
            <a:avLst/>
          </a:prstGeom>
        </p:spPr>
      </p:pic>
      <p:sp>
        <p:nvSpPr>
          <p:cNvPr id="5" name="s28_t_2"/>
          <p:cNvSpPr txBox="1"/>
          <p:nvPr/>
        </p:nvSpPr>
        <p:spPr>
          <a:xfrm>
            <a:off x="4343400" y="1078992"/>
            <a:ext cx="3520440" cy="676656"/>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الأدوار في النظام البيئي</a:t>
            </a:r>
            <a:endParaRPr lang="ar-SA" sz="2000" dirty="0"/>
          </a:p>
        </p:txBody>
      </p:sp>
      <p:pic>
        <p:nvPicPr>
          <p:cNvPr id="6" name="s28_pic_3" descr="/tmp/claude-0/-home-user-Scienceshamah/8386cda7-7741-5ea4-8952-60ee8e67fc31/scratchpad/w3/img/card_450x120_FFFFFF_d_i.png">    </p:cNvPr>
          <p:cNvPicPr>
            <a:picLocks noChangeAspect="1"/>
          </p:cNvPicPr>
          <p:nvPr/>
        </p:nvPicPr>
        <p:blipFill>
          <a:blip r:embed="rId4"/>
          <a:stretch>
            <a:fillRect/>
          </a:stretch>
        </p:blipFill>
        <p:spPr>
          <a:xfrm>
            <a:off x="8778240" y="2103120"/>
            <a:ext cx="2743200" cy="731520"/>
          </a:xfrm>
          <a:prstGeom prst="rect">
            <a:avLst/>
          </a:prstGeom>
        </p:spPr>
      </p:pic>
      <p:sp>
        <p:nvSpPr>
          <p:cNvPr id="7" name="s28_t_4"/>
          <p:cNvSpPr txBox="1"/>
          <p:nvPr/>
        </p:nvSpPr>
        <p:spPr>
          <a:xfrm>
            <a:off x="8869680" y="2130552"/>
            <a:ext cx="2560320" cy="676656"/>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2F8A3A"/>
                </a:solidFill>
                <a:latin typeface="Tahoma" pitchFamily="34" charset="0"/>
                <a:ea typeface="Tahoma" pitchFamily="34" charset="-122"/>
                <a:cs typeface="Tahoma" pitchFamily="34" charset="-120"/>
              </a:rPr>
              <a:t>المنتِجات</a:t>
            </a:r>
            <a:endParaRPr lang="ar-SA" sz="2000" dirty="0"/>
          </a:p>
        </p:txBody>
      </p:sp>
      <p:pic>
        <p:nvPicPr>
          <p:cNvPr id="8" name="s28_pic_5" descr="/tmp/claude-0/-home-user-Scienceshamah/8386cda7-7741-5ea4-8952-60ee8e67fc31/scratchpad/w3/img/card_450x120_FFFFFF_d_i.png">    </p:cNvPr>
          <p:cNvPicPr>
            <a:picLocks noChangeAspect="1"/>
          </p:cNvPicPr>
          <p:nvPr/>
        </p:nvPicPr>
        <p:blipFill>
          <a:blip r:embed="rId5"/>
          <a:stretch>
            <a:fillRect/>
          </a:stretch>
        </p:blipFill>
        <p:spPr>
          <a:xfrm>
            <a:off x="4727448" y="2103120"/>
            <a:ext cx="2743200" cy="731520"/>
          </a:xfrm>
          <a:prstGeom prst="rect">
            <a:avLst/>
          </a:prstGeom>
        </p:spPr>
      </p:pic>
      <p:sp>
        <p:nvSpPr>
          <p:cNvPr id="9" name="s28_t_6"/>
          <p:cNvSpPr txBox="1"/>
          <p:nvPr/>
        </p:nvSpPr>
        <p:spPr>
          <a:xfrm>
            <a:off x="4818888" y="2130552"/>
            <a:ext cx="2560320" cy="676656"/>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2F8A3A"/>
                </a:solidFill>
                <a:latin typeface="Tahoma" pitchFamily="34" charset="0"/>
                <a:ea typeface="Tahoma" pitchFamily="34" charset="-122"/>
                <a:cs typeface="Tahoma" pitchFamily="34" charset="-120"/>
              </a:rPr>
              <a:t>المستهلِكات</a:t>
            </a:r>
            <a:endParaRPr lang="ar-SA" sz="2000" dirty="0"/>
          </a:p>
        </p:txBody>
      </p:sp>
      <p:pic>
        <p:nvPicPr>
          <p:cNvPr id="10" name="s28_pic_7" descr="/tmp/claude-0/-home-user-Scienceshamah/8386cda7-7741-5ea4-8952-60ee8e67fc31/scratchpad/w3/img/card_450x120_FFFFFF_d_i.png">    </p:cNvPr>
          <p:cNvPicPr>
            <a:picLocks noChangeAspect="1"/>
          </p:cNvPicPr>
          <p:nvPr/>
        </p:nvPicPr>
        <p:blipFill>
          <a:blip r:embed="rId6"/>
          <a:stretch>
            <a:fillRect/>
          </a:stretch>
        </p:blipFill>
        <p:spPr>
          <a:xfrm>
            <a:off x="685800" y="2103120"/>
            <a:ext cx="2743200" cy="731520"/>
          </a:xfrm>
          <a:prstGeom prst="rect">
            <a:avLst/>
          </a:prstGeom>
        </p:spPr>
      </p:pic>
      <p:sp>
        <p:nvSpPr>
          <p:cNvPr id="11" name="s28_t_8"/>
          <p:cNvSpPr txBox="1"/>
          <p:nvPr/>
        </p:nvSpPr>
        <p:spPr>
          <a:xfrm>
            <a:off x="777240" y="2130552"/>
            <a:ext cx="2560320" cy="676656"/>
          </a:xfrm>
          <a:prstGeom prst="rect">
            <a:avLst/>
          </a:prstGeom>
          <a:noFill/>
          <a:ln/>
        </p:spPr>
        <p:txBody>
          <a:bodyPr wrap="square" lIns="762" tIns="762" rIns="762" bIns="762" rtlCol="0" anchor="ctr"/>
          <a:lstStyle/>
          <a:p>
            <a:pPr rtl="1" algn="ctr" indent="0" marL="0">
              <a:lnSpc>
                <a:spcPct val="108000"/>
              </a:lnSpc>
              <a:buNone/>
            </a:pPr>
            <a:r>
              <a:rPr lang="ar-SA" altLang="en-US" sz="2000" b="1" dirty="0">
                <a:solidFill>
                  <a:srgbClr val="2F8A3A"/>
                </a:solidFill>
                <a:latin typeface="Tahoma" pitchFamily="34" charset="0"/>
                <a:ea typeface="Tahoma" pitchFamily="34" charset="-122"/>
                <a:cs typeface="Tahoma" pitchFamily="34" charset="-120"/>
              </a:rPr>
              <a:t>المحلِّلات</a:t>
            </a:r>
            <a:endParaRPr lang="ar-SA" sz="2000" dirty="0"/>
          </a:p>
        </p:txBody>
      </p:sp>
      <p:pic>
        <p:nvPicPr>
          <p:cNvPr id="12" name="s28_pic_9" descr="/tmp/claude-0/-home-user-Scienceshamah/8386cda7-7741-5ea4-8952-60ee8e67fc31/scratchpad/w3/img/card_510x143_FFFFFF_d_i.png">    </p:cNvPr>
          <p:cNvPicPr>
            <a:picLocks noChangeAspect="1"/>
          </p:cNvPicPr>
          <p:nvPr/>
        </p:nvPicPr>
        <p:blipFill>
          <a:blip r:embed="rId7"/>
          <a:stretch>
            <a:fillRect/>
          </a:stretch>
        </p:blipFill>
        <p:spPr>
          <a:xfrm>
            <a:off x="8595360" y="3063240"/>
            <a:ext cx="3108960" cy="868680"/>
          </a:xfrm>
          <a:prstGeom prst="rect">
            <a:avLst/>
          </a:prstGeom>
        </p:spPr>
      </p:pic>
      <p:sp>
        <p:nvSpPr>
          <p:cNvPr id="13" name="s28_t_10"/>
          <p:cNvSpPr txBox="1"/>
          <p:nvPr/>
        </p:nvSpPr>
        <p:spPr>
          <a:xfrm>
            <a:off x="8686800" y="3090672"/>
            <a:ext cx="2926080" cy="822960"/>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تصنع غذاءها بطاقة الشمس</a:t>
            </a:r>
            <a:endParaRPr lang="ar-SA" sz="1500" dirty="0"/>
          </a:p>
        </p:txBody>
      </p:sp>
      <p:pic>
        <p:nvPicPr>
          <p:cNvPr id="14" name="s28_pic_11" descr="/tmp/claude-0/-home-user-Scienceshamah/8386cda7-7741-5ea4-8952-60ee8e67fc31/scratchpad/w3/img/card_510x143_FFFFFF_d_i.png">    </p:cNvPr>
          <p:cNvPicPr>
            <a:picLocks noChangeAspect="1"/>
          </p:cNvPicPr>
          <p:nvPr/>
        </p:nvPicPr>
        <p:blipFill>
          <a:blip r:embed="rId8"/>
          <a:stretch>
            <a:fillRect/>
          </a:stretch>
        </p:blipFill>
        <p:spPr>
          <a:xfrm>
            <a:off x="8595360" y="4069080"/>
            <a:ext cx="3108960" cy="868680"/>
          </a:xfrm>
          <a:prstGeom prst="rect">
            <a:avLst/>
          </a:prstGeom>
        </p:spPr>
      </p:pic>
      <p:sp>
        <p:nvSpPr>
          <p:cNvPr id="15" name="s28_t_12"/>
          <p:cNvSpPr txBox="1"/>
          <p:nvPr/>
        </p:nvSpPr>
        <p:spPr>
          <a:xfrm>
            <a:off x="8686800" y="4096512"/>
            <a:ext cx="2926080" cy="822960"/>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مثل: النباتات الخضراء والطحالب</a:t>
            </a:r>
            <a:endParaRPr lang="ar-SA" sz="1500" dirty="0"/>
          </a:p>
        </p:txBody>
      </p:sp>
      <p:pic>
        <p:nvPicPr>
          <p:cNvPr id="16" name="s28_pic_13" descr="/tmp/claude-0/-home-user-Scienceshamah/8386cda7-7741-5ea4-8952-60ee8e67fc31/scratchpad/w3/img/card_510x143_FFFFFF_d_i.png">    </p:cNvPr>
          <p:cNvPicPr>
            <a:picLocks noChangeAspect="1"/>
          </p:cNvPicPr>
          <p:nvPr/>
        </p:nvPicPr>
        <p:blipFill>
          <a:blip r:embed="rId9"/>
          <a:stretch>
            <a:fillRect/>
          </a:stretch>
        </p:blipFill>
        <p:spPr>
          <a:xfrm>
            <a:off x="502920" y="3063240"/>
            <a:ext cx="3108960" cy="868680"/>
          </a:xfrm>
          <a:prstGeom prst="rect">
            <a:avLst/>
          </a:prstGeom>
        </p:spPr>
      </p:pic>
      <p:sp>
        <p:nvSpPr>
          <p:cNvPr id="17" name="s28_t_14"/>
          <p:cNvSpPr txBox="1"/>
          <p:nvPr/>
        </p:nvSpPr>
        <p:spPr>
          <a:xfrm>
            <a:off x="594360" y="3090672"/>
            <a:ext cx="2926080" cy="822960"/>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تحلّل المواد الميتة</a:t>
            </a:r>
            <a:endParaRPr lang="ar-SA" sz="1500" dirty="0"/>
          </a:p>
        </p:txBody>
      </p:sp>
      <p:pic>
        <p:nvPicPr>
          <p:cNvPr id="18" name="s28_pic_15" descr="/tmp/claude-0/-home-user-Scienceshamah/8386cda7-7741-5ea4-8952-60ee8e67fc31/scratchpad/w3/img/card_510x143_FFFFFF_d_i.png">    </p:cNvPr>
          <p:cNvPicPr>
            <a:picLocks noChangeAspect="1"/>
          </p:cNvPicPr>
          <p:nvPr/>
        </p:nvPicPr>
        <p:blipFill>
          <a:blip r:embed="rId10"/>
          <a:stretch>
            <a:fillRect/>
          </a:stretch>
        </p:blipFill>
        <p:spPr>
          <a:xfrm>
            <a:off x="502920" y="4069080"/>
            <a:ext cx="3108960" cy="868680"/>
          </a:xfrm>
          <a:prstGeom prst="rect">
            <a:avLst/>
          </a:prstGeom>
        </p:spPr>
      </p:pic>
      <p:sp>
        <p:nvSpPr>
          <p:cNvPr id="19" name="s28_t_16"/>
          <p:cNvSpPr txBox="1"/>
          <p:nvPr/>
        </p:nvSpPr>
        <p:spPr>
          <a:xfrm>
            <a:off x="594360" y="4096512"/>
            <a:ext cx="2926080" cy="822960"/>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مثل: الديدان والبكتيريا والفطريات</a:t>
            </a:r>
            <a:endParaRPr lang="ar-SA" sz="1500" dirty="0"/>
          </a:p>
        </p:txBody>
      </p:sp>
      <p:pic>
        <p:nvPicPr>
          <p:cNvPr id="20" name="s28_pic_17" descr="/tmp/claude-0/-home-user-Scienceshamah/8386cda7-7741-5ea4-8952-60ee8e67fc31/scratchpad/w3/img/card_615x143_FFFFFF_d_i.png">    </p:cNvPr>
          <p:cNvPicPr>
            <a:picLocks noChangeAspect="1"/>
          </p:cNvPicPr>
          <p:nvPr/>
        </p:nvPicPr>
        <p:blipFill>
          <a:blip r:embed="rId11"/>
          <a:stretch>
            <a:fillRect/>
          </a:stretch>
        </p:blipFill>
        <p:spPr>
          <a:xfrm>
            <a:off x="4224528" y="3063240"/>
            <a:ext cx="3749040" cy="868680"/>
          </a:xfrm>
          <a:prstGeom prst="rect">
            <a:avLst/>
          </a:prstGeom>
        </p:spPr>
      </p:pic>
      <p:sp>
        <p:nvSpPr>
          <p:cNvPr id="21" name="s28_t_18"/>
          <p:cNvSpPr txBox="1"/>
          <p:nvPr/>
        </p:nvSpPr>
        <p:spPr>
          <a:xfrm>
            <a:off x="4315968" y="3090672"/>
            <a:ext cx="3566160" cy="82296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C2366F"/>
                </a:solidFill>
                <a:latin typeface="Tahoma" pitchFamily="34" charset="0"/>
                <a:ea typeface="Tahoma" pitchFamily="34" charset="-122"/>
                <a:cs typeface="Tahoma" pitchFamily="34" charset="-120"/>
              </a:rPr>
              <a:t>آكلة الأعشاب</a:t>
            </a:r>
            <a:endParaRPr lang="ar-SA" sz="1800" dirty="0"/>
          </a:p>
        </p:txBody>
      </p:sp>
      <p:pic>
        <p:nvPicPr>
          <p:cNvPr id="22" name="s28_pic_19" descr="/tmp/claude-0/-home-user-Scienceshamah/8386cda7-7741-5ea4-8952-60ee8e67fc31/scratchpad/w3/img/card_615x143_FFFFFF_d_i.png">    </p:cNvPr>
          <p:cNvPicPr>
            <a:picLocks noChangeAspect="1"/>
          </p:cNvPicPr>
          <p:nvPr/>
        </p:nvPicPr>
        <p:blipFill>
          <a:blip r:embed="rId12"/>
          <a:stretch>
            <a:fillRect/>
          </a:stretch>
        </p:blipFill>
        <p:spPr>
          <a:xfrm>
            <a:off x="4224528" y="4069080"/>
            <a:ext cx="3749040" cy="868680"/>
          </a:xfrm>
          <a:prstGeom prst="rect">
            <a:avLst/>
          </a:prstGeom>
        </p:spPr>
      </p:pic>
      <p:sp>
        <p:nvSpPr>
          <p:cNvPr id="23" name="s28_t_20"/>
          <p:cNvSpPr txBox="1"/>
          <p:nvPr/>
        </p:nvSpPr>
        <p:spPr>
          <a:xfrm>
            <a:off x="4315968" y="4096512"/>
            <a:ext cx="3566160" cy="82296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C2366F"/>
                </a:solidFill>
                <a:latin typeface="Tahoma" pitchFamily="34" charset="0"/>
                <a:ea typeface="Tahoma" pitchFamily="34" charset="-122"/>
                <a:cs typeface="Tahoma" pitchFamily="34" charset="-120"/>
              </a:rPr>
              <a:t>القوارت</a:t>
            </a:r>
            <a:endParaRPr lang="ar-SA" sz="1800" dirty="0"/>
          </a:p>
        </p:txBody>
      </p:sp>
      <p:pic>
        <p:nvPicPr>
          <p:cNvPr id="24" name="s28_pic_21" descr="/tmp/claude-0/-home-user-Scienceshamah/8386cda7-7741-5ea4-8952-60ee8e67fc31/scratchpad/w3/img/card_615x143_FFFFFF_d_i.png">    </p:cNvPr>
          <p:cNvPicPr>
            <a:picLocks noChangeAspect="1"/>
          </p:cNvPicPr>
          <p:nvPr/>
        </p:nvPicPr>
        <p:blipFill>
          <a:blip r:embed="rId13"/>
          <a:stretch>
            <a:fillRect/>
          </a:stretch>
        </p:blipFill>
        <p:spPr>
          <a:xfrm>
            <a:off x="4224528" y="5074920"/>
            <a:ext cx="3749040" cy="868680"/>
          </a:xfrm>
          <a:prstGeom prst="rect">
            <a:avLst/>
          </a:prstGeom>
        </p:spPr>
      </p:pic>
      <p:sp>
        <p:nvSpPr>
          <p:cNvPr id="25" name="s28_t_22"/>
          <p:cNvSpPr txBox="1"/>
          <p:nvPr/>
        </p:nvSpPr>
        <p:spPr>
          <a:xfrm>
            <a:off x="4315968" y="5102352"/>
            <a:ext cx="3566160" cy="82296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C2366F"/>
                </a:solidFill>
                <a:latin typeface="Tahoma" pitchFamily="34" charset="0"/>
                <a:ea typeface="Tahoma" pitchFamily="34" charset="-122"/>
                <a:cs typeface="Tahoma" pitchFamily="34" charset="-120"/>
              </a:rPr>
              <a:t>آكلة اللحوم</a:t>
            </a:r>
            <a:endParaRPr lang="ar-SA" sz="1800" dirty="0"/>
          </a:p>
        </p:txBody>
      </p:sp>
    </p:spTree>
  </p:cSld>
  <p:clrMapOvr>
    <a:masterClrMapping/>
  </p:clrMapOvr>
  <p:transition spd="slow">
    <p:wheel spokes="4"/>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 calcmode="lin" valueType="num">
                                      <p:cBhvr>
                                        <p:cTn id="6" dur="500" fill="hold"/>
                                        <p:tgtEl>
                                          <p:spTgt spid="7"/>
                                        </p:tgtEl>
                                        <p:attrNameLst>
                                          <p:attrName>ppt_w</p:attrName>
                                        </p:attrNameLst>
                                      </p:cBhvr>
                                      <p:tavLst>
                                        <p:tav tm="0">
                                          <p:val>
                                            <p:fltVal val="0"/>
                                          </p:val>
                                        </p:tav>
                                        <p:tav tm="100000">
                                          <p:val>
                                            <p:strVal val="#ppt_w"/>
                                          </p:val>
                                        </p:tav>
                                      </p:tavLst>
                                    </p:anim>
                                    <p:anim calcmode="lin" valueType="num">
                                      <p:cBhvr>
                                        <p:cTn id="7" dur="500" fill="hold"/>
                                        <p:tgtEl>
                                          <p:spTgt spid="7"/>
                                        </p:tgtEl>
                                        <p:attrNameLst>
                                          <p:attrName>ppt_h</p:attrName>
                                        </p:attrNameLst>
                                      </p:cBhvr>
                                      <p:tavLst>
                                        <p:tav tm="0">
                                          <p:val>
                                            <p:fltVal val="0"/>
                                          </p:val>
                                        </p:tav>
                                        <p:tav tm="100000">
                                          <p:val>
                                            <p:strVal val="#ppt_h"/>
                                          </p:val>
                                        </p:tav>
                                      </p:tavLst>
                                    </p:anim>
                                    <p:animEffect transition="in" filter="fade">
                                      <p:cBhvr>
                                        <p:cTn id="8"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23" presetID="53" presetClass="entr" presetSubtype="16"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fltVal val="0"/>
                                          </p:val>
                                        </p:tav>
                                        <p:tav tm="100000">
                                          <p:val>
                                            <p:strVal val="#ppt_h"/>
                                          </p:val>
                                        </p:tav>
                                      </p:tavLst>
                                    </p:anim>
                                    <p:animEffect transition="in" filter="fade">
                                      <p:cBhvr>
                                        <p:cTn id="22"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fltVal val="0"/>
                                          </p:val>
                                        </p:tav>
                                        <p:tav tm="100000">
                                          <p:val>
                                            <p:strVal val="#ppt_w"/>
                                          </p:val>
                                        </p:tav>
                                      </p:tavLst>
                                    </p:anim>
                                    <p:anim calcmode="lin" valueType="num">
                                      <p:cBhvr>
                                        <p:cTn id="28" dur="500" fill="hold"/>
                                        <p:tgtEl>
                                          <p:spTgt spid="13"/>
                                        </p:tgtEl>
                                        <p:attrNameLst>
                                          <p:attrName>ppt_h</p:attrName>
                                        </p:attrNameLst>
                                      </p:cBhvr>
                                      <p:tavLst>
                                        <p:tav tm="0">
                                          <p:val>
                                            <p:fltVal val="0"/>
                                          </p:val>
                                        </p:tav>
                                        <p:tav tm="100000">
                                          <p:val>
                                            <p:strVal val="#ppt_h"/>
                                          </p:val>
                                        </p:tav>
                                      </p:tavLst>
                                    </p:anim>
                                    <p:animEffect transition="in" filter="fade">
                                      <p:cBhvr>
                                        <p:cTn id="29"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7" presetID="53" presetClass="entr" presetSubtype="16"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p:cTn id="34" dur="500" fill="hold"/>
                                        <p:tgtEl>
                                          <p:spTgt spid="15"/>
                                        </p:tgtEl>
                                        <p:attrNameLst>
                                          <p:attrName>ppt_w</p:attrName>
                                        </p:attrNameLst>
                                      </p:cBhvr>
                                      <p:tavLst>
                                        <p:tav tm="0">
                                          <p:val>
                                            <p:fltVal val="0"/>
                                          </p:val>
                                        </p:tav>
                                        <p:tav tm="100000">
                                          <p:val>
                                            <p:strVal val="#ppt_w"/>
                                          </p:val>
                                        </p:tav>
                                      </p:tavLst>
                                    </p:anim>
                                    <p:anim calcmode="lin" valueType="num">
                                      <p:cBhvr>
                                        <p:cTn id="35" dur="500" fill="hold"/>
                                        <p:tgtEl>
                                          <p:spTgt spid="15"/>
                                        </p:tgtEl>
                                        <p:attrNameLst>
                                          <p:attrName>ppt_h</p:attrName>
                                        </p:attrNameLst>
                                      </p:cBhvr>
                                      <p:tavLst>
                                        <p:tav tm="0">
                                          <p:val>
                                            <p:fltVal val="0"/>
                                          </p:val>
                                        </p:tav>
                                        <p:tav tm="100000">
                                          <p:val>
                                            <p:strVal val="#ppt_h"/>
                                          </p:val>
                                        </p:tav>
                                      </p:tavLst>
                                    </p:anim>
                                    <p:animEffect transition="in" filter="fade">
                                      <p:cBhvr>
                                        <p:cTn id="36"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4" presetID="5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p:cTn id="41" dur="500" fill="hold"/>
                                        <p:tgtEl>
                                          <p:spTgt spid="17"/>
                                        </p:tgtEl>
                                        <p:attrNameLst>
                                          <p:attrName>ppt_w</p:attrName>
                                        </p:attrNameLst>
                                      </p:cBhvr>
                                      <p:tavLst>
                                        <p:tav tm="0">
                                          <p:val>
                                            <p:fltVal val="0"/>
                                          </p:val>
                                        </p:tav>
                                        <p:tav tm="100000">
                                          <p:val>
                                            <p:strVal val="#ppt_w"/>
                                          </p:val>
                                        </p:tav>
                                      </p:tavLst>
                                    </p:anim>
                                    <p:anim calcmode="lin" valueType="num">
                                      <p:cBhvr>
                                        <p:cTn id="42" dur="500" fill="hold"/>
                                        <p:tgtEl>
                                          <p:spTgt spid="17"/>
                                        </p:tgtEl>
                                        <p:attrNameLst>
                                          <p:attrName>ppt_h</p:attrName>
                                        </p:attrNameLst>
                                      </p:cBhvr>
                                      <p:tavLst>
                                        <p:tav tm="0">
                                          <p:val>
                                            <p:fltVal val="0"/>
                                          </p:val>
                                        </p:tav>
                                        <p:tav tm="100000">
                                          <p:val>
                                            <p:strVal val="#ppt_h"/>
                                          </p:val>
                                        </p:tav>
                                      </p:tavLst>
                                    </p:anim>
                                    <p:animEffect transition="in" filter="fade">
                                      <p:cBhvr>
                                        <p:cTn id="43"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51" presetID="53" presetClass="entr" presetSubtype="16"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p:cTn id="48" dur="500" fill="hold"/>
                                        <p:tgtEl>
                                          <p:spTgt spid="19"/>
                                        </p:tgtEl>
                                        <p:attrNameLst>
                                          <p:attrName>ppt_w</p:attrName>
                                        </p:attrNameLst>
                                      </p:cBhvr>
                                      <p:tavLst>
                                        <p:tav tm="0">
                                          <p:val>
                                            <p:fltVal val="0"/>
                                          </p:val>
                                        </p:tav>
                                        <p:tav tm="100000">
                                          <p:val>
                                            <p:strVal val="#ppt_w"/>
                                          </p:val>
                                        </p:tav>
                                      </p:tavLst>
                                    </p:anim>
                                    <p:anim calcmode="lin" valueType="num">
                                      <p:cBhvr>
                                        <p:cTn id="49" dur="500" fill="hold"/>
                                        <p:tgtEl>
                                          <p:spTgt spid="19"/>
                                        </p:tgtEl>
                                        <p:attrNameLst>
                                          <p:attrName>ppt_h</p:attrName>
                                        </p:attrNameLst>
                                      </p:cBhvr>
                                      <p:tavLst>
                                        <p:tav tm="0">
                                          <p:val>
                                            <p:fltVal val="0"/>
                                          </p:val>
                                        </p:tav>
                                        <p:tav tm="100000">
                                          <p:val>
                                            <p:strVal val="#ppt_h"/>
                                          </p:val>
                                        </p:tav>
                                      </p:tavLst>
                                    </p:anim>
                                    <p:animEffect transition="in" filter="fade">
                                      <p:cBhvr>
                                        <p:cTn id="50"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8" presetID="53" presetClass="entr" presetSubtype="16"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p:cTn id="55" dur="500" fill="hold"/>
                                        <p:tgtEl>
                                          <p:spTgt spid="21"/>
                                        </p:tgtEl>
                                        <p:attrNameLst>
                                          <p:attrName>ppt_w</p:attrName>
                                        </p:attrNameLst>
                                      </p:cBhvr>
                                      <p:tavLst>
                                        <p:tav tm="0">
                                          <p:val>
                                            <p:fltVal val="0"/>
                                          </p:val>
                                        </p:tav>
                                        <p:tav tm="100000">
                                          <p:val>
                                            <p:strVal val="#ppt_w"/>
                                          </p:val>
                                        </p:tav>
                                      </p:tavLst>
                                    </p:anim>
                                    <p:anim calcmode="lin" valueType="num">
                                      <p:cBhvr>
                                        <p:cTn id="56" dur="500" fill="hold"/>
                                        <p:tgtEl>
                                          <p:spTgt spid="21"/>
                                        </p:tgtEl>
                                        <p:attrNameLst>
                                          <p:attrName>ppt_h</p:attrName>
                                        </p:attrNameLst>
                                      </p:cBhvr>
                                      <p:tavLst>
                                        <p:tav tm="0">
                                          <p:val>
                                            <p:fltVal val="0"/>
                                          </p:val>
                                        </p:tav>
                                        <p:tav tm="100000">
                                          <p:val>
                                            <p:strVal val="#ppt_h"/>
                                          </p:val>
                                        </p:tav>
                                      </p:tavLst>
                                    </p:anim>
                                    <p:animEffect transition="in" filter="fade">
                                      <p:cBhvr>
                                        <p:cTn id="57"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5" presetID="53" presetClass="entr" presetSubtype="16"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p:cTn id="62" dur="500" fill="hold"/>
                                        <p:tgtEl>
                                          <p:spTgt spid="23"/>
                                        </p:tgtEl>
                                        <p:attrNameLst>
                                          <p:attrName>ppt_w</p:attrName>
                                        </p:attrNameLst>
                                      </p:cBhvr>
                                      <p:tavLst>
                                        <p:tav tm="0">
                                          <p:val>
                                            <p:fltVal val="0"/>
                                          </p:val>
                                        </p:tav>
                                        <p:tav tm="100000">
                                          <p:val>
                                            <p:strVal val="#ppt_w"/>
                                          </p:val>
                                        </p:tav>
                                      </p:tavLst>
                                    </p:anim>
                                    <p:anim calcmode="lin" valueType="num">
                                      <p:cBhvr>
                                        <p:cTn id="63" dur="500" fill="hold"/>
                                        <p:tgtEl>
                                          <p:spTgt spid="23"/>
                                        </p:tgtEl>
                                        <p:attrNameLst>
                                          <p:attrName>ppt_h</p:attrName>
                                        </p:attrNameLst>
                                      </p:cBhvr>
                                      <p:tavLst>
                                        <p:tav tm="0">
                                          <p:val>
                                            <p:fltVal val="0"/>
                                          </p:val>
                                        </p:tav>
                                        <p:tav tm="100000">
                                          <p:val>
                                            <p:strVal val="#ppt_h"/>
                                          </p:val>
                                        </p:tav>
                                      </p:tavLst>
                                    </p:anim>
                                    <p:animEffect transition="in" filter="fade">
                                      <p:cBhvr>
                                        <p:cTn id="64" dur="500"/>
                                        <p:tgtEl>
                                          <p:spTgt spid="23"/>
                                        </p:tgtEl>
                                      </p:cBhvr>
                                    </p:animEffect>
                                  </p:childTnLst>
                                </p:cTn>
                              </p:par>
                            </p:childTnLst>
                          </p:cTn>
                        </p:par>
                      </p:childTnLst>
                    </p:cTn>
                  </p:par>
                  <p:par>
                    <p:cTn id="66" fill="hold">
                      <p:stCondLst>
                        <p:cond delay="indefinite"/>
                      </p:stCondLst>
                      <p:childTnLst>
                        <p:par>
                          <p:cTn id="67" fill="hold">
                            <p:stCondLst>
                              <p:cond delay="0"/>
                            </p:stCondLst>
                            <p:childTnLst>
                              <p:par>
                                <p:cTn id="72" presetID="53" presetClass="entr" presetSubtype="16"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p:cTn id="69" dur="500" fill="hold"/>
                                        <p:tgtEl>
                                          <p:spTgt spid="25"/>
                                        </p:tgtEl>
                                        <p:attrNameLst>
                                          <p:attrName>ppt_w</p:attrName>
                                        </p:attrNameLst>
                                      </p:cBhvr>
                                      <p:tavLst>
                                        <p:tav tm="0">
                                          <p:val>
                                            <p:fltVal val="0"/>
                                          </p:val>
                                        </p:tav>
                                        <p:tav tm="100000">
                                          <p:val>
                                            <p:strVal val="#ppt_w"/>
                                          </p:val>
                                        </p:tav>
                                      </p:tavLst>
                                    </p:anim>
                                    <p:anim calcmode="lin" valueType="num">
                                      <p:cBhvr>
                                        <p:cTn id="70" dur="500" fill="hold"/>
                                        <p:tgtEl>
                                          <p:spTgt spid="25"/>
                                        </p:tgtEl>
                                        <p:attrNameLst>
                                          <p:attrName>ppt_h</p:attrName>
                                        </p:attrNameLst>
                                      </p:cBhvr>
                                      <p:tavLst>
                                        <p:tav tm="0">
                                          <p:val>
                                            <p:fltVal val="0"/>
                                          </p:val>
                                        </p:tav>
                                        <p:tav tm="100000">
                                          <p:val>
                                            <p:strVal val="#ppt_h"/>
                                          </p:val>
                                        </p:tav>
                                      </p:tavLst>
                                    </p:anim>
                                    <p:animEffect transition="in" filter="fade">
                                      <p:cBhvr>
                                        <p:cTn id="7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9_title" descr="لعبة: من أنا؟">    </p:cNvPr>
          <p:cNvPicPr>
            <a:picLocks noChangeAspect="1"/>
          </p:cNvPicPr>
          <p:nvPr/>
        </p:nvPicPr>
        <p:blipFill>
          <a:blip r:embed="rId2"/>
          <a:stretch>
            <a:fillRect/>
          </a:stretch>
        </p:blipFill>
        <p:spPr>
          <a:xfrm>
            <a:off x="8993854" y="109728"/>
            <a:ext cx="2847626" cy="868680"/>
          </a:xfrm>
          <a:prstGeom prst="rect">
            <a:avLst/>
          </a:prstGeom>
        </p:spPr>
      </p:pic>
      <p:sp>
        <p:nvSpPr>
          <p:cNvPr id="3" name="s29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التعلم باللعب – التحدي</a:t>
            </a:r>
            <a:endParaRPr lang="ar-SA" sz="1700" dirty="0"/>
          </a:p>
        </p:txBody>
      </p:sp>
      <p:pic>
        <p:nvPicPr>
          <p:cNvPr id="4" name="s29_pic_1" descr="/tmp/claude-0/-home-user-Scienceshamah/8386cda7-7741-5ea4-8952-60ee8e67fc31/scratchpad/w3/img/card_1223x188_B8F28A_s_i.png">    </p:cNvPr>
          <p:cNvPicPr>
            <a:picLocks noChangeAspect="1"/>
          </p:cNvPicPr>
          <p:nvPr/>
        </p:nvPicPr>
        <p:blipFill>
          <a:blip r:embed="rId3"/>
          <a:stretch>
            <a:fillRect/>
          </a:stretch>
        </p:blipFill>
        <p:spPr>
          <a:xfrm>
            <a:off x="4297680" y="1051560"/>
            <a:ext cx="7452360" cy="1143000"/>
          </a:xfrm>
          <a:prstGeom prst="rect">
            <a:avLst/>
          </a:prstGeom>
        </p:spPr>
      </p:pic>
      <p:sp>
        <p:nvSpPr>
          <p:cNvPr id="5" name="s29_t_2"/>
          <p:cNvSpPr txBox="1"/>
          <p:nvPr/>
        </p:nvSpPr>
        <p:spPr>
          <a:xfrm>
            <a:off x="11109960" y="1353312"/>
            <a:ext cx="502920" cy="502920"/>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١</a:t>
            </a:r>
            <a:endParaRPr lang="ar-SA" sz="1700" dirty="0"/>
          </a:p>
        </p:txBody>
      </p:sp>
      <p:sp>
        <p:nvSpPr>
          <p:cNvPr id="6" name="s29_t_3"/>
          <p:cNvSpPr txBox="1"/>
          <p:nvPr/>
        </p:nvSpPr>
        <p:spPr>
          <a:xfrm>
            <a:off x="4480560" y="1097280"/>
            <a:ext cx="6537960" cy="105156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أصنع غذائي بنفسي مستخدمًا طاقة الشمس.</a:t>
            </a:r>
            <a:endParaRPr lang="ar-SA" sz="2000" dirty="0"/>
          </a:p>
        </p:txBody>
      </p:sp>
      <p:pic>
        <p:nvPicPr>
          <p:cNvPr id="7" name="s29_pic_4" descr="/tmp/claude-0/-home-user-Scienceshamah/8386cda7-7741-5ea4-8952-60ee8e67fc31/scratchpad/w3/img/card_593x188_DFF7D2_s_i.png">    </p:cNvPr>
          <p:cNvPicPr>
            <a:picLocks noChangeAspect="1"/>
          </p:cNvPicPr>
          <p:nvPr/>
        </p:nvPicPr>
        <p:blipFill>
          <a:blip r:embed="rId4"/>
          <a:stretch>
            <a:fillRect/>
          </a:stretch>
        </p:blipFill>
        <p:spPr>
          <a:xfrm>
            <a:off x="502920" y="1051560"/>
            <a:ext cx="3611880" cy="1143000"/>
          </a:xfrm>
          <a:prstGeom prst="rect">
            <a:avLst/>
          </a:prstGeom>
        </p:spPr>
      </p:pic>
      <p:sp>
        <p:nvSpPr>
          <p:cNvPr id="8" name="s29_t_5"/>
          <p:cNvSpPr txBox="1"/>
          <p:nvPr/>
        </p:nvSpPr>
        <p:spPr>
          <a:xfrm>
            <a:off x="594360" y="1143000"/>
            <a:ext cx="3429000" cy="96012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2F8A3A"/>
                </a:solidFill>
                <a:latin typeface="Tahoma" pitchFamily="34" charset="0"/>
                <a:ea typeface="Tahoma" pitchFamily="34" charset="-122"/>
                <a:cs typeface="Tahoma" pitchFamily="34" charset="-120"/>
              </a:rPr>
              <a:t>منتِج 🌱</a:t>
            </a:r>
            <a:endParaRPr lang="ar-SA" sz="2400" dirty="0"/>
          </a:p>
        </p:txBody>
      </p:sp>
      <p:pic>
        <p:nvPicPr>
          <p:cNvPr id="9" name="s29_pic_6" descr="من أنا؟ اضغطي لتظهر الإجابة">    </p:cNvPr>
          <p:cNvPicPr>
            <a:picLocks noChangeAspect="1"/>
          </p:cNvPicPr>
          <p:nvPr/>
        </p:nvPicPr>
        <p:blipFill>
          <a:blip r:embed="rId5"/>
          <a:stretch>
            <a:fillRect/>
          </a:stretch>
        </p:blipFill>
        <p:spPr>
          <a:xfrm>
            <a:off x="502920" y="1051560"/>
            <a:ext cx="3611880" cy="1143000"/>
          </a:xfrm>
          <a:prstGeom prst="rect">
            <a:avLst/>
          </a:prstGeom>
        </p:spPr>
      </p:pic>
      <p:pic>
        <p:nvPicPr>
          <p:cNvPr id="10" name="s29_pic_7" descr="/tmp/claude-0/-home-user-Scienceshamah/8386cda7-7741-5ea4-8952-60ee8e67fc31/scratchpad/w3/img/card_1223x188_FFE066_s_i.png">    </p:cNvPr>
          <p:cNvPicPr>
            <a:picLocks noChangeAspect="1"/>
          </p:cNvPicPr>
          <p:nvPr/>
        </p:nvPicPr>
        <p:blipFill>
          <a:blip r:embed="rId6"/>
          <a:stretch>
            <a:fillRect/>
          </a:stretch>
        </p:blipFill>
        <p:spPr>
          <a:xfrm>
            <a:off x="4297680" y="2331720"/>
            <a:ext cx="7452360" cy="1143000"/>
          </a:xfrm>
          <a:prstGeom prst="rect">
            <a:avLst/>
          </a:prstGeom>
        </p:spPr>
      </p:pic>
      <p:sp>
        <p:nvSpPr>
          <p:cNvPr id="11" name="s29_t_8"/>
          <p:cNvSpPr txBox="1"/>
          <p:nvPr/>
        </p:nvSpPr>
        <p:spPr>
          <a:xfrm>
            <a:off x="11109960" y="2633472"/>
            <a:ext cx="502920" cy="502920"/>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٢</a:t>
            </a:r>
            <a:endParaRPr lang="ar-SA" sz="1700" dirty="0"/>
          </a:p>
        </p:txBody>
      </p:sp>
      <p:sp>
        <p:nvSpPr>
          <p:cNvPr id="12" name="s29_t_9"/>
          <p:cNvSpPr txBox="1"/>
          <p:nvPr/>
        </p:nvSpPr>
        <p:spPr>
          <a:xfrm>
            <a:off x="4480560" y="2377440"/>
            <a:ext cx="6537960" cy="105156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أتغذّى على المنتجات والمستهلكات.</a:t>
            </a:r>
            <a:endParaRPr lang="ar-SA" sz="2000" dirty="0"/>
          </a:p>
        </p:txBody>
      </p:sp>
      <p:pic>
        <p:nvPicPr>
          <p:cNvPr id="13" name="s29_pic_10" descr="/tmp/claude-0/-home-user-Scienceshamah/8386cda7-7741-5ea4-8952-60ee8e67fc31/scratchpad/w3/img/card_593x188_DFF7D2_s_i.png">    </p:cNvPr>
          <p:cNvPicPr>
            <a:picLocks noChangeAspect="1"/>
          </p:cNvPicPr>
          <p:nvPr/>
        </p:nvPicPr>
        <p:blipFill>
          <a:blip r:embed="rId7"/>
          <a:stretch>
            <a:fillRect/>
          </a:stretch>
        </p:blipFill>
        <p:spPr>
          <a:xfrm>
            <a:off x="502920" y="2331720"/>
            <a:ext cx="3611880" cy="1143000"/>
          </a:xfrm>
          <a:prstGeom prst="rect">
            <a:avLst/>
          </a:prstGeom>
        </p:spPr>
      </p:pic>
      <p:sp>
        <p:nvSpPr>
          <p:cNvPr id="14" name="s29_t_11"/>
          <p:cNvSpPr txBox="1"/>
          <p:nvPr/>
        </p:nvSpPr>
        <p:spPr>
          <a:xfrm>
            <a:off x="594360" y="2423160"/>
            <a:ext cx="3429000" cy="96012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2F8A3A"/>
                </a:solidFill>
                <a:latin typeface="Tahoma" pitchFamily="34" charset="0"/>
                <a:ea typeface="Tahoma" pitchFamily="34" charset="-122"/>
                <a:cs typeface="Tahoma" pitchFamily="34" charset="-120"/>
              </a:rPr>
              <a:t>قارت 🦝</a:t>
            </a:r>
            <a:endParaRPr lang="ar-SA" sz="2400" dirty="0"/>
          </a:p>
        </p:txBody>
      </p:sp>
      <p:pic>
        <p:nvPicPr>
          <p:cNvPr id="15" name="s29_pic_12" descr="من أنا؟ اضغطي لتظهر الإجابة">    </p:cNvPr>
          <p:cNvPicPr>
            <a:picLocks noChangeAspect="1"/>
          </p:cNvPicPr>
          <p:nvPr/>
        </p:nvPicPr>
        <p:blipFill>
          <a:blip r:embed="rId8"/>
          <a:stretch>
            <a:fillRect/>
          </a:stretch>
        </p:blipFill>
        <p:spPr>
          <a:xfrm>
            <a:off x="502920" y="2331720"/>
            <a:ext cx="3611880" cy="1143000"/>
          </a:xfrm>
          <a:prstGeom prst="rect">
            <a:avLst/>
          </a:prstGeom>
        </p:spPr>
      </p:pic>
      <p:pic>
        <p:nvPicPr>
          <p:cNvPr id="16" name="s29_pic_13" descr="/tmp/claude-0/-home-user-Scienceshamah/8386cda7-7741-5ea4-8952-60ee8e67fc31/scratchpad/w3/img/card_1223x188_FFC48C_s_i.png">    </p:cNvPr>
          <p:cNvPicPr>
            <a:picLocks noChangeAspect="1"/>
          </p:cNvPicPr>
          <p:nvPr/>
        </p:nvPicPr>
        <p:blipFill>
          <a:blip r:embed="rId9"/>
          <a:stretch>
            <a:fillRect/>
          </a:stretch>
        </p:blipFill>
        <p:spPr>
          <a:xfrm>
            <a:off x="4297680" y="3611880"/>
            <a:ext cx="7452360" cy="1143000"/>
          </a:xfrm>
          <a:prstGeom prst="rect">
            <a:avLst/>
          </a:prstGeom>
        </p:spPr>
      </p:pic>
      <p:sp>
        <p:nvSpPr>
          <p:cNvPr id="17" name="s29_t_14"/>
          <p:cNvSpPr txBox="1"/>
          <p:nvPr/>
        </p:nvSpPr>
        <p:spPr>
          <a:xfrm>
            <a:off x="11109960" y="3913632"/>
            <a:ext cx="502920" cy="502920"/>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٣</a:t>
            </a:r>
            <a:endParaRPr lang="ar-SA" sz="1700" dirty="0"/>
          </a:p>
        </p:txBody>
      </p:sp>
      <p:sp>
        <p:nvSpPr>
          <p:cNvPr id="18" name="s29_t_15"/>
          <p:cNvSpPr txBox="1"/>
          <p:nvPr/>
        </p:nvSpPr>
        <p:spPr>
          <a:xfrm>
            <a:off x="4480560" y="3657600"/>
            <a:ext cx="6537960" cy="105156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أحلّل المواد الميتة وأعيدها مواد مغذية.</a:t>
            </a:r>
            <a:endParaRPr lang="ar-SA" sz="2000" dirty="0"/>
          </a:p>
        </p:txBody>
      </p:sp>
      <p:pic>
        <p:nvPicPr>
          <p:cNvPr id="19" name="s29_pic_16" descr="/tmp/claude-0/-home-user-Scienceshamah/8386cda7-7741-5ea4-8952-60ee8e67fc31/scratchpad/w3/img/card_593x188_DFF7D2_s_i.png">    </p:cNvPr>
          <p:cNvPicPr>
            <a:picLocks noChangeAspect="1"/>
          </p:cNvPicPr>
          <p:nvPr/>
        </p:nvPicPr>
        <p:blipFill>
          <a:blip r:embed="rId10"/>
          <a:stretch>
            <a:fillRect/>
          </a:stretch>
        </p:blipFill>
        <p:spPr>
          <a:xfrm>
            <a:off x="502920" y="3611880"/>
            <a:ext cx="3611880" cy="1143000"/>
          </a:xfrm>
          <a:prstGeom prst="rect">
            <a:avLst/>
          </a:prstGeom>
        </p:spPr>
      </p:pic>
      <p:sp>
        <p:nvSpPr>
          <p:cNvPr id="20" name="s29_t_17"/>
          <p:cNvSpPr txBox="1"/>
          <p:nvPr/>
        </p:nvSpPr>
        <p:spPr>
          <a:xfrm>
            <a:off x="594360" y="3703320"/>
            <a:ext cx="3429000" cy="96012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2F8A3A"/>
                </a:solidFill>
                <a:latin typeface="Tahoma" pitchFamily="34" charset="0"/>
                <a:ea typeface="Tahoma" pitchFamily="34" charset="-122"/>
                <a:cs typeface="Tahoma" pitchFamily="34" charset="-120"/>
              </a:rPr>
              <a:t>محلِّل 🍄</a:t>
            </a:r>
            <a:endParaRPr lang="ar-SA" sz="2400" dirty="0"/>
          </a:p>
        </p:txBody>
      </p:sp>
      <p:pic>
        <p:nvPicPr>
          <p:cNvPr id="21" name="s29_pic_18" descr="من أنا؟ اضغطي لتظهر الإجابة">    </p:cNvPr>
          <p:cNvPicPr>
            <a:picLocks noChangeAspect="1"/>
          </p:cNvPicPr>
          <p:nvPr/>
        </p:nvPicPr>
        <p:blipFill>
          <a:blip r:embed="rId11"/>
          <a:stretch>
            <a:fillRect/>
          </a:stretch>
        </p:blipFill>
        <p:spPr>
          <a:xfrm>
            <a:off x="502920" y="3611880"/>
            <a:ext cx="3611880" cy="1143000"/>
          </a:xfrm>
          <a:prstGeom prst="rect">
            <a:avLst/>
          </a:prstGeom>
        </p:spPr>
      </p:pic>
      <p:pic>
        <p:nvPicPr>
          <p:cNvPr id="22" name="s29_pic_19" descr="/tmp/claude-0/-home-user-Scienceshamah/8386cda7-7741-5ea4-8952-60ee8e67fc31/scratchpad/w3/img/card_1223x188_8FD8FF_s_i.png">    </p:cNvPr>
          <p:cNvPicPr>
            <a:picLocks noChangeAspect="1"/>
          </p:cNvPicPr>
          <p:nvPr/>
        </p:nvPicPr>
        <p:blipFill>
          <a:blip r:embed="rId12"/>
          <a:stretch>
            <a:fillRect/>
          </a:stretch>
        </p:blipFill>
        <p:spPr>
          <a:xfrm>
            <a:off x="4297680" y="4892040"/>
            <a:ext cx="7452360" cy="1143000"/>
          </a:xfrm>
          <a:prstGeom prst="rect">
            <a:avLst/>
          </a:prstGeom>
        </p:spPr>
      </p:pic>
      <p:sp>
        <p:nvSpPr>
          <p:cNvPr id="23" name="s29_t_20"/>
          <p:cNvSpPr txBox="1"/>
          <p:nvPr/>
        </p:nvSpPr>
        <p:spPr>
          <a:xfrm>
            <a:off x="11109960" y="5193792"/>
            <a:ext cx="502920" cy="502920"/>
          </a:xfrm>
          <a:prstGeom prst="ellipse">
            <a:avLst/>
          </a:prstGeom>
          <a:solidFill>
            <a:srgbClr val="34405E"/>
          </a:solidFill>
          <a:ln w="25400">
            <a:solidFill>
              <a:srgbClr val="FFFFFF"/>
            </a:solidFill>
          </a:ln>
        </p:spPr>
        <p:txBody>
          <a:bodyPr wrap="square" lIns="0" tIns="0" rIns="0" bIns="0" rtlCol="0" anchor="ctr"/>
          <a:lstStyle/>
          <a:p>
            <a:pPr rtl="1" algn="ctr" indent="0" marL="0">
              <a:lnSpc>
                <a:spcPct val="108000"/>
              </a:lnSpc>
              <a:buNone/>
            </a:pPr>
            <a:r>
              <a:rPr lang="ar-SA" altLang="en-US" sz="1700" b="1" dirty="0">
                <a:solidFill>
                  <a:srgbClr val="FFFFFF"/>
                </a:solidFill>
                <a:latin typeface="Tahoma" pitchFamily="34" charset="0"/>
                <a:ea typeface="Tahoma" pitchFamily="34" charset="-122"/>
                <a:cs typeface="Tahoma" pitchFamily="34" charset="-120"/>
              </a:rPr>
              <a:t>٤</a:t>
            </a:r>
            <a:endParaRPr lang="ar-SA" sz="1700" dirty="0"/>
          </a:p>
        </p:txBody>
      </p:sp>
      <p:sp>
        <p:nvSpPr>
          <p:cNvPr id="24" name="s29_t_21"/>
          <p:cNvSpPr txBox="1"/>
          <p:nvPr/>
        </p:nvSpPr>
        <p:spPr>
          <a:xfrm>
            <a:off x="4480560" y="4937760"/>
            <a:ext cx="6537960" cy="105156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آكل المنتجات فقط.</a:t>
            </a:r>
            <a:endParaRPr lang="ar-SA" sz="2000" dirty="0"/>
          </a:p>
        </p:txBody>
      </p:sp>
      <p:pic>
        <p:nvPicPr>
          <p:cNvPr id="25" name="s29_pic_22" descr="/tmp/claude-0/-home-user-Scienceshamah/8386cda7-7741-5ea4-8952-60ee8e67fc31/scratchpad/w3/img/card_593x188_DFF7D2_s_i.png">    </p:cNvPr>
          <p:cNvPicPr>
            <a:picLocks noChangeAspect="1"/>
          </p:cNvPicPr>
          <p:nvPr/>
        </p:nvPicPr>
        <p:blipFill>
          <a:blip r:embed="rId13"/>
          <a:stretch>
            <a:fillRect/>
          </a:stretch>
        </p:blipFill>
        <p:spPr>
          <a:xfrm>
            <a:off x="502920" y="4892040"/>
            <a:ext cx="3611880" cy="1143000"/>
          </a:xfrm>
          <a:prstGeom prst="rect">
            <a:avLst/>
          </a:prstGeom>
        </p:spPr>
      </p:pic>
      <p:sp>
        <p:nvSpPr>
          <p:cNvPr id="26" name="s29_t_23"/>
          <p:cNvSpPr txBox="1"/>
          <p:nvPr/>
        </p:nvSpPr>
        <p:spPr>
          <a:xfrm>
            <a:off x="594360" y="4983480"/>
            <a:ext cx="3429000" cy="96012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2F8A3A"/>
                </a:solidFill>
                <a:latin typeface="Tahoma" pitchFamily="34" charset="0"/>
                <a:ea typeface="Tahoma" pitchFamily="34" charset="-122"/>
                <a:cs typeface="Tahoma" pitchFamily="34" charset="-120"/>
              </a:rPr>
              <a:t>آكل أعشاب 🐰</a:t>
            </a:r>
            <a:endParaRPr lang="ar-SA" sz="2400" dirty="0"/>
          </a:p>
        </p:txBody>
      </p:sp>
      <p:pic>
        <p:nvPicPr>
          <p:cNvPr id="27" name="s29_pic_24" descr="من أنا؟ اضغطي لتظهر الإجابة">    </p:cNvPr>
          <p:cNvPicPr>
            <a:picLocks noChangeAspect="1"/>
          </p:cNvPicPr>
          <p:nvPr/>
        </p:nvPicPr>
        <p:blipFill>
          <a:blip r:embed="rId14"/>
          <a:stretch>
            <a:fillRect/>
          </a:stretch>
        </p:blipFill>
        <p:spPr>
          <a:xfrm>
            <a:off x="502920" y="4892040"/>
            <a:ext cx="3611880" cy="1143000"/>
          </a:xfrm>
          <a:prstGeom prst="rect">
            <a:avLst/>
          </a:prstGeom>
        </p:spPr>
      </p:pic>
    </p:spTree>
  </p:cSld>
  <p:clrMapOvr>
    <a:masterClrMapping/>
  </p:clrMapOvr>
  <p:transition spd="slow">
    <p:split orient="vert" dir="out"/>
  </p:transition>
  <p:timing>
    <p:tnLst>
      <p:par>
        <p:cTn id="1" dur="indefinite" restart="never" nodeType="tmRoot">
          <p:childTnLst>
            <p:seq concurrent="1" nextAc="seek">
              <p:cTn id="3" restart="whenNotActive" fill="hold" evtFilter="cancelBubble" nodeType="interactiveSeq">
                <p:stCondLst>
                  <p:cond evt="onClick" delay="0">
                    <p:tgtEl>
                      <p:spTgt spid="9"/>
                    </p:tgtEl>
                  </p:cond>
                </p:stCondLst>
                <p:endSync evt="end" delay="0">
                  <p:rtn val="all"/>
                </p:endSync>
                <p:childTnLst>
                  <p:par>
                    <p:cTn id="4" fill="hold">
                      <p:stCondLst>
                        <p:cond delay="0"/>
                      </p:stCondLst>
                      <p:childTnLst>
                        <p:par>
                          <p:cTn id="5" fill="hold">
                            <p:stCondLst>
                              <p:cond delay="0"/>
                            </p:stCondLst>
                            <p:childTnLst>
                              <p:par>
                                <p:cTn id="8" presetID="10" presetClass="exit" presetSubtype="0" fill="hold" grpId="1"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13" presetID="53" presetClass="entr" presetSubtype="16" fill="hold" grpId="0" nodeType="withEffect">
                                  <p:stCondLst>
                                    <p:cond delay="120"/>
                                  </p:stCondLst>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ppt_w</p:attrName>
                                        </p:attrNameLst>
                                      </p:cBhvr>
                                      <p:tavLst>
                                        <p:tav tm="0">
                                          <p:val>
                                            <p:fltVal val="0"/>
                                          </p:val>
                                        </p:tav>
                                        <p:tav tm="100000">
                                          <p:val>
                                            <p:strVal val="#ppt_w"/>
                                          </p:val>
                                        </p:tav>
                                      </p:tavLst>
                                    </p:anim>
                                    <p:anim calcmode="lin" valueType="num">
                                      <p:cBhvr>
                                        <p:cTn id="11" dur="500" fill="hold"/>
                                        <p:tgtEl>
                                          <p:spTgt spid="7"/>
                                        </p:tgtEl>
                                        <p:attrNameLst>
                                          <p:attrName>ppt_h</p:attrName>
                                        </p:attrNameLst>
                                      </p:cBhvr>
                                      <p:tavLst>
                                        <p:tav tm="0">
                                          <p:val>
                                            <p:fltVal val="0"/>
                                          </p:val>
                                        </p:tav>
                                        <p:tav tm="100000">
                                          <p:val>
                                            <p:strVal val="#ppt_h"/>
                                          </p:val>
                                        </p:tav>
                                      </p:tavLst>
                                    </p:anim>
                                    <p:animEffect transition="in" filter="fade">
                                      <p:cBhvr>
                                        <p:cTn id="12" dur="500"/>
                                        <p:tgtEl>
                                          <p:spTgt spid="7"/>
                                        </p:tgtEl>
                                      </p:cBhvr>
                                    </p:animEffect>
                                  </p:childTnLst>
                                </p:cTn>
                              </p:par>
                              <p:par>
                                <p:cTn id="18" presetID="53" presetClass="entr" presetSubtype="16" fill="hold" grpId="0" nodeType="withEffect">
                                  <p:stCondLst>
                                    <p:cond delay="12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childTnLst>
                    </p:cTn>
                  </p:par>
                </p:childTnLst>
              </p:cTn>
              <p:nextCondLst>
                <p:cond evt="onClick" delay="0">
                  <p:tgtEl>
                    <p:spTgt spid="9"/>
                  </p:tgtEl>
                </p:cond>
              </p:nextCondLst>
            </p:seq>
            <p:seq concurrent="1" nextAc="seek">
              <p:cTn id="19" restart="whenNotActive" fill="hold" evtFilter="cancelBubble" nodeType="interactiveSeq">
                <p:stCondLst>
                  <p:cond evt="onClick" delay="0">
                    <p:tgtEl>
                      <p:spTgt spid="15"/>
                    </p:tgtEl>
                  </p:cond>
                </p:stCondLst>
                <p:endSync evt="end" delay="0">
                  <p:rtn val="all"/>
                </p:endSync>
                <p:childTnLst>
                  <p:par>
                    <p:cTn id="20" fill="hold">
                      <p:stCondLst>
                        <p:cond delay="0"/>
                      </p:stCondLst>
                      <p:childTnLst>
                        <p:par>
                          <p:cTn id="21" fill="hold">
                            <p:stCondLst>
                              <p:cond delay="0"/>
                            </p:stCondLst>
                            <p:childTnLst>
                              <p:par>
                                <p:cTn id="24" presetID="10" presetClass="exit" presetSubtype="0" fill="hold" grpId="1" nodeType="clickEffect">
                                  <p:stCondLst>
                                    <p:cond delay="0"/>
                                  </p:stCondLst>
                                  <p:childTnLst>
                                    <p:animEffect transition="out" filter="fade">
                                      <p:cBhvr>
                                        <p:cTn id="22" dur="500"/>
                                        <p:tgtEl>
                                          <p:spTgt spid="15"/>
                                        </p:tgtEl>
                                      </p:cBhvr>
                                    </p:animEffect>
                                    <p:set>
                                      <p:cBhvr>
                                        <p:cTn id="23" dur="1" fill="hold">
                                          <p:stCondLst>
                                            <p:cond delay="499"/>
                                          </p:stCondLst>
                                        </p:cTn>
                                        <p:tgtEl>
                                          <p:spTgt spid="15"/>
                                        </p:tgtEl>
                                        <p:attrNameLst>
                                          <p:attrName>style.visibility</p:attrName>
                                        </p:attrNameLst>
                                      </p:cBhvr>
                                      <p:to>
                                        <p:strVal val="hidden"/>
                                      </p:to>
                                    </p:set>
                                  </p:childTnLst>
                                </p:cTn>
                              </p:par>
                              <p:par>
                                <p:cTn id="29" presetID="53" presetClass="entr" presetSubtype="16" fill="hold" grpId="0" nodeType="withEffect">
                                  <p:stCondLst>
                                    <p:cond delay="12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34" presetID="53" presetClass="entr" presetSubtype="16" fill="hold" grpId="0" nodeType="withEffect">
                                  <p:stCondLst>
                                    <p:cond delay="12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childTnLst>
                          </p:cTn>
                        </p:par>
                      </p:childTnLst>
                    </p:cTn>
                  </p:par>
                </p:childTnLst>
              </p:cTn>
              <p:nextCondLst>
                <p:cond evt="onClick" delay="0">
                  <p:tgtEl>
                    <p:spTgt spid="15"/>
                  </p:tgtEl>
                </p:cond>
              </p:nextCondLst>
            </p:seq>
            <p:seq concurrent="1" nextAc="seek">
              <p:cTn id="35" restart="whenNotActive" fill="hold" evtFilter="cancelBubble" nodeType="interactiveSeq">
                <p:stCondLst>
                  <p:cond evt="onClick" delay="0">
                    <p:tgtEl>
                      <p:spTgt spid="21"/>
                    </p:tgtEl>
                  </p:cond>
                </p:stCondLst>
                <p:endSync evt="end" delay="0">
                  <p:rtn val="all"/>
                </p:endSync>
                <p:childTnLst>
                  <p:par>
                    <p:cTn id="36" fill="hold">
                      <p:stCondLst>
                        <p:cond delay="0"/>
                      </p:stCondLst>
                      <p:childTnLst>
                        <p:par>
                          <p:cTn id="37" fill="hold">
                            <p:stCondLst>
                              <p:cond delay="0"/>
                            </p:stCondLst>
                            <p:childTnLst>
                              <p:par>
                                <p:cTn id="40" presetID="10" presetClass="exit" presetSubtype="0" fill="hold" grpId="1" nodeType="clickEffect">
                                  <p:stCondLst>
                                    <p:cond delay="0"/>
                                  </p:stCondLst>
                                  <p:childTnLst>
                                    <p:animEffect transition="out" filter="fade">
                                      <p:cBhvr>
                                        <p:cTn id="38" dur="500"/>
                                        <p:tgtEl>
                                          <p:spTgt spid="21"/>
                                        </p:tgtEl>
                                      </p:cBhvr>
                                    </p:animEffect>
                                    <p:set>
                                      <p:cBhvr>
                                        <p:cTn id="39" dur="1" fill="hold">
                                          <p:stCondLst>
                                            <p:cond delay="499"/>
                                          </p:stCondLst>
                                        </p:cTn>
                                        <p:tgtEl>
                                          <p:spTgt spid="21"/>
                                        </p:tgtEl>
                                        <p:attrNameLst>
                                          <p:attrName>style.visibility</p:attrName>
                                        </p:attrNameLst>
                                      </p:cBhvr>
                                      <p:to>
                                        <p:strVal val="hidden"/>
                                      </p:to>
                                    </p:set>
                                  </p:childTnLst>
                                </p:cTn>
                              </p:par>
                              <p:par>
                                <p:cTn id="45" presetID="53" presetClass="entr" presetSubtype="16" fill="hold" grpId="0" nodeType="withEffect">
                                  <p:stCondLst>
                                    <p:cond delay="120"/>
                                  </p:stCondLst>
                                  <p:childTnLst>
                                    <p:set>
                                      <p:cBhvr>
                                        <p:cTn id="41" dur="1" fill="hold">
                                          <p:stCondLst>
                                            <p:cond delay="0"/>
                                          </p:stCondLst>
                                        </p:cTn>
                                        <p:tgtEl>
                                          <p:spTgt spid="19"/>
                                        </p:tgtEl>
                                        <p:attrNameLst>
                                          <p:attrName>style.visibility</p:attrName>
                                        </p:attrNameLst>
                                      </p:cBhvr>
                                      <p:to>
                                        <p:strVal val="visible"/>
                                      </p:to>
                                    </p:set>
                                    <p:anim calcmode="lin" valueType="num">
                                      <p:cBhvr>
                                        <p:cTn id="42" dur="500" fill="hold"/>
                                        <p:tgtEl>
                                          <p:spTgt spid="19"/>
                                        </p:tgtEl>
                                        <p:attrNameLst>
                                          <p:attrName>ppt_w</p:attrName>
                                        </p:attrNameLst>
                                      </p:cBhvr>
                                      <p:tavLst>
                                        <p:tav tm="0">
                                          <p:val>
                                            <p:fltVal val="0"/>
                                          </p:val>
                                        </p:tav>
                                        <p:tav tm="100000">
                                          <p:val>
                                            <p:strVal val="#ppt_w"/>
                                          </p:val>
                                        </p:tav>
                                      </p:tavLst>
                                    </p:anim>
                                    <p:anim calcmode="lin" valueType="num">
                                      <p:cBhvr>
                                        <p:cTn id="43" dur="500" fill="hold"/>
                                        <p:tgtEl>
                                          <p:spTgt spid="19"/>
                                        </p:tgtEl>
                                        <p:attrNameLst>
                                          <p:attrName>ppt_h</p:attrName>
                                        </p:attrNameLst>
                                      </p:cBhvr>
                                      <p:tavLst>
                                        <p:tav tm="0">
                                          <p:val>
                                            <p:fltVal val="0"/>
                                          </p:val>
                                        </p:tav>
                                        <p:tav tm="100000">
                                          <p:val>
                                            <p:strVal val="#ppt_h"/>
                                          </p:val>
                                        </p:tav>
                                      </p:tavLst>
                                    </p:anim>
                                    <p:animEffect transition="in" filter="fade">
                                      <p:cBhvr>
                                        <p:cTn id="44" dur="500"/>
                                        <p:tgtEl>
                                          <p:spTgt spid="19"/>
                                        </p:tgtEl>
                                      </p:cBhvr>
                                    </p:animEffect>
                                  </p:childTnLst>
                                </p:cTn>
                              </p:par>
                              <p:par>
                                <p:cTn id="50" presetID="53" presetClass="entr" presetSubtype="16" fill="hold" grpId="0" nodeType="withEffect">
                                  <p:stCondLst>
                                    <p:cond delay="120"/>
                                  </p:stCondLst>
                                  <p:childTnLst>
                                    <p:set>
                                      <p:cBhvr>
                                        <p:cTn id="46" dur="1" fill="hold">
                                          <p:stCondLst>
                                            <p:cond delay="0"/>
                                          </p:stCondLst>
                                        </p:cTn>
                                        <p:tgtEl>
                                          <p:spTgt spid="20"/>
                                        </p:tgtEl>
                                        <p:attrNameLst>
                                          <p:attrName>style.visibility</p:attrName>
                                        </p:attrNameLst>
                                      </p:cBhvr>
                                      <p:to>
                                        <p:strVal val="visible"/>
                                      </p:to>
                                    </p:set>
                                    <p:anim calcmode="lin" valueType="num">
                                      <p:cBhvr>
                                        <p:cTn id="47" dur="500" fill="hold"/>
                                        <p:tgtEl>
                                          <p:spTgt spid="20"/>
                                        </p:tgtEl>
                                        <p:attrNameLst>
                                          <p:attrName>ppt_w</p:attrName>
                                        </p:attrNameLst>
                                      </p:cBhvr>
                                      <p:tavLst>
                                        <p:tav tm="0">
                                          <p:val>
                                            <p:fltVal val="0"/>
                                          </p:val>
                                        </p:tav>
                                        <p:tav tm="100000">
                                          <p:val>
                                            <p:strVal val="#ppt_w"/>
                                          </p:val>
                                        </p:tav>
                                      </p:tavLst>
                                    </p:anim>
                                    <p:anim calcmode="lin" valueType="num">
                                      <p:cBhvr>
                                        <p:cTn id="48" dur="500" fill="hold"/>
                                        <p:tgtEl>
                                          <p:spTgt spid="20"/>
                                        </p:tgtEl>
                                        <p:attrNameLst>
                                          <p:attrName>ppt_h</p:attrName>
                                        </p:attrNameLst>
                                      </p:cBhvr>
                                      <p:tavLst>
                                        <p:tav tm="0">
                                          <p:val>
                                            <p:fltVal val="0"/>
                                          </p:val>
                                        </p:tav>
                                        <p:tav tm="100000">
                                          <p:val>
                                            <p:strVal val="#ppt_h"/>
                                          </p:val>
                                        </p:tav>
                                      </p:tavLst>
                                    </p:anim>
                                    <p:animEffect transition="in" filter="fade">
                                      <p:cBhvr>
                                        <p:cTn id="49" dur="500"/>
                                        <p:tgtEl>
                                          <p:spTgt spid="20"/>
                                        </p:tgtEl>
                                      </p:cBhvr>
                                    </p:animEffect>
                                  </p:childTnLst>
                                </p:cTn>
                              </p:par>
                            </p:childTnLst>
                          </p:cTn>
                        </p:par>
                      </p:childTnLst>
                    </p:cTn>
                  </p:par>
                </p:childTnLst>
              </p:cTn>
              <p:nextCondLst>
                <p:cond evt="onClick" delay="0">
                  <p:tgtEl>
                    <p:spTgt spid="21"/>
                  </p:tgtEl>
                </p:cond>
              </p:nextCondLst>
            </p:seq>
            <p:seq concurrent="1" nextAc="seek">
              <p:cTn id="51" restart="whenNotActive" fill="hold" evtFilter="cancelBubble" nodeType="interactiveSeq">
                <p:stCondLst>
                  <p:cond evt="onClick" delay="0">
                    <p:tgtEl>
                      <p:spTgt spid="27"/>
                    </p:tgtEl>
                  </p:cond>
                </p:stCondLst>
                <p:endSync evt="end" delay="0">
                  <p:rtn val="all"/>
                </p:endSync>
                <p:childTnLst>
                  <p:par>
                    <p:cTn id="52" fill="hold">
                      <p:stCondLst>
                        <p:cond delay="0"/>
                      </p:stCondLst>
                      <p:childTnLst>
                        <p:par>
                          <p:cTn id="53" fill="hold">
                            <p:stCondLst>
                              <p:cond delay="0"/>
                            </p:stCondLst>
                            <p:childTnLst>
                              <p:par>
                                <p:cTn id="56" presetID="10" presetClass="exit" presetSubtype="0" fill="hold" grpId="1" nodeType="clickEffect">
                                  <p:stCondLst>
                                    <p:cond delay="0"/>
                                  </p:stCondLst>
                                  <p:childTnLst>
                                    <p:animEffect transition="out" filter="fade">
                                      <p:cBhvr>
                                        <p:cTn id="54" dur="500"/>
                                        <p:tgtEl>
                                          <p:spTgt spid="27"/>
                                        </p:tgtEl>
                                      </p:cBhvr>
                                    </p:animEffect>
                                    <p:set>
                                      <p:cBhvr>
                                        <p:cTn id="55" dur="1" fill="hold">
                                          <p:stCondLst>
                                            <p:cond delay="499"/>
                                          </p:stCondLst>
                                        </p:cTn>
                                        <p:tgtEl>
                                          <p:spTgt spid="27"/>
                                        </p:tgtEl>
                                        <p:attrNameLst>
                                          <p:attrName>style.visibility</p:attrName>
                                        </p:attrNameLst>
                                      </p:cBhvr>
                                      <p:to>
                                        <p:strVal val="hidden"/>
                                      </p:to>
                                    </p:set>
                                  </p:childTnLst>
                                </p:cTn>
                              </p:par>
                              <p:par>
                                <p:cTn id="61" presetID="53" presetClass="entr" presetSubtype="16" fill="hold" grpId="0" nodeType="withEffect">
                                  <p:stCondLst>
                                    <p:cond delay="120"/>
                                  </p:stCondLst>
                                  <p:childTnLst>
                                    <p:set>
                                      <p:cBhvr>
                                        <p:cTn id="57" dur="1" fill="hold">
                                          <p:stCondLst>
                                            <p:cond delay="0"/>
                                          </p:stCondLst>
                                        </p:cTn>
                                        <p:tgtEl>
                                          <p:spTgt spid="25"/>
                                        </p:tgtEl>
                                        <p:attrNameLst>
                                          <p:attrName>style.visibility</p:attrName>
                                        </p:attrNameLst>
                                      </p:cBhvr>
                                      <p:to>
                                        <p:strVal val="visible"/>
                                      </p:to>
                                    </p:set>
                                    <p:anim calcmode="lin" valueType="num">
                                      <p:cBhvr>
                                        <p:cTn id="58" dur="500" fill="hold"/>
                                        <p:tgtEl>
                                          <p:spTgt spid="25"/>
                                        </p:tgtEl>
                                        <p:attrNameLst>
                                          <p:attrName>ppt_w</p:attrName>
                                        </p:attrNameLst>
                                      </p:cBhvr>
                                      <p:tavLst>
                                        <p:tav tm="0">
                                          <p:val>
                                            <p:fltVal val="0"/>
                                          </p:val>
                                        </p:tav>
                                        <p:tav tm="100000">
                                          <p:val>
                                            <p:strVal val="#ppt_w"/>
                                          </p:val>
                                        </p:tav>
                                      </p:tavLst>
                                    </p:anim>
                                    <p:anim calcmode="lin" valueType="num">
                                      <p:cBhvr>
                                        <p:cTn id="59" dur="500" fill="hold"/>
                                        <p:tgtEl>
                                          <p:spTgt spid="25"/>
                                        </p:tgtEl>
                                        <p:attrNameLst>
                                          <p:attrName>ppt_h</p:attrName>
                                        </p:attrNameLst>
                                      </p:cBhvr>
                                      <p:tavLst>
                                        <p:tav tm="0">
                                          <p:val>
                                            <p:fltVal val="0"/>
                                          </p:val>
                                        </p:tav>
                                        <p:tav tm="100000">
                                          <p:val>
                                            <p:strVal val="#ppt_h"/>
                                          </p:val>
                                        </p:tav>
                                      </p:tavLst>
                                    </p:anim>
                                    <p:animEffect transition="in" filter="fade">
                                      <p:cBhvr>
                                        <p:cTn id="60" dur="500"/>
                                        <p:tgtEl>
                                          <p:spTgt spid="25"/>
                                        </p:tgtEl>
                                      </p:cBhvr>
                                    </p:animEffect>
                                  </p:childTnLst>
                                </p:cTn>
                              </p:par>
                              <p:par>
                                <p:cTn id="66" presetID="53" presetClass="entr" presetSubtype="16" fill="hold" grpId="0" nodeType="withEffect">
                                  <p:stCondLst>
                                    <p:cond delay="120"/>
                                  </p:stCondLst>
                                  <p:childTnLst>
                                    <p:set>
                                      <p:cBhvr>
                                        <p:cTn id="62" dur="1" fill="hold">
                                          <p:stCondLst>
                                            <p:cond delay="0"/>
                                          </p:stCondLst>
                                        </p:cTn>
                                        <p:tgtEl>
                                          <p:spTgt spid="26"/>
                                        </p:tgtEl>
                                        <p:attrNameLst>
                                          <p:attrName>style.visibility</p:attrName>
                                        </p:attrNameLst>
                                      </p:cBhvr>
                                      <p:to>
                                        <p:strVal val="visible"/>
                                      </p:to>
                                    </p:set>
                                    <p:anim calcmode="lin" valueType="num">
                                      <p:cBhvr>
                                        <p:cTn id="63" dur="500" fill="hold"/>
                                        <p:tgtEl>
                                          <p:spTgt spid="26"/>
                                        </p:tgtEl>
                                        <p:attrNameLst>
                                          <p:attrName>ppt_w</p:attrName>
                                        </p:attrNameLst>
                                      </p:cBhvr>
                                      <p:tavLst>
                                        <p:tav tm="0">
                                          <p:val>
                                            <p:fltVal val="0"/>
                                          </p:val>
                                        </p:tav>
                                        <p:tav tm="100000">
                                          <p:val>
                                            <p:strVal val="#ppt_w"/>
                                          </p:val>
                                        </p:tav>
                                      </p:tavLst>
                                    </p:anim>
                                    <p:anim calcmode="lin" valueType="num">
                                      <p:cBhvr>
                                        <p:cTn id="64" dur="500" fill="hold"/>
                                        <p:tgtEl>
                                          <p:spTgt spid="26"/>
                                        </p:tgtEl>
                                        <p:attrNameLst>
                                          <p:attrName>ppt_h</p:attrName>
                                        </p:attrNameLst>
                                      </p:cBhvr>
                                      <p:tavLst>
                                        <p:tav tm="0">
                                          <p:val>
                                            <p:fltVal val="0"/>
                                          </p:val>
                                        </p:tav>
                                        <p:tav tm="100000">
                                          <p:val>
                                            <p:strVal val="#ppt_h"/>
                                          </p:val>
                                        </p:tav>
                                      </p:tavLst>
                                    </p:anim>
                                    <p:animEffect transition="in" filter="fade">
                                      <p:cBhvr>
                                        <p:cTn id="65" dur="500"/>
                                        <p:tgtEl>
                                          <p:spTgt spid="26"/>
                                        </p:tgtEl>
                                      </p:cBhvr>
                                    </p:animEffect>
                                  </p:childTnLst>
                                </p:cTn>
                              </p:par>
                            </p:childTnLst>
                          </p:cTn>
                        </p:par>
                      </p:childTnLst>
                    </p:cTn>
                  </p:par>
                </p:childTnLst>
              </p:cTn>
              <p:nextCondLst>
                <p:cond evt="onClick" delay="0">
                  <p:tgtEl>
                    <p:spTgt spid="27"/>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0_title" descr="قياس أثر التعلم">    </p:cNvPr>
          <p:cNvPicPr>
            <a:picLocks noChangeAspect="1"/>
          </p:cNvPicPr>
          <p:nvPr/>
        </p:nvPicPr>
        <p:blipFill>
          <a:blip r:embed="rId2"/>
          <a:stretch>
            <a:fillRect/>
          </a:stretch>
        </p:blipFill>
        <p:spPr>
          <a:xfrm>
            <a:off x="8459282" y="109728"/>
            <a:ext cx="3382198" cy="868680"/>
          </a:xfrm>
          <a:prstGeom prst="rect">
            <a:avLst/>
          </a:prstGeom>
        </p:spPr>
      </p:pic>
      <p:sp>
        <p:nvSpPr>
          <p:cNvPr id="3" name="s30_strategy"/>
          <p:cNvSpPr txBox="1"/>
          <p:nvPr/>
        </p:nvSpPr>
        <p:spPr>
          <a:xfrm>
            <a:off x="411480" y="274320"/>
            <a:ext cx="47548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r>
              <a:rPr lang="ar-SA" altLang="en-US" sz="1700" b="1" dirty="0">
                <a:solidFill>
                  <a:srgbClr val="34405E"/>
                </a:solidFill>
                <a:latin typeface="Tahoma" pitchFamily="34" charset="0"/>
                <a:ea typeface="Tahoma" pitchFamily="34" charset="-122"/>
                <a:cs typeface="Tahoma" pitchFamily="34" charset="-120"/>
              </a:rPr>
              <a:t>قبلي – بعدي: أعرف الآن</a:t>
            </a:r>
            <a:endParaRPr lang="ar-SA" sz="1700" dirty="0"/>
          </a:p>
        </p:txBody>
      </p:sp>
      <p:pic>
        <p:nvPicPr>
          <p:cNvPr id="4" name="s30_pic_1" descr="/tmp/claude-0/-home-user-Scienceshamah/8386cda7-7741-5ea4-8952-60ee8e67fc31/scratchpad/w3/img/card_923x353_FFB3D1_s_i.png">    </p:cNvPr>
          <p:cNvPicPr>
            <a:picLocks noChangeAspect="1"/>
          </p:cNvPicPr>
          <p:nvPr/>
        </p:nvPicPr>
        <p:blipFill>
          <a:blip r:embed="rId3"/>
          <a:stretch>
            <a:fillRect/>
          </a:stretch>
        </p:blipFill>
        <p:spPr>
          <a:xfrm>
            <a:off x="6126480" y="1051560"/>
            <a:ext cx="5623560" cy="2148840"/>
          </a:xfrm>
          <a:prstGeom prst="rect">
            <a:avLst/>
          </a:prstGeom>
        </p:spPr>
      </p:pic>
      <p:sp>
        <p:nvSpPr>
          <p:cNvPr id="5" name="s30_t_2"/>
          <p:cNvSpPr txBox="1"/>
          <p:nvPr/>
        </p:nvSpPr>
        <p:spPr>
          <a:xfrm>
            <a:off x="6309360" y="1097280"/>
            <a:ext cx="5257800" cy="105156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C2366F"/>
                </a:solidFill>
                <a:latin typeface="Tahoma" pitchFamily="34" charset="0"/>
                <a:ea typeface="Tahoma" pitchFamily="34" charset="-122"/>
                <a:cs typeface="Tahoma" pitchFamily="34" charset="-120"/>
              </a:rPr>
              <a:t>تذكّرن لغز البداية: </a:t>
            </a:r>
            <a:endParaRPr lang="ar-SA" sz="2100" dirty="0"/>
          </a:p>
          <a:p>
            <a:pPr rtl="1" algn="r" indent="0" marL="0">
              <a:lnSpc>
                <a:spcPct val="108000"/>
              </a:lnSpc>
              <a:buNone/>
            </a:pPr>
            <a:r>
              <a:rPr lang="ar-SA" altLang="en-US" sz="2100" b="1" dirty="0">
                <a:solidFill>
                  <a:srgbClr val="34405E"/>
                </a:solidFill>
                <a:latin typeface="Tahoma" pitchFamily="34" charset="0"/>
                <a:ea typeface="Tahoma" pitchFamily="34" charset="-122"/>
                <a:cs typeface="Tahoma" pitchFamily="34" charset="-120"/>
              </a:rPr>
              <a:t>من أين حصل الأرنب على طاقته؟</a:t>
            </a:r>
            <a:endParaRPr lang="ar-SA" sz="2100" dirty="0"/>
          </a:p>
        </p:txBody>
      </p:sp>
      <p:sp>
        <p:nvSpPr>
          <p:cNvPr id="6" name="s30_t_3"/>
          <p:cNvSpPr txBox="1"/>
          <p:nvPr/>
        </p:nvSpPr>
        <p:spPr>
          <a:xfrm>
            <a:off x="6812280" y="2286000"/>
            <a:ext cx="4297680" cy="548640"/>
          </a:xfrm>
          <a:prstGeom prst="roundRect">
            <a:avLst>
              <a:gd name="adj" fmla="val 50000"/>
            </a:avLst>
          </a:prstGeom>
          <a:solidFill>
            <a:srgbClr val="B8F28A"/>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(ب) من النبات الذي أكله 🥕</a:t>
            </a:r>
            <a:endParaRPr lang="ar-SA" sz="1900" dirty="0"/>
          </a:p>
        </p:txBody>
      </p:sp>
      <p:pic>
        <p:nvPicPr>
          <p:cNvPr id="7" name="s30_pic_4" descr="/tmp/claude-0/-home-user-Scienceshamah/8386cda7-7741-5ea4-8952-60ee8e67fc31/scratchpad/w3/img/card_900x353_DFF7D2_s_i.png">    </p:cNvPr>
          <p:cNvPicPr>
            <a:picLocks noChangeAspect="1"/>
          </p:cNvPicPr>
          <p:nvPr/>
        </p:nvPicPr>
        <p:blipFill>
          <a:blip r:embed="rId4"/>
          <a:stretch>
            <a:fillRect/>
          </a:stretch>
        </p:blipFill>
        <p:spPr>
          <a:xfrm>
            <a:off x="457200" y="1051560"/>
            <a:ext cx="5486400" cy="2148840"/>
          </a:xfrm>
          <a:prstGeom prst="rect">
            <a:avLst/>
          </a:prstGeom>
        </p:spPr>
      </p:pic>
      <p:sp>
        <p:nvSpPr>
          <p:cNvPr id="8" name="s30_t_5"/>
          <p:cNvSpPr txBox="1"/>
          <p:nvPr/>
        </p:nvSpPr>
        <p:spPr>
          <a:xfrm>
            <a:off x="594360" y="1097280"/>
            <a:ext cx="5212080" cy="205740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لأن الأرنب مستهلِك لا يصنع غذاءه، والنبات منتِج صنع غذاءه مستخدمًا طاقة الشمس؛ فالطاقة انتقلت: الشمس ← الجزر ← الأرنب.</a:t>
            </a:r>
            <a:endParaRPr lang="ar-SA" sz="1800" dirty="0"/>
          </a:p>
        </p:txBody>
      </p:sp>
      <p:pic>
        <p:nvPicPr>
          <p:cNvPr id="9" name="s30_pic_6" descr="/tmp/claude-0/-home-user-Scienceshamah/8386cda7-7741-5ea4-8952-60ee8e67fc31/scratchpad/w3/img/card_1853x263_FFE066_s_i.png">    </p:cNvPr>
          <p:cNvPicPr>
            <a:picLocks noChangeAspect="1"/>
          </p:cNvPicPr>
          <p:nvPr/>
        </p:nvPicPr>
        <p:blipFill>
          <a:blip r:embed="rId5"/>
          <a:stretch>
            <a:fillRect/>
          </a:stretch>
        </p:blipFill>
        <p:spPr>
          <a:xfrm>
            <a:off x="457200" y="3383280"/>
            <a:ext cx="11292840" cy="1600200"/>
          </a:xfrm>
          <a:prstGeom prst="rect">
            <a:avLst/>
          </a:prstGeom>
        </p:spPr>
      </p:pic>
      <p:sp>
        <p:nvSpPr>
          <p:cNvPr id="10" name="s30_t_7"/>
          <p:cNvSpPr txBox="1"/>
          <p:nvPr/>
        </p:nvSpPr>
        <p:spPr>
          <a:xfrm>
            <a:off x="685800" y="3429000"/>
            <a:ext cx="10835640" cy="1508760"/>
          </a:xfrm>
          <a:prstGeom prst="rect">
            <a:avLst/>
          </a:prstGeom>
          <a:noFill/>
          <a:ln/>
        </p:spPr>
        <p:txBody>
          <a:bodyPr wrap="square" lIns="762" tIns="762" rIns="762" bIns="762" rtlCol="0" anchor="ctr"/>
          <a:lstStyle/>
          <a:p>
            <a:pPr rtl="1" algn="ctr" indent="0" marL="0">
              <a:lnSpc>
                <a:spcPct val="125000"/>
              </a:lnSpc>
              <a:buNone/>
            </a:pPr>
            <a:r>
              <a:rPr lang="ar-SA" altLang="en-US" sz="2000" b="1" dirty="0">
                <a:solidFill>
                  <a:srgbClr val="A87400"/>
                </a:solidFill>
                <a:latin typeface="Tahoma" pitchFamily="34" charset="0"/>
                <a:ea typeface="Tahoma" pitchFamily="34" charset="-122"/>
                <a:cs typeface="Tahoma" pitchFamily="34" charset="-120"/>
              </a:rPr>
              <a:t>✍️ بطاقة «أعرف الآن»: </a:t>
            </a:r>
            <a:endParaRPr lang="ar-SA" sz="2000" dirty="0"/>
          </a:p>
          <a:p>
            <a:pPr rtl="1" algn="ctr" indent="0" marL="0">
              <a:lnSpc>
                <a:spcPct val="125000"/>
              </a:lnSpc>
              <a:buNone/>
            </a:pPr>
            <a:r>
              <a:rPr lang="ar-SA" altLang="en-US" sz="2000" b="1" dirty="0">
                <a:solidFill>
                  <a:srgbClr val="34405E"/>
                </a:solidFill>
                <a:latin typeface="Tahoma" pitchFamily="34" charset="0"/>
                <a:ea typeface="Tahoma" pitchFamily="34" charset="-122"/>
                <a:cs typeface="Tahoma" pitchFamily="34" charset="-120"/>
              </a:rPr>
              <a:t>قبل الدرس كنت أظن أن .................... ، والآن أعرف أن ....................</a:t>
            </a:r>
            <a:endParaRPr lang="ar-SA" sz="2000" dirty="0"/>
          </a:p>
        </p:txBody>
      </p:sp>
      <p:sp>
        <p:nvSpPr>
          <p:cNvPr id="11" name="s30_t_8"/>
          <p:cNvSpPr txBox="1"/>
          <p:nvPr/>
        </p:nvSpPr>
        <p:spPr>
          <a:xfrm>
            <a:off x="8778240" y="5257800"/>
            <a:ext cx="2926080" cy="54864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6B4FC0"/>
                </a:solidFill>
                <a:latin typeface="Tahoma" pitchFamily="34" charset="0"/>
                <a:ea typeface="Tahoma" pitchFamily="34" charset="-122"/>
                <a:cs typeface="Tahoma" pitchFamily="34" charset="-120"/>
              </a:rPr>
              <a:t>قيّمي فهمك:</a:t>
            </a:r>
            <a:endParaRPr lang="ar-SA" sz="2000" dirty="0"/>
          </a:p>
        </p:txBody>
      </p:sp>
      <p:pic>
        <p:nvPicPr>
          <p:cNvPr id="12" name="s30_pic_9" descr="فهمت تمامًا">    </p:cNvPr>
          <p:cNvPicPr>
            <a:picLocks noChangeAspect="1"/>
          </p:cNvPicPr>
          <p:nvPr/>
        </p:nvPicPr>
        <p:blipFill>
          <a:blip r:embed="rId6"/>
          <a:stretch>
            <a:fillRect/>
          </a:stretch>
        </p:blipFill>
        <p:spPr>
          <a:xfrm>
            <a:off x="7863840" y="5166360"/>
            <a:ext cx="731520" cy="731520"/>
          </a:xfrm>
          <a:prstGeom prst="rect">
            <a:avLst/>
          </a:prstGeom>
        </p:spPr>
      </p:pic>
      <p:pic>
        <p:nvPicPr>
          <p:cNvPr id="13" name="s30_pic_10" descr="فهمت">    </p:cNvPr>
          <p:cNvPicPr>
            <a:picLocks noChangeAspect="1"/>
          </p:cNvPicPr>
          <p:nvPr/>
        </p:nvPicPr>
        <p:blipFill>
          <a:blip r:embed="rId7"/>
          <a:stretch>
            <a:fillRect/>
          </a:stretch>
        </p:blipFill>
        <p:spPr>
          <a:xfrm>
            <a:off x="6949440" y="5166360"/>
            <a:ext cx="731520" cy="731520"/>
          </a:xfrm>
          <a:prstGeom prst="rect">
            <a:avLst/>
          </a:prstGeom>
        </p:spPr>
      </p:pic>
      <p:pic>
        <p:nvPicPr>
          <p:cNvPr id="14" name="s30_pic_11" descr="أحتاج مساعدة">    </p:cNvPr>
          <p:cNvPicPr>
            <a:picLocks noChangeAspect="1"/>
          </p:cNvPicPr>
          <p:nvPr/>
        </p:nvPicPr>
        <p:blipFill>
          <a:blip r:embed="rId8"/>
          <a:stretch>
            <a:fillRect/>
          </a:stretch>
        </p:blipFill>
        <p:spPr>
          <a:xfrm>
            <a:off x="6035040" y="5166360"/>
            <a:ext cx="731520" cy="731520"/>
          </a:xfrm>
          <a:prstGeom prst="rect">
            <a:avLst/>
          </a:prstGeom>
        </p:spPr>
      </p:pic>
      <p:sp>
        <p:nvSpPr>
          <p:cNvPr id="15" name="s30_t_12"/>
          <p:cNvSpPr txBox="1"/>
          <p:nvPr/>
        </p:nvSpPr>
        <p:spPr>
          <a:xfrm>
            <a:off x="548640" y="5349240"/>
            <a:ext cx="5394960" cy="640080"/>
          </a:xfrm>
          <a:prstGeom prst="rect">
            <a:avLst/>
          </a:prstGeom>
          <a:noFill/>
          <a:ln/>
        </p:spPr>
        <p:txBody>
          <a:bodyPr wrap="square" lIns="762" tIns="762" rIns="762" bIns="762" rtlCol="0" anchor="ctr"/>
          <a:lstStyle/>
          <a:p>
            <a:pPr rtl="1" algn="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٣ نجوم: فهمت تمامًا • نجمتان: فهمت • نجمة: أحتاج مساعدة</a:t>
            </a:r>
            <a:endParaRPr lang="ar-SA" sz="1500" dirty="0"/>
          </a:p>
        </p:txBody>
      </p:sp>
    </p:spTree>
  </p:cSld>
  <p:clrMapOvr>
    <a:masterClrMapping/>
  </p:clrMapOvr>
  <p:transition spd="slow">
    <p:cover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21" presetID="53" presetClass="entr" presetSubtype="16"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1_title" descr="أبدعتِ يا عالمتي الصغيرة">    </p:cNvPr>
          <p:cNvPicPr>
            <a:picLocks noChangeAspect="1"/>
          </p:cNvPicPr>
          <p:nvPr/>
        </p:nvPicPr>
        <p:blipFill>
          <a:blip r:embed="rId2"/>
          <a:stretch>
            <a:fillRect/>
          </a:stretch>
        </p:blipFill>
        <p:spPr>
          <a:xfrm>
            <a:off x="2209426" y="457200"/>
            <a:ext cx="7772844" cy="1188720"/>
          </a:xfrm>
          <a:prstGeom prst="rect">
            <a:avLst/>
          </a:prstGeom>
        </p:spPr>
      </p:pic>
      <p:sp>
        <p:nvSpPr>
          <p:cNvPr id="3" name="s31_c_1"/>
          <p:cNvSpPr/>
          <p:nvPr/>
        </p:nvSpPr>
        <p:spPr>
          <a:xfrm>
            <a:off x="2194560" y="1874520"/>
            <a:ext cx="7799832" cy="1737360"/>
          </a:xfrm>
          <a:prstGeom prst="roundRect">
            <a:avLst>
              <a:gd name="adj" fmla="val 15789"/>
            </a:avLst>
          </a:prstGeom>
          <a:solidFill>
            <a:srgbClr val="FFFFFF">
              <a:alpha val="95000"/>
            </a:srgbClr>
          </a:solidFill>
          <a:ln w="38100">
            <a:solidFill>
              <a:srgbClr val="4CAF50"/>
            </a:solidFill>
            <a:prstDash val="solid"/>
          </a:ln>
          <a:effectLst>
            <a:outerShdw sx="100000" sy="100000" kx="0" ky="0" algn="bl" rotWithShape="0" blurRad="76200" dist="38100" dir="5400000">
              <a:srgbClr val="34405E">
                <a:alpha val="16000"/>
              </a:srgbClr>
            </a:outerShdw>
          </a:effectLst>
        </p:spPr>
      </p:sp>
      <p:sp>
        <p:nvSpPr>
          <p:cNvPr id="4" name="s31_t_2"/>
          <p:cNvSpPr txBox="1"/>
          <p:nvPr/>
        </p:nvSpPr>
        <p:spPr>
          <a:xfrm>
            <a:off x="2377440" y="1920240"/>
            <a:ext cx="7434072" cy="1645920"/>
          </a:xfrm>
          <a:prstGeom prst="rect">
            <a:avLst/>
          </a:prstGeom>
          <a:noFill/>
          <a:ln/>
        </p:spPr>
        <p:txBody>
          <a:bodyPr wrap="square" lIns="762" tIns="762" rIns="762" bIns="762" rtlCol="0" anchor="ctr"/>
          <a:lstStyle/>
          <a:p>
            <a:pPr rtl="1" algn="ctr" indent="0" marL="0">
              <a:lnSpc>
                <a:spcPct val="120000"/>
              </a:lnSpc>
              <a:buNone/>
            </a:pPr>
            <a:r>
              <a:rPr lang="ar-SA" altLang="en-US" sz="2100" b="1" dirty="0">
                <a:solidFill>
                  <a:srgbClr val="34405E"/>
                </a:solidFill>
                <a:latin typeface="Tahoma" pitchFamily="34" charset="0"/>
                <a:ea typeface="Tahoma" pitchFamily="34" charset="-122"/>
                <a:cs typeface="Tahoma" pitchFamily="34" charset="-120"/>
              </a:rPr>
              <a:t>تعلّمنا اليوم أن الطاقة تبدأ من الشمس، تصنع بها المنتِجات غذاءها، وتتغذى عليها المستهلِكات، وتعيد المحلِّلات المواد إلى النظام البيئي.</a:t>
            </a:r>
            <a:endParaRPr lang="ar-SA" sz="2100" dirty="0"/>
          </a:p>
        </p:txBody>
      </p:sp>
      <p:sp>
        <p:nvSpPr>
          <p:cNvPr id="5" name="s31_t_3"/>
          <p:cNvSpPr txBox="1"/>
          <p:nvPr/>
        </p:nvSpPr>
        <p:spPr>
          <a:xfrm>
            <a:off x="4023360" y="3794760"/>
            <a:ext cx="4142232" cy="640080"/>
          </a:xfrm>
          <a:prstGeom prst="roundRect">
            <a:avLst>
              <a:gd name="adj" fmla="val 50000"/>
            </a:avLst>
          </a:prstGeom>
          <a:solidFill>
            <a:srgbClr val="FFE066"/>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600" b="1" dirty="0">
                <a:solidFill>
                  <a:srgbClr val="34405E"/>
                </a:solidFill>
                <a:latin typeface="Tahoma" pitchFamily="34" charset="0"/>
                <a:ea typeface="Tahoma" pitchFamily="34" charset="-122"/>
                <a:cs typeface="Tahoma" pitchFamily="34" charset="-120"/>
              </a:rPr>
              <a:t>☀️ ← 🌱 ← 🐰 ← 🦁</a:t>
            </a:r>
            <a:endParaRPr lang="ar-SA" sz="2600" dirty="0"/>
          </a:p>
        </p:txBody>
      </p:sp>
      <p:sp>
        <p:nvSpPr>
          <p:cNvPr id="6" name="s31_t_4"/>
          <p:cNvSpPr txBox="1"/>
          <p:nvPr/>
        </p:nvSpPr>
        <p:spPr>
          <a:xfrm>
            <a:off x="4041648" y="4617720"/>
            <a:ext cx="4114800" cy="566928"/>
          </a:xfrm>
          <a:prstGeom prst="roundRect">
            <a:avLst>
              <a:gd name="adj" fmla="val 50000"/>
            </a:avLst>
          </a:prstGeom>
          <a:solidFill>
            <a:srgbClr val="2E7D32"/>
          </a:solidFill>
          <a:ln w="25400">
            <a:solidFill>
              <a:srgbClr val="FFFFFF"/>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000" b="1" dirty="0">
                <a:solidFill>
                  <a:srgbClr val="FFFFFF"/>
                </a:solidFill>
                <a:latin typeface="Tahoma" pitchFamily="34" charset="0"/>
                <a:ea typeface="Tahoma" pitchFamily="34" charset="-122"/>
                <a:cs typeface="Tahoma" pitchFamily="34" charset="-120"/>
              </a:rPr>
              <a:t>معلمة العلوم: أ/ شامه البقمي</a:t>
            </a:r>
            <a:endParaRPr lang="ar-SA" sz="2000" dirty="0"/>
          </a:p>
        </p:txBody>
      </p:sp>
      <p:pic>
        <p:nvPicPr>
          <p:cNvPr id="7" name="s31_pic_5" descr="عالمة سعيدة">    </p:cNvPr>
          <p:cNvPicPr>
            <a:picLocks noChangeAspect="1"/>
          </p:cNvPicPr>
          <p:nvPr/>
        </p:nvPicPr>
        <p:blipFill>
          <a:blip r:embed="rId3"/>
          <a:stretch>
            <a:fillRect/>
          </a:stretch>
        </p:blipFill>
        <p:spPr>
          <a:xfrm>
            <a:off x="457200" y="3657600"/>
            <a:ext cx="2135248" cy="2468880"/>
          </a:xfrm>
          <a:prstGeom prst="rect">
            <a:avLst/>
          </a:prstGeom>
        </p:spPr>
      </p:pic>
      <p:pic>
        <p:nvPicPr>
          <p:cNvPr id="8" name="s31_pic_6" descr="عالمة تلوّح">    </p:cNvPr>
          <p:cNvPicPr>
            <a:picLocks noChangeAspect="1"/>
          </p:cNvPicPr>
          <p:nvPr/>
        </p:nvPicPr>
        <p:blipFill>
          <a:blip r:embed="rId4"/>
          <a:stretch>
            <a:fillRect/>
          </a:stretch>
        </p:blipFill>
        <p:spPr>
          <a:xfrm>
            <a:off x="9921240" y="3657600"/>
            <a:ext cx="2135248" cy="2468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400">
        <p14:glitter dir="l" pattern="hexago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 calcmode="lin" valueType="num">
                                      <p:cBhvr>
                                        <p:cTn id="6" dur="500" fill="hold"/>
                                        <p:tgtEl>
                                          <p:spTgt spid="2"/>
                                        </p:tgtEl>
                                        <p:attrNameLst>
                                          <p:attrName>ppt_w</p:attrName>
                                        </p:attrNameLst>
                                      </p:cBhvr>
                                      <p:tavLst>
                                        <p:tav tm="0">
                                          <p:val>
                                            <p:fltVal val="0"/>
                                          </p:val>
                                        </p:tav>
                                        <p:tav tm="100000">
                                          <p:val>
                                            <p:strVal val="#ppt_w"/>
                                          </p:val>
                                        </p:tav>
                                      </p:tavLst>
                                    </p:anim>
                                    <p:anim calcmode="lin" valueType="num">
                                      <p:cBhvr>
                                        <p:cTn id="7" dur="500" fill="hold"/>
                                        <p:tgtEl>
                                          <p:spTgt spid="2"/>
                                        </p:tgtEl>
                                        <p:attrNameLst>
                                          <p:attrName>ppt_h</p:attrName>
                                        </p:attrNameLst>
                                      </p:cBhvr>
                                      <p:tavLst>
                                        <p:tav tm="0">
                                          <p:val>
                                            <p:fltVal val="0"/>
                                          </p:val>
                                        </p:tav>
                                        <p:tav tm="100000">
                                          <p:val>
                                            <p:strVal val="#ppt_h"/>
                                          </p:val>
                                        </p:tav>
                                      </p:tavLst>
                                    </p:anim>
                                    <p:animEffect transition="in" filter="fade">
                                      <p:cBhvr>
                                        <p:cTn id="8" dur="500"/>
                                        <p:tgtEl>
                                          <p:spTgt spid="2"/>
                                        </p:tgtEl>
                                      </p:cBhvr>
                                    </p:animEffect>
                                  </p:childTnLst>
                                </p:cTn>
                              </p:par>
                            </p:childTnLst>
                          </p:cTn>
                        </p:par>
                        <p:par>
                          <p:cTn id="10" fill="hold">
                            <p:stCondLst>
                              <p:cond delay="500"/>
                            </p:stCondLst>
                            <p:childTnLst>
                              <p:par>
                                <p:cTn id="13"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9" presetID="10" presetClass="entr" presetSubtype="0"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22" presetID="10" presetClass="entr" presetSubtype="0" fill="hold" grpId="0" nodeType="withEffect">
                                  <p:stCondLst>
                                    <p:cond delay="9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par>
                          <p:cTn id="23" fill="hold">
                            <p:stCondLst>
                              <p:cond delay="1900"/>
                            </p:stCondLst>
                            <p:childTnLst>
                              <p:par>
                                <p:cTn id="28" presetID="53" presetClass="entr" presetSubtype="16"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33" presetID="53" presetClass="entr" presetSubtype="16" fill="hold" grpId="0" nodeType="withEffect">
                                  <p:stCondLst>
                                    <p:cond delay="20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quatic Whiteboard">
  <a:themeElements>
    <a:clrScheme name="Aquatic Whiteboard">
      <a:dk1>
        <a:srgbClr val="34405E"/>
      </a:dk1>
      <a:lt1>
        <a:srgbClr val="FFFFFF"/>
      </a:lt1>
      <a:dk2>
        <a:srgbClr val="1F6F8B"/>
      </a:dk2>
      <a:lt2>
        <a:srgbClr val="F2FBFF"/>
      </a:lt2>
      <a:accent1>
        <a:srgbClr val="3CC2B0"/>
      </a:accent1>
      <a:accent2>
        <a:srgbClr val="4FB1E3"/>
      </a:accent2>
      <a:accent3>
        <a:srgbClr val="5DBB63"/>
      </a:accent3>
      <a:accent4>
        <a:srgbClr val="F5C242"/>
      </a:accent4>
      <a:accent5>
        <a:srgbClr val="F28BB0"/>
      </a:accent5>
      <a:accent6>
        <a:srgbClr val="9B83E0"/>
      </a:accent6>
      <a:hlink>
        <a:srgbClr val="1F6F8B"/>
      </a:hlink>
      <a:folHlink>
        <a:srgbClr val="9B83E0"/>
      </a:folHlink>
    </a:clrScheme>
    <a:fontScheme name="Aquatic Whiteboard">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العلاقات في الأنظمة البيئية</dc:title>
  <dc:subject>العلوم – الصف الرابع الابتدائي</dc:subject>
  <dc:creator>أ/ شامه البقمي</dc:creator>
  <cp:lastModifiedBy>أ/ شامه البقمي</cp:lastModifiedBy>
  <cp:revision>1</cp:revision>
  <dcterms:created xsi:type="dcterms:W3CDTF">2026-10-18T16:26:25Z</dcterms:created>
  <dcterms:modified xsi:type="dcterms:W3CDTF">2026-10-18T16:26:25Z</dcterms:modified>
</cp:coreProperties>
</file>